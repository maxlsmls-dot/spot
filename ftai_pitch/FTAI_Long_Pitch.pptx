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FTAI</c:v>
                </c:pt>
              </c:strCache>
            </c:strRef>
          </c:tx>
          <c:spPr>
            <a:solidFill>
              <a:srgbClr val="1F3864"/>
            </a:solidFill>
            <a:ln w="19050" cap="flat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1F3864"/>
              </a:solidFill>
              <a:ln w="9525" cap="flat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Sheet1!$A$2:$A$184</c:f>
              <c:multiLvlStrCache>
                <c:ptCount val="183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>Nov-25</c:v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>Jan-26</c:v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/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>Mar-26</c:v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/>
                  </c:pt>
                  <c:pt idx="80">
                    <c:v/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>May-26</c:v>
                  </c:pt>
                  <c:pt idx="100">
                    <c:v/>
                  </c:pt>
                  <c:pt idx="101">
                    <c:v/>
                  </c:pt>
                  <c:pt idx="102">
                    <c:v/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/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/>
                  </c:pt>
                  <c:pt idx="118">
                    <c:v/>
                  </c:pt>
                  <c:pt idx="119">
                    <c:v/>
                  </c:pt>
                  <c:pt idx="120">
                    <c:v/>
                  </c:pt>
                  <c:pt idx="121">
                    <c:v/>
                  </c:pt>
                  <c:pt idx="122">
                    <c:v/>
                  </c:pt>
                  <c:pt idx="123">
                    <c:v/>
                  </c:pt>
                  <c:pt idx="124">
                    <c:v/>
                  </c:pt>
                  <c:pt idx="125">
                    <c:v/>
                  </c:pt>
                  <c:pt idx="126">
                    <c:v/>
                  </c:pt>
                  <c:pt idx="127">
                    <c:v/>
                  </c:pt>
                  <c:pt idx="128">
                    <c:v/>
                  </c:pt>
                  <c:pt idx="129">
                    <c:v/>
                  </c:pt>
                  <c:pt idx="130">
                    <c:v>Jul-26</c:v>
                  </c:pt>
                  <c:pt idx="131">
                    <c:v/>
                  </c:pt>
                  <c:pt idx="132">
                    <c:v/>
                  </c:pt>
                  <c:pt idx="133">
                    <c:v/>
                  </c:pt>
                  <c:pt idx="134">
                    <c:v/>
                  </c:pt>
                  <c:pt idx="135">
                    <c:v/>
                  </c:pt>
                  <c:pt idx="136">
                    <c:v/>
                  </c:pt>
                  <c:pt idx="137">
                    <c:v/>
                  </c:pt>
                  <c:pt idx="138">
                    <c:v/>
                  </c:pt>
                  <c:pt idx="139">
                    <c:v/>
                  </c:pt>
                  <c:pt idx="140">
                    <c:v/>
                  </c:pt>
                  <c:pt idx="141">
                    <c:v/>
                  </c:pt>
                  <c:pt idx="142">
                    <c:v/>
                  </c:pt>
                  <c:pt idx="143">
                    <c:v/>
                  </c:pt>
                  <c:pt idx="144">
                    <c:v/>
                  </c:pt>
                  <c:pt idx="145">
                    <c:v/>
                  </c:pt>
                  <c:pt idx="146">
                    <c:v/>
                  </c:pt>
                  <c:pt idx="147">
                    <c:v/>
                  </c:pt>
                  <c:pt idx="148">
                    <c:v/>
                  </c:pt>
                  <c:pt idx="149">
                    <c:v/>
                  </c:pt>
                  <c:pt idx="150">
                    <c:v/>
                  </c:pt>
                  <c:pt idx="151">
                    <c:v/>
                  </c:pt>
                  <c:pt idx="152">
                    <c:v/>
                  </c:pt>
                  <c:pt idx="153">
                    <c:v/>
                  </c:pt>
                  <c:pt idx="154">
                    <c:v/>
                  </c:pt>
                  <c:pt idx="155">
                    <c:v/>
                  </c:pt>
                  <c:pt idx="156">
                    <c:v/>
                  </c:pt>
                  <c:pt idx="157">
                    <c:v/>
                  </c:pt>
                  <c:pt idx="158">
                    <c:v/>
                  </c:pt>
                  <c:pt idx="159">
                    <c:v/>
                  </c:pt>
                  <c:pt idx="160">
                    <c:v/>
                  </c:pt>
                  <c:pt idx="161">
                    <c:v>Sep-26</c:v>
                  </c:pt>
                  <c:pt idx="162">
                    <c:v/>
                  </c:pt>
                  <c:pt idx="163">
                    <c:v/>
                  </c:pt>
                  <c:pt idx="164">
                    <c:v/>
                  </c:pt>
                  <c:pt idx="165">
                    <c:v/>
                  </c:pt>
                  <c:pt idx="166">
                    <c:v/>
                  </c:pt>
                  <c:pt idx="167">
                    <c:v/>
                  </c:pt>
                  <c:pt idx="168">
                    <c:v/>
                  </c:pt>
                  <c:pt idx="169">
                    <c:v/>
                  </c:pt>
                  <c:pt idx="170">
                    <c:v/>
                  </c:pt>
                  <c:pt idx="171">
                    <c:v/>
                  </c:pt>
                  <c:pt idx="172">
                    <c:v/>
                  </c:pt>
                  <c:pt idx="173">
                    <c:v/>
                  </c:pt>
                  <c:pt idx="174">
                    <c:v/>
                  </c:pt>
                  <c:pt idx="175">
                    <c:v/>
                  </c:pt>
                  <c:pt idx="176">
                    <c:v/>
                  </c:pt>
                  <c:pt idx="177">
                    <c:v/>
                  </c:pt>
                  <c:pt idx="178">
                    <c:v/>
                  </c:pt>
                  <c:pt idx="179">
                    <c:v/>
                  </c:pt>
                  <c:pt idx="180">
                    <c:v/>
                  </c:pt>
                  <c:pt idx="181">
                    <c:v/>
                  </c:pt>
                  <c:pt idx="182">
                    <c:v/>
                  </c:pt>
                </c:lvl>
              </c:multiLvlStrCache>
            </c:multiLvlStrRef>
          </c:cat>
          <c:val>
            <c:numRef>
              <c:f>Sheet1!$B$2:$B$184</c:f>
              <c:numCache>
                <c:formatCode>General</c:formatCode>
                <c:ptCount val="183"/>
                <c:pt idx="0">
                  <c:v>169.8</c:v>
                </c:pt>
                <c:pt idx="1">
                  <c:v>170.2</c:v>
                </c:pt>
                <c:pt idx="2">
                  <c:v>166.9</c:v>
                </c:pt>
                <c:pt idx="3">
                  <c:v>174.6</c:v>
                </c:pt>
                <c:pt idx="4">
                  <c:v>171.8</c:v>
                </c:pt>
                <c:pt idx="5">
                  <c:v>176.6</c:v>
                </c:pt>
                <c:pt idx="6">
                  <c:v>181.9</c:v>
                </c:pt>
                <c:pt idx="7">
                  <c:v>179</c:v>
                </c:pt>
                <c:pt idx="8">
                  <c:v>176.2</c:v>
                </c:pt>
                <c:pt idx="9">
                  <c:v>178.6</c:v>
                </c:pt>
                <c:pt idx="10">
                  <c:v>171.8</c:v>
                </c:pt>
                <c:pt idx="11">
                  <c:v>156</c:v>
                </c:pt>
                <c:pt idx="12">
                  <c:v>163.7</c:v>
                </c:pt>
                <c:pt idx="13">
                  <c:v>162.9</c:v>
                </c:pt>
                <c:pt idx="14">
                  <c:v>160.5</c:v>
                </c:pt>
                <c:pt idx="15">
                  <c:v>153.2</c:v>
                </c:pt>
                <c:pt idx="16">
                  <c:v>152.4</c:v>
                </c:pt>
                <c:pt idx="17">
                  <c:v>156</c:v>
                </c:pt>
                <c:pt idx="18">
                  <c:v>156</c:v>
                </c:pt>
                <c:pt idx="19">
                  <c:v>162.1</c:v>
                </c:pt>
                <c:pt idx="20">
                  <c:v>163.7</c:v>
                </c:pt>
                <c:pt idx="21">
                  <c:v>161.3</c:v>
                </c:pt>
                <c:pt idx="22">
                  <c:v>164.5</c:v>
                </c:pt>
                <c:pt idx="23">
                  <c:v>171.8</c:v>
                </c:pt>
                <c:pt idx="24">
                  <c:v>168.1</c:v>
                </c:pt>
                <c:pt idx="25">
                  <c:v>169</c:v>
                </c:pt>
                <c:pt idx="26">
                  <c:v>173.8</c:v>
                </c:pt>
                <c:pt idx="27">
                  <c:v>176.6</c:v>
                </c:pt>
                <c:pt idx="28">
                  <c:v>180.6</c:v>
                </c:pt>
                <c:pt idx="29">
                  <c:v>181.5</c:v>
                </c:pt>
                <c:pt idx="30">
                  <c:v>177</c:v>
                </c:pt>
                <c:pt idx="31">
                  <c:v>168.5</c:v>
                </c:pt>
                <c:pt idx="32">
                  <c:v>162.9</c:v>
                </c:pt>
                <c:pt idx="33">
                  <c:v>164.5</c:v>
                </c:pt>
                <c:pt idx="34">
                  <c:v>168.5</c:v>
                </c:pt>
                <c:pt idx="35">
                  <c:v>171</c:v>
                </c:pt>
                <c:pt idx="36">
                  <c:v>172.6</c:v>
                </c:pt>
                <c:pt idx="37">
                  <c:v>172.6</c:v>
                </c:pt>
                <c:pt idx="38">
                  <c:v>195.2</c:v>
                </c:pt>
                <c:pt idx="39">
                  <c:v>200.4</c:v>
                </c:pt>
                <c:pt idx="40">
                  <c:v>219.4</c:v>
                </c:pt>
                <c:pt idx="41">
                  <c:v>237.1</c:v>
                </c:pt>
                <c:pt idx="42">
                  <c:v>238.7</c:v>
                </c:pt>
                <c:pt idx="43">
                  <c:v>244</c:v>
                </c:pt>
                <c:pt idx="44">
                  <c:v>246</c:v>
                </c:pt>
                <c:pt idx="45">
                  <c:v>252</c:v>
                </c:pt>
                <c:pt idx="46">
                  <c:v>263.3</c:v>
                </c:pt>
                <c:pt idx="47">
                  <c:v>273.4</c:v>
                </c:pt>
                <c:pt idx="48">
                  <c:v>285.1</c:v>
                </c:pt>
                <c:pt idx="49">
                  <c:v>292.3</c:v>
                </c:pt>
                <c:pt idx="50">
                  <c:v>289.9</c:v>
                </c:pt>
                <c:pt idx="51">
                  <c:v>282.7</c:v>
                </c:pt>
                <c:pt idx="52">
                  <c:v>275.4</c:v>
                </c:pt>
                <c:pt idx="53">
                  <c:v>272.2</c:v>
                </c:pt>
                <c:pt idx="54">
                  <c:v>274.6</c:v>
                </c:pt>
                <c:pt idx="55">
                  <c:v>277</c:v>
                </c:pt>
                <c:pt idx="56">
                  <c:v>260.1</c:v>
                </c:pt>
                <c:pt idx="57">
                  <c:v>269.8</c:v>
                </c:pt>
                <c:pt idx="58">
                  <c:v>272.6</c:v>
                </c:pt>
                <c:pt idx="59">
                  <c:v>265.7</c:v>
                </c:pt>
                <c:pt idx="60">
                  <c:v>275</c:v>
                </c:pt>
                <c:pt idx="61">
                  <c:v>282.3</c:v>
                </c:pt>
                <c:pt idx="62">
                  <c:v>286.3</c:v>
                </c:pt>
                <c:pt idx="63">
                  <c:v>287.9</c:v>
                </c:pt>
                <c:pt idx="64">
                  <c:v>286.3</c:v>
                </c:pt>
                <c:pt idx="65">
                  <c:v>301.2</c:v>
                </c:pt>
                <c:pt idx="66">
                  <c:v>304.4</c:v>
                </c:pt>
                <c:pt idx="67">
                  <c:v>300</c:v>
                </c:pt>
                <c:pt idx="68">
                  <c:v>283.5</c:v>
                </c:pt>
                <c:pt idx="69">
                  <c:v>279.8</c:v>
                </c:pt>
                <c:pt idx="70">
                  <c:v>266.1</c:v>
                </c:pt>
                <c:pt idx="71">
                  <c:v>271.4</c:v>
                </c:pt>
                <c:pt idx="72">
                  <c:v>264.5</c:v>
                </c:pt>
                <c:pt idx="73">
                  <c:v>240.7</c:v>
                </c:pt>
                <c:pt idx="74">
                  <c:v>223.8</c:v>
                </c:pt>
                <c:pt idx="75">
                  <c:v>235.5</c:v>
                </c:pt>
                <c:pt idx="76">
                  <c:v>238.3</c:v>
                </c:pt>
                <c:pt idx="77">
                  <c:v>238.7</c:v>
                </c:pt>
                <c:pt idx="78">
                  <c:v>236.7</c:v>
                </c:pt>
                <c:pt idx="79">
                  <c:v>245.6</c:v>
                </c:pt>
                <c:pt idx="80">
                  <c:v>244</c:v>
                </c:pt>
                <c:pt idx="81">
                  <c:v>238.7</c:v>
                </c:pt>
                <c:pt idx="82">
                  <c:v>229.8</c:v>
                </c:pt>
                <c:pt idx="83">
                  <c:v>246.8</c:v>
                </c:pt>
                <c:pt idx="84">
                  <c:v>242.7</c:v>
                </c:pt>
                <c:pt idx="85">
                  <c:v>244.8</c:v>
                </c:pt>
                <c:pt idx="86">
                  <c:v>248.4</c:v>
                </c:pt>
                <c:pt idx="87">
                  <c:v>255.2</c:v>
                </c:pt>
                <c:pt idx="88">
                  <c:v>251.6</c:v>
                </c:pt>
                <c:pt idx="89">
                  <c:v>266.5</c:v>
                </c:pt>
                <c:pt idx="90">
                  <c:v>266.1</c:v>
                </c:pt>
                <c:pt idx="91">
                  <c:v>254.8</c:v>
                </c:pt>
                <c:pt idx="92">
                  <c:v>257.3</c:v>
                </c:pt>
                <c:pt idx="93">
                  <c:v>237.5</c:v>
                </c:pt>
                <c:pt idx="94">
                  <c:v>229</c:v>
                </c:pt>
                <c:pt idx="95">
                  <c:v>231.9</c:v>
                </c:pt>
                <c:pt idx="96">
                  <c:v>225.4</c:v>
                </c:pt>
                <c:pt idx="97">
                  <c:v>213.3</c:v>
                </c:pt>
                <c:pt idx="98">
                  <c:v>241.9</c:v>
                </c:pt>
                <c:pt idx="99">
                  <c:v>239.5</c:v>
                </c:pt>
                <c:pt idx="100">
                  <c:v>244</c:v>
                </c:pt>
                <c:pt idx="101">
                  <c:v>281</c:v>
                </c:pt>
                <c:pt idx="102">
                  <c:v>270.6</c:v>
                </c:pt>
                <c:pt idx="103">
                  <c:v>276.6</c:v>
                </c:pt>
                <c:pt idx="104">
                  <c:v>266.1</c:v>
                </c:pt>
                <c:pt idx="105">
                  <c:v>263.3</c:v>
                </c:pt>
                <c:pt idx="106">
                  <c:v>237.1</c:v>
                </c:pt>
                <c:pt idx="107">
                  <c:v>227</c:v>
                </c:pt>
                <c:pt idx="108">
                  <c:v>233.5</c:v>
                </c:pt>
                <c:pt idx="109">
                  <c:v>245.2</c:v>
                </c:pt>
                <c:pt idx="110">
                  <c:v>251.6</c:v>
                </c:pt>
                <c:pt idx="111">
                  <c:v>250.4</c:v>
                </c:pt>
                <c:pt idx="112">
                  <c:v>260.9</c:v>
                </c:pt>
                <c:pt idx="113">
                  <c:v>252</c:v>
                </c:pt>
                <c:pt idx="114">
                  <c:v>245.2</c:v>
                </c:pt>
                <c:pt idx="115">
                  <c:v>246.8</c:v>
                </c:pt>
                <c:pt idx="116">
                  <c:v>241.5</c:v>
                </c:pt>
                <c:pt idx="117">
                  <c:v>230.2</c:v>
                </c:pt>
                <c:pt idx="118">
                  <c:v>229</c:v>
                </c:pt>
                <c:pt idx="119">
                  <c:v>236.3</c:v>
                </c:pt>
                <c:pt idx="120">
                  <c:v>243.1</c:v>
                </c:pt>
                <c:pt idx="121">
                  <c:v>264.5</c:v>
                </c:pt>
                <c:pt idx="122">
                  <c:v>275.4</c:v>
                </c:pt>
                <c:pt idx="123">
                  <c:v>273.8</c:v>
                </c:pt>
                <c:pt idx="124">
                  <c:v>264.5</c:v>
                </c:pt>
                <c:pt idx="125">
                  <c:v>269.8</c:v>
                </c:pt>
                <c:pt idx="126">
                  <c:v>265.3</c:v>
                </c:pt>
                <c:pt idx="127">
                  <c:v>260.9</c:v>
                </c:pt>
                <c:pt idx="128">
                  <c:v>266.9</c:v>
                </c:pt>
                <c:pt idx="129">
                  <c:v>253.2</c:v>
                </c:pt>
                <c:pt idx="130">
                  <c:v>241.5</c:v>
                </c:pt>
                <c:pt idx="131">
                  <c:v>225</c:v>
                </c:pt>
                <c:pt idx="132">
                  <c:v>220.2</c:v>
                </c:pt>
                <c:pt idx="133">
                  <c:v>223</c:v>
                </c:pt>
                <c:pt idx="134">
                  <c:v>207.7</c:v>
                </c:pt>
                <c:pt idx="135">
                  <c:v>210.9</c:v>
                </c:pt>
                <c:pt idx="136">
                  <c:v>203.6</c:v>
                </c:pt>
                <c:pt idx="137">
                  <c:v>203.6</c:v>
                </c:pt>
                <c:pt idx="138">
                  <c:v>205.6</c:v>
                </c:pt>
                <c:pt idx="139">
                  <c:v>219.4</c:v>
                </c:pt>
                <c:pt idx="140">
                  <c:v>215.3</c:v>
                </c:pt>
                <c:pt idx="141">
                  <c:v>213.7</c:v>
                </c:pt>
                <c:pt idx="142">
                  <c:v>209.3</c:v>
                </c:pt>
                <c:pt idx="143">
                  <c:v>196.8</c:v>
                </c:pt>
                <c:pt idx="144">
                  <c:v>202.8</c:v>
                </c:pt>
                <c:pt idx="145">
                  <c:v>222.6</c:v>
                </c:pt>
                <c:pt idx="146">
                  <c:v>222.6</c:v>
                </c:pt>
                <c:pt idx="147">
                  <c:v>219.8</c:v>
                </c:pt>
                <c:pt idx="148">
                  <c:v>214.9</c:v>
                </c:pt>
                <c:pt idx="149">
                  <c:v>221.8</c:v>
                </c:pt>
                <c:pt idx="150">
                  <c:v>221</c:v>
                </c:pt>
                <c:pt idx="151">
                  <c:v>216.1</c:v>
                </c:pt>
                <c:pt idx="152">
                  <c:v>224.2</c:v>
                </c:pt>
                <c:pt idx="153">
                  <c:v>210.5</c:v>
                </c:pt>
                <c:pt idx="154">
                  <c:v>202</c:v>
                </c:pt>
                <c:pt idx="155">
                  <c:v>207.3</c:v>
                </c:pt>
                <c:pt idx="156">
                  <c:v>199.2</c:v>
                </c:pt>
                <c:pt idx="157">
                  <c:v>200</c:v>
                </c:pt>
                <c:pt idx="158">
                  <c:v>197.2</c:v>
                </c:pt>
                <c:pt idx="159">
                  <c:v>191.5</c:v>
                </c:pt>
                <c:pt idx="160">
                  <c:v>188.7</c:v>
                </c:pt>
                <c:pt idx="161">
                  <c:v>192.3</c:v>
                </c:pt>
                <c:pt idx="162">
                  <c:v>196</c:v>
                </c:pt>
                <c:pt idx="163">
                  <c:v>194</c:v>
                </c:pt>
                <c:pt idx="164">
                  <c:v>182.3</c:v>
                </c:pt>
                <c:pt idx="165">
                  <c:v>183.9</c:v>
                </c:pt>
                <c:pt idx="166">
                  <c:v>176.2</c:v>
                </c:pt>
                <c:pt idx="167">
                  <c:v>185.5</c:v>
                </c:pt>
                <c:pt idx="168">
                  <c:v>193.1</c:v>
                </c:pt>
                <c:pt idx="169">
                  <c:v>190.7</c:v>
                </c:pt>
                <c:pt idx="170">
                  <c:v>189.9</c:v>
                </c:pt>
                <c:pt idx="171">
                  <c:v>185.1</c:v>
                </c:pt>
                <c:pt idx="172">
                  <c:v>174.2</c:v>
                </c:pt>
                <c:pt idx="173">
                  <c:v>167.3</c:v>
                </c:pt>
                <c:pt idx="174">
                  <c:v>167.7</c:v>
                </c:pt>
                <c:pt idx="175">
                  <c:v>166.1</c:v>
                </c:pt>
                <c:pt idx="176">
                  <c:v>166.1</c:v>
                </c:pt>
                <c:pt idx="177">
                  <c:v>166.1</c:v>
                </c:pt>
                <c:pt idx="178">
                  <c:v>174.6</c:v>
                </c:pt>
                <c:pt idx="179">
                  <c:v>170.2</c:v>
                </c:pt>
                <c:pt idx="180">
                  <c:v>166.9</c:v>
                </c:pt>
                <c:pt idx="181">
                  <c:v>166.1</c:v>
                </c:pt>
                <c:pt idx="182">
                  <c:v>164.6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1-yr target $309</c:v>
                </c:pt>
              </c:strCache>
            </c:strRef>
          </c:tx>
          <c:spPr>
            <a:solidFill>
              <a:srgbClr val="E8702A"/>
            </a:solidFill>
            <a:ln w="19050" cap="flat">
              <a:solidFill>
                <a:srgbClr val="E8702A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E8702A"/>
              </a:solidFill>
              <a:ln w="9525" cap="flat">
                <a:solidFill>
                  <a:srgbClr val="E8702A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Sheet1!$A$2:$A$184</c:f>
              <c:multiLvlStrCache>
                <c:ptCount val="183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>Nov-25</c:v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>Jan-26</c:v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/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>Mar-26</c:v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/>
                  </c:pt>
                  <c:pt idx="80">
                    <c:v/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>May-26</c:v>
                  </c:pt>
                  <c:pt idx="100">
                    <c:v/>
                  </c:pt>
                  <c:pt idx="101">
                    <c:v/>
                  </c:pt>
                  <c:pt idx="102">
                    <c:v/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/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/>
                  </c:pt>
                  <c:pt idx="118">
                    <c:v/>
                  </c:pt>
                  <c:pt idx="119">
                    <c:v/>
                  </c:pt>
                  <c:pt idx="120">
                    <c:v/>
                  </c:pt>
                  <c:pt idx="121">
                    <c:v/>
                  </c:pt>
                  <c:pt idx="122">
                    <c:v/>
                  </c:pt>
                  <c:pt idx="123">
                    <c:v/>
                  </c:pt>
                  <c:pt idx="124">
                    <c:v/>
                  </c:pt>
                  <c:pt idx="125">
                    <c:v/>
                  </c:pt>
                  <c:pt idx="126">
                    <c:v/>
                  </c:pt>
                  <c:pt idx="127">
                    <c:v/>
                  </c:pt>
                  <c:pt idx="128">
                    <c:v/>
                  </c:pt>
                  <c:pt idx="129">
                    <c:v/>
                  </c:pt>
                  <c:pt idx="130">
                    <c:v>Jul-26</c:v>
                  </c:pt>
                  <c:pt idx="131">
                    <c:v/>
                  </c:pt>
                  <c:pt idx="132">
                    <c:v/>
                  </c:pt>
                  <c:pt idx="133">
                    <c:v/>
                  </c:pt>
                  <c:pt idx="134">
                    <c:v/>
                  </c:pt>
                  <c:pt idx="135">
                    <c:v/>
                  </c:pt>
                  <c:pt idx="136">
                    <c:v/>
                  </c:pt>
                  <c:pt idx="137">
                    <c:v/>
                  </c:pt>
                  <c:pt idx="138">
                    <c:v/>
                  </c:pt>
                  <c:pt idx="139">
                    <c:v/>
                  </c:pt>
                  <c:pt idx="140">
                    <c:v/>
                  </c:pt>
                  <c:pt idx="141">
                    <c:v/>
                  </c:pt>
                  <c:pt idx="142">
                    <c:v/>
                  </c:pt>
                  <c:pt idx="143">
                    <c:v/>
                  </c:pt>
                  <c:pt idx="144">
                    <c:v/>
                  </c:pt>
                  <c:pt idx="145">
                    <c:v/>
                  </c:pt>
                  <c:pt idx="146">
                    <c:v/>
                  </c:pt>
                  <c:pt idx="147">
                    <c:v/>
                  </c:pt>
                  <c:pt idx="148">
                    <c:v/>
                  </c:pt>
                  <c:pt idx="149">
                    <c:v/>
                  </c:pt>
                  <c:pt idx="150">
                    <c:v/>
                  </c:pt>
                  <c:pt idx="151">
                    <c:v/>
                  </c:pt>
                  <c:pt idx="152">
                    <c:v/>
                  </c:pt>
                  <c:pt idx="153">
                    <c:v/>
                  </c:pt>
                  <c:pt idx="154">
                    <c:v/>
                  </c:pt>
                  <c:pt idx="155">
                    <c:v/>
                  </c:pt>
                  <c:pt idx="156">
                    <c:v/>
                  </c:pt>
                  <c:pt idx="157">
                    <c:v/>
                  </c:pt>
                  <c:pt idx="158">
                    <c:v/>
                  </c:pt>
                  <c:pt idx="159">
                    <c:v/>
                  </c:pt>
                  <c:pt idx="160">
                    <c:v/>
                  </c:pt>
                  <c:pt idx="161">
                    <c:v>Sep-26</c:v>
                  </c:pt>
                  <c:pt idx="162">
                    <c:v/>
                  </c:pt>
                  <c:pt idx="163">
                    <c:v/>
                  </c:pt>
                  <c:pt idx="164">
                    <c:v/>
                  </c:pt>
                  <c:pt idx="165">
                    <c:v/>
                  </c:pt>
                  <c:pt idx="166">
                    <c:v/>
                  </c:pt>
                  <c:pt idx="167">
                    <c:v/>
                  </c:pt>
                  <c:pt idx="168">
                    <c:v/>
                  </c:pt>
                  <c:pt idx="169">
                    <c:v/>
                  </c:pt>
                  <c:pt idx="170">
                    <c:v/>
                  </c:pt>
                  <c:pt idx="171">
                    <c:v/>
                  </c:pt>
                  <c:pt idx="172">
                    <c:v/>
                  </c:pt>
                  <c:pt idx="173">
                    <c:v/>
                  </c:pt>
                  <c:pt idx="174">
                    <c:v/>
                  </c:pt>
                  <c:pt idx="175">
                    <c:v/>
                  </c:pt>
                  <c:pt idx="176">
                    <c:v/>
                  </c:pt>
                  <c:pt idx="177">
                    <c:v/>
                  </c:pt>
                  <c:pt idx="178">
                    <c:v/>
                  </c:pt>
                  <c:pt idx="179">
                    <c:v/>
                  </c:pt>
                  <c:pt idx="180">
                    <c:v/>
                  </c:pt>
                  <c:pt idx="181">
                    <c:v/>
                  </c:pt>
                  <c:pt idx="182">
                    <c:v/>
                  </c:pt>
                </c:lvl>
              </c:multiLvlStrCache>
            </c:multiLvlStrRef>
          </c:cat>
          <c:val>
            <c:numRef>
              <c:f>Sheet1!$C$2:$C$184</c:f>
              <c:numCache>
                <c:formatCode>General</c:formatCode>
                <c:ptCount val="183"/>
                <c:pt idx="0">
                  <c:v>309</c:v>
                </c:pt>
                <c:pt idx="1">
                  <c:v>309</c:v>
                </c:pt>
                <c:pt idx="2">
                  <c:v>309</c:v>
                </c:pt>
                <c:pt idx="3">
                  <c:v>309</c:v>
                </c:pt>
                <c:pt idx="4">
                  <c:v>309</c:v>
                </c:pt>
                <c:pt idx="5">
                  <c:v>309</c:v>
                </c:pt>
                <c:pt idx="6">
                  <c:v>309</c:v>
                </c:pt>
                <c:pt idx="7">
                  <c:v>309</c:v>
                </c:pt>
                <c:pt idx="8">
                  <c:v>309</c:v>
                </c:pt>
                <c:pt idx="9">
                  <c:v>309</c:v>
                </c:pt>
                <c:pt idx="10">
                  <c:v>309</c:v>
                </c:pt>
                <c:pt idx="11">
                  <c:v>309</c:v>
                </c:pt>
                <c:pt idx="12">
                  <c:v>309</c:v>
                </c:pt>
                <c:pt idx="13">
                  <c:v>309</c:v>
                </c:pt>
                <c:pt idx="14">
                  <c:v>309</c:v>
                </c:pt>
                <c:pt idx="15">
                  <c:v>309</c:v>
                </c:pt>
                <c:pt idx="16">
                  <c:v>309</c:v>
                </c:pt>
                <c:pt idx="17">
                  <c:v>309</c:v>
                </c:pt>
                <c:pt idx="18">
                  <c:v>309</c:v>
                </c:pt>
                <c:pt idx="19">
                  <c:v>309</c:v>
                </c:pt>
                <c:pt idx="20">
                  <c:v>309</c:v>
                </c:pt>
                <c:pt idx="21">
                  <c:v>309</c:v>
                </c:pt>
                <c:pt idx="22">
                  <c:v>309</c:v>
                </c:pt>
                <c:pt idx="23">
                  <c:v>309</c:v>
                </c:pt>
                <c:pt idx="24">
                  <c:v>309</c:v>
                </c:pt>
                <c:pt idx="25">
                  <c:v>309</c:v>
                </c:pt>
                <c:pt idx="26">
                  <c:v>309</c:v>
                </c:pt>
                <c:pt idx="27">
                  <c:v>309</c:v>
                </c:pt>
                <c:pt idx="28">
                  <c:v>309</c:v>
                </c:pt>
                <c:pt idx="29">
                  <c:v>309</c:v>
                </c:pt>
                <c:pt idx="30">
                  <c:v>309</c:v>
                </c:pt>
                <c:pt idx="31">
                  <c:v>309</c:v>
                </c:pt>
                <c:pt idx="32">
                  <c:v>309</c:v>
                </c:pt>
                <c:pt idx="33">
                  <c:v>309</c:v>
                </c:pt>
                <c:pt idx="34">
                  <c:v>309</c:v>
                </c:pt>
                <c:pt idx="35">
                  <c:v>309</c:v>
                </c:pt>
                <c:pt idx="36">
                  <c:v>309</c:v>
                </c:pt>
                <c:pt idx="37">
                  <c:v>309</c:v>
                </c:pt>
                <c:pt idx="38">
                  <c:v>309</c:v>
                </c:pt>
                <c:pt idx="39">
                  <c:v>309</c:v>
                </c:pt>
                <c:pt idx="40">
                  <c:v>309</c:v>
                </c:pt>
                <c:pt idx="41">
                  <c:v>309</c:v>
                </c:pt>
                <c:pt idx="42">
                  <c:v>309</c:v>
                </c:pt>
                <c:pt idx="43">
                  <c:v>309</c:v>
                </c:pt>
                <c:pt idx="44">
                  <c:v>309</c:v>
                </c:pt>
                <c:pt idx="45">
                  <c:v>309</c:v>
                </c:pt>
                <c:pt idx="46">
                  <c:v>309</c:v>
                </c:pt>
                <c:pt idx="47">
                  <c:v>309</c:v>
                </c:pt>
                <c:pt idx="48">
                  <c:v>309</c:v>
                </c:pt>
                <c:pt idx="49">
                  <c:v>309</c:v>
                </c:pt>
                <c:pt idx="50">
                  <c:v>309</c:v>
                </c:pt>
                <c:pt idx="51">
                  <c:v>309</c:v>
                </c:pt>
                <c:pt idx="52">
                  <c:v>309</c:v>
                </c:pt>
                <c:pt idx="53">
                  <c:v>309</c:v>
                </c:pt>
                <c:pt idx="54">
                  <c:v>309</c:v>
                </c:pt>
                <c:pt idx="55">
                  <c:v>309</c:v>
                </c:pt>
                <c:pt idx="56">
                  <c:v>309</c:v>
                </c:pt>
                <c:pt idx="57">
                  <c:v>309</c:v>
                </c:pt>
                <c:pt idx="58">
                  <c:v>309</c:v>
                </c:pt>
                <c:pt idx="59">
                  <c:v>309</c:v>
                </c:pt>
                <c:pt idx="60">
                  <c:v>309</c:v>
                </c:pt>
                <c:pt idx="61">
                  <c:v>309</c:v>
                </c:pt>
                <c:pt idx="62">
                  <c:v>309</c:v>
                </c:pt>
                <c:pt idx="63">
                  <c:v>309</c:v>
                </c:pt>
                <c:pt idx="64">
                  <c:v>309</c:v>
                </c:pt>
                <c:pt idx="65">
                  <c:v>309</c:v>
                </c:pt>
                <c:pt idx="66">
                  <c:v>309</c:v>
                </c:pt>
                <c:pt idx="67">
                  <c:v>309</c:v>
                </c:pt>
                <c:pt idx="68">
                  <c:v>309</c:v>
                </c:pt>
                <c:pt idx="69">
                  <c:v>309</c:v>
                </c:pt>
                <c:pt idx="70">
                  <c:v>309</c:v>
                </c:pt>
                <c:pt idx="71">
                  <c:v>309</c:v>
                </c:pt>
                <c:pt idx="72">
                  <c:v>309</c:v>
                </c:pt>
                <c:pt idx="73">
                  <c:v>309</c:v>
                </c:pt>
                <c:pt idx="74">
                  <c:v>309</c:v>
                </c:pt>
                <c:pt idx="75">
                  <c:v>309</c:v>
                </c:pt>
                <c:pt idx="76">
                  <c:v>309</c:v>
                </c:pt>
                <c:pt idx="77">
                  <c:v>309</c:v>
                </c:pt>
                <c:pt idx="78">
                  <c:v>309</c:v>
                </c:pt>
                <c:pt idx="79">
                  <c:v>309</c:v>
                </c:pt>
                <c:pt idx="80">
                  <c:v>309</c:v>
                </c:pt>
                <c:pt idx="81">
                  <c:v>309</c:v>
                </c:pt>
                <c:pt idx="82">
                  <c:v>309</c:v>
                </c:pt>
                <c:pt idx="83">
                  <c:v>309</c:v>
                </c:pt>
                <c:pt idx="84">
                  <c:v>309</c:v>
                </c:pt>
                <c:pt idx="85">
                  <c:v>309</c:v>
                </c:pt>
                <c:pt idx="86">
                  <c:v>309</c:v>
                </c:pt>
                <c:pt idx="87">
                  <c:v>309</c:v>
                </c:pt>
                <c:pt idx="88">
                  <c:v>309</c:v>
                </c:pt>
                <c:pt idx="89">
                  <c:v>309</c:v>
                </c:pt>
                <c:pt idx="90">
                  <c:v>309</c:v>
                </c:pt>
                <c:pt idx="91">
                  <c:v>309</c:v>
                </c:pt>
                <c:pt idx="92">
                  <c:v>309</c:v>
                </c:pt>
                <c:pt idx="93">
                  <c:v>309</c:v>
                </c:pt>
                <c:pt idx="94">
                  <c:v>309</c:v>
                </c:pt>
                <c:pt idx="95">
                  <c:v>309</c:v>
                </c:pt>
                <c:pt idx="96">
                  <c:v>309</c:v>
                </c:pt>
                <c:pt idx="97">
                  <c:v>309</c:v>
                </c:pt>
                <c:pt idx="98">
                  <c:v>309</c:v>
                </c:pt>
                <c:pt idx="99">
                  <c:v>309</c:v>
                </c:pt>
                <c:pt idx="100">
                  <c:v>309</c:v>
                </c:pt>
                <c:pt idx="101">
                  <c:v>309</c:v>
                </c:pt>
                <c:pt idx="102">
                  <c:v>309</c:v>
                </c:pt>
                <c:pt idx="103">
                  <c:v>309</c:v>
                </c:pt>
                <c:pt idx="104">
                  <c:v>309</c:v>
                </c:pt>
                <c:pt idx="105">
                  <c:v>309</c:v>
                </c:pt>
                <c:pt idx="106">
                  <c:v>309</c:v>
                </c:pt>
                <c:pt idx="107">
                  <c:v>309</c:v>
                </c:pt>
                <c:pt idx="108">
                  <c:v>309</c:v>
                </c:pt>
                <c:pt idx="109">
                  <c:v>309</c:v>
                </c:pt>
                <c:pt idx="110">
                  <c:v>309</c:v>
                </c:pt>
                <c:pt idx="111">
                  <c:v>309</c:v>
                </c:pt>
                <c:pt idx="112">
                  <c:v>309</c:v>
                </c:pt>
                <c:pt idx="113">
                  <c:v>309</c:v>
                </c:pt>
                <c:pt idx="114">
                  <c:v>309</c:v>
                </c:pt>
                <c:pt idx="115">
                  <c:v>309</c:v>
                </c:pt>
                <c:pt idx="116">
                  <c:v>309</c:v>
                </c:pt>
                <c:pt idx="117">
                  <c:v>309</c:v>
                </c:pt>
                <c:pt idx="118">
                  <c:v>309</c:v>
                </c:pt>
                <c:pt idx="119">
                  <c:v>309</c:v>
                </c:pt>
                <c:pt idx="120">
                  <c:v>309</c:v>
                </c:pt>
                <c:pt idx="121">
                  <c:v>309</c:v>
                </c:pt>
                <c:pt idx="122">
                  <c:v>309</c:v>
                </c:pt>
                <c:pt idx="123">
                  <c:v>309</c:v>
                </c:pt>
                <c:pt idx="124">
                  <c:v>309</c:v>
                </c:pt>
                <c:pt idx="125">
                  <c:v>309</c:v>
                </c:pt>
                <c:pt idx="126">
                  <c:v>309</c:v>
                </c:pt>
                <c:pt idx="127">
                  <c:v>309</c:v>
                </c:pt>
                <c:pt idx="128">
                  <c:v>309</c:v>
                </c:pt>
                <c:pt idx="129">
                  <c:v>309</c:v>
                </c:pt>
                <c:pt idx="130">
                  <c:v>309</c:v>
                </c:pt>
                <c:pt idx="131">
                  <c:v>309</c:v>
                </c:pt>
                <c:pt idx="132">
                  <c:v>309</c:v>
                </c:pt>
                <c:pt idx="133">
                  <c:v>309</c:v>
                </c:pt>
                <c:pt idx="134">
                  <c:v>309</c:v>
                </c:pt>
                <c:pt idx="135">
                  <c:v>309</c:v>
                </c:pt>
                <c:pt idx="136">
                  <c:v>309</c:v>
                </c:pt>
                <c:pt idx="137">
                  <c:v>309</c:v>
                </c:pt>
                <c:pt idx="138">
                  <c:v>309</c:v>
                </c:pt>
                <c:pt idx="139">
                  <c:v>309</c:v>
                </c:pt>
                <c:pt idx="140">
                  <c:v>309</c:v>
                </c:pt>
                <c:pt idx="141">
                  <c:v>309</c:v>
                </c:pt>
                <c:pt idx="142">
                  <c:v>309</c:v>
                </c:pt>
                <c:pt idx="143">
                  <c:v>309</c:v>
                </c:pt>
                <c:pt idx="144">
                  <c:v>309</c:v>
                </c:pt>
                <c:pt idx="145">
                  <c:v>309</c:v>
                </c:pt>
                <c:pt idx="146">
                  <c:v>309</c:v>
                </c:pt>
                <c:pt idx="147">
                  <c:v>309</c:v>
                </c:pt>
                <c:pt idx="148">
                  <c:v>309</c:v>
                </c:pt>
                <c:pt idx="149">
                  <c:v>309</c:v>
                </c:pt>
                <c:pt idx="150">
                  <c:v>309</c:v>
                </c:pt>
                <c:pt idx="151">
                  <c:v>309</c:v>
                </c:pt>
                <c:pt idx="152">
                  <c:v>309</c:v>
                </c:pt>
                <c:pt idx="153">
                  <c:v>309</c:v>
                </c:pt>
                <c:pt idx="154">
                  <c:v>309</c:v>
                </c:pt>
                <c:pt idx="155">
                  <c:v>309</c:v>
                </c:pt>
                <c:pt idx="156">
                  <c:v>309</c:v>
                </c:pt>
                <c:pt idx="157">
                  <c:v>309</c:v>
                </c:pt>
                <c:pt idx="158">
                  <c:v>309</c:v>
                </c:pt>
                <c:pt idx="159">
                  <c:v>309</c:v>
                </c:pt>
                <c:pt idx="160">
                  <c:v>309</c:v>
                </c:pt>
                <c:pt idx="161">
                  <c:v>309</c:v>
                </c:pt>
                <c:pt idx="162">
                  <c:v>309</c:v>
                </c:pt>
                <c:pt idx="163">
                  <c:v>309</c:v>
                </c:pt>
                <c:pt idx="164">
                  <c:v>309</c:v>
                </c:pt>
                <c:pt idx="165">
                  <c:v>309</c:v>
                </c:pt>
                <c:pt idx="166">
                  <c:v>309</c:v>
                </c:pt>
                <c:pt idx="167">
                  <c:v>309</c:v>
                </c:pt>
                <c:pt idx="168">
                  <c:v>309</c:v>
                </c:pt>
                <c:pt idx="169">
                  <c:v>309</c:v>
                </c:pt>
                <c:pt idx="170">
                  <c:v>309</c:v>
                </c:pt>
                <c:pt idx="171">
                  <c:v>309</c:v>
                </c:pt>
                <c:pt idx="172">
                  <c:v>309</c:v>
                </c:pt>
                <c:pt idx="173">
                  <c:v>309</c:v>
                </c:pt>
                <c:pt idx="174">
                  <c:v>309</c:v>
                </c:pt>
                <c:pt idx="175">
                  <c:v>309</c:v>
                </c:pt>
                <c:pt idx="176">
                  <c:v>309</c:v>
                </c:pt>
                <c:pt idx="177">
                  <c:v>309</c:v>
                </c:pt>
                <c:pt idx="178">
                  <c:v>309</c:v>
                </c:pt>
                <c:pt idx="179">
                  <c:v>309</c:v>
                </c:pt>
                <c:pt idx="180">
                  <c:v>309</c:v>
                </c:pt>
                <c:pt idx="181">
                  <c:v>309</c:v>
                </c:pt>
                <c:pt idx="182">
                  <c:v>309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tickLblSkip val="1"/>
        <c:noMultiLvlLbl val="1"/>
      </c:catAx>
      <c:valAx>
        <c:axId val="2094734552"/>
        <c:scaling>
          <c:orientation val="minMax"/>
          <c:max val="350"/>
          <c:min val="100"/>
        </c:scaling>
        <c:delete val="0"/>
        <c:axPos val="l"/>
        <c:majorGridlines>
          <c:spPr>
            <a:ln w="6350" cap="flat">
              <a:solidFill>
                <a:srgbClr val="E7E6E6"/>
              </a:solidFill>
              <a:prstDash val="solid"/>
              <a:round/>
            </a:ln>
          </c:spPr>
        </c:majorGridlines>
        <c:numFmt formatCode="$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 prior visits</c:v>
                </c:pt>
              </c:strCache>
            </c:strRef>
          </c:tx>
          <c:spPr>
            <a:solidFill>
              <a:srgbClr val="BDD7EE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Garamon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2024 Actual</c:v>
                  </c:pt>
                  <c:pt idx="1">
                    <c:v>2028 OEM Projection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40</c:v>
                </c:pt>
                <c:pt idx="1">
                  <c:v>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 prior visit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Garamon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2024 Actual</c:v>
                  </c:pt>
                  <c:pt idx="1">
                    <c:v>2028 OEM Projection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29</c:v>
                </c:pt>
                <c:pt idx="1">
                  <c:v>31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2+ prior visits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Garamon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2024 Actual</c:v>
                  </c:pt>
                  <c:pt idx="1">
                    <c:v>2028 OEM Projection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31</c:v>
                </c:pt>
                <c:pt idx="1">
                  <c:v>43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Garamond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CFM56 shop visits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2350</c:v>
                </c:pt>
                <c:pt idx="1">
                  <c:v>2400</c:v>
                </c:pt>
                <c:pt idx="2">
                  <c:v>2400</c:v>
                </c:pt>
                <c:pt idx="3">
                  <c:v>2350</c:v>
                </c:pt>
                <c:pt idx="4">
                  <c:v>2250</c:v>
                </c:pt>
                <c:pt idx="5">
                  <c:v>2150</c:v>
                </c:pt>
                <c:pt idx="6">
                  <c:v>2085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9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100" b="0" i="0" u="none" strike="noStrike">
                <a:solidFill>
                  <a:srgbClr val="262626"/>
                </a:solidFill>
                <a:latin typeface="Garamond"/>
              </a:rPr>
              <a:t>Median Repair List-Price Change (y/y)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list price change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CFM56-5B
2024–25</c:v>
                  </c:pt>
                  <c:pt idx="1">
                    <c:v>CFM56-5B
2025–26</c:v>
                  </c:pt>
                  <c:pt idx="2">
                    <c:v>CFM56-7B
2025–26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0.062</c:v>
                </c:pt>
                <c:pt idx="1">
                  <c:v>0.062</c:v>
                </c:pt>
                <c:pt idx="2">
                  <c:v>0.061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10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100" b="0" i="0" u="none" strike="noStrike">
                <a:solidFill>
                  <a:srgbClr val="262626"/>
                </a:solidFill>
                <a:latin typeface="Garamond"/>
              </a:rPr>
              <a:t>Modules Produced (+61% y/y in Q2'26)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Modules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8702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8702A"/>
              </a:solidFill>
              <a:effectLst/>
            </c:spPr>
          </c:dPt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138</c:v>
                </c:pt>
                <c:pt idx="1">
                  <c:v>184</c:v>
                </c:pt>
                <c:pt idx="2">
                  <c:v>207</c:v>
                </c:pt>
                <c:pt idx="3">
                  <c:v>228</c:v>
                </c:pt>
                <c:pt idx="4">
                  <c:v>270</c:v>
                </c:pt>
                <c:pt idx="5">
                  <c:v>296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100" b="0" i="0" u="none" strike="noStrike">
                <a:solidFill>
                  <a:srgbClr val="262626"/>
                </a:solidFill>
                <a:latin typeface="Garamond"/>
              </a:rPr>
              <a:t>Aerospace Adj. EBITDA Margin</a:t>
            </a:r>
          </a:p>
        </c:rich>
      </c:tx>
      <c:layout/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</c:v>
                </c:pt>
              </c:strCache>
            </c:strRef>
          </c:tx>
          <c:spPr>
            <a:solidFill>
              <a:srgbClr val="E8702A"/>
            </a:solidFill>
            <a:ln w="28575" cap="flat">
              <a:solidFill>
                <a:srgbClr val="E8702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8702A"/>
              </a:solidFill>
              <a:ln w="9525" cap="flat">
                <a:solidFill>
                  <a:srgbClr val="E8702A"/>
                </a:solidFill>
                <a:prstDash val="solid"/>
                <a:round/>
              </a:ln>
              <a:effectLst/>
            </c:spPr>
          </c:marker>
          <c:dLbls>
            <c:numFmt formatCode="0.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0.359</c:v>
                </c:pt>
                <c:pt idx="1">
                  <c:v>0.336</c:v>
                </c:pt>
                <c:pt idx="2">
                  <c:v>0.348</c:v>
                </c:pt>
                <c:pt idx="3">
                  <c:v>0.346</c:v>
                </c:pt>
                <c:pt idx="4">
                  <c:v>0.299</c:v>
                </c:pt>
                <c:pt idx="5">
                  <c:v>0.285</c:v>
                </c:pt>
              </c:numCache>
            </c:numRef>
          </c:val>
          <c:smooth val="0"/>
        </c:ser>
        <c:dLbls>
          <c:numFmt formatCode="0.0%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8"/>
          <c:min val="0.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Aerospace Inventory ($M)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From leasing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Q1'25</c:v>
                  </c:pt>
                  <c:pt idx="1">
                    <c:v>Q1'26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68</c:v>
                </c:pt>
                <c:pt idx="1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Purchased &amp; WIP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Q1'25</c:v>
                  </c:pt>
                  <c:pt idx="1">
                    <c:v>Q1'26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577</c:v>
                </c:pt>
                <c:pt idx="1">
                  <c:v>1310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Garamon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Engine Transfers ($M)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Leasing → inv.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1H25</c:v>
                  </c:pt>
                  <c:pt idx="1">
                    <c:v>1H26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129</c:v>
                </c:pt>
                <c:pt idx="1">
                  <c:v>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Inv. → leasing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1H25</c:v>
                  </c:pt>
                  <c:pt idx="1">
                    <c:v>1H26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160</c:v>
                </c:pt>
                <c:pt idx="1">
                  <c:v>169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Margin by Workscope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2E75B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2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~6k-cycle
(light)</c:v>
                  </c:pt>
                  <c:pt idx="1">
                    <c:v>Blend
(1H26)</c:v>
                  </c:pt>
                  <c:pt idx="2">
                    <c:v>~10k-cycle
(heavy)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</c:v>
                </c:pt>
                <c:pt idx="1">
                  <c:v>0.3</c:v>
                </c:pt>
                <c:pt idx="2">
                  <c:v>0.25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PMA EBITDA Uplift ($M)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 case PMA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24</c:v>
                </c:pt>
                <c:pt idx="2">
                  <c:v>42</c:v>
                </c:pt>
                <c:pt idx="3">
                  <c:v>59</c:v>
                </c:pt>
                <c:pt idx="4">
                  <c:v>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50% of SCI modules on PMA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96</c:v>
                </c:pt>
                <c:pt idx="1">
                  <c:v>132</c:v>
                </c:pt>
                <c:pt idx="2">
                  <c:v>156</c:v>
                </c:pt>
                <c:pt idx="3">
                  <c:v>168</c:v>
                </c:pt>
                <c:pt idx="4">
                  <c:v>180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FTAI Modules: SCI Share Rising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Third-party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865</c:v>
                </c:pt>
                <c:pt idx="1">
                  <c:v>1206</c:v>
                </c:pt>
                <c:pt idx="2">
                  <c:v>1321</c:v>
                </c:pt>
                <c:pt idx="3">
                  <c:v>1298</c:v>
                </c:pt>
                <c:pt idx="4">
                  <c:v>1272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SCI captive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328</c:v>
                </c:pt>
                <c:pt idx="1">
                  <c:v>482</c:v>
                </c:pt>
                <c:pt idx="2">
                  <c:v>660</c:v>
                </c:pt>
                <c:pt idx="3">
                  <c:v>780</c:v>
                </c:pt>
                <c:pt idx="4">
                  <c:v>840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Garamon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Aerospace Margin Bridge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FY27E</c:v>
                  </c:pt>
                  <c:pt idx="1">
                    <c:v>Price</c:v>
                  </c:pt>
                  <c:pt idx="2">
                    <c:v>PMA</c:v>
                  </c:pt>
                  <c:pt idx="3">
                    <c:v>FY31E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29.9</c:v>
                </c:pt>
                <c:pt idx="2">
                  <c:v>31.6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FY27E</c:v>
                  </c:pt>
                  <c:pt idx="1">
                    <c:v>Price</c:v>
                  </c:pt>
                  <c:pt idx="2">
                    <c:v>PMA</c:v>
                  </c:pt>
                  <c:pt idx="3">
                    <c:v>FY31E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29.9</c:v>
                </c:pt>
                <c:pt idx="1">
                  <c:v>1.7</c:v>
                </c:pt>
                <c:pt idx="2">
                  <c:v>0.9</c:v>
                </c:pt>
                <c:pt idx="3">
                  <c:v>32.5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Garamon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.5"/>
          <c:min val="2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Jet Fuel ($ / bbl)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Jet fuel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$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Jan-26</c:v>
                  </c:pt>
                  <c:pt idx="1">
                    <c:v>3-Apr (peak)</c:v>
                  </c:pt>
                  <c:pt idx="2">
                    <c:v>17-Apr</c:v>
                  </c:pt>
                  <c:pt idx="3">
                    <c:v>14-Aug</c:v>
                  </c:pt>
                  <c:pt idx="4">
                    <c:v>15-Sep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85</c:v>
                </c:pt>
                <c:pt idx="1">
                  <c:v>209</c:v>
                </c:pt>
                <c:pt idx="2">
                  <c:v>185</c:v>
                </c:pt>
                <c:pt idx="3">
                  <c:v>159</c:v>
                </c:pt>
                <c:pt idx="4">
                  <c:v>198</c:v>
                </c:pt>
              </c:numCache>
            </c:numRef>
          </c:val>
        </c:ser>
        <c:dLbls>
          <c:numFmt formatCode="$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GE CFM56 Retirement View, 2026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Retirement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Lbls>
            <c:numFmt formatCode="0.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Original</c:v>
                  </c:pt>
                  <c:pt idx="1">
                    <c:v>Jan-26</c:v>
                  </c:pt>
                  <c:pt idx="2">
                    <c:v>Spring</c:v>
                  </c:pt>
                  <c:pt idx="3">
                    <c:v>Sep-26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0.035</c:v>
                </c:pt>
                <c:pt idx="1">
                  <c:v>0.025</c:v>
                </c:pt>
                <c:pt idx="2">
                  <c:v>0.02</c:v>
                </c:pt>
                <c:pt idx="3">
                  <c:v>0.0175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4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Days Off Wing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Days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2A"/>
              </a:solidFill>
              <a:effectLst/>
            </c:spPr>
          </c:dPt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Shop visit</c:v>
                  </c:pt>
                  <c:pt idx="1">
                    <c:v>FTAI swap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150</c:v>
                </c:pt>
                <c:pt idx="1">
                  <c:v>15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Incl. SCI captive</c:v>
                </c:pt>
              </c:strCache>
            </c:strRef>
          </c:tx>
          <c:spPr>
            <a:solidFill>
              <a:srgbClr val="E8702A"/>
            </a:solidFill>
            <a:ln w="28575" cap="flat">
              <a:solidFill>
                <a:srgbClr val="E8702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8702A"/>
              </a:solidFill>
              <a:ln w="9525" cap="flat">
                <a:solidFill>
                  <a:srgbClr val="E8702A"/>
                </a:solidFill>
                <a:prstDash val="solid"/>
                <a:round/>
              </a:ln>
              <a:effectLst/>
            </c:spPr>
          </c:marker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0.167</c:v>
                </c:pt>
                <c:pt idx="1">
                  <c:v>0.236</c:v>
                </c:pt>
                <c:pt idx="2">
                  <c:v>0.285</c:v>
                </c:pt>
                <c:pt idx="3">
                  <c:v>0.312</c:v>
                </c:pt>
                <c:pt idx="4">
                  <c:v>0.332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Third-party only (base)</c:v>
                </c:pt>
              </c:strCache>
            </c:strRef>
          </c:tx>
          <c:spPr>
            <a:solidFill>
              <a:srgbClr val="1F3864"/>
            </a:solidFill>
            <a:ln w="28575" cap="flat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0.124</c:v>
                </c:pt>
                <c:pt idx="1">
                  <c:v>0.168</c:v>
                </c:pt>
                <c:pt idx="2">
                  <c:v>0.19</c:v>
                </c:pt>
                <c:pt idx="3">
                  <c:v>0.195</c:v>
                </c:pt>
                <c:pt idx="4">
                  <c:v>0.2</c:v>
                </c:pt>
              </c:numCache>
            </c:numRef>
          </c:val>
          <c:smooth val="0"/>
        </c:ser>
        <c:dLbls>
          <c:numFmt formatCode="0%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Output vs. Capacity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Modules produced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
757</c:v>
                  </c:pt>
                  <c:pt idx="1">
                    <c:v>2026E
1,200</c:v>
                  </c:pt>
                  <c:pt idx="2">
                    <c:v>2027E
1,700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757</c:v>
                </c:pt>
                <c:pt idx="1">
                  <c:v>1200</c:v>
                </c:pt>
                <c:pt idx="2">
                  <c:v>1700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Spare capacity</c:v>
                </c:pt>
              </c:strCache>
            </c:strRef>
          </c:tx>
          <c:spPr>
            <a:solidFill>
              <a:srgbClr val="BDD7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
757</c:v>
                  </c:pt>
                  <c:pt idx="1">
                    <c:v>2026E
1,200</c:v>
                  </c:pt>
                  <c:pt idx="2">
                    <c:v>2027E
1,700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1243</c:v>
                </c:pt>
                <c:pt idx="1">
                  <c:v>1800</c:v>
                </c:pt>
                <c:pt idx="2">
                  <c:v>1300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Garamon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Big Four Capex ($bn)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69</c:v>
                </c:pt>
                <c:pt idx="1">
                  <c:v>95</c:v>
                </c:pt>
                <c:pt idx="2">
                  <c:v>128</c:v>
                </c:pt>
                <c:pt idx="3">
                  <c:v>151</c:v>
                </c:pt>
                <c:pt idx="4">
                  <c:v>147</c:v>
                </c:pt>
                <c:pt idx="5">
                  <c:v>228</c:v>
                </c:pt>
                <c:pt idx="6">
                  <c:v>376</c:v>
                </c:pt>
                <c:pt idx="7">
                  <c:v>733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6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US Corporate PPAs Signed (GW)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PPA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</c:v>
                </c:pt>
                <c:pt idx="1">
                  <c:v>16</c:v>
                </c:pt>
                <c:pt idx="2">
                  <c:v>19</c:v>
                </c:pt>
                <c:pt idx="3">
                  <c:v>21</c:v>
                </c:pt>
                <c:pt idx="4">
                  <c:v>17</c:v>
                </c:pt>
                <c:pt idx="5">
                  <c:v>29.1</c:v>
                </c:pt>
                <c:pt idx="6">
                  <c:v>29.5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85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Reserve Shortfall (GW)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PJM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8.4</c:v>
                </c:pt>
                <c:pt idx="4">
                  <c:v>21.6</c:v>
                </c:pt>
                <c:pt idx="5">
                  <c:v>36.9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MISO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5.5</c:v>
                </c:pt>
                <c:pt idx="5">
                  <c:v>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Garamon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P(≥1 order) by buyer group, 12M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Anthropic / neoclouds</c:v>
                  </c:pt>
                  <c:pt idx="1">
                    <c:v>Unidentified (residual)</c:v>
                  </c:pt>
                  <c:pt idx="2">
                    <c:v>Oracle / OpenAI</c:v>
                  </c:pt>
                  <c:pt idx="3">
                    <c:v>Developers (Fermi, Pacifico)</c:v>
                  </c:pt>
                  <c:pt idx="4">
                    <c:v>Crusoe</c:v>
                  </c:pt>
                  <c:pt idx="5">
                    <c:v>Cipher (BYOG, 2.5 GW)</c:v>
                  </c:pt>
                  <c:pt idx="6">
                    <c:v>xAI / SpaceX (4 sites)</c:v>
                  </c:pt>
                  <c:pt idx="7">
                    <c:v>Jereh repeat buyers (B–E)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8</c:v>
                </c:pt>
                <c:pt idx="2">
                  <c:v>8.4</c:v>
                </c:pt>
                <c:pt idx="3">
                  <c:v>9.4</c:v>
                </c:pt>
                <c:pt idx="4">
                  <c:v>11.5</c:v>
                </c:pt>
                <c:pt idx="5">
                  <c:v>17</c:v>
                </c:pt>
                <c:pt idx="6">
                  <c:v>30.4</c:v>
                </c:pt>
                <c:pt idx="7">
                  <c:v>35.8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85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Mod-1 Units Delivered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Bear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30</c:v>
                </c:pt>
                <c:pt idx="2">
                  <c:v>45</c:v>
                </c:pt>
                <c:pt idx="3">
                  <c:v>50</c:v>
                </c:pt>
                <c:pt idx="4">
                  <c:v>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</c:v>
                </c:pt>
                <c:pt idx="1">
                  <c:v>45</c:v>
                </c:pt>
                <c:pt idx="2">
                  <c:v>90</c:v>
                </c:pt>
                <c:pt idx="3">
                  <c:v>110</c:v>
                </c:pt>
                <c:pt idx="4">
                  <c:v>120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Bull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</c:v>
                </c:pt>
                <c:pt idx="1">
                  <c:v>55</c:v>
                </c:pt>
                <c:pt idx="2">
                  <c:v>130</c:v>
                </c:pt>
                <c:pt idx="3">
                  <c:v>150</c:v>
                </c:pt>
                <c:pt idx="4">
                  <c:v>160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0" i="0" strike="noStrike" sz="85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Bear-case
outcomes</c:v>
                  </c:pt>
                  <c:pt idx="1">
                    <c:v>Thesis I
Margins</c:v>
                  </c:pt>
                  <c:pt idx="2">
                    <c:v>Thesis II
Share</c:v>
                  </c:pt>
                  <c:pt idx="3">
                    <c:v>Thesis III
Power</c:v>
                  </c:pt>
                  <c:pt idx="4">
                    <c:v>1-yr target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161.2</c:v>
                </c:pt>
                <c:pt idx="2">
                  <c:v>183.5</c:v>
                </c:pt>
                <c:pt idx="3">
                  <c:v>245.9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Bear-case
outcomes</c:v>
                  </c:pt>
                  <c:pt idx="1">
                    <c:v>Thesis I
Margins</c:v>
                  </c:pt>
                  <c:pt idx="2">
                    <c:v>Thesis II
Share</c:v>
                  </c:pt>
                  <c:pt idx="3">
                    <c:v>Thesis III
Power</c:v>
                  </c:pt>
                  <c:pt idx="4">
                    <c:v>1-yr target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161.2</c:v>
                </c:pt>
                <c:pt idx="1">
                  <c:v>22.3</c:v>
                </c:pt>
                <c:pt idx="2">
                  <c:v>62.4</c:v>
                </c:pt>
                <c:pt idx="3">
                  <c:v>63.4</c:v>
                </c:pt>
                <c:pt idx="4">
                  <c:v>309.3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tch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" y="768096"/>
            <a:ext cx="11201400" cy="0"/>
          </a:xfrm>
          <a:prstGeom prst="line">
            <a:avLst/>
          </a:prstGeom>
          <a:noFill/>
          <a:ln w="381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6446520"/>
            <a:ext cx="11201400" cy="0"/>
          </a:xfrm>
          <a:prstGeom prst="line">
            <a:avLst/>
          </a:prstGeom>
          <a:noFill/>
          <a:ln w="38100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61320" y="109728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FTAI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155680" y="10972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2E8F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AVIATION</a:t>
            </a:r>
            <a:endParaRPr lang="en-US" sz="1500" dirty="0"/>
          </a:p>
        </p:txBody>
      </p:sp>
      <p:sp>
        <p:nvSpPr>
          <p:cNvPr id="6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defRPr>
            </a:lvl1pPr>
          </a:lstStyle>
          <a:p>
            <a:pPr algn="l" indent="0" marL="0">
              <a:buNone/>
            </a:pP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chart" Target="/ppt/charts/chart4.xml"/><Relationship Id="rId4" Type="http://schemas.openxmlformats.org/officeDocument/2006/relationships/chart" Target="/ppt/charts/chart5.xml"/><Relationship Id="rId5" Type="http://schemas.openxmlformats.org/officeDocument/2006/relationships/chart" Target="/ppt/charts/chart6.xml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chart" Target="/ppt/charts/chart9.xm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chart" Target="/ppt/charts/chart11.xml"/><Relationship Id="rId3" Type="http://schemas.openxmlformats.org/officeDocument/2006/relationships/chart" Target="/ppt/charts/chart12.xm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3.xml"/><Relationship Id="rId3" Type="http://schemas.openxmlformats.org/officeDocument/2006/relationships/chart" Target="/ppt/charts/chart14.xm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chart" Target="/ppt/charts/chart16.xml"/><Relationship Id="rId3" Type="http://schemas.openxmlformats.org/officeDocument/2006/relationships/chart" Target="/ppt/charts/chart17.xm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chart" Target="/ppt/charts/chart19.xml"/><Relationship Id="rId3" Type="http://schemas.openxmlformats.org/officeDocument/2006/relationships/chart" Target="/ppt/charts/chart20.xm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chart" Target="/ppt/charts/chart2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0"/>
            <a:ext cx="5882335" cy="6858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766560" y="411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FTAI</a:t>
            </a:r>
            <a:r>
              <a:rPr lang="en-US" sz="18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AVIATION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766560" y="132588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$167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6766560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E2F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Share price (10/2/26)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418320" y="132588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$309</a:t>
            </a:r>
            <a:endParaRPr lang="en-US" sz="4200" dirty="0"/>
          </a:p>
        </p:txBody>
      </p:sp>
      <p:sp>
        <p:nvSpPr>
          <p:cNvPr id="7" name="Text 5"/>
          <p:cNvSpPr txBox="1"/>
          <p:nvPr/>
        </p:nvSpPr>
        <p:spPr>
          <a:xfrm>
            <a:off x="9418320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E2F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1-year target (+85%)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766560" y="27432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~5x</a:t>
            </a:r>
            <a:endParaRPr lang="en-US" sz="42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3429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E2F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Reward-to-risk (+157% / –32%)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418320" y="27432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$161</a:t>
            </a:r>
            <a:endParaRPr lang="en-US" sz="4200" dirty="0"/>
          </a:p>
        </p:txBody>
      </p:sp>
      <p:sp>
        <p:nvSpPr>
          <p:cNvPr id="11" name="Text 9"/>
          <p:cNvSpPr txBox="1"/>
          <p:nvPr/>
        </p:nvSpPr>
        <p:spPr>
          <a:xfrm>
            <a:off x="9418320" y="3429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E2F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Bear-case value ≈ today's price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766560" y="4297680"/>
            <a:ext cx="4937760" cy="0"/>
          </a:xfrm>
          <a:prstGeom prst="line">
            <a:avLst/>
          </a:prstGeom>
          <a:noFill/>
          <a:ln w="12700">
            <a:solidFill>
              <a:srgbClr val="9DC3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0" y="4480560"/>
            <a:ext cx="384048" cy="384048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66560" y="4480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269480" y="444398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Margins have bottomed at ~30%: the fraud unwind is &lt;8% of inventory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766560" y="5047488"/>
            <a:ext cx="384048" cy="384048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66560" y="5047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II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269480" y="501091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catches the CFM56 work OEMs and airlines are sending out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766560" y="5614416"/>
            <a:ext cx="384048" cy="384048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66560" y="5614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III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269480" y="55778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a free call option on the grid gap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411480"/>
            <a:ext cx="5669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Aviation</a:t>
            </a:r>
            <a:endParaRPr lang="en-US" sz="4000" dirty="0"/>
          </a:p>
          <a:p>
            <a:pPr indent="0" marL="0">
              <a:buNone/>
            </a:pPr>
            <a:r>
              <a:rPr lang="en-US" sz="40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(NASDAQ: FTAI)</a:t>
            </a:r>
            <a:endParaRPr lang="en-US" sz="40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1810512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Long Recommendation (1-Year Target $309, +85%)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22128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By Sara Jankovic, Josephine Sun, Andrew Chen, and Max Salomon  |  October 2026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2606040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 compounder still priced for a fraud.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502920" y="3154680"/>
            <a:ext cx="54864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2920" y="32004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share price, last 12 months ($)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02920" y="345643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Roughly halved from the Feb-26 peak on the 1H26 margin reset</a:t>
            </a:r>
            <a:endParaRPr lang="en-US" sz="10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365760" y="3703320"/>
          <a:ext cx="57150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Text 27"/>
          <p:cNvSpPr txBox="1"/>
          <p:nvPr/>
        </p:nvSpPr>
        <p:spPr>
          <a:xfrm>
            <a:off x="4846320" y="576072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$165 (10/13/26)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502920" y="65105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Daily closes traced from team price chart; approximate.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Opportunity Summary – A Compounder Still Priced for a Fraud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621792" y="896112"/>
            <a:ext cx="1120140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896112"/>
            <a:ext cx="112014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Set-up: A Short Report That Never Proved Out, and a Margin Reset That Looked Like Proof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67512" y="1325880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1325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33272" y="1280160"/>
            <a:ext cx="107899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trades under a fraud overhang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Muddy Waters (Jan-25) alleged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depreciated leasing engines were moved into Aerospace inventory at book value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inflating margins; the stock fell 24% in a day. An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audit-committee review found the claims without merit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nothing was restated, yet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discount never closed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67512" y="2075688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512" y="2075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33272" y="2029968"/>
            <a:ext cx="107899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1H26 reset looked like confirmation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Aerospace margin fell ~500 bps in one quarter and management swapped its 40% target for ~30%. The market read it as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cheap leasing stock running out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the short thesis finally unwinding – and the stock now sits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~48% below its $324 high at 9.2x FY27E EBITDA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2816352"/>
            <a:ext cx="1120140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" y="2816352"/>
            <a:ext cx="112014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We believe the reset is a choice, not a confession – and place three trackable bets on FTAI.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3182112"/>
            <a:ext cx="1120140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Two observations underpin our theses: (i)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even if the bears were right, leasing-sourced engines are &lt;8% of inventory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(ii)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CFM56 aftermarket is supply-constrained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so FTAI chose volume over margin.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1792" y="3730752"/>
            <a:ext cx="11201400" cy="777240"/>
          </a:xfrm>
          <a:prstGeom prst="rect">
            <a:avLst/>
          </a:prstGeom>
          <a:solidFill>
            <a:srgbClr val="9DC3E6"/>
          </a:solidFill>
          <a:ln w="12700">
            <a:solidFill>
              <a:srgbClr val="9DC3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3232" y="3982212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" y="39822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78992" y="3749040"/>
            <a:ext cx="10652760" cy="7406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Margins have bottomed at ~30%: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Q1'26 leasing transfers were $90M against ~$1.4bn of inventory, and engines now flow the other way. Heavy-scope mix is capped by shop capacity, and </a:t>
            </a:r>
            <a:r>
              <a:rPr lang="en-US" sz="13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PMA enters through SCI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where FTAI is the lessor. Two more ~30% prints prove the trough.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21792" y="4572000"/>
            <a:ext cx="11201400" cy="548640"/>
          </a:xfrm>
          <a:prstGeom prst="rect">
            <a:avLst/>
          </a:prstGeom>
          <a:solidFill>
            <a:srgbClr val="9DC3E6"/>
          </a:solidFill>
          <a:ln w="12700">
            <a:solidFill>
              <a:srgbClr val="9DC3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4709160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3232" y="4709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78992" y="4590288"/>
            <a:ext cx="10652760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takes the CFM56 whitespace to ~25% share: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OEMs and MROs are moving capacity to LEAP while LEAP problems keep CFM56s flying. FTAI's 3,000-module capacity is </a:t>
            </a:r>
            <a:r>
              <a:rPr lang="en-US" sz="13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already built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Jakarta and Cairo ramp in 2027.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21792" y="5184648"/>
            <a:ext cx="11201400" cy="548640"/>
          </a:xfrm>
          <a:prstGeom prst="rect">
            <a:avLst/>
          </a:prstGeom>
          <a:solidFill>
            <a:srgbClr val="9DC3E6"/>
          </a:solidFill>
          <a:ln w="12700">
            <a:solidFill>
              <a:srgbClr val="9DC3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5321808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13232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078992" y="5202936"/>
            <a:ext cx="10652760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a free call option: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 </a:t>
            </a:r>
            <a:r>
              <a:rPr lang="en-US" sz="13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signed $1.465bn order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the grid falls 8–47 GW short from 2029 and many campuses sit at the stage the first buyer was. Today's price </a:t>
            </a:r>
            <a:r>
              <a:rPr lang="en-US" sz="13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pays nothing for it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21792" y="5806440"/>
            <a:ext cx="11201400" cy="566928"/>
          </a:xfrm>
          <a:prstGeom prst="rect">
            <a:avLst/>
          </a:prstGeom>
          <a:solidFill>
            <a:srgbClr val="5B7189"/>
          </a:solidFill>
          <a:ln w="12700">
            <a:solidFill>
              <a:srgbClr val="5B718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3232" y="5806440"/>
            <a:ext cx="1101852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All we need is for margins to hold ~30% for two more prints. At $167 the market pays for our bear case; we see </a:t>
            </a:r>
            <a:r>
              <a:rPr lang="en-US" sz="1400" b="1" u="sng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$309 in a year, 85% upside,</a:t>
            </a: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with </a:t>
            </a:r>
            <a:r>
              <a:rPr lang="en-US" sz="1400" b="1" u="sng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~5x reward-to-risk</a:t>
            </a: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r>
              <a:rPr lang="en-US" sz="1400" baseline="30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Company Filings, Muddy Waters Research (Jan-25), Earnings Calls, Bloomberg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1-year base-case sum of the parts (Oct-27); reward-to-risk = bull upside (+157%) / bear downside (–32%).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Business Overview – A Module Factory Scaling Through a Margin Reset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10332720" y="475488"/>
            <a:ext cx="1490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($ in millions)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822960"/>
            <a:ext cx="11201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offers 1) a CFM56 aftermarket business still winning share, 2) an asset-light leasing arm that feeds it, and 3) a new Power segment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21792" y="1188720"/>
            <a:ext cx="7882128" cy="31089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188720"/>
            <a:ext cx="7882128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Business Segments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536192"/>
            <a:ext cx="7882128" cy="246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1)  Aerospace Products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(77% of FY25 Revenue, 52% of Segment EBITDA</a:t>
            </a:r>
            <a:r>
              <a:rPr lang="en-US" sz="130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):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50392" y="1773936"/>
            <a:ext cx="7653528" cy="9509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Swaps restored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fan, core and LPT modules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from its own pool: engines back in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5–25 days vs. 120–180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at a shop</a:t>
            </a:r>
            <a:endParaRPr lang="en-US" sz="11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Feedstock is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run-out engines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bought from airlines, lessors and SCI; also sells used serviceable parts</a:t>
            </a:r>
            <a:endParaRPr lang="en-US" sz="11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757 modules (FY25) → 1,200 (FY26E) → 1,700 (FY27E)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CFM56 module share ~10% → 14% in 1H26</a:t>
            </a:r>
            <a:r>
              <a:rPr lang="en-US" sz="115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1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Margin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reset from ~35% to ~30%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in 1H26 on heavier workscopes and large airline deals (United)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" y="2743200"/>
            <a:ext cx="7882128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621792" y="2779776"/>
            <a:ext cx="7882128" cy="246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2)  Aviation Leasing + SCI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(23% of FY25 Revenue, 48% of Segment EBITDA):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50392" y="3017520"/>
            <a:ext cx="7653528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Going asset-light: aircraft sold into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SCI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an FTAI-sponsored fund ($2.0bn equity, ~$6bn buying power)</a:t>
            </a:r>
            <a:endParaRPr lang="en-US" sz="11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services SCI's fleet and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receives all of its engine work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SCI grows from 130 to ~316 aircraft by YE26E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1792" y="3547872"/>
            <a:ext cx="7882128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621792" y="3584448"/>
            <a:ext cx="7882128" cy="246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3)  FTAI Power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(launched Dec-25; $450–750M FY27 EBITDA guidance):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50392" y="3822192"/>
            <a:ext cx="7653528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Converts CFM56 cores into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25 MW "Mod-1" gas turbines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(~$1M per MW) sold as bridge power to AI data centers</a:t>
            </a:r>
            <a:endParaRPr lang="en-US" sz="11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First order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$1.465bn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(Jul-26) via J&amp;F, FTAI's JV with Jereh; delivered in batches through Nov-27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686800" y="1188720"/>
            <a:ext cx="3136392" cy="2011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686800" y="1188720"/>
            <a:ext cx="31363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Key Aerospace Financials (FY25)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686800" y="1389888"/>
            <a:ext cx="3136392" cy="182880"/>
          </a:xfrm>
          <a:prstGeom prst="rect">
            <a:avLst/>
          </a:prstGeom>
          <a:solidFill>
            <a:srgbClr val="DDEBF7"/>
          </a:solidFill>
          <a:ln w="12700">
            <a:solidFill>
              <a:srgbClr val="DDEBF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714232" y="138988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Aerospace Revenue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0568635" y="138988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$1,936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796528" y="157276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FY26E Revenue Growth (%)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0568635" y="157276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79.4%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0631363" y="1737360"/>
            <a:ext cx="1155253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86800" y="1755648"/>
            <a:ext cx="3136392" cy="182880"/>
          </a:xfrm>
          <a:prstGeom prst="rect">
            <a:avLst/>
          </a:prstGeom>
          <a:solidFill>
            <a:srgbClr val="DDEBF7"/>
          </a:solidFill>
          <a:ln w="12700">
            <a:solidFill>
              <a:srgbClr val="DDEBF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714232" y="175564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Aerospace Adj. EBITDA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0568635" y="175564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$671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796528" y="193852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EBITDA Margin (%)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10568635" y="193852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34.7%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8796528" y="212140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Q2'26 EBITDA Margin (%)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10568635" y="212140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28.5%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10631363" y="2286000"/>
            <a:ext cx="1155253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686800" y="2304288"/>
            <a:ext cx="3136392" cy="182880"/>
          </a:xfrm>
          <a:prstGeom prst="rect">
            <a:avLst/>
          </a:prstGeom>
          <a:solidFill>
            <a:srgbClr val="DDEBF7"/>
          </a:solidFill>
          <a:ln w="12700">
            <a:solidFill>
              <a:srgbClr val="DDEBF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714232" y="230428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Modules Produced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10568635" y="230428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757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796528" y="248716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FY26E Guidance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10568635" y="248716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1,200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86800" y="2697480"/>
            <a:ext cx="3136392" cy="2011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686800" y="2697480"/>
            <a:ext cx="31363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 Table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8714232" y="289864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Share Price (As of 10/2/26)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10568635" y="289864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$167.03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8714232" y="308152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(x) Diluted Shares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10568635" y="308152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104.0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8686800" y="3264408"/>
            <a:ext cx="3136392" cy="182880"/>
          </a:xfrm>
          <a:prstGeom prst="rect">
            <a:avLst/>
          </a:prstGeom>
          <a:solidFill>
            <a:srgbClr val="DDEBF7"/>
          </a:solidFill>
          <a:ln w="12700">
            <a:solidFill>
              <a:srgbClr val="DDEBF7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714232" y="326440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Market Cap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10568635" y="326440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$17,378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8714232" y="344728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(+) Total Debt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10568635" y="344728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3,453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8714232" y="363016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(–) Cash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10568635" y="363016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(337)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8714232" y="381304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(+) Preferred Equity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10568635" y="381304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65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10631363" y="3977640"/>
            <a:ext cx="1155253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686800" y="3995928"/>
            <a:ext cx="3136392" cy="182880"/>
          </a:xfrm>
          <a:prstGeom prst="rect">
            <a:avLst/>
          </a:prstGeom>
          <a:solidFill>
            <a:srgbClr val="DDEBF7"/>
          </a:solidFill>
          <a:ln w="12700">
            <a:solidFill>
              <a:srgbClr val="DDEBF7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714232" y="399592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Enterprise Value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10568635" y="399592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$20,560</a:t>
            </a:r>
            <a:endParaRPr lang="en-US" sz="1050" dirty="0"/>
          </a:p>
        </p:txBody>
      </p:sp>
      <p:sp>
        <p:nvSpPr>
          <p:cNvPr id="55" name="Text 53"/>
          <p:cNvSpPr txBox="1"/>
          <p:nvPr/>
        </p:nvSpPr>
        <p:spPr>
          <a:xfrm>
            <a:off x="8714232" y="417880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 / FY26E Adj. EBITDA</a:t>
            </a:r>
            <a:endParaRPr lang="en-US" sz="1050" dirty="0"/>
          </a:p>
        </p:txBody>
      </p:sp>
      <p:sp>
        <p:nvSpPr>
          <p:cNvPr id="56" name="Text 54"/>
          <p:cNvSpPr txBox="1"/>
          <p:nvPr/>
        </p:nvSpPr>
        <p:spPr>
          <a:xfrm>
            <a:off x="10568635" y="417880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15.7x</a:t>
            </a:r>
            <a:endParaRPr 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8714232" y="436168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 / FY27E Adj. EBITDA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10568635" y="436168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9.2x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621792" y="4681728"/>
            <a:ext cx="11201400" cy="31089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21792" y="4681728"/>
            <a:ext cx="11201400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Earnings Algorithm for Aerospace Products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621792" y="5029200"/>
            <a:ext cx="11201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Module Demand × FTAI Share × Revenue per Module × EBITDA Margin</a:t>
            </a:r>
            <a:endParaRPr lang="en-US" sz="1900" dirty="0"/>
          </a:p>
        </p:txBody>
      </p:sp>
      <p:sp>
        <p:nvSpPr>
          <p:cNvPr id="62" name="Shape 60"/>
          <p:cNvSpPr/>
          <p:nvPr/>
        </p:nvSpPr>
        <p:spPr>
          <a:xfrm>
            <a:off x="758952" y="5422392"/>
            <a:ext cx="10927080" cy="384048"/>
          </a:xfrm>
          <a:prstGeom prst="rect">
            <a:avLst/>
          </a:prstGeom>
          <a:ln w="19050">
            <a:solidFill>
              <a:srgbClr val="1A1A1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777240" y="5422392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[Fleet × Shop-Visit Rate × 3]</a:t>
            </a:r>
            <a:endParaRPr lang="en-US" sz="1500" dirty="0"/>
          </a:p>
        </p:txBody>
      </p:sp>
      <p:sp>
        <p:nvSpPr>
          <p:cNvPr id="64" name="Shape 62"/>
          <p:cNvSpPr/>
          <p:nvPr/>
        </p:nvSpPr>
        <p:spPr>
          <a:xfrm rot="5400000">
            <a:off x="1924812" y="4796028"/>
            <a:ext cx="219456" cy="2240280"/>
          </a:xfrm>
          <a:prstGeom prst="rightBrac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77240" y="6071616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Industry Demand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3337560" y="542239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× [3rd-Party Share + SCI Captive]</a:t>
            </a:r>
            <a:endParaRPr lang="en-US" sz="1500" dirty="0"/>
          </a:p>
        </p:txBody>
      </p:sp>
      <p:sp>
        <p:nvSpPr>
          <p:cNvPr id="67" name="Shape 65"/>
          <p:cNvSpPr/>
          <p:nvPr/>
        </p:nvSpPr>
        <p:spPr>
          <a:xfrm rot="5400000">
            <a:off x="4645152" y="4636008"/>
            <a:ext cx="219456" cy="2560320"/>
          </a:xfrm>
          <a:prstGeom prst="rightBrac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37560" y="607161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II: Share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6217920" y="5422392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× [Price + OEM Escalator]</a:t>
            </a:r>
            <a:endParaRPr lang="en-US" sz="1500" dirty="0"/>
          </a:p>
        </p:txBody>
      </p:sp>
      <p:sp>
        <p:nvSpPr>
          <p:cNvPr id="70" name="Shape 68"/>
          <p:cNvSpPr/>
          <p:nvPr/>
        </p:nvSpPr>
        <p:spPr>
          <a:xfrm rot="5400000">
            <a:off x="7228332" y="4933188"/>
            <a:ext cx="219456" cy="1965960"/>
          </a:xfrm>
          <a:prstGeom prst="rightBrac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6217920" y="6071616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Pricing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8503920" y="5422392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× [Mix + Feedstock + PMA]</a:t>
            </a:r>
            <a:endParaRPr lang="en-US" sz="1500" dirty="0"/>
          </a:p>
        </p:txBody>
      </p:sp>
      <p:sp>
        <p:nvSpPr>
          <p:cNvPr id="73" name="Shape 71"/>
          <p:cNvSpPr/>
          <p:nvPr/>
        </p:nvSpPr>
        <p:spPr>
          <a:xfrm rot="5400000">
            <a:off x="9651492" y="4796028"/>
            <a:ext cx="219456" cy="2240280"/>
          </a:xfrm>
          <a:prstGeom prst="rightBrac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8503920" y="6071616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I: Margin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Company Filings, Earnings Calls, Investor Presentation</a:t>
            </a:r>
            <a:endParaRPr lang="en-US" sz="1100" dirty="0"/>
          </a:p>
        </p:txBody>
      </p:sp>
      <p:sp>
        <p:nvSpPr>
          <p:cNvPr id="76" name="Text 74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Segment EBITDA mix excludes Corporate &amp; Other.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2.  Module share of CFM56 third-party module demand, per management (Q2'26).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Industry Overview – A Price-Taking Aftermarket Entering Its Heaviest Years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22960"/>
            <a:ext cx="11201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CFM56 aftermarket is aging into heavier visits, with flat demand through 2028 and repair prices compounding ~6% a year. FTAI chose share over margin in 1H26 – a deliberate reset the market reads as structural.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141732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CFM56 fleet is aging into repeat, heavier visits...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21792" y="1719072"/>
            <a:ext cx="544068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621792" y="1783080"/>
          <a:ext cx="33832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096512" y="18288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22,700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4096512" y="2212848"/>
            <a:ext cx="192024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CFM56-5B/-7B engines in service: the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largest fleet in aviation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096512" y="27432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43%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096512" y="3127248"/>
            <a:ext cx="192024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of the fleet on its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third or later visit by 2028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when full restorations dominate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382512" y="141732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... keeping shop-visit demand flat through 2028...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382512" y="1719072"/>
            <a:ext cx="544068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13" name="Chart 1" descr=""/>
          <p:cNvGraphicFramePr/>
          <p:nvPr/>
        </p:nvGraphicFramePr>
        <p:xfrm>
          <a:off x="6382512" y="2029968"/>
          <a:ext cx="352044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Shape 10"/>
          <p:cNvSpPr/>
          <p:nvPr/>
        </p:nvSpPr>
        <p:spPr>
          <a:xfrm>
            <a:off x="6949440" y="2084832"/>
            <a:ext cx="1417320" cy="1481328"/>
          </a:xfrm>
          <a:prstGeom prst="rect">
            <a:avLst/>
          </a:prstGeom>
          <a:ln w="19050">
            <a:solidFill>
              <a:srgbClr val="C00000"/>
            </a:solidFill>
            <a:prstDash val="dash"/>
          </a:ln>
        </p:spPr>
      </p:sp>
      <p:sp>
        <p:nvSpPr>
          <p:cNvPr id="15" name="Text 11"/>
          <p:cNvSpPr txBox="1"/>
          <p:nvPr/>
        </p:nvSpPr>
        <p:spPr>
          <a:xfrm>
            <a:off x="6748272" y="182880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GE: plateau through 2028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9994392" y="1828800"/>
            <a:ext cx="1828800" cy="1920240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17" name="Text 13"/>
          <p:cNvSpPr txBox="1"/>
          <p:nvPr/>
        </p:nvSpPr>
        <p:spPr>
          <a:xfrm>
            <a:off x="10040112" y="1874520"/>
            <a:ext cx="1737360" cy="182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Retirements running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1.5–2%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vs. GE's 2–3% assumption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LEAP durability fixes cut over only in 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early 2027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GTF groundings persist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621792" y="388620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... while third-party repair prices compound ~6% a year...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621792" y="4187952"/>
            <a:ext cx="544068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20" name="Chart 2" descr=""/>
          <p:cNvGraphicFramePr/>
          <p:nvPr/>
        </p:nvGraphicFramePr>
        <p:xfrm>
          <a:off x="621792" y="4251960"/>
          <a:ext cx="3383280" cy="21214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1" name="Shape 16"/>
          <p:cNvSpPr/>
          <p:nvPr/>
        </p:nvSpPr>
        <p:spPr>
          <a:xfrm>
            <a:off x="4096512" y="4297680"/>
            <a:ext cx="1965960" cy="2011680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22" name="Text 17"/>
          <p:cNvSpPr txBox="1"/>
          <p:nvPr/>
        </p:nvSpPr>
        <p:spPr>
          <a:xfrm>
            <a:off x="4142232" y="4343400"/>
            <a:ext cx="1874520" cy="1920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Of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3,404 matched repair packages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3,376 rose and only 1 fell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prices 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below OEM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has not passed through the escalator: headroom we model from FY28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6382512" y="388620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However, FTAI deliberately traded margin for share in 1H26.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6382512" y="4187952"/>
            <a:ext cx="544068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6382512" y="4261104"/>
            <a:ext cx="5440680" cy="329184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428232" y="4261104"/>
            <a:ext cx="53492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“We're inclined to say yes and take market share.” – FTAI CEO, Q2'26 Earnings Call</a:t>
            </a:r>
            <a:endParaRPr lang="en-US" sz="1150" dirty="0"/>
          </a:p>
        </p:txBody>
      </p:sp>
      <p:graphicFrame>
        <p:nvGraphicFramePr>
          <p:cNvPr id="27" name="Chart 3" descr=""/>
          <p:cNvGraphicFramePr/>
          <p:nvPr/>
        </p:nvGraphicFramePr>
        <p:xfrm>
          <a:off x="6382512" y="4645152"/>
          <a:ext cx="2697480" cy="17556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8" name="Chart 4" descr=""/>
          <p:cNvGraphicFramePr/>
          <p:nvPr/>
        </p:nvGraphicFramePr>
        <p:xfrm>
          <a:off x="9125712" y="4645152"/>
          <a:ext cx="2697480" cy="17556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9" name="Text 22"/>
          <p:cNvSpPr txBox="1"/>
          <p:nvPr/>
        </p:nvSpPr>
        <p:spPr>
          <a:xfrm>
            <a:off x="621792" y="647395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GE / Safran shop-visit outlook &amp; cohort data, Aviation Week, SR Technics CFM56 catalogues (2024–26), Company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Story: The Fraud Discount Frames Our Three Bets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621792" y="896112"/>
            <a:ext cx="361188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896112"/>
            <a:ext cx="36118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Consensus FTAI Story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21792" y="1261872"/>
            <a:ext cx="361188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FTAI's margins were flattered by the fraud. Now that it is unwinding: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" y="1783080"/>
            <a:ext cx="3611880" cy="1097280"/>
          </a:xfrm>
          <a:prstGeom prst="rect">
            <a:avLst/>
          </a:prstGeom>
          <a:ln w="15875">
            <a:solidFill>
              <a:srgbClr val="7F7F7F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512064" y="1664208"/>
            <a:ext cx="274320" cy="274320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12064" y="1664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94944" y="1819656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~500 bps reset is the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short thesis unwinding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cheap leasing engines are running out, and heavier workscopes push margin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below 30%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" y="2999232"/>
            <a:ext cx="3611880" cy="1097280"/>
          </a:xfrm>
          <a:prstGeom prst="rect">
            <a:avLst/>
          </a:prstGeom>
          <a:ln w="15875">
            <a:solidFill>
              <a:srgbClr val="7F7F7F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512064" y="2880360"/>
            <a:ext cx="274320" cy="274320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2064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94944" y="3035808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CFM56 is a melting ice cube: the fuel shock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accelerates retirements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FTAI's share gains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stall at ~15%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" y="4215384"/>
            <a:ext cx="3611880" cy="1097280"/>
          </a:xfrm>
          <a:prstGeom prst="rect">
            <a:avLst/>
          </a:prstGeom>
          <a:ln w="15875">
            <a:solidFill>
              <a:srgbClr val="7F7F7F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12064" y="4096512"/>
            <a:ext cx="274320" cy="274320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2064" y="4096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94944" y="4251960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 press release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one unnamed buyer, no deliveries until 2027 and no proof FTAI can ramp units.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416552" y="896112"/>
            <a:ext cx="361188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416552" y="896112"/>
            <a:ext cx="36118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Why consensus misses our points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416552" y="1261872"/>
            <a:ext cx="361188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We did the work the market skipped: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416552" y="1783080"/>
            <a:ext cx="3611880" cy="1097280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306824" y="1664208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306824" y="1664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489704" y="1819656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market never sized the claim. We traced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leasing-to-inventory transfers in the 10-Qs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$90M vs. ~$1.4bn of inventory, and the flow now runs the other way.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416552" y="2999232"/>
            <a:ext cx="3611880" cy="1097280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306824" y="2880360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06824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489704" y="3035808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street models retirements off assumptions.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GE's own 2026 data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shows 1.5–2%, and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OEMs are moving slots to LEAP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leaving visits to FTAI.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416552" y="4215384"/>
            <a:ext cx="3611880" cy="1097280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4306824" y="4096512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306824" y="4096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489704" y="4251960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valued off one order. We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built a NERC reserve-shortfall model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 site-level next-order model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across 37 AI campuses.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211312" y="896112"/>
            <a:ext cx="361188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11312" y="896112"/>
            <a:ext cx="36118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Our FTAI Story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8211312" y="1261872"/>
            <a:ext cx="361188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reset is a choice to win share in a supply-constrained market.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8211312" y="1783080"/>
            <a:ext cx="3611880" cy="1097280"/>
          </a:xfrm>
          <a:prstGeom prst="rect">
            <a:avLst/>
          </a:prstGeom>
          <a:ln w="15875">
            <a:solidFill>
              <a:srgbClr val="2E9BD6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8101584" y="1664208"/>
            <a:ext cx="274320" cy="274320"/>
          </a:xfrm>
          <a:prstGeom prst="ellipse">
            <a:avLst/>
          </a:prstGeom>
          <a:solidFill>
            <a:srgbClr val="2E9BD6"/>
          </a:solidFill>
          <a:ln w="12700">
            <a:solidFill>
              <a:srgbClr val="2E9BD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101584" y="1664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8284464" y="1819656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~30% is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floor, not a waypoint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heavy mix is capped by capacity, PMA enters through SCI, and price pass-through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rebuilds margin to 32.5%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8211312" y="2999232"/>
            <a:ext cx="3611880" cy="1097280"/>
          </a:xfrm>
          <a:prstGeom prst="rect">
            <a:avLst/>
          </a:prstGeom>
          <a:ln w="15875">
            <a:solidFill>
              <a:srgbClr val="2E9BD6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8101584" y="2880360"/>
            <a:ext cx="274320" cy="274320"/>
          </a:xfrm>
          <a:prstGeom prst="ellipse">
            <a:avLst/>
          </a:prstGeom>
          <a:solidFill>
            <a:srgbClr val="2E9BD6"/>
          </a:solidFill>
          <a:ln w="12700">
            <a:solidFill>
              <a:srgbClr val="2E9BD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101584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8284464" y="3035808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fills the whitespace OEMs leave behind: built capacity and partner shops take it to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~25% of CFM56 module demand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incl. SCI.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8211312" y="4215384"/>
            <a:ext cx="3611880" cy="1097280"/>
          </a:xfrm>
          <a:prstGeom prst="rect">
            <a:avLst/>
          </a:prstGeom>
          <a:ln w="15875">
            <a:solidFill>
              <a:srgbClr val="2E9BD6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8101584" y="4096512"/>
            <a:ext cx="274320" cy="274320"/>
          </a:xfrm>
          <a:prstGeom prst="ellipse">
            <a:avLst/>
          </a:prstGeom>
          <a:solidFill>
            <a:srgbClr val="2E9BD6"/>
          </a:solidFill>
          <a:ln w="12700">
            <a:solidFill>
              <a:srgbClr val="2E9BD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101584" y="4096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8284464" y="4251960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a call option: we see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~75% odds of another order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in 12 months (61% ex-xAI); one more contract is worth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~$35/share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621792" y="5422392"/>
            <a:ext cx="3611880" cy="411480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7512" y="5422392"/>
            <a:ext cx="352044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Thus, consensus prices a </a:t>
            </a:r>
            <a:r>
              <a:rPr lang="en-US" sz="12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fraud discount on a shrinking business</a:t>
            </a:r>
            <a:r>
              <a:rPr lang="en-US" sz="12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9.2x FY27E EBITDA.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416552" y="5422392"/>
            <a:ext cx="361188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Diligence: 10-Q cash-flow footnotes, GE retirement data, SR Technics catalogues, NERC LTRA, site permits.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8211312" y="5422392"/>
            <a:ext cx="361188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Catalysts: Q3'26 (late Oct), investor day (10-Dec), Q4'26 print and FY27 guide (Feb-27).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621792" y="5879592"/>
            <a:ext cx="11201400" cy="475488"/>
          </a:xfrm>
          <a:prstGeom prst="rect">
            <a:avLst/>
          </a:prstGeom>
          <a:ln w="19050">
            <a:solidFill>
              <a:srgbClr val="C00000"/>
            </a:solidFill>
            <a:prstDash val="dash"/>
          </a:ln>
        </p:spPr>
      </p:sp>
      <p:sp>
        <p:nvSpPr>
          <p:cNvPr id="53" name="Text 51"/>
          <p:cNvSpPr txBox="1"/>
          <p:nvPr/>
        </p:nvSpPr>
        <p:spPr>
          <a:xfrm>
            <a:off x="685800" y="5879592"/>
            <a:ext cx="1106424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Taking the other side of the fraud discount is a highly attractive proposition: two more ~30% prints prove the trough. Our bets playing out yield $309 in a year, 85% upside.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I: Variance on Margins – The Unwind Is Done and Heavy Mix Has Peaked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Bears read the 1H26 reset as the fraud unwinding; the 10-Qs show leasing-sourced stock is &lt;8% of inventory.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170432"/>
            <a:ext cx="5806440" cy="438912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1170432"/>
            <a:ext cx="571500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“AP inventory has been largely comprised of depreciated Leasing Equipment”, producing margins ~10 pts above peers. – Muddy Waters, Jan-25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645920"/>
            <a:ext cx="5806440" cy="182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Small: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Q1'26 leasing-to-inventory transfers were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$89.6M vs. ~$1.4bn of inventory (6.4%)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down from 10.5% a year earlier as purchased feedstock scaled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Reversing: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$169M moved back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from inventory to leasing in 1H26 for rebuild and sale – more than came in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Shrinking source: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leasing equipment fell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$2.06bn → $1.53bn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(Dec-25 → Jun-26) as aircraft are sold into SCI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Bought at market: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new feedstock comes from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United run-outs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(Oct-26 MRE),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WestJet 737-700s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(Sep-26) and AAR used parts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Already in the bear case: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6.4% × ~40% cost edge × ~55% material ≈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~140 bps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of margin</a:t>
            </a:r>
            <a:r>
              <a:rPr lang="en-US" sz="110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audit review found the claims without merit</a:t>
            </a:r>
            <a:endParaRPr lang="en-US" sz="11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565392" y="1170432"/>
          <a:ext cx="2578608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656832" y="2011680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$645M | 10.5%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7799832" y="1426464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$1.4bn | 6.4%</a:t>
            </a:r>
            <a:endParaRPr lang="en-US" sz="950" dirty="0"/>
          </a:p>
        </p:txBody>
      </p:sp>
      <p:graphicFrame>
        <p:nvGraphicFramePr>
          <p:cNvPr id="11" name="Chart 1" descr=""/>
          <p:cNvGraphicFramePr/>
          <p:nvPr/>
        </p:nvGraphicFramePr>
        <p:xfrm>
          <a:off x="9244584" y="1170432"/>
          <a:ext cx="2578608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Shape 8"/>
          <p:cNvSpPr/>
          <p:nvPr/>
        </p:nvSpPr>
        <p:spPr>
          <a:xfrm>
            <a:off x="6455664" y="1188720"/>
            <a:ext cx="0" cy="224028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13" name="Text 9"/>
          <p:cNvSpPr txBox="1"/>
          <p:nvPr/>
        </p:nvSpPr>
        <p:spPr>
          <a:xfrm>
            <a:off x="621792" y="3529584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With the unwind done, the reset is workscope mix – and the shift to heavy work has peaked.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1792" y="3831336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1792" y="3895344"/>
            <a:ext cx="5806440" cy="438912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67512" y="3895344"/>
            <a:ext cx="571500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~6,000-cycle engine ~40%, ~10,000-cycle ~25%, blend ~30%: “similar dollars per engine, but more investment.” – FTAI CEO, Q2'26</a:t>
            </a:r>
            <a:r>
              <a:rPr lang="en-US" sz="110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621792" y="4370832"/>
            <a:ext cx="5806440" cy="14813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Capacity-capped: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heavy jobs need core disassembly and test cells (~50% of visits open the core); Jakarta's heavy shop only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adds capacity from 2027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incentive: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heavy work was the price of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winning airline contracts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United is signed (V2500 exchange, then CFM56-7B MRE), so more heavy jobs add capital, not customers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chooses: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“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supply-constrained, not demand-constrained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” (Q2'26) – it turns work away; the 2027 plan targets volume (1,700 modules), not heavier jobs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Slow fleet drift: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visits needing broader work rise only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48% → 52% by FY30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the 1H26 step-change was a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one-quarter mix shift</a:t>
            </a:r>
            <a:endParaRPr lang="en-US" sz="1100" dirty="0"/>
          </a:p>
        </p:txBody>
      </p:sp>
      <p:graphicFrame>
        <p:nvGraphicFramePr>
          <p:cNvPr id="18" name="Chart 2" descr=""/>
          <p:cNvGraphicFramePr/>
          <p:nvPr/>
        </p:nvGraphicFramePr>
        <p:xfrm>
          <a:off x="6565392" y="3895344"/>
          <a:ext cx="2578608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Text 14"/>
          <p:cNvSpPr txBox="1"/>
          <p:nvPr/>
        </p:nvSpPr>
        <p:spPr>
          <a:xfrm>
            <a:off x="9244584" y="3913632"/>
            <a:ext cx="2578608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Mix back to light = margin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244584" y="4206240"/>
          <a:ext cx="2578608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207008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Light share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Margin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33% (1H26)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30.0%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31.0%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50%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32.5%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60%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34.0%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1" name="Text 15"/>
          <p:cNvSpPr txBox="1"/>
          <p:nvPr/>
        </p:nvSpPr>
        <p:spPr>
          <a:xfrm>
            <a:off x="9244584" y="5349240"/>
            <a:ext cx="2578608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Each 10 pts of mix back to light adds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~1.5 pts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our base case assumes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none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6455664" y="3913632"/>
            <a:ext cx="0" cy="1938528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23" name="Shape 17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Even granting the short thesis, it is &lt;8% of the stock – and heavy mix is capacity-capped: ~30% is the floor, not a waypoint.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10-Q disclosures, Muddy Waters, Earnings Calls, In Practise, OEM cohort data</a:t>
            </a:r>
            <a:endParaRPr lang="en-US" sz="1100" dirty="0"/>
          </a:p>
        </p:txBody>
      </p:sp>
      <p:sp>
        <p:nvSpPr>
          <p:cNvPr id="26" name="Text 20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Illustrative: stock share × cost edge vs. market feedstock × material share of revenue. 1H26 transfers per Q2'26 10-Q summary.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2.  Paraphrase of the CEO's cycle/margin example; quoted phrase per call summary.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I: Variance on Margins – PMA Through SCI and Two Prints Re-Rate the Trough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market prices ~0% PMA and reads 30% as a waypoint; FTAI controls its own PMA channel and only needs 30% to hold.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152144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PMA: at SCI, FTAI is the lessor that says yes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21792" y="1426464"/>
            <a:ext cx="5486400" cy="438912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426464"/>
            <a:ext cx="539496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PMA hesitation sits mainly with lessors – conformity, residual values, return conditions – though it is “softening.” – AviTrader, May-26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" y="1920240"/>
            <a:ext cx="1280160" cy="53035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1920240"/>
            <a:ext cx="1280160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sponsors SCI</a:t>
            </a:r>
            <a:endParaRPr lang="en-US" sz="1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$2.0bn equity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901952" y="2057400"/>
            <a:ext cx="109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►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011680" y="1920240"/>
            <a:ext cx="1280160" cy="53035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011680" y="1920240"/>
            <a:ext cx="1280160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SCI owns the jets</a:t>
            </a:r>
            <a:endParaRPr lang="en-US" sz="1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SCI is the lessor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291840" y="2057400"/>
            <a:ext cx="109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►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401568" y="1920240"/>
            <a:ext cx="1280160" cy="53035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401568" y="1920240"/>
            <a:ext cx="1280160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Engine work → FTAI</a:t>
            </a:r>
            <a:endParaRPr lang="en-US" sz="1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is servicer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681728" y="2057400"/>
            <a:ext cx="109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►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91456" y="1920240"/>
            <a:ext cx="1280160" cy="530352"/>
          </a:xfrm>
          <a:prstGeom prst="rect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91456" y="1920240"/>
            <a:ext cx="1280160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sets parts policy</a:t>
            </a:r>
            <a:endParaRPr lang="en-US" sz="1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outside consent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" y="2505456"/>
            <a:ext cx="5486400" cy="1810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Program built: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Chromalloy has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 of 5 CFM56 hot-section PMA parts approved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incl. the HPT blade (Oct-25, &gt;7 yrs, &gt;$100M); “80% of the savings come from the first three parts” (Chromalloy CEO)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Captive channel: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SCI grows from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11% to ~40% of FTAI's modules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(130 → 700 aircraft) – ~4x our base-case PMA penetration, no outside lessor needed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Worth: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50% of SCI modules on PMA at $0.4M each =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~$130M of FY28 EBITDA (~2.1 pts of margin, ~$20 / share)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Diligence: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SCI's LP / lender terms on PMA are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 disclosed</a:t>
            </a:r>
            <a:endParaRPr lang="en-US" sz="11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621792" y="4315968"/>
          <a:ext cx="2743200" cy="1536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1" name="Chart 1" descr=""/>
          <p:cNvGraphicFramePr/>
          <p:nvPr/>
        </p:nvGraphicFramePr>
        <p:xfrm>
          <a:off x="3410712" y="4315968"/>
          <a:ext cx="2697480" cy="1536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Shape 18"/>
          <p:cNvSpPr/>
          <p:nvPr/>
        </p:nvSpPr>
        <p:spPr>
          <a:xfrm>
            <a:off x="6227064" y="1170432"/>
            <a:ext cx="0" cy="4681728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23" name="Text 19"/>
          <p:cNvSpPr txBox="1"/>
          <p:nvPr/>
        </p:nvSpPr>
        <p:spPr>
          <a:xfrm>
            <a:off x="6336792" y="1152144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Price and PMA rebuild margin; two prints prove the trough</a:t>
            </a:r>
            <a:endParaRPr lang="en-US" sz="1200" dirty="0"/>
          </a:p>
        </p:txBody>
      </p:sp>
      <p:graphicFrame>
        <p:nvGraphicFramePr>
          <p:cNvPr id="24" name="Chart 2" descr=""/>
          <p:cNvGraphicFramePr/>
          <p:nvPr/>
        </p:nvGraphicFramePr>
        <p:xfrm>
          <a:off x="6336792" y="1426464"/>
          <a:ext cx="237744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5" name="Text 20"/>
          <p:cNvSpPr txBox="1"/>
          <p:nvPr/>
        </p:nvSpPr>
        <p:spPr>
          <a:xfrm>
            <a:off x="6547104" y="16459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29.9%</a:t>
            </a:r>
            <a:endParaRPr lang="en-US" sz="950" dirty="0"/>
          </a:p>
        </p:txBody>
      </p:sp>
      <p:sp>
        <p:nvSpPr>
          <p:cNvPr id="26" name="Text 21"/>
          <p:cNvSpPr txBox="1"/>
          <p:nvPr/>
        </p:nvSpPr>
        <p:spPr>
          <a:xfrm>
            <a:off x="7059168" y="16459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+1.7</a:t>
            </a:r>
            <a:endParaRPr lang="en-US" sz="950" dirty="0"/>
          </a:p>
        </p:txBody>
      </p:sp>
      <p:sp>
        <p:nvSpPr>
          <p:cNvPr id="27" name="Text 22"/>
          <p:cNvSpPr txBox="1"/>
          <p:nvPr/>
        </p:nvSpPr>
        <p:spPr>
          <a:xfrm>
            <a:off x="7571232" y="16459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+0.9</a:t>
            </a:r>
            <a:endParaRPr lang="en-US" sz="950" dirty="0"/>
          </a:p>
        </p:txBody>
      </p:sp>
      <p:sp>
        <p:nvSpPr>
          <p:cNvPr id="28" name="Text 23"/>
          <p:cNvSpPr txBox="1"/>
          <p:nvPr/>
        </p:nvSpPr>
        <p:spPr>
          <a:xfrm>
            <a:off x="8074152" y="16459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32.5%</a:t>
            </a:r>
            <a:endParaRPr lang="en-US" sz="950" dirty="0"/>
          </a:p>
        </p:txBody>
      </p:sp>
      <p:sp>
        <p:nvSpPr>
          <p:cNvPr id="29" name="Text 24"/>
          <p:cNvSpPr txBox="1"/>
          <p:nvPr/>
        </p:nvSpPr>
        <p:spPr>
          <a:xfrm>
            <a:off x="8759952" y="1426464"/>
            <a:ext cx="3063240" cy="1783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Price: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repair catalogues rose a median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6.2% / yr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across 3,404 matched packages (3,376 up, 1 down); FTAI priced below OEM to win share – we pass through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half from FY28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Per module: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EBITDA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$913K → $1,139K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(FY27E → FY31E)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mix recovery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no outside-lessor PMA in the base case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6336792" y="3273552"/>
            <a:ext cx="1188720" cy="3749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336792" y="3273552"/>
            <a:ext cx="11887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Q3'26 | Oct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7571232" y="3273552"/>
            <a:ext cx="4251960" cy="374904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33" name="Text 28"/>
          <p:cNvSpPr txBox="1"/>
          <p:nvPr/>
        </p:nvSpPr>
        <p:spPr>
          <a:xfrm>
            <a:off x="7616952" y="3273552"/>
            <a:ext cx="4160520" cy="374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First print after the reset: Aerospace margin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≥~30%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modules on track for 1,200, PMA usage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6336792" y="3703320"/>
            <a:ext cx="1188720" cy="3749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336792" y="3703320"/>
            <a:ext cx="11887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Inv. day | 10-Dec</a:t>
            </a:r>
            <a:endParaRPr lang="en-US" sz="1000" dirty="0"/>
          </a:p>
        </p:txBody>
      </p:sp>
      <p:sp>
        <p:nvSpPr>
          <p:cNvPr id="36" name="Shape 31"/>
          <p:cNvSpPr/>
          <p:nvPr/>
        </p:nvSpPr>
        <p:spPr>
          <a:xfrm>
            <a:off x="7571232" y="3703320"/>
            <a:ext cx="4251960" cy="374904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37" name="Text 32"/>
          <p:cNvSpPr txBox="1"/>
          <p:nvPr/>
        </p:nvSpPr>
        <p:spPr>
          <a:xfrm>
            <a:off x="7616952" y="3703320"/>
            <a:ext cx="4160520" cy="374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2027 framework: 1,700 modules, Jakarta / Cairo ramp, SCI II size, Power backlog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6336792" y="4133088"/>
            <a:ext cx="1188720" cy="3749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336792" y="4133088"/>
            <a:ext cx="11887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Q4'26 | Feb-27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7571232" y="4133088"/>
            <a:ext cx="4251960" cy="374904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41" name="Text 36"/>
          <p:cNvSpPr txBox="1"/>
          <p:nvPr/>
        </p:nvSpPr>
        <p:spPr>
          <a:xfrm>
            <a:off x="7616952" y="4133088"/>
            <a:ext cx="4160520" cy="374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Second ~30% print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+ FY27 guide: 30% stops reading as a waypoint</a:t>
            </a:r>
            <a:endParaRPr lang="en-US" sz="1050" dirty="0"/>
          </a:p>
        </p:txBody>
      </p:sp>
      <p:sp>
        <p:nvSpPr>
          <p:cNvPr id="42" name="Text 37"/>
          <p:cNvSpPr txBox="1"/>
          <p:nvPr/>
        </p:nvSpPr>
        <p:spPr>
          <a:xfrm>
            <a:off x="6336792" y="4608576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What $167 implies for Aerospace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36792" y="4873752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"/>
                <a:gridCol w="822960"/>
                <a:gridCol w="822960"/>
                <a:gridCol w="822960"/>
              </a:tblGrid>
              <a:tr h="2103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Aero EV / NTM EBITDA (Oct-27)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5.3x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10x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12x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14x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Implied price / share</a:t>
                      </a:r>
                      <a:r>
                        <a:rPr lang="en-US" sz="1050" baseline="30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$167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$244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$277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$309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Upside vs. $167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+46%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+66%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+85%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4" name="Text 38"/>
          <p:cNvSpPr txBox="1"/>
          <p:nvPr/>
        </p:nvSpPr>
        <p:spPr>
          <a:xfrm>
            <a:off x="6336792" y="5550408"/>
            <a:ext cx="54864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On base earnings, $167 pays only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~5x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for Aerospace a year out;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each turn ≈ $16 / share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100" dirty="0"/>
          </a:p>
        </p:txBody>
      </p:sp>
      <p:sp>
        <p:nvSpPr>
          <p:cNvPr id="45" name="Shape 39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PMA through SCI and price pass-through rebuild margin to 32.5%; two ~30% prints re-rate a business priced at ~5x.</a:t>
            </a:r>
            <a:endParaRPr lang="en-US" sz="1400" dirty="0"/>
          </a:p>
        </p:txBody>
      </p:sp>
      <p:sp>
        <p:nvSpPr>
          <p:cNvPr id="47" name="Text 41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Chromalloy / FAA, Aviation Week, AviTrader, SR Technics catalogues, FTAI filings</a:t>
            </a:r>
            <a:endParaRPr lang="en-US" sz="1100" dirty="0"/>
          </a:p>
        </p:txBody>
      </p:sp>
      <p:sp>
        <p:nvSpPr>
          <p:cNvPr id="48" name="Text 42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1-yr base SOTP (NTM ≈ ¼ FY27E + ¾ FY28E), holding Power 10x, Leasing + SCI 9x and Sep-27 net debt.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II: Variance on CFM56 Life – LEAP Can't Replace It and Fuel Hasn't Moved It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Every tier-1 shop is adding LEAP; OEMs are trimming CFM56, independents are catching it, and Lufthansa now sends its own out.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pic>
        <p:nvPicPr>
          <p:cNvPr id="5" name="Image 0" descr="/tmp/claude-0/-home-user-SPOT/35e892d7-e78e-5f3a-b423-61b3cc9e48e5/scratchpad/build/cfm56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143000"/>
            <a:ext cx="5806440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55664" y="1188720"/>
            <a:ext cx="0" cy="224028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65392" y="1170432"/>
          <a:ext cx="525780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77240"/>
                <a:gridCol w="914400"/>
                <a:gridCol w="1188720"/>
                <a:gridCol w="105156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Shops (14)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Reviewed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Add LEAP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Pull back CFM56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Win CFM56 work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Airline-owned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8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8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OEM network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Independent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565392" y="2029968"/>
            <a:ext cx="5257800" cy="1463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OEMs: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all new sites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LEAP-only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(Brazil, India, Mexico, Belgium); CFM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gives up Ryanair CFM56 labor from 2029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its largest CFM56 account – keeping only parts</a:t>
            </a:r>
            <a:endParaRPr lang="en-US" sz="10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First airline flip: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Lufthansa Group sends its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own CFM56 to FL Technics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(Oct-26) as Hamburg turns LEAP</a:t>
            </a:r>
            <a:endParaRPr lang="en-US" sz="10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Moving to independents: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EVA Air → MTU (first non-OEM, May-26);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United → FTAI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CFM56-7B MRE (Oct-26)</a:t>
            </a:r>
            <a:endParaRPr lang="en-US" sz="10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Counter: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Korean Air keeps CFM56, outsources LEAP; independents add CFM56 too –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overflow is real, but contested</a:t>
            </a:r>
            <a:r>
              <a:rPr lang="en-US" sz="100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621792" y="3511296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Bears fear the 2026 fuel shock accelerates retirements – the data shows parked CFM56s falling, not rising.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621792" y="3813048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11" name="Chart 0" descr=""/>
          <p:cNvGraphicFramePr/>
          <p:nvPr/>
        </p:nvGraphicFramePr>
        <p:xfrm>
          <a:off x="621792" y="3877056"/>
          <a:ext cx="2834640" cy="1993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2" name="Chart 1" descr=""/>
          <p:cNvGraphicFramePr/>
          <p:nvPr/>
        </p:nvGraphicFramePr>
        <p:xfrm>
          <a:off x="3547872" y="3877056"/>
          <a:ext cx="2880360" cy="1993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Shape 7"/>
          <p:cNvSpPr/>
          <p:nvPr/>
        </p:nvSpPr>
        <p:spPr>
          <a:xfrm>
            <a:off x="6455664" y="3895344"/>
            <a:ext cx="0" cy="196596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14" name="Text 8"/>
          <p:cNvSpPr txBox="1"/>
          <p:nvPr/>
        </p:nvSpPr>
        <p:spPr>
          <a:xfrm>
            <a:off x="6565392" y="3877056"/>
            <a:ext cx="5257800" cy="14813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Parked CFM56s down since March: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“no meaningful change in customer behavior” – GE CEO, Jul-26; Safran H1 spares up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27.9%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on CFM56; Q1 retirements &lt;1%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Airlines trimmed growth and hedged, not parked: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United –5%, Delta –3.5% growth; Ryanair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80% hedged at ~$67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Replacing an NG on fuel alone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breaks even only at a sustained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$170–200 / bbl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and needs a slot that isn't there</a:t>
            </a:r>
            <a:r>
              <a:rPr lang="en-US" sz="105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History: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2022 fuel +95–150%, retirements only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325 vs. 502 in 2019</a:t>
            </a:r>
            <a:endParaRPr lang="en-US" sz="1050" dirty="0"/>
          </a:p>
        </p:txBody>
      </p:sp>
      <p:sp>
        <p:nvSpPr>
          <p:cNvPr id="15" name="Shape 9"/>
          <p:cNvSpPr/>
          <p:nvPr/>
        </p:nvSpPr>
        <p:spPr>
          <a:xfrm>
            <a:off x="6565392" y="5376672"/>
            <a:ext cx="5257800" cy="475488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6601968" y="5376672"/>
            <a:ext cx="5184648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Bear watch: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all-type retirements +15% in 9M26 (low base), Spirit's ~57 A320ceos back to lessors, GE sees ~3% in 2027 – retirements also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feed FTAI's feedstock</a:t>
            </a:r>
            <a:endParaRPr lang="en-US" sz="1000" dirty="0"/>
          </a:p>
        </p:txBody>
      </p:sp>
      <p:sp>
        <p:nvSpPr>
          <p:cNvPr id="17" name="Shape 11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LEAP can't replace the CFM56 before 2027–28 and fuel hasn't moved retirements: demand holds at ~2,400 visits a year.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Company Releases, GE / Safran, IATA / Platts, Aviation Week</a:t>
            </a:r>
            <a:endParaRPr lang="en-US" sz="1100" dirty="0"/>
          </a:p>
        </p:txBody>
      </p:sp>
      <p:sp>
        <p:nvSpPr>
          <p:cNvPr id="20" name="Text 14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Flip tracker (14 tier-1 shops, Oct-26): public sources; a floor.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2.  Fuel: IATA / Platts avg.; Jan, 15-Sep USGC.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3.  Estimate: 15% fuel saving vs. $2–2.6M / yr MAX lease premium.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II: Variance on Share – FTAI Fills the Whitespace With Capacity Already Built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takes the CFM56 visits the LEAP-focused shops can’t turn fast enough: an engine back in weeks, not months.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621792" y="1170432"/>
          <a:ext cx="1783080" cy="1572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2496312" y="1152144"/>
            <a:ext cx="3611880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Test cells: LEAP now shares CFM56's scarcest slot</a:t>
            </a:r>
            <a:r>
              <a:rPr lang="en-US" sz="105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496312" y="1371600"/>
          <a:ext cx="361188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73152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Engine test cells tracked (18)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Cells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Existing cells adapted to test LEAP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9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...still testing CFM56 (where disclosed)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 of 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...dropped CFM56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New cells built for LEAP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New cell built first for CFM56 (Willis + GEM)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2496312" y="2487168"/>
            <a:ext cx="36118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“</a:t>
            </a:r>
            <a:r>
              <a:rPr lang="en-US" sz="900" u="sng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Ongoing shortage of testing capacity</a:t>
            </a:r>
            <a:r>
              <a:rPr lang="en-US" sz="9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” – Willis Lease; “Europe-wide testing capacity constraints” – SR Technics</a:t>
            </a:r>
            <a:endParaRPr lang="en-US" sz="9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2834640"/>
          <a:ext cx="548640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2560320"/>
                <a:gridCol w="2057400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Edge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FTAI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OEM / large MRO shops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Feedstock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1,000+ owned engines; run-outs; AAR USM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OEM parts at list (+6% / yr)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Parts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PMA (3 of 5), USM, in-house repair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HPT blade shortage; OEM parts only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Slots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~1,800 spare modules (2026)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Waits +2–6 mo.; capex to LEAP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Test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Rome adding a cell; Jakarta, Cairo come with cells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LEAP competes for same cells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Shape 5"/>
          <p:cNvSpPr/>
          <p:nvPr/>
        </p:nvSpPr>
        <p:spPr>
          <a:xfrm>
            <a:off x="6227064" y="1188720"/>
            <a:ext cx="0" cy="260604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11" name="Text 6"/>
          <p:cNvSpPr txBox="1"/>
          <p:nvPr/>
        </p:nvSpPr>
        <p:spPr>
          <a:xfrm>
            <a:off x="6336792" y="1152144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FTAI's share of CFM56 module demand</a:t>
            </a:r>
            <a:endParaRPr lang="en-US" sz="1200" dirty="0"/>
          </a:p>
        </p:txBody>
      </p:sp>
      <p:graphicFrame>
        <p:nvGraphicFramePr>
          <p:cNvPr id="12" name="Chart 1" descr=""/>
          <p:cNvGraphicFramePr/>
          <p:nvPr/>
        </p:nvGraphicFramePr>
        <p:xfrm>
          <a:off x="6336792" y="1371600"/>
          <a:ext cx="3291840" cy="2423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7"/>
          <p:cNvSpPr txBox="1"/>
          <p:nvPr/>
        </p:nvSpPr>
        <p:spPr>
          <a:xfrm>
            <a:off x="9674352" y="1389888"/>
            <a:ext cx="2148840" cy="23957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Proof: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share ~10% → 12% →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14%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in 1H26; Q2 modules up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61% y/y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Guide raised twice: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1,000 → 1,050 →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1,200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(2026);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1,700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in 2027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United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expanded to a multi-year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CFM56-7B MRE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(Oct-26)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Bull case: third-party alone reaches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25%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by FY31</a:t>
            </a:r>
            <a:endParaRPr lang="en-US" sz="1050" dirty="0"/>
          </a:p>
        </p:txBody>
      </p:sp>
      <p:sp>
        <p:nvSpPr>
          <p:cNvPr id="14" name="Text 8"/>
          <p:cNvSpPr txBox="1"/>
          <p:nvPr/>
        </p:nvSpPr>
        <p:spPr>
          <a:xfrm>
            <a:off x="621792" y="3840480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capex is already spent: 3,000 modules of capacity vs. 1,200 produced, with Jakarta and Cairo adding volume in 2027.</a:t>
            </a:r>
            <a:endParaRPr lang="en-US" sz="1350" dirty="0"/>
          </a:p>
        </p:txBody>
      </p:sp>
      <p:sp>
        <p:nvSpPr>
          <p:cNvPr id="15" name="Shape 9"/>
          <p:cNvSpPr/>
          <p:nvPr/>
        </p:nvSpPr>
        <p:spPr>
          <a:xfrm>
            <a:off x="621792" y="4142232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16" name="Chart 2" descr=""/>
          <p:cNvGraphicFramePr/>
          <p:nvPr/>
        </p:nvGraphicFramePr>
        <p:xfrm>
          <a:off x="621792" y="4206240"/>
          <a:ext cx="2194560" cy="1664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8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07792" y="4224528"/>
          <a:ext cx="32004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205740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Shop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Role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Montreal / Miami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Core module shops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Rome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QuickTurn; adding test cell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Lisbon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+113k sq ft; 300+ modules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Jakarta (GMF)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Heavy repair; 200+ techs; 5-yr deal (Sep-26)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Cairo (EgyptAir)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-7B; ~120 techs; test cell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hape 10"/>
          <p:cNvSpPr/>
          <p:nvPr/>
        </p:nvSpPr>
        <p:spPr>
          <a:xfrm>
            <a:off x="6227064" y="4224528"/>
            <a:ext cx="0" cy="164592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19" name="Shape 11"/>
          <p:cNvSpPr/>
          <p:nvPr/>
        </p:nvSpPr>
        <p:spPr>
          <a:xfrm>
            <a:off x="6336792" y="4224528"/>
            <a:ext cx="1024128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0" name="Text 12"/>
          <p:cNvSpPr txBox="1"/>
          <p:nvPr/>
        </p:nvSpPr>
        <p:spPr>
          <a:xfrm>
            <a:off x="6336792" y="4224528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2,386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visits</a:t>
            </a:r>
            <a:endParaRPr lang="en-US" sz="1300" dirty="0"/>
          </a:p>
        </p:txBody>
      </p:sp>
      <p:sp>
        <p:nvSpPr>
          <p:cNvPr id="21" name="Shape 13"/>
          <p:cNvSpPr/>
          <p:nvPr/>
        </p:nvSpPr>
        <p:spPr>
          <a:xfrm>
            <a:off x="7434072" y="4224528"/>
            <a:ext cx="1024128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Text 14"/>
          <p:cNvSpPr txBox="1"/>
          <p:nvPr/>
        </p:nvSpPr>
        <p:spPr>
          <a:xfrm>
            <a:off x="7434072" y="4224528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× 3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modules</a:t>
            </a:r>
            <a:endParaRPr lang="en-US" sz="1300" dirty="0"/>
          </a:p>
        </p:txBody>
      </p:sp>
      <p:sp>
        <p:nvSpPr>
          <p:cNvPr id="23" name="Shape 15"/>
          <p:cNvSpPr/>
          <p:nvPr/>
        </p:nvSpPr>
        <p:spPr>
          <a:xfrm>
            <a:off x="8531352" y="4224528"/>
            <a:ext cx="1024128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4" name="Text 16"/>
          <p:cNvSpPr txBox="1"/>
          <p:nvPr/>
        </p:nvSpPr>
        <p:spPr>
          <a:xfrm>
            <a:off x="8531352" y="4224528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× 16.8%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3rd-party share</a:t>
            </a:r>
            <a:endParaRPr lang="en-US" sz="1300" dirty="0"/>
          </a:p>
        </p:txBody>
      </p:sp>
      <p:sp>
        <p:nvSpPr>
          <p:cNvPr id="25" name="Shape 17"/>
          <p:cNvSpPr/>
          <p:nvPr/>
        </p:nvSpPr>
        <p:spPr>
          <a:xfrm>
            <a:off x="9628632" y="4224528"/>
            <a:ext cx="1024128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9628632" y="4224528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+ 482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SCI</a:t>
            </a:r>
            <a:endParaRPr lang="en-US" sz="1300" dirty="0"/>
          </a:p>
        </p:txBody>
      </p:sp>
      <p:sp>
        <p:nvSpPr>
          <p:cNvPr id="27" name="Shape 19"/>
          <p:cNvSpPr/>
          <p:nvPr/>
        </p:nvSpPr>
        <p:spPr>
          <a:xfrm>
            <a:off x="10725912" y="4224528"/>
            <a:ext cx="1024128" cy="56692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10725912" y="4224528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= 1,687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FY27E</a:t>
            </a:r>
            <a:endParaRPr lang="en-US" sz="1300" dirty="0"/>
          </a:p>
        </p:txBody>
      </p:sp>
      <p:sp>
        <p:nvSpPr>
          <p:cNvPr id="29" name="Text 21"/>
          <p:cNvSpPr txBox="1"/>
          <p:nvPr/>
        </p:nvSpPr>
        <p:spPr>
          <a:xfrm>
            <a:off x="6336792" y="4846320"/>
            <a:ext cx="548640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Partner-funded growth: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Jakarta and Cairo are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partner shops with guaranteed capacity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volume adds need working capital, not new buildings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Each +1 pt of third-party share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≈ 70 modules ≈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$65M EBITDA ≈ $10 / share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at 16x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Downside covered: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independents (StandardAero, ST Eng., SRT, MTU) also chase the overflow; our bear case caps share at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still yields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$173</a:t>
            </a:r>
            <a:endParaRPr lang="en-US" sz="1050" dirty="0"/>
          </a:p>
        </p:txBody>
      </p:sp>
      <p:sp>
        <p:nvSpPr>
          <p:cNvPr id="30" name="Shape 22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With slots built and partners funding new shops, FTAI reaches ~25% of CFM56 module demand; each point of share is ~$10 / share.</a:t>
            </a:r>
            <a:endParaRPr lang="en-US" sz="1400" dirty="0"/>
          </a:p>
        </p:txBody>
      </p:sp>
      <p:sp>
        <p:nvSpPr>
          <p:cNvPr id="32" name="Text 24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FTAI Calls and Supplement, United / FTAI (Oct-26), GMF / FTAI (Sep-26), Willis Lease, SR Technics, In Practise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Test cell tracker (18 cells, Oct-26); no public case of a cell dropping CFM56 for LEAP.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2.  Physical capacity 2,000 (2025) and 3,000 modules (from Q2'26) per management.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III: Variance on Power – The Grid Gap Is Where the First Order Came From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Hyperscaler capex is outrunning contracted power – and NERC reserves go short from 2029.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621792" y="1170432"/>
          <a:ext cx="2743200" cy="1572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3410712" y="1170432"/>
          <a:ext cx="2697480" cy="1572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21792" y="2770632"/>
            <a:ext cx="5486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Capex and PPAs tracked each other for a decade (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0.89 correlation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); in 2025 capex rose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65%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while PPAs were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flat at ~29.5 GW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Our build: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$733bn × 65% US × 25% facility ÷ $12M / MW ≈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9.9 GW of shells funded in 2026 alone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6227064" y="1188720"/>
            <a:ext cx="0" cy="228600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graphicFrame>
        <p:nvGraphicFramePr>
          <p:cNvPr id="9" name="Chart 2" descr=""/>
          <p:cNvGraphicFramePr/>
          <p:nvPr/>
        </p:nvGraphicFramePr>
        <p:xfrm>
          <a:off x="6336792" y="1170432"/>
          <a:ext cx="265176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7635240" y="210312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8.4</a:t>
            </a:r>
            <a:endParaRPr lang="en-US" sz="900" dirty="0"/>
          </a:p>
        </p:txBody>
      </p:sp>
      <p:sp>
        <p:nvSpPr>
          <p:cNvPr id="11" name="Text 6"/>
          <p:cNvSpPr txBox="1"/>
          <p:nvPr/>
        </p:nvSpPr>
        <p:spPr>
          <a:xfrm>
            <a:off x="8065008" y="17373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27.2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8503920" y="137160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47.2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034272" y="1188720"/>
            <a:ext cx="2788920" cy="182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US DC demand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298 → 746 TWh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(2026–31)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ERCOT large-load queue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~475 GW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90% data centers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PJM auctions cleared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~6.8 GW short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(2028/29)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Grid interconnection: median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&gt;5 yrs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OEM gas-turbine backlog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~220 GW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new slots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2028 onward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6336792" y="3035808"/>
            <a:ext cx="5486400" cy="438912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373368" y="3035808"/>
            <a:ext cx="5413248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~57% of hyperscaler power contracted lands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2029 or later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a 2–3 year gap only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fast, on-site generation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can fill</a:t>
            </a:r>
            <a:endParaRPr lang="en-US" sz="1050" dirty="0"/>
          </a:p>
        </p:txBody>
      </p:sp>
      <p:sp>
        <p:nvSpPr>
          <p:cNvPr id="16" name="Text 11"/>
          <p:cNvSpPr txBox="1"/>
          <p:nvPr/>
        </p:nvSpPr>
        <p:spPr>
          <a:xfrm>
            <a:off x="621792" y="35478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$1.465bn first order came from a site at exactly that stage: built, energized on mobile gas, and out of turbines.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1792" y="38496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3913632"/>
          <a:ext cx="374904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297180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Term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The order (22-Jul-26)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Seller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J&amp;F Power Systems (FTAI × Jereh JV)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Buyer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“Leading international cloud provider” – </a:t>
                      </a:r>
                      <a:r>
                        <a:rPr lang="en-US" sz="95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reported xAI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Size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$1.465bn</a:t>
                      </a: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initial PO; 5-yr MSA, re-order w/o renegotiation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Implied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~58 Mod-1 units at ~$25M ≈ </a:t>
                      </a:r>
                      <a:r>
                        <a:rPr lang="en-US" sz="95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1.45 GW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Delivery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Batches through </a:t>
                      </a:r>
                      <a:r>
                        <a:rPr lang="en-US" sz="95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Nov-27</a:t>
                      </a: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; advance + milestone pay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 13"/>
          <p:cNvSpPr txBox="1"/>
          <p:nvPr/>
        </p:nvSpPr>
        <p:spPr>
          <a:xfrm>
            <a:off x="4507992" y="3895344"/>
            <a:ext cx="73152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What “the xAI stage” looked like (Colossus 2 / Southaven)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4526280" y="4206240"/>
            <a:ext cx="237744" cy="237744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4526280" y="42062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050" dirty="0"/>
          </a:p>
        </p:txBody>
      </p:sp>
      <p:sp>
        <p:nvSpPr>
          <p:cNvPr id="22" name="Text 16"/>
          <p:cNvSpPr txBox="1"/>
          <p:nvPr/>
        </p:nvSpPr>
        <p:spPr>
          <a:xfrm>
            <a:off x="4828032" y="4151376"/>
            <a:ext cx="24688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Shell built, GPUs committed</a:t>
            </a:r>
            <a:endParaRPr lang="en-US" sz="1050" dirty="0"/>
          </a:p>
        </p:txBody>
      </p:sp>
      <p:sp>
        <p:nvSpPr>
          <p:cNvPr id="23" name="Text 17"/>
          <p:cNvSpPr txBox="1"/>
          <p:nvPr/>
        </p:nvSpPr>
        <p:spPr>
          <a:xfrm>
            <a:off x="7296912" y="4151376"/>
            <a:ext cx="4526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~1 GW live Jan-26; $20bn Southaven DC under way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526280" y="4535424"/>
            <a:ext cx="237744" cy="237744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4526280" y="45354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050" dirty="0"/>
          </a:p>
        </p:txBody>
      </p:sp>
      <p:sp>
        <p:nvSpPr>
          <p:cNvPr id="26" name="Text 20"/>
          <p:cNvSpPr txBox="1"/>
          <p:nvPr/>
        </p:nvSpPr>
        <p:spPr>
          <a:xfrm>
            <a:off x="4828032" y="4480560"/>
            <a:ext cx="24688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grid for the next phase</a:t>
            </a:r>
            <a:endParaRPr lang="en-US" sz="1050" dirty="0"/>
          </a:p>
        </p:txBody>
      </p:sp>
      <p:sp>
        <p:nvSpPr>
          <p:cNvPr id="27" name="Text 21"/>
          <p:cNvSpPr txBox="1"/>
          <p:nvPr/>
        </p:nvSpPr>
        <p:spPr>
          <a:xfrm>
            <a:off x="7296912" y="4480560"/>
            <a:ext cx="4526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MLGW supplies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power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to Colossus 2; no TVA allocation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4526280" y="4864608"/>
            <a:ext cx="237744" cy="237744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4526280" y="48646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050" dirty="0"/>
          </a:p>
        </p:txBody>
      </p:sp>
      <p:sp>
        <p:nvSpPr>
          <p:cNvPr id="30" name="Text 24"/>
          <p:cNvSpPr txBox="1"/>
          <p:nvPr/>
        </p:nvSpPr>
        <p:spPr>
          <a:xfrm>
            <a:off x="4828032" y="4809744"/>
            <a:ext cx="24688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Behind-the-meter gas permitted</a:t>
            </a:r>
            <a:endParaRPr lang="en-US" sz="1050" dirty="0"/>
          </a:p>
        </p:txBody>
      </p:sp>
      <p:sp>
        <p:nvSpPr>
          <p:cNvPr id="31" name="Text 25"/>
          <p:cNvSpPr txBox="1"/>
          <p:nvPr/>
        </p:nvSpPr>
        <p:spPr>
          <a:xfrm>
            <a:off x="7296912" y="4809744"/>
            <a:ext cx="4526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41 turbines (~1.2 GW)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permitted Mar-26; gas lateral in place</a:t>
            </a:r>
            <a:endParaRPr lang="en-US" sz="1050" dirty="0"/>
          </a:p>
        </p:txBody>
      </p:sp>
      <p:sp>
        <p:nvSpPr>
          <p:cNvPr id="32" name="Shape 26"/>
          <p:cNvSpPr/>
          <p:nvPr/>
        </p:nvSpPr>
        <p:spPr>
          <a:xfrm>
            <a:off x="4526280" y="5193792"/>
            <a:ext cx="237744" cy="237744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4526280" y="51937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</a:t>
            </a:r>
            <a:endParaRPr lang="en-US" sz="1050" dirty="0"/>
          </a:p>
        </p:txBody>
      </p:sp>
      <p:sp>
        <p:nvSpPr>
          <p:cNvPr id="34" name="Text 28"/>
          <p:cNvSpPr txBox="1"/>
          <p:nvPr/>
        </p:nvSpPr>
        <p:spPr>
          <a:xfrm>
            <a:off x="4828032" y="5138928"/>
            <a:ext cx="24688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Incumbent supply tapped out</a:t>
            </a:r>
            <a:endParaRPr lang="en-US" sz="1050" dirty="0"/>
          </a:p>
        </p:txBody>
      </p:sp>
      <p:sp>
        <p:nvSpPr>
          <p:cNvPr id="35" name="Text 29"/>
          <p:cNvSpPr txBox="1"/>
          <p:nvPr/>
        </p:nvSpPr>
        <p:spPr>
          <a:xfrm>
            <a:off x="7296912" y="5138928"/>
            <a:ext cx="4526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Solaris ~900 MW fleet committed; OEM aero slots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2028 onward</a:t>
            </a:r>
            <a:endParaRPr lang="en-US" sz="1050" dirty="0"/>
          </a:p>
        </p:txBody>
      </p:sp>
      <p:sp>
        <p:nvSpPr>
          <p:cNvPr id="36" name="Text 30"/>
          <p:cNvSpPr txBox="1"/>
          <p:nvPr/>
        </p:nvSpPr>
        <p:spPr>
          <a:xfrm>
            <a:off x="621792" y="5486400"/>
            <a:ext cx="1120140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Diligence flag: FTAI hasn't named the buyer; the xAI link rests on Jereh gensets on the Southaven equipment list (CV Research). </a:t>
            </a:r>
            <a:r>
              <a:rPr lang="en-US" sz="1000" u="sng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order is signed either way</a:t>
            </a:r>
            <a:r>
              <a:rPr lang="en-US" sz="10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000" dirty="0"/>
          </a:p>
        </p:txBody>
      </p:sp>
      <p:sp>
        <p:nvSpPr>
          <p:cNvPr id="37" name="Shape 31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grid falls 8–47 GW short from 2029; sites at the first buyer's stage need power in 2027–28 that only mobile units can deliver.</a:t>
            </a:r>
            <a:endParaRPr lang="en-US" sz="1400" dirty="0"/>
          </a:p>
        </p:txBody>
      </p:sp>
      <p:sp>
        <p:nvSpPr>
          <p:cNvPr id="39" name="Text 33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Company filings (AMZN, GOOGL, META, MSFT), BCSE / BNEF, NERC 2025 LTRA, ERCOT, PJM, FTAI release (22-Jul-26), MDEQ, DCD, SemiAnalysis</a:t>
            </a:r>
            <a:endParaRPr lang="en-US" sz="1100" dirty="0"/>
          </a:p>
        </p:txBody>
      </p:sp>
      <p:sp>
        <p:nvSpPr>
          <p:cNvPr id="40" name="Text 34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Regional model: NERC demand vs. anticipated capacity + 67 tracked hyperscaler power agreements.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III: Variance on Power – A Pipeline at the First Buyer's Stage and a Right to Win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Our site-level model puts the odds of another J&amp;F order within 12 months at ~75% – and ~61% from a buyer other than xAI.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621792" y="1115568"/>
          <a:ext cx="3611880" cy="19385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325112" y="114300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75%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193792" y="1143000"/>
            <a:ext cx="128016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60/40 blend: site-level 71%, top-down 82% (56–97%)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4325112" y="178308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61%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5193792" y="1783080"/>
            <a:ext cx="128016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From a customer other than xAI – the option is not one buyer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325112" y="24231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51–71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5193792" y="2423160"/>
            <a:ext cx="128016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2027 Mod-1 units left after the first order: room for 1–3+ more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4325112" y="3044952"/>
            <a:ext cx="214884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Top-down: Jereh wins ~4 DC orders / yr × 45% routed to J&amp;F × 95% disclosed → λ ≈ 1.7.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6519672" y="1152144"/>
            <a:ext cx="0" cy="224028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1112" y="1133856"/>
          <a:ext cx="521208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514600"/>
                <a:gridCol w="548640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Most likely next buyers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Why the gap is open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Gap MW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Cipher BYOG sites (TX)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2.5 GW of gas laterals; generator not selected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15%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600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xAI Minihard (Memphis)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4th DC, 2027 load; power source undisclosed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12%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350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Jereh buyers C / D / 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~$820M of 2027 gensets; repeat via packager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11% ea.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550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xAI Southaven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69 temp turbines retire Aug-26 to Jul-27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11%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575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xAI Doosan frame sites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Bridge power until 2027–28 combined cycle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9%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500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Crusoe Abilene (Microsoft)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Cancelled 1.2 GW Boom order 25-Sep-26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8%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Fermi Matador (TensorWave)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222 MW lease from H2-27; leased TM2500s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7%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214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6611112" y="2935224"/>
            <a:ext cx="521208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Locked out: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Jupiter → Bloom; Frontier → VoltaGrid; Prometheus → Williams; Kilby, Homer City → GE 7HA. Typical non-xAI Jereh order: </a:t>
            </a:r>
            <a:r>
              <a:rPr lang="en-US" sz="9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$100–341M (3–11 units)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621792" y="3511296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can roll units faster than the street models – and its units are cheap, available now and mobile.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621792" y="3813048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18" name="Chart 1" descr=""/>
          <p:cNvGraphicFramePr/>
          <p:nvPr/>
        </p:nvGraphicFramePr>
        <p:xfrm>
          <a:off x="621792" y="3858768"/>
          <a:ext cx="301752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 14"/>
          <p:cNvSpPr txBox="1"/>
          <p:nvPr/>
        </p:nvSpPr>
        <p:spPr>
          <a:xfrm>
            <a:off x="3685032" y="3858768"/>
            <a:ext cx="2743200" cy="2011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Feedstock in hand: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1,000+ owned CFM56s; no new hot section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Capacity: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100+ units / yr; ~$400M of Power WC built / planned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Packaging outsourced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to Jereh (US, Canada, UAE, China)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Base 45 units FY27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&lt; the ~58 implied by the signed order; mgmt's $450M assumes “materially less” than 100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Path: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launch Dec-25 → prototype 1H26 → order Jul-26 → first deliveries 2027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6519672" y="3877056"/>
            <a:ext cx="0" cy="1984248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1112" y="3858768"/>
          <a:ext cx="310896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960120"/>
                <a:gridCol w="73152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Supplier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Earliest slot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 / kW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FTAI Mod-1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2027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~$1,000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GE Vernova aeros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2028–30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$1,400–2,000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MHI / Siemens frames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2028–30 / 3+ yrs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~$2,000+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Boom (Crusoe exited)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250 MW 2027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~$1,030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2" name="Text 16"/>
          <p:cNvSpPr txBox="1"/>
          <p:nvPr/>
        </p:nvSpPr>
        <p:spPr>
          <a:xfrm>
            <a:off x="9765792" y="3858768"/>
            <a:ext cx="2057400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Turbines ≈ </a:t>
            </a:r>
            <a:r>
              <a:rPr lang="en-US" sz="9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13% of shell cost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(~2% all-in)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Idle AI site ≈ </a:t>
            </a:r>
            <a:r>
              <a:rPr lang="en-US" sz="9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$1M / MW / month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→ a $1M/MW unit </a:t>
            </a:r>
            <a:r>
              <a:rPr lang="en-US" sz="9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pays back in ~1 month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Mobile: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redeploys when the grid arrives</a:t>
            </a:r>
            <a:endParaRPr lang="en-US" sz="95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1112" y="5102352"/>
          <a:ext cx="521208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731520"/>
                <a:gridCol w="1234440"/>
                <a:gridCol w="164592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FY27E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Units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Power EBITDA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Value @ 12x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Signed order only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45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$450M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$52 / sh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+1 contract (~1 GW)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~90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~$750M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+$35 / sh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+2 contracts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~130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~$1.05bn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+$70 / sh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17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a free call option: we see ~75% odds of another order within 12 months, and each ~1 GW contract adds ~$35 / share.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Jereh filings / order ledger, Company releases, TCEQ / MDEQ filings, Cleanview, Epoch AI, DCD, GE Vernova / Siemens Energy / MHI Q2'26, GridLab, JLL, FTAI calls</a:t>
            </a:r>
            <a:endParaRPr lang="en-US" sz="1100" dirty="0"/>
          </a:p>
        </p:txBody>
      </p:sp>
      <p:sp>
        <p:nvSpPr>
          <p:cNvPr id="27" name="Text 20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Site-level P = S × [1 – Π(1 – p_i)] + (1 – S) × P(E | shock), S = 0.855, 37 sites + residual; Chinese-supplier risk excluded. $ / share at 12x, 104.0M shares.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Valuation – 1-Year Target of $309 (+85%) With ~5x Reward-to-Risk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9052560" y="475488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($ in millions, except per share)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We value FTAI as of Oct-27 on NTM EBITDA (¼ FY27E + ¾ FY28E) and net debt at Sep-27 – a 1-year hold.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152144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Base case: sum of the parts at Oct-27</a:t>
            </a:r>
            <a:endParaRPr lang="en-US" sz="11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1408176"/>
          <a:ext cx="5486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68680"/>
                <a:gridCol w="868680"/>
                <a:gridCol w="868680"/>
                <a:gridCol w="868680"/>
              </a:tblGrid>
              <a:tr h="2103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Segment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NTM EBITDA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EV / EBITDA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EV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 / share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Aerospace Products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1,825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14.0x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25,552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$245.6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FTAI Power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788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10.0x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7,875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$75.7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Aviation Leasing + SCI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444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9.0x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3,994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$38.4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Corporate &amp; eliminations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(213)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12.2x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(2,608)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($25.1)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Enterprise value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2,843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12.2x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34,813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$334.6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(–) Net debt (Sep-27E)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(2,566)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($24.7)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(–) Preferred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(65)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($0.6)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1-year target (equity / share)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32,183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$309.3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Return vs. $167.03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+85%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" y="3547872"/>
            <a:ext cx="548640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Multiples: Aerospace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14x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(a discount to aftermarket peers), Power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10x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(contract risk), Leasing + SCI 9x; corporate at the blended multiple.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27064" y="1170432"/>
            <a:ext cx="0" cy="283464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10" name="Text 7"/>
          <p:cNvSpPr txBox="1"/>
          <p:nvPr/>
        </p:nvSpPr>
        <p:spPr>
          <a:xfrm>
            <a:off x="6336792" y="1152144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Bear / base / bull</a:t>
            </a:r>
            <a:endParaRPr lang="en-US" sz="115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36792" y="1408176"/>
          <a:ext cx="54864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463040"/>
                <a:gridCol w="1463040"/>
                <a:gridCol w="14630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Bear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Base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Bull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I. Margins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Short thesis right: stuck at 28.5%, no PMA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~30% is the trough; price + PMA via SCI rebuild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Light-work mix returns; full PMA ramp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II. Share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Fuel shock bites; share stalls at 15%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Retirements ~2%; FTAI catches OEM overflow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Overflow flows to FTAI; 25% share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III. Power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Ramp slips; half the JV economics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Signed order delivered; ramp to 90 units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One more ~1 GW contract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Fraud discount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Persists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Partly closes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Fully closes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1-yr target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$114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$309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$430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Return / probability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–32%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/ 20%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+85%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/ 60%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+157%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/ 20%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336792" y="3401568"/>
            <a:ext cx="5486400" cy="56692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36792" y="3401568"/>
            <a:ext cx="54864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Probability-weighted: $294 (+76%)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Reward / risk: +157% / –32% ≈ 4.9x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21792" y="4041648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Today's $167 ≈ the bear case at our multiples ($161) – each thesis then adds value: margins +$22, share +$62, Power +$63.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21792" y="4343400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16" name="Chart 0" descr=""/>
          <p:cNvGraphicFramePr/>
          <p:nvPr/>
        </p:nvGraphicFramePr>
        <p:xfrm>
          <a:off x="621792" y="4389120"/>
          <a:ext cx="5486400" cy="14813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2"/>
          <p:cNvSpPr txBox="1"/>
          <p:nvPr/>
        </p:nvSpPr>
        <p:spPr>
          <a:xfrm>
            <a:off x="923544" y="483047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$161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1975104" y="476250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+$22</a:t>
            </a:r>
            <a:endParaRPr lang="en-US" sz="1000" dirty="0"/>
          </a:p>
        </p:txBody>
      </p:sp>
      <p:sp>
        <p:nvSpPr>
          <p:cNvPr id="19" name="Text 14"/>
          <p:cNvSpPr txBox="1"/>
          <p:nvPr/>
        </p:nvSpPr>
        <p:spPr>
          <a:xfrm>
            <a:off x="3026664" y="4572305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+$62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4078224" y="437906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+$63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5129784" y="437906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$309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896112" y="5004816"/>
            <a:ext cx="777240" cy="0"/>
          </a:xfrm>
          <a:prstGeom prst="line">
            <a:avLst/>
          </a:prstGeom>
          <a:noFill/>
          <a:ln w="15875">
            <a:solidFill>
              <a:srgbClr val="C00000"/>
            </a:solidFill>
            <a:prstDash val="dash"/>
          </a:ln>
        </p:spPr>
      </p:sp>
      <p:sp>
        <p:nvSpPr>
          <p:cNvPr id="23" name="Text 18"/>
          <p:cNvSpPr txBox="1"/>
          <p:nvPr/>
        </p:nvSpPr>
        <p:spPr>
          <a:xfrm>
            <a:off x="896112" y="4620768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0000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today $167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6227064" y="4407408"/>
            <a:ext cx="0" cy="146304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25" name="Text 20"/>
          <p:cNvSpPr txBox="1"/>
          <p:nvPr/>
        </p:nvSpPr>
        <p:spPr>
          <a:xfrm>
            <a:off x="6336792" y="4370832"/>
            <a:ext cx="2377440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Cross-checks</a:t>
            </a:r>
            <a:endParaRPr lang="en-US" sz="1100" dirty="0"/>
          </a:p>
        </p:txBody>
      </p:sp>
      <p:graphicFrame>
        <p:nvGraphicFramePr>
          <p:cNvPr id="3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36792" y="4608576"/>
          <a:ext cx="2377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097280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DCF rolled 1 yr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Target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Bear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$111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Base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$337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Bull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$425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Text 21"/>
          <p:cNvSpPr txBox="1"/>
          <p:nvPr/>
        </p:nvSpPr>
        <p:spPr>
          <a:xfrm>
            <a:off x="6336792" y="5413248"/>
            <a:ext cx="2377440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Ex-Power base: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$239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43% upside</a:t>
            </a:r>
            <a:endParaRPr lang="en-US" sz="1000" dirty="0"/>
          </a:p>
        </p:txBody>
      </p:sp>
      <p:sp>
        <p:nvSpPr>
          <p:cNvPr id="28" name="Text 22"/>
          <p:cNvSpPr txBox="1"/>
          <p:nvPr/>
        </p:nvSpPr>
        <p:spPr>
          <a:xfrm>
            <a:off x="6336792" y="5614416"/>
            <a:ext cx="23774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 / NTM: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10.2x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today →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12.2x</a:t>
            </a:r>
            <a:endParaRPr 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8851392" y="4370832"/>
            <a:ext cx="2971800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Base target: Aero × Power multiple</a:t>
            </a:r>
            <a:endParaRPr lang="en-US" sz="1100" dirty="0"/>
          </a:p>
        </p:txBody>
      </p:sp>
      <p:graphicFrame>
        <p:nvGraphicFramePr>
          <p:cNvPr id="4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851392" y="4608576"/>
          <a:ext cx="297180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548640"/>
                <a:gridCol w="548640"/>
                <a:gridCol w="548640"/>
                <a:gridCol w="548640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Aero \ Power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6x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8x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10x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12x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12x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$249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$263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$277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$291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14x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$281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$295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$309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$323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16x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$314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$328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$342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$356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 24"/>
          <p:cNvSpPr txBox="1"/>
          <p:nvPr/>
        </p:nvSpPr>
        <p:spPr>
          <a:xfrm>
            <a:off x="8851392" y="5413248"/>
            <a:ext cx="29718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12x Aero, 6x Power: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$249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49% upside</a:t>
            </a:r>
            <a:endParaRPr lang="en-US" sz="1000" dirty="0"/>
          </a:p>
        </p:txBody>
      </p:sp>
      <p:sp>
        <p:nvSpPr>
          <p:cNvPr id="32" name="Shape 25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Base $309 (+85%) in 12 months; probability-weighted $294 (+76%); bear $114 (–32%) – roughly 5x reward-to-risk.</a:t>
            </a:r>
            <a:endParaRPr lang="en-US" sz="1400" dirty="0"/>
          </a:p>
        </p:txBody>
      </p:sp>
      <p:sp>
        <p:nvSpPr>
          <p:cNvPr id="34" name="Text 27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FTAI filings; $167.03 (10/2/26); 104.0M shares</a:t>
            </a:r>
            <a:endParaRPr lang="en-US" sz="1100" dirty="0"/>
          </a:p>
        </p:txBody>
      </p:sp>
      <p:sp>
        <p:nvSpPr>
          <p:cNvPr id="35" name="Text 28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NTM ≈ ¼ FY27E + ¾ FY28E. Bridge: each thesis's model drivers switched bear → base in order, at base multiples.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Catalysts &amp; Risks – Risks Sit in the Bear Case; Catalysts Land Within the Hold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621792" y="896112"/>
            <a:ext cx="3611880" cy="310896"/>
          </a:xfrm>
          <a:prstGeom prst="rect">
            <a:avLst/>
          </a:prstGeom>
          <a:solidFill>
            <a:srgbClr val="5B7189"/>
          </a:solidFill>
          <a:ln w="12700">
            <a:solidFill>
              <a:srgbClr val="5B718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89611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Risks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416552" y="896112"/>
            <a:ext cx="3611880" cy="310896"/>
          </a:xfrm>
          <a:prstGeom prst="rect">
            <a:avLst/>
          </a:prstGeom>
          <a:solidFill>
            <a:srgbClr val="5B7189"/>
          </a:solidFill>
          <a:ln w="12700">
            <a:solidFill>
              <a:srgbClr val="5B718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416552" y="89611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Mitigants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11312" y="896112"/>
            <a:ext cx="3611880" cy="310896"/>
          </a:xfrm>
          <a:prstGeom prst="rect">
            <a:avLst/>
          </a:prstGeom>
          <a:solidFill>
            <a:srgbClr val="5B7189"/>
          </a:solidFill>
          <a:ln w="12700">
            <a:solidFill>
              <a:srgbClr val="5B718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11312" y="89611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Catalysts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" y="1298448"/>
            <a:ext cx="3611880" cy="1188720"/>
          </a:xfrm>
          <a:prstGeom prst="rect">
            <a:avLst/>
          </a:prstGeom>
          <a:solidFill>
            <a:srgbClr val="F4A6A6"/>
          </a:solidFill>
          <a:ln w="12700">
            <a:solidFill>
              <a:srgbClr val="F4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1325880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Margins keep falling (Thesis I)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Heavier workscopes and a thinning supply of cheap engines take Aerospace margin below 30%, and the market keeps reading every print as the short thesis unwinding.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Value at risk: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~$22 / share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(Thesis I, bear vs. base).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16552" y="1298448"/>
            <a:ext cx="3611880" cy="1188720"/>
          </a:xfrm>
          <a:prstGeom prst="rect">
            <a:avLst/>
          </a:prstGeom>
          <a:solidFill>
            <a:srgbClr val="B9DFA6"/>
          </a:solidFill>
          <a:ln w="12700">
            <a:solidFill>
              <a:srgbClr val="B9D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26280" y="1325880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Little cheap stock left to unwind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Leasing-sourced engines are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&lt;8% of inventory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flows now run back to leasing. Heavy mix is capacity-capped and United is signed. Our bear case holds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28.5%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and that outcome is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$161, about today's price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" y="2560320"/>
            <a:ext cx="3611880" cy="1188720"/>
          </a:xfrm>
          <a:prstGeom prst="rect">
            <a:avLst/>
          </a:prstGeom>
          <a:solidFill>
            <a:srgbClr val="F4A6A6"/>
          </a:solidFill>
          <a:ln w="12700">
            <a:solidFill>
              <a:srgbClr val="F4A6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2587752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Fraud overhang never clears (Thesis I)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Muddy Waters or a follow-on short revisits inventory accounting; the governance discount persists even if margins hold.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Value at risk: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each turn of Aerospace multiple is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~$16 / share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416552" y="2560320"/>
            <a:ext cx="3611880" cy="1188720"/>
          </a:xfrm>
          <a:prstGeom prst="rect">
            <a:avLst/>
          </a:prstGeom>
          <a:solidFill>
            <a:srgbClr val="B9DFA6"/>
          </a:solidFill>
          <a:ln w="12700">
            <a:solidFill>
              <a:srgbClr val="B9D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26280" y="2587752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Claims reviewed; capital returned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Audit-committee review found the claims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without merit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restatement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 Management is buying back stock (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$500M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Sep-26) and the 10-Q transfer disclosures let anyone track the stock.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1792" y="3822192"/>
            <a:ext cx="3611880" cy="1188720"/>
          </a:xfrm>
          <a:prstGeom prst="rect">
            <a:avLst/>
          </a:prstGeom>
          <a:solidFill>
            <a:srgbClr val="F4A6A6"/>
          </a:solidFill>
          <a:ln w="12700">
            <a:solidFill>
              <a:srgbClr val="F4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849624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CFM56 retires faster or LEAP catches up (Thesis II)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2026 fuel shock or LEAP durability fixes push airlines to park CFM56s; independents (StandardAero, ST Eng., SRT, MTU) take the overflow instead of FTAI.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Value at risk: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~$62 / share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(Thesis II).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416552" y="3822192"/>
            <a:ext cx="3611880" cy="1188720"/>
          </a:xfrm>
          <a:prstGeom prst="rect">
            <a:avLst/>
          </a:prstGeom>
          <a:solidFill>
            <a:srgbClr val="B9DFA6"/>
          </a:solidFill>
          <a:ln w="12700">
            <a:solidFill>
              <a:srgbClr val="B9D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26280" y="3849624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Retirements falling; FTAI's edge is speed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GE's 2026 retirements run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1.5–2%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vs. an original 3–4% plan; parked CFM56s are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down since March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 Retired jets become FTAI feedstock (WestJet). A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5–25 day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swap with owned parts beats a 120–180 day shop visit.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" y="5084064"/>
            <a:ext cx="3611880" cy="1188720"/>
          </a:xfrm>
          <a:prstGeom prst="rect">
            <a:avLst/>
          </a:prstGeom>
          <a:solidFill>
            <a:srgbClr val="F4A6A6"/>
          </a:solidFill>
          <a:ln w="12700">
            <a:solidFill>
              <a:srgbClr val="F4A6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5111496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slips or the buyer walks (Thesis III)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Mod-1 deliveries slip past Nov-27, output misses spec, or – like Crusoe with Boom – the customer walks. Jereh's Chinese ownership adds tariff / supply-chain risk.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Value at risk: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~$63 / share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(Thesis III).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416552" y="5084064"/>
            <a:ext cx="3611880" cy="1188720"/>
          </a:xfrm>
          <a:prstGeom prst="rect">
            <a:avLst/>
          </a:prstGeom>
          <a:solidFill>
            <a:srgbClr val="B9DFA6"/>
          </a:solidFill>
          <a:ln w="12700">
            <a:solidFill>
              <a:srgbClr val="B9DFA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26280" y="5111496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Signed, paid for, and not in the price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Signed PO with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advance and milestone payments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output penalty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capped at 10%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 Base case uses 45 units vs. ~58 implied by the order. Jereh packages in the US, Canada and UAE. Ex-Power, the target is still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$239, 43% upside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211312" y="1298448"/>
            <a:ext cx="3611880" cy="987552"/>
          </a:xfrm>
          <a:prstGeom prst="rect">
            <a:avLst/>
          </a:prstGeom>
          <a:ln w="15875">
            <a:solidFill>
              <a:srgbClr val="C00000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8302752" y="1298448"/>
            <a:ext cx="34290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Two clean ~30% prints and a second Power order re-rate the stock within 12 months.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11312" y="2359152"/>
            <a:ext cx="361188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321040" y="2386584"/>
            <a:ext cx="33924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 Q3 call (late Oct-26) | Thesis II</a:t>
            </a:r>
            <a:endParaRPr lang="en-US" sz="105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CFM56 retirement and shop-visit update; confirms the 2,300–2,400 visit plateau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211312" y="3104388"/>
            <a:ext cx="361188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321040" y="3131820"/>
            <a:ext cx="33924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Q3'26 (late Oct-26) | Thesis I</a:t>
            </a:r>
            <a:endParaRPr lang="en-US" sz="105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First print after the reset: margin ≥~30%, modules on track for 1,200, PMA usage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211312" y="3849624"/>
            <a:ext cx="361188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321040" y="3877056"/>
            <a:ext cx="33924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Investor day (10-Dec-26) | I, II, III</a:t>
            </a:r>
            <a:endParaRPr lang="en-US" sz="105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2027 framework: 1,700 modules, Jakarta / Cairo ramp, SCI II size, Power backlog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211312" y="4594860"/>
            <a:ext cx="361188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321040" y="4622292"/>
            <a:ext cx="33924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Q4'26 + FY27 guide (Feb-27) | Thesis I</a:t>
            </a:r>
            <a:endParaRPr lang="en-US" sz="105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Second ~30% print: 30% stops reading as a waypoint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211312" y="5340096"/>
            <a:ext cx="361188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321040" y="5367528"/>
            <a:ext cx="33924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deliveries / new order (2027) | III</a:t>
            </a:r>
            <a:endParaRPr lang="en-US" sz="105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First revenue from the $1.465bn order; a second order (~75% odds in 12M) adds ~$35 / share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Company Filings and Calls, Muddy Waters, GE Aerospace, J&amp;F order release (Jul-26), TechCrunch (Boom–Crusoe)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Value at risk from the valuation bridge (bear → base by thesis). FTAI Q3 date to confirm (26- or 29-Oct).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Appendix: How We Used AI – Scrapes at Scale, Judgment Kept Human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AI let four analysts build datasets the street doesn't have – every number it pulled was traced back to a primary source.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1152144"/>
          <a:ext cx="112014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572000"/>
                <a:gridCol w="3749040"/>
                <a:gridCol w="96012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Workstream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What AI did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What it produced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Used on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Repair-price scrape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Parsed SR Technics CFM56 catalogues (2024–26) and matched repair packages line by line across years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3,404 matched packages</a:t>
                      </a: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: 3,376 rose, 1 fell → ~6% / yr escalator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Industry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10-Q footnote extraction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Pulled leasing ↔ inventory transfers from every quarter's non-cash cash-flow disclosures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Q1'26 transfers </a:t>
                      </a:r>
                      <a:r>
                        <a:rPr lang="en-US" sz="100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$89.6M vs. ~$1.4bn</a:t>
                      </a: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of inventory; flow now reverses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Thesis I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Outsourcing flip tracker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Scraped releases, filings and trade press for 14 tier-1 shops; classified each shop's CFM56 / LEAP stance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Positioning map: OEMs pulling back, </a:t>
                      </a:r>
                      <a:r>
                        <a:rPr lang="en-US" sz="100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independents adding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Thesis II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Test cell tracker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Searched shop announcements and trade press for engine test cells; tagged engine types per cell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18 cells: </a:t>
                      </a:r>
                      <a:r>
                        <a:rPr lang="en-US" sz="100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9 adapted to LEAP, 0 dropped CFM56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Thesis II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Fuel &amp; retirement check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Assembled jet-fuel series, GE / Safran commentary, airline capacity and hedge disclosures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Fuel up ~2.3x, </a:t>
                      </a:r>
                      <a:r>
                        <a:rPr lang="en-US" sz="100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parked CFM56s falling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Thesis II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AI campus &amp; permit screen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Read TCEQ / MDEQ permits, utility filings and project trackers; scored 37 sites on 7 win factors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Site-level next-order model: </a:t>
                      </a:r>
                      <a:r>
                        <a:rPr lang="en-US" sz="100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~75% odds</a:t>
                      </a: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in 12M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Thesis III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Jereh order ledger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Translated Chinese-language filings and press (Jiemian, NBD, TMTPost) into one reconciled ledger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7 orders, </a:t>
                      </a:r>
                      <a:r>
                        <a:rPr lang="en-US" sz="100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$2.6bn</a:t>
                      </a: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; J&amp;F routing share for the Poisson check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Thesis III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Grid gap model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Compiled NERC LTRA demand vs. capacity and 67 hyperscaler power agreements by region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8–47 GW</a:t>
                      </a: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reserve shortfall from 2029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Thesis III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21792" y="3986784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AI did the reading and the arithmetic; the team made every call that moves the price target.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621792" y="4288536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" y="4334256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Where AI helped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4572000"/>
            <a:ext cx="5486400" cy="1280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Scale: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thousands of catalogue lines and dozens of filings read in days, not weeks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Reach: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Chinese-language and state-permit sources the street rarely reads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Consistency: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one model feeds every slide; AI re-checked each figure across the deck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27064" y="4352544"/>
            <a:ext cx="0" cy="1481328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11" name="Text 8"/>
          <p:cNvSpPr txBox="1"/>
          <p:nvPr/>
        </p:nvSpPr>
        <p:spPr>
          <a:xfrm>
            <a:off x="6336792" y="4334256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Guardrails we kept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6336792" y="4572000"/>
            <a:ext cx="5486400" cy="1280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 or cut: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every AI-pulled number was checked against the document; claims with no source were dropped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Say what we didn't find: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no public case of an OEM cutting CFM56 cells – so we frame it as LEAP sharing slots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Human judgment: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probabilities, win scores, multiples and cases were set by the team; public information only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AI widened what we could check; it never decided what we believe – the thesis rests on sourced, team-verified data.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21792" y="647395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Team diligence files: flip tracker, test cell tracker, Power next-contract model, repair-price scrape; sources as cited on each slide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aramo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aramon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FTAI Long Pitch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FTAI Aviation - Long Recommendation</dc:title>
  <dc:subject>PptxGenJS Presentation</dc:subject>
  <dc:creator>Max Salomon</dc:creator>
  <cp:lastModifiedBy>Max Salomon</cp:lastModifiedBy>
  <cp:revision>1</cp:revision>
  <dcterms:created xsi:type="dcterms:W3CDTF">2026-10-13T03:00:18Z</dcterms:created>
  <dcterms:modified xsi:type="dcterms:W3CDTF">2026-10-13T03:00:18Z</dcterms:modified>
</cp:coreProperties>
</file>