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cef2b22-7719-2776-7a64-b891e420563e}">
          <p14:sldIdLst>
            <p14:sldId id="256"/>
            <p14:sldId id="257"/>
            <p14:sldId id="258"/>
            <p14:sldId id="259"/>
            <p14:sldId id="260"/>
            <p14:sldId id="261"/>
            <p14:sldId id="262"/>
          </p14:sldIdLst>
        </p14:section>
        <p14:section name="Thesis 1: Margins" id="{99be0b0c-5129-b03e-da12-7f1ac8cdf20c}">
          <p14:sldIdLst>
            <p14:sldId id="263"/>
            <p14:sldId id="264"/>
            <p14:sldId id="265"/>
            <p14:sldId id="266"/>
            <p14:sldId id="267"/>
          </p14:sldIdLst>
        </p14:section>
        <p14:section name="Thesis 2: Share" id="{3090eaf5-1a5b-f873-bee5-44c1f451cc06}">
          <p14:sldIdLst>
            <p14:sldId id="268"/>
            <p14:sldId id="269"/>
            <p14:sldId id="270"/>
            <p14:sldId id="271"/>
            <p14:sldId id="272"/>
          </p14:sldIdLst>
        </p14:section>
        <p14:section name="Thesis 3: Power" id="{e9af9e23-efb7-5f33-7cc7-fb79b601ee3b}">
          <p14:sldIdLst>
            <p14:sldId id="273"/>
            <p14:sldId id="274"/>
            <p14:sldId id="275"/>
            <p14:sldId id="276"/>
            <p14:sldId id="277"/>
            <p14:sldId id="278"/>
          </p14:sldIdLst>
        </p14:section>
        <p14:section name="Valuation &amp; Risks" id="{349f66b2-fbda-467e-1457-c8338dda3c15}">
          <p14:sldIdLst>
            <p14:sldId id="279"/>
            <p14:sldId id="280"/>
            <p14:sldId id="281"/>
            <p14:sldId id="282"/>
          </p14:sldIdLst>
        </p14:section>
        <p14:section name="Appendix" id="{41591981-8e2d-ef8e-c40b-0e56405b67f3}">
          <p14:sldIdLst>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Aerospace Products</c:v>
                </c:pt>
              </c:strCache>
            </c:strRef>
          </c:tx>
          <c:spPr>
            <a:solidFill>
              <a:srgbClr val="0B1F44"/>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FY25A</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671</c:v>
                </c:pt>
                <c:pt idx="1">
                  <c:v>1045</c:v>
                </c:pt>
                <c:pt idx="2">
                  <c:v>1541</c:v>
                </c:pt>
                <c:pt idx="3">
                  <c:v>1920</c:v>
                </c:pt>
                <c:pt idx="4">
                  <c:v>2134</c:v>
                </c:pt>
                <c:pt idx="5">
                  <c:v>2289</c:v>
                </c:pt>
                <c:pt idx="6">
                  <c:v>2431</c:v>
                </c:pt>
              </c:numCache>
            </c:numRef>
          </c:val>
        </c:ser>
        <c:ser>
          <c:idx val="1"/>
          <c:order val="1"/>
          <c:tx>
            <c:strRef>
              <c:f>Sheet1!$C$1</c:f>
              <c:strCache>
                <c:ptCount val="1"/>
                <c:pt idx="0">
                  <c:v>Leasing + SCI</c:v>
                </c:pt>
              </c:strCache>
            </c:strRef>
          </c:tx>
          <c:spPr>
            <a:solidFill>
              <a:srgbClr val="2E8FA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FY25A</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609</c:v>
                </c:pt>
                <c:pt idx="1">
                  <c:v>475</c:v>
                </c:pt>
                <c:pt idx="2">
                  <c:v>455</c:v>
                </c:pt>
                <c:pt idx="3">
                  <c:v>440</c:v>
                </c:pt>
                <c:pt idx="4">
                  <c:v>430</c:v>
                </c:pt>
                <c:pt idx="5">
                  <c:v>420</c:v>
                </c:pt>
                <c:pt idx="6">
                  <c:v>410</c:v>
                </c:pt>
              </c:numCache>
            </c:numRef>
          </c:val>
        </c:ser>
        <c:ser>
          <c:idx val="2"/>
          <c:order val="2"/>
          <c:tx>
            <c:strRef>
              <c:f>Sheet1!$D$1</c:f>
              <c:strCache>
                <c:ptCount val="1"/>
                <c:pt idx="0">
                  <c:v>FTAI Power</c:v>
                </c:pt>
              </c:strCache>
            </c:strRef>
          </c:tx>
          <c:spPr>
            <a:solidFill>
              <a:srgbClr val="E8702A"/>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FY25A</c:v>
                  </c:pt>
                  <c:pt idx="1">
                    <c:v>FY26E</c:v>
                  </c:pt>
                  <c:pt idx="2">
                    <c:v>FY27E</c:v>
                  </c:pt>
                  <c:pt idx="3">
                    <c:v>FY28E</c:v>
                  </c:pt>
                  <c:pt idx="4">
                    <c:v>FY29E</c:v>
                  </c:pt>
                  <c:pt idx="5">
                    <c:v>FY30E</c:v>
                  </c:pt>
                  <c:pt idx="6">
                    <c:v>FY31E</c:v>
                  </c:pt>
                </c:lvl>
              </c:multiLvlStrCache>
            </c:multiLvlStrRef>
          </c:cat>
          <c:val>
            <c:numRef>
              <c:f>Sheet1!$D$2:$D$8</c:f>
              <c:numCache>
                <c:formatCode>General</c:formatCode>
                <c:ptCount val="7"/>
                <c:pt idx="0">
                  <c:v>0</c:v>
                </c:pt>
                <c:pt idx="1">
                  <c:v>20</c:v>
                </c:pt>
                <c:pt idx="2">
                  <c:v>450</c:v>
                </c:pt>
                <c:pt idx="3">
                  <c:v>900</c:v>
                </c:pt>
                <c:pt idx="4">
                  <c:v>1100</c:v>
                </c:pt>
                <c:pt idx="5">
                  <c:v>1200</c:v>
                </c:pt>
                <c:pt idx="6">
                  <c:v>1300</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0B1F44"/>
                </a:solidFill>
                <a:latin typeface="Calibri"/>
              </a:defRPr>
            </a:pPr>
            <a:r>
              <a:rPr sz="950" b="0" i="0" u="none" strike="noStrike">
                <a:solidFill>
                  <a:srgbClr val="0B1F44"/>
                </a:solidFill>
                <a:latin typeface="Calibri"/>
              </a:rPr>
              <a:t>Revenue $2.5bn</a:t>
            </a:r>
          </a:p>
        </c:rich>
      </c:tx>
      <c:layout/>
      <c:overlay val="0"/>
    </c:title>
    <c:autoTitleDeleted val="0"/>
    <c:plotArea>
      <c:layout/>
      <c:doughnutChart>
        <c:varyColors val="1"/>
        <c:ser>
          <c:idx val="0"/>
          <c:order val="0"/>
          <c:tx>
            <c:strRef>
              <c:f>Sheet1!$B$1</c:f>
              <c:strCache>
                <c:ptCount val="1"/>
                <c:pt idx="0">
                  <c:v>Revenue</c:v>
                </c:pt>
              </c:strCache>
            </c:strRef>
          </c:tx>
          <c:spPr>
            <a:solidFill>
              <a:schemeClr val="accent1"/>
            </a:solidFill>
            <a:ln w="9525" cap="flat">
              <a:solidFill>
                <a:srgbClr val="F9F9F9"/>
              </a:solidFill>
              <a:prstDash val="solid"/>
              <a:round/>
            </a:ln>
            <a:effectLst/>
          </c:spPr>
          <c:dPt>
            <c:idx val="0"/>
            <c:bubble3D val="0"/>
            <c:spPr>
              <a:solidFill>
                <a:srgbClr val="0B1F44"/>
              </a:solidFill>
              <a:effectLst/>
            </c:spPr>
          </c:dPt>
          <c:dPt>
            <c:idx val="1"/>
            <c:bubble3D val="0"/>
            <c:spPr>
              <a:solidFill>
                <a:srgbClr val="2E8FAE"/>
              </a:solidFill>
              <a:effectLst/>
            </c:spPr>
          </c:dPt>
          <c:dLbls>
            <c:dLbl>
              <c:idx val="0"/>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Aerospace Products</c:v>
                </c:pt>
                <c:pt idx="1">
                  <c:v>Leasing + SCI</c:v>
                </c:pt>
              </c:strCache>
            </c:strRef>
          </c:cat>
          <c:val>
            <c:numRef>
              <c:f>Sheet1!$B$2:$B$3</c:f>
              <c:numCache>
                <c:ptCount val="2"/>
                <c:pt idx="0">
                  <c:v>1936</c:v>
                </c:pt>
                <c:pt idx="1">
                  <c:v>571</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0B1F44"/>
                </a:solidFill>
                <a:latin typeface="Calibri"/>
              </a:defRPr>
            </a:pPr>
            <a:r>
              <a:rPr sz="950" b="0" i="0" u="none" strike="noStrike">
                <a:solidFill>
                  <a:srgbClr val="0B1F44"/>
                </a:solidFill>
                <a:latin typeface="Calibri"/>
              </a:rPr>
              <a:t>Segment EBITDA $1.3bn</a:t>
            </a:r>
          </a:p>
        </c:rich>
      </c:tx>
      <c:layout/>
      <c:overlay val="0"/>
    </c:title>
    <c:autoTitleDeleted val="0"/>
    <c:plotArea>
      <c:layout/>
      <c:doughnutChart>
        <c:varyColors val="1"/>
        <c:ser>
          <c:idx val="0"/>
          <c:order val="0"/>
          <c:tx>
            <c:strRef>
              <c:f>Sheet1!$B$1</c:f>
              <c:strCache>
                <c:ptCount val="1"/>
                <c:pt idx="0">
                  <c:v>EBITDA</c:v>
                </c:pt>
              </c:strCache>
            </c:strRef>
          </c:tx>
          <c:spPr>
            <a:solidFill>
              <a:schemeClr val="accent1"/>
            </a:solidFill>
            <a:ln w="9525" cap="flat">
              <a:solidFill>
                <a:srgbClr val="F9F9F9"/>
              </a:solidFill>
              <a:prstDash val="solid"/>
              <a:round/>
            </a:ln>
            <a:effectLst/>
          </c:spPr>
          <c:dPt>
            <c:idx val="0"/>
            <c:bubble3D val="0"/>
            <c:spPr>
              <a:solidFill>
                <a:srgbClr val="0B1F44"/>
              </a:solidFill>
              <a:effectLst/>
            </c:spPr>
          </c:dPt>
          <c:dPt>
            <c:idx val="1"/>
            <c:bubble3D val="0"/>
            <c:spPr>
              <a:solidFill>
                <a:srgbClr val="2E8FAE"/>
              </a:solidFill>
              <a:effectLst/>
            </c:spPr>
          </c:dPt>
          <c:dLbls>
            <c:dLbl>
              <c:idx val="0"/>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Aerospace Products</c:v>
                </c:pt>
                <c:pt idx="1">
                  <c:v>Leasing + SCI</c:v>
                </c:pt>
              </c:strCache>
            </c:strRef>
          </c:cat>
          <c:val>
            <c:numRef>
              <c:f>Sheet1!$B$2:$B$3</c:f>
              <c:numCache>
                <c:ptCount val="2"/>
                <c:pt idx="0">
                  <c:v>671</c:v>
                </c:pt>
                <c:pt idx="1">
                  <c:v>609</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B1F44"/>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FY25A</c:v>
                  </c:pt>
                  <c:pt idx="1">
                    <c:v>FY26E</c:v>
                  </c:pt>
                  <c:pt idx="2">
                    <c:v>FY27E</c:v>
                  </c:pt>
                  <c:pt idx="3">
                    <c:v>FY28E</c:v>
                  </c:pt>
                </c:lvl>
              </c:multiLvlStrCache>
            </c:multiLvlStrRef>
          </c:cat>
          <c:val>
            <c:numRef>
              <c:f>Sheet1!$B$2:$B$5</c:f>
              <c:numCache>
                <c:formatCode>General</c:formatCode>
                <c:ptCount val="4"/>
                <c:pt idx="0">
                  <c:v>2508</c:v>
                </c:pt>
                <c:pt idx="1">
                  <c:v>3854</c:v>
                </c:pt>
                <c:pt idx="2">
                  <c:v>6575</c:v>
                </c:pt>
                <c:pt idx="3">
                  <c:v>8793</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Modules</c:v>
                </c:pt>
              </c:strCache>
            </c:strRef>
          </c:tx>
          <c:spPr>
            <a:solidFill>
              <a:srgbClr val="2E8FAE"/>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FY25A</c:v>
                  </c:pt>
                  <c:pt idx="1">
                    <c:v>FY26E</c:v>
                  </c:pt>
                  <c:pt idx="2">
                    <c:v>FY27E</c:v>
                  </c:pt>
                  <c:pt idx="3">
                    <c:v>FY28E</c:v>
                  </c:pt>
                </c:lvl>
              </c:multiLvlStrCache>
            </c:multiLvlStrRef>
          </c:cat>
          <c:val>
            <c:numRef>
              <c:f>Sheet1!$B$2:$B$5</c:f>
              <c:numCache>
                <c:formatCode>General</c:formatCode>
                <c:ptCount val="4"/>
                <c:pt idx="0">
                  <c:v>757</c:v>
                </c:pt>
                <c:pt idx="1">
                  <c:v>1193</c:v>
                </c:pt>
                <c:pt idx="2">
                  <c:v>1687</c:v>
                </c:pt>
                <c:pt idx="3">
                  <c:v>1981</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EBITDA</c:v>
                </c:pt>
              </c:strCache>
            </c:strRef>
          </c:tx>
          <c:spPr>
            <a:solidFill>
              <a:srgbClr val="E8702A"/>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FY25A</c:v>
                  </c:pt>
                  <c:pt idx="1">
                    <c:v>FY26E</c:v>
                  </c:pt>
                  <c:pt idx="2">
                    <c:v>FY27E</c:v>
                  </c:pt>
                  <c:pt idx="3">
                    <c:v>FY28E</c:v>
                  </c:pt>
                </c:lvl>
              </c:multiLvlStrCache>
            </c:multiLvlStrRef>
          </c:cat>
          <c:val>
            <c:numRef>
              <c:f>Sheet1!$B$2:$B$5</c:f>
              <c:numCache>
                <c:formatCode>General</c:formatCode>
                <c:ptCount val="4"/>
                <c:pt idx="0">
                  <c:v>1198</c:v>
                </c:pt>
                <c:pt idx="1">
                  <c:v>1310</c:v>
                </c:pt>
                <c:pt idx="2">
                  <c:v>2239</c:v>
                </c:pt>
                <c:pt idx="3">
                  <c:v>3045</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Shop visits</c:v>
                </c:pt>
              </c:strCache>
            </c:strRef>
          </c:tx>
          <c:spPr>
            <a:solidFill>
              <a:srgbClr val="0B1F44"/>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FY25</c:v>
                  </c:pt>
                  <c:pt idx="1">
                    <c:v>FY26</c:v>
                  </c:pt>
                  <c:pt idx="2">
                    <c:v>FY27</c:v>
                  </c:pt>
                  <c:pt idx="3">
                    <c:v>FY28</c:v>
                  </c:pt>
                  <c:pt idx="4">
                    <c:v>FY29</c:v>
                  </c:pt>
                  <c:pt idx="5">
                    <c:v>FY30</c:v>
                  </c:pt>
                  <c:pt idx="6">
                    <c:v>FY31</c:v>
                  </c:pt>
                </c:lvl>
              </c:multiLvlStrCache>
            </c:multiLvlStrRef>
          </c:cat>
          <c:val>
            <c:numRef>
              <c:f>Sheet1!$B$2:$B$8</c:f>
              <c:numCache>
                <c:formatCode>General</c:formatCode>
                <c:ptCount val="7"/>
                <c:pt idx="0">
                  <c:v>2350</c:v>
                </c:pt>
                <c:pt idx="1">
                  <c:v>2400</c:v>
                </c:pt>
                <c:pt idx="2">
                  <c:v>2400</c:v>
                </c:pt>
                <c:pt idx="3">
                  <c:v>2350</c:v>
                </c:pt>
                <c:pt idx="4">
                  <c:v>2250</c:v>
                </c:pt>
                <c:pt idx="5">
                  <c:v>2150</c:v>
                </c:pt>
                <c:pt idx="6">
                  <c:v>2085</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0 visits</c:v>
                </c:pt>
              </c:strCache>
            </c:strRef>
          </c:tx>
          <c:spPr>
            <a:solidFill>
              <a:srgbClr val="BFE0EA"/>
            </a:solidFill>
            <a:effectLst/>
          </c:spPr>
          <c:invertIfNegative val="0"/>
          <c:dLbls>
            <c:numFmt formatCode="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2024 actual</c:v>
                  </c:pt>
                  <c:pt idx="1">
                    <c:v>2028 OEM projection</c:v>
                  </c:pt>
                </c:lvl>
              </c:multiLvlStrCache>
            </c:multiLvlStrRef>
          </c:cat>
          <c:val>
            <c:numRef>
              <c:f>Sheet1!$B$2:$B$3</c:f>
              <c:numCache>
                <c:formatCode>General</c:formatCode>
                <c:ptCount val="2"/>
                <c:pt idx="0">
                  <c:v>40</c:v>
                </c:pt>
                <c:pt idx="1">
                  <c:v>26</c:v>
                </c:pt>
              </c:numCache>
            </c:numRef>
          </c:val>
        </c:ser>
        <c:ser>
          <c:idx val="1"/>
          <c:order val="1"/>
          <c:tx>
            <c:strRef>
              <c:f>Sheet1!$C$1</c:f>
              <c:strCache>
                <c:ptCount val="1"/>
                <c:pt idx="0">
                  <c:v>1 visit</c:v>
                </c:pt>
              </c:strCache>
            </c:strRef>
          </c:tx>
          <c:spPr>
            <a:solidFill>
              <a:srgbClr val="2E8FAE"/>
            </a:solidFill>
            <a:effectLst/>
          </c:spPr>
          <c:invertIfNegative val="0"/>
          <c:dLbls>
            <c:numFmt formatCode="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2024 actual</c:v>
                  </c:pt>
                  <c:pt idx="1">
                    <c:v>2028 OEM projection</c:v>
                  </c:pt>
                </c:lvl>
              </c:multiLvlStrCache>
            </c:multiLvlStrRef>
          </c:cat>
          <c:val>
            <c:numRef>
              <c:f>Sheet1!$C$2:$C$3</c:f>
              <c:numCache>
                <c:formatCode>General</c:formatCode>
                <c:ptCount val="2"/>
                <c:pt idx="0">
                  <c:v>29</c:v>
                </c:pt>
                <c:pt idx="1">
                  <c:v>31</c:v>
                </c:pt>
              </c:numCache>
            </c:numRef>
          </c:val>
        </c:ser>
        <c:ser>
          <c:idx val="2"/>
          <c:order val="2"/>
          <c:tx>
            <c:strRef>
              <c:f>Sheet1!$D$1</c:f>
              <c:strCache>
                <c:ptCount val="1"/>
                <c:pt idx="0">
                  <c:v>2+ visits</c:v>
                </c:pt>
              </c:strCache>
            </c:strRef>
          </c:tx>
          <c:spPr>
            <a:solidFill>
              <a:srgbClr val="0B1F44"/>
            </a:solidFill>
            <a:effectLst/>
          </c:spPr>
          <c:invertIfNegative val="0"/>
          <c:dLbls>
            <c:numFmt formatCode="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2024 actual</c:v>
                  </c:pt>
                  <c:pt idx="1">
                    <c:v>2028 OEM projection</c:v>
                  </c:pt>
                </c:lvl>
              </c:multiLvlStrCache>
            </c:multiLvlStrRef>
          </c:cat>
          <c:val>
            <c:numRef>
              <c:f>Sheet1!$D$2:$D$3</c:f>
              <c:numCache>
                <c:formatCode>General</c:formatCode>
                <c:ptCount val="2"/>
                <c:pt idx="0">
                  <c:v>31</c:v>
                </c:pt>
                <c:pt idx="1">
                  <c:v>43</c:v>
                </c:pt>
              </c:numCache>
            </c:numRef>
          </c:val>
        </c:ser>
        <c:dLbls>
          <c:numFmt formatCode="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0&quot;%&quot;" sourceLinked="0"/>
        <c:majorTickMark val="out"/>
        <c:minorTickMark val="none"/>
        <c:tickLblPos val="low"/>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0B1F44"/>
            </a:solidFill>
            <a:effectLst/>
          </c:spPr>
          <c:invertIfNegative val="0"/>
          <c:dLbls>
            <c:numFmt formatCode="0.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0B1F44"/>
              </a:solidFill>
              <a:effectLst/>
            </c:spPr>
          </c:dPt>
          <c:dPt>
            <c:idx val="1"/>
            <c:invertIfNegative val="0"/>
            <c:bubble3D val="0"/>
            <c:spPr>
              <a:solidFill>
                <a:srgbClr val="0B1F44"/>
              </a:solidFill>
              <a:effectLst/>
            </c:spPr>
          </c:dPt>
          <c:dPt>
            <c:idx val="2"/>
            <c:invertIfNegative val="0"/>
            <c:bubble3D val="0"/>
            <c:spPr>
              <a:solidFill>
                <a:srgbClr val="0B1F44"/>
              </a:solidFill>
              <a:effectLst/>
            </c:spPr>
          </c:dPt>
          <c:dPt>
            <c:idx val="3"/>
            <c:invertIfNegative val="0"/>
            <c:bubble3D val="0"/>
            <c:spPr>
              <a:solidFill>
                <a:srgbClr val="0B1F44"/>
              </a:solidFill>
              <a:effectLst/>
            </c:spPr>
          </c:dPt>
          <c:dPt>
            <c:idx val="4"/>
            <c:invertIfNegative val="0"/>
            <c:bubble3D val="0"/>
            <c:spPr>
              <a:solidFill>
                <a:srgbClr val="E8702A"/>
              </a:solidFill>
              <a:effectLst/>
            </c:spPr>
          </c:dPt>
          <c:dPt>
            <c:idx val="5"/>
            <c:invertIfNegative val="0"/>
            <c:bubble3D val="0"/>
            <c:spPr>
              <a:solidFill>
                <a:srgbClr val="E8702A"/>
              </a:solidFill>
              <a:effectLst/>
            </c:spPr>
          </c:dPt>
          <c:dPt>
            <c:idx val="6"/>
            <c:invertIfNegative val="0"/>
            <c:bubble3D val="0"/>
            <c:spPr>
              <a:solidFill>
                <a:srgbClr val="2E8FAE"/>
              </a:solidFill>
              <a:effectLst/>
            </c:spPr>
          </c:dPt>
          <c:dPt>
            <c:idx val="7"/>
            <c:invertIfNegative val="0"/>
            <c:bubble3D val="0"/>
            <c:spPr>
              <a:solidFill>
                <a:srgbClr val="2E8FAE"/>
              </a:solidFill>
              <a:effectLst/>
            </c:spPr>
          </c:dPt>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0.301</c:v>
                </c:pt>
                <c:pt idx="7">
                  <c:v>0.299</c:v>
                </c:pt>
              </c:numCache>
            </c:numRef>
          </c:val>
        </c:ser>
        <c:dLbls>
          <c:numFmt formatCode="0.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0.38"/>
          <c:min val="0.2"/>
        </c:scaling>
        <c:delete val="1"/>
        <c:axPos val="l"/>
        <c:numFmt formatCode="0.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Price</c:v>
                </c:pt>
              </c:strCache>
            </c:strRef>
          </c:tx>
          <c:spPr>
            <a:solidFill>
              <a:srgbClr val="8C8C8C"/>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5B7DB1"/>
              </a:solidFill>
              <a:effectLst/>
            </c:spPr>
          </c:dPt>
          <c:dPt>
            <c:idx val="2"/>
            <c:invertIfNegative val="0"/>
            <c:bubble3D val="0"/>
            <c:spPr>
              <a:solidFill>
                <a:srgbClr val="0B1F44"/>
              </a:solidFill>
              <a:effectLst/>
            </c:spPr>
          </c:dPt>
          <c:dPt>
            <c:idx val="3"/>
            <c:invertIfNegative val="0"/>
            <c:bubble3D val="0"/>
            <c:spPr>
              <a:solidFill>
                <a:srgbClr val="2E8FAE"/>
              </a:solidFill>
              <a:effectLst/>
            </c:spPr>
          </c:dPt>
          <c:cat>
            <c:multiLvlStrRef>
              <c:f>Sheet1!$A$2:$A$5</c:f>
              <c:multiLvlStrCache>
                <c:ptCount val="4"/>
                <c:lvl>
                  <c:pt idx="0">
                    <c:v>Today</c:v>
                  </c:pt>
                  <c:pt idx="1">
                    <c:v>Bear</c:v>
                  </c:pt>
                  <c:pt idx="2">
                    <c:v>Base</c:v>
                  </c:pt>
                  <c:pt idx="3">
                    <c:v>Bull</c:v>
                  </c:pt>
                </c:lvl>
              </c:multiLvlStrCache>
            </c:multiLvlStrRef>
          </c:cat>
          <c:val>
            <c:numRef>
              <c:f>Sheet1!$B$2:$B$5</c:f>
              <c:numCache>
                <c:formatCode>General</c:formatCode>
                <c:ptCount val="4"/>
                <c:pt idx="0">
                  <c:v>167.03</c:v>
                </c:pt>
                <c:pt idx="1">
                  <c:v>173</c:v>
                </c:pt>
                <c:pt idx="2">
                  <c:v>276.7</c:v>
                </c:pt>
                <c:pt idx="3">
                  <c:v>308.4</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in val="0"/>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Inv</c:v>
                </c:pt>
              </c:strCache>
            </c:strRef>
          </c:tx>
          <c:spPr>
            <a:solidFill>
              <a:schemeClr val="accent1"/>
            </a:solidFill>
            <a:ln w="9525" cap="flat">
              <a:solidFill>
                <a:srgbClr val="F9F9F9"/>
              </a:solidFill>
              <a:prstDash val="solid"/>
              <a:round/>
            </a:ln>
            <a:effectLst/>
          </c:spPr>
          <c:dPt>
            <c:idx val="0"/>
            <c:bubble3D val="0"/>
            <c:spPr>
              <a:solidFill>
                <a:srgbClr val="E8702A"/>
              </a:solidFill>
              <a:effectLst/>
            </c:spPr>
          </c:dPt>
          <c:dPt>
            <c:idx val="1"/>
            <c:bubble3D val="0"/>
            <c:spPr>
              <a:solidFill>
                <a:srgbClr val="D9D9D9"/>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From leasing (Q1'26 transfer)</c:v>
                </c:pt>
                <c:pt idx="1">
                  <c:v>Purchased feedstock &amp; WIP</c:v>
                </c:pt>
              </c:strCache>
            </c:strRef>
          </c:cat>
          <c:val>
            <c:numRef>
              <c:f>Sheet1!$B$2:$B$3</c:f>
              <c:numCache>
                <c:ptCount val="2"/>
                <c:pt idx="0">
                  <c:v>6.4</c:v>
                </c:pt>
                <c:pt idx="1">
                  <c:v>93.6</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AP inventory</c:v>
                </c:pt>
              </c:strCache>
            </c:strRef>
          </c:tx>
          <c:spPr>
            <a:solidFill>
              <a:srgbClr val="0B1F44"/>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FY25A</c:v>
                  </c:pt>
                  <c:pt idx="1">
                    <c:v>FY26E</c:v>
                  </c:pt>
                  <c:pt idx="2">
                    <c:v>FY27E</c:v>
                  </c:pt>
                  <c:pt idx="3">
                    <c:v>FY28E</c:v>
                  </c:pt>
                  <c:pt idx="4">
                    <c:v>FY29E</c:v>
                  </c:pt>
                </c:lvl>
              </c:multiLvlStrCache>
            </c:multiLvlStrRef>
          </c:cat>
          <c:val>
            <c:numRef>
              <c:f>Sheet1!$B$2:$B$6</c:f>
              <c:numCache>
                <c:formatCode>General</c:formatCode>
                <c:ptCount val="5"/>
                <c:pt idx="0">
                  <c:v>1194</c:v>
                </c:pt>
                <c:pt idx="1">
                  <c:v>1459</c:v>
                </c:pt>
                <c:pt idx="2">
                  <c:v>1808</c:v>
                </c:pt>
                <c:pt idx="3">
                  <c:v>1965</c:v>
                </c:pt>
                <c:pt idx="4">
                  <c:v>2133</c:v>
                </c:pt>
              </c:numCache>
            </c:numRef>
          </c:val>
        </c:ser>
        <c:ser>
          <c:idx val="1"/>
          <c:order val="1"/>
          <c:tx>
            <c:strRef>
              <c:f>Sheet1!$C$1</c:f>
              <c:strCache>
                <c:ptCount val="1"/>
                <c:pt idx="0">
                  <c:v>Leasing equipment &amp; PP&amp;E</c:v>
                </c:pt>
              </c:strCache>
            </c:strRef>
          </c:tx>
          <c:spPr>
            <a:solidFill>
              <a:srgbClr val="2E8FAE"/>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FY25A</c:v>
                  </c:pt>
                  <c:pt idx="1">
                    <c:v>FY26E</c:v>
                  </c:pt>
                  <c:pt idx="2">
                    <c:v>FY27E</c:v>
                  </c:pt>
                  <c:pt idx="3">
                    <c:v>FY28E</c:v>
                  </c:pt>
                  <c:pt idx="4">
                    <c:v>FY29E</c:v>
                  </c:pt>
                </c:lvl>
              </c:multiLvlStrCache>
            </c:multiLvlStrRef>
          </c:cat>
          <c:val>
            <c:numRef>
              <c:f>Sheet1!$C$2:$C$6</c:f>
              <c:numCache>
                <c:formatCode>General</c:formatCode>
                <c:ptCount val="5"/>
                <c:pt idx="0">
                  <c:v>1666</c:v>
                </c:pt>
                <c:pt idx="1">
                  <c:v>1289</c:v>
                </c:pt>
                <c:pt idx="2">
                  <c:v>1005</c:v>
                </c:pt>
                <c:pt idx="3">
                  <c:v>972</c:v>
                </c:pt>
                <c:pt idx="4">
                  <c:v>966</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2E8FAE"/>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2E8FAE"/>
              </a:solidFill>
              <a:effectLst/>
            </c:spPr>
          </c:dPt>
          <c:dPt>
            <c:idx val="1"/>
            <c:invertIfNegative val="0"/>
            <c:bubble3D val="0"/>
            <c:spPr>
              <a:solidFill>
                <a:srgbClr val="E8702A"/>
              </a:solidFill>
              <a:effectLst/>
            </c:spPr>
          </c:dPt>
          <c:dPt>
            <c:idx val="2"/>
            <c:invertIfNegative val="0"/>
            <c:bubble3D val="0"/>
            <c:spPr>
              <a:solidFill>
                <a:srgbClr val="0B1F44"/>
              </a:solidFill>
              <a:effectLst/>
            </c:spPr>
          </c:dPt>
          <c:cat>
            <c:multiLvlStrRef>
              <c:f>Sheet1!$A$2:$A$4</c:f>
              <c:multiLvlStrCache>
                <c:ptCount val="3"/>
                <c:lvl>
                  <c:pt idx="0">
                    <c:v>6,000-cycle
(light)</c:v>
                  </c:pt>
                  <c:pt idx="1">
                    <c:v>Blend today</c:v>
                  </c:pt>
                  <c:pt idx="2">
                    <c:v>10,000-cycle
(heavy)</c:v>
                  </c:pt>
                </c:lvl>
              </c:multiLvlStrCache>
            </c:multiLvlStrRef>
          </c:cat>
          <c:val>
            <c:numRef>
              <c:f>Sheet1!$B$2:$B$4</c:f>
              <c:numCache>
                <c:formatCode>General</c:formatCode>
                <c:ptCount val="3"/>
                <c:pt idx="0">
                  <c:v>0.4</c:v>
                </c:pt>
                <c:pt idx="1">
                  <c:v>0.3</c:v>
                </c:pt>
                <c:pt idx="2">
                  <c:v>0.25</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0.48"/>
          <c:min val="0"/>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Repeat-visit share</c:v>
                </c:pt>
              </c:strCache>
            </c:strRef>
          </c:tx>
          <c:spPr>
            <a:solidFill>
              <a:srgbClr val="8C8C8C"/>
            </a:solidFill>
            <a:ln w="28575" cap="flat">
              <a:solidFill>
                <a:srgbClr val="8C8C8C"/>
              </a:solidFill>
              <a:prstDash val="solid"/>
              <a:round/>
            </a:ln>
            <a:effectLst/>
          </c:spPr>
          <c:invertIfNegative val="0"/>
          <c:dLbls>
            <c:numFmt formatCode="0%" sourceLinked="0"/>
            <c:txPr>
              <a:bodyPr/>
              <a:lstStyle/>
              <a:p>
                <a:pPr>
                  <a:defRPr b="0" i="0" strike="noStrike" sz="850" u="none">
                    <a:solidFill>
                      <a:srgbClr val="262626"/>
                    </a:solidFill>
                    <a:latin typeface="Calibri"/>
                  </a:defRPr>
                </a:pPr>
              </a:p>
            </c:txPr>
            <c:dLblPos val="t"/>
            <c:showLegendKey val="0"/>
            <c:showVal val="1"/>
            <c:showCatName val="0"/>
            <c:showSerName val="0"/>
            <c:showPercent val="0"/>
            <c:showBubbleSize val="0"/>
            <c:showLeaderLines val="0"/>
          </c:dLbls>
          <c:marker>
            <c:symbol val="circle"/>
            <c:size val="6"/>
            <c:spPr>
              <a:solidFill>
                <a:srgbClr val="8C8C8C"/>
              </a:solidFill>
              <a:ln w="9525" cap="flat">
                <a:solidFill>
                  <a:srgbClr val="8C8C8C"/>
                </a:solidFill>
                <a:prstDash val="solid"/>
                <a:round/>
              </a:ln>
              <a:effectLst/>
            </c:spPr>
          </c:marker>
          <c:cat>
            <c:multiLvlStrRef>
              <c:f>Sheet1!$A$2:$A$7</c:f>
              <c:multiLvlStrCache>
                <c:ptCount val="6"/>
                <c:lvl>
                  <c:pt idx="0">
                    <c:v>FY25</c:v>
                  </c:pt>
                  <c:pt idx="1">
                    <c:v>FY26</c:v>
                  </c:pt>
                  <c:pt idx="2">
                    <c:v>FY27</c:v>
                  </c:pt>
                  <c:pt idx="3">
                    <c:v>FY28</c:v>
                  </c:pt>
                  <c:pt idx="4">
                    <c:v>FY29</c:v>
                  </c:pt>
                  <c:pt idx="5">
                    <c:v>FY30</c:v>
                  </c:pt>
                </c:lvl>
              </c:multiLvlStrCache>
            </c:multiLvlStrRef>
          </c:cat>
          <c:val>
            <c:numRef>
              <c:f>Sheet1!$B$2:$B$7</c:f>
              <c:numCache>
                <c:formatCode>General</c:formatCode>
                <c:ptCount val="6"/>
                <c:pt idx="0">
                  <c:v>0.585</c:v>
                </c:pt>
                <c:pt idx="1">
                  <c:v>0.62</c:v>
                </c:pt>
                <c:pt idx="2">
                  <c:v>0.648</c:v>
                </c:pt>
                <c:pt idx="3">
                  <c:v>0.675</c:v>
                </c:pt>
                <c:pt idx="4">
                  <c:v>0.699</c:v>
                </c:pt>
                <c:pt idx="5">
                  <c:v>0.722</c:v>
                </c:pt>
              </c:numCache>
            </c:numRef>
          </c:val>
          <c:smooth val="0"/>
        </c:ser>
        <c:ser>
          <c:idx val="1"/>
          <c:order val="1"/>
          <c:tx>
            <c:strRef>
              <c:f>Sheet1!$C$1</c:f>
              <c:strCache>
                <c:ptCount val="1"/>
                <c:pt idx="0">
                  <c:v>Broader-work share</c:v>
                </c:pt>
              </c:strCache>
            </c:strRef>
          </c:tx>
          <c:spPr>
            <a:solidFill>
              <a:srgbClr val="0B1F44"/>
            </a:solidFill>
            <a:ln w="28575" cap="flat">
              <a:solidFill>
                <a:srgbClr val="0B1F44"/>
              </a:solidFill>
              <a:prstDash val="solid"/>
              <a:round/>
            </a:ln>
            <a:effectLst/>
          </c:spPr>
          <c:invertIfNegative val="0"/>
          <c:dLbls>
            <c:numFmt formatCode="0%" sourceLinked="0"/>
            <c:txPr>
              <a:bodyPr/>
              <a:lstStyle/>
              <a:p>
                <a:pPr>
                  <a:defRPr b="0" i="0" strike="noStrike" sz="850" u="none">
                    <a:solidFill>
                      <a:srgbClr val="262626"/>
                    </a:solidFill>
                    <a:latin typeface="Calibri"/>
                  </a:defRPr>
                </a:pPr>
              </a:p>
            </c:txPr>
            <c:dLblPos val="t"/>
            <c:showLegendKey val="0"/>
            <c:showVal val="1"/>
            <c:showCatName val="0"/>
            <c:showSerName val="0"/>
            <c:showPercent val="0"/>
            <c:showBubbleSize val="0"/>
            <c:showLeaderLines val="0"/>
          </c:dLbls>
          <c:marker>
            <c:symbol val="circle"/>
            <c:size val="6"/>
            <c:spPr>
              <a:solidFill>
                <a:srgbClr val="0B1F44"/>
              </a:solidFill>
              <a:ln w="9525" cap="flat">
                <a:solidFill>
                  <a:srgbClr val="0B1F44"/>
                </a:solidFill>
                <a:prstDash val="solid"/>
                <a:round/>
              </a:ln>
              <a:effectLst/>
            </c:spPr>
          </c:marker>
          <c:cat>
            <c:multiLvlStrRef>
              <c:f>Sheet1!$A$2:$A$7</c:f>
              <c:multiLvlStrCache>
                <c:ptCount val="6"/>
                <c:lvl>
                  <c:pt idx="0">
                    <c:v>FY25</c:v>
                  </c:pt>
                  <c:pt idx="1">
                    <c:v>FY26</c:v>
                  </c:pt>
                  <c:pt idx="2">
                    <c:v>FY27</c:v>
                  </c:pt>
                  <c:pt idx="3">
                    <c:v>FY28</c:v>
                  </c:pt>
                  <c:pt idx="4">
                    <c:v>FY29</c:v>
                  </c:pt>
                  <c:pt idx="5">
                    <c:v>FY30</c:v>
                  </c:pt>
                </c:lvl>
              </c:multiLvlStrCache>
            </c:multiLvlStrRef>
          </c:cat>
          <c:val>
            <c:numRef>
              <c:f>Sheet1!$C$2:$C$7</c:f>
              <c:numCache>
                <c:formatCode>General</c:formatCode>
                <c:ptCount val="6"/>
                <c:pt idx="0">
                  <c:v>0.482</c:v>
                </c:pt>
                <c:pt idx="1">
                  <c:v>0.492</c:v>
                </c:pt>
                <c:pt idx="2">
                  <c:v>0.5</c:v>
                </c:pt>
                <c:pt idx="3">
                  <c:v>0.507</c:v>
                </c:pt>
                <c:pt idx="4">
                  <c:v>0.514</c:v>
                </c:pt>
                <c:pt idx="5">
                  <c:v>0.519</c:v>
                </c:pt>
              </c:numCache>
            </c:numRef>
          </c:val>
          <c:smooth val="0"/>
        </c:ser>
        <c:dLbls>
          <c:numFmt formatCode="0%" sourceLinked="0"/>
          <c:txPr>
            <a:bodyPr/>
            <a:lstStyle/>
            <a:p>
              <a:pPr>
                <a:defRPr b="0" i="0" strike="noStrike" sz="850" u="none">
                  <a:solidFill>
                    <a:srgbClr val="262626"/>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0.8"/>
          <c:min val="0.4"/>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B1F44"/>
            </a:solidFill>
            <a:effectLst/>
          </c:spPr>
          <c:invertIfNegative val="0"/>
          <c:dLbls>
            <c:numFmt formatCode="#,##0"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FY25</c:v>
                  </c:pt>
                  <c:pt idx="1">
                    <c:v>FY26E</c:v>
                  </c:pt>
                  <c:pt idx="2">
                    <c:v>FY27E</c:v>
                  </c:pt>
                  <c:pt idx="3">
                    <c:v>FY28E</c:v>
                  </c:pt>
                  <c:pt idx="4">
                    <c:v>FY29E</c:v>
                  </c:pt>
                  <c:pt idx="5">
                    <c:v>FY30E</c:v>
                  </c:pt>
                </c:lvl>
              </c:multiLvlStrCache>
            </c:multiLvlStrRef>
          </c:cat>
          <c:val>
            <c:numRef>
              <c:f>Sheet1!$B$2:$B$7</c:f>
              <c:numCache>
                <c:formatCode>General</c:formatCode>
                <c:ptCount val="6"/>
                <c:pt idx="0">
                  <c:v>675</c:v>
                </c:pt>
                <c:pt idx="1">
                  <c:v>865</c:v>
                </c:pt>
                <c:pt idx="2">
                  <c:v>1205</c:v>
                </c:pt>
                <c:pt idx="3">
                  <c:v>1321</c:v>
                </c:pt>
                <c:pt idx="4">
                  <c:v>1298</c:v>
                </c:pt>
                <c:pt idx="5">
                  <c:v>1272</c:v>
                </c:pt>
              </c:numCache>
            </c:numRef>
          </c:val>
        </c:ser>
        <c:ser>
          <c:idx val="1"/>
          <c:order val="1"/>
          <c:tx>
            <c:strRef>
              <c:f>Sheet1!$C$1</c:f>
              <c:strCache>
                <c:ptCount val="1"/>
                <c:pt idx="0">
                  <c:v>SCI captive</c:v>
                </c:pt>
              </c:strCache>
            </c:strRef>
          </c:tx>
          <c:spPr>
            <a:solidFill>
              <a:srgbClr val="E8702A"/>
            </a:solidFill>
            <a:effectLst/>
          </c:spPr>
          <c:invertIfNegative val="0"/>
          <c:dLbls>
            <c:numFmt formatCode="#,##0"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FY25</c:v>
                  </c:pt>
                  <c:pt idx="1">
                    <c:v>FY26E</c:v>
                  </c:pt>
                  <c:pt idx="2">
                    <c:v>FY27E</c:v>
                  </c:pt>
                  <c:pt idx="3">
                    <c:v>FY28E</c:v>
                  </c:pt>
                  <c:pt idx="4">
                    <c:v>FY29E</c:v>
                  </c:pt>
                  <c:pt idx="5">
                    <c:v>FY30E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 (0.9–9% of all modules)</c:v>
                </c:pt>
              </c:strCache>
            </c:strRef>
          </c:tx>
          <c:spPr>
            <a:solidFill>
              <a:srgbClr val="8C8C8C"/>
            </a:solidFill>
            <a:effectLst/>
          </c:spPr>
          <c:invertIfNegative val="0"/>
          <c:dLbls>
            <c:numFmt formatCode="#,##0" sourceLinked="0"/>
            <c:txPr>
              <a:bodyPr/>
              <a:lstStyle/>
              <a:p>
                <a:pPr>
                  <a:defRPr b="0" i="0" strike="noStrike" sz="800" u="none">
                    <a:solidFill>
                      <a:srgbClr val="26262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ser>
          <c:idx val="1"/>
          <c:order val="1"/>
          <c:tx>
            <c:strRef>
              <c:f>Sheet1!$C$1</c:f>
              <c:strCache>
                <c:ptCount val="1"/>
                <c:pt idx="0">
                  <c:v>50% of SCI modules on PMA</c:v>
                </c:pt>
              </c:strCache>
            </c:strRef>
          </c:tx>
          <c:spPr>
            <a:solidFill>
              <a:srgbClr val="E8702A"/>
            </a:solidFill>
            <a:effectLst/>
          </c:spPr>
          <c:invertIfNegative val="0"/>
          <c:dLbls>
            <c:numFmt formatCode="#,##0" sourceLinked="0"/>
            <c:txPr>
              <a:bodyPr/>
              <a:lstStyle/>
              <a:p>
                <a:pPr>
                  <a:defRPr b="0" i="0" strike="noStrike" sz="800" u="none">
                    <a:solidFill>
                      <a:srgbClr val="26262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Sheet1!$C$2:$C$6</c:f>
              <c:numCache>
                <c:formatCode>General</c:formatCode>
                <c:ptCount val="5"/>
                <c:pt idx="0">
                  <c:v>96</c:v>
                </c:pt>
                <c:pt idx="1">
                  <c:v>132</c:v>
                </c:pt>
                <c:pt idx="2">
                  <c:v>156</c:v>
                </c:pt>
                <c:pt idx="3">
                  <c:v>168</c:v>
                </c:pt>
                <c:pt idx="4">
                  <c:v>180</c:v>
                </c:pt>
              </c:numCache>
            </c:numRef>
          </c:val>
        </c:ser>
        <c:dLbls>
          <c:numFmt formatCode="#,##0" sourceLinked="0"/>
          <c:txPr>
            <a:bodyPr/>
            <a:lstStyle/>
            <a:p>
              <a:pPr>
                <a:defRPr b="0" i="0" strike="noStrike" sz="800" u="none">
                  <a:solidFill>
                    <a:srgbClr val="262626"/>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c:v>
                </c:pt>
              </c:strCache>
            </c:strRef>
          </c:tx>
          <c:spPr>
            <a:solidFill>
              <a:srgbClr val="0B1F44"/>
            </a:solidFill>
            <a:effectLst/>
          </c:spPr>
          <c:invertIfNegative val="0"/>
          <c:dLbls>
            <c:numFmt formatCode="0.0%" sourceLinked="0"/>
            <c:txPr>
              <a:bodyPr/>
              <a:lstStyle/>
              <a:p>
                <a:pPr>
                  <a:defRPr b="0" i="0" strike="noStrike" sz="80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0B1F44"/>
              </a:solidFill>
              <a:effectLst/>
            </c:spPr>
          </c:dPt>
          <c:dPt>
            <c:idx val="1"/>
            <c:invertIfNegative val="0"/>
            <c:bubble3D val="0"/>
            <c:spPr>
              <a:solidFill>
                <a:srgbClr val="E8702A"/>
              </a:solidFill>
              <a:effectLst/>
            </c:spPr>
          </c:dPt>
          <c:dPt>
            <c:idx val="2"/>
            <c:invertIfNegative val="0"/>
            <c:bubble3D val="0"/>
            <c:spPr>
              <a:solidFill>
                <a:srgbClr val="E8702A"/>
              </a:solidFill>
              <a:effectLst/>
            </c:spPr>
          </c:dPt>
          <c:dPt>
            <c:idx val="3"/>
            <c:invertIfNegative val="0"/>
            <c:bubble3D val="0"/>
            <c:spPr>
              <a:solidFill>
                <a:srgbClr val="2E8FAE"/>
              </a:solidFill>
              <a:effectLst/>
            </c:spPr>
          </c:dPt>
          <c:dPt>
            <c:idx val="4"/>
            <c:invertIfNegative val="0"/>
            <c:bubble3D val="0"/>
            <c:spPr>
              <a:solidFill>
                <a:srgbClr val="2E8FAE"/>
              </a:solidFill>
              <a:effectLst/>
            </c:spPr>
          </c:dPt>
          <c:dPt>
            <c:idx val="5"/>
            <c:invertIfNegative val="0"/>
            <c:bubble3D val="0"/>
            <c:spPr>
              <a:solidFill>
                <a:srgbClr val="2E8FAE"/>
              </a:solidFill>
              <a:effectLst/>
            </c:spPr>
          </c:dPt>
          <c:dPt>
            <c:idx val="6"/>
            <c:invertIfNegative val="0"/>
            <c:bubble3D val="0"/>
            <c:spPr>
              <a:solidFill>
                <a:srgbClr val="2E8FAE"/>
              </a:solidFill>
              <a:effectLst/>
            </c:spPr>
          </c:dPt>
          <c:dPt>
            <c:idx val="7"/>
            <c:invertIfNegative val="0"/>
            <c:bubble3D val="0"/>
            <c:spPr>
              <a:solidFill>
                <a:srgbClr val="2E8FAE"/>
              </a:solidFill>
              <a:effectLst/>
            </c:spPr>
          </c:dPt>
          <c:dPt>
            <c:idx val="8"/>
            <c:invertIfNegative val="0"/>
            <c:bubble3D val="0"/>
            <c:spPr>
              <a:solidFill>
                <a:srgbClr val="2E8FAE"/>
              </a:solidFill>
              <a:effectLst/>
            </c:spPr>
          </c:dPt>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0.301</c:v>
                </c:pt>
                <c:pt idx="4">
                  <c:v>0.299</c:v>
                </c:pt>
                <c:pt idx="5">
                  <c:v>0.307</c:v>
                </c:pt>
                <c:pt idx="6">
                  <c:v>0.314</c:v>
                </c:pt>
                <c:pt idx="7">
                  <c:v>0.32</c:v>
                </c:pt>
                <c:pt idx="8">
                  <c:v>0.325</c:v>
                </c:pt>
              </c:numCache>
            </c:numRef>
          </c:val>
        </c:ser>
        <c:dLbls>
          <c:numFmt formatCode="0.0%" sourceLinked="0"/>
          <c:txPr>
            <a:bodyPr/>
            <a:lstStyle/>
            <a:p>
              <a:pPr>
                <a:defRPr b="0" i="0" strike="noStrike" sz="80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0.37"/>
          <c:min val="0.2"/>
        </c:scaling>
        <c:delete val="1"/>
        <c:axPos val="l"/>
        <c:numFmt formatCode="0.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FY27E</c:v>
                  </c:pt>
                  <c:pt idx="1">
                    <c:v>Price pass-through</c:v>
                  </c:pt>
                  <c:pt idx="2">
                    <c:v>PMA</c:v>
                  </c:pt>
                  <c:pt idx="3">
                    <c:v>FY31E</c:v>
                  </c:pt>
                </c:lvl>
              </c:multiLvlStrCache>
            </c:multiLvlStrRef>
          </c:cat>
          <c:val>
            <c:numRef>
              <c:f>Sheet1!$B$2:$B$5</c:f>
              <c:numCache>
                <c:formatCode>General</c:formatCode>
                <c:ptCount val="4"/>
                <c:pt idx="0">
                  <c:v>0</c:v>
                </c:pt>
                <c:pt idx="1">
                  <c:v>29.9</c:v>
                </c:pt>
                <c:pt idx="2">
                  <c:v>31.5</c:v>
                </c:pt>
                <c:pt idx="3">
                  <c:v>0</c:v>
                </c:pt>
              </c:numCache>
            </c:numRef>
          </c:val>
        </c:ser>
        <c:ser>
          <c:idx val="1"/>
          <c:order val="1"/>
          <c:tx>
            <c:strRef>
              <c:f>Sheet1!$C$1</c:f>
              <c:strCache>
                <c:ptCount val="1"/>
                <c:pt idx="0">
                  <c:v>value</c:v>
                </c:pt>
              </c:strCache>
            </c:strRef>
          </c:tx>
          <c:spPr>
            <a:solidFill>
              <a:srgbClr val="0B1F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FY27E</c:v>
                  </c:pt>
                  <c:pt idx="1">
                    <c:v>Price pass-through</c:v>
                  </c:pt>
                  <c:pt idx="2">
                    <c:v>PMA</c:v>
                  </c:pt>
                  <c:pt idx="3">
                    <c:v>FY31E</c:v>
                  </c:pt>
                </c:lvl>
              </c:multiLvlStrCache>
            </c:multiLvlStrRef>
          </c:cat>
          <c:val>
            <c:numRef>
              <c:f>Sheet1!$C$2:$C$5</c:f>
              <c:numCache>
                <c:formatCode>General</c:formatCode>
                <c:ptCount val="4"/>
                <c:pt idx="0">
                  <c:v>29.9</c:v>
                </c:pt>
                <c:pt idx="1">
                  <c:v>1.6</c:v>
                </c:pt>
                <c:pt idx="2">
                  <c:v>1</c:v>
                </c:pt>
                <c:pt idx="3">
                  <c:v>32.5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33.5"/>
          <c:min val="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CFM56</c:v>
                </c:pt>
              </c:strCache>
            </c:strRef>
          </c:tx>
          <c:spPr>
            <a:solidFill>
              <a:srgbClr val="2E8FAE"/>
            </a:solidFill>
            <a:effectLst/>
          </c:spPr>
          <c:invertIfNegative val="0"/>
          <c:dLbls>
            <c:numFmt formatCode="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68</c:v>
                </c:pt>
                <c:pt idx="1">
                  <c:v>49</c:v>
                </c:pt>
              </c:numCache>
            </c:numRef>
          </c:val>
        </c:ser>
        <c:ser>
          <c:idx val="1"/>
          <c:order val="1"/>
          <c:tx>
            <c:strRef>
              <c:f>Sheet1!$C$1</c:f>
              <c:strCache>
                <c:ptCount val="1"/>
                <c:pt idx="0">
                  <c:v>LEAP</c:v>
                </c:pt>
              </c:strCache>
            </c:strRef>
          </c:tx>
          <c:spPr>
            <a:solidFill>
              <a:srgbClr val="0B1F44"/>
            </a:solidFill>
            <a:effectLst/>
          </c:spPr>
          <c:invertIfNegative val="0"/>
          <c:dLbls>
            <c:numFmt formatCode="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32</c:v>
                </c:pt>
                <c:pt idx="1">
                  <c:v>51</c:v>
                </c:pt>
              </c:numCache>
            </c:numRef>
          </c:val>
        </c:ser>
        <c:dLbls>
          <c:numFmt formatCode="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0&quot;%&quot;" sourceLinked="0"/>
        <c:majorTickMark val="out"/>
        <c:minorTickMark val="none"/>
        <c:tickLblPos val="low"/>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Module demand</c:v>
                </c:pt>
              </c:strCache>
            </c:strRef>
          </c:tx>
          <c:spPr>
            <a:solidFill>
              <a:srgbClr val="0B1F44"/>
            </a:solidFill>
            <a:effectLst/>
          </c:spPr>
          <c:invertIfNegative val="0"/>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FY25</c:v>
                  </c:pt>
                  <c:pt idx="1">
                    <c:v>FY26</c:v>
                  </c:pt>
                  <c:pt idx="2">
                    <c:v>FY27</c:v>
                  </c:pt>
                  <c:pt idx="3">
                    <c:v>FY28</c:v>
                  </c:pt>
                  <c:pt idx="4">
                    <c:v>FY29</c:v>
                  </c:pt>
                  <c:pt idx="5">
                    <c:v>FY30</c:v>
                  </c:pt>
                  <c:pt idx="6">
                    <c:v>FY31</c:v>
                  </c:pt>
                </c:lvl>
              </c:multiLvlStrCache>
            </c:multiLvlStrRef>
          </c:cat>
          <c:val>
            <c:numRef>
              <c:f>Sheet1!$B$2:$B$8</c:f>
              <c:numCache>
                <c:formatCode>General</c:formatCode>
                <c:ptCount val="7"/>
                <c:pt idx="0">
                  <c:v>7050</c:v>
                </c:pt>
                <c:pt idx="1">
                  <c:v>7156</c:v>
                </c:pt>
                <c:pt idx="2">
                  <c:v>7159</c:v>
                </c:pt>
                <c:pt idx="3">
                  <c:v>6953</c:v>
                </c:pt>
                <c:pt idx="4">
                  <c:v>6656</c:v>
                </c:pt>
                <c:pt idx="5">
                  <c:v>6359</c:v>
                </c:pt>
                <c:pt idx="6">
                  <c:v>6168</c:v>
                </c:pt>
              </c:numCache>
            </c:numRef>
          </c:val>
        </c:ser>
        <c:dLbls>
          <c:numFmt formatCode="#,##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in val="0"/>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Retirement</c:v>
                </c:pt>
              </c:strCache>
            </c:strRef>
          </c:tx>
          <c:spPr>
            <a:solidFill>
              <a:srgbClr val="8C8C8C"/>
            </a:solidFill>
            <a:effectLst/>
          </c:spPr>
          <c:invertIfNegative val="0"/>
          <c:dLbls>
            <c:numFmt formatCode="0.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5B7DB1"/>
              </a:solidFill>
              <a:effectLst/>
            </c:spPr>
          </c:dPt>
          <c:dPt>
            <c:idx val="2"/>
            <c:invertIfNegative val="0"/>
            <c:bubble3D val="0"/>
            <c:spPr>
              <a:solidFill>
                <a:srgbClr val="E8702A"/>
              </a:solidFill>
              <a:effectLst/>
            </c:spPr>
          </c:dPt>
          <c:dPt>
            <c:idx val="3"/>
            <c:invertIfNegative val="0"/>
            <c:bubble3D val="0"/>
            <c:spPr>
              <a:solidFill>
                <a:srgbClr val="0B1F44"/>
              </a:solidFill>
              <a:effectLst/>
            </c:spPr>
          </c:dPt>
          <c:cat>
            <c:multiLvlStrRef>
              <c:f>Sheet1!$A$2:$A$5</c:f>
              <c:multiLvlStrCache>
                <c:ptCount val="4"/>
                <c:lvl>
                  <c:pt idx="0">
                    <c:v>GE prior
2026 view</c:v>
                  </c:pt>
                  <c:pt idx="1">
                    <c:v>GE revised
2026 view</c:v>
                  </c:pt>
                  <c:pt idx="2">
                    <c:v>Actual
(mid-2026)</c:v>
                  </c:pt>
                  <c:pt idx="3">
                    <c:v>Our FY27E
(-7B / -5B)</c:v>
                  </c:pt>
                </c:lvl>
              </c:multiLvlStrCache>
            </c:multiLvlStrRef>
          </c:cat>
          <c:val>
            <c:numRef>
              <c:f>Sheet1!$B$2:$B$5</c:f>
              <c:numCache>
                <c:formatCode>General</c:formatCode>
                <c:ptCount val="4"/>
                <c:pt idx="0">
                  <c:v>0.035</c:v>
                </c:pt>
                <c:pt idx="1">
                  <c:v>0.025</c:v>
                </c:pt>
                <c:pt idx="2">
                  <c:v>0.0175</c:v>
                </c:pt>
                <c:pt idx="3">
                  <c:v>0.0225</c:v>
                </c:pt>
              </c:numCache>
            </c:numRef>
          </c:val>
        </c:ser>
        <c:dLbls>
          <c:numFmt formatCode="0.0%"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0.042"/>
          <c:min val="0"/>
        </c:scaling>
        <c:delete val="1"/>
        <c:axPos val="l"/>
        <c:numFmt formatCode="0.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Days</c:v>
                </c:pt>
              </c:strCache>
            </c:strRef>
          </c:tx>
          <c:spPr>
            <a:solidFill>
              <a:srgbClr val="8C8C8C"/>
            </a:solidFill>
            <a:effectLst/>
          </c:spPr>
          <c:invertIfNegative val="0"/>
          <c:dLbls>
            <c:numFmt formatCode="0&quot; days&quot;"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E8702A"/>
              </a:solidFill>
              <a:effectLst/>
            </c:spPr>
          </c:dPt>
          <c:cat>
            <c:multiLvlStrRef>
              <c:f>Sheet1!$A$2:$A$3</c:f>
              <c:multiLvlStrCache>
                <c:ptCount val="2"/>
                <c:lvl>
                  <c:pt idx="0">
                    <c:v>Conventional shop visit</c:v>
                  </c:pt>
                  <c:pt idx="1">
                    <c:v>FTAI module swap</c:v>
                  </c:pt>
                </c:lvl>
              </c:multiLvlStrCache>
            </c:multiLvlStrRef>
          </c:cat>
          <c:val>
            <c:numRef>
              <c:f>Sheet1!$B$2:$B$3</c:f>
              <c:numCache>
                <c:formatCode>General</c:formatCode>
                <c:ptCount val="2"/>
                <c:pt idx="0">
                  <c:v>150</c:v>
                </c:pt>
                <c:pt idx="1">
                  <c:v>15</c:v>
                </c:pt>
              </c:numCache>
            </c:numRef>
          </c:val>
        </c:ser>
        <c:dLbls>
          <c:numFmt formatCode="0&quot; days&quot;"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0&quot; days&quot;" sourceLinked="0"/>
        <c:majorTickMark val="out"/>
        <c:minorTickMark val="none"/>
        <c:tickLblPos val="low"/>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Cost</c:v>
                </c:pt>
              </c:strCache>
            </c:strRef>
          </c:tx>
          <c:spPr>
            <a:solidFill>
              <a:srgbClr val="0B1F44"/>
            </a:solidFill>
            <a:effectLst/>
          </c:spPr>
          <c:invertIfNegative val="0"/>
          <c:dLbls>
            <c:numFmt formatCode="$#,##0&quot;K&quot;"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0B1F44"/>
              </a:solidFill>
              <a:effectLst/>
            </c:spPr>
          </c:dPt>
          <c:dPt>
            <c:idx val="1"/>
            <c:invertIfNegative val="0"/>
            <c:bubble3D val="0"/>
            <c:spPr>
              <a:solidFill>
                <a:srgbClr val="2E8FAE"/>
              </a:solidFill>
              <a:effectLst/>
            </c:spPr>
          </c:dPt>
          <c:cat>
            <c:multiLvlStrRef>
              <c:f>Sheet1!$A$2:$A$3</c:f>
              <c:multiLvlStrCache>
                <c:ptCount val="2"/>
                <c:lvl>
                  <c:pt idx="0">
                    <c:v>Shop visit</c:v>
                  </c:pt>
                  <c:pt idx="1">
                    <c:v>FTAI swap</c:v>
                  </c:pt>
                </c:lvl>
              </c:multiLvlStrCache>
            </c:multiLvlStrRef>
          </c:cat>
          <c:val>
            <c:numRef>
              <c:f>Sheet1!$B$2:$B$3</c:f>
              <c:numCache>
                <c:formatCode>General</c:formatCode>
                <c:ptCount val="2"/>
                <c:pt idx="0">
                  <c:v>493</c:v>
                </c:pt>
                <c:pt idx="1">
                  <c:v>66</c:v>
                </c:pt>
              </c:numCache>
            </c:numRef>
          </c:val>
        </c:ser>
        <c:dLbls>
          <c:numFmt formatCode="$#,##0&quot;K&quot;"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quot;K&quot;"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Incl. SCI captive (base)</c:v>
                </c:pt>
              </c:strCache>
            </c:strRef>
          </c:tx>
          <c:spPr>
            <a:solidFill>
              <a:srgbClr val="E8702A"/>
            </a:solidFill>
            <a:ln w="28575" cap="flat">
              <a:solidFill>
                <a:srgbClr val="E8702A"/>
              </a:solidFill>
              <a:prstDash val="solid"/>
              <a:round/>
            </a:ln>
            <a:effectLst/>
          </c:spPr>
          <c:invertIfNegative val="0"/>
          <c:dLbls>
            <c:numFmt formatCode="0%" sourceLinked="0"/>
            <c:txPr>
              <a:bodyPr/>
              <a:lstStyle/>
              <a:p>
                <a:pPr>
                  <a:defRPr b="0" i="0" strike="noStrike" sz="850" u="none">
                    <a:solidFill>
                      <a:srgbClr val="262626"/>
                    </a:solidFill>
                    <a:latin typeface="Calibri"/>
                  </a:defRPr>
                </a:pPr>
              </a:p>
            </c:txPr>
            <c:dLblPos val="t"/>
            <c:showLegendKey val="0"/>
            <c:showVal val="1"/>
            <c:showCatName val="0"/>
            <c:showSerName val="0"/>
            <c:showPercent val="0"/>
            <c:showBubbleSize val="0"/>
            <c:showLeaderLines val="0"/>
          </c:dLbls>
          <c:marker>
            <c:symbol val="circle"/>
            <c:size val="6"/>
            <c:spPr>
              <a:solidFill>
                <a:srgbClr val="E8702A"/>
              </a:solidFill>
              <a:ln w="9525" cap="flat">
                <a:solidFill>
                  <a:srgbClr val="E8702A"/>
                </a:solidFill>
                <a:prstDash val="solid"/>
                <a:round/>
              </a:ln>
              <a:effectLst/>
            </c:spPr>
          </c:marker>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0.107</c:v>
                </c:pt>
                <c:pt idx="1">
                  <c:v>0.167</c:v>
                </c:pt>
                <c:pt idx="2">
                  <c:v>0.236</c:v>
                </c:pt>
                <c:pt idx="3">
                  <c:v>0.285</c:v>
                </c:pt>
                <c:pt idx="4">
                  <c:v>0.312</c:v>
                </c:pt>
                <c:pt idx="5">
                  <c:v>0.332</c:v>
                </c:pt>
                <c:pt idx="6">
                  <c:v>0.346</c:v>
                </c:pt>
              </c:numCache>
            </c:numRef>
          </c:val>
          <c:smooth val="0"/>
        </c:ser>
        <c:ser>
          <c:idx val="1"/>
          <c:order val="1"/>
          <c:tx>
            <c:strRef>
              <c:f>Sheet1!$C$1</c:f>
              <c:strCache>
                <c:ptCount val="1"/>
                <c:pt idx="0">
                  <c:v>Third-party only (base)</c:v>
                </c:pt>
              </c:strCache>
            </c:strRef>
          </c:tx>
          <c:spPr>
            <a:solidFill>
              <a:srgbClr val="0B1F44"/>
            </a:solidFill>
            <a:ln w="28575" cap="flat">
              <a:solidFill>
                <a:srgbClr val="0B1F44"/>
              </a:solidFill>
              <a:prstDash val="solid"/>
              <a:round/>
            </a:ln>
            <a:effectLst/>
          </c:spPr>
          <c:invertIfNegative val="0"/>
          <c:dLbls>
            <c:numFmt formatCode="0%" sourceLinked="0"/>
            <c:txPr>
              <a:bodyPr/>
              <a:lstStyle/>
              <a:p>
                <a:pPr>
                  <a:defRPr b="0" i="0" strike="noStrike" sz="850" u="none">
                    <a:solidFill>
                      <a:srgbClr val="262626"/>
                    </a:solidFill>
                    <a:latin typeface="Calibri"/>
                  </a:defRPr>
                </a:pPr>
              </a:p>
            </c:txPr>
            <c:dLblPos val="t"/>
            <c:showLegendKey val="0"/>
            <c:showVal val="1"/>
            <c:showCatName val="0"/>
            <c:showSerName val="0"/>
            <c:showPercent val="0"/>
            <c:showBubbleSize val="0"/>
            <c:showLeaderLines val="0"/>
          </c:dLbls>
          <c:marker>
            <c:symbol val="circle"/>
            <c:size val="6"/>
            <c:spPr>
              <a:solidFill>
                <a:srgbClr val="0B1F44"/>
              </a:solidFill>
              <a:ln w="9525" cap="flat">
                <a:solidFill>
                  <a:srgbClr val="0B1F44"/>
                </a:solidFill>
                <a:prstDash val="solid"/>
                <a:round/>
              </a:ln>
              <a:effectLst/>
            </c:spPr>
          </c:marker>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0.096</c:v>
                </c:pt>
                <c:pt idx="1">
                  <c:v>0.124</c:v>
                </c:pt>
                <c:pt idx="2">
                  <c:v>0.168</c:v>
                </c:pt>
                <c:pt idx="3">
                  <c:v>0.19</c:v>
                </c:pt>
                <c:pt idx="4">
                  <c:v>0.195</c:v>
                </c:pt>
                <c:pt idx="5">
                  <c:v>0.2</c:v>
                </c:pt>
                <c:pt idx="6">
                  <c:v>0.2</c:v>
                </c:pt>
              </c:numCache>
            </c:numRef>
          </c:val>
          <c:smooth val="0"/>
        </c:ser>
        <c:dLbls>
          <c:numFmt formatCode="0%" sourceLinked="0"/>
          <c:txPr>
            <a:bodyPr/>
            <a:lstStyle/>
            <a:p>
              <a:pPr>
                <a:defRPr b="0" i="0" strike="noStrike" sz="850" u="none">
                  <a:solidFill>
                    <a:srgbClr val="262626"/>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0.4"/>
          <c:min val="0"/>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B1F44"/>
            </a:solidFill>
            <a:effectLst/>
          </c:spPr>
          <c:invertIfNegative val="0"/>
          <c:dLbls>
            <c:numFmt formatCode="#,##0" sourceLinked="0"/>
            <c:txPr>
              <a:bodyPr/>
              <a:lstStyle/>
              <a:p>
                <a:pPr>
                  <a:defRPr b="0" i="0" strike="noStrike" sz="800" u="none">
                    <a:solidFill>
                      <a:srgbClr val="0B1F44"/>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c:v>
                </c:pt>
              </c:strCache>
            </c:strRef>
          </c:tx>
          <c:spPr>
            <a:solidFill>
              <a:srgbClr val="BFE0EA"/>
            </a:solidFill>
            <a:effectLst/>
          </c:spPr>
          <c:invertIfNegative val="0"/>
          <c:dLbls>
            <c:numFmt formatCode="#,##0" sourceLinked="0"/>
            <c:txPr>
              <a:bodyPr/>
              <a:lstStyle/>
              <a:p>
                <a:pPr>
                  <a:defRPr b="0" i="0" strike="noStrike" sz="800" u="none">
                    <a:solidFill>
                      <a:srgbClr val="0B1F44"/>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1243</c:v>
                </c:pt>
                <c:pt idx="1">
                  <c:v>1800</c:v>
                </c:pt>
                <c:pt idx="2">
                  <c:v>1300</c:v>
                </c:pt>
              </c:numCache>
            </c:numRef>
          </c:val>
        </c:ser>
        <c:dLbls>
          <c:numFmt formatCode="#,##0" sourceLinked="0"/>
          <c:txPr>
            <a:bodyPr/>
            <a:lstStyle/>
            <a:p>
              <a:pPr>
                <a:defRPr b="0" i="0" strike="noStrike" sz="800" u="none">
                  <a:solidFill>
                    <a:srgbClr val="0B1F44"/>
                  </a:solidFill>
                  <a:latin typeface="Calibri"/>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Capex</c:v>
                </c:pt>
              </c:strCache>
            </c:strRef>
          </c:tx>
          <c:spPr>
            <a:solidFill>
              <a:srgbClr val="0B1F44"/>
            </a:solidFill>
            <a:effectLst/>
          </c:spPr>
          <c:invertIfNegative val="0"/>
          <c:dLbls>
            <c:numFmt formatCode="#,##0" sourceLinked="0"/>
            <c:txPr>
              <a:bodyPr/>
              <a:lstStyle/>
              <a:p>
                <a:pPr>
                  <a:defRPr b="0" i="0" strike="noStrike" sz="800" u="none">
                    <a:solidFill>
                      <a:srgbClr val="262626"/>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2018</c:v>
                  </c:pt>
                  <c:pt idx="1">
                    <c:v>2019</c:v>
                  </c:pt>
                  <c:pt idx="2">
                    <c:v>2020</c:v>
                  </c:pt>
                  <c:pt idx="3">
                    <c:v>2021</c:v>
                  </c:pt>
                  <c:pt idx="4">
                    <c:v>2022</c:v>
                  </c:pt>
                  <c:pt idx="5">
                    <c:v>2023</c:v>
                  </c:pt>
                  <c:pt idx="6">
                    <c:v>2024</c:v>
                  </c:pt>
                  <c:pt idx="7">
                    <c:v>2025</c:v>
                  </c:pt>
                  <c:pt idx="8">
                    <c:v>2026E</c:v>
                  </c:pt>
                </c:lvl>
              </c:multiLvlStrCache>
            </c:multiLvlStrRef>
          </c:cat>
          <c:val>
            <c:numRef>
              <c:f>Sheet1!$B$2:$B$10</c:f>
              <c:numCache>
                <c:formatCode>General</c:formatCode>
                <c:ptCount val="9"/>
                <c:pt idx="0">
                  <c:v>67</c:v>
                </c:pt>
                <c:pt idx="1">
                  <c:v>69</c:v>
                </c:pt>
                <c:pt idx="2">
                  <c:v>95</c:v>
                </c:pt>
                <c:pt idx="3">
                  <c:v>128</c:v>
                </c:pt>
                <c:pt idx="4">
                  <c:v>151</c:v>
                </c:pt>
                <c:pt idx="5">
                  <c:v>147</c:v>
                </c:pt>
                <c:pt idx="6">
                  <c:v>228</c:v>
                </c:pt>
                <c:pt idx="7">
                  <c:v>376</c:v>
                </c:pt>
                <c:pt idx="8">
                  <c:v>733</c:v>
                </c:pt>
              </c:numCache>
            </c:numRef>
          </c:val>
        </c:ser>
        <c:dLbls>
          <c:numFmt formatCode="#,##0" sourceLinked="0"/>
          <c:txPr>
            <a:bodyPr/>
            <a:lstStyle/>
            <a:p>
              <a:pPr>
                <a:defRPr b="0" i="0" strike="noStrike" sz="80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PPA</c:v>
                </c:pt>
              </c:strCache>
            </c:strRef>
          </c:tx>
          <c:spPr>
            <a:solidFill>
              <a:srgbClr val="2E8FAE"/>
            </a:solidFill>
            <a:effectLst/>
          </c:spPr>
          <c:invertIfNegative val="0"/>
          <c:dLbls>
            <c:numFmt formatCode="0" sourceLinked="0"/>
            <c:txPr>
              <a:bodyPr/>
              <a:lstStyle/>
              <a:p>
                <a:pPr>
                  <a:defRPr b="0" i="0" strike="noStrike" sz="750" u="none">
                    <a:solidFill>
                      <a:srgbClr val="26262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2018</c:v>
                  </c:pt>
                  <c:pt idx="1">
                    <c:v>2019</c:v>
                  </c:pt>
                  <c:pt idx="2">
                    <c:v>2020</c:v>
                  </c:pt>
                  <c:pt idx="3">
                    <c:v>2021</c:v>
                  </c:pt>
                  <c:pt idx="4">
                    <c:v>2022</c:v>
                  </c:pt>
                  <c:pt idx="5">
                    <c:v>2023</c:v>
                  </c:pt>
                  <c:pt idx="6">
                    <c:v>2024</c:v>
                  </c:pt>
                  <c:pt idx="7">
                    <c:v>2025</c:v>
                  </c:pt>
                </c:lvl>
              </c:multiLvlStrCache>
            </c:multiLvlStrRef>
          </c:cat>
          <c:val>
            <c:numRef>
              <c:f>Sheet1!$B$2:$B$9</c:f>
              <c:numCache>
                <c:formatCode>General</c:formatCode>
                <c:ptCount val="8"/>
                <c:pt idx="0">
                  <c:v>9</c:v>
                </c:pt>
                <c:pt idx="1">
                  <c:v>16</c:v>
                </c:pt>
                <c:pt idx="2">
                  <c:v>16</c:v>
                </c:pt>
                <c:pt idx="3">
                  <c:v>19</c:v>
                </c:pt>
                <c:pt idx="4">
                  <c:v>21</c:v>
                </c:pt>
                <c:pt idx="5">
                  <c:v>17</c:v>
                </c:pt>
                <c:pt idx="6">
                  <c:v>29.1</c:v>
                </c:pt>
                <c:pt idx="7">
                  <c:v>29.5</c:v>
                </c:pt>
              </c:numCache>
            </c:numRef>
          </c:val>
        </c:ser>
        <c:dLbls>
          <c:numFmt formatCode="0" sourceLinked="0"/>
          <c:txPr>
            <a:bodyPr/>
            <a:lstStyle/>
            <a:p>
              <a:pPr>
                <a:defRPr b="0" i="0" strike="noStrike" sz="750" u="none">
                  <a:solidFill>
                    <a:srgbClr val="262626"/>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PJM</c:v>
                </c:pt>
              </c:strCache>
            </c:strRef>
          </c:tx>
          <c:spPr>
            <a:solidFill>
              <a:srgbClr val="0B1F44"/>
            </a:solidFill>
            <a:effectLst/>
          </c:spPr>
          <c:invertIfNegative val="0"/>
          <c:dLbls>
            <c:numFmt formatCode="0.0;;;"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21.6</c:v>
                </c:pt>
                <c:pt idx="5">
                  <c:v>36.9</c:v>
                </c:pt>
              </c:numCache>
            </c:numRef>
          </c:val>
        </c:ser>
        <c:ser>
          <c:idx val="1"/>
          <c:order val="1"/>
          <c:tx>
            <c:strRef>
              <c:f>Sheet1!$C$1</c:f>
              <c:strCache>
                <c:ptCount val="1"/>
                <c:pt idx="0">
                  <c:v>MISO</c:v>
                </c:pt>
              </c:strCache>
            </c:strRef>
          </c:tx>
          <c:spPr>
            <a:solidFill>
              <a:srgbClr val="2E8FAE"/>
            </a:solidFill>
            <a:effectLst/>
          </c:spPr>
          <c:invertIfNegative val="0"/>
          <c:dLbls>
            <c:numFmt formatCode="0.0;;;"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0</c:v>
                </c:pt>
                <c:pt idx="3">
                  <c:v>0</c:v>
                </c:pt>
                <c:pt idx="4">
                  <c:v>5.5</c:v>
                </c:pt>
                <c:pt idx="5">
                  <c:v>9</c:v>
                </c:pt>
              </c:numCache>
            </c:numRef>
          </c:val>
        </c:ser>
        <c:ser>
          <c:idx val="2"/>
          <c:order val="2"/>
          <c:tx>
            <c:strRef>
              <c:f>Sheet1!$D$1</c:f>
              <c:strCache>
                <c:ptCount val="1"/>
                <c:pt idx="0">
                  <c:v>Other</c:v>
                </c:pt>
              </c:strCache>
            </c:strRef>
          </c:tx>
          <c:spPr>
            <a:solidFill>
              <a:srgbClr val="E8702A"/>
            </a:solidFill>
            <a:effectLst/>
          </c:spPr>
          <c:invertIfNegative val="0"/>
          <c:dLbls>
            <c:numFmt formatCode="0.0;;;"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Sheet1!$D$2:$D$7</c:f>
              <c:numCache>
                <c:formatCode>General</c:formatCode>
                <c:ptCount val="6"/>
                <c:pt idx="0">
                  <c:v>0</c:v>
                </c:pt>
                <c:pt idx="1">
                  <c:v>0</c:v>
                </c:pt>
                <c:pt idx="2">
                  <c:v>0</c:v>
                </c:pt>
                <c:pt idx="3">
                  <c:v>0</c:v>
                </c:pt>
                <c:pt idx="4">
                  <c:v>0</c:v>
                </c:pt>
                <c:pt idx="5">
                  <c:v>1.2</c:v>
                </c:pt>
              </c:numCache>
            </c:numRef>
          </c:val>
        </c:ser>
        <c:dLbls>
          <c:numFmt formatCode="0.0;;;"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Bear</c:v>
                </c:pt>
              </c:strCache>
            </c:strRef>
          </c:tx>
          <c:spPr>
            <a:solidFill>
              <a:srgbClr val="5B7DB1"/>
            </a:solidFill>
            <a:effectLst/>
          </c:spPr>
          <c:invertIfNegative val="0"/>
          <c:dLbls>
            <c:numFmt formatCode="#,##0" sourceLinked="0"/>
            <c:txPr>
              <a:bodyPr/>
              <a:lstStyle/>
              <a:p>
                <a:pPr>
                  <a:defRPr b="0" i="0" strike="noStrike" sz="75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FY26E</c:v>
                  </c:pt>
                  <c:pt idx="1">
                    <c:v>FY27E</c:v>
                  </c:pt>
                  <c:pt idx="2">
                    <c:v>FY28E</c:v>
                  </c:pt>
                  <c:pt idx="3">
                    <c:v>FY29E</c:v>
                  </c:pt>
                  <c:pt idx="4">
                    <c:v>FY30E</c:v>
                  </c:pt>
                  <c:pt idx="5">
                    <c:v>FY31E</c:v>
                  </c:pt>
                </c:lvl>
              </c:multiLvlStrCache>
            </c:multiLvlStrRef>
          </c:cat>
          <c:val>
            <c:numRef>
              <c:f>Sheet1!$B$2:$B$7</c:f>
              <c:numCache>
                <c:formatCode>General</c:formatCode>
                <c:ptCount val="6"/>
                <c:pt idx="0">
                  <c:v>0</c:v>
                </c:pt>
                <c:pt idx="1">
                  <c:v>30</c:v>
                </c:pt>
                <c:pt idx="2">
                  <c:v>45</c:v>
                </c:pt>
                <c:pt idx="3">
                  <c:v>50</c:v>
                </c:pt>
                <c:pt idx="4">
                  <c:v>50</c:v>
                </c:pt>
                <c:pt idx="5">
                  <c:v>50</c:v>
                </c:pt>
              </c:numCache>
            </c:numRef>
          </c:val>
        </c:ser>
        <c:ser>
          <c:idx val="1"/>
          <c:order val="1"/>
          <c:tx>
            <c:strRef>
              <c:f>Sheet1!$C$1</c:f>
              <c:strCache>
                <c:ptCount val="1"/>
                <c:pt idx="0">
                  <c:v>Base</c:v>
                </c:pt>
              </c:strCache>
            </c:strRef>
          </c:tx>
          <c:spPr>
            <a:solidFill>
              <a:srgbClr val="0B1F44"/>
            </a:solidFill>
            <a:effectLst/>
          </c:spPr>
          <c:invertIfNegative val="0"/>
          <c:dLbls>
            <c:numFmt formatCode="#,##0" sourceLinked="0"/>
            <c:txPr>
              <a:bodyPr/>
              <a:lstStyle/>
              <a:p>
                <a:pPr>
                  <a:defRPr b="0" i="0" strike="noStrike" sz="75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FY26E</c:v>
                  </c:pt>
                  <c:pt idx="1">
                    <c:v>FY27E</c:v>
                  </c:pt>
                  <c:pt idx="2">
                    <c:v>FY28E</c:v>
                  </c:pt>
                  <c:pt idx="3">
                    <c:v>FY29E</c:v>
                  </c:pt>
                  <c:pt idx="4">
                    <c:v>FY30E</c:v>
                  </c:pt>
                  <c:pt idx="5">
                    <c:v>FY31E</c:v>
                  </c:pt>
                </c:lvl>
              </c:multiLvlStrCache>
            </c:multiLvlStrRef>
          </c:cat>
          <c:val>
            <c:numRef>
              <c:f>Sheet1!$C$2:$C$7</c:f>
              <c:numCache>
                <c:formatCode>General</c:formatCode>
                <c:ptCount val="6"/>
                <c:pt idx="0">
                  <c:v>2</c:v>
                </c:pt>
                <c:pt idx="1">
                  <c:v>45</c:v>
                </c:pt>
                <c:pt idx="2">
                  <c:v>90</c:v>
                </c:pt>
                <c:pt idx="3">
                  <c:v>110</c:v>
                </c:pt>
                <c:pt idx="4">
                  <c:v>120</c:v>
                </c:pt>
                <c:pt idx="5">
                  <c:v>130</c:v>
                </c:pt>
              </c:numCache>
            </c:numRef>
          </c:val>
        </c:ser>
        <c:ser>
          <c:idx val="2"/>
          <c:order val="2"/>
          <c:tx>
            <c:strRef>
              <c:f>Sheet1!$D$1</c:f>
              <c:strCache>
                <c:ptCount val="1"/>
                <c:pt idx="0">
                  <c:v>Bull</c:v>
                </c:pt>
              </c:strCache>
            </c:strRef>
          </c:tx>
          <c:spPr>
            <a:solidFill>
              <a:srgbClr val="2E8FAE"/>
            </a:solidFill>
            <a:effectLst/>
          </c:spPr>
          <c:invertIfNegative val="0"/>
          <c:dLbls>
            <c:numFmt formatCode="#,##0" sourceLinked="0"/>
            <c:txPr>
              <a:bodyPr/>
              <a:lstStyle/>
              <a:p>
                <a:pPr>
                  <a:defRPr b="0" i="0" strike="noStrike" sz="750" u="none">
                    <a:solidFill>
                      <a:srgbClr val="262626"/>
                    </a:solidFill>
                    <a:latin typeface="Calibri"/>
                  </a:defRPr>
                </a:pPr>
              </a:p>
            </c:txPr>
            <c:showLegendKey val="0"/>
            <c:showVal val="1"/>
            <c:showCatName val="0"/>
            <c:showSerName val="0"/>
            <c:showPercent val="0"/>
            <c:showBubbleSize val="0"/>
            <c:showLeaderLines val="0"/>
          </c:dLbls>
          <c:cat>
            <c:multiLvlStrRef>
              <c:f>Sheet1!$A$2:$A$7</c:f>
              <c:multiLvlStrCache>
                <c:ptCount val="6"/>
                <c:lvl>
                  <c:pt idx="0">
                    <c:v>FY26E</c:v>
                  </c:pt>
                  <c:pt idx="1">
                    <c:v>FY27E</c:v>
                  </c:pt>
                  <c:pt idx="2">
                    <c:v>FY28E</c:v>
                  </c:pt>
                  <c:pt idx="3">
                    <c:v>FY29E</c:v>
                  </c:pt>
                  <c:pt idx="4">
                    <c:v>FY30E</c:v>
                  </c:pt>
                  <c:pt idx="5">
                    <c:v>FY31E</c:v>
                  </c:pt>
                </c:lvl>
              </c:multiLvlStrCache>
            </c:multiLvlStrRef>
          </c:cat>
          <c:val>
            <c:numRef>
              <c:f>Sheet1!$D$2:$D$7</c:f>
              <c:numCache>
                <c:formatCode>General</c:formatCode>
                <c:ptCount val="6"/>
                <c:pt idx="0">
                  <c:v>2</c:v>
                </c:pt>
                <c:pt idx="1">
                  <c:v>55</c:v>
                </c:pt>
                <c:pt idx="2">
                  <c:v>130</c:v>
                </c:pt>
                <c:pt idx="3">
                  <c:v>150</c:v>
                </c:pt>
                <c:pt idx="4">
                  <c:v>160</c:v>
                </c:pt>
                <c:pt idx="5">
                  <c:v>170</c:v>
                </c:pt>
              </c:numCache>
            </c:numRef>
          </c:val>
        </c:ser>
        <c:dLbls>
          <c:numFmt formatCode="#,##0" sourceLinked="0"/>
          <c:txPr>
            <a:bodyPr/>
            <a:lstStyle/>
            <a:p>
              <a:pPr>
                <a:defRPr b="0" i="0" strike="noStrike" sz="750" u="none">
                  <a:solidFill>
                    <a:srgbClr val="262626"/>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0" sourceLinked="0"/>
        <c:majorTickMark val="out"/>
        <c:minorTickMark val="none"/>
        <c:tickLblPos val="nextTo"/>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4040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c:v>
                </c:pt>
              </c:strCache>
            </c:strRef>
          </c:tx>
          <c:spPr>
            <a:solidFill>
              <a:srgbClr val="2E8FAE"/>
            </a:solidFill>
            <a:effectLst/>
          </c:spPr>
          <c:invertIfNegative val="0"/>
          <c:dLbls>
            <c:numFmt formatCode="$#,##0&quot;M&quot;"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dPt>
            <c:idx val="0"/>
            <c:invertIfNegative val="0"/>
            <c:bubble3D val="0"/>
            <c:spPr>
              <a:solidFill>
                <a:srgbClr val="2E8FAE"/>
              </a:solidFill>
              <a:effectLst/>
            </c:spPr>
          </c:dPt>
          <c:dPt>
            <c:idx val="1"/>
            <c:invertIfNegative val="0"/>
            <c:bubble3D val="0"/>
            <c:spPr>
              <a:solidFill>
                <a:srgbClr val="0B1F44"/>
              </a:solidFill>
              <a:effectLst/>
            </c:spPr>
          </c:dPt>
          <c:cat>
            <c:multiLvlStrRef>
              <c:f>Sheet1!$A$2:$A$3</c:f>
              <c:multiLvlStrCache>
                <c:ptCount val="2"/>
                <c:lvl>
                  <c:pt idx="0">
                    <c:v>Data center shell</c:v>
                  </c:pt>
                  <c:pt idx="1">
                    <c:v>FTAI turbines (6 units)</c:v>
                  </c:pt>
                </c:lvl>
              </c:multiLvlStrCache>
            </c:multiLvlStrRef>
          </c:cat>
          <c:val>
            <c:numRef>
              <c:f>Sheet1!$B$2:$B$3</c:f>
              <c:numCache>
                <c:formatCode>General</c:formatCode>
                <c:ptCount val="2"/>
                <c:pt idx="0">
                  <c:v>1200</c:v>
                </c:pt>
                <c:pt idx="1">
                  <c:v>150</c:v>
                </c:pt>
              </c:numCache>
            </c:numRef>
          </c:val>
        </c:ser>
        <c:dLbls>
          <c:numFmt formatCode="$#,##0&quot;M&quot;" sourceLinked="0"/>
          <c:txPr>
            <a:bodyPr/>
            <a:lstStyle/>
            <a:p>
              <a:pPr>
                <a:defRPr b="0" i="0" strike="noStrike" sz="850" u="none">
                  <a:solidFill>
                    <a:srgbClr val="26262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9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0&quot;M&quot;" sourceLinked="0"/>
        <c:majorTickMark val="out"/>
        <c:minorTickMark val="none"/>
        <c:tickLblPos val="low"/>
        <c:spPr>
          <a:ln w="12700" cap="flat">
            <a:noFill/>
            <a:prstDash val="solid"/>
            <a:round/>
          </a:ln>
        </c:spPr>
        <c:txPr>
          <a:bodyPr/>
          <a:lstStyle/>
          <a:p>
            <a:pPr>
              <a:defRPr sz="8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Today</c:v>
                  </c:pt>
                  <c:pt idx="1">
                    <c:v>Margins</c:v>
                  </c:pt>
                  <c:pt idx="2">
                    <c:v>Share</c:v>
                  </c:pt>
                  <c:pt idx="3">
                    <c:v>Power</c:v>
                  </c:pt>
                  <c:pt idx="4">
                    <c:v>Base case</c:v>
                  </c:pt>
                </c:lvl>
              </c:multiLvlStrCache>
            </c:multiLvlStrRef>
          </c:cat>
          <c:val>
            <c:numRef>
              <c:f>Sheet1!$B$2:$B$6</c:f>
              <c:numCache>
                <c:formatCode>General</c:formatCode>
                <c:ptCount val="5"/>
                <c:pt idx="0">
                  <c:v>0</c:v>
                </c:pt>
                <c:pt idx="1">
                  <c:v>167</c:v>
                </c:pt>
                <c:pt idx="2">
                  <c:v>185</c:v>
                </c:pt>
                <c:pt idx="3">
                  <c:v>219</c:v>
                </c:pt>
                <c:pt idx="4">
                  <c:v>0</c:v>
                </c:pt>
              </c:numCache>
            </c:numRef>
          </c:val>
        </c:ser>
        <c:ser>
          <c:idx val="1"/>
          <c:order val="1"/>
          <c:tx>
            <c:strRef>
              <c:f>Sheet1!$C$1</c:f>
              <c:strCache>
                <c:ptCount val="1"/>
                <c:pt idx="0">
                  <c:v>val</c:v>
                </c:pt>
              </c:strCache>
            </c:strRef>
          </c:tx>
          <c:spPr>
            <a:solidFill>
              <a:srgbClr val="0B1F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Today</c:v>
                  </c:pt>
                  <c:pt idx="1">
                    <c:v>Margins</c:v>
                  </c:pt>
                  <c:pt idx="2">
                    <c:v>Share</c:v>
                  </c:pt>
                  <c:pt idx="3">
                    <c:v>Power</c:v>
                  </c:pt>
                  <c:pt idx="4">
                    <c:v>Base case</c:v>
                  </c:pt>
                </c:lvl>
              </c:multiLvlStrCache>
            </c:multiLvlStrRef>
          </c:cat>
          <c:val>
            <c:numRef>
              <c:f>Sheet1!$C$2:$C$6</c:f>
              <c:numCache>
                <c:formatCode>General</c:formatCode>
                <c:ptCount val="5"/>
                <c:pt idx="0">
                  <c:v>167</c:v>
                </c:pt>
                <c:pt idx="1">
                  <c:v>18</c:v>
                </c:pt>
                <c:pt idx="2">
                  <c:v>34</c:v>
                </c:pt>
                <c:pt idx="3">
                  <c:v>58</c:v>
                </c:pt>
                <c:pt idx="4">
                  <c:v>277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Price as of 10/2/26 per model Cover tab. Target = FY27E SOTP (Aerospace 16x, Power 12x, Leasing+SCI 9x). R/R = blended DCF bull upside (+132%) / bear downside (-39%).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356848" y="274320"/>
            <a:ext cx="73152" cy="347472"/>
          </a:xfrm>
          <a:prstGeom prst="rect">
            <a:avLst/>
          </a:prstGeom>
          <a:solidFill>
            <a:srgbClr val="E8702A"/>
          </a:solidFill>
          <a:ln/>
        </p:spPr>
      </p:sp>
      <p:sp>
        <p:nvSpPr>
          <p:cNvPr id="3" name="Text 1"/>
          <p:cNvSpPr/>
          <p:nvPr/>
        </p:nvSpPr>
        <p:spPr>
          <a:xfrm>
            <a:off x="9052560" y="219456"/>
            <a:ext cx="685800" cy="457200"/>
          </a:xfrm>
          <a:prstGeom prst="rect">
            <a:avLst/>
          </a:prstGeom>
          <a:noFill/>
          <a:ln/>
        </p:spPr>
        <p:txBody>
          <a:bodyPr wrap="square" lIns="0" tIns="0" rIns="0" bIns="0" rtlCol="0" anchor="ctr"/>
          <a:lstStyle/>
          <a:p>
            <a:pPr algn="r" indent="0" marL="0">
              <a:buNone/>
            </a:pPr>
            <a:r>
              <a:rPr lang="en-US" sz="1800" b="1" dirty="0">
                <a:solidFill>
                  <a:srgbClr val="0B1F44"/>
                </a:solidFill>
                <a:latin typeface="Calibri" pitchFamily="34" charset="0"/>
                <a:ea typeface="Calibri" pitchFamily="34" charset="-122"/>
                <a:cs typeface="Calibri" pitchFamily="34" charset="-120"/>
              </a:rPr>
              <a:t>FTAI</a:t>
            </a:r>
            <a:endParaRPr lang="en-US" sz="1800" dirty="0"/>
          </a:p>
        </p:txBody>
      </p:sp>
      <p:sp>
        <p:nvSpPr>
          <p:cNvPr id="4" name="Text 2"/>
          <p:cNvSpPr/>
          <p:nvPr/>
        </p:nvSpPr>
        <p:spPr>
          <a:xfrm>
            <a:off x="9784080" y="219456"/>
            <a:ext cx="1417320" cy="457200"/>
          </a:xfrm>
          <a:prstGeom prst="rect">
            <a:avLst/>
          </a:prstGeom>
          <a:noFill/>
          <a:ln/>
        </p:spPr>
        <p:txBody>
          <a:bodyPr wrap="square" lIns="0" tIns="0" rIns="0" bIns="0" rtlCol="0" anchor="ctr"/>
          <a:lstStyle/>
          <a:p>
            <a:pPr algn="l" indent="0" marL="0">
              <a:buNone/>
            </a:pPr>
            <a:r>
              <a:rPr lang="en-US" sz="1800" dirty="0">
                <a:solidFill>
                  <a:srgbClr val="2E8FAE"/>
                </a:solidFill>
                <a:latin typeface="Calibri" pitchFamily="34" charset="0"/>
                <a:ea typeface="Calibri" pitchFamily="34" charset="-122"/>
                <a:cs typeface="Calibri" pitchFamily="34" charset="-120"/>
              </a:rPr>
              <a:t>AVIATION</a:t>
            </a:r>
            <a:endParaRPr lang="en-US" sz="1800" dirty="0"/>
          </a:p>
        </p:txBody>
      </p:sp>
      <p:sp>
        <p:nvSpPr>
          <p:cNvPr id="5" name="Shape 3"/>
          <p:cNvSpPr/>
          <p:nvPr/>
        </p:nvSpPr>
        <p:spPr>
          <a:xfrm>
            <a:off x="411480" y="914400"/>
            <a:ext cx="11365992" cy="0"/>
          </a:xfrm>
          <a:prstGeom prst="line">
            <a:avLst/>
          </a:prstGeom>
          <a:noFill/>
          <a:ln w="15875">
            <a:solidFill>
              <a:srgbClr val="0B1F44"/>
            </a:solidFill>
            <a:prstDash val="solid"/>
          </a:ln>
        </p:spPr>
      </p:sp>
      <p:sp>
        <p:nvSpPr>
          <p:cNvPr id="6" name="Shape 4"/>
          <p:cNvSpPr/>
          <p:nvPr/>
        </p:nvSpPr>
        <p:spPr>
          <a:xfrm>
            <a:off x="411480" y="6400800"/>
            <a:ext cx="11365992" cy="0"/>
          </a:xfrm>
          <a:prstGeom prst="line">
            <a:avLst/>
          </a:prstGeom>
          <a:noFill/>
          <a:ln w="9525">
            <a:solidFill>
              <a:srgbClr val="BFBFBF"/>
            </a:solidFill>
            <a:prstDash val="solid"/>
          </a:ln>
        </p:spPr>
      </p:sp>
      <p:sp>
        <p:nvSpPr>
          <p:cNvPr id="7" name="Text 5"/>
          <p:cNvSpPr/>
          <p:nvPr/>
        </p:nvSpPr>
        <p:spPr>
          <a:xfrm>
            <a:off x="9144000" y="6455664"/>
            <a:ext cx="2633472" cy="274320"/>
          </a:xfrm>
          <a:prstGeom prst="rect">
            <a:avLst/>
          </a:prstGeom>
          <a:noFill/>
          <a:ln/>
        </p:spPr>
        <p:txBody>
          <a:bodyPr wrap="square" lIns="0" tIns="0" rIns="0" bIns="0" rtlCol="0" anchor="ctr"/>
          <a:lstStyle/>
          <a:p>
            <a:pPr algn="r" indent="0" marL="0">
              <a:buNone/>
            </a:pPr>
            <a:r>
              <a:rPr lang="en-US" sz="800" b="1" spc="200" kern="0" dirty="0">
                <a:solidFill>
                  <a:srgbClr val="0B1F44"/>
                </a:solidFill>
                <a:latin typeface="Cambria" pitchFamily="34" charset="0"/>
                <a:ea typeface="Cambria" pitchFamily="34" charset="-122"/>
                <a:cs typeface="Cambria" pitchFamily="34" charset="-120"/>
              </a:rPr>
              <a:t>GLOBAL PLATINUM SECURITIES</a:t>
            </a:r>
            <a:endParaRPr lang="en-US" sz="800" dirty="0"/>
          </a:p>
        </p:txBody>
      </p:sp>
      <p:sp>
        <p:nvSpPr>
          <p:cNvPr id="8" name="Text 6"/>
          <p:cNvSpPr/>
          <p:nvPr>
            <p:ph idx="106" type="title" hasCustomPrompt="1"/>
          </p:nvPr>
        </p:nvSpPr>
        <p:spPr>
          <a:xfrm>
            <a:off x="411480" y="201168"/>
            <a:ext cx="8503920" cy="640080"/>
          </a:xfrm>
          <a:prstGeom prst="rect">
            <a:avLst/>
          </a:prstGeom>
          <a:noFill/>
          <a:ln/>
        </p:spPr>
        <p:txBody>
          <a:bodyPr wrap="square" rtlCol="0"/>
          <a:lstStyle>
            <a:lvl1pPr algn="l" indent="0" marL="0">
              <a:buNone/>
              <a:defRPr lang="en-US" sz="2600" b="1" dirty="0">
                <a:solidFill>
                  <a:srgbClr val="0B1F44"/>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_BRAN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356848" y="274320"/>
            <a:ext cx="73152" cy="347472"/>
          </a:xfrm>
          <a:prstGeom prst="rect">
            <a:avLst/>
          </a:prstGeom>
          <a:solidFill>
            <a:srgbClr val="E8702A"/>
          </a:solidFill>
          <a:ln/>
        </p:spPr>
      </p:sp>
      <p:sp>
        <p:nvSpPr>
          <p:cNvPr id="3" name="Text 1"/>
          <p:cNvSpPr/>
          <p:nvPr/>
        </p:nvSpPr>
        <p:spPr>
          <a:xfrm>
            <a:off x="9052560" y="219456"/>
            <a:ext cx="685800" cy="457200"/>
          </a:xfrm>
          <a:prstGeom prst="rect">
            <a:avLst/>
          </a:prstGeom>
          <a:noFill/>
          <a:ln/>
        </p:spPr>
        <p:txBody>
          <a:bodyPr wrap="square" lIns="0" tIns="0" rIns="0" bIns="0" rtlCol="0" anchor="ctr"/>
          <a:lstStyle/>
          <a:p>
            <a:pPr algn="r" indent="0" marL="0">
              <a:buNone/>
            </a:pPr>
            <a:r>
              <a:rPr lang="en-US" sz="1800" b="1" dirty="0">
                <a:solidFill>
                  <a:srgbClr val="0B1F44"/>
                </a:solidFill>
                <a:latin typeface="Calibri" pitchFamily="34" charset="0"/>
                <a:ea typeface="Calibri" pitchFamily="34" charset="-122"/>
                <a:cs typeface="Calibri" pitchFamily="34" charset="-120"/>
              </a:rPr>
              <a:t>FTAI</a:t>
            </a:r>
            <a:endParaRPr lang="en-US" sz="1800" dirty="0"/>
          </a:p>
        </p:txBody>
      </p:sp>
      <p:sp>
        <p:nvSpPr>
          <p:cNvPr id="4" name="Text 2"/>
          <p:cNvSpPr/>
          <p:nvPr/>
        </p:nvSpPr>
        <p:spPr>
          <a:xfrm>
            <a:off x="9784080" y="219456"/>
            <a:ext cx="1417320" cy="457200"/>
          </a:xfrm>
          <a:prstGeom prst="rect">
            <a:avLst/>
          </a:prstGeom>
          <a:noFill/>
          <a:ln/>
        </p:spPr>
        <p:txBody>
          <a:bodyPr wrap="square" lIns="0" tIns="0" rIns="0" bIns="0" rtlCol="0" anchor="ctr"/>
          <a:lstStyle/>
          <a:p>
            <a:pPr algn="l" indent="0" marL="0">
              <a:buNone/>
            </a:pPr>
            <a:r>
              <a:rPr lang="en-US" sz="1800" dirty="0">
                <a:solidFill>
                  <a:srgbClr val="2E8FAE"/>
                </a:solidFill>
                <a:latin typeface="Calibri" pitchFamily="34" charset="0"/>
                <a:ea typeface="Calibri" pitchFamily="34" charset="-122"/>
                <a:cs typeface="Calibri" pitchFamily="34" charset="-120"/>
              </a:rPr>
              <a:t>AVIATION</a:t>
            </a:r>
            <a:endParaRPr lang="en-US" sz="1800" dirty="0"/>
          </a:p>
        </p:txBody>
      </p:sp>
      <p:sp>
        <p:nvSpPr>
          <p:cNvPr id="5" name="Text 3"/>
          <p:cNvSpPr/>
          <p:nvPr/>
        </p:nvSpPr>
        <p:spPr>
          <a:xfrm>
            <a:off x="9144000" y="6455664"/>
            <a:ext cx="2633472" cy="274320"/>
          </a:xfrm>
          <a:prstGeom prst="rect">
            <a:avLst/>
          </a:prstGeom>
          <a:noFill/>
          <a:ln/>
        </p:spPr>
        <p:txBody>
          <a:bodyPr wrap="square" lIns="0" tIns="0" rIns="0" bIns="0" rtlCol="0" anchor="ctr"/>
          <a:lstStyle/>
          <a:p>
            <a:pPr algn="r" indent="0" marL="0">
              <a:buNone/>
            </a:pPr>
            <a:r>
              <a:rPr lang="en-US" sz="800" b="1" spc="200" kern="0" dirty="0">
                <a:solidFill>
                  <a:srgbClr val="0B1F44"/>
                </a:solidFill>
                <a:latin typeface="Cambria" pitchFamily="34" charset="0"/>
                <a:ea typeface="Cambria" pitchFamily="34" charset="-122"/>
                <a:cs typeface="Cambria" pitchFamily="34" charset="-120"/>
              </a:rPr>
              <a:t>GLOBAL PLATINUM SECURITIES</a:t>
            </a:r>
            <a:endParaRPr lang="en-US" sz="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chart" Target="/ppt/charts/chart6.xml"/><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1051560"/>
            <a:ext cx="7772400" cy="548640"/>
          </a:xfrm>
          <a:prstGeom prst="rect">
            <a:avLst/>
          </a:prstGeom>
          <a:noFill/>
          <a:ln/>
        </p:spPr>
        <p:txBody>
          <a:bodyPr wrap="square" lIns="0" tIns="0" rIns="0" bIns="0" rtlCol="0" anchor="ctr"/>
          <a:lstStyle/>
          <a:p>
            <a:pPr indent="0" marL="0">
              <a:buNone/>
            </a:pPr>
            <a:r>
              <a:rPr lang="en-US" sz="3200" b="1" dirty="0">
                <a:solidFill>
                  <a:srgbClr val="0B1F44"/>
                </a:solidFill>
                <a:latin typeface="Cambria" pitchFamily="34" charset="0"/>
                <a:ea typeface="Cambria" pitchFamily="34" charset="-122"/>
                <a:cs typeface="Cambria" pitchFamily="34" charset="-120"/>
              </a:rPr>
              <a:t>FTAI Aviation (NASDAQ: FTAI)</a:t>
            </a:r>
            <a:endParaRPr lang="en-US" sz="3200" dirty="0"/>
          </a:p>
        </p:txBody>
      </p:sp>
      <p:sp>
        <p:nvSpPr>
          <p:cNvPr id="3" name="Text 1"/>
          <p:cNvSpPr txBox="1"/>
          <p:nvPr/>
        </p:nvSpPr>
        <p:spPr>
          <a:xfrm>
            <a:off x="502920" y="1600200"/>
            <a:ext cx="7772400" cy="457200"/>
          </a:xfrm>
          <a:prstGeom prst="rect">
            <a:avLst/>
          </a:prstGeom>
          <a:noFill/>
          <a:ln/>
        </p:spPr>
        <p:txBody>
          <a:bodyPr wrap="square" lIns="0" tIns="0" rIns="0" bIns="0" rtlCol="0" anchor="ctr"/>
          <a:lstStyle/>
          <a:p>
            <a:pPr indent="0" marL="0">
              <a:buNone/>
            </a:pPr>
            <a:r>
              <a:rPr lang="en-US" sz="2200" b="1" dirty="0">
                <a:solidFill>
                  <a:srgbClr val="E8702A"/>
                </a:solidFill>
                <a:latin typeface="Cambria" pitchFamily="34" charset="0"/>
                <a:ea typeface="Cambria" pitchFamily="34" charset="-122"/>
                <a:cs typeface="Cambria" pitchFamily="34" charset="-120"/>
              </a:rPr>
              <a:t>Long Recommendation: The Trough Is Priced As A Cliff</a:t>
            </a:r>
            <a:endParaRPr lang="en-US" sz="2200" dirty="0"/>
          </a:p>
        </p:txBody>
      </p:sp>
      <p:sp>
        <p:nvSpPr>
          <p:cNvPr id="4" name="Text 2"/>
          <p:cNvSpPr txBox="1"/>
          <p:nvPr/>
        </p:nvSpPr>
        <p:spPr>
          <a:xfrm>
            <a:off x="457200" y="2240280"/>
            <a:ext cx="7223760"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Segment Adj. EBITDA, FY25A–FY31E ($M, pre-corporate) — our base case</a:t>
            </a:r>
            <a:endParaRPr lang="en-US" sz="1050" dirty="0"/>
          </a:p>
        </p:txBody>
      </p:sp>
      <p:graphicFrame>
        <p:nvGraphicFramePr>
          <p:cNvPr id="5" name="Chart 0" descr=""/>
          <p:cNvGraphicFramePr/>
          <p:nvPr/>
        </p:nvGraphicFramePr>
        <p:xfrm>
          <a:off x="457200" y="2478024"/>
          <a:ext cx="7223760" cy="3008376"/>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02920" y="5623560"/>
            <a:ext cx="6400800" cy="274320"/>
          </a:xfrm>
          <a:prstGeom prst="rect">
            <a:avLst/>
          </a:prstGeom>
          <a:noFill/>
          <a:ln/>
        </p:spPr>
        <p:txBody>
          <a:bodyPr wrap="square" lIns="0" tIns="0" rIns="0" bIns="0" rtlCol="0" anchor="ctr"/>
          <a:lstStyle/>
          <a:p>
            <a:pPr indent="0" marL="0">
              <a:buNone/>
            </a:pPr>
            <a:r>
              <a:rPr lang="en-US" sz="1300" dirty="0">
                <a:solidFill>
                  <a:srgbClr val="0B1F44"/>
                </a:solidFill>
                <a:latin typeface="Cambria" pitchFamily="34" charset="0"/>
                <a:ea typeface="Cambria" pitchFamily="34" charset="-122"/>
                <a:cs typeface="Cambria" pitchFamily="34" charset="-120"/>
              </a:rPr>
              <a:t>October 2026  |  </a:t>
            </a:r>
            <a:r>
              <a:rPr lang="en-US" sz="1300" b="1" dirty="0">
                <a:solidFill>
                  <a:srgbClr val="0B1F44"/>
                </a:solidFill>
                <a:latin typeface="Cambria" pitchFamily="34" charset="0"/>
                <a:ea typeface="Cambria" pitchFamily="34" charset="-122"/>
                <a:cs typeface="Cambria" pitchFamily="34" charset="-120"/>
              </a:rPr>
              <a:t>Max Salomon</a:t>
            </a:r>
            <a:endParaRPr lang="en-US" sz="1300" dirty="0"/>
          </a:p>
        </p:txBody>
      </p:sp>
      <p:sp>
        <p:nvSpPr>
          <p:cNvPr id="7" name="Text 4"/>
          <p:cNvSpPr txBox="1"/>
          <p:nvPr/>
        </p:nvSpPr>
        <p:spPr>
          <a:xfrm>
            <a:off x="502920" y="5897880"/>
            <a:ext cx="7772400" cy="274320"/>
          </a:xfrm>
          <a:prstGeom prst="rect">
            <a:avLst/>
          </a:prstGeom>
          <a:noFill/>
          <a:ln/>
        </p:spPr>
        <p:txBody>
          <a:bodyPr wrap="square" lIns="0" tIns="0" rIns="0" bIns="0" rtlCol="0" anchor="ctr"/>
          <a:lstStyle/>
          <a:p>
            <a:pPr indent="0" marL="0">
              <a:buNone/>
            </a:pPr>
            <a:r>
              <a:rPr lang="en-US" sz="1300" dirty="0">
                <a:solidFill>
                  <a:srgbClr val="0B1F44"/>
                </a:solidFill>
                <a:latin typeface="Cambria" pitchFamily="34" charset="0"/>
                <a:ea typeface="Cambria" pitchFamily="34" charset="-122"/>
                <a:cs typeface="Cambria" pitchFamily="34" charset="-120"/>
              </a:rPr>
              <a:t>Current Price: </a:t>
            </a:r>
            <a:r>
              <a:rPr lang="en-US" sz="1300" b="1" dirty="0">
                <a:solidFill>
                  <a:srgbClr val="0B1F44"/>
                </a:solidFill>
                <a:latin typeface="Cambria" pitchFamily="34" charset="0"/>
                <a:ea typeface="Cambria" pitchFamily="34" charset="-122"/>
                <a:cs typeface="Cambria" pitchFamily="34" charset="-120"/>
              </a:rPr>
              <a:t>$167.03</a:t>
            </a:r>
            <a:r>
              <a:rPr lang="en-US" sz="1300" dirty="0">
                <a:solidFill>
                  <a:srgbClr val="0B1F44"/>
                </a:solidFill>
                <a:latin typeface="Cambria" pitchFamily="34" charset="0"/>
                <a:ea typeface="Cambria" pitchFamily="34" charset="-122"/>
                <a:cs typeface="Cambria" pitchFamily="34" charset="-120"/>
              </a:rPr>
              <a:t> (10/2/26)   |   Target Price: </a:t>
            </a:r>
            <a:r>
              <a:rPr lang="en-US" sz="1300" b="1" dirty="0">
                <a:solidFill>
                  <a:srgbClr val="0B1F44"/>
                </a:solidFill>
                <a:latin typeface="Cambria" pitchFamily="34" charset="0"/>
                <a:ea typeface="Cambria" pitchFamily="34" charset="-122"/>
                <a:cs typeface="Cambria" pitchFamily="34" charset="-120"/>
              </a:rPr>
              <a:t>$277</a:t>
            </a:r>
            <a:r>
              <a:rPr lang="en-US" sz="1300" dirty="0">
                <a:solidFill>
                  <a:srgbClr val="0B1F44"/>
                </a:solidFill>
                <a:latin typeface="Cambria" pitchFamily="34" charset="0"/>
                <a:ea typeface="Cambria" pitchFamily="34" charset="-122"/>
                <a:cs typeface="Cambria" pitchFamily="34" charset="-120"/>
              </a:rPr>
              <a:t> (</a:t>
            </a:r>
            <a:r>
              <a:rPr lang="en-US" sz="1300" b="1" dirty="0">
                <a:solidFill>
                  <a:srgbClr val="E8702A"/>
                </a:solidFill>
                <a:latin typeface="Cambria" pitchFamily="34" charset="0"/>
                <a:ea typeface="Cambria" pitchFamily="34" charset="-122"/>
                <a:cs typeface="Cambria" pitchFamily="34" charset="-120"/>
              </a:rPr>
              <a:t>+66%</a:t>
            </a:r>
            <a:r>
              <a:rPr lang="en-US" sz="1300" dirty="0">
                <a:solidFill>
                  <a:srgbClr val="0B1F44"/>
                </a:solidFill>
                <a:latin typeface="Cambria" pitchFamily="34" charset="0"/>
                <a:ea typeface="Cambria" pitchFamily="34" charset="-122"/>
                <a:cs typeface="Cambria" pitchFamily="34" charset="-120"/>
              </a:rPr>
              <a:t>)   |   Reward / Risk: </a:t>
            </a:r>
            <a:r>
              <a:rPr lang="en-US" sz="1300" b="1" dirty="0">
                <a:solidFill>
                  <a:srgbClr val="0B1F44"/>
                </a:solidFill>
                <a:latin typeface="Cambria" pitchFamily="34" charset="0"/>
                <a:ea typeface="Cambria" pitchFamily="34" charset="-122"/>
                <a:cs typeface="Cambria" pitchFamily="34" charset="-120"/>
              </a:rPr>
              <a:t>3.4x</a:t>
            </a:r>
            <a:endParaRPr lang="en-US" sz="1300" dirty="0"/>
          </a:p>
        </p:txBody>
      </p:sp>
      <p:sp>
        <p:nvSpPr>
          <p:cNvPr id="8" name="Shape 5"/>
          <p:cNvSpPr/>
          <p:nvPr/>
        </p:nvSpPr>
        <p:spPr>
          <a:xfrm>
            <a:off x="8183880" y="1143000"/>
            <a:ext cx="3611880" cy="457200"/>
          </a:xfrm>
          <a:prstGeom prst="rect">
            <a:avLst/>
          </a:prstGeom>
          <a:solidFill>
            <a:srgbClr val="0B1F44"/>
          </a:solidFill>
          <a:ln w="12700">
            <a:solidFill>
              <a:srgbClr val="0B1F44"/>
            </a:solidFill>
            <a:prstDash val="solid"/>
          </a:ln>
        </p:spPr>
      </p:sp>
      <p:sp>
        <p:nvSpPr>
          <p:cNvPr id="9" name="Text 6"/>
          <p:cNvSpPr txBox="1"/>
          <p:nvPr/>
        </p:nvSpPr>
        <p:spPr>
          <a:xfrm>
            <a:off x="8183880" y="1143000"/>
            <a:ext cx="361188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Key Financials</a:t>
            </a:r>
            <a:endParaRPr lang="en-US" sz="1500" dirty="0"/>
          </a:p>
        </p:txBody>
      </p:sp>
      <p:sp>
        <p:nvSpPr>
          <p:cNvPr id="10" name="Shape 7"/>
          <p:cNvSpPr/>
          <p:nvPr/>
        </p:nvSpPr>
        <p:spPr>
          <a:xfrm>
            <a:off x="8183880" y="1600200"/>
            <a:ext cx="3611880" cy="3968496"/>
          </a:xfrm>
          <a:prstGeom prst="rect">
            <a:avLst/>
          </a:prstGeom>
          <a:solidFill>
            <a:srgbClr val="FFFFFF"/>
          </a:solidFill>
          <a:ln w="15875">
            <a:solidFill>
              <a:srgbClr val="0B1F44"/>
            </a:solidFill>
            <a:prstDash val="solid"/>
          </a:ln>
        </p:spPr>
      </p:sp>
      <p:sp>
        <p:nvSpPr>
          <p:cNvPr id="11" name="Text 8"/>
          <p:cNvSpPr txBox="1"/>
          <p:nvPr/>
        </p:nvSpPr>
        <p:spPr>
          <a:xfrm>
            <a:off x="8321040" y="1691640"/>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Share price (2-Oct-26)</a:t>
            </a:r>
            <a:endParaRPr lang="en-US" sz="1150" dirty="0"/>
          </a:p>
        </p:txBody>
      </p:sp>
      <p:sp>
        <p:nvSpPr>
          <p:cNvPr id="12" name="Text 9"/>
          <p:cNvSpPr txBox="1"/>
          <p:nvPr/>
        </p:nvSpPr>
        <p:spPr>
          <a:xfrm>
            <a:off x="10469880" y="1691640"/>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$167.03</a:t>
            </a:r>
            <a:endParaRPr lang="en-US" sz="1150" dirty="0"/>
          </a:p>
        </p:txBody>
      </p:sp>
      <p:sp>
        <p:nvSpPr>
          <p:cNvPr id="13" name="Shape 10"/>
          <p:cNvSpPr/>
          <p:nvPr/>
        </p:nvSpPr>
        <p:spPr>
          <a:xfrm>
            <a:off x="8321040" y="2139696"/>
            <a:ext cx="3337560" cy="0"/>
          </a:xfrm>
          <a:prstGeom prst="line">
            <a:avLst/>
          </a:prstGeom>
          <a:noFill/>
          <a:ln w="6350">
            <a:solidFill>
              <a:srgbClr val="D9D9D9"/>
            </a:solidFill>
            <a:prstDash val="solid"/>
          </a:ln>
        </p:spPr>
      </p:sp>
      <p:sp>
        <p:nvSpPr>
          <p:cNvPr id="14" name="Text 11"/>
          <p:cNvSpPr txBox="1"/>
          <p:nvPr/>
        </p:nvSpPr>
        <p:spPr>
          <a:xfrm>
            <a:off x="8321040" y="2176272"/>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Market cap</a:t>
            </a:r>
            <a:endParaRPr lang="en-US" sz="1150" dirty="0"/>
          </a:p>
        </p:txBody>
      </p:sp>
      <p:sp>
        <p:nvSpPr>
          <p:cNvPr id="15" name="Text 12"/>
          <p:cNvSpPr txBox="1"/>
          <p:nvPr/>
        </p:nvSpPr>
        <p:spPr>
          <a:xfrm>
            <a:off x="10469880" y="2176272"/>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$17.4bn</a:t>
            </a:r>
            <a:endParaRPr lang="en-US" sz="1150" dirty="0"/>
          </a:p>
        </p:txBody>
      </p:sp>
      <p:sp>
        <p:nvSpPr>
          <p:cNvPr id="16" name="Shape 13"/>
          <p:cNvSpPr/>
          <p:nvPr/>
        </p:nvSpPr>
        <p:spPr>
          <a:xfrm>
            <a:off x="8321040" y="2624328"/>
            <a:ext cx="3337560" cy="0"/>
          </a:xfrm>
          <a:prstGeom prst="line">
            <a:avLst/>
          </a:prstGeom>
          <a:noFill/>
          <a:ln w="6350">
            <a:solidFill>
              <a:srgbClr val="D9D9D9"/>
            </a:solidFill>
            <a:prstDash val="solid"/>
          </a:ln>
        </p:spPr>
      </p:sp>
      <p:sp>
        <p:nvSpPr>
          <p:cNvPr id="17" name="Text 14"/>
          <p:cNvSpPr txBox="1"/>
          <p:nvPr/>
        </p:nvSpPr>
        <p:spPr>
          <a:xfrm>
            <a:off x="8321040" y="2660904"/>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Enterprise value</a:t>
            </a:r>
            <a:endParaRPr lang="en-US" sz="1150" dirty="0"/>
          </a:p>
        </p:txBody>
      </p:sp>
      <p:sp>
        <p:nvSpPr>
          <p:cNvPr id="18" name="Text 15"/>
          <p:cNvSpPr txBox="1"/>
          <p:nvPr/>
        </p:nvSpPr>
        <p:spPr>
          <a:xfrm>
            <a:off x="10469880" y="2660904"/>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$20.6bn</a:t>
            </a:r>
            <a:endParaRPr lang="en-US" sz="1150" dirty="0"/>
          </a:p>
        </p:txBody>
      </p:sp>
      <p:sp>
        <p:nvSpPr>
          <p:cNvPr id="19" name="Shape 16"/>
          <p:cNvSpPr/>
          <p:nvPr/>
        </p:nvSpPr>
        <p:spPr>
          <a:xfrm>
            <a:off x="8321040" y="3108960"/>
            <a:ext cx="3337560" cy="0"/>
          </a:xfrm>
          <a:prstGeom prst="line">
            <a:avLst/>
          </a:prstGeom>
          <a:noFill/>
          <a:ln w="6350">
            <a:solidFill>
              <a:srgbClr val="D9D9D9"/>
            </a:solidFill>
            <a:prstDash val="solid"/>
          </a:ln>
        </p:spPr>
      </p:sp>
      <p:sp>
        <p:nvSpPr>
          <p:cNvPr id="20" name="Text 17"/>
          <p:cNvSpPr txBox="1"/>
          <p:nvPr/>
        </p:nvSpPr>
        <p:spPr>
          <a:xfrm>
            <a:off x="8321040" y="3145536"/>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EV / FY26E EBITDA</a:t>
            </a:r>
            <a:endParaRPr lang="en-US" sz="1150" dirty="0"/>
          </a:p>
        </p:txBody>
      </p:sp>
      <p:sp>
        <p:nvSpPr>
          <p:cNvPr id="21" name="Text 18"/>
          <p:cNvSpPr txBox="1"/>
          <p:nvPr/>
        </p:nvSpPr>
        <p:spPr>
          <a:xfrm>
            <a:off x="10469880" y="3145536"/>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15.7x</a:t>
            </a:r>
            <a:endParaRPr lang="en-US" sz="1150" dirty="0"/>
          </a:p>
        </p:txBody>
      </p:sp>
      <p:sp>
        <p:nvSpPr>
          <p:cNvPr id="22" name="Shape 19"/>
          <p:cNvSpPr/>
          <p:nvPr/>
        </p:nvSpPr>
        <p:spPr>
          <a:xfrm>
            <a:off x="8321040" y="3593592"/>
            <a:ext cx="3337560" cy="0"/>
          </a:xfrm>
          <a:prstGeom prst="line">
            <a:avLst/>
          </a:prstGeom>
          <a:noFill/>
          <a:ln w="6350">
            <a:solidFill>
              <a:srgbClr val="D9D9D9"/>
            </a:solidFill>
            <a:prstDash val="solid"/>
          </a:ln>
        </p:spPr>
      </p:sp>
      <p:sp>
        <p:nvSpPr>
          <p:cNvPr id="23" name="Text 20"/>
          <p:cNvSpPr txBox="1"/>
          <p:nvPr/>
        </p:nvSpPr>
        <p:spPr>
          <a:xfrm>
            <a:off x="8321040" y="3630168"/>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EV / FY27E EBITDA</a:t>
            </a:r>
            <a:endParaRPr lang="en-US" sz="1150" dirty="0"/>
          </a:p>
        </p:txBody>
      </p:sp>
      <p:sp>
        <p:nvSpPr>
          <p:cNvPr id="24" name="Text 21"/>
          <p:cNvSpPr txBox="1"/>
          <p:nvPr/>
        </p:nvSpPr>
        <p:spPr>
          <a:xfrm>
            <a:off x="10469880" y="3630168"/>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9.2x</a:t>
            </a:r>
            <a:endParaRPr lang="en-US" sz="1150" dirty="0"/>
          </a:p>
        </p:txBody>
      </p:sp>
      <p:sp>
        <p:nvSpPr>
          <p:cNvPr id="25" name="Shape 22"/>
          <p:cNvSpPr/>
          <p:nvPr/>
        </p:nvSpPr>
        <p:spPr>
          <a:xfrm>
            <a:off x="8321040" y="4078224"/>
            <a:ext cx="3337560" cy="0"/>
          </a:xfrm>
          <a:prstGeom prst="line">
            <a:avLst/>
          </a:prstGeom>
          <a:noFill/>
          <a:ln w="6350">
            <a:solidFill>
              <a:srgbClr val="D9D9D9"/>
            </a:solidFill>
            <a:prstDash val="solid"/>
          </a:ln>
        </p:spPr>
      </p:sp>
      <p:sp>
        <p:nvSpPr>
          <p:cNvPr id="26" name="Text 23"/>
          <p:cNvSpPr txBox="1"/>
          <p:nvPr/>
        </p:nvSpPr>
        <p:spPr>
          <a:xfrm>
            <a:off x="8321040" y="4114800"/>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FY27E UFCF conversion</a:t>
            </a:r>
            <a:endParaRPr lang="en-US" sz="1150" dirty="0"/>
          </a:p>
        </p:txBody>
      </p:sp>
      <p:sp>
        <p:nvSpPr>
          <p:cNvPr id="27" name="Text 24"/>
          <p:cNvSpPr txBox="1"/>
          <p:nvPr/>
        </p:nvSpPr>
        <p:spPr>
          <a:xfrm>
            <a:off x="10469880" y="4114800"/>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47%</a:t>
            </a:r>
            <a:endParaRPr lang="en-US" sz="1150" dirty="0"/>
          </a:p>
        </p:txBody>
      </p:sp>
      <p:sp>
        <p:nvSpPr>
          <p:cNvPr id="28" name="Shape 25"/>
          <p:cNvSpPr/>
          <p:nvPr/>
        </p:nvSpPr>
        <p:spPr>
          <a:xfrm>
            <a:off x="8321040" y="4562856"/>
            <a:ext cx="3337560" cy="0"/>
          </a:xfrm>
          <a:prstGeom prst="line">
            <a:avLst/>
          </a:prstGeom>
          <a:noFill/>
          <a:ln w="6350">
            <a:solidFill>
              <a:srgbClr val="D9D9D9"/>
            </a:solidFill>
            <a:prstDash val="solid"/>
          </a:ln>
        </p:spPr>
      </p:sp>
      <p:sp>
        <p:nvSpPr>
          <p:cNvPr id="29" name="Text 26"/>
          <p:cNvSpPr txBox="1"/>
          <p:nvPr/>
        </p:nvSpPr>
        <p:spPr>
          <a:xfrm>
            <a:off x="8321040" y="4599432"/>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Net debt / FY26E EBITDA</a:t>
            </a:r>
            <a:endParaRPr lang="en-US" sz="1150" dirty="0"/>
          </a:p>
        </p:txBody>
      </p:sp>
      <p:sp>
        <p:nvSpPr>
          <p:cNvPr id="30" name="Text 27"/>
          <p:cNvSpPr txBox="1"/>
          <p:nvPr/>
        </p:nvSpPr>
        <p:spPr>
          <a:xfrm>
            <a:off x="10469880" y="4599432"/>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2.3x</a:t>
            </a:r>
            <a:endParaRPr lang="en-US" sz="1150" dirty="0"/>
          </a:p>
        </p:txBody>
      </p:sp>
      <p:sp>
        <p:nvSpPr>
          <p:cNvPr id="31" name="Shape 28"/>
          <p:cNvSpPr/>
          <p:nvPr/>
        </p:nvSpPr>
        <p:spPr>
          <a:xfrm>
            <a:off x="8321040" y="5047488"/>
            <a:ext cx="3337560" cy="0"/>
          </a:xfrm>
          <a:prstGeom prst="line">
            <a:avLst/>
          </a:prstGeom>
          <a:noFill/>
          <a:ln w="6350">
            <a:solidFill>
              <a:srgbClr val="D9D9D9"/>
            </a:solidFill>
            <a:prstDash val="solid"/>
          </a:ln>
        </p:spPr>
      </p:sp>
      <p:sp>
        <p:nvSpPr>
          <p:cNvPr id="32" name="Text 29"/>
          <p:cNvSpPr txBox="1"/>
          <p:nvPr/>
        </p:nvSpPr>
        <p:spPr>
          <a:xfrm>
            <a:off x="8321040" y="5084064"/>
            <a:ext cx="2286000" cy="411480"/>
          </a:xfrm>
          <a:prstGeom prst="rect">
            <a:avLst/>
          </a:prstGeom>
          <a:noFill/>
          <a:ln/>
        </p:spPr>
        <p:txBody>
          <a:bodyPr wrap="square" lIns="0" tIns="0" rIns="0" bIns="0" rtlCol="0" anchor="ctr"/>
          <a:lstStyle/>
          <a:p>
            <a:pPr indent="0" marL="0">
              <a:buNone/>
            </a:pPr>
            <a:r>
              <a:rPr lang="en-US" sz="1150" b="1" dirty="0">
                <a:solidFill>
                  <a:srgbClr val="0B1F44"/>
                </a:solidFill>
                <a:latin typeface="Cambria" pitchFamily="34" charset="0"/>
                <a:ea typeface="Cambria" pitchFamily="34" charset="-122"/>
                <a:cs typeface="Cambria" pitchFamily="34" charset="-120"/>
              </a:rPr>
              <a:t>SOTP target (FY27E)</a:t>
            </a:r>
            <a:endParaRPr lang="en-US" sz="1150" dirty="0"/>
          </a:p>
        </p:txBody>
      </p:sp>
      <p:sp>
        <p:nvSpPr>
          <p:cNvPr id="33" name="Text 30"/>
          <p:cNvSpPr txBox="1"/>
          <p:nvPr/>
        </p:nvSpPr>
        <p:spPr>
          <a:xfrm>
            <a:off x="10469880" y="5084064"/>
            <a:ext cx="1188720" cy="411480"/>
          </a:xfrm>
          <a:prstGeom prst="rect">
            <a:avLst/>
          </a:prstGeom>
          <a:noFill/>
          <a:ln/>
        </p:spPr>
        <p:txBody>
          <a:bodyPr wrap="square" lIns="0" tIns="0" rIns="0" bIns="0" rtlCol="0" anchor="ctr"/>
          <a:lstStyle/>
          <a:p>
            <a:pPr algn="r" indent="0" marL="0">
              <a:buNone/>
            </a:pPr>
            <a:r>
              <a:rPr lang="en-US" sz="1150" dirty="0">
                <a:solidFill>
                  <a:srgbClr val="0B1F44"/>
                </a:solidFill>
                <a:latin typeface="Cambria" pitchFamily="34" charset="0"/>
                <a:ea typeface="Cambria" pitchFamily="34" charset="-122"/>
                <a:cs typeface="Cambria" pitchFamily="34" charset="-120"/>
              </a:rPr>
              <a:t>$277</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Pitch Pre-Requisites &amp; Beliefs</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What You Need To Believe For This Pitch</a:t>
            </a:r>
            <a:endParaRPr lang="en-US" sz="1500" dirty="0"/>
          </a:p>
        </p:txBody>
      </p:sp>
      <p:sp>
        <p:nvSpPr>
          <p:cNvPr id="5" name="Shape 3"/>
          <p:cNvSpPr/>
          <p:nvPr/>
        </p:nvSpPr>
        <p:spPr>
          <a:xfrm>
            <a:off x="548640" y="1600200"/>
            <a:ext cx="1005840" cy="1005840"/>
          </a:xfrm>
          <a:prstGeom prst="ellipse">
            <a:avLst/>
          </a:prstGeom>
          <a:solidFill>
            <a:srgbClr val="FFFFFF"/>
          </a:solidFill>
          <a:ln w="31750">
            <a:solidFill>
              <a:srgbClr val="0B1F44"/>
            </a:solidFill>
            <a:prstDash val="solid"/>
          </a:ln>
        </p:spPr>
      </p:sp>
      <p:pic>
        <p:nvPicPr>
          <p:cNvPr id="6" name="Image 0" descr="preencoded.png">    </p:cNvPr>
          <p:cNvPicPr>
            <a:picLocks noChangeAspect="1"/>
          </p:cNvPicPr>
          <p:nvPr/>
        </p:nvPicPr>
        <p:blipFill>
          <a:blip r:embed="rId1"/>
          <a:stretch>
            <a:fillRect/>
          </a:stretch>
        </p:blipFill>
        <p:spPr>
          <a:xfrm>
            <a:off x="804672" y="1856232"/>
            <a:ext cx="493776" cy="493776"/>
          </a:xfrm>
          <a:prstGeom prst="rect">
            <a:avLst/>
          </a:prstGeom>
        </p:spPr>
      </p:pic>
      <p:sp>
        <p:nvSpPr>
          <p:cNvPr id="7" name="Text 4"/>
          <p:cNvSpPr txBox="1"/>
          <p:nvPr/>
        </p:nvSpPr>
        <p:spPr>
          <a:xfrm>
            <a:off x="1691640" y="1572768"/>
            <a:ext cx="2514600" cy="365760"/>
          </a:xfrm>
          <a:prstGeom prst="rect">
            <a:avLst/>
          </a:prstGeom>
          <a:noFill/>
          <a:ln/>
        </p:spPr>
        <p:txBody>
          <a:bodyPr wrap="square" lIns="25400" tIns="25400" rIns="25400" bIns="25400" rtlCol="0" anchor="ctr"/>
          <a:lstStyle/>
          <a:p>
            <a:pPr algn="l" indent="0" marL="0">
              <a:buNone/>
            </a:pPr>
            <a:r>
              <a:rPr lang="en-US" sz="1250" b="1" dirty="0">
                <a:solidFill>
                  <a:srgbClr val="0B1F44"/>
                </a:solidFill>
                <a:latin typeface="Cambria" pitchFamily="34" charset="0"/>
                <a:ea typeface="Cambria" pitchFamily="34" charset="-122"/>
                <a:cs typeface="Cambria" pitchFamily="34" charset="-120"/>
              </a:rPr>
              <a:t>~30% Is The Floor, Not A Waypoint</a:t>
            </a:r>
            <a:endParaRPr lang="en-US" sz="1250" dirty="0"/>
          </a:p>
        </p:txBody>
      </p:sp>
      <p:sp>
        <p:nvSpPr>
          <p:cNvPr id="8" name="Text 5"/>
          <p:cNvSpPr txBox="1"/>
          <p:nvPr/>
        </p:nvSpPr>
        <p:spPr>
          <a:xfrm>
            <a:off x="1691640" y="1920240"/>
            <a:ext cx="2514600" cy="1325880"/>
          </a:xfrm>
          <a:prstGeom prst="rect">
            <a:avLst/>
          </a:prstGeom>
          <a:noFill/>
          <a:ln/>
        </p:spPr>
        <p:txBody>
          <a:bodyPr wrap="square" lIns="25400" tIns="25400" rIns="25400" bIns="25400" rtlCol="0" anchor="t"/>
          <a:lstStyle/>
          <a:p>
            <a:pPr algn="l" indent="0" marL="0">
              <a:buNone/>
            </a:pPr>
            <a:r>
              <a:rPr lang="en-US" sz="1000" dirty="0">
                <a:solidFill>
                  <a:srgbClr val="404040"/>
                </a:solidFill>
                <a:latin typeface="Calibri" pitchFamily="34" charset="0"/>
                <a:ea typeface="Calibri" pitchFamily="34" charset="-122"/>
                <a:cs typeface="Calibri" pitchFamily="34" charset="-120"/>
              </a:rPr>
              <a:t>Cheap leasing stock is </a:t>
            </a:r>
            <a:r>
              <a:rPr lang="en-US" sz="1000" b="1" dirty="0">
                <a:solidFill>
                  <a:srgbClr val="0B1F44"/>
                </a:solidFill>
                <a:latin typeface="Calibri" pitchFamily="34" charset="0"/>
                <a:ea typeface="Calibri" pitchFamily="34" charset="-122"/>
                <a:cs typeface="Calibri" pitchFamily="34" charset="-120"/>
              </a:rPr>
              <a:t>&lt;8% of inventory</a:t>
            </a:r>
            <a:r>
              <a:rPr lang="en-US" sz="1000" dirty="0">
                <a:solidFill>
                  <a:srgbClr val="404040"/>
                </a:solidFill>
                <a:latin typeface="Calibri" pitchFamily="34" charset="0"/>
                <a:ea typeface="Calibri" pitchFamily="34" charset="-122"/>
                <a:cs typeface="Calibri" pitchFamily="34" charset="-120"/>
              </a:rPr>
              <a:t>, heavy-scope mix is capped by shop capacity, and </a:t>
            </a:r>
            <a:r>
              <a:rPr lang="en-US" sz="1000" b="1" dirty="0">
                <a:solidFill>
                  <a:srgbClr val="0B1F44"/>
                </a:solidFill>
                <a:latin typeface="Calibri" pitchFamily="34" charset="0"/>
                <a:ea typeface="Calibri" pitchFamily="34" charset="-122"/>
                <a:cs typeface="Calibri" pitchFamily="34" charset="-120"/>
              </a:rPr>
              <a:t>PMA runs through SCI's own engines</a:t>
            </a:r>
            <a:r>
              <a:rPr lang="en-US" sz="1000" dirty="0">
                <a:solidFill>
                  <a:srgbClr val="404040"/>
                </a:solidFill>
                <a:latin typeface="Calibri" pitchFamily="34" charset="0"/>
                <a:ea typeface="Calibri" pitchFamily="34" charset="-122"/>
                <a:cs typeface="Calibri" pitchFamily="34" charset="-120"/>
              </a:rPr>
              <a:t>. Two more ~30% prints prove the trough and the multiple re-rates.</a:t>
            </a:r>
            <a:endParaRPr lang="en-US" sz="1000" dirty="0"/>
          </a:p>
        </p:txBody>
      </p:sp>
      <p:sp>
        <p:nvSpPr>
          <p:cNvPr id="9" name="Shape 6"/>
          <p:cNvSpPr/>
          <p:nvPr/>
        </p:nvSpPr>
        <p:spPr>
          <a:xfrm>
            <a:off x="4343400" y="1600200"/>
            <a:ext cx="1005840" cy="1005840"/>
          </a:xfrm>
          <a:prstGeom prst="ellipse">
            <a:avLst/>
          </a:prstGeom>
          <a:solidFill>
            <a:srgbClr val="FFFFFF"/>
          </a:solidFill>
          <a:ln w="31750">
            <a:solidFill>
              <a:srgbClr val="0B1F44"/>
            </a:solidFill>
            <a:prstDash val="solid"/>
          </a:ln>
        </p:spPr>
      </p:sp>
      <p:pic>
        <p:nvPicPr>
          <p:cNvPr id="10" name="Image 1" descr="preencoded.png">    </p:cNvPr>
          <p:cNvPicPr>
            <a:picLocks noChangeAspect="1"/>
          </p:cNvPicPr>
          <p:nvPr/>
        </p:nvPicPr>
        <p:blipFill>
          <a:blip r:embed="rId2"/>
          <a:stretch>
            <a:fillRect/>
          </a:stretch>
        </p:blipFill>
        <p:spPr>
          <a:xfrm>
            <a:off x="4599432" y="1856232"/>
            <a:ext cx="493776" cy="493776"/>
          </a:xfrm>
          <a:prstGeom prst="rect">
            <a:avLst/>
          </a:prstGeom>
        </p:spPr>
      </p:pic>
      <p:sp>
        <p:nvSpPr>
          <p:cNvPr id="11" name="Text 7"/>
          <p:cNvSpPr txBox="1"/>
          <p:nvPr/>
        </p:nvSpPr>
        <p:spPr>
          <a:xfrm>
            <a:off x="5486400" y="1572768"/>
            <a:ext cx="2514600" cy="365760"/>
          </a:xfrm>
          <a:prstGeom prst="rect">
            <a:avLst/>
          </a:prstGeom>
          <a:noFill/>
          <a:ln/>
        </p:spPr>
        <p:txBody>
          <a:bodyPr wrap="square" lIns="25400" tIns="25400" rIns="25400" bIns="25400" rtlCol="0" anchor="ctr"/>
          <a:lstStyle/>
          <a:p>
            <a:pPr algn="l" indent="0" marL="0">
              <a:buNone/>
            </a:pPr>
            <a:r>
              <a:rPr lang="en-US" sz="1250" b="1" dirty="0">
                <a:solidFill>
                  <a:srgbClr val="0B1F44"/>
                </a:solidFill>
                <a:latin typeface="Cambria" pitchFamily="34" charset="0"/>
                <a:ea typeface="Cambria" pitchFamily="34" charset="-122"/>
                <a:cs typeface="Cambria" pitchFamily="34" charset="-120"/>
              </a:rPr>
              <a:t>The CFM56 Whitespace Becomes FTAI's</a:t>
            </a:r>
            <a:endParaRPr lang="en-US" sz="1250" dirty="0"/>
          </a:p>
        </p:txBody>
      </p:sp>
      <p:sp>
        <p:nvSpPr>
          <p:cNvPr id="12" name="Text 8"/>
          <p:cNvSpPr txBox="1"/>
          <p:nvPr/>
        </p:nvSpPr>
        <p:spPr>
          <a:xfrm>
            <a:off x="5486400" y="1920240"/>
            <a:ext cx="2514600" cy="1325880"/>
          </a:xfrm>
          <a:prstGeom prst="rect">
            <a:avLst/>
          </a:prstGeom>
          <a:noFill/>
          <a:ln/>
        </p:spPr>
        <p:txBody>
          <a:bodyPr wrap="square" lIns="25400" tIns="25400" rIns="25400" bIns="25400" rtlCol="0" anchor="t"/>
          <a:lstStyle/>
          <a:p>
            <a:pPr algn="l" indent="0" marL="0">
              <a:buNone/>
            </a:pPr>
            <a:r>
              <a:rPr lang="en-US" sz="1000" dirty="0">
                <a:solidFill>
                  <a:srgbClr val="404040"/>
                </a:solidFill>
                <a:latin typeface="Calibri" pitchFamily="34" charset="0"/>
                <a:ea typeface="Calibri" pitchFamily="34" charset="-122"/>
                <a:cs typeface="Calibri" pitchFamily="34" charset="-120"/>
              </a:rPr>
              <a:t>OEMs and big MROs are moving slots to LEAP while LEAP keeps CFM56s flying. FTAI's capacity is </a:t>
            </a:r>
            <a:r>
              <a:rPr lang="en-US" sz="1000" b="1" dirty="0">
                <a:solidFill>
                  <a:srgbClr val="0B1F44"/>
                </a:solidFill>
                <a:latin typeface="Calibri" pitchFamily="34" charset="0"/>
                <a:ea typeface="Calibri" pitchFamily="34" charset="-122"/>
                <a:cs typeface="Calibri" pitchFamily="34" charset="-120"/>
              </a:rPr>
              <a:t>already built</a:t>
            </a:r>
            <a:r>
              <a:rPr lang="en-US" sz="1000" dirty="0">
                <a:solidFill>
                  <a:srgbClr val="404040"/>
                </a:solidFill>
                <a:latin typeface="Calibri" pitchFamily="34" charset="0"/>
                <a:ea typeface="Calibri" pitchFamily="34" charset="-122"/>
                <a:cs typeface="Calibri" pitchFamily="34" charset="-120"/>
              </a:rPr>
              <a:t>; Cairo and Jakarta ramp in 2027 and take FTAI to </a:t>
            </a:r>
            <a:r>
              <a:rPr lang="en-US" sz="1000" b="1" dirty="0">
                <a:solidFill>
                  <a:srgbClr val="0B1F44"/>
                </a:solidFill>
                <a:latin typeface="Calibri" pitchFamily="34" charset="0"/>
                <a:ea typeface="Calibri" pitchFamily="34" charset="-122"/>
                <a:cs typeface="Calibri" pitchFamily="34" charset="-120"/>
              </a:rPr>
              <a:t>~25% of CFM56 module demand</a:t>
            </a:r>
            <a:r>
              <a:rPr lang="en-US" sz="1000" dirty="0">
                <a:solidFill>
                  <a:srgbClr val="404040"/>
                </a:solidFill>
                <a:latin typeface="Calibri" pitchFamily="34" charset="0"/>
                <a:ea typeface="Calibri" pitchFamily="34" charset="-122"/>
                <a:cs typeface="Calibri" pitchFamily="34" charset="-120"/>
              </a:rPr>
              <a:t>.</a:t>
            </a:r>
            <a:endParaRPr lang="en-US" sz="1000" dirty="0"/>
          </a:p>
        </p:txBody>
      </p:sp>
      <p:sp>
        <p:nvSpPr>
          <p:cNvPr id="13" name="Shape 9"/>
          <p:cNvSpPr/>
          <p:nvPr/>
        </p:nvSpPr>
        <p:spPr>
          <a:xfrm>
            <a:off x="8138160" y="1600200"/>
            <a:ext cx="1005840" cy="1005840"/>
          </a:xfrm>
          <a:prstGeom prst="ellipse">
            <a:avLst/>
          </a:prstGeom>
          <a:solidFill>
            <a:srgbClr val="FFFFFF"/>
          </a:solidFill>
          <a:ln w="31750">
            <a:solidFill>
              <a:srgbClr val="0B1F44"/>
            </a:solidFill>
            <a:prstDash val="solid"/>
          </a:ln>
        </p:spPr>
      </p:sp>
      <p:pic>
        <p:nvPicPr>
          <p:cNvPr id="14" name="Image 2" descr="preencoded.png">    </p:cNvPr>
          <p:cNvPicPr>
            <a:picLocks noChangeAspect="1"/>
          </p:cNvPicPr>
          <p:nvPr/>
        </p:nvPicPr>
        <p:blipFill>
          <a:blip r:embed="rId3"/>
          <a:stretch>
            <a:fillRect/>
          </a:stretch>
        </p:blipFill>
        <p:spPr>
          <a:xfrm>
            <a:off x="8394192" y="1856232"/>
            <a:ext cx="493776" cy="493776"/>
          </a:xfrm>
          <a:prstGeom prst="rect">
            <a:avLst/>
          </a:prstGeom>
        </p:spPr>
      </p:pic>
      <p:sp>
        <p:nvSpPr>
          <p:cNvPr id="15" name="Text 10"/>
          <p:cNvSpPr txBox="1"/>
          <p:nvPr/>
        </p:nvSpPr>
        <p:spPr>
          <a:xfrm>
            <a:off x="9281160" y="1572768"/>
            <a:ext cx="2514600" cy="365760"/>
          </a:xfrm>
          <a:prstGeom prst="rect">
            <a:avLst/>
          </a:prstGeom>
          <a:noFill/>
          <a:ln/>
        </p:spPr>
        <p:txBody>
          <a:bodyPr wrap="square" lIns="25400" tIns="25400" rIns="25400" bIns="25400" rtlCol="0" anchor="ctr"/>
          <a:lstStyle/>
          <a:p>
            <a:pPr algn="l" indent="0" marL="0">
              <a:buNone/>
            </a:pPr>
            <a:r>
              <a:rPr lang="en-US" sz="1250" b="1" dirty="0">
                <a:solidFill>
                  <a:srgbClr val="0B1F44"/>
                </a:solidFill>
                <a:latin typeface="Cambria" pitchFamily="34" charset="0"/>
                <a:ea typeface="Cambria" pitchFamily="34" charset="-122"/>
                <a:cs typeface="Cambria" pitchFamily="34" charset="-120"/>
              </a:rPr>
              <a:t>Power Is A Call Option, Paid For Free</a:t>
            </a:r>
            <a:endParaRPr lang="en-US" sz="1250" dirty="0"/>
          </a:p>
        </p:txBody>
      </p:sp>
      <p:sp>
        <p:nvSpPr>
          <p:cNvPr id="16" name="Text 11"/>
          <p:cNvSpPr txBox="1"/>
          <p:nvPr/>
        </p:nvSpPr>
        <p:spPr>
          <a:xfrm>
            <a:off x="9281160" y="1920240"/>
            <a:ext cx="2514600" cy="1325880"/>
          </a:xfrm>
          <a:prstGeom prst="rect">
            <a:avLst/>
          </a:prstGeom>
          <a:noFill/>
          <a:ln/>
        </p:spPr>
        <p:txBody>
          <a:bodyPr wrap="square" lIns="25400" tIns="25400" rIns="25400" bIns="25400" rtlCol="0" anchor="t"/>
          <a:lstStyle/>
          <a:p>
            <a:pPr algn="l" indent="0" marL="0">
              <a:buNone/>
            </a:pPr>
            <a:r>
              <a:rPr lang="en-US" sz="1000" dirty="0">
                <a:solidFill>
                  <a:srgbClr val="404040"/>
                </a:solidFill>
                <a:latin typeface="Calibri" pitchFamily="34" charset="0"/>
                <a:ea typeface="Calibri" pitchFamily="34" charset="-122"/>
                <a:cs typeface="Calibri" pitchFamily="34" charset="-120"/>
              </a:rPr>
              <a:t>The grid falls </a:t>
            </a:r>
            <a:r>
              <a:rPr lang="en-US" sz="1000" b="1" dirty="0">
                <a:solidFill>
                  <a:srgbClr val="0B1F44"/>
                </a:solidFill>
                <a:latin typeface="Calibri" pitchFamily="34" charset="0"/>
                <a:ea typeface="Calibri" pitchFamily="34" charset="-122"/>
                <a:cs typeface="Calibri" pitchFamily="34" charset="-120"/>
              </a:rPr>
              <a:t>8–47 GW short from 2029</a:t>
            </a:r>
            <a:r>
              <a:rPr lang="en-US" sz="1000" dirty="0">
                <a:solidFill>
                  <a:srgbClr val="404040"/>
                </a:solidFill>
                <a:latin typeface="Calibri" pitchFamily="34" charset="0"/>
                <a:ea typeface="Calibri" pitchFamily="34" charset="-122"/>
                <a:cs typeface="Calibri" pitchFamily="34" charset="-120"/>
              </a:rPr>
              <a:t>. FTAI's xAI order came at the shell-and-GPU stage; a long list of sites sit at that stage today without power. Turbines are </a:t>
            </a:r>
            <a:r>
              <a:rPr lang="en-US" sz="1000" b="1" dirty="0">
                <a:solidFill>
                  <a:srgbClr val="0B1F44"/>
                </a:solidFill>
                <a:latin typeface="Calibri" pitchFamily="34" charset="0"/>
                <a:ea typeface="Calibri" pitchFamily="34" charset="-122"/>
                <a:cs typeface="Calibri" pitchFamily="34" charset="-120"/>
              </a:rPr>
              <a:t>~13% of build cost</a:t>
            </a:r>
            <a:r>
              <a:rPr lang="en-US" sz="1000" dirty="0">
                <a:solidFill>
                  <a:srgbClr val="404040"/>
                </a:solidFill>
                <a:latin typeface="Calibri" pitchFamily="34" charset="0"/>
                <a:ea typeface="Calibri" pitchFamily="34" charset="-122"/>
                <a:cs typeface="Calibri" pitchFamily="34" charset="-120"/>
              </a:rPr>
              <a:t> and move with the tenant.</a:t>
            </a:r>
            <a:endParaRPr lang="en-US" sz="1000" dirty="0"/>
          </a:p>
        </p:txBody>
      </p:sp>
      <p:sp>
        <p:nvSpPr>
          <p:cNvPr id="17" name="Shape 12"/>
          <p:cNvSpPr/>
          <p:nvPr/>
        </p:nvSpPr>
        <p:spPr>
          <a:xfrm>
            <a:off x="411480" y="3429000"/>
            <a:ext cx="5577840" cy="347472"/>
          </a:xfrm>
          <a:prstGeom prst="rect">
            <a:avLst/>
          </a:prstGeom>
          <a:solidFill>
            <a:srgbClr val="0B1F44"/>
          </a:solidFill>
          <a:ln w="12700">
            <a:solidFill>
              <a:srgbClr val="0B1F44"/>
            </a:solidFill>
            <a:prstDash val="solid"/>
          </a:ln>
        </p:spPr>
      </p:sp>
      <p:sp>
        <p:nvSpPr>
          <p:cNvPr id="18" name="Text 13"/>
          <p:cNvSpPr txBox="1"/>
          <p:nvPr/>
        </p:nvSpPr>
        <p:spPr>
          <a:xfrm>
            <a:off x="411480" y="3429000"/>
            <a:ext cx="5577840" cy="347472"/>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Pre-Requisites For Understanding</a:t>
            </a:r>
            <a:endParaRPr lang="en-US" sz="1300" dirty="0"/>
          </a:p>
        </p:txBody>
      </p:sp>
      <p:sp>
        <p:nvSpPr>
          <p:cNvPr id="19" name="Shape 14"/>
          <p:cNvSpPr/>
          <p:nvPr/>
        </p:nvSpPr>
        <p:spPr>
          <a:xfrm>
            <a:off x="502920" y="3959352"/>
            <a:ext cx="438912" cy="438912"/>
          </a:xfrm>
          <a:prstGeom prst="ellipse">
            <a:avLst/>
          </a:prstGeom>
          <a:solidFill>
            <a:srgbClr val="0B1F44"/>
          </a:solidFill>
          <a:ln w="12700">
            <a:solidFill>
              <a:srgbClr val="0B1F44"/>
            </a:solidFill>
            <a:prstDash val="solid"/>
          </a:ln>
        </p:spPr>
      </p:sp>
      <p:sp>
        <p:nvSpPr>
          <p:cNvPr id="20" name="Text 15"/>
          <p:cNvSpPr txBox="1"/>
          <p:nvPr/>
        </p:nvSpPr>
        <p:spPr>
          <a:xfrm>
            <a:off x="502920" y="395935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1" name="Shape 16"/>
          <p:cNvSpPr/>
          <p:nvPr/>
        </p:nvSpPr>
        <p:spPr>
          <a:xfrm>
            <a:off x="1051560" y="3886200"/>
            <a:ext cx="4937760" cy="640080"/>
          </a:xfrm>
          <a:prstGeom prst="roundRect">
            <a:avLst>
              <a:gd name="adj" fmla="val 8571"/>
            </a:avLst>
          </a:prstGeom>
          <a:solidFill>
            <a:srgbClr val="FFFFFF"/>
          </a:solidFill>
          <a:ln w="12700">
            <a:solidFill>
              <a:srgbClr val="0B1F44"/>
            </a:solidFill>
            <a:prstDash val="dash"/>
          </a:ln>
        </p:spPr>
      </p:sp>
      <p:sp>
        <p:nvSpPr>
          <p:cNvPr id="22" name="Text 17"/>
          <p:cNvSpPr txBox="1"/>
          <p:nvPr/>
        </p:nvSpPr>
        <p:spPr>
          <a:xfrm>
            <a:off x="1106424" y="3913632"/>
            <a:ext cx="4828032" cy="585216"/>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Aerospace Products is a module factory:</a:t>
            </a:r>
            <a:r>
              <a:rPr lang="en-US" sz="950" dirty="0">
                <a:solidFill>
                  <a:srgbClr val="404040"/>
                </a:solidFill>
                <a:latin typeface="Calibri" pitchFamily="34" charset="0"/>
                <a:ea typeface="Calibri" pitchFamily="34" charset="-122"/>
                <a:cs typeface="Calibri" pitchFamily="34" charset="-120"/>
              </a:rPr>
              <a:t> FTAI swaps restored CFM56 modules from its own pool, so margin is driven by feedstock cost, workscope mix and price, not labour hours</a:t>
            </a:r>
            <a:endParaRPr lang="en-US" sz="950" dirty="0"/>
          </a:p>
        </p:txBody>
      </p:sp>
      <p:sp>
        <p:nvSpPr>
          <p:cNvPr id="23" name="Shape 18"/>
          <p:cNvSpPr/>
          <p:nvPr/>
        </p:nvSpPr>
        <p:spPr>
          <a:xfrm>
            <a:off x="502920" y="4745736"/>
            <a:ext cx="438912" cy="438912"/>
          </a:xfrm>
          <a:prstGeom prst="ellipse">
            <a:avLst/>
          </a:prstGeom>
          <a:solidFill>
            <a:srgbClr val="0B1F44"/>
          </a:solidFill>
          <a:ln w="12700">
            <a:solidFill>
              <a:srgbClr val="0B1F44"/>
            </a:solidFill>
            <a:prstDash val="solid"/>
          </a:ln>
        </p:spPr>
      </p:sp>
      <p:sp>
        <p:nvSpPr>
          <p:cNvPr id="24" name="Text 19"/>
          <p:cNvSpPr txBox="1"/>
          <p:nvPr/>
        </p:nvSpPr>
        <p:spPr>
          <a:xfrm>
            <a:off x="502920" y="4745736"/>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25" name="Shape 20"/>
          <p:cNvSpPr/>
          <p:nvPr/>
        </p:nvSpPr>
        <p:spPr>
          <a:xfrm>
            <a:off x="1051560" y="4672584"/>
            <a:ext cx="4937760" cy="640080"/>
          </a:xfrm>
          <a:prstGeom prst="roundRect">
            <a:avLst>
              <a:gd name="adj" fmla="val 8571"/>
            </a:avLst>
          </a:prstGeom>
          <a:solidFill>
            <a:srgbClr val="FFFFFF"/>
          </a:solidFill>
          <a:ln w="12700">
            <a:solidFill>
              <a:srgbClr val="0B1F44"/>
            </a:solidFill>
            <a:prstDash val="dash"/>
          </a:ln>
        </p:spPr>
      </p:sp>
      <p:sp>
        <p:nvSpPr>
          <p:cNvPr id="26" name="Text 21"/>
          <p:cNvSpPr txBox="1"/>
          <p:nvPr/>
        </p:nvSpPr>
        <p:spPr>
          <a:xfrm>
            <a:off x="1106424" y="4700016"/>
            <a:ext cx="4828032" cy="585216"/>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Two denominators matter:</a:t>
            </a:r>
            <a:r>
              <a:rPr lang="en-US" sz="950" dirty="0">
                <a:solidFill>
                  <a:srgbClr val="404040"/>
                </a:solidFill>
                <a:latin typeface="Calibri" pitchFamily="34" charset="0"/>
                <a:ea typeface="Calibri" pitchFamily="34" charset="-122"/>
                <a:cs typeface="Calibri" pitchFamily="34" charset="-120"/>
              </a:rPr>
              <a:t> FTAI's share of third-party module work (12% → 20%) and its share of </a:t>
            </a:r>
            <a:r>
              <a:rPr lang="en-US" sz="950" b="1" dirty="0">
                <a:solidFill>
                  <a:srgbClr val="0B1F44"/>
                </a:solidFill>
                <a:latin typeface="Calibri" pitchFamily="34" charset="0"/>
                <a:ea typeface="Calibri" pitchFamily="34" charset="-122"/>
                <a:cs typeface="Calibri" pitchFamily="34" charset="-120"/>
              </a:rPr>
              <a:t>all</a:t>
            </a:r>
            <a:r>
              <a:rPr lang="en-US" sz="950" dirty="0">
                <a:solidFill>
                  <a:srgbClr val="404040"/>
                </a:solidFill>
                <a:latin typeface="Calibri" pitchFamily="34" charset="0"/>
                <a:ea typeface="Calibri" pitchFamily="34" charset="-122"/>
                <a:cs typeface="Calibri" pitchFamily="34" charset="-120"/>
              </a:rPr>
              <a:t> CFM56 module demand once captive SCI volume is added (17% → ~25%)</a:t>
            </a:r>
            <a:endParaRPr lang="en-US" sz="950" dirty="0"/>
          </a:p>
        </p:txBody>
      </p:sp>
      <p:sp>
        <p:nvSpPr>
          <p:cNvPr id="27" name="Shape 22"/>
          <p:cNvSpPr/>
          <p:nvPr/>
        </p:nvSpPr>
        <p:spPr>
          <a:xfrm>
            <a:off x="502920" y="5532120"/>
            <a:ext cx="438912" cy="438912"/>
          </a:xfrm>
          <a:prstGeom prst="ellipse">
            <a:avLst/>
          </a:prstGeom>
          <a:solidFill>
            <a:srgbClr val="0B1F44"/>
          </a:solidFill>
          <a:ln w="12700">
            <a:solidFill>
              <a:srgbClr val="0B1F44"/>
            </a:solidFill>
            <a:prstDash val="solid"/>
          </a:ln>
        </p:spPr>
      </p:sp>
      <p:sp>
        <p:nvSpPr>
          <p:cNvPr id="28" name="Text 23"/>
          <p:cNvSpPr txBox="1"/>
          <p:nvPr/>
        </p:nvSpPr>
        <p:spPr>
          <a:xfrm>
            <a:off x="502920" y="55321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9" name="Shape 24"/>
          <p:cNvSpPr/>
          <p:nvPr/>
        </p:nvSpPr>
        <p:spPr>
          <a:xfrm>
            <a:off x="1051560" y="5458968"/>
            <a:ext cx="4937760" cy="640080"/>
          </a:xfrm>
          <a:prstGeom prst="roundRect">
            <a:avLst>
              <a:gd name="adj" fmla="val 8571"/>
            </a:avLst>
          </a:prstGeom>
          <a:solidFill>
            <a:srgbClr val="FFFFFF"/>
          </a:solidFill>
          <a:ln w="12700">
            <a:solidFill>
              <a:srgbClr val="0B1F44"/>
            </a:solidFill>
            <a:prstDash val="dash"/>
          </a:ln>
        </p:spPr>
      </p:sp>
      <p:sp>
        <p:nvSpPr>
          <p:cNvPr id="30" name="Text 25"/>
          <p:cNvSpPr txBox="1"/>
          <p:nvPr/>
        </p:nvSpPr>
        <p:spPr>
          <a:xfrm>
            <a:off x="1106424" y="5486400"/>
            <a:ext cx="4828032" cy="585216"/>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Power is valued on the signed order only.</a:t>
            </a:r>
            <a:r>
              <a:rPr lang="en-US" sz="950" dirty="0">
                <a:solidFill>
                  <a:srgbClr val="404040"/>
                </a:solidFill>
                <a:latin typeface="Calibri" pitchFamily="34" charset="0"/>
                <a:ea typeface="Calibri" pitchFamily="34" charset="-122"/>
                <a:cs typeface="Calibri" pitchFamily="34" charset="-120"/>
              </a:rPr>
              <a:t> Every new contract is upside; our bear case assumes half the JV economics and 30% margins</a:t>
            </a:r>
            <a:endParaRPr lang="en-US" sz="950" dirty="0"/>
          </a:p>
        </p:txBody>
      </p:sp>
      <p:sp>
        <p:nvSpPr>
          <p:cNvPr id="31" name="Shape 26"/>
          <p:cNvSpPr/>
          <p:nvPr/>
        </p:nvSpPr>
        <p:spPr>
          <a:xfrm>
            <a:off x="6199632" y="3429000"/>
            <a:ext cx="5577840" cy="347472"/>
          </a:xfrm>
          <a:prstGeom prst="rect">
            <a:avLst/>
          </a:prstGeom>
          <a:solidFill>
            <a:srgbClr val="0B1F44"/>
          </a:solidFill>
          <a:ln w="12700">
            <a:solidFill>
              <a:srgbClr val="0B1F44"/>
            </a:solidFill>
            <a:prstDash val="solid"/>
          </a:ln>
        </p:spPr>
      </p:sp>
      <p:sp>
        <p:nvSpPr>
          <p:cNvPr id="32" name="Text 27"/>
          <p:cNvSpPr txBox="1"/>
          <p:nvPr/>
        </p:nvSpPr>
        <p:spPr>
          <a:xfrm>
            <a:off x="6199632" y="3429000"/>
            <a:ext cx="5577840" cy="347472"/>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Valuation Summary</a:t>
            </a:r>
            <a:endParaRPr lang="en-US" sz="1300" dirty="0"/>
          </a:p>
        </p:txBody>
      </p:sp>
      <p:sp>
        <p:nvSpPr>
          <p:cNvPr id="33" name="Shape 28"/>
          <p:cNvSpPr/>
          <p:nvPr/>
        </p:nvSpPr>
        <p:spPr>
          <a:xfrm>
            <a:off x="6199632" y="3931920"/>
            <a:ext cx="2286000" cy="411480"/>
          </a:xfrm>
          <a:prstGeom prst="rect">
            <a:avLst>
              <a:gd name="adj" fmla="val 13333"/>
            </a:avLst>
          </a:prstGeom>
          <a:solidFill>
            <a:srgbClr val="5B7DB1"/>
          </a:solidFill>
          <a:ln w="9525">
            <a:solidFill>
              <a:srgbClr val="5B7DB1"/>
            </a:solidFill>
            <a:prstDash val="solid"/>
          </a:ln>
        </p:spPr>
      </p:sp>
      <p:sp>
        <p:nvSpPr>
          <p:cNvPr id="34" name="Text 29"/>
          <p:cNvSpPr txBox="1"/>
          <p:nvPr/>
        </p:nvSpPr>
        <p:spPr>
          <a:xfrm>
            <a:off x="6245352" y="3931920"/>
            <a:ext cx="2194560" cy="411480"/>
          </a:xfrm>
          <a:prstGeom prst="rect">
            <a:avLst/>
          </a:prstGeom>
          <a:noFill/>
          <a:ln/>
        </p:spPr>
        <p:txBody>
          <a:bodyPr wrap="square" lIns="38100" tIns="38100" rIns="38100" bIns="38100" rtlCol="0" anchor="ctr"/>
          <a:lstStyle/>
          <a:p>
            <a:pPr algn="ctr" indent="0" marL="0">
              <a:buNone/>
            </a:pPr>
            <a:r>
              <a:rPr lang="en-US" sz="1300" dirty="0">
                <a:solidFill>
                  <a:srgbClr val="FFFFFF"/>
                </a:solidFill>
                <a:latin typeface="Cambria" pitchFamily="34" charset="0"/>
                <a:ea typeface="Cambria" pitchFamily="34" charset="-122"/>
                <a:cs typeface="Cambria" pitchFamily="34" charset="-120"/>
              </a:rPr>
              <a:t>Bear Case</a:t>
            </a:r>
            <a:endParaRPr lang="en-US" sz="1300" dirty="0"/>
          </a:p>
        </p:txBody>
      </p:sp>
      <p:sp>
        <p:nvSpPr>
          <p:cNvPr id="35" name="Shape 30"/>
          <p:cNvSpPr/>
          <p:nvPr/>
        </p:nvSpPr>
        <p:spPr>
          <a:xfrm>
            <a:off x="8641080" y="3931920"/>
            <a:ext cx="3136392" cy="411480"/>
          </a:xfrm>
          <a:prstGeom prst="roundRect">
            <a:avLst>
              <a:gd name="adj" fmla="val 13333"/>
            </a:avLst>
          </a:prstGeom>
          <a:solidFill>
            <a:srgbClr val="FFFFFF"/>
          </a:solidFill>
          <a:ln w="12700">
            <a:solidFill>
              <a:srgbClr val="0B1F44"/>
            </a:solidFill>
            <a:prstDash val="dash"/>
          </a:ln>
        </p:spPr>
      </p:sp>
      <p:sp>
        <p:nvSpPr>
          <p:cNvPr id="36" name="Text 31"/>
          <p:cNvSpPr txBox="1"/>
          <p:nvPr/>
        </p:nvSpPr>
        <p:spPr>
          <a:xfrm>
            <a:off x="8695944" y="3959352"/>
            <a:ext cx="3026664" cy="356616"/>
          </a:xfrm>
          <a:prstGeom prst="rect">
            <a:avLst/>
          </a:prstGeom>
          <a:noFill/>
          <a:ln/>
        </p:spPr>
        <p:txBody>
          <a:bodyPr wrap="square" lIns="38100" tIns="38100" rIns="38100" bIns="3810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20% Probability: $173 SOTP (+4%)</a:t>
            </a:r>
            <a:endParaRPr lang="en-US" sz="1050" dirty="0"/>
          </a:p>
        </p:txBody>
      </p:sp>
      <p:sp>
        <p:nvSpPr>
          <p:cNvPr id="37" name="Shape 32"/>
          <p:cNvSpPr/>
          <p:nvPr/>
        </p:nvSpPr>
        <p:spPr>
          <a:xfrm>
            <a:off x="6199632" y="4480560"/>
            <a:ext cx="2286000" cy="411480"/>
          </a:xfrm>
          <a:prstGeom prst="rect">
            <a:avLst>
              <a:gd name="adj" fmla="val 13333"/>
            </a:avLst>
          </a:prstGeom>
          <a:solidFill>
            <a:srgbClr val="0B1F44"/>
          </a:solidFill>
          <a:ln w="9525">
            <a:solidFill>
              <a:srgbClr val="0B1F44"/>
            </a:solidFill>
            <a:prstDash val="solid"/>
          </a:ln>
        </p:spPr>
      </p:sp>
      <p:sp>
        <p:nvSpPr>
          <p:cNvPr id="38" name="Text 33"/>
          <p:cNvSpPr txBox="1"/>
          <p:nvPr/>
        </p:nvSpPr>
        <p:spPr>
          <a:xfrm>
            <a:off x="6245352" y="4480560"/>
            <a:ext cx="2194560" cy="411480"/>
          </a:xfrm>
          <a:prstGeom prst="rect">
            <a:avLst/>
          </a:prstGeom>
          <a:noFill/>
          <a:ln/>
        </p:spPr>
        <p:txBody>
          <a:bodyPr wrap="square" lIns="38100" tIns="38100" rIns="38100" bIns="38100" rtlCol="0" anchor="ctr"/>
          <a:lstStyle/>
          <a:p>
            <a:pPr algn="ctr" indent="0" marL="0">
              <a:buNone/>
            </a:pPr>
            <a:r>
              <a:rPr lang="en-US" sz="1300" dirty="0">
                <a:solidFill>
                  <a:srgbClr val="FFFFFF"/>
                </a:solidFill>
                <a:latin typeface="Cambria" pitchFamily="34" charset="0"/>
                <a:ea typeface="Cambria" pitchFamily="34" charset="-122"/>
                <a:cs typeface="Cambria" pitchFamily="34" charset="-120"/>
              </a:rPr>
              <a:t>Base Case</a:t>
            </a:r>
            <a:endParaRPr lang="en-US" sz="1300" dirty="0"/>
          </a:p>
        </p:txBody>
      </p:sp>
      <p:sp>
        <p:nvSpPr>
          <p:cNvPr id="39" name="Shape 34"/>
          <p:cNvSpPr/>
          <p:nvPr/>
        </p:nvSpPr>
        <p:spPr>
          <a:xfrm>
            <a:off x="8641080" y="4480560"/>
            <a:ext cx="3136392" cy="411480"/>
          </a:xfrm>
          <a:prstGeom prst="roundRect">
            <a:avLst>
              <a:gd name="adj" fmla="val 13333"/>
            </a:avLst>
          </a:prstGeom>
          <a:solidFill>
            <a:srgbClr val="FFFFFF"/>
          </a:solidFill>
          <a:ln w="12700">
            <a:solidFill>
              <a:srgbClr val="0B1F44"/>
            </a:solidFill>
            <a:prstDash val="dash"/>
          </a:ln>
        </p:spPr>
      </p:sp>
      <p:sp>
        <p:nvSpPr>
          <p:cNvPr id="40" name="Text 35"/>
          <p:cNvSpPr txBox="1"/>
          <p:nvPr/>
        </p:nvSpPr>
        <p:spPr>
          <a:xfrm>
            <a:off x="8695944" y="4507992"/>
            <a:ext cx="3026664" cy="356616"/>
          </a:xfrm>
          <a:prstGeom prst="rect">
            <a:avLst/>
          </a:prstGeom>
          <a:noFill/>
          <a:ln/>
        </p:spPr>
        <p:txBody>
          <a:bodyPr wrap="square" lIns="38100" tIns="38100" rIns="38100" bIns="3810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60% Probability: $277 SOTP (+66%)</a:t>
            </a:r>
            <a:endParaRPr lang="en-US" sz="1050" dirty="0"/>
          </a:p>
        </p:txBody>
      </p:sp>
      <p:sp>
        <p:nvSpPr>
          <p:cNvPr id="41" name="Shape 36"/>
          <p:cNvSpPr/>
          <p:nvPr/>
        </p:nvSpPr>
        <p:spPr>
          <a:xfrm>
            <a:off x="6199632" y="5029200"/>
            <a:ext cx="2286000" cy="411480"/>
          </a:xfrm>
          <a:prstGeom prst="rect">
            <a:avLst>
              <a:gd name="adj" fmla="val 13333"/>
            </a:avLst>
          </a:prstGeom>
          <a:solidFill>
            <a:srgbClr val="2E8FAE"/>
          </a:solidFill>
          <a:ln w="9525">
            <a:solidFill>
              <a:srgbClr val="2E8FAE"/>
            </a:solidFill>
            <a:prstDash val="solid"/>
          </a:ln>
        </p:spPr>
      </p:sp>
      <p:sp>
        <p:nvSpPr>
          <p:cNvPr id="42" name="Text 37"/>
          <p:cNvSpPr txBox="1"/>
          <p:nvPr/>
        </p:nvSpPr>
        <p:spPr>
          <a:xfrm>
            <a:off x="6245352" y="5029200"/>
            <a:ext cx="2194560" cy="411480"/>
          </a:xfrm>
          <a:prstGeom prst="rect">
            <a:avLst/>
          </a:prstGeom>
          <a:noFill/>
          <a:ln/>
        </p:spPr>
        <p:txBody>
          <a:bodyPr wrap="square" lIns="38100" tIns="38100" rIns="38100" bIns="38100" rtlCol="0" anchor="ctr"/>
          <a:lstStyle/>
          <a:p>
            <a:pPr algn="ctr" indent="0" marL="0">
              <a:buNone/>
            </a:pPr>
            <a:r>
              <a:rPr lang="en-US" sz="1300" dirty="0">
                <a:solidFill>
                  <a:srgbClr val="FFFFFF"/>
                </a:solidFill>
                <a:latin typeface="Cambria" pitchFamily="34" charset="0"/>
                <a:ea typeface="Cambria" pitchFamily="34" charset="-122"/>
                <a:cs typeface="Cambria" pitchFamily="34" charset="-120"/>
              </a:rPr>
              <a:t>Bull Case</a:t>
            </a:r>
            <a:endParaRPr lang="en-US" sz="1300" dirty="0"/>
          </a:p>
        </p:txBody>
      </p:sp>
      <p:sp>
        <p:nvSpPr>
          <p:cNvPr id="43" name="Shape 38"/>
          <p:cNvSpPr/>
          <p:nvPr/>
        </p:nvSpPr>
        <p:spPr>
          <a:xfrm>
            <a:off x="8641080" y="5029200"/>
            <a:ext cx="3136392" cy="411480"/>
          </a:xfrm>
          <a:prstGeom prst="roundRect">
            <a:avLst>
              <a:gd name="adj" fmla="val 13333"/>
            </a:avLst>
          </a:prstGeom>
          <a:solidFill>
            <a:srgbClr val="FFFFFF"/>
          </a:solidFill>
          <a:ln w="12700">
            <a:solidFill>
              <a:srgbClr val="0B1F44"/>
            </a:solidFill>
            <a:prstDash val="dash"/>
          </a:ln>
        </p:spPr>
      </p:sp>
      <p:sp>
        <p:nvSpPr>
          <p:cNvPr id="44" name="Text 39"/>
          <p:cNvSpPr txBox="1"/>
          <p:nvPr/>
        </p:nvSpPr>
        <p:spPr>
          <a:xfrm>
            <a:off x="8695944" y="5056632"/>
            <a:ext cx="3026664" cy="356616"/>
          </a:xfrm>
          <a:prstGeom prst="rect">
            <a:avLst/>
          </a:prstGeom>
          <a:noFill/>
          <a:ln/>
        </p:spPr>
        <p:txBody>
          <a:bodyPr wrap="square" lIns="38100" tIns="38100" rIns="38100" bIns="3810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20% Probability: $308 SOTP (+85%)</a:t>
            </a:r>
            <a:endParaRPr lang="en-US" sz="1050" dirty="0"/>
          </a:p>
        </p:txBody>
      </p:sp>
      <p:sp>
        <p:nvSpPr>
          <p:cNvPr id="45" name="Shape 40"/>
          <p:cNvSpPr/>
          <p:nvPr/>
        </p:nvSpPr>
        <p:spPr>
          <a:xfrm>
            <a:off x="6199632" y="5669280"/>
            <a:ext cx="5577840" cy="384048"/>
          </a:xfrm>
          <a:prstGeom prst="rect">
            <a:avLst>
              <a:gd name="adj" fmla="val 14286"/>
            </a:avLst>
          </a:prstGeom>
          <a:solidFill>
            <a:srgbClr val="DCE6F2"/>
          </a:solidFill>
          <a:ln w="9525">
            <a:solidFill>
              <a:srgbClr val="DCE6F2"/>
            </a:solidFill>
            <a:prstDash val="solid"/>
          </a:ln>
        </p:spPr>
      </p:sp>
      <p:sp>
        <p:nvSpPr>
          <p:cNvPr id="46" name="Text 41"/>
          <p:cNvSpPr txBox="1"/>
          <p:nvPr/>
        </p:nvSpPr>
        <p:spPr>
          <a:xfrm>
            <a:off x="6245352" y="5669280"/>
            <a:ext cx="5486400" cy="384048"/>
          </a:xfrm>
          <a:prstGeom prst="rect">
            <a:avLst/>
          </a:prstGeom>
          <a:noFill/>
          <a:ln/>
        </p:spPr>
        <p:txBody>
          <a:bodyPr wrap="square" lIns="38100" tIns="38100" rIns="38100" bIns="38100" rtlCol="0" anchor="ctr"/>
          <a:lstStyle/>
          <a:p>
            <a:pPr algn="ctr" indent="0" marL="0">
              <a:buNone/>
            </a:pPr>
            <a:r>
              <a:rPr lang="en-US" sz="1150" b="1" dirty="0">
                <a:solidFill>
                  <a:srgbClr val="0B1F44"/>
                </a:solidFill>
                <a:latin typeface="Calibri" pitchFamily="34" charset="0"/>
                <a:ea typeface="Calibri" pitchFamily="34" charset="-122"/>
                <a:cs typeface="Calibri" pitchFamily="34" charset="-120"/>
              </a:rPr>
              <a:t>Probability-weighted: $262 (+57%)  |  DCF cross-check: $308 (+84%)</a:t>
            </a:r>
            <a:endParaRPr lang="en-US" sz="1150" dirty="0"/>
          </a:p>
        </p:txBody>
      </p:sp>
      <p:sp>
        <p:nvSpPr>
          <p:cNvPr id="47" name="Text 42"/>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filings; GPS model (FY27E SOTP by case, blended DCF)</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Business Overview</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One Engine Family, Three Ways To Earn: Fix It, Own The Planes It Flies On, Power With It</a:t>
            </a:r>
            <a:endParaRPr lang="en-US" sz="1500" dirty="0"/>
          </a:p>
        </p:txBody>
      </p:sp>
      <p:sp>
        <p:nvSpPr>
          <p:cNvPr id="5" name="Shape 3"/>
          <p:cNvSpPr/>
          <p:nvPr/>
        </p:nvSpPr>
        <p:spPr>
          <a:xfrm>
            <a:off x="411480" y="1536192"/>
            <a:ext cx="365760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FY25 Revenue &amp; EBITDA Mix</a:t>
            </a:r>
            <a:endParaRPr lang="en-US" sz="1200" dirty="0"/>
          </a:p>
        </p:txBody>
      </p:sp>
      <p:graphicFrame>
        <p:nvGraphicFramePr>
          <p:cNvPr id="7" name="Chart 0" descr=""/>
          <p:cNvGraphicFramePr/>
          <p:nvPr/>
        </p:nvGraphicFramePr>
        <p:xfrm>
          <a:off x="411480" y="1874520"/>
          <a:ext cx="1828800" cy="20116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2240280" y="1874520"/>
          <a:ext cx="1828800" cy="20116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411480" y="3858768"/>
            <a:ext cx="3657600" cy="201168"/>
          </a:xfrm>
          <a:prstGeom prst="rect">
            <a:avLst/>
          </a:prstGeom>
          <a:noFill/>
          <a:ln/>
        </p:spPr>
        <p:txBody>
          <a:bodyPr wrap="square" lIns="25400" tIns="25400" rIns="25400" bIns="25400" rtlCol="0" anchor="ctr"/>
          <a:lstStyle/>
          <a:p>
            <a:pPr algn="ctr" indent="0" marL="0">
              <a:buNone/>
            </a:pPr>
            <a:r>
              <a:rPr lang="en-US" sz="850" dirty="0">
                <a:solidFill>
                  <a:srgbClr val="0B1F44"/>
                </a:solidFill>
                <a:latin typeface="Calibri" pitchFamily="34" charset="0"/>
                <a:ea typeface="Calibri" pitchFamily="34" charset="-122"/>
                <a:cs typeface="Calibri" pitchFamily="34" charset="-120"/>
              </a:rPr>
              <a:t>■ Aerospace Products   ■ Leasing + SCI</a:t>
            </a:r>
            <a:endParaRPr lang="en-US" sz="850" dirty="0"/>
          </a:p>
        </p:txBody>
      </p:sp>
      <p:sp>
        <p:nvSpPr>
          <p:cNvPr id="10" name="Shape 6"/>
          <p:cNvSpPr/>
          <p:nvPr/>
        </p:nvSpPr>
        <p:spPr>
          <a:xfrm>
            <a:off x="411480" y="4114800"/>
            <a:ext cx="3657600" cy="566928"/>
          </a:xfrm>
          <a:prstGeom prst="roundRect">
            <a:avLst>
              <a:gd name="adj" fmla="val 9677"/>
            </a:avLst>
          </a:prstGeom>
          <a:solidFill>
            <a:srgbClr val="FFFFFF"/>
          </a:solidFill>
          <a:ln w="12700">
            <a:solidFill>
              <a:srgbClr val="0B1F44"/>
            </a:solidFill>
            <a:prstDash val="dash"/>
          </a:ln>
        </p:spPr>
      </p:sp>
      <p:sp>
        <p:nvSpPr>
          <p:cNvPr id="11" name="Text 7"/>
          <p:cNvSpPr txBox="1"/>
          <p:nvPr/>
        </p:nvSpPr>
        <p:spPr>
          <a:xfrm>
            <a:off x="466344" y="4142232"/>
            <a:ext cx="3547872" cy="512064"/>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Aerospace Products is </a:t>
            </a:r>
            <a:r>
              <a:rPr lang="en-US" sz="950" b="1" dirty="0">
                <a:solidFill>
                  <a:srgbClr val="0B1F44"/>
                </a:solidFill>
                <a:latin typeface="Calibri" pitchFamily="34" charset="0"/>
                <a:ea typeface="Calibri" pitchFamily="34" charset="-122"/>
                <a:cs typeface="Calibri" pitchFamily="34" charset="-120"/>
              </a:rPr>
              <a:t>77% of revenue</a:t>
            </a:r>
            <a:r>
              <a:rPr lang="en-US" sz="950" dirty="0">
                <a:solidFill>
                  <a:srgbClr val="404040"/>
                </a:solidFill>
                <a:latin typeface="Calibri" pitchFamily="34" charset="0"/>
                <a:ea typeface="Calibri" pitchFamily="34" charset="-122"/>
                <a:cs typeface="Calibri" pitchFamily="34" charset="-120"/>
              </a:rPr>
              <a:t> but only half of EBITDA today; by FY27E it is </a:t>
            </a:r>
            <a:r>
              <a:rPr lang="en-US" sz="950" b="1" dirty="0">
                <a:solidFill>
                  <a:srgbClr val="0B1F44"/>
                </a:solidFill>
                <a:latin typeface="Calibri" pitchFamily="34" charset="0"/>
                <a:ea typeface="Calibri" pitchFamily="34" charset="-122"/>
                <a:cs typeface="Calibri" pitchFamily="34" charset="-120"/>
              </a:rPr>
              <a:t>~63% of segment EBITDA</a:t>
            </a:r>
            <a:r>
              <a:rPr lang="en-US" sz="950" dirty="0">
                <a:solidFill>
                  <a:srgbClr val="404040"/>
                </a:solidFill>
                <a:latin typeface="Calibri" pitchFamily="34" charset="0"/>
                <a:ea typeface="Calibri" pitchFamily="34" charset="-122"/>
                <a:cs typeface="Calibri" pitchFamily="34" charset="-120"/>
              </a:rPr>
              <a:t> and Power adds a third leg</a:t>
            </a:r>
            <a:endParaRPr lang="en-US" sz="950" dirty="0"/>
          </a:p>
        </p:txBody>
      </p:sp>
      <p:sp>
        <p:nvSpPr>
          <p:cNvPr id="12" name="Shape 8"/>
          <p:cNvSpPr/>
          <p:nvPr/>
        </p:nvSpPr>
        <p:spPr>
          <a:xfrm>
            <a:off x="4251960" y="1536192"/>
            <a:ext cx="3794760" cy="292608"/>
          </a:xfrm>
          <a:prstGeom prst="rect">
            <a:avLst/>
          </a:prstGeom>
          <a:solidFill>
            <a:srgbClr val="DCE6F2"/>
          </a:solidFill>
          <a:ln w="9525">
            <a:solidFill>
              <a:srgbClr val="0B1F44"/>
            </a:solidFill>
            <a:prstDash val="solid"/>
          </a:ln>
        </p:spPr>
      </p:sp>
      <p:sp>
        <p:nvSpPr>
          <p:cNvPr id="13" name="Text 9"/>
          <p:cNvSpPr txBox="1"/>
          <p:nvPr/>
        </p:nvSpPr>
        <p:spPr>
          <a:xfrm>
            <a:off x="4251960" y="1536192"/>
            <a:ext cx="379476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How The Segments Work</a:t>
            </a:r>
            <a:endParaRPr lang="en-US" sz="1200" dirty="0"/>
          </a:p>
        </p:txBody>
      </p:sp>
      <p:sp>
        <p:nvSpPr>
          <p:cNvPr id="14" name="Shape 10"/>
          <p:cNvSpPr/>
          <p:nvPr/>
        </p:nvSpPr>
        <p:spPr>
          <a:xfrm>
            <a:off x="4251960" y="1901952"/>
            <a:ext cx="1234440" cy="822960"/>
          </a:xfrm>
          <a:prstGeom prst="rect">
            <a:avLst>
              <a:gd name="adj" fmla="val 6667"/>
            </a:avLst>
          </a:prstGeom>
          <a:solidFill>
            <a:srgbClr val="0B1F44"/>
          </a:solidFill>
          <a:ln w="9525">
            <a:solidFill>
              <a:srgbClr val="0B1F44"/>
            </a:solidFill>
            <a:prstDash val="solid"/>
          </a:ln>
        </p:spPr>
      </p:sp>
      <p:sp>
        <p:nvSpPr>
          <p:cNvPr id="15" name="Text 11"/>
          <p:cNvSpPr txBox="1"/>
          <p:nvPr/>
        </p:nvSpPr>
        <p:spPr>
          <a:xfrm>
            <a:off x="4297680" y="1901952"/>
            <a:ext cx="1143000" cy="822960"/>
          </a:xfrm>
          <a:prstGeom prst="rect">
            <a:avLst/>
          </a:prstGeom>
          <a:noFill/>
          <a:ln/>
        </p:spPr>
        <p:txBody>
          <a:bodyPr wrap="square" lIns="38100" tIns="38100" rIns="38100" bIns="3810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Aerospace Products</a:t>
            </a:r>
            <a:endParaRPr lang="en-US" sz="1100" dirty="0"/>
          </a:p>
        </p:txBody>
      </p:sp>
      <p:sp>
        <p:nvSpPr>
          <p:cNvPr id="16" name="Shape 12"/>
          <p:cNvSpPr/>
          <p:nvPr/>
        </p:nvSpPr>
        <p:spPr>
          <a:xfrm>
            <a:off x="5532120" y="1901952"/>
            <a:ext cx="2514600" cy="822960"/>
          </a:xfrm>
          <a:prstGeom prst="roundRect">
            <a:avLst>
              <a:gd name="adj" fmla="val 6667"/>
            </a:avLst>
          </a:prstGeom>
          <a:solidFill>
            <a:srgbClr val="FFFFFF"/>
          </a:solidFill>
          <a:ln w="12700">
            <a:solidFill>
              <a:srgbClr val="0B1F44"/>
            </a:solidFill>
            <a:prstDash val="dash"/>
          </a:ln>
        </p:spPr>
      </p:sp>
      <p:sp>
        <p:nvSpPr>
          <p:cNvPr id="17" name="Text 13"/>
          <p:cNvSpPr txBox="1"/>
          <p:nvPr/>
        </p:nvSpPr>
        <p:spPr>
          <a:xfrm>
            <a:off x="5586984" y="1929384"/>
            <a:ext cx="2404872" cy="768096"/>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Restores and exchanges CFM56-5B/-7B modules (fan, core, LPT) and sells USM parts. FY25: </a:t>
            </a:r>
            <a:r>
              <a:rPr lang="en-US" sz="900" b="1" dirty="0">
                <a:solidFill>
                  <a:srgbClr val="0B1F44"/>
                </a:solidFill>
                <a:latin typeface="Calibri" pitchFamily="34" charset="0"/>
                <a:ea typeface="Calibri" pitchFamily="34" charset="-122"/>
                <a:cs typeface="Calibri" pitchFamily="34" charset="-120"/>
              </a:rPr>
              <a:t>757 modules, $1.94bn revenue, 34.7% margin</a:t>
            </a:r>
            <a:endParaRPr lang="en-US" sz="900" dirty="0"/>
          </a:p>
        </p:txBody>
      </p:sp>
      <p:sp>
        <p:nvSpPr>
          <p:cNvPr id="18" name="Shape 14"/>
          <p:cNvSpPr/>
          <p:nvPr/>
        </p:nvSpPr>
        <p:spPr>
          <a:xfrm>
            <a:off x="4251960" y="2834640"/>
            <a:ext cx="1234440" cy="822960"/>
          </a:xfrm>
          <a:prstGeom prst="rect">
            <a:avLst>
              <a:gd name="adj" fmla="val 6667"/>
            </a:avLst>
          </a:prstGeom>
          <a:solidFill>
            <a:srgbClr val="2E8FAE"/>
          </a:solidFill>
          <a:ln w="9525">
            <a:solidFill>
              <a:srgbClr val="2E8FAE"/>
            </a:solidFill>
            <a:prstDash val="solid"/>
          </a:ln>
        </p:spPr>
      </p:sp>
      <p:sp>
        <p:nvSpPr>
          <p:cNvPr id="19" name="Text 15"/>
          <p:cNvSpPr txBox="1"/>
          <p:nvPr/>
        </p:nvSpPr>
        <p:spPr>
          <a:xfrm>
            <a:off x="4297680" y="2834640"/>
            <a:ext cx="1143000" cy="822960"/>
          </a:xfrm>
          <a:prstGeom prst="rect">
            <a:avLst/>
          </a:prstGeom>
          <a:noFill/>
          <a:ln/>
        </p:spPr>
        <p:txBody>
          <a:bodyPr wrap="square" lIns="38100" tIns="38100" rIns="38100" bIns="3810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Leasing + SCI</a:t>
            </a:r>
            <a:endParaRPr lang="en-US" sz="1100" dirty="0"/>
          </a:p>
        </p:txBody>
      </p:sp>
      <p:sp>
        <p:nvSpPr>
          <p:cNvPr id="20" name="Shape 16"/>
          <p:cNvSpPr/>
          <p:nvPr/>
        </p:nvSpPr>
        <p:spPr>
          <a:xfrm>
            <a:off x="5532120" y="2834640"/>
            <a:ext cx="2514600" cy="822960"/>
          </a:xfrm>
          <a:prstGeom prst="roundRect">
            <a:avLst>
              <a:gd name="adj" fmla="val 6667"/>
            </a:avLst>
          </a:prstGeom>
          <a:solidFill>
            <a:srgbClr val="FFFFFF"/>
          </a:solidFill>
          <a:ln w="12700">
            <a:solidFill>
              <a:srgbClr val="0B1F44"/>
            </a:solidFill>
            <a:prstDash val="dash"/>
          </a:ln>
        </p:spPr>
      </p:sp>
      <p:sp>
        <p:nvSpPr>
          <p:cNvPr id="21" name="Text 17"/>
          <p:cNvSpPr txBox="1"/>
          <p:nvPr/>
        </p:nvSpPr>
        <p:spPr>
          <a:xfrm>
            <a:off x="5586984" y="2862072"/>
            <a:ext cx="2404872" cy="768096"/>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Mid-life jets and engines. Leasing assets are being sold into </a:t>
            </a:r>
            <a:r>
              <a:rPr lang="en-US" sz="900" b="1" dirty="0">
                <a:solidFill>
                  <a:srgbClr val="0B1F44"/>
                </a:solidFill>
                <a:latin typeface="Calibri" pitchFamily="34" charset="0"/>
                <a:ea typeface="Calibri" pitchFamily="34" charset="-122"/>
                <a:cs typeface="Calibri" pitchFamily="34" charset="-120"/>
              </a:rPr>
              <a:t>SCI</a:t>
            </a:r>
            <a:r>
              <a:rPr lang="en-US" sz="900" dirty="0">
                <a:solidFill>
                  <a:srgbClr val="404040"/>
                </a:solidFill>
                <a:latin typeface="Calibri" pitchFamily="34" charset="0"/>
                <a:ea typeface="Calibri" pitchFamily="34" charset="-122"/>
                <a:cs typeface="Calibri" pitchFamily="34" charset="-120"/>
              </a:rPr>
              <a:t>, an FTAI-sponsored fund that buys aircraft and sends </a:t>
            </a:r>
            <a:r>
              <a:rPr lang="en-US" sz="900" b="1" dirty="0">
                <a:solidFill>
                  <a:srgbClr val="0B1F44"/>
                </a:solidFill>
                <a:latin typeface="Calibri" pitchFamily="34" charset="0"/>
                <a:ea typeface="Calibri" pitchFamily="34" charset="-122"/>
                <a:cs typeface="Calibri" pitchFamily="34" charset="-120"/>
              </a:rPr>
              <a:t>all engine work to FTAI</a:t>
            </a:r>
            <a:r>
              <a:rPr lang="en-US" sz="900" dirty="0">
                <a:solidFill>
                  <a:srgbClr val="404040"/>
                </a:solidFill>
                <a:latin typeface="Calibri" pitchFamily="34" charset="0"/>
                <a:ea typeface="Calibri" pitchFamily="34" charset="-122"/>
                <a:cs typeface="Calibri" pitchFamily="34" charset="-120"/>
              </a:rPr>
              <a:t> (316 aircraft YE26E)</a:t>
            </a:r>
            <a:endParaRPr lang="en-US" sz="900" dirty="0"/>
          </a:p>
        </p:txBody>
      </p:sp>
      <p:sp>
        <p:nvSpPr>
          <p:cNvPr id="22" name="Shape 18"/>
          <p:cNvSpPr/>
          <p:nvPr/>
        </p:nvSpPr>
        <p:spPr>
          <a:xfrm>
            <a:off x="4251960" y="3767328"/>
            <a:ext cx="1234440" cy="822960"/>
          </a:xfrm>
          <a:prstGeom prst="rect">
            <a:avLst>
              <a:gd name="adj" fmla="val 6667"/>
            </a:avLst>
          </a:prstGeom>
          <a:solidFill>
            <a:srgbClr val="E8702A"/>
          </a:solidFill>
          <a:ln w="9525">
            <a:solidFill>
              <a:srgbClr val="E8702A"/>
            </a:solidFill>
            <a:prstDash val="solid"/>
          </a:ln>
        </p:spPr>
      </p:sp>
      <p:sp>
        <p:nvSpPr>
          <p:cNvPr id="23" name="Text 19"/>
          <p:cNvSpPr txBox="1"/>
          <p:nvPr/>
        </p:nvSpPr>
        <p:spPr>
          <a:xfrm>
            <a:off x="4297680" y="3767328"/>
            <a:ext cx="1143000" cy="822960"/>
          </a:xfrm>
          <a:prstGeom prst="rect">
            <a:avLst/>
          </a:prstGeom>
          <a:noFill/>
          <a:ln/>
        </p:spPr>
        <p:txBody>
          <a:bodyPr wrap="square" lIns="38100" tIns="38100" rIns="38100" bIns="3810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FTAI Power</a:t>
            </a:r>
            <a:endParaRPr lang="en-US" sz="1100" dirty="0"/>
          </a:p>
        </p:txBody>
      </p:sp>
      <p:sp>
        <p:nvSpPr>
          <p:cNvPr id="24" name="Shape 20"/>
          <p:cNvSpPr/>
          <p:nvPr/>
        </p:nvSpPr>
        <p:spPr>
          <a:xfrm>
            <a:off x="5532120" y="3767328"/>
            <a:ext cx="2514600" cy="822960"/>
          </a:xfrm>
          <a:prstGeom prst="roundRect">
            <a:avLst>
              <a:gd name="adj" fmla="val 6667"/>
            </a:avLst>
          </a:prstGeom>
          <a:solidFill>
            <a:srgbClr val="FFFFFF"/>
          </a:solidFill>
          <a:ln w="12700">
            <a:solidFill>
              <a:srgbClr val="0B1F44"/>
            </a:solidFill>
            <a:prstDash val="dash"/>
          </a:ln>
        </p:spPr>
      </p:sp>
      <p:sp>
        <p:nvSpPr>
          <p:cNvPr id="25" name="Text 21"/>
          <p:cNvSpPr txBox="1"/>
          <p:nvPr/>
        </p:nvSpPr>
        <p:spPr>
          <a:xfrm>
            <a:off x="5586984" y="3794760"/>
            <a:ext cx="2404872" cy="768096"/>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Converts CFM56-7B cores into </a:t>
            </a:r>
            <a:r>
              <a:rPr lang="en-US" sz="900" b="1" dirty="0">
                <a:solidFill>
                  <a:srgbClr val="0B1F44"/>
                </a:solidFill>
                <a:latin typeface="Calibri" pitchFamily="34" charset="0"/>
                <a:ea typeface="Calibri" pitchFamily="34" charset="-122"/>
                <a:cs typeface="Calibri" pitchFamily="34" charset="-120"/>
              </a:rPr>
              <a:t>25 MW mobile gas turbines</a:t>
            </a:r>
            <a:r>
              <a:rPr lang="en-US" sz="900" dirty="0">
                <a:solidFill>
                  <a:srgbClr val="404040"/>
                </a:solidFill>
                <a:latin typeface="Calibri" pitchFamily="34" charset="0"/>
                <a:ea typeface="Calibri" pitchFamily="34" charset="-122"/>
                <a:cs typeface="Calibri" pitchFamily="34" charset="-120"/>
              </a:rPr>
              <a:t> for data centers. First order </a:t>
            </a:r>
            <a:r>
              <a:rPr lang="en-US" sz="900" b="1" dirty="0">
                <a:solidFill>
                  <a:srgbClr val="0B1F44"/>
                </a:solidFill>
                <a:latin typeface="Calibri" pitchFamily="34" charset="0"/>
                <a:ea typeface="Calibri" pitchFamily="34" charset="-122"/>
                <a:cs typeface="Calibri" pitchFamily="34" charset="-120"/>
              </a:rPr>
              <a:t>$1.465bn</a:t>
            </a:r>
            <a:r>
              <a:rPr lang="en-US" sz="900" dirty="0">
                <a:solidFill>
                  <a:srgbClr val="404040"/>
                </a:solidFill>
                <a:latin typeface="Calibri" pitchFamily="34" charset="0"/>
                <a:ea typeface="Calibri" pitchFamily="34" charset="-122"/>
                <a:cs typeface="Calibri" pitchFamily="34" charset="-120"/>
              </a:rPr>
              <a:t> via JV; FY27 Power EBITDA guide </a:t>
            </a:r>
            <a:r>
              <a:rPr lang="en-US" sz="900" b="1" dirty="0">
                <a:solidFill>
                  <a:srgbClr val="0B1F44"/>
                </a:solidFill>
                <a:latin typeface="Calibri" pitchFamily="34" charset="0"/>
                <a:ea typeface="Calibri" pitchFamily="34" charset="-122"/>
                <a:cs typeface="Calibri" pitchFamily="34" charset="-120"/>
              </a:rPr>
              <a:t>$450–750M</a:t>
            </a:r>
            <a:endParaRPr lang="en-US" sz="900" dirty="0"/>
          </a:p>
        </p:txBody>
      </p:sp>
      <p:sp>
        <p:nvSpPr>
          <p:cNvPr id="26" name="Shape 22"/>
          <p:cNvSpPr/>
          <p:nvPr/>
        </p:nvSpPr>
        <p:spPr>
          <a:xfrm>
            <a:off x="8229600" y="1536192"/>
            <a:ext cx="3547872" cy="292608"/>
          </a:xfrm>
          <a:prstGeom prst="rect">
            <a:avLst/>
          </a:prstGeom>
          <a:solidFill>
            <a:srgbClr val="DCE6F2"/>
          </a:solidFill>
          <a:ln w="9525">
            <a:solidFill>
              <a:srgbClr val="0B1F44"/>
            </a:solidFill>
            <a:prstDash val="solid"/>
          </a:ln>
        </p:spPr>
      </p:sp>
      <p:sp>
        <p:nvSpPr>
          <p:cNvPr id="27" name="Text 23"/>
          <p:cNvSpPr txBox="1"/>
          <p:nvPr/>
        </p:nvSpPr>
        <p:spPr>
          <a:xfrm>
            <a:off x="8229600" y="1536192"/>
            <a:ext cx="354787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Cap Table</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0" y="1901952"/>
          <a:ext cx="3547872" cy="914400"/>
        </p:xfrm>
        <a:graphic>
          <a:graphicData uri="http://schemas.openxmlformats.org/drawingml/2006/table">
            <a:tbl>
              <a:tblPr/>
              <a:tblGrid>
                <a:gridCol w="2194560"/>
                <a:gridCol w="1353312"/>
              </a:tblGrid>
              <a:tr h="265176">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Share price (10/2/26)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$167.03</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Diluted shares (mm)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104.0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Market cap ($mm)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17,378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 Cash ($mm)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(337)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 Total debt ($mm)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3,453</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 Preferred ($mm)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65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b="1" dirty="0">
                          <a:solidFill>
                            <a:srgbClr val="0B1F44"/>
                          </a:solidFill>
                          <a:latin typeface="Calibri" pitchFamily="34" charset="0"/>
                          <a:ea typeface="Calibri" pitchFamily="34" charset="-122"/>
                          <a:cs typeface="Calibri" pitchFamily="34" charset="-120"/>
                        </a:rPr>
                        <a:t>Enterprise value ($mm)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20,560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EV / FY27E EBITDA</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9.2x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29" name="Shape 24"/>
          <p:cNvSpPr/>
          <p:nvPr/>
        </p:nvSpPr>
        <p:spPr>
          <a:xfrm>
            <a:off x="411480" y="4800600"/>
            <a:ext cx="11365992" cy="292608"/>
          </a:xfrm>
          <a:prstGeom prst="rect">
            <a:avLst/>
          </a:prstGeom>
          <a:solidFill>
            <a:srgbClr val="DCE6F2"/>
          </a:solidFill>
          <a:ln w="9525">
            <a:solidFill>
              <a:srgbClr val="0B1F44"/>
            </a:solidFill>
            <a:prstDash val="solid"/>
          </a:ln>
        </p:spPr>
      </p:sp>
      <p:sp>
        <p:nvSpPr>
          <p:cNvPr id="30" name="Text 25"/>
          <p:cNvSpPr txBox="1"/>
          <p:nvPr/>
        </p:nvSpPr>
        <p:spPr>
          <a:xfrm>
            <a:off x="411480" y="4800600"/>
            <a:ext cx="1136599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Financial Highlights (Base Case)</a:t>
            </a:r>
            <a:endParaRPr lang="en-US" sz="1200" dirty="0"/>
          </a:p>
        </p:txBody>
      </p:sp>
      <p:sp>
        <p:nvSpPr>
          <p:cNvPr id="31" name="Text 26"/>
          <p:cNvSpPr txBox="1"/>
          <p:nvPr/>
        </p:nvSpPr>
        <p:spPr>
          <a:xfrm>
            <a:off x="411480" y="5120640"/>
            <a:ext cx="3749040"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Total revenue ($M)</a:t>
            </a:r>
            <a:endParaRPr lang="en-US" sz="1050" dirty="0"/>
          </a:p>
        </p:txBody>
      </p:sp>
      <p:graphicFrame>
        <p:nvGraphicFramePr>
          <p:cNvPr id="32" name="Chart 2" descr=""/>
          <p:cNvGraphicFramePr/>
          <p:nvPr/>
        </p:nvGraphicFramePr>
        <p:xfrm>
          <a:off x="411480" y="5358384"/>
          <a:ext cx="3749040" cy="1024128"/>
        </p:xfrm>
        <a:graphic xmlns:a="http://schemas.openxmlformats.org/drawingml/2006/main">
          <a:graphicData uri="http://schemas.openxmlformats.org/drawingml/2006/chart">
            <c:chart xmlns:c="http://schemas.openxmlformats.org/drawingml/2006/chart" r:id="rId3"/>
          </a:graphicData>
        </a:graphic>
      </p:graphicFrame>
      <p:sp>
        <p:nvSpPr>
          <p:cNvPr id="33" name="Text 27"/>
          <p:cNvSpPr txBox="1"/>
          <p:nvPr/>
        </p:nvSpPr>
        <p:spPr>
          <a:xfrm>
            <a:off x="4206240" y="5120640"/>
            <a:ext cx="3749040"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Modules produced</a:t>
            </a:r>
            <a:endParaRPr lang="en-US" sz="1050" dirty="0"/>
          </a:p>
        </p:txBody>
      </p:sp>
      <p:graphicFrame>
        <p:nvGraphicFramePr>
          <p:cNvPr id="34" name="Chart 3" descr=""/>
          <p:cNvGraphicFramePr/>
          <p:nvPr/>
        </p:nvGraphicFramePr>
        <p:xfrm>
          <a:off x="4206240" y="5358384"/>
          <a:ext cx="3749040" cy="1024128"/>
        </p:xfrm>
        <a:graphic xmlns:a="http://schemas.openxmlformats.org/drawingml/2006/main">
          <a:graphicData uri="http://schemas.openxmlformats.org/drawingml/2006/chart">
            <c:chart xmlns:c="http://schemas.openxmlformats.org/drawingml/2006/chart" r:id="rId4"/>
          </a:graphicData>
        </a:graphic>
      </p:graphicFrame>
      <p:sp>
        <p:nvSpPr>
          <p:cNvPr id="35" name="Text 28"/>
          <p:cNvSpPr txBox="1"/>
          <p:nvPr/>
        </p:nvSpPr>
        <p:spPr>
          <a:xfrm>
            <a:off x="8001000" y="5120640"/>
            <a:ext cx="3776472"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Total adj. EBITDA ($M)</a:t>
            </a:r>
            <a:endParaRPr lang="en-US" sz="1050" dirty="0"/>
          </a:p>
        </p:txBody>
      </p:sp>
      <p:graphicFrame>
        <p:nvGraphicFramePr>
          <p:cNvPr id="36" name="Chart 4" descr=""/>
          <p:cNvGraphicFramePr/>
          <p:nvPr/>
        </p:nvGraphicFramePr>
        <p:xfrm>
          <a:off x="8001000" y="5358384"/>
          <a:ext cx="3776472" cy="1024128"/>
        </p:xfrm>
        <a:graphic xmlns:a="http://schemas.openxmlformats.org/drawingml/2006/main">
          <a:graphicData uri="http://schemas.openxmlformats.org/drawingml/2006/chart">
            <c:chart xmlns:c="http://schemas.openxmlformats.org/drawingml/2006/chart" r:id="rId5"/>
          </a:graphicData>
        </a:graphic>
      </p:graphicFrame>
      <p:sp>
        <p:nvSpPr>
          <p:cNvPr id="37" name="Text 29"/>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10-K FY25, Q2'26 supplement;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Industry Overview: The CFM56 Aftermarket</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The Best-Selling Engine Ever Built Is Entering Its Heaviest, Most Repeat-Heavy Maintenance Years</a:t>
            </a:r>
            <a:endParaRPr lang="en-US" sz="15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Installed Fleet &amp; OEM Shop-Visit Outlook</a:t>
            </a:r>
            <a:endParaRPr lang="en-US" sz="1200" dirty="0"/>
          </a:p>
        </p:txBody>
      </p:sp>
      <p:sp>
        <p:nvSpPr>
          <p:cNvPr id="7" name="Text 5"/>
          <p:cNvSpPr txBox="1"/>
          <p:nvPr/>
        </p:nvSpPr>
        <p:spPr>
          <a:xfrm>
            <a:off x="411480" y="1874520"/>
            <a:ext cx="5577840"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CFM56-5B/-7B shop visits (GE central case); fleet 22.7k → 19.5k engines</a:t>
            </a:r>
            <a:endParaRPr lang="en-US" sz="1050" dirty="0"/>
          </a:p>
        </p:txBody>
      </p:sp>
      <p:graphicFrame>
        <p:nvGraphicFramePr>
          <p:cNvPr id="8" name="Chart 0" descr=""/>
          <p:cNvGraphicFramePr/>
          <p:nvPr/>
        </p:nvGraphicFramePr>
        <p:xfrm>
          <a:off x="411480" y="2112264"/>
          <a:ext cx="5577840" cy="218541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11480" y="4370832"/>
            <a:ext cx="5577840" cy="566928"/>
          </a:xfrm>
          <a:prstGeom prst="roundRect">
            <a:avLst>
              <a:gd name="adj" fmla="val 9677"/>
            </a:avLst>
          </a:prstGeom>
          <a:solidFill>
            <a:srgbClr val="FFFFFF"/>
          </a:solidFill>
          <a:ln w="12700">
            <a:solidFill>
              <a:srgbClr val="0B1F44"/>
            </a:solidFill>
            <a:prstDash val="dash"/>
          </a:ln>
        </p:spPr>
      </p:sp>
      <p:sp>
        <p:nvSpPr>
          <p:cNvPr id="10" name="Text 7"/>
          <p:cNvSpPr txBox="1"/>
          <p:nvPr/>
        </p:nvSpPr>
        <p:spPr>
          <a:xfrm>
            <a:off x="466344" y="4398264"/>
            <a:ext cx="5468112" cy="512064"/>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~22,700 engines</a:t>
            </a:r>
            <a:r>
              <a:rPr lang="en-US" sz="950" dirty="0">
                <a:solidFill>
                  <a:srgbClr val="404040"/>
                </a:solidFill>
                <a:latin typeface="Calibri" pitchFamily="34" charset="0"/>
                <a:ea typeface="Calibri" pitchFamily="34" charset="-122"/>
                <a:cs typeface="Calibri" pitchFamily="34" charset="-120"/>
              </a:rPr>
              <a:t> in service, </a:t>
            </a:r>
            <a:r>
              <a:rPr lang="en-US" sz="950" b="1" dirty="0">
                <a:solidFill>
                  <a:srgbClr val="0B1F44"/>
                </a:solidFill>
                <a:latin typeface="Calibri" pitchFamily="34" charset="0"/>
                <a:ea typeface="Calibri" pitchFamily="34" charset="-122"/>
                <a:cs typeface="Calibri" pitchFamily="34" charset="-120"/>
              </a:rPr>
              <a:t>~2,350 shop visits/yr</a:t>
            </a:r>
            <a:r>
              <a:rPr lang="en-US" sz="950" dirty="0">
                <a:solidFill>
                  <a:srgbClr val="404040"/>
                </a:solidFill>
                <a:latin typeface="Calibri" pitchFamily="34" charset="0"/>
                <a:ea typeface="Calibri" pitchFamily="34" charset="-122"/>
                <a:cs typeface="Calibri" pitchFamily="34" charset="-120"/>
              </a:rPr>
              <a:t> → </a:t>
            </a:r>
            <a:r>
              <a:rPr lang="en-US" sz="950" b="1" dirty="0">
                <a:solidFill>
                  <a:srgbClr val="0B1F44"/>
                </a:solidFill>
                <a:latin typeface="Calibri" pitchFamily="34" charset="0"/>
                <a:ea typeface="Calibri" pitchFamily="34" charset="-122"/>
                <a:cs typeface="Calibri" pitchFamily="34" charset="-120"/>
              </a:rPr>
              <a:t>~7,000 modules/yr</a:t>
            </a:r>
            <a:r>
              <a:rPr lang="en-US" sz="950" dirty="0">
                <a:solidFill>
                  <a:srgbClr val="404040"/>
                </a:solidFill>
                <a:latin typeface="Calibri" pitchFamily="34" charset="0"/>
                <a:ea typeface="Calibri" pitchFamily="34" charset="-122"/>
                <a:cs typeface="Calibri" pitchFamily="34" charset="-120"/>
              </a:rPr>
              <a:t> of demand. GE expects visits to </a:t>
            </a:r>
            <a:r>
              <a:rPr lang="en-US" sz="950" b="1" dirty="0">
                <a:solidFill>
                  <a:srgbClr val="0B1F44"/>
                </a:solidFill>
                <a:latin typeface="Calibri" pitchFamily="34" charset="0"/>
                <a:ea typeface="Calibri" pitchFamily="34" charset="-122"/>
                <a:cs typeface="Calibri" pitchFamily="34" charset="-120"/>
              </a:rPr>
              <a:t>plateau through 2028</a:t>
            </a:r>
            <a:r>
              <a:rPr lang="en-US" sz="950" dirty="0">
                <a:solidFill>
                  <a:srgbClr val="404040"/>
                </a:solidFill>
                <a:latin typeface="Calibri" pitchFamily="34" charset="0"/>
                <a:ea typeface="Calibri" pitchFamily="34" charset="-122"/>
                <a:cs typeface="Calibri" pitchFamily="34" charset="-120"/>
              </a:rPr>
              <a:t>, and our base case only declines 2% a year after that</a:t>
            </a:r>
            <a:endParaRPr lang="en-US" sz="950" dirty="0"/>
          </a:p>
        </p:txBody>
      </p:sp>
      <p:sp>
        <p:nvSpPr>
          <p:cNvPr id="11" name="Shape 8"/>
          <p:cNvSpPr/>
          <p:nvPr/>
        </p:nvSpPr>
        <p:spPr>
          <a:xfrm>
            <a:off x="411480" y="5029200"/>
            <a:ext cx="5577840" cy="292608"/>
          </a:xfrm>
          <a:prstGeom prst="rect">
            <a:avLst/>
          </a:prstGeom>
          <a:solidFill>
            <a:srgbClr val="DCE6F2"/>
          </a:solidFill>
          <a:ln w="9525">
            <a:solidFill>
              <a:srgbClr val="0B1F44"/>
            </a:solidFill>
            <a:prstDash val="solid"/>
          </a:ln>
        </p:spPr>
      </p:sp>
      <p:sp>
        <p:nvSpPr>
          <p:cNvPr id="12" name="Text 9"/>
          <p:cNvSpPr txBox="1"/>
          <p:nvPr/>
        </p:nvSpPr>
        <p:spPr>
          <a:xfrm>
            <a:off x="411480" y="502920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Fleet By Completed Shop Visits: Older Engines Need More Work</a:t>
            </a:r>
            <a:endParaRPr lang="en-US" sz="1200" dirty="0"/>
          </a:p>
        </p:txBody>
      </p:sp>
      <p:graphicFrame>
        <p:nvGraphicFramePr>
          <p:cNvPr id="13" name="Chart 1" descr=""/>
          <p:cNvGraphicFramePr/>
          <p:nvPr/>
        </p:nvGraphicFramePr>
        <p:xfrm>
          <a:off x="411480" y="5349240"/>
          <a:ext cx="5577840" cy="1024128"/>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9632" y="1536192"/>
            <a:ext cx="5577840" cy="292608"/>
          </a:xfrm>
          <a:prstGeom prst="rect">
            <a:avLst/>
          </a:prstGeom>
          <a:solidFill>
            <a:srgbClr val="DCE6F2"/>
          </a:solidFill>
          <a:ln w="9525">
            <a:solidFill>
              <a:srgbClr val="0B1F44"/>
            </a:solidFill>
            <a:prstDash val="solid"/>
          </a:ln>
        </p:spPr>
      </p:sp>
      <p:sp>
        <p:nvSpPr>
          <p:cNvPr id="15" name="Text 11"/>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Who Services The CFM56</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199632" y="1874520"/>
          <a:ext cx="5577840" cy="914400"/>
        </p:xfrm>
        <a:graphic>
          <a:graphicData uri="http://schemas.openxmlformats.org/drawingml/2006/table">
            <a:tbl>
              <a:tblPr/>
              <a:tblGrid>
                <a:gridCol w="1783080"/>
                <a:gridCol w="1783080"/>
                <a:gridCol w="2011680"/>
              </a:tblGrid>
              <a:tr h="32918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Provider</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CFM56 posture</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29184">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OEM (GE / Safran / CFM)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Licensor, parts seller, own shops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Shifting slots and capex to </a:t>
                      </a:r>
                      <a:r>
                        <a:rPr lang="en-US" sz="850" b="1" dirty="0">
                          <a:solidFill>
                            <a:srgbClr val="0B1F44"/>
                          </a:solidFill>
                          <a:latin typeface="Calibri" pitchFamily="34" charset="0"/>
                          <a:ea typeface="Calibri" pitchFamily="34" charset="-122"/>
                          <a:cs typeface="Calibri" pitchFamily="34" charset="-120"/>
                        </a:rPr>
                        <a:t>LEAP</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Large MROs (MTU, LHT, SRT, AFI KLM)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Full shop visit, 90–180 days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Adding LEAP lines; CFM56 slots </a:t>
                      </a:r>
                      <a:r>
                        <a:rPr lang="en-US" sz="850" b="1" dirty="0">
                          <a:solidFill>
                            <a:srgbClr val="0B1F44"/>
                          </a:solidFill>
                          <a:latin typeface="Calibri" pitchFamily="34" charset="0"/>
                          <a:ea typeface="Calibri" pitchFamily="34" charset="-122"/>
                          <a:cs typeface="Calibri" pitchFamily="34" charset="-120"/>
                        </a:rPr>
                        <a:t>sold out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Airline shops (Delta, UAL in-house)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Own fleet first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Feeding own fleets; UAL now </a:t>
                      </a:r>
                      <a:r>
                        <a:rPr lang="en-US" sz="850" b="1" dirty="0">
                          <a:solidFill>
                            <a:srgbClr val="0B1F44"/>
                          </a:solidFill>
                          <a:latin typeface="Calibri" pitchFamily="34" charset="0"/>
                          <a:ea typeface="Calibri" pitchFamily="34" charset="-122"/>
                          <a:cs typeface="Calibri" pitchFamily="34" charset="-120"/>
                        </a:rPr>
                        <a:t>outsources to FTAI</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FTAI</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Module exchange, 5–25 days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Only scaled player adding CFM56 capacity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17" name="Shape 12"/>
          <p:cNvSpPr/>
          <p:nvPr/>
        </p:nvSpPr>
        <p:spPr>
          <a:xfrm>
            <a:off x="6199632" y="3840480"/>
            <a:ext cx="5577840" cy="292608"/>
          </a:xfrm>
          <a:prstGeom prst="rect">
            <a:avLst/>
          </a:prstGeom>
          <a:solidFill>
            <a:srgbClr val="DCE6F2"/>
          </a:solidFill>
          <a:ln w="9525">
            <a:solidFill>
              <a:srgbClr val="0B1F44"/>
            </a:solidFill>
            <a:prstDash val="solid"/>
          </a:ln>
        </p:spPr>
      </p:sp>
      <p:sp>
        <p:nvSpPr>
          <p:cNvPr id="18" name="Text 13"/>
          <p:cNvSpPr txBox="1"/>
          <p:nvPr/>
        </p:nvSpPr>
        <p:spPr>
          <a:xfrm>
            <a:off x="6199632" y="384048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Industry Growth Algorithm</a:t>
            </a:r>
            <a:endParaRPr lang="en-US" sz="1200" dirty="0"/>
          </a:p>
        </p:txBody>
      </p:sp>
      <p:sp>
        <p:nvSpPr>
          <p:cNvPr id="19" name="Shape 14"/>
          <p:cNvSpPr/>
          <p:nvPr/>
        </p:nvSpPr>
        <p:spPr>
          <a:xfrm>
            <a:off x="6199632" y="4187952"/>
            <a:ext cx="1783080" cy="384048"/>
          </a:xfrm>
          <a:prstGeom prst="rect">
            <a:avLst>
              <a:gd name="adj" fmla="val 14286"/>
            </a:avLst>
          </a:prstGeom>
          <a:solidFill>
            <a:srgbClr val="DCE6F2"/>
          </a:solidFill>
          <a:ln w="9525">
            <a:solidFill>
              <a:srgbClr val="DCE6F2"/>
            </a:solidFill>
            <a:prstDash val="solid"/>
          </a:ln>
        </p:spPr>
      </p:sp>
      <p:sp>
        <p:nvSpPr>
          <p:cNvPr id="20" name="Text 15"/>
          <p:cNvSpPr txBox="1"/>
          <p:nvPr/>
        </p:nvSpPr>
        <p:spPr>
          <a:xfrm>
            <a:off x="6245352" y="4187952"/>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Engines in fleet</a:t>
            </a:r>
            <a:endParaRPr lang="en-US" sz="1000" dirty="0"/>
          </a:p>
        </p:txBody>
      </p:sp>
      <p:sp>
        <p:nvSpPr>
          <p:cNvPr id="21" name="Shape 16"/>
          <p:cNvSpPr/>
          <p:nvPr/>
        </p:nvSpPr>
        <p:spPr>
          <a:xfrm>
            <a:off x="8074152" y="4187952"/>
            <a:ext cx="1783080" cy="384048"/>
          </a:xfrm>
          <a:prstGeom prst="rect">
            <a:avLst>
              <a:gd name="adj" fmla="val 14286"/>
            </a:avLst>
          </a:prstGeom>
          <a:solidFill>
            <a:srgbClr val="DCE6F2"/>
          </a:solidFill>
          <a:ln w="9525">
            <a:solidFill>
              <a:srgbClr val="DCE6F2"/>
            </a:solidFill>
            <a:prstDash val="solid"/>
          </a:ln>
        </p:spPr>
      </p:sp>
      <p:sp>
        <p:nvSpPr>
          <p:cNvPr id="22" name="Text 17"/>
          <p:cNvSpPr txBox="1"/>
          <p:nvPr/>
        </p:nvSpPr>
        <p:spPr>
          <a:xfrm>
            <a:off x="8119872" y="4187952"/>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 Shop-visit rate</a:t>
            </a:r>
            <a:endParaRPr lang="en-US" sz="1000" dirty="0"/>
          </a:p>
        </p:txBody>
      </p:sp>
      <p:sp>
        <p:nvSpPr>
          <p:cNvPr id="23" name="Shape 18"/>
          <p:cNvSpPr/>
          <p:nvPr/>
        </p:nvSpPr>
        <p:spPr>
          <a:xfrm>
            <a:off x="9948672" y="4187952"/>
            <a:ext cx="1783080" cy="384048"/>
          </a:xfrm>
          <a:prstGeom prst="rect">
            <a:avLst>
              <a:gd name="adj" fmla="val 14286"/>
            </a:avLst>
          </a:prstGeom>
          <a:solidFill>
            <a:srgbClr val="0B1F44"/>
          </a:solidFill>
          <a:ln w="9525">
            <a:solidFill>
              <a:srgbClr val="0B1F44"/>
            </a:solidFill>
            <a:prstDash val="solid"/>
          </a:ln>
        </p:spPr>
      </p:sp>
      <p:sp>
        <p:nvSpPr>
          <p:cNvPr id="24" name="Text 19"/>
          <p:cNvSpPr txBox="1"/>
          <p:nvPr/>
        </p:nvSpPr>
        <p:spPr>
          <a:xfrm>
            <a:off x="9994392" y="4187952"/>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 Shop visits</a:t>
            </a:r>
            <a:endParaRPr lang="en-US" sz="1000" dirty="0"/>
          </a:p>
        </p:txBody>
      </p:sp>
      <p:sp>
        <p:nvSpPr>
          <p:cNvPr id="25" name="Shape 20"/>
          <p:cNvSpPr/>
          <p:nvPr/>
        </p:nvSpPr>
        <p:spPr>
          <a:xfrm>
            <a:off x="6199632" y="4617720"/>
            <a:ext cx="1783080" cy="384048"/>
          </a:xfrm>
          <a:prstGeom prst="rect">
            <a:avLst>
              <a:gd name="adj" fmla="val 14286"/>
            </a:avLst>
          </a:prstGeom>
          <a:solidFill>
            <a:srgbClr val="DCE6F2"/>
          </a:solidFill>
          <a:ln w="9525">
            <a:solidFill>
              <a:srgbClr val="DCE6F2"/>
            </a:solidFill>
            <a:prstDash val="solid"/>
          </a:ln>
        </p:spPr>
      </p:sp>
      <p:sp>
        <p:nvSpPr>
          <p:cNvPr id="26" name="Text 21"/>
          <p:cNvSpPr txBox="1"/>
          <p:nvPr/>
        </p:nvSpPr>
        <p:spPr>
          <a:xfrm>
            <a:off x="6245352" y="4617720"/>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Shop visits</a:t>
            </a:r>
            <a:endParaRPr lang="en-US" sz="1000" dirty="0"/>
          </a:p>
        </p:txBody>
      </p:sp>
      <p:sp>
        <p:nvSpPr>
          <p:cNvPr id="27" name="Shape 22"/>
          <p:cNvSpPr/>
          <p:nvPr/>
        </p:nvSpPr>
        <p:spPr>
          <a:xfrm>
            <a:off x="8074152" y="4617720"/>
            <a:ext cx="1783080" cy="384048"/>
          </a:xfrm>
          <a:prstGeom prst="rect">
            <a:avLst>
              <a:gd name="adj" fmla="val 14286"/>
            </a:avLst>
          </a:prstGeom>
          <a:solidFill>
            <a:srgbClr val="DCE6F2"/>
          </a:solidFill>
          <a:ln w="9525">
            <a:solidFill>
              <a:srgbClr val="DCE6F2"/>
            </a:solidFill>
            <a:prstDash val="solid"/>
          </a:ln>
        </p:spPr>
      </p:sp>
      <p:sp>
        <p:nvSpPr>
          <p:cNvPr id="28" name="Text 23"/>
          <p:cNvSpPr txBox="1"/>
          <p:nvPr/>
        </p:nvSpPr>
        <p:spPr>
          <a:xfrm>
            <a:off x="8119872" y="4617720"/>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 3 modules</a:t>
            </a:r>
            <a:endParaRPr lang="en-US" sz="1000" dirty="0"/>
          </a:p>
        </p:txBody>
      </p:sp>
      <p:sp>
        <p:nvSpPr>
          <p:cNvPr id="29" name="Shape 24"/>
          <p:cNvSpPr/>
          <p:nvPr/>
        </p:nvSpPr>
        <p:spPr>
          <a:xfrm>
            <a:off x="9948672" y="4617720"/>
            <a:ext cx="1783080" cy="384048"/>
          </a:xfrm>
          <a:prstGeom prst="rect">
            <a:avLst>
              <a:gd name="adj" fmla="val 14286"/>
            </a:avLst>
          </a:prstGeom>
          <a:solidFill>
            <a:srgbClr val="0B1F44"/>
          </a:solidFill>
          <a:ln w="9525">
            <a:solidFill>
              <a:srgbClr val="0B1F44"/>
            </a:solidFill>
            <a:prstDash val="solid"/>
          </a:ln>
        </p:spPr>
      </p:sp>
      <p:sp>
        <p:nvSpPr>
          <p:cNvPr id="30" name="Text 25"/>
          <p:cNvSpPr txBox="1"/>
          <p:nvPr/>
        </p:nvSpPr>
        <p:spPr>
          <a:xfrm>
            <a:off x="9994392" y="4617720"/>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 Module demand</a:t>
            </a:r>
            <a:endParaRPr lang="en-US" sz="1000" dirty="0"/>
          </a:p>
        </p:txBody>
      </p:sp>
      <p:sp>
        <p:nvSpPr>
          <p:cNvPr id="31" name="Shape 26"/>
          <p:cNvSpPr/>
          <p:nvPr/>
        </p:nvSpPr>
        <p:spPr>
          <a:xfrm>
            <a:off x="6199632" y="5047488"/>
            <a:ext cx="1783080" cy="384048"/>
          </a:xfrm>
          <a:prstGeom prst="rect">
            <a:avLst>
              <a:gd name="adj" fmla="val 14286"/>
            </a:avLst>
          </a:prstGeom>
          <a:solidFill>
            <a:srgbClr val="DCE6F2"/>
          </a:solidFill>
          <a:ln w="9525">
            <a:solidFill>
              <a:srgbClr val="DCE6F2"/>
            </a:solidFill>
            <a:prstDash val="solid"/>
          </a:ln>
        </p:spPr>
      </p:sp>
      <p:sp>
        <p:nvSpPr>
          <p:cNvPr id="32" name="Text 27"/>
          <p:cNvSpPr txBox="1"/>
          <p:nvPr/>
        </p:nvSpPr>
        <p:spPr>
          <a:xfrm>
            <a:off x="6245352" y="5047488"/>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Module demand</a:t>
            </a:r>
            <a:endParaRPr lang="en-US" sz="1000" dirty="0"/>
          </a:p>
        </p:txBody>
      </p:sp>
      <p:sp>
        <p:nvSpPr>
          <p:cNvPr id="33" name="Shape 28"/>
          <p:cNvSpPr/>
          <p:nvPr/>
        </p:nvSpPr>
        <p:spPr>
          <a:xfrm>
            <a:off x="8074152" y="5047488"/>
            <a:ext cx="1783080" cy="384048"/>
          </a:xfrm>
          <a:prstGeom prst="rect">
            <a:avLst>
              <a:gd name="adj" fmla="val 14286"/>
            </a:avLst>
          </a:prstGeom>
          <a:solidFill>
            <a:srgbClr val="DCE6F2"/>
          </a:solidFill>
          <a:ln w="9525">
            <a:solidFill>
              <a:srgbClr val="DCE6F2"/>
            </a:solidFill>
            <a:prstDash val="solid"/>
          </a:ln>
        </p:spPr>
      </p:sp>
      <p:sp>
        <p:nvSpPr>
          <p:cNvPr id="34" name="Text 29"/>
          <p:cNvSpPr txBox="1"/>
          <p:nvPr/>
        </p:nvSpPr>
        <p:spPr>
          <a:xfrm>
            <a:off x="8119872" y="5047488"/>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 FTAI share (+ SCI)</a:t>
            </a:r>
            <a:endParaRPr lang="en-US" sz="1000" dirty="0"/>
          </a:p>
        </p:txBody>
      </p:sp>
      <p:sp>
        <p:nvSpPr>
          <p:cNvPr id="35" name="Shape 30"/>
          <p:cNvSpPr/>
          <p:nvPr/>
        </p:nvSpPr>
        <p:spPr>
          <a:xfrm>
            <a:off x="9948672" y="5047488"/>
            <a:ext cx="1783080" cy="384048"/>
          </a:xfrm>
          <a:prstGeom prst="rect">
            <a:avLst>
              <a:gd name="adj" fmla="val 14286"/>
            </a:avLst>
          </a:prstGeom>
          <a:solidFill>
            <a:srgbClr val="0B1F44"/>
          </a:solidFill>
          <a:ln w="9525">
            <a:solidFill>
              <a:srgbClr val="0B1F44"/>
            </a:solidFill>
            <a:prstDash val="solid"/>
          </a:ln>
        </p:spPr>
      </p:sp>
      <p:sp>
        <p:nvSpPr>
          <p:cNvPr id="36" name="Text 31"/>
          <p:cNvSpPr txBox="1"/>
          <p:nvPr/>
        </p:nvSpPr>
        <p:spPr>
          <a:xfrm>
            <a:off x="9994392" y="5047488"/>
            <a:ext cx="1691640" cy="384048"/>
          </a:xfrm>
          <a:prstGeom prst="rect">
            <a:avLst/>
          </a:prstGeom>
          <a:noFill/>
          <a:ln/>
        </p:spPr>
        <p:txBody>
          <a:bodyPr wrap="square" lIns="38100" tIns="38100" rIns="38100" bIns="3810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 FTAI modules</a:t>
            </a:r>
            <a:endParaRPr lang="en-US" sz="1000" dirty="0"/>
          </a:p>
        </p:txBody>
      </p:sp>
      <p:sp>
        <p:nvSpPr>
          <p:cNvPr id="37" name="Shape 32"/>
          <p:cNvSpPr/>
          <p:nvPr/>
        </p:nvSpPr>
        <p:spPr>
          <a:xfrm>
            <a:off x="6199632" y="5532120"/>
            <a:ext cx="5577840" cy="777240"/>
          </a:xfrm>
          <a:prstGeom prst="roundRect">
            <a:avLst>
              <a:gd name="adj" fmla="val 7059"/>
            </a:avLst>
          </a:prstGeom>
          <a:solidFill>
            <a:srgbClr val="FFFFFF"/>
          </a:solidFill>
          <a:ln w="12700">
            <a:solidFill>
              <a:srgbClr val="0B1F44"/>
            </a:solidFill>
            <a:prstDash val="dash"/>
          </a:ln>
        </p:spPr>
      </p:sp>
      <p:sp>
        <p:nvSpPr>
          <p:cNvPr id="38" name="Text 33"/>
          <p:cNvSpPr txBox="1"/>
          <p:nvPr/>
        </p:nvSpPr>
        <p:spPr>
          <a:xfrm>
            <a:off x="6254496" y="5559552"/>
            <a:ext cx="5468112" cy="72237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Margin then depends on </a:t>
            </a:r>
            <a:r>
              <a:rPr lang="en-US" sz="950" b="1" dirty="0">
                <a:solidFill>
                  <a:srgbClr val="0B1F44"/>
                </a:solidFill>
                <a:latin typeface="Calibri" pitchFamily="34" charset="0"/>
                <a:ea typeface="Calibri" pitchFamily="34" charset="-122"/>
                <a:cs typeface="Calibri" pitchFamily="34" charset="-120"/>
              </a:rPr>
              <a:t>feedstock cost</a:t>
            </a:r>
            <a:r>
              <a:rPr lang="en-US" sz="950" dirty="0">
                <a:solidFill>
                  <a:srgbClr val="404040"/>
                </a:solidFill>
                <a:latin typeface="Calibri" pitchFamily="34" charset="0"/>
                <a:ea typeface="Calibri" pitchFamily="34" charset="-122"/>
                <a:cs typeface="Calibri" pitchFamily="34" charset="-120"/>
              </a:rPr>
              <a:t> (USM / part-out engines), </a:t>
            </a:r>
            <a:r>
              <a:rPr lang="en-US" sz="950" b="1" dirty="0">
                <a:solidFill>
                  <a:srgbClr val="0B1F44"/>
                </a:solidFill>
                <a:latin typeface="Calibri" pitchFamily="34" charset="0"/>
                <a:ea typeface="Calibri" pitchFamily="34" charset="-122"/>
                <a:cs typeface="Calibri" pitchFamily="34" charset="-120"/>
              </a:rPr>
              <a:t>workscope mix</a:t>
            </a:r>
            <a:r>
              <a:rPr lang="en-US" sz="950" dirty="0">
                <a:solidFill>
                  <a:srgbClr val="404040"/>
                </a:solidFill>
                <a:latin typeface="Calibri" pitchFamily="34" charset="0"/>
                <a:ea typeface="Calibri" pitchFamily="34" charset="-122"/>
                <a:cs typeface="Calibri" pitchFamily="34" charset="-120"/>
              </a:rPr>
              <a:t> (light 42% vs heavy 25% margin per job), </a:t>
            </a:r>
            <a:r>
              <a:rPr lang="en-US" sz="950" b="1" dirty="0">
                <a:solidFill>
                  <a:srgbClr val="0B1F44"/>
                </a:solidFill>
                <a:latin typeface="Calibri" pitchFamily="34" charset="0"/>
                <a:ea typeface="Calibri" pitchFamily="34" charset="-122"/>
                <a:cs typeface="Calibri" pitchFamily="34" charset="-120"/>
              </a:rPr>
              <a:t>price</a:t>
            </a:r>
            <a:r>
              <a:rPr lang="en-US" sz="950" dirty="0">
                <a:solidFill>
                  <a:srgbClr val="404040"/>
                </a:solidFill>
                <a:latin typeface="Calibri" pitchFamily="34" charset="0"/>
                <a:ea typeface="Calibri" pitchFamily="34" charset="-122"/>
                <a:cs typeface="Calibri" pitchFamily="34" charset="-120"/>
              </a:rPr>
              <a:t> (third-party repair catalogues up </a:t>
            </a:r>
            <a:r>
              <a:rPr lang="en-US" sz="950" b="1" dirty="0">
                <a:solidFill>
                  <a:srgbClr val="0B1F44"/>
                </a:solidFill>
                <a:latin typeface="Calibri" pitchFamily="34" charset="0"/>
                <a:ea typeface="Calibri" pitchFamily="34" charset="-122"/>
                <a:cs typeface="Calibri" pitchFamily="34" charset="-120"/>
              </a:rPr>
              <a:t>6.2%/yr</a:t>
            </a:r>
            <a:r>
              <a:rPr lang="en-US" sz="950" dirty="0">
                <a:solidFill>
                  <a:srgbClr val="404040"/>
                </a:solidFill>
                <a:latin typeface="Calibri" pitchFamily="34" charset="0"/>
                <a:ea typeface="Calibri" pitchFamily="34" charset="-122"/>
                <a:cs typeface="Calibri" pitchFamily="34" charset="-120"/>
              </a:rPr>
              <a:t>) and </a:t>
            </a:r>
            <a:r>
              <a:rPr lang="en-US" sz="950" b="1" dirty="0">
                <a:solidFill>
                  <a:srgbClr val="0B1F44"/>
                </a:solidFill>
                <a:latin typeface="Calibri" pitchFamily="34" charset="0"/>
                <a:ea typeface="Calibri" pitchFamily="34" charset="-122"/>
                <a:cs typeface="Calibri" pitchFamily="34" charset="-120"/>
              </a:rPr>
              <a:t>PMA</a:t>
            </a:r>
            <a:r>
              <a:rPr lang="en-US" sz="950" dirty="0">
                <a:solidFill>
                  <a:srgbClr val="404040"/>
                </a:solidFill>
                <a:latin typeface="Calibri" pitchFamily="34" charset="0"/>
                <a:ea typeface="Calibri" pitchFamily="34" charset="-122"/>
                <a:cs typeface="Calibri" pitchFamily="34" charset="-120"/>
              </a:rPr>
              <a:t> content</a:t>
            </a:r>
            <a:endParaRPr lang="en-US" sz="950" dirty="0"/>
          </a:p>
        </p:txBody>
      </p:sp>
      <p:sp>
        <p:nvSpPr>
          <p:cNvPr id="39" name="Text 34"/>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GE / CFM shop-visit outlook; Safran, MTU fleet counts; OEM cohort projection; SR Technics catalogues;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 Opportunity (1/2): A Reset Read As Fraud</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In One Quarter Aerospace Margins Fell ~500 bps And Management Guided ~30%; The Market Assumed The Short Thesis Was Unwinding</a:t>
            </a:r>
            <a:endParaRPr lang="en-US" sz="1350" dirty="0"/>
          </a:p>
        </p:txBody>
      </p:sp>
      <p:sp>
        <p:nvSpPr>
          <p:cNvPr id="5" name="Shape 3"/>
          <p:cNvSpPr/>
          <p:nvPr/>
        </p:nvSpPr>
        <p:spPr>
          <a:xfrm>
            <a:off x="411480" y="1554480"/>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5448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Aerospace Products Adj. EBITDA Margin</a:t>
            </a:r>
            <a:endParaRPr lang="en-US" sz="1200" dirty="0"/>
          </a:p>
        </p:txBody>
      </p:sp>
      <p:graphicFrame>
        <p:nvGraphicFramePr>
          <p:cNvPr id="7" name="Chart 0" descr=""/>
          <p:cNvGraphicFramePr/>
          <p:nvPr/>
        </p:nvGraphicFramePr>
        <p:xfrm>
          <a:off x="411480" y="1874520"/>
          <a:ext cx="5577840" cy="25146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11480" y="4434840"/>
            <a:ext cx="5577840" cy="640080"/>
          </a:xfrm>
          <a:prstGeom prst="roundRect">
            <a:avLst>
              <a:gd name="adj" fmla="val 8571"/>
            </a:avLst>
          </a:prstGeom>
          <a:solidFill>
            <a:srgbClr val="FFFFFF"/>
          </a:solidFill>
          <a:ln w="12700">
            <a:solidFill>
              <a:srgbClr val="0B1F44"/>
            </a:solidFill>
            <a:prstDash val="dash"/>
          </a:ln>
        </p:spPr>
      </p:sp>
      <p:sp>
        <p:nvSpPr>
          <p:cNvPr id="9" name="Text 6"/>
          <p:cNvSpPr txBox="1"/>
          <p:nvPr/>
        </p:nvSpPr>
        <p:spPr>
          <a:xfrm>
            <a:off x="466344" y="4462272"/>
            <a:ext cx="5468112" cy="585216"/>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Q1'26: –470 bps q/q to 29.9%</a:t>
            </a:r>
            <a:r>
              <a:rPr lang="en-US" sz="950" dirty="0">
                <a:solidFill>
                  <a:srgbClr val="404040"/>
                </a:solidFill>
                <a:latin typeface="Calibri" pitchFamily="34" charset="0"/>
                <a:ea typeface="Calibri" pitchFamily="34" charset="-122"/>
                <a:cs typeface="Calibri" pitchFamily="34" charset="-120"/>
              </a:rPr>
              <a:t>, Q2'26 28.5%. Management: more full performance restorations and large-airline deals; share over margin. Q2 call: </a:t>
            </a:r>
            <a:r>
              <a:rPr lang="en-US" sz="950" b="1" dirty="0">
                <a:solidFill>
                  <a:srgbClr val="0B1F44"/>
                </a:solidFill>
                <a:latin typeface="Calibri" pitchFamily="34" charset="0"/>
                <a:ea typeface="Calibri" pitchFamily="34" charset="-122"/>
                <a:cs typeface="Calibri" pitchFamily="34" charset="-120"/>
              </a:rPr>
              <a:t>"around 30% for the next 1–2 years"</a:t>
            </a:r>
            <a:r>
              <a:rPr lang="en-US" sz="950" dirty="0">
                <a:solidFill>
                  <a:srgbClr val="404040"/>
                </a:solidFill>
                <a:latin typeface="Calibri" pitchFamily="34" charset="0"/>
                <a:ea typeface="Calibri" pitchFamily="34" charset="-122"/>
                <a:cs typeface="Calibri" pitchFamily="34" charset="-120"/>
              </a:rPr>
              <a:t>. Stock fell ~19% to $162 after Q2</a:t>
            </a:r>
            <a:endParaRPr lang="en-US" sz="950" dirty="0"/>
          </a:p>
        </p:txBody>
      </p:sp>
      <p:sp>
        <p:nvSpPr>
          <p:cNvPr id="10" name="Shape 7"/>
          <p:cNvSpPr/>
          <p:nvPr/>
        </p:nvSpPr>
        <p:spPr>
          <a:xfrm>
            <a:off x="411480" y="5166360"/>
            <a:ext cx="5577840" cy="292608"/>
          </a:xfrm>
          <a:prstGeom prst="rect">
            <a:avLst/>
          </a:prstGeom>
          <a:solidFill>
            <a:srgbClr val="DCE6F2"/>
          </a:solidFill>
          <a:ln w="9525">
            <a:solidFill>
              <a:srgbClr val="0B1F44"/>
            </a:solidFill>
            <a:prstDash val="solid"/>
          </a:ln>
        </p:spPr>
      </p:sp>
      <p:sp>
        <p:nvSpPr>
          <p:cNvPr id="11" name="Text 8"/>
          <p:cNvSpPr txBox="1"/>
          <p:nvPr/>
        </p:nvSpPr>
        <p:spPr>
          <a:xfrm>
            <a:off x="411480" y="516636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Management's Job Economics (Q2'26 Call): Blend ≈ 30%</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5486400"/>
          <a:ext cx="5577840" cy="914400"/>
        </p:xfrm>
        <a:graphic>
          <a:graphicData uri="http://schemas.openxmlformats.org/drawingml/2006/table">
            <a:tbl>
              <a:tblPr/>
              <a:tblGrid>
                <a:gridCol w="1463040"/>
                <a:gridCol w="1188720"/>
                <a:gridCol w="1097280"/>
                <a:gridCol w="1828800"/>
              </a:tblGrid>
              <a:tr h="27432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Engine at visit</a:t>
                      </a:r>
                      <a:endParaRPr lang="en-US" sz="9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Workscope</a:t>
                      </a:r>
                      <a:endParaRPr lang="en-US" sz="9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Margin</a:t>
                      </a:r>
                      <a:endParaRPr lang="en-US" sz="9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Dollars per engine</a:t>
                      </a:r>
                      <a:endParaRPr lang="en-US" sz="9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74320">
                <a:tc>
                  <a:txBody>
                    <a:bodyPr/>
                    <a:lstStyle/>
                    <a:p>
                      <a:pPr algn="l" indent="0" marL="0">
                        <a:buNone/>
                      </a:pPr>
                      <a:r>
                        <a:rPr lang="en-US" sz="950" dirty="0">
                          <a:solidFill>
                            <a:srgbClr val="404040"/>
                          </a:solidFill>
                          <a:latin typeface="Calibri" pitchFamily="34" charset="0"/>
                          <a:ea typeface="Calibri" pitchFamily="34" charset="-122"/>
                          <a:cs typeface="Calibri" pitchFamily="34" charset="-120"/>
                        </a:rPr>
                        <a:t>~6,000 cycles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404040"/>
                          </a:solidFill>
                          <a:latin typeface="Calibri" pitchFamily="34" charset="0"/>
                          <a:ea typeface="Calibri" pitchFamily="34" charset="-122"/>
                          <a:cs typeface="Calibri" pitchFamily="34" charset="-120"/>
                        </a:rPr>
                        <a:t>Light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404040"/>
                          </a:solidFill>
                          <a:latin typeface="Calibri" pitchFamily="34" charset="0"/>
                          <a:ea typeface="Calibri" pitchFamily="34" charset="-122"/>
                          <a:cs typeface="Calibri" pitchFamily="34" charset="-120"/>
                        </a:rPr>
                        <a:t>~40%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404040"/>
                          </a:solidFill>
                          <a:latin typeface="Calibri" pitchFamily="34" charset="0"/>
                          <a:ea typeface="Calibri" pitchFamily="34" charset="-122"/>
                          <a:cs typeface="Calibri" pitchFamily="34" charset="-120"/>
                        </a:rPr>
                        <a:t>Similar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404040"/>
                          </a:solidFill>
                          <a:latin typeface="Calibri" pitchFamily="34" charset="0"/>
                          <a:ea typeface="Calibri" pitchFamily="34" charset="-122"/>
                          <a:cs typeface="Calibri" pitchFamily="34" charset="-120"/>
                        </a:rPr>
                        <a:t>~10,000 cycles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404040"/>
                          </a:solidFill>
                          <a:latin typeface="Calibri" pitchFamily="34" charset="0"/>
                          <a:ea typeface="Calibri" pitchFamily="34" charset="-122"/>
                          <a:cs typeface="Calibri" pitchFamily="34" charset="-120"/>
                        </a:rPr>
                        <a:t>Heavy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404040"/>
                          </a:solidFill>
                          <a:latin typeface="Calibri" pitchFamily="34" charset="0"/>
                          <a:ea typeface="Calibri" pitchFamily="34" charset="-122"/>
                          <a:cs typeface="Calibri" pitchFamily="34" charset="-120"/>
                        </a:rPr>
                        <a:t>~25%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404040"/>
                          </a:solidFill>
                          <a:latin typeface="Calibri" pitchFamily="34" charset="0"/>
                          <a:ea typeface="Calibri" pitchFamily="34" charset="-122"/>
                          <a:cs typeface="Calibri" pitchFamily="34" charset="-120"/>
                        </a:rPr>
                        <a:t>Similar, more capital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13" name="Shape 9"/>
          <p:cNvSpPr/>
          <p:nvPr/>
        </p:nvSpPr>
        <p:spPr>
          <a:xfrm>
            <a:off x="6199632" y="1554480"/>
            <a:ext cx="2743200" cy="292608"/>
          </a:xfrm>
          <a:prstGeom prst="rect">
            <a:avLst/>
          </a:prstGeom>
          <a:solidFill>
            <a:srgbClr val="0B1F44"/>
          </a:solidFill>
          <a:ln/>
        </p:spPr>
      </p:sp>
      <p:sp>
        <p:nvSpPr>
          <p:cNvPr id="14" name="Text 10"/>
          <p:cNvSpPr txBox="1"/>
          <p:nvPr/>
        </p:nvSpPr>
        <p:spPr>
          <a:xfrm>
            <a:off x="6199632" y="1554480"/>
            <a:ext cx="2743200" cy="292608"/>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The market thinks…</a:t>
            </a:r>
            <a:endParaRPr lang="en-US" sz="1200" dirty="0"/>
          </a:p>
        </p:txBody>
      </p:sp>
      <p:sp>
        <p:nvSpPr>
          <p:cNvPr id="15" name="Shape 11"/>
          <p:cNvSpPr/>
          <p:nvPr/>
        </p:nvSpPr>
        <p:spPr>
          <a:xfrm>
            <a:off x="9034272" y="1554480"/>
            <a:ext cx="2743200" cy="292608"/>
          </a:xfrm>
          <a:prstGeom prst="rect">
            <a:avLst/>
          </a:prstGeom>
          <a:solidFill>
            <a:srgbClr val="E8702A"/>
          </a:solidFill>
          <a:ln/>
        </p:spPr>
      </p:sp>
      <p:sp>
        <p:nvSpPr>
          <p:cNvPr id="16" name="Text 12"/>
          <p:cNvSpPr txBox="1"/>
          <p:nvPr/>
        </p:nvSpPr>
        <p:spPr>
          <a:xfrm>
            <a:off x="9034272" y="1554480"/>
            <a:ext cx="2743200" cy="292608"/>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…but in reality</a:t>
            </a:r>
            <a:endParaRPr lang="en-US" sz="1200" dirty="0"/>
          </a:p>
        </p:txBody>
      </p:sp>
      <p:sp>
        <p:nvSpPr>
          <p:cNvPr id="17" name="Shape 13"/>
          <p:cNvSpPr/>
          <p:nvPr/>
        </p:nvSpPr>
        <p:spPr>
          <a:xfrm>
            <a:off x="6199632" y="1920240"/>
            <a:ext cx="2743200" cy="804672"/>
          </a:xfrm>
          <a:prstGeom prst="rect">
            <a:avLst>
              <a:gd name="adj" fmla="val 6818"/>
            </a:avLst>
          </a:prstGeom>
          <a:solidFill>
            <a:srgbClr val="DCE6F2"/>
          </a:solidFill>
          <a:ln w="9525">
            <a:solidFill>
              <a:srgbClr val="DCE6F2"/>
            </a:solidFill>
            <a:prstDash val="solid"/>
          </a:ln>
        </p:spPr>
      </p:sp>
      <p:sp>
        <p:nvSpPr>
          <p:cNvPr id="18" name="Text 14"/>
          <p:cNvSpPr txBox="1"/>
          <p:nvPr/>
        </p:nvSpPr>
        <p:spPr>
          <a:xfrm>
            <a:off x="6245352" y="1920240"/>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The reset is the Muddy Waters thesis unwinding: cheap, depreciated leasing engines are running out</a:t>
            </a:r>
            <a:endParaRPr lang="en-US" sz="900" dirty="0"/>
          </a:p>
        </p:txBody>
      </p:sp>
      <p:sp>
        <p:nvSpPr>
          <p:cNvPr id="19" name="Shape 15"/>
          <p:cNvSpPr/>
          <p:nvPr/>
        </p:nvSpPr>
        <p:spPr>
          <a:xfrm>
            <a:off x="9034272" y="1920240"/>
            <a:ext cx="2743200" cy="804672"/>
          </a:xfrm>
          <a:prstGeom prst="rect">
            <a:avLst>
              <a:gd name="adj" fmla="val 6818"/>
            </a:avLst>
          </a:prstGeom>
          <a:solidFill>
            <a:srgbClr val="F2F2F2"/>
          </a:solidFill>
          <a:ln w="9525">
            <a:solidFill>
              <a:srgbClr val="F2F2F2"/>
            </a:solidFill>
            <a:prstDash val="solid"/>
          </a:ln>
        </p:spPr>
      </p:sp>
      <p:sp>
        <p:nvSpPr>
          <p:cNvPr id="20" name="Text 16"/>
          <p:cNvSpPr txBox="1"/>
          <p:nvPr/>
        </p:nvSpPr>
        <p:spPr>
          <a:xfrm>
            <a:off x="9079992" y="1920240"/>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Even if true, </a:t>
            </a:r>
            <a:r>
              <a:rPr lang="en-US" sz="900" b="1" dirty="0">
                <a:solidFill>
                  <a:srgbClr val="0B1F44"/>
                </a:solidFill>
                <a:latin typeface="Calibri" pitchFamily="34" charset="0"/>
                <a:ea typeface="Calibri" pitchFamily="34" charset="-122"/>
                <a:cs typeface="Calibri" pitchFamily="34" charset="-120"/>
              </a:rPr>
              <a:t>&lt;8% of inventory</a:t>
            </a:r>
            <a:r>
              <a:rPr lang="en-US" sz="900" dirty="0">
                <a:solidFill>
                  <a:srgbClr val="404040"/>
                </a:solidFill>
                <a:latin typeface="Calibri" pitchFamily="34" charset="0"/>
                <a:ea typeface="Calibri" pitchFamily="34" charset="-122"/>
                <a:cs typeface="Calibri" pitchFamily="34" charset="-120"/>
              </a:rPr>
              <a:t> came from leasing. The cheap stock is nearly gone and margins </a:t>
            </a:r>
            <a:r>
              <a:rPr lang="en-US" sz="900" b="1" dirty="0">
                <a:solidFill>
                  <a:srgbClr val="0B1F44"/>
                </a:solidFill>
                <a:latin typeface="Calibri" pitchFamily="34" charset="0"/>
                <a:ea typeface="Calibri" pitchFamily="34" charset="-122"/>
                <a:cs typeface="Calibri" pitchFamily="34" charset="-120"/>
              </a:rPr>
              <a:t>already</a:t>
            </a:r>
            <a:r>
              <a:rPr lang="en-US" sz="900" dirty="0">
                <a:solidFill>
                  <a:srgbClr val="404040"/>
                </a:solidFill>
                <a:latin typeface="Calibri" pitchFamily="34" charset="0"/>
                <a:ea typeface="Calibri" pitchFamily="34" charset="-122"/>
                <a:cs typeface="Calibri" pitchFamily="34" charset="-120"/>
              </a:rPr>
              <a:t> show the core business</a:t>
            </a:r>
            <a:endParaRPr lang="en-US" sz="900" dirty="0"/>
          </a:p>
        </p:txBody>
      </p:sp>
      <p:sp>
        <p:nvSpPr>
          <p:cNvPr id="21" name="Shape 17"/>
          <p:cNvSpPr/>
          <p:nvPr/>
        </p:nvSpPr>
        <p:spPr>
          <a:xfrm>
            <a:off x="6199632" y="2807208"/>
            <a:ext cx="2743200" cy="804672"/>
          </a:xfrm>
          <a:prstGeom prst="rect">
            <a:avLst>
              <a:gd name="adj" fmla="val 6818"/>
            </a:avLst>
          </a:prstGeom>
          <a:solidFill>
            <a:srgbClr val="DCE6F2"/>
          </a:solidFill>
          <a:ln w="9525">
            <a:solidFill>
              <a:srgbClr val="DCE6F2"/>
            </a:solidFill>
            <a:prstDash val="solid"/>
          </a:ln>
        </p:spPr>
      </p:sp>
      <p:sp>
        <p:nvSpPr>
          <p:cNvPr id="22" name="Text 18"/>
          <p:cNvSpPr txBox="1"/>
          <p:nvPr/>
        </p:nvSpPr>
        <p:spPr>
          <a:xfrm>
            <a:off x="6245352" y="2807208"/>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Heavy-scope mix keeps rising, so 30% is a waypoint</a:t>
            </a:r>
            <a:endParaRPr lang="en-US" sz="900" dirty="0"/>
          </a:p>
        </p:txBody>
      </p:sp>
      <p:sp>
        <p:nvSpPr>
          <p:cNvPr id="23" name="Shape 19"/>
          <p:cNvSpPr/>
          <p:nvPr/>
        </p:nvSpPr>
        <p:spPr>
          <a:xfrm>
            <a:off x="9034272" y="2807208"/>
            <a:ext cx="2743200" cy="804672"/>
          </a:xfrm>
          <a:prstGeom prst="rect">
            <a:avLst>
              <a:gd name="adj" fmla="val 6818"/>
            </a:avLst>
          </a:prstGeom>
          <a:solidFill>
            <a:srgbClr val="F2F2F2"/>
          </a:solidFill>
          <a:ln w="9525">
            <a:solidFill>
              <a:srgbClr val="F2F2F2"/>
            </a:solidFill>
            <a:prstDash val="solid"/>
          </a:ln>
        </p:spPr>
      </p:sp>
      <p:sp>
        <p:nvSpPr>
          <p:cNvPr id="24" name="Text 20"/>
          <p:cNvSpPr txBox="1"/>
          <p:nvPr/>
        </p:nvSpPr>
        <p:spPr>
          <a:xfrm>
            <a:off x="9079992" y="2807208"/>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Heavy work is </a:t>
            </a:r>
            <a:r>
              <a:rPr lang="en-US" sz="900" b="1" dirty="0">
                <a:solidFill>
                  <a:srgbClr val="0B1F44"/>
                </a:solidFill>
                <a:latin typeface="Calibri" pitchFamily="34" charset="0"/>
                <a:ea typeface="Calibri" pitchFamily="34" charset="-122"/>
                <a:cs typeface="Calibri" pitchFamily="34" charset="-120"/>
              </a:rPr>
              <a:t>capacity-limited</a:t>
            </a:r>
            <a:r>
              <a:rPr lang="en-US" sz="900" dirty="0">
                <a:solidFill>
                  <a:srgbClr val="404040"/>
                </a:solidFill>
                <a:latin typeface="Calibri" pitchFamily="34" charset="0"/>
                <a:ea typeface="Calibri" pitchFamily="34" charset="-122"/>
                <a:cs typeface="Calibri" pitchFamily="34" charset="-120"/>
              </a:rPr>
              <a:t> and was taken to win airline contracts (UAL). Management has no incentive to go further</a:t>
            </a:r>
            <a:endParaRPr lang="en-US" sz="900" dirty="0"/>
          </a:p>
        </p:txBody>
      </p:sp>
      <p:sp>
        <p:nvSpPr>
          <p:cNvPr id="25" name="Shape 21"/>
          <p:cNvSpPr/>
          <p:nvPr/>
        </p:nvSpPr>
        <p:spPr>
          <a:xfrm>
            <a:off x="6199632" y="3694176"/>
            <a:ext cx="2743200" cy="804672"/>
          </a:xfrm>
          <a:prstGeom prst="rect">
            <a:avLst>
              <a:gd name="adj" fmla="val 6818"/>
            </a:avLst>
          </a:prstGeom>
          <a:solidFill>
            <a:srgbClr val="DCE6F2"/>
          </a:solidFill>
          <a:ln w="9525">
            <a:solidFill>
              <a:srgbClr val="DCE6F2"/>
            </a:solidFill>
            <a:prstDash val="solid"/>
          </a:ln>
        </p:spPr>
      </p:sp>
      <p:sp>
        <p:nvSpPr>
          <p:cNvPr id="26" name="Text 22"/>
          <p:cNvSpPr txBox="1"/>
          <p:nvPr/>
        </p:nvSpPr>
        <p:spPr>
          <a:xfrm>
            <a:off x="6245352" y="3694176"/>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PMA penetration will stay negligible: supply chains and lessors object</a:t>
            </a:r>
            <a:endParaRPr lang="en-US" sz="900" dirty="0"/>
          </a:p>
        </p:txBody>
      </p:sp>
      <p:sp>
        <p:nvSpPr>
          <p:cNvPr id="27" name="Shape 23"/>
          <p:cNvSpPr/>
          <p:nvPr/>
        </p:nvSpPr>
        <p:spPr>
          <a:xfrm>
            <a:off x="9034272" y="3694176"/>
            <a:ext cx="2743200" cy="804672"/>
          </a:xfrm>
          <a:prstGeom prst="rect">
            <a:avLst>
              <a:gd name="adj" fmla="val 6818"/>
            </a:avLst>
          </a:prstGeom>
          <a:solidFill>
            <a:srgbClr val="F2F2F2"/>
          </a:solidFill>
          <a:ln w="9525">
            <a:solidFill>
              <a:srgbClr val="F2F2F2"/>
            </a:solidFill>
            <a:prstDash val="solid"/>
          </a:ln>
        </p:spPr>
      </p:sp>
      <p:sp>
        <p:nvSpPr>
          <p:cNvPr id="28" name="Text 24"/>
          <p:cNvSpPr txBox="1"/>
          <p:nvPr/>
        </p:nvSpPr>
        <p:spPr>
          <a:xfrm>
            <a:off x="9079992" y="3694176"/>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FTAI </a:t>
            </a:r>
            <a:r>
              <a:rPr lang="en-US" sz="900" b="1" dirty="0">
                <a:solidFill>
                  <a:srgbClr val="0B1F44"/>
                </a:solidFill>
                <a:latin typeface="Calibri" pitchFamily="34" charset="0"/>
                <a:ea typeface="Calibri" pitchFamily="34" charset="-122"/>
                <a:cs typeface="Calibri" pitchFamily="34" charset="-120"/>
              </a:rPr>
              <a:t>is the lessor</a:t>
            </a:r>
            <a:r>
              <a:rPr lang="en-US" sz="900" dirty="0">
                <a:solidFill>
                  <a:srgbClr val="404040"/>
                </a:solidFill>
                <a:latin typeface="Calibri" pitchFamily="34" charset="0"/>
                <a:ea typeface="Calibri" pitchFamily="34" charset="-122"/>
                <a:cs typeface="Calibri" pitchFamily="34" charset="-120"/>
              </a:rPr>
              <a:t> for SCI's growing fleet: SCI is </a:t>
            </a:r>
            <a:r>
              <a:rPr lang="en-US" sz="900" b="1" dirty="0">
                <a:solidFill>
                  <a:srgbClr val="0B1F44"/>
                </a:solidFill>
                <a:latin typeface="Calibri" pitchFamily="34" charset="0"/>
                <a:ea typeface="Calibri" pitchFamily="34" charset="-122"/>
                <a:cs typeface="Calibri" pitchFamily="34" charset="-120"/>
              </a:rPr>
              <a:t>~30–40% of modules</a:t>
            </a:r>
            <a:r>
              <a:rPr lang="en-US" sz="900" dirty="0">
                <a:solidFill>
                  <a:srgbClr val="404040"/>
                </a:solidFill>
                <a:latin typeface="Calibri" pitchFamily="34" charset="0"/>
                <a:ea typeface="Calibri" pitchFamily="34" charset="-122"/>
                <a:cs typeface="Calibri" pitchFamily="34" charset="-120"/>
              </a:rPr>
              <a:t> and can run PMA without asking anyone</a:t>
            </a:r>
            <a:endParaRPr lang="en-US" sz="900" dirty="0"/>
          </a:p>
        </p:txBody>
      </p:sp>
      <p:sp>
        <p:nvSpPr>
          <p:cNvPr id="29" name="Shape 25"/>
          <p:cNvSpPr/>
          <p:nvPr/>
        </p:nvSpPr>
        <p:spPr>
          <a:xfrm>
            <a:off x="6199632" y="4581144"/>
            <a:ext cx="2743200" cy="804672"/>
          </a:xfrm>
          <a:prstGeom prst="rect">
            <a:avLst>
              <a:gd name="adj" fmla="val 6818"/>
            </a:avLst>
          </a:prstGeom>
          <a:solidFill>
            <a:srgbClr val="DCE6F2"/>
          </a:solidFill>
          <a:ln w="9525">
            <a:solidFill>
              <a:srgbClr val="DCE6F2"/>
            </a:solidFill>
            <a:prstDash val="solid"/>
          </a:ln>
        </p:spPr>
      </p:sp>
      <p:sp>
        <p:nvSpPr>
          <p:cNvPr id="30" name="Text 26"/>
          <p:cNvSpPr txBox="1"/>
          <p:nvPr/>
        </p:nvSpPr>
        <p:spPr>
          <a:xfrm>
            <a:off x="6245352" y="4581144"/>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CFM56 is a melting ice cube; fuel shock speeds retirements</a:t>
            </a:r>
            <a:endParaRPr lang="en-US" sz="900" dirty="0"/>
          </a:p>
        </p:txBody>
      </p:sp>
      <p:sp>
        <p:nvSpPr>
          <p:cNvPr id="31" name="Shape 27"/>
          <p:cNvSpPr/>
          <p:nvPr/>
        </p:nvSpPr>
        <p:spPr>
          <a:xfrm>
            <a:off x="9034272" y="4581144"/>
            <a:ext cx="2743200" cy="804672"/>
          </a:xfrm>
          <a:prstGeom prst="rect">
            <a:avLst>
              <a:gd name="adj" fmla="val 6818"/>
            </a:avLst>
          </a:prstGeom>
          <a:solidFill>
            <a:srgbClr val="F2F2F2"/>
          </a:solidFill>
          <a:ln w="9525">
            <a:solidFill>
              <a:srgbClr val="F2F2F2"/>
            </a:solidFill>
            <a:prstDash val="solid"/>
          </a:ln>
        </p:spPr>
      </p:sp>
      <p:sp>
        <p:nvSpPr>
          <p:cNvPr id="32" name="Text 28"/>
          <p:cNvSpPr txBox="1"/>
          <p:nvPr/>
        </p:nvSpPr>
        <p:spPr>
          <a:xfrm>
            <a:off x="9079992" y="4581144"/>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LEAP is grounded or slow in the shop, so CFM56s keep flying. </a:t>
            </a:r>
            <a:r>
              <a:rPr lang="en-US" sz="900" b="1" dirty="0">
                <a:solidFill>
                  <a:srgbClr val="0B1F44"/>
                </a:solidFill>
                <a:latin typeface="Calibri" pitchFamily="34" charset="0"/>
                <a:ea typeface="Calibri" pitchFamily="34" charset="-122"/>
                <a:cs typeface="Calibri" pitchFamily="34" charset="-120"/>
              </a:rPr>
              <a:t>No evidence</a:t>
            </a:r>
            <a:r>
              <a:rPr lang="en-US" sz="900" dirty="0">
                <a:solidFill>
                  <a:srgbClr val="404040"/>
                </a:solidFill>
                <a:latin typeface="Calibri" pitchFamily="34" charset="0"/>
                <a:ea typeface="Calibri" pitchFamily="34" charset="-122"/>
                <a:cs typeface="Calibri" pitchFamily="34" charset="-120"/>
              </a:rPr>
              <a:t> of faster retirement in 2026 data</a:t>
            </a:r>
            <a:endParaRPr lang="en-US" sz="900" dirty="0"/>
          </a:p>
        </p:txBody>
      </p:sp>
      <p:sp>
        <p:nvSpPr>
          <p:cNvPr id="33" name="Shape 29"/>
          <p:cNvSpPr/>
          <p:nvPr/>
        </p:nvSpPr>
        <p:spPr>
          <a:xfrm>
            <a:off x="6199632" y="5468112"/>
            <a:ext cx="2743200" cy="804672"/>
          </a:xfrm>
          <a:prstGeom prst="rect">
            <a:avLst>
              <a:gd name="adj" fmla="val 6818"/>
            </a:avLst>
          </a:prstGeom>
          <a:solidFill>
            <a:srgbClr val="DCE6F2"/>
          </a:solidFill>
          <a:ln w="9525">
            <a:solidFill>
              <a:srgbClr val="DCE6F2"/>
            </a:solidFill>
            <a:prstDash val="solid"/>
          </a:ln>
        </p:spPr>
      </p:sp>
      <p:sp>
        <p:nvSpPr>
          <p:cNvPr id="34" name="Text 30"/>
          <p:cNvSpPr txBox="1"/>
          <p:nvPr/>
        </p:nvSpPr>
        <p:spPr>
          <a:xfrm>
            <a:off x="6245352" y="5468112"/>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Power is a press release</a:t>
            </a:r>
            <a:endParaRPr lang="en-US" sz="900" dirty="0"/>
          </a:p>
        </p:txBody>
      </p:sp>
      <p:sp>
        <p:nvSpPr>
          <p:cNvPr id="35" name="Shape 31"/>
          <p:cNvSpPr/>
          <p:nvPr/>
        </p:nvSpPr>
        <p:spPr>
          <a:xfrm>
            <a:off x="9034272" y="5468112"/>
            <a:ext cx="2743200" cy="804672"/>
          </a:xfrm>
          <a:prstGeom prst="rect">
            <a:avLst>
              <a:gd name="adj" fmla="val 6818"/>
            </a:avLst>
          </a:prstGeom>
          <a:solidFill>
            <a:srgbClr val="F2F2F2"/>
          </a:solidFill>
          <a:ln w="9525">
            <a:solidFill>
              <a:srgbClr val="F2F2F2"/>
            </a:solidFill>
            <a:prstDash val="solid"/>
          </a:ln>
        </p:spPr>
      </p:sp>
      <p:sp>
        <p:nvSpPr>
          <p:cNvPr id="36" name="Text 32"/>
          <p:cNvSpPr txBox="1"/>
          <p:nvPr/>
        </p:nvSpPr>
        <p:spPr>
          <a:xfrm>
            <a:off x="9079992" y="5468112"/>
            <a:ext cx="2651760" cy="80467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A signed </a:t>
            </a:r>
            <a:r>
              <a:rPr lang="en-US" sz="900" b="1" dirty="0">
                <a:solidFill>
                  <a:srgbClr val="0B1F44"/>
                </a:solidFill>
                <a:latin typeface="Calibri" pitchFamily="34" charset="0"/>
                <a:ea typeface="Calibri" pitchFamily="34" charset="-122"/>
                <a:cs typeface="Calibri" pitchFamily="34" charset="-120"/>
              </a:rPr>
              <a:t>$1.465bn</a:t>
            </a:r>
            <a:r>
              <a:rPr lang="en-US" sz="900" dirty="0">
                <a:solidFill>
                  <a:srgbClr val="404040"/>
                </a:solidFill>
                <a:latin typeface="Calibri" pitchFamily="34" charset="0"/>
                <a:ea typeface="Calibri" pitchFamily="34" charset="-122"/>
                <a:cs typeface="Calibri" pitchFamily="34" charset="-120"/>
              </a:rPr>
              <a:t> order; the grid is short from 2029 and dozens of sites are at the stage xAI was</a:t>
            </a:r>
            <a:endParaRPr lang="en-US" sz="900" dirty="0"/>
          </a:p>
        </p:txBody>
      </p:sp>
      <p:sp>
        <p:nvSpPr>
          <p:cNvPr id="37" name="Text 33"/>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Q4'25–Q2'26 earnings calls and supplements; Muddy Waters (Jan-25);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 Opportunity (2/2): $167 Prices The Bear Case</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Hold Margins At 28.5%, Share At 15%, Power At Half Economics: You Still Get $173</a:t>
            </a:r>
            <a:endParaRPr lang="en-US" sz="15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FY27E SOTP By Case ($ / Share)</a:t>
            </a:r>
            <a:endParaRPr lang="en-US" sz="1200" dirty="0"/>
          </a:p>
        </p:txBody>
      </p:sp>
      <p:graphicFrame>
        <p:nvGraphicFramePr>
          <p:cNvPr id="7" name="Chart 0" descr=""/>
          <p:cNvGraphicFramePr/>
          <p:nvPr/>
        </p:nvGraphicFramePr>
        <p:xfrm>
          <a:off x="411480" y="1874520"/>
          <a:ext cx="5577840" cy="29260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11480" y="4892040"/>
            <a:ext cx="5577840" cy="640080"/>
          </a:xfrm>
          <a:prstGeom prst="roundRect">
            <a:avLst>
              <a:gd name="adj" fmla="val 8571"/>
            </a:avLst>
          </a:prstGeom>
          <a:solidFill>
            <a:srgbClr val="FFFFFF"/>
          </a:solidFill>
          <a:ln w="12700">
            <a:solidFill>
              <a:srgbClr val="0B1F44"/>
            </a:solidFill>
            <a:prstDash val="dash"/>
          </a:ln>
        </p:spPr>
      </p:sp>
      <p:sp>
        <p:nvSpPr>
          <p:cNvPr id="9" name="Text 6"/>
          <p:cNvSpPr txBox="1"/>
          <p:nvPr/>
        </p:nvSpPr>
        <p:spPr>
          <a:xfrm>
            <a:off x="466344" y="4919472"/>
            <a:ext cx="5468112" cy="58521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The bear case strips out </a:t>
            </a:r>
            <a:r>
              <a:rPr lang="en-US" sz="950" b="1" dirty="0">
                <a:solidFill>
                  <a:srgbClr val="0B1F44"/>
                </a:solidFill>
                <a:latin typeface="Calibri" pitchFamily="34" charset="0"/>
                <a:ea typeface="Calibri" pitchFamily="34" charset="-122"/>
                <a:cs typeface="Calibri" pitchFamily="34" charset="-120"/>
              </a:rPr>
              <a:t>every</a:t>
            </a:r>
            <a:r>
              <a:rPr lang="en-US" sz="950" dirty="0">
                <a:solidFill>
                  <a:srgbClr val="404040"/>
                </a:solidFill>
                <a:latin typeface="Calibri" pitchFamily="34" charset="0"/>
                <a:ea typeface="Calibri" pitchFamily="34" charset="-122"/>
                <a:cs typeface="Calibri" pitchFamily="34" charset="-120"/>
              </a:rPr>
              <a:t> thesis: no margin recovery, no share gain beyond 15%, Power at 30% margin and 50% JV capture. It lands </a:t>
            </a:r>
            <a:r>
              <a:rPr lang="en-US" sz="950" b="1" dirty="0">
                <a:solidFill>
                  <a:srgbClr val="0B1F44"/>
                </a:solidFill>
                <a:latin typeface="Calibri" pitchFamily="34" charset="0"/>
                <a:ea typeface="Calibri" pitchFamily="34" charset="-122"/>
                <a:cs typeface="Calibri" pitchFamily="34" charset="-120"/>
              </a:rPr>
              <a:t>above</a:t>
            </a:r>
            <a:r>
              <a:rPr lang="en-US" sz="950" dirty="0">
                <a:solidFill>
                  <a:srgbClr val="404040"/>
                </a:solidFill>
                <a:latin typeface="Calibri" pitchFamily="34" charset="0"/>
                <a:ea typeface="Calibri" pitchFamily="34" charset="-122"/>
                <a:cs typeface="Calibri" pitchFamily="34" charset="-120"/>
              </a:rPr>
              <a:t> today's price</a:t>
            </a:r>
            <a:endParaRPr lang="en-US" sz="950" dirty="0"/>
          </a:p>
        </p:txBody>
      </p:sp>
      <p:sp>
        <p:nvSpPr>
          <p:cNvPr id="10" name="Shape 7"/>
          <p:cNvSpPr/>
          <p:nvPr/>
        </p:nvSpPr>
        <p:spPr>
          <a:xfrm>
            <a:off x="411480" y="5623560"/>
            <a:ext cx="5577840" cy="658368"/>
          </a:xfrm>
          <a:prstGeom prst="rect">
            <a:avLst>
              <a:gd name="adj" fmla="val 8333"/>
            </a:avLst>
          </a:prstGeom>
          <a:solidFill>
            <a:srgbClr val="DCE6F2"/>
          </a:solidFill>
          <a:ln w="9525">
            <a:solidFill>
              <a:srgbClr val="DCE6F2"/>
            </a:solidFill>
            <a:prstDash val="solid"/>
          </a:ln>
        </p:spPr>
      </p:sp>
      <p:sp>
        <p:nvSpPr>
          <p:cNvPr id="11" name="Text 8"/>
          <p:cNvSpPr txBox="1"/>
          <p:nvPr/>
        </p:nvSpPr>
        <p:spPr>
          <a:xfrm>
            <a:off x="457200" y="5623560"/>
            <a:ext cx="5486400" cy="658368"/>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Bear-case DCF ($103) is the real downside</a:t>
            </a:r>
            <a:r>
              <a:rPr lang="en-US" sz="950" dirty="0">
                <a:solidFill>
                  <a:srgbClr val="404040"/>
                </a:solidFill>
                <a:latin typeface="Calibri" pitchFamily="34" charset="0"/>
                <a:ea typeface="Calibri" pitchFamily="34" charset="-122"/>
                <a:cs typeface="Calibri" pitchFamily="34" charset="-120"/>
              </a:rPr>
              <a:t>: it also assumes CFM56 retirements accelerate and inventory never normalises</a:t>
            </a:r>
            <a:endParaRPr lang="en-US" sz="950" dirty="0"/>
          </a:p>
        </p:txBody>
      </p:sp>
      <p:sp>
        <p:nvSpPr>
          <p:cNvPr id="12" name="Shape 9"/>
          <p:cNvSpPr/>
          <p:nvPr/>
        </p:nvSpPr>
        <p:spPr>
          <a:xfrm>
            <a:off x="6199632" y="1536192"/>
            <a:ext cx="5577840" cy="292608"/>
          </a:xfrm>
          <a:prstGeom prst="rect">
            <a:avLst/>
          </a:prstGeom>
          <a:solidFill>
            <a:srgbClr val="DCE6F2"/>
          </a:solidFill>
          <a:ln w="9525">
            <a:solidFill>
              <a:srgbClr val="0B1F44"/>
            </a:solidFill>
            <a:prstDash val="solid"/>
          </a:ln>
        </p:spPr>
      </p:sp>
      <p:sp>
        <p:nvSpPr>
          <p:cNvPr id="13" name="Text 10"/>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What Each Case Assumes (FY27E unless noted)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99632" y="1874520"/>
          <a:ext cx="5577840" cy="914400"/>
        </p:xfrm>
        <a:graphic>
          <a:graphicData uri="http://schemas.openxmlformats.org/drawingml/2006/table">
            <a:tbl>
              <a:tblPr/>
              <a:tblGrid>
                <a:gridCol w="2286000"/>
                <a:gridCol w="1097280"/>
                <a:gridCol w="1097280"/>
                <a:gridCol w="1097280"/>
              </a:tblGrid>
              <a:tr h="310896">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Driver</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Bear</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Base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Bull</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Aerospace margin FY27E / FY31E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28.5% / 28.5%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29.9% / 32.5%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31.2% / 34.5%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Third-party CFM56 share FY30E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Modules FY27E / FY30E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1,387 / 1,382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1,687 / 2,112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1,752 / 2,366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PMA penetration FY31E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Power units FY27E / FY29E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 / 50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45 / 110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55 / 150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Power EBITDA FY27E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$113M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$450M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$550M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SCI aircraft FY28E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375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550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550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Total adj. EBITDA FY27E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$1.47bn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$2.24bn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$2.47bn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900" b="1" dirty="0">
                          <a:solidFill>
                            <a:srgbClr val="0B1F44"/>
                          </a:solidFill>
                          <a:latin typeface="Calibri" pitchFamily="34" charset="0"/>
                          <a:ea typeface="Calibri" pitchFamily="34" charset="-122"/>
                          <a:cs typeface="Calibri" pitchFamily="34" charset="-120"/>
                        </a:rPr>
                        <a:t>SOTP / share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$173</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$277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$308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r>
            </a:tbl>
          </a:graphicData>
        </a:graphic>
      </p:graphicFrame>
      <p:sp>
        <p:nvSpPr>
          <p:cNvPr id="15" name="Shape 11"/>
          <p:cNvSpPr/>
          <p:nvPr/>
        </p:nvSpPr>
        <p:spPr>
          <a:xfrm>
            <a:off x="6199632" y="4892040"/>
            <a:ext cx="5577840" cy="640080"/>
          </a:xfrm>
          <a:prstGeom prst="roundRect">
            <a:avLst>
              <a:gd name="adj" fmla="val 8571"/>
            </a:avLst>
          </a:prstGeom>
          <a:solidFill>
            <a:srgbClr val="FFFFFF"/>
          </a:solidFill>
          <a:ln w="12700">
            <a:solidFill>
              <a:srgbClr val="0B1F44"/>
            </a:solidFill>
            <a:prstDash val="dash"/>
          </a:ln>
        </p:spPr>
      </p:sp>
      <p:sp>
        <p:nvSpPr>
          <p:cNvPr id="16" name="Text 12"/>
          <p:cNvSpPr txBox="1"/>
          <p:nvPr/>
        </p:nvSpPr>
        <p:spPr>
          <a:xfrm>
            <a:off x="6254496" y="4919472"/>
            <a:ext cx="5468112" cy="58521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At $167 the stock trades at </a:t>
            </a:r>
            <a:r>
              <a:rPr lang="en-US" sz="950" b="1" dirty="0">
                <a:solidFill>
                  <a:srgbClr val="0B1F44"/>
                </a:solidFill>
                <a:latin typeface="Calibri" pitchFamily="34" charset="0"/>
                <a:ea typeface="Calibri" pitchFamily="34" charset="-122"/>
                <a:cs typeface="Calibri" pitchFamily="34" charset="-120"/>
              </a:rPr>
              <a:t>9.2x FY27E EBITDA</a:t>
            </a:r>
            <a:r>
              <a:rPr lang="en-US" sz="950" dirty="0">
                <a:solidFill>
                  <a:srgbClr val="404040"/>
                </a:solidFill>
                <a:latin typeface="Calibri" pitchFamily="34" charset="0"/>
                <a:ea typeface="Calibri" pitchFamily="34" charset="-122"/>
                <a:cs typeface="Calibri" pitchFamily="34" charset="-120"/>
              </a:rPr>
              <a:t> versus </a:t>
            </a:r>
            <a:r>
              <a:rPr lang="en-US" sz="950" b="1" dirty="0">
                <a:solidFill>
                  <a:srgbClr val="0B1F44"/>
                </a:solidFill>
                <a:latin typeface="Calibri" pitchFamily="34" charset="0"/>
                <a:ea typeface="Calibri" pitchFamily="34" charset="-122"/>
                <a:cs typeface="Calibri" pitchFamily="34" charset="-120"/>
              </a:rPr>
              <a:t>16x</a:t>
            </a:r>
            <a:r>
              <a:rPr lang="en-US" sz="950" dirty="0">
                <a:solidFill>
                  <a:srgbClr val="404040"/>
                </a:solidFill>
                <a:latin typeface="Calibri" pitchFamily="34" charset="0"/>
                <a:ea typeface="Calibri" pitchFamily="34" charset="-122"/>
                <a:cs typeface="Calibri" pitchFamily="34" charset="-120"/>
              </a:rPr>
              <a:t> we apply to Aerospace and </a:t>
            </a:r>
            <a:r>
              <a:rPr lang="en-US" sz="950" b="1" dirty="0">
                <a:solidFill>
                  <a:srgbClr val="0B1F44"/>
                </a:solidFill>
                <a:latin typeface="Calibri" pitchFamily="34" charset="0"/>
                <a:ea typeface="Calibri" pitchFamily="34" charset="-122"/>
                <a:cs typeface="Calibri" pitchFamily="34" charset="-120"/>
              </a:rPr>
              <a:t>~20x</a:t>
            </a:r>
            <a:r>
              <a:rPr lang="en-US" sz="950" dirty="0">
                <a:solidFill>
                  <a:srgbClr val="404040"/>
                </a:solidFill>
                <a:latin typeface="Calibri" pitchFamily="34" charset="0"/>
                <a:ea typeface="Calibri" pitchFamily="34" charset="-122"/>
                <a:cs typeface="Calibri" pitchFamily="34" charset="-120"/>
              </a:rPr>
              <a:t> for the aftermarket peer median: the fraud discount is pricing a business that no longer exists</a:t>
            </a:r>
            <a:endParaRPr lang="en-US" sz="950" dirty="0"/>
          </a:p>
        </p:txBody>
      </p:sp>
      <p:sp>
        <p:nvSpPr>
          <p:cNvPr id="17" name="Shape 13"/>
          <p:cNvSpPr/>
          <p:nvPr/>
        </p:nvSpPr>
        <p:spPr>
          <a:xfrm>
            <a:off x="6199632" y="5623560"/>
            <a:ext cx="5577840" cy="658368"/>
          </a:xfrm>
          <a:prstGeom prst="rect">
            <a:avLst>
              <a:gd name="adj" fmla="val 8333"/>
            </a:avLst>
          </a:prstGeom>
          <a:solidFill>
            <a:srgbClr val="0B1F44"/>
          </a:solidFill>
          <a:ln w="9525">
            <a:solidFill>
              <a:srgbClr val="0B1F44"/>
            </a:solidFill>
            <a:prstDash val="solid"/>
          </a:ln>
        </p:spPr>
      </p:sp>
      <p:sp>
        <p:nvSpPr>
          <p:cNvPr id="18" name="Text 14"/>
          <p:cNvSpPr txBox="1"/>
          <p:nvPr/>
        </p:nvSpPr>
        <p:spPr>
          <a:xfrm>
            <a:off x="6245352" y="5623560"/>
            <a:ext cx="5486400" cy="65836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Upside skew: +66% base, +85% bull, +4% bear on SOTP</a:t>
            </a:r>
            <a:endParaRPr lang="en-US" sz="1200" dirty="0"/>
          </a:p>
        </p:txBody>
      </p:sp>
      <p:sp>
        <p:nvSpPr>
          <p:cNvPr id="19" name="Text 15"/>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GPS model case toggle (Bear / Base / Bull), FY27E SOTP at Aerospace 16x, Power 12x, Leasing + SCI 9x; aftermarket peer median per FactSet</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Theses Summary</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Three Theses: The Trough Is A Floor, The Share Is Coming, And Power Is Free</a:t>
            </a:r>
            <a:endParaRPr lang="en-US" sz="1500" dirty="0"/>
          </a:p>
        </p:txBody>
      </p:sp>
      <p:sp>
        <p:nvSpPr>
          <p:cNvPr id="5" name="Shape 3"/>
          <p:cNvSpPr/>
          <p:nvPr/>
        </p:nvSpPr>
        <p:spPr>
          <a:xfrm>
            <a:off x="411480" y="1691640"/>
            <a:ext cx="11365992" cy="1280160"/>
          </a:xfrm>
          <a:prstGeom prst="roundRect">
            <a:avLst>
              <a:gd name="adj" fmla="val 5714"/>
            </a:avLst>
          </a:prstGeom>
          <a:solidFill>
            <a:srgbClr val="DCE6F2"/>
          </a:solidFill>
          <a:ln w="19050">
            <a:solidFill>
              <a:srgbClr val="0B1F44"/>
            </a:solidFill>
            <a:prstDash val="solid"/>
          </a:ln>
        </p:spPr>
      </p:sp>
      <p:sp>
        <p:nvSpPr>
          <p:cNvPr id="6" name="Shape 4"/>
          <p:cNvSpPr/>
          <p:nvPr/>
        </p:nvSpPr>
        <p:spPr>
          <a:xfrm>
            <a:off x="411480" y="1691640"/>
            <a:ext cx="1188720" cy="1280160"/>
          </a:xfrm>
          <a:prstGeom prst="rect">
            <a:avLst/>
          </a:prstGeom>
          <a:solidFill>
            <a:srgbClr val="0B1F44"/>
          </a:solidFill>
          <a:ln w="12700">
            <a:solidFill>
              <a:srgbClr val="0B1F44"/>
            </a:solidFill>
            <a:prstDash val="solid"/>
          </a:ln>
        </p:spPr>
      </p:sp>
      <p:sp>
        <p:nvSpPr>
          <p:cNvPr id="7" name="Text 5"/>
          <p:cNvSpPr txBox="1"/>
          <p:nvPr/>
        </p:nvSpPr>
        <p:spPr>
          <a:xfrm>
            <a:off x="411480" y="169164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a:t>
            </a:r>
            <a:endParaRPr lang="en-US" sz="3000" dirty="0"/>
          </a:p>
        </p:txBody>
      </p:sp>
      <p:sp>
        <p:nvSpPr>
          <p:cNvPr id="8" name="Text 6"/>
          <p:cNvSpPr txBox="1"/>
          <p:nvPr/>
        </p:nvSpPr>
        <p:spPr>
          <a:xfrm>
            <a:off x="1783080" y="180136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Margins Have Bottomed: ~30% Is The Floor</a:t>
            </a:r>
            <a:endParaRPr lang="en-US" sz="1500" dirty="0"/>
          </a:p>
        </p:txBody>
      </p:sp>
      <p:sp>
        <p:nvSpPr>
          <p:cNvPr id="9" name="Text 7"/>
          <p:cNvSpPr txBox="1"/>
          <p:nvPr/>
        </p:nvSpPr>
        <p:spPr>
          <a:xfrm>
            <a:off x="1783080" y="2148840"/>
            <a:ext cx="9784080" cy="749808"/>
          </a:xfrm>
          <a:prstGeom prst="rect">
            <a:avLst/>
          </a:prstGeom>
          <a:noFill/>
          <a:ln/>
        </p:spPr>
        <p:txBody>
          <a:bodyPr wrap="square" lIns="25400" tIns="25400" rIns="25400" bIns="25400" rtlCol="0" anchor="t"/>
          <a:lstStyle/>
          <a:p>
            <a:pPr algn="ctr" indent="0" marL="0">
              <a:buNone/>
            </a:pPr>
            <a:r>
              <a:rPr lang="en-US" sz="1100" dirty="0">
                <a:solidFill>
                  <a:srgbClr val="404040"/>
                </a:solidFill>
                <a:latin typeface="Calibri" pitchFamily="34" charset="0"/>
                <a:ea typeface="Calibri" pitchFamily="34" charset="-122"/>
                <a:cs typeface="Calibri" pitchFamily="34" charset="-120"/>
              </a:rPr>
              <a:t>Even if the short thesis is right, depreciated leasing stock is &lt;8% of inventory. Heavy-scope mix is capped by capacity and incentive, and PMA enters through SCI, where FTAI is the lessor. Two more stable prints re-rate the trough</a:t>
            </a:r>
            <a:endParaRPr lang="en-US" sz="1100" dirty="0"/>
          </a:p>
        </p:txBody>
      </p:sp>
      <p:sp>
        <p:nvSpPr>
          <p:cNvPr id="10" name="Shape 8"/>
          <p:cNvSpPr/>
          <p:nvPr/>
        </p:nvSpPr>
        <p:spPr>
          <a:xfrm>
            <a:off x="411480" y="3246120"/>
            <a:ext cx="11365992" cy="1280160"/>
          </a:xfrm>
          <a:prstGeom prst="roundRect">
            <a:avLst>
              <a:gd name="adj" fmla="val 5714"/>
            </a:avLst>
          </a:prstGeom>
          <a:solidFill>
            <a:srgbClr val="DCE6F2"/>
          </a:solidFill>
          <a:ln w="19050">
            <a:solidFill>
              <a:srgbClr val="0B1F44"/>
            </a:solidFill>
            <a:prstDash val="solid"/>
          </a:ln>
        </p:spPr>
      </p:sp>
      <p:sp>
        <p:nvSpPr>
          <p:cNvPr id="11" name="Shape 9"/>
          <p:cNvSpPr/>
          <p:nvPr/>
        </p:nvSpPr>
        <p:spPr>
          <a:xfrm>
            <a:off x="411480" y="3246120"/>
            <a:ext cx="1188720" cy="1280160"/>
          </a:xfrm>
          <a:prstGeom prst="rect">
            <a:avLst/>
          </a:prstGeom>
          <a:solidFill>
            <a:srgbClr val="0B1F44"/>
          </a:solidFill>
          <a:ln w="12700">
            <a:solidFill>
              <a:srgbClr val="0B1F44"/>
            </a:solidFill>
            <a:prstDash val="solid"/>
          </a:ln>
        </p:spPr>
      </p:sp>
      <p:sp>
        <p:nvSpPr>
          <p:cNvPr id="12" name="Text 10"/>
          <p:cNvSpPr txBox="1"/>
          <p:nvPr/>
        </p:nvSpPr>
        <p:spPr>
          <a:xfrm>
            <a:off x="411480" y="324612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a:t>
            </a:r>
            <a:endParaRPr lang="en-US" sz="3000" dirty="0"/>
          </a:p>
        </p:txBody>
      </p:sp>
      <p:sp>
        <p:nvSpPr>
          <p:cNvPr id="13" name="Text 11"/>
          <p:cNvSpPr txBox="1"/>
          <p:nvPr/>
        </p:nvSpPr>
        <p:spPr>
          <a:xfrm>
            <a:off x="1783080" y="335584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FTAI Takes The CFM56 Whitespace To ~25% Share</a:t>
            </a:r>
            <a:endParaRPr lang="en-US" sz="1500" dirty="0"/>
          </a:p>
        </p:txBody>
      </p:sp>
      <p:sp>
        <p:nvSpPr>
          <p:cNvPr id="14" name="Text 12"/>
          <p:cNvSpPr txBox="1"/>
          <p:nvPr/>
        </p:nvSpPr>
        <p:spPr>
          <a:xfrm>
            <a:off x="1783080" y="3703320"/>
            <a:ext cx="9784080" cy="749808"/>
          </a:xfrm>
          <a:prstGeom prst="rect">
            <a:avLst/>
          </a:prstGeom>
          <a:noFill/>
          <a:ln/>
        </p:spPr>
        <p:txBody>
          <a:bodyPr wrap="square" lIns="25400" tIns="25400" rIns="25400" bIns="25400" rtlCol="0" anchor="t"/>
          <a:lstStyle/>
          <a:p>
            <a:pPr algn="ctr" indent="0" marL="0">
              <a:buNone/>
            </a:pPr>
            <a:r>
              <a:rPr lang="en-US" sz="1100" dirty="0">
                <a:solidFill>
                  <a:srgbClr val="404040"/>
                </a:solidFill>
                <a:latin typeface="Calibri" pitchFamily="34" charset="0"/>
                <a:ea typeface="Calibri" pitchFamily="34" charset="-122"/>
                <a:cs typeface="Calibri" pitchFamily="34" charset="-120"/>
              </a:rPr>
              <a:t>OEMs and MROs move capacity to LEAP while LEAP problems keep CFM56s flying and retirements run below plan. FTAI's cost and turnaround edge wins the visits, and its capacity is already built</a:t>
            </a:r>
            <a:endParaRPr lang="en-US" sz="1100" dirty="0"/>
          </a:p>
        </p:txBody>
      </p:sp>
      <p:sp>
        <p:nvSpPr>
          <p:cNvPr id="15" name="Shape 13"/>
          <p:cNvSpPr/>
          <p:nvPr/>
        </p:nvSpPr>
        <p:spPr>
          <a:xfrm>
            <a:off x="411480" y="4800600"/>
            <a:ext cx="11365992" cy="1280160"/>
          </a:xfrm>
          <a:prstGeom prst="roundRect">
            <a:avLst>
              <a:gd name="adj" fmla="val 5714"/>
            </a:avLst>
          </a:prstGeom>
          <a:solidFill>
            <a:srgbClr val="DCE6F2"/>
          </a:solidFill>
          <a:ln w="19050">
            <a:solidFill>
              <a:srgbClr val="0B1F44"/>
            </a:solidFill>
            <a:prstDash val="solid"/>
          </a:ln>
        </p:spPr>
      </p:sp>
      <p:sp>
        <p:nvSpPr>
          <p:cNvPr id="16" name="Shape 14"/>
          <p:cNvSpPr/>
          <p:nvPr/>
        </p:nvSpPr>
        <p:spPr>
          <a:xfrm>
            <a:off x="411480" y="4800600"/>
            <a:ext cx="1188720" cy="1280160"/>
          </a:xfrm>
          <a:prstGeom prst="rect">
            <a:avLst/>
          </a:prstGeom>
          <a:solidFill>
            <a:srgbClr val="0B1F44"/>
          </a:solidFill>
          <a:ln w="12700">
            <a:solidFill>
              <a:srgbClr val="0B1F44"/>
            </a:solidFill>
            <a:prstDash val="solid"/>
          </a:ln>
        </p:spPr>
      </p:sp>
      <p:sp>
        <p:nvSpPr>
          <p:cNvPr id="17" name="Text 15"/>
          <p:cNvSpPr txBox="1"/>
          <p:nvPr/>
        </p:nvSpPr>
        <p:spPr>
          <a:xfrm>
            <a:off x="411480" y="480060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III</a:t>
            </a:r>
            <a:endParaRPr lang="en-US" sz="3000" dirty="0"/>
          </a:p>
        </p:txBody>
      </p:sp>
      <p:sp>
        <p:nvSpPr>
          <p:cNvPr id="18" name="Text 16"/>
          <p:cNvSpPr txBox="1"/>
          <p:nvPr/>
        </p:nvSpPr>
        <p:spPr>
          <a:xfrm>
            <a:off x="1783080" y="491032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Power Is A Call Option The Market Isn't Paying For</a:t>
            </a:r>
            <a:endParaRPr lang="en-US" sz="1500" dirty="0"/>
          </a:p>
        </p:txBody>
      </p:sp>
      <p:sp>
        <p:nvSpPr>
          <p:cNvPr id="19" name="Text 17"/>
          <p:cNvSpPr txBox="1"/>
          <p:nvPr/>
        </p:nvSpPr>
        <p:spPr>
          <a:xfrm>
            <a:off x="1783080" y="5257800"/>
            <a:ext cx="9784080" cy="749808"/>
          </a:xfrm>
          <a:prstGeom prst="rect">
            <a:avLst/>
          </a:prstGeom>
          <a:noFill/>
          <a:ln/>
        </p:spPr>
        <p:txBody>
          <a:bodyPr wrap="square" lIns="25400" tIns="25400" rIns="25400" bIns="25400" rtlCol="0" anchor="t"/>
          <a:lstStyle/>
          <a:p>
            <a:pPr algn="ctr" indent="0" marL="0">
              <a:buNone/>
            </a:pPr>
            <a:r>
              <a:rPr lang="en-US" sz="1100" dirty="0">
                <a:solidFill>
                  <a:srgbClr val="404040"/>
                </a:solidFill>
                <a:latin typeface="Calibri" pitchFamily="34" charset="0"/>
                <a:ea typeface="Calibri" pitchFamily="34" charset="-122"/>
                <a:cs typeface="Calibri" pitchFamily="34" charset="-120"/>
              </a:rPr>
              <a:t>The grid is short from 2029 and hyperscaler capex outruns contracted power. The first order came from a site at a stage many campuses share today. Mobile units are ~13% of build cost and pay back in about a month of earlier revenue</a:t>
            </a:r>
            <a:endParaRPr lang="en-US" sz="11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Theses Summary</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Three Theses: The Trough Is A Floor, The Share Is Coming, And Power Is Free</a:t>
            </a:r>
            <a:endParaRPr lang="en-US" sz="1500" dirty="0"/>
          </a:p>
        </p:txBody>
      </p:sp>
      <p:sp>
        <p:nvSpPr>
          <p:cNvPr id="5" name="Shape 3"/>
          <p:cNvSpPr/>
          <p:nvPr/>
        </p:nvSpPr>
        <p:spPr>
          <a:xfrm>
            <a:off x="411480" y="1691640"/>
            <a:ext cx="11365992" cy="1280160"/>
          </a:xfrm>
          <a:prstGeom prst="roundRect">
            <a:avLst>
              <a:gd name="adj" fmla="val 5714"/>
            </a:avLst>
          </a:prstGeom>
          <a:solidFill>
            <a:srgbClr val="DCE6F2"/>
          </a:solidFill>
          <a:ln w="19050">
            <a:solidFill>
              <a:srgbClr val="0B1F44"/>
            </a:solidFill>
            <a:prstDash val="solid"/>
          </a:ln>
        </p:spPr>
      </p:sp>
      <p:sp>
        <p:nvSpPr>
          <p:cNvPr id="6" name="Shape 4"/>
          <p:cNvSpPr/>
          <p:nvPr/>
        </p:nvSpPr>
        <p:spPr>
          <a:xfrm>
            <a:off x="411480" y="1691640"/>
            <a:ext cx="1188720" cy="1280160"/>
          </a:xfrm>
          <a:prstGeom prst="rect">
            <a:avLst/>
          </a:prstGeom>
          <a:solidFill>
            <a:srgbClr val="0B1F44"/>
          </a:solidFill>
          <a:ln w="12700">
            <a:solidFill>
              <a:srgbClr val="0B1F44"/>
            </a:solidFill>
            <a:prstDash val="solid"/>
          </a:ln>
        </p:spPr>
      </p:sp>
      <p:sp>
        <p:nvSpPr>
          <p:cNvPr id="7" name="Text 5"/>
          <p:cNvSpPr txBox="1"/>
          <p:nvPr/>
        </p:nvSpPr>
        <p:spPr>
          <a:xfrm>
            <a:off x="411480" y="169164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a:t>
            </a:r>
            <a:endParaRPr lang="en-US" sz="3000" dirty="0"/>
          </a:p>
        </p:txBody>
      </p:sp>
      <p:sp>
        <p:nvSpPr>
          <p:cNvPr id="8" name="Text 6"/>
          <p:cNvSpPr txBox="1"/>
          <p:nvPr/>
        </p:nvSpPr>
        <p:spPr>
          <a:xfrm>
            <a:off x="1783080" y="180136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Margins Have Bottomed: ~30% Is The Floor</a:t>
            </a:r>
            <a:endParaRPr lang="en-US" sz="1500" dirty="0"/>
          </a:p>
        </p:txBody>
      </p:sp>
      <p:sp>
        <p:nvSpPr>
          <p:cNvPr id="9" name="Text 7"/>
          <p:cNvSpPr txBox="1"/>
          <p:nvPr/>
        </p:nvSpPr>
        <p:spPr>
          <a:xfrm>
            <a:off x="1783080" y="2148840"/>
            <a:ext cx="9784080" cy="749808"/>
          </a:xfrm>
          <a:prstGeom prst="rect">
            <a:avLst/>
          </a:prstGeom>
          <a:noFill/>
          <a:ln/>
        </p:spPr>
        <p:txBody>
          <a:bodyPr wrap="square" lIns="25400" tIns="25400" rIns="25400" bIns="25400" rtlCol="0" anchor="t"/>
          <a:lstStyle/>
          <a:p>
            <a:pPr algn="ctr" indent="0" marL="0">
              <a:buNone/>
            </a:pPr>
            <a:r>
              <a:rPr lang="en-US" sz="1100" dirty="0">
                <a:solidFill>
                  <a:srgbClr val="404040"/>
                </a:solidFill>
                <a:latin typeface="Calibri" pitchFamily="34" charset="0"/>
                <a:ea typeface="Calibri" pitchFamily="34" charset="-122"/>
                <a:cs typeface="Calibri" pitchFamily="34" charset="-120"/>
              </a:rPr>
              <a:t>Even if the short thesis is right, depreciated leasing stock is &lt;8% of inventory. Heavy-scope mix is capped by capacity and incentive, and PMA enters through SCI, where FTAI is the lessor. Two more stable prints re-rate the trough</a:t>
            </a:r>
            <a:endParaRPr lang="en-US" sz="1100" dirty="0"/>
          </a:p>
        </p:txBody>
      </p:sp>
      <p:sp>
        <p:nvSpPr>
          <p:cNvPr id="10" name="Shape 8"/>
          <p:cNvSpPr/>
          <p:nvPr/>
        </p:nvSpPr>
        <p:spPr>
          <a:xfrm>
            <a:off x="411480" y="3246120"/>
            <a:ext cx="11365992" cy="1280160"/>
          </a:xfrm>
          <a:prstGeom prst="roundRect">
            <a:avLst>
              <a:gd name="adj" fmla="val 5714"/>
            </a:avLst>
          </a:prstGeom>
          <a:solidFill>
            <a:srgbClr val="F7F8FA"/>
          </a:solidFill>
          <a:ln w="19050">
            <a:solidFill>
              <a:srgbClr val="F7F8FA"/>
            </a:solidFill>
            <a:prstDash val="solid"/>
          </a:ln>
        </p:spPr>
      </p:sp>
      <p:sp>
        <p:nvSpPr>
          <p:cNvPr id="11" name="Shape 9"/>
          <p:cNvSpPr/>
          <p:nvPr/>
        </p:nvSpPr>
        <p:spPr>
          <a:xfrm>
            <a:off x="411480" y="3246120"/>
            <a:ext cx="1188720" cy="1280160"/>
          </a:xfrm>
          <a:prstGeom prst="rect">
            <a:avLst/>
          </a:prstGeom>
          <a:solidFill>
            <a:srgbClr val="AEB7C7"/>
          </a:solidFill>
          <a:ln w="12700">
            <a:solidFill>
              <a:srgbClr val="AEB7C7"/>
            </a:solidFill>
            <a:prstDash val="solid"/>
          </a:ln>
        </p:spPr>
      </p:sp>
      <p:sp>
        <p:nvSpPr>
          <p:cNvPr id="12" name="Text 10"/>
          <p:cNvSpPr txBox="1"/>
          <p:nvPr/>
        </p:nvSpPr>
        <p:spPr>
          <a:xfrm>
            <a:off x="411480" y="324612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a:t>
            </a:r>
            <a:endParaRPr lang="en-US" sz="3000" dirty="0"/>
          </a:p>
        </p:txBody>
      </p:sp>
      <p:sp>
        <p:nvSpPr>
          <p:cNvPr id="13" name="Text 11"/>
          <p:cNvSpPr txBox="1"/>
          <p:nvPr/>
        </p:nvSpPr>
        <p:spPr>
          <a:xfrm>
            <a:off x="1783080" y="335584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B8BFCC"/>
                </a:solidFill>
                <a:latin typeface="Cambria" pitchFamily="34" charset="0"/>
                <a:ea typeface="Cambria" pitchFamily="34" charset="-122"/>
                <a:cs typeface="Cambria" pitchFamily="34" charset="-120"/>
              </a:rPr>
              <a:t>FTAI Takes The CFM56 Whitespace To ~25% Share</a:t>
            </a:r>
            <a:endParaRPr lang="en-US" sz="1500" dirty="0"/>
          </a:p>
        </p:txBody>
      </p:sp>
      <p:sp>
        <p:nvSpPr>
          <p:cNvPr id="14" name="Text 12"/>
          <p:cNvSpPr txBox="1"/>
          <p:nvPr/>
        </p:nvSpPr>
        <p:spPr>
          <a:xfrm>
            <a:off x="1783080" y="3703320"/>
            <a:ext cx="9784080" cy="749808"/>
          </a:xfrm>
          <a:prstGeom prst="rect">
            <a:avLst/>
          </a:prstGeom>
          <a:noFill/>
          <a:ln/>
        </p:spPr>
        <p:txBody>
          <a:bodyPr wrap="square" lIns="25400" tIns="25400" rIns="25400" bIns="25400" rtlCol="0" anchor="t"/>
          <a:lstStyle/>
          <a:p>
            <a:pPr algn="ctr" indent="0" marL="0">
              <a:buNone/>
            </a:pPr>
            <a:r>
              <a:rPr lang="en-US" sz="1100" dirty="0">
                <a:solidFill>
                  <a:srgbClr val="C4C9D2"/>
                </a:solidFill>
                <a:latin typeface="Calibri" pitchFamily="34" charset="0"/>
                <a:ea typeface="Calibri" pitchFamily="34" charset="-122"/>
                <a:cs typeface="Calibri" pitchFamily="34" charset="-120"/>
              </a:rPr>
              <a:t>OEMs and MROs move capacity to LEAP while LEAP problems keep CFM56s flying and retirements run below plan. FTAI's cost and turnaround edge wins the visits, and its capacity is already built</a:t>
            </a:r>
            <a:endParaRPr lang="en-US" sz="1100" dirty="0"/>
          </a:p>
        </p:txBody>
      </p:sp>
      <p:sp>
        <p:nvSpPr>
          <p:cNvPr id="15" name="Shape 13"/>
          <p:cNvSpPr/>
          <p:nvPr/>
        </p:nvSpPr>
        <p:spPr>
          <a:xfrm>
            <a:off x="411480" y="4800600"/>
            <a:ext cx="11365992" cy="1280160"/>
          </a:xfrm>
          <a:prstGeom prst="roundRect">
            <a:avLst>
              <a:gd name="adj" fmla="val 5714"/>
            </a:avLst>
          </a:prstGeom>
          <a:solidFill>
            <a:srgbClr val="F7F8FA"/>
          </a:solidFill>
          <a:ln w="19050">
            <a:solidFill>
              <a:srgbClr val="F7F8FA"/>
            </a:solidFill>
            <a:prstDash val="solid"/>
          </a:ln>
        </p:spPr>
      </p:sp>
      <p:sp>
        <p:nvSpPr>
          <p:cNvPr id="16" name="Shape 14"/>
          <p:cNvSpPr/>
          <p:nvPr/>
        </p:nvSpPr>
        <p:spPr>
          <a:xfrm>
            <a:off x="411480" y="4800600"/>
            <a:ext cx="1188720" cy="1280160"/>
          </a:xfrm>
          <a:prstGeom prst="rect">
            <a:avLst/>
          </a:prstGeom>
          <a:solidFill>
            <a:srgbClr val="AEB7C7"/>
          </a:solidFill>
          <a:ln w="12700">
            <a:solidFill>
              <a:srgbClr val="AEB7C7"/>
            </a:solidFill>
            <a:prstDash val="solid"/>
          </a:ln>
        </p:spPr>
      </p:sp>
      <p:sp>
        <p:nvSpPr>
          <p:cNvPr id="17" name="Text 15"/>
          <p:cNvSpPr txBox="1"/>
          <p:nvPr/>
        </p:nvSpPr>
        <p:spPr>
          <a:xfrm>
            <a:off x="411480" y="480060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III</a:t>
            </a:r>
            <a:endParaRPr lang="en-US" sz="3000" dirty="0"/>
          </a:p>
        </p:txBody>
      </p:sp>
      <p:sp>
        <p:nvSpPr>
          <p:cNvPr id="18" name="Text 16"/>
          <p:cNvSpPr txBox="1"/>
          <p:nvPr/>
        </p:nvSpPr>
        <p:spPr>
          <a:xfrm>
            <a:off x="1783080" y="491032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B8BFCC"/>
                </a:solidFill>
                <a:latin typeface="Cambria" pitchFamily="34" charset="0"/>
                <a:ea typeface="Cambria" pitchFamily="34" charset="-122"/>
                <a:cs typeface="Cambria" pitchFamily="34" charset="-120"/>
              </a:rPr>
              <a:t>Power Is A Call Option The Market Isn't Paying For</a:t>
            </a:r>
            <a:endParaRPr lang="en-US" sz="1500" dirty="0"/>
          </a:p>
        </p:txBody>
      </p:sp>
      <p:sp>
        <p:nvSpPr>
          <p:cNvPr id="19" name="Text 17"/>
          <p:cNvSpPr txBox="1"/>
          <p:nvPr/>
        </p:nvSpPr>
        <p:spPr>
          <a:xfrm>
            <a:off x="1783080" y="5257800"/>
            <a:ext cx="9784080" cy="749808"/>
          </a:xfrm>
          <a:prstGeom prst="rect">
            <a:avLst/>
          </a:prstGeom>
          <a:noFill/>
          <a:ln/>
        </p:spPr>
        <p:txBody>
          <a:bodyPr wrap="square" lIns="25400" tIns="25400" rIns="25400" bIns="25400" rtlCol="0" anchor="t"/>
          <a:lstStyle/>
          <a:p>
            <a:pPr algn="ctr" indent="0" marL="0">
              <a:buNone/>
            </a:pPr>
            <a:r>
              <a:rPr lang="en-US" sz="1100" dirty="0">
                <a:solidFill>
                  <a:srgbClr val="C4C9D2"/>
                </a:solidFill>
                <a:latin typeface="Calibri" pitchFamily="34" charset="0"/>
                <a:ea typeface="Calibri" pitchFamily="34" charset="-122"/>
                <a:cs typeface="Calibri" pitchFamily="34" charset="-120"/>
              </a:rPr>
              <a:t>The grid is short from 2029 and hyperscaler capex outruns contracted power. The first order came from a site at a stage many campuses share today. Mobile units are ~13% of build cost and pay back in about a month of earlier revenue</a:t>
            </a:r>
            <a:endParaRPr lang="en-US" sz="11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1 (1/4): Even If The Bears Are Right, It's Over</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Depreciated Leasing Engines Are &lt;8% Of Current Inventory: Today's ~30% Is Already Core-Business Margin</a:t>
            </a:r>
            <a:endParaRPr lang="en-US" sz="15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The Short Thesis, Step By Step (Muddy Waters, Jan-25)</a:t>
            </a:r>
            <a:endParaRPr lang="en-US" sz="1200" dirty="0"/>
          </a:p>
        </p:txBody>
      </p:sp>
      <p:sp>
        <p:nvSpPr>
          <p:cNvPr id="7" name="Shape 5"/>
          <p:cNvSpPr/>
          <p:nvPr/>
        </p:nvSpPr>
        <p:spPr>
          <a:xfrm>
            <a:off x="411480" y="1874520"/>
            <a:ext cx="1783080" cy="777240"/>
          </a:xfrm>
          <a:prstGeom prst="rect">
            <a:avLst>
              <a:gd name="adj" fmla="val 7059"/>
            </a:avLst>
          </a:prstGeom>
          <a:solidFill>
            <a:srgbClr val="DCE6F2"/>
          </a:solidFill>
          <a:ln w="9525">
            <a:solidFill>
              <a:srgbClr val="DCE6F2"/>
            </a:solidFill>
            <a:prstDash val="solid"/>
          </a:ln>
        </p:spPr>
      </p:sp>
      <p:sp>
        <p:nvSpPr>
          <p:cNvPr id="8" name="Text 6"/>
          <p:cNvSpPr txBox="1"/>
          <p:nvPr/>
        </p:nvSpPr>
        <p:spPr>
          <a:xfrm>
            <a:off x="457200" y="1874520"/>
            <a:ext cx="1691640" cy="777240"/>
          </a:xfrm>
          <a:prstGeom prst="rect">
            <a:avLst/>
          </a:prstGeom>
          <a:noFill/>
          <a:ln/>
        </p:spPr>
        <p:txBody>
          <a:bodyPr wrap="square" lIns="38100" tIns="38100" rIns="38100" bIns="38100" rtlCol="0" anchor="ctr"/>
          <a:lstStyle/>
          <a:p>
            <a:pPr algn="ctr" indent="0" marL="0">
              <a:buNone/>
            </a:pPr>
            <a:r>
              <a:rPr lang="en-US" sz="950" dirty="0">
                <a:solidFill>
                  <a:srgbClr val="0B1F44"/>
                </a:solidFill>
                <a:latin typeface="Calibri" pitchFamily="34" charset="0"/>
                <a:ea typeface="Calibri" pitchFamily="34" charset="-122"/>
                <a:cs typeface="Calibri" pitchFamily="34" charset="-120"/>
              </a:rPr>
              <a:t>Leasing engines depreciated on the books, even off-lease</a:t>
            </a:r>
            <a:endParaRPr lang="en-US" sz="950" dirty="0"/>
          </a:p>
        </p:txBody>
      </p:sp>
      <p:sp>
        <p:nvSpPr>
          <p:cNvPr id="9" name="Text 7"/>
          <p:cNvSpPr txBox="1"/>
          <p:nvPr/>
        </p:nvSpPr>
        <p:spPr>
          <a:xfrm>
            <a:off x="2176272" y="2103120"/>
            <a:ext cx="146304" cy="320040"/>
          </a:xfrm>
          <a:prstGeom prst="rect">
            <a:avLst/>
          </a:prstGeom>
          <a:noFill/>
          <a:ln/>
        </p:spPr>
        <p:txBody>
          <a:bodyPr wrap="square" lIns="0" tIns="0" rIns="0" bIns="0" rtlCol="0" anchor="ctr"/>
          <a:lstStyle/>
          <a:p>
            <a:pPr indent="0" marL="0">
              <a:buNone/>
            </a:pPr>
            <a:r>
              <a:rPr lang="en-US" sz="1200" dirty="0">
                <a:solidFill>
                  <a:srgbClr val="E8702A"/>
                </a:solidFill>
              </a:rPr>
              <a:t>▶</a:t>
            </a:r>
            <a:endParaRPr lang="en-US" sz="1200" dirty="0"/>
          </a:p>
        </p:txBody>
      </p:sp>
      <p:sp>
        <p:nvSpPr>
          <p:cNvPr id="10" name="Shape 8"/>
          <p:cNvSpPr/>
          <p:nvPr/>
        </p:nvSpPr>
        <p:spPr>
          <a:xfrm>
            <a:off x="2304288" y="1874520"/>
            <a:ext cx="1783080" cy="777240"/>
          </a:xfrm>
          <a:prstGeom prst="rect">
            <a:avLst>
              <a:gd name="adj" fmla="val 7059"/>
            </a:avLst>
          </a:prstGeom>
          <a:solidFill>
            <a:srgbClr val="DCE6F2"/>
          </a:solidFill>
          <a:ln w="9525">
            <a:solidFill>
              <a:srgbClr val="DCE6F2"/>
            </a:solidFill>
            <a:prstDash val="solid"/>
          </a:ln>
        </p:spPr>
      </p:sp>
      <p:sp>
        <p:nvSpPr>
          <p:cNvPr id="11" name="Text 9"/>
          <p:cNvSpPr txBox="1"/>
          <p:nvPr/>
        </p:nvSpPr>
        <p:spPr>
          <a:xfrm>
            <a:off x="2350008" y="1874520"/>
            <a:ext cx="1691640" cy="777240"/>
          </a:xfrm>
          <a:prstGeom prst="rect">
            <a:avLst/>
          </a:prstGeom>
          <a:noFill/>
          <a:ln/>
        </p:spPr>
        <p:txBody>
          <a:bodyPr wrap="square" lIns="38100" tIns="38100" rIns="38100" bIns="38100" rtlCol="0" anchor="ctr"/>
          <a:lstStyle/>
          <a:p>
            <a:pPr algn="ctr" indent="0" marL="0">
              <a:buNone/>
            </a:pPr>
            <a:r>
              <a:rPr lang="en-US" sz="950" dirty="0">
                <a:solidFill>
                  <a:srgbClr val="0B1F44"/>
                </a:solidFill>
                <a:latin typeface="Calibri" pitchFamily="34" charset="0"/>
                <a:ea typeface="Calibri" pitchFamily="34" charset="-122"/>
                <a:cs typeface="Calibri" pitchFamily="34" charset="-120"/>
              </a:rPr>
              <a:t>Transferred into Aerospace Products inventory at book value</a:t>
            </a:r>
            <a:endParaRPr lang="en-US" sz="950" dirty="0"/>
          </a:p>
        </p:txBody>
      </p:sp>
      <p:sp>
        <p:nvSpPr>
          <p:cNvPr id="12" name="Text 10"/>
          <p:cNvSpPr txBox="1"/>
          <p:nvPr/>
        </p:nvSpPr>
        <p:spPr>
          <a:xfrm>
            <a:off x="4069080" y="2103120"/>
            <a:ext cx="146304" cy="320040"/>
          </a:xfrm>
          <a:prstGeom prst="rect">
            <a:avLst/>
          </a:prstGeom>
          <a:noFill/>
          <a:ln/>
        </p:spPr>
        <p:txBody>
          <a:bodyPr wrap="square" lIns="0" tIns="0" rIns="0" bIns="0" rtlCol="0" anchor="ctr"/>
          <a:lstStyle/>
          <a:p>
            <a:pPr indent="0" marL="0">
              <a:buNone/>
            </a:pPr>
            <a:r>
              <a:rPr lang="en-US" sz="1200" dirty="0">
                <a:solidFill>
                  <a:srgbClr val="E8702A"/>
                </a:solidFill>
              </a:rPr>
              <a:t>▶</a:t>
            </a:r>
            <a:endParaRPr lang="en-US" sz="1200" dirty="0"/>
          </a:p>
        </p:txBody>
      </p:sp>
      <p:sp>
        <p:nvSpPr>
          <p:cNvPr id="13" name="Shape 11"/>
          <p:cNvSpPr/>
          <p:nvPr/>
        </p:nvSpPr>
        <p:spPr>
          <a:xfrm>
            <a:off x="4197096" y="1874520"/>
            <a:ext cx="1783080" cy="777240"/>
          </a:xfrm>
          <a:prstGeom prst="rect">
            <a:avLst>
              <a:gd name="adj" fmla="val 7059"/>
            </a:avLst>
          </a:prstGeom>
          <a:solidFill>
            <a:srgbClr val="0B1F44"/>
          </a:solidFill>
          <a:ln w="9525">
            <a:solidFill>
              <a:srgbClr val="0B1F44"/>
            </a:solidFill>
            <a:prstDash val="solid"/>
          </a:ln>
        </p:spPr>
      </p:sp>
      <p:sp>
        <p:nvSpPr>
          <p:cNvPr id="14" name="Text 12"/>
          <p:cNvSpPr txBox="1"/>
          <p:nvPr/>
        </p:nvSpPr>
        <p:spPr>
          <a:xfrm>
            <a:off x="4242816" y="1874520"/>
            <a:ext cx="1691640" cy="777240"/>
          </a:xfrm>
          <a:prstGeom prst="rect">
            <a:avLst/>
          </a:prstGeom>
          <a:noFill/>
          <a:ln/>
        </p:spPr>
        <p:txBody>
          <a:bodyPr wrap="square" lIns="38100" tIns="38100" rIns="38100" bIns="3810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Sold at market prices: low cost basis inflates AP margin</a:t>
            </a:r>
            <a:endParaRPr lang="en-US" sz="950" dirty="0"/>
          </a:p>
        </p:txBody>
      </p:sp>
      <p:sp>
        <p:nvSpPr>
          <p:cNvPr id="15" name="Shape 13"/>
          <p:cNvSpPr/>
          <p:nvPr/>
        </p:nvSpPr>
        <p:spPr>
          <a:xfrm>
            <a:off x="411480" y="2788920"/>
            <a:ext cx="2377440" cy="292608"/>
          </a:xfrm>
          <a:prstGeom prst="rect">
            <a:avLst/>
          </a:prstGeom>
          <a:solidFill>
            <a:srgbClr val="DCE6F2"/>
          </a:solidFill>
          <a:ln w="9525">
            <a:solidFill>
              <a:srgbClr val="0B1F44"/>
            </a:solidFill>
            <a:prstDash val="solid"/>
          </a:ln>
        </p:spPr>
      </p:sp>
      <p:sp>
        <p:nvSpPr>
          <p:cNvPr id="16" name="Text 14"/>
          <p:cNvSpPr txBox="1"/>
          <p:nvPr/>
        </p:nvSpPr>
        <p:spPr>
          <a:xfrm>
            <a:off x="411480" y="2788920"/>
            <a:ext cx="23774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Share Of Inventory From Leasing</a:t>
            </a:r>
            <a:endParaRPr lang="en-US" sz="1200" dirty="0"/>
          </a:p>
        </p:txBody>
      </p:sp>
      <p:graphicFrame>
        <p:nvGraphicFramePr>
          <p:cNvPr id="17" name="Chart 0" descr=""/>
          <p:cNvGraphicFramePr/>
          <p:nvPr/>
        </p:nvGraphicFramePr>
        <p:xfrm>
          <a:off x="411480" y="3108960"/>
          <a:ext cx="2377440" cy="210312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868680" y="3794760"/>
            <a:ext cx="1463040" cy="731520"/>
          </a:xfrm>
          <a:prstGeom prst="rect">
            <a:avLst/>
          </a:prstGeom>
          <a:noFill/>
          <a:ln/>
        </p:spPr>
        <p:txBody>
          <a:bodyPr wrap="square" lIns="0" tIns="0" rIns="0" bIns="0" rtlCol="0" anchor="ctr"/>
          <a:lstStyle/>
          <a:p>
            <a:pPr algn="ctr" indent="0" marL="0">
              <a:buNone/>
            </a:pPr>
            <a:r>
              <a:rPr lang="en-US" sz="2400" b="1" dirty="0">
                <a:solidFill>
                  <a:srgbClr val="0B1F44"/>
                </a:solidFill>
                <a:latin typeface="Cambria" pitchFamily="34" charset="0"/>
                <a:ea typeface="Cambria" pitchFamily="34" charset="-122"/>
                <a:cs typeface="Cambria" pitchFamily="34" charset="-120"/>
              </a:rPr>
              <a:t>&lt;8%</a:t>
            </a:r>
            <a:endParaRPr lang="en-US" sz="2400" dirty="0"/>
          </a:p>
          <a:p>
            <a:pPr algn="ctr" indent="0" marL="0">
              <a:buNone/>
            </a:pPr>
            <a:r>
              <a:rPr lang="en-US" sz="900" dirty="0">
                <a:solidFill>
                  <a:srgbClr val="404040"/>
                </a:solidFill>
                <a:latin typeface="Calibri" pitchFamily="34" charset="0"/>
                <a:ea typeface="Calibri" pitchFamily="34" charset="-122"/>
                <a:cs typeface="Calibri" pitchFamily="34" charset="-120"/>
              </a:rPr>
              <a:t>left to unwind</a:t>
            </a:r>
            <a:endParaRPr lang="en-US" sz="2400" dirty="0"/>
          </a:p>
        </p:txBody>
      </p:sp>
      <p:sp>
        <p:nvSpPr>
          <p:cNvPr id="19" name="Text 16"/>
          <p:cNvSpPr txBox="1"/>
          <p:nvPr/>
        </p:nvSpPr>
        <p:spPr>
          <a:xfrm>
            <a:off x="2880360" y="2788920"/>
            <a:ext cx="3108960" cy="2468880"/>
          </a:xfrm>
          <a:prstGeom prst="rect">
            <a:avLst/>
          </a:prstGeom>
          <a:noFill/>
          <a:ln/>
        </p:spPr>
        <p:txBody>
          <a:bodyPr wrap="square" lIns="38100" tIns="38100" rIns="38100" bIns="38100" rtlCol="0" anchor="t"/>
          <a:lstStyle/>
          <a:p>
            <a:pPr marL="342900" indent="-342900">
              <a:spcAft>
                <a:spcPts val="600"/>
              </a:spcAft>
              <a:buSzPct val="100000"/>
              <a:buChar char="▪"/>
            </a:pPr>
            <a:r>
              <a:rPr lang="en-US" sz="950" dirty="0">
                <a:solidFill>
                  <a:srgbClr val="404040"/>
                </a:solidFill>
                <a:latin typeface="Calibri" pitchFamily="34" charset="0"/>
                <a:ea typeface="Calibri" pitchFamily="34" charset="-122"/>
                <a:cs typeface="Calibri" pitchFamily="34" charset="-120"/>
              </a:rPr>
              <a:t>Q1'26 leasing→inventory transfers: </a:t>
            </a:r>
            <a:r>
              <a:rPr lang="en-US" sz="950" b="1" dirty="0">
                <a:solidFill>
                  <a:srgbClr val="0B1F44"/>
                </a:solidFill>
                <a:latin typeface="Calibri" pitchFamily="34" charset="0"/>
                <a:ea typeface="Calibri" pitchFamily="34" charset="-122"/>
                <a:cs typeface="Calibri" pitchFamily="34" charset="-120"/>
              </a:rPr>
              <a:t>$89.6M</a:t>
            </a:r>
            <a:r>
              <a:rPr lang="en-US" sz="950" dirty="0">
                <a:solidFill>
                  <a:srgbClr val="404040"/>
                </a:solidFill>
                <a:latin typeface="Calibri" pitchFamily="34" charset="0"/>
                <a:ea typeface="Calibri" pitchFamily="34" charset="-122"/>
                <a:cs typeface="Calibri" pitchFamily="34" charset="-120"/>
              </a:rPr>
              <a:t> vs inventory of </a:t>
            </a:r>
            <a:r>
              <a:rPr lang="en-US" sz="950" b="1" dirty="0">
                <a:solidFill>
                  <a:srgbClr val="0B1F44"/>
                </a:solidFill>
                <a:latin typeface="Calibri" pitchFamily="34" charset="0"/>
                <a:ea typeface="Calibri" pitchFamily="34" charset="-122"/>
                <a:cs typeface="Calibri" pitchFamily="34" charset="-120"/>
              </a:rPr>
              <a:t>~$1.4bn</a:t>
            </a:r>
            <a:r>
              <a:rPr lang="en-US" sz="950" dirty="0">
                <a:solidFill>
                  <a:srgbClr val="404040"/>
                </a:solidFill>
                <a:latin typeface="Calibri" pitchFamily="34" charset="0"/>
                <a:ea typeface="Calibri" pitchFamily="34" charset="-122"/>
                <a:cs typeface="Calibri" pitchFamily="34" charset="-120"/>
              </a:rPr>
              <a:t> (</a:t>
            </a:r>
            <a:r>
              <a:rPr lang="en-US" sz="950" b="1" dirty="0">
                <a:solidFill>
                  <a:srgbClr val="0B1F44"/>
                </a:solidFill>
                <a:latin typeface="Calibri" pitchFamily="34" charset="0"/>
                <a:ea typeface="Calibri" pitchFamily="34" charset="-122"/>
                <a:cs typeface="Calibri" pitchFamily="34" charset="-120"/>
              </a:rPr>
              <a:t>~6%</a:t>
            </a:r>
            <a:r>
              <a:rPr lang="en-US" sz="950" dirty="0">
                <a:solidFill>
                  <a:srgbClr val="404040"/>
                </a:solidFill>
                <a:latin typeface="Calibri" pitchFamily="34" charset="0"/>
                <a:ea typeface="Calibri" pitchFamily="34" charset="-122"/>
                <a:cs typeface="Calibri" pitchFamily="34" charset="-120"/>
              </a:rPr>
              <a:t>)</a:t>
            </a:r>
            <a:endParaRPr lang="en-US" sz="950" dirty="0"/>
          </a:p>
          <a:p>
            <a:pPr marL="342900" indent="-342900">
              <a:spcAft>
                <a:spcPts val="600"/>
              </a:spcAft>
              <a:buSzPct val="100000"/>
              <a:buChar char="▪"/>
            </a:pPr>
            <a:r>
              <a:rPr lang="en-US" sz="950" dirty="0">
                <a:solidFill>
                  <a:srgbClr val="404040"/>
                </a:solidFill>
                <a:latin typeface="Calibri" pitchFamily="34" charset="0"/>
                <a:ea typeface="Calibri" pitchFamily="34" charset="-122"/>
                <a:cs typeface="Calibri" pitchFamily="34" charset="-120"/>
              </a:rPr>
              <a:t>Flow now runs the </a:t>
            </a:r>
            <a:r>
              <a:rPr lang="en-US" sz="950" b="1" dirty="0">
                <a:solidFill>
                  <a:srgbClr val="0B1F44"/>
                </a:solidFill>
                <a:latin typeface="Calibri" pitchFamily="34" charset="0"/>
                <a:ea typeface="Calibri" pitchFamily="34" charset="-122"/>
                <a:cs typeface="Calibri" pitchFamily="34" charset="-120"/>
              </a:rPr>
              <a:t>other way</a:t>
            </a:r>
            <a:r>
              <a:rPr lang="en-US" sz="950" dirty="0">
                <a:solidFill>
                  <a:srgbClr val="404040"/>
                </a:solidFill>
                <a:latin typeface="Calibri" pitchFamily="34" charset="0"/>
                <a:ea typeface="Calibri" pitchFamily="34" charset="-122"/>
                <a:cs typeface="Calibri" pitchFamily="34" charset="-120"/>
              </a:rPr>
              <a:t>: </a:t>
            </a:r>
            <a:r>
              <a:rPr lang="en-US" sz="950" b="1" dirty="0">
                <a:solidFill>
                  <a:srgbClr val="0B1F44"/>
                </a:solidFill>
                <a:latin typeface="Calibri" pitchFamily="34" charset="0"/>
                <a:ea typeface="Calibri" pitchFamily="34" charset="-122"/>
                <a:cs typeface="Calibri" pitchFamily="34" charset="-120"/>
              </a:rPr>
              <a:t>$169M</a:t>
            </a:r>
            <a:r>
              <a:rPr lang="en-US" sz="950" dirty="0">
                <a:solidFill>
                  <a:srgbClr val="404040"/>
                </a:solidFill>
                <a:latin typeface="Calibri" pitchFamily="34" charset="0"/>
                <a:ea typeface="Calibri" pitchFamily="34" charset="-122"/>
                <a:cs typeface="Calibri" pitchFamily="34" charset="-120"/>
              </a:rPr>
              <a:t> moved inventory→leasing in 1H26 for rebuild and sale</a:t>
            </a:r>
            <a:endParaRPr lang="en-US" sz="950" dirty="0"/>
          </a:p>
          <a:p>
            <a:pPr marL="342900" indent="-342900">
              <a:spcAft>
                <a:spcPts val="600"/>
              </a:spcAft>
              <a:buSzPct val="100000"/>
              <a:buChar char="▪"/>
            </a:pPr>
            <a:r>
              <a:rPr lang="en-US" sz="950" dirty="0">
                <a:solidFill>
                  <a:srgbClr val="404040"/>
                </a:solidFill>
                <a:latin typeface="Calibri" pitchFamily="34" charset="0"/>
                <a:ea typeface="Calibri" pitchFamily="34" charset="-122"/>
                <a:cs typeface="Calibri" pitchFamily="34" charset="-120"/>
              </a:rPr>
              <a:t>Leasing equipment net down to </a:t>
            </a:r>
            <a:r>
              <a:rPr lang="en-US" sz="950" b="1" dirty="0">
                <a:solidFill>
                  <a:srgbClr val="0B1F44"/>
                </a:solidFill>
                <a:latin typeface="Calibri" pitchFamily="34" charset="0"/>
                <a:ea typeface="Calibri" pitchFamily="34" charset="-122"/>
                <a:cs typeface="Calibri" pitchFamily="34" charset="-120"/>
              </a:rPr>
              <a:t>$1.53bn</a:t>
            </a:r>
            <a:r>
              <a:rPr lang="en-US" sz="950" dirty="0">
                <a:solidFill>
                  <a:srgbClr val="404040"/>
                </a:solidFill>
                <a:latin typeface="Calibri" pitchFamily="34" charset="0"/>
                <a:ea typeface="Calibri" pitchFamily="34" charset="-122"/>
                <a:cs typeface="Calibri" pitchFamily="34" charset="-120"/>
              </a:rPr>
              <a:t> (Jun-26) from $2.06bn (Dec-25) as aircraft go to SCI</a:t>
            </a:r>
            <a:endParaRPr lang="en-US" sz="950" dirty="0"/>
          </a:p>
        </p:txBody>
      </p:sp>
      <p:sp>
        <p:nvSpPr>
          <p:cNvPr id="20" name="Shape 17"/>
          <p:cNvSpPr/>
          <p:nvPr/>
        </p:nvSpPr>
        <p:spPr>
          <a:xfrm>
            <a:off x="411480" y="5303520"/>
            <a:ext cx="5577840" cy="502920"/>
          </a:xfrm>
          <a:prstGeom prst="roundRect">
            <a:avLst>
              <a:gd name="adj" fmla="val 10909"/>
            </a:avLst>
          </a:prstGeom>
          <a:solidFill>
            <a:srgbClr val="FFFFFF"/>
          </a:solidFill>
          <a:ln w="12700">
            <a:solidFill>
              <a:srgbClr val="0B1F44"/>
            </a:solidFill>
            <a:prstDash val="dash"/>
          </a:ln>
        </p:spPr>
      </p:sp>
      <p:sp>
        <p:nvSpPr>
          <p:cNvPr id="21" name="Text 18"/>
          <p:cNvSpPr txBox="1"/>
          <p:nvPr/>
        </p:nvSpPr>
        <p:spPr>
          <a:xfrm>
            <a:off x="466344" y="5330952"/>
            <a:ext cx="5468112" cy="44805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Audit-committee review with independent advisors found the claims </a:t>
            </a:r>
            <a:r>
              <a:rPr lang="en-US" sz="950" b="1" dirty="0">
                <a:solidFill>
                  <a:srgbClr val="0B1F44"/>
                </a:solidFill>
                <a:latin typeface="Calibri" pitchFamily="34" charset="0"/>
                <a:ea typeface="Calibri" pitchFamily="34" charset="-122"/>
                <a:cs typeface="Calibri" pitchFamily="34" charset="-120"/>
              </a:rPr>
              <a:t>without merit</a:t>
            </a:r>
            <a:r>
              <a:rPr lang="en-US" sz="950" dirty="0">
                <a:solidFill>
                  <a:srgbClr val="404040"/>
                </a:solidFill>
                <a:latin typeface="Calibri" pitchFamily="34" charset="0"/>
                <a:ea typeface="Calibri" pitchFamily="34" charset="-122"/>
                <a:cs typeface="Calibri" pitchFamily="34" charset="-120"/>
              </a:rPr>
              <a:t>; 10-K filed on time, </a:t>
            </a:r>
            <a:r>
              <a:rPr lang="en-US" sz="950" b="1" dirty="0">
                <a:solidFill>
                  <a:srgbClr val="0B1F44"/>
                </a:solidFill>
                <a:latin typeface="Calibri" pitchFamily="34" charset="0"/>
                <a:ea typeface="Calibri" pitchFamily="34" charset="-122"/>
                <a:cs typeface="Calibri" pitchFamily="34" charset="-120"/>
              </a:rPr>
              <a:t>no restatement</a:t>
            </a:r>
            <a:endParaRPr lang="en-US" sz="950" dirty="0"/>
          </a:p>
        </p:txBody>
      </p:sp>
      <p:sp>
        <p:nvSpPr>
          <p:cNvPr id="22" name="Shape 19"/>
          <p:cNvSpPr/>
          <p:nvPr/>
        </p:nvSpPr>
        <p:spPr>
          <a:xfrm>
            <a:off x="411480" y="5852160"/>
            <a:ext cx="5577840" cy="475488"/>
          </a:xfrm>
          <a:prstGeom prst="rect">
            <a:avLst>
              <a:gd name="adj" fmla="val 11538"/>
            </a:avLst>
          </a:prstGeom>
          <a:solidFill>
            <a:srgbClr val="DCE6F2"/>
          </a:solidFill>
          <a:ln w="9525">
            <a:solidFill>
              <a:srgbClr val="DCE6F2"/>
            </a:solidFill>
            <a:prstDash val="solid"/>
          </a:ln>
        </p:spPr>
      </p:sp>
      <p:sp>
        <p:nvSpPr>
          <p:cNvPr id="23" name="Text 20"/>
          <p:cNvSpPr txBox="1"/>
          <p:nvPr/>
        </p:nvSpPr>
        <p:spPr>
          <a:xfrm>
            <a:off x="457200" y="5852160"/>
            <a:ext cx="5486400" cy="475488"/>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Bear math, worst case:</a:t>
            </a:r>
            <a:r>
              <a:rPr lang="en-US" sz="950" dirty="0">
                <a:solidFill>
                  <a:srgbClr val="404040"/>
                </a:solidFill>
                <a:latin typeface="Calibri" pitchFamily="34" charset="0"/>
                <a:ea typeface="Calibri" pitchFamily="34" charset="-122"/>
                <a:cs typeface="Calibri" pitchFamily="34" charset="-120"/>
              </a:rPr>
              <a:t> &lt;8% of stock at a ~40% cost advantage × ~50% material content = </a:t>
            </a:r>
            <a:r>
              <a:rPr lang="en-US" sz="950" b="1" dirty="0">
                <a:solidFill>
                  <a:srgbClr val="0B1F44"/>
                </a:solidFill>
                <a:latin typeface="Calibri" pitchFamily="34" charset="0"/>
                <a:ea typeface="Calibri" pitchFamily="34" charset="-122"/>
                <a:cs typeface="Calibri" pitchFamily="34" charset="-120"/>
              </a:rPr>
              <a:t>≤150 bps</a:t>
            </a:r>
            <a:r>
              <a:rPr lang="en-US" sz="950" dirty="0">
                <a:solidFill>
                  <a:srgbClr val="404040"/>
                </a:solidFill>
                <a:latin typeface="Calibri" pitchFamily="34" charset="0"/>
                <a:ea typeface="Calibri" pitchFamily="34" charset="-122"/>
                <a:cs typeface="Calibri" pitchFamily="34" charset="-120"/>
              </a:rPr>
              <a:t> of residual drag — already inside our 28.5% bear case</a:t>
            </a:r>
            <a:endParaRPr lang="en-US" sz="950" dirty="0"/>
          </a:p>
        </p:txBody>
      </p:sp>
      <p:sp>
        <p:nvSpPr>
          <p:cNvPr id="24" name="Shape 21"/>
          <p:cNvSpPr/>
          <p:nvPr/>
        </p:nvSpPr>
        <p:spPr>
          <a:xfrm>
            <a:off x="6199632" y="1536192"/>
            <a:ext cx="5577840" cy="292608"/>
          </a:xfrm>
          <a:prstGeom prst="rect">
            <a:avLst/>
          </a:prstGeom>
          <a:solidFill>
            <a:srgbClr val="DCE6F2"/>
          </a:solidFill>
          <a:ln w="9525">
            <a:solidFill>
              <a:srgbClr val="0B1F44"/>
            </a:solidFill>
            <a:prstDash val="solid"/>
          </a:ln>
        </p:spPr>
      </p:sp>
      <p:sp>
        <p:nvSpPr>
          <p:cNvPr id="25" name="Text 22"/>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Inventory Is Now Bought, Not Transferred ($M)</a:t>
            </a:r>
            <a:endParaRPr lang="en-US" sz="1200" dirty="0"/>
          </a:p>
        </p:txBody>
      </p:sp>
      <p:graphicFrame>
        <p:nvGraphicFramePr>
          <p:cNvPr id="26" name="Chart 1" descr=""/>
          <p:cNvGraphicFramePr/>
          <p:nvPr/>
        </p:nvGraphicFramePr>
        <p:xfrm>
          <a:off x="6199632" y="1874520"/>
          <a:ext cx="5577840" cy="2423160"/>
        </p:xfrm>
        <a:graphic xmlns:a="http://schemas.openxmlformats.org/drawingml/2006/main">
          <a:graphicData uri="http://schemas.openxmlformats.org/drawingml/2006/chart">
            <c:chart xmlns:c="http://schemas.openxmlformats.org/drawingml/2006/chart" r:id="rId2"/>
          </a:graphicData>
        </a:graphic>
      </p:graphicFrame>
      <p:sp>
        <p:nvSpPr>
          <p:cNvPr id="27" name="Shape 23"/>
          <p:cNvSpPr/>
          <p:nvPr/>
        </p:nvSpPr>
        <p:spPr>
          <a:xfrm>
            <a:off x="6199632" y="4389120"/>
            <a:ext cx="5577840" cy="292608"/>
          </a:xfrm>
          <a:prstGeom prst="rect">
            <a:avLst/>
          </a:prstGeom>
          <a:solidFill>
            <a:srgbClr val="DCE6F2"/>
          </a:solidFill>
          <a:ln w="9525">
            <a:solidFill>
              <a:srgbClr val="0B1F44"/>
            </a:solidFill>
            <a:prstDash val="solid"/>
          </a:ln>
        </p:spPr>
      </p:sp>
      <p:sp>
        <p:nvSpPr>
          <p:cNvPr id="28" name="Text 24"/>
          <p:cNvSpPr txBox="1"/>
          <p:nvPr/>
        </p:nvSpPr>
        <p:spPr>
          <a:xfrm>
            <a:off x="6199632" y="438912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Where The Feedstock Comes From Now</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99632" y="4709160"/>
          <a:ext cx="5577840" cy="914400"/>
        </p:xfrm>
        <a:graphic>
          <a:graphicData uri="http://schemas.openxmlformats.org/drawingml/2006/table">
            <a:tbl>
              <a:tblPr/>
              <a:tblGrid>
                <a:gridCol w="1645920"/>
                <a:gridCol w="2834640"/>
                <a:gridCol w="1097280"/>
              </a:tblGrid>
              <a:tr h="30175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Source</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Example</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Cost basis</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017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Airline run-outs under MRE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United</a:t>
                      </a:r>
                      <a:r>
                        <a:rPr lang="en-US" sz="850" dirty="0">
                          <a:solidFill>
                            <a:srgbClr val="404040"/>
                          </a:solidFill>
                          <a:latin typeface="Calibri" pitchFamily="34" charset="0"/>
                          <a:ea typeface="Calibri" pitchFamily="34" charset="-122"/>
                          <a:cs typeface="Calibri" pitchFamily="34" charset="-120"/>
                        </a:rPr>
                        <a:t> 737NG -7B program (8-Oct-26)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Market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Fleet retirements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WestJet</a:t>
                      </a:r>
                      <a:r>
                        <a:rPr lang="en-US" sz="850" dirty="0">
                          <a:solidFill>
                            <a:srgbClr val="404040"/>
                          </a:solidFill>
                          <a:latin typeface="Calibri" pitchFamily="34" charset="0"/>
                          <a:ea typeface="Calibri" pitchFamily="34" charset="-122"/>
                          <a:cs typeface="Calibri" pitchFamily="34" charset="-120"/>
                        </a:rPr>
                        <a:t>: 10 of 27 737-700s to AP (28-Sep-26)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Market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017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USM agreements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AAR exclusive CFM56 USM through 2030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Market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Legacy leasing pool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Off-lease engines (shrinking)</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Depreciated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30" name="Text 25"/>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Muddy Waters (Jan-25); FTAI 10-Q Q1'26, Q2'26 cash-flow disclosures; FTAI releases; GPS model. Share = Q1'26 transfer / inventory</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1 (2/4): Heavy-Scope Mix Has Peaked</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Heavy Work Was A Customer-Acquisition Tool; It Is Capacity-Limited And Management Has No Reason To Push It Further</a:t>
            </a:r>
            <a:endParaRPr lang="en-US" sz="1400" dirty="0"/>
          </a:p>
        </p:txBody>
      </p:sp>
      <p:sp>
        <p:nvSpPr>
          <p:cNvPr id="5" name="Shape 3"/>
          <p:cNvSpPr/>
          <p:nvPr/>
        </p:nvSpPr>
        <p:spPr>
          <a:xfrm>
            <a:off x="411480" y="1536192"/>
            <a:ext cx="365760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Management's Job Economics (Q2'26 call)</a:t>
            </a:r>
            <a:endParaRPr lang="en-US" sz="1200" dirty="0"/>
          </a:p>
        </p:txBody>
      </p:sp>
      <p:graphicFrame>
        <p:nvGraphicFramePr>
          <p:cNvPr id="7" name="Chart 0" descr=""/>
          <p:cNvGraphicFramePr/>
          <p:nvPr/>
        </p:nvGraphicFramePr>
        <p:xfrm>
          <a:off x="411480" y="1847088"/>
          <a:ext cx="3657600" cy="21945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11480" y="4114800"/>
            <a:ext cx="3657600" cy="685800"/>
          </a:xfrm>
          <a:prstGeom prst="roundRect">
            <a:avLst>
              <a:gd name="adj" fmla="val 8000"/>
            </a:avLst>
          </a:prstGeom>
          <a:solidFill>
            <a:srgbClr val="FFFFFF"/>
          </a:solidFill>
          <a:ln w="12700">
            <a:solidFill>
              <a:srgbClr val="0B1F44"/>
            </a:solidFill>
            <a:prstDash val="dash"/>
          </a:ln>
        </p:spPr>
      </p:sp>
      <p:sp>
        <p:nvSpPr>
          <p:cNvPr id="9" name="Text 6"/>
          <p:cNvSpPr txBox="1"/>
          <p:nvPr/>
        </p:nvSpPr>
        <p:spPr>
          <a:xfrm>
            <a:off x="466344" y="4142232"/>
            <a:ext cx="3547872" cy="63093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"Similar dollars per engine, but more investment." Heavier jobs carry </a:t>
            </a:r>
            <a:r>
              <a:rPr lang="en-US" sz="950" b="1" dirty="0">
                <a:solidFill>
                  <a:srgbClr val="0B1F44"/>
                </a:solidFill>
                <a:latin typeface="Calibri" pitchFamily="34" charset="0"/>
                <a:ea typeface="Calibri" pitchFamily="34" charset="-122"/>
                <a:cs typeface="Calibri" pitchFamily="34" charset="-120"/>
              </a:rPr>
              <a:t>lower margin but more EBITDA dollars</a:t>
            </a:r>
            <a:r>
              <a:rPr lang="en-US" sz="950" dirty="0">
                <a:solidFill>
                  <a:srgbClr val="404040"/>
                </a:solidFill>
                <a:latin typeface="Calibri" pitchFamily="34" charset="0"/>
                <a:ea typeface="Calibri" pitchFamily="34" charset="-122"/>
                <a:cs typeface="Calibri" pitchFamily="34" charset="-120"/>
              </a:rPr>
              <a:t> and lock in the airline</a:t>
            </a:r>
            <a:endParaRPr lang="en-US" sz="950" dirty="0"/>
          </a:p>
        </p:txBody>
      </p:sp>
      <p:sp>
        <p:nvSpPr>
          <p:cNvPr id="10" name="Shape 7"/>
          <p:cNvSpPr/>
          <p:nvPr/>
        </p:nvSpPr>
        <p:spPr>
          <a:xfrm>
            <a:off x="4251960" y="1536192"/>
            <a:ext cx="3657600" cy="292608"/>
          </a:xfrm>
          <a:prstGeom prst="rect">
            <a:avLst/>
          </a:prstGeom>
          <a:solidFill>
            <a:srgbClr val="DCE6F2"/>
          </a:solidFill>
          <a:ln w="9525">
            <a:solidFill>
              <a:srgbClr val="0B1F44"/>
            </a:solidFill>
            <a:prstDash val="solid"/>
          </a:ln>
        </p:spPr>
      </p:sp>
      <p:sp>
        <p:nvSpPr>
          <p:cNvPr id="11" name="Text 8"/>
          <p:cNvSpPr txBox="1"/>
          <p:nvPr/>
        </p:nvSpPr>
        <p:spPr>
          <a:xfrm>
            <a:off x="425196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Bears Say Mix Has More Room To Run…</a:t>
            </a:r>
            <a:endParaRPr lang="en-US" sz="1200" dirty="0"/>
          </a:p>
        </p:txBody>
      </p:sp>
      <p:sp>
        <p:nvSpPr>
          <p:cNvPr id="12" name="Text 9"/>
          <p:cNvSpPr txBox="1"/>
          <p:nvPr/>
        </p:nvSpPr>
        <p:spPr>
          <a:xfrm>
            <a:off x="4251960" y="1874520"/>
            <a:ext cx="3657600" cy="1371600"/>
          </a:xfrm>
          <a:prstGeom prst="rect">
            <a:avLst/>
          </a:prstGeom>
          <a:noFill/>
          <a:ln/>
        </p:spPr>
        <p:txBody>
          <a:bodyPr wrap="square" lIns="38100" tIns="38100" rIns="38100" bIns="38100" rtlCol="0" anchor="t"/>
          <a:lstStyle/>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Fleet is ageing: </a:t>
            </a:r>
            <a:r>
              <a:rPr lang="en-US" sz="950" b="1" dirty="0">
                <a:solidFill>
                  <a:srgbClr val="0B1F44"/>
                </a:solidFill>
                <a:latin typeface="Calibri" pitchFamily="34" charset="0"/>
                <a:ea typeface="Calibri" pitchFamily="34" charset="-122"/>
                <a:cs typeface="Calibri" pitchFamily="34" charset="-120"/>
              </a:rPr>
              <a:t>repeat-visit share</a:t>
            </a:r>
            <a:r>
              <a:rPr lang="en-US" sz="950" dirty="0">
                <a:solidFill>
                  <a:srgbClr val="404040"/>
                </a:solidFill>
                <a:latin typeface="Calibri" pitchFamily="34" charset="0"/>
                <a:ea typeface="Calibri" pitchFamily="34" charset="-122"/>
                <a:cs typeface="Calibri" pitchFamily="34" charset="-120"/>
              </a:rPr>
              <a:t> rises from 59% to 72% by 2030</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Airline deals (UAL, large carriers) skew to full performance restorations</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Management guided "around 30% for the next 1–2 years" and chose share over margin</a:t>
            </a:r>
            <a:endParaRPr lang="en-US" sz="950" dirty="0"/>
          </a:p>
        </p:txBody>
      </p:sp>
      <p:sp>
        <p:nvSpPr>
          <p:cNvPr id="13" name="Shape 10"/>
          <p:cNvSpPr/>
          <p:nvPr/>
        </p:nvSpPr>
        <p:spPr>
          <a:xfrm>
            <a:off x="4251960" y="3246120"/>
            <a:ext cx="3657600" cy="292608"/>
          </a:xfrm>
          <a:prstGeom prst="rect">
            <a:avLst/>
          </a:prstGeom>
          <a:solidFill>
            <a:srgbClr val="DCE6F2"/>
          </a:solidFill>
          <a:ln w="9525">
            <a:solidFill>
              <a:srgbClr val="0B1F44"/>
            </a:solidFill>
            <a:prstDash val="solid"/>
          </a:ln>
        </p:spPr>
      </p:sp>
      <p:sp>
        <p:nvSpPr>
          <p:cNvPr id="14" name="Text 11"/>
          <p:cNvSpPr txBox="1"/>
          <p:nvPr/>
        </p:nvSpPr>
        <p:spPr>
          <a:xfrm>
            <a:off x="4251960" y="3246120"/>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…But The Constraints Say Otherwise</a:t>
            </a:r>
            <a:endParaRPr lang="en-US" sz="1200" dirty="0"/>
          </a:p>
        </p:txBody>
      </p:sp>
      <p:sp>
        <p:nvSpPr>
          <p:cNvPr id="15" name="Text 12"/>
          <p:cNvSpPr txBox="1"/>
          <p:nvPr/>
        </p:nvSpPr>
        <p:spPr>
          <a:xfrm>
            <a:off x="4251960" y="3584448"/>
            <a:ext cx="3657600" cy="1737360"/>
          </a:xfrm>
          <a:prstGeom prst="rect">
            <a:avLst/>
          </a:prstGeom>
          <a:noFill/>
          <a:ln/>
        </p:spPr>
        <p:txBody>
          <a:bodyPr wrap="square" lIns="38100" tIns="38100" rIns="38100" bIns="38100" rtlCol="0" anchor="t"/>
          <a:lstStyle/>
          <a:p>
            <a:pPr marL="342900" indent="-342900">
              <a:spcAft>
                <a:spcPts val="500"/>
              </a:spcAft>
              <a:buSzPct val="100000"/>
              <a:buChar char="▪"/>
            </a:pPr>
            <a:r>
              <a:rPr lang="en-US" sz="950" b="1" dirty="0">
                <a:solidFill>
                  <a:srgbClr val="0B1F44"/>
                </a:solidFill>
                <a:latin typeface="Calibri" pitchFamily="34" charset="0"/>
                <a:ea typeface="Calibri" pitchFamily="34" charset="-122"/>
                <a:cs typeface="Calibri" pitchFamily="34" charset="-120"/>
              </a:rPr>
              <a:t>Capacity-capped:</a:t>
            </a:r>
            <a:r>
              <a:rPr lang="en-US" sz="950" dirty="0">
                <a:solidFill>
                  <a:srgbClr val="404040"/>
                </a:solidFill>
                <a:latin typeface="Calibri" pitchFamily="34" charset="0"/>
                <a:ea typeface="Calibri" pitchFamily="34" charset="-122"/>
                <a:cs typeface="Calibri" pitchFamily="34" charset="-120"/>
              </a:rPr>
              <a:t> heavy work needs core disassembly and test cells. Jakarta (heavy) only adds capacity from 2027</a:t>
            </a:r>
            <a:endParaRPr lang="en-US" sz="950" dirty="0"/>
          </a:p>
          <a:p>
            <a:pPr marL="342900" indent="-342900">
              <a:spcAft>
                <a:spcPts val="500"/>
              </a:spcAft>
              <a:buSzPct val="100000"/>
              <a:buChar char="▪"/>
            </a:pPr>
            <a:r>
              <a:rPr lang="en-US" sz="950" b="1" dirty="0">
                <a:solidFill>
                  <a:srgbClr val="0B1F44"/>
                </a:solidFill>
                <a:latin typeface="Calibri" pitchFamily="34" charset="0"/>
                <a:ea typeface="Calibri" pitchFamily="34" charset="-122"/>
                <a:cs typeface="Calibri" pitchFamily="34" charset="-120"/>
              </a:rPr>
              <a:t>Incentive:</a:t>
            </a:r>
            <a:r>
              <a:rPr lang="en-US" sz="950" dirty="0">
                <a:solidFill>
                  <a:srgbClr val="404040"/>
                </a:solidFill>
                <a:latin typeface="Calibri" pitchFamily="34" charset="0"/>
                <a:ea typeface="Calibri" pitchFamily="34" charset="-122"/>
                <a:cs typeface="Calibri" pitchFamily="34" charset="-120"/>
              </a:rPr>
              <a:t> the purpose was winning airline contracts. UAL is </a:t>
            </a:r>
            <a:r>
              <a:rPr lang="en-US" sz="950" b="1" dirty="0">
                <a:solidFill>
                  <a:srgbClr val="0B1F44"/>
                </a:solidFill>
                <a:latin typeface="Calibri" pitchFamily="34" charset="0"/>
                <a:ea typeface="Calibri" pitchFamily="34" charset="-122"/>
                <a:cs typeface="Calibri" pitchFamily="34" charset="-120"/>
              </a:rPr>
              <a:t>signed</a:t>
            </a:r>
            <a:r>
              <a:rPr lang="en-US" sz="950" dirty="0">
                <a:solidFill>
                  <a:srgbClr val="404040"/>
                </a:solidFill>
                <a:latin typeface="Calibri" pitchFamily="34" charset="0"/>
                <a:ea typeface="Calibri" pitchFamily="34" charset="-122"/>
                <a:cs typeface="Calibri" pitchFamily="34" charset="-120"/>
              </a:rPr>
              <a:t> (V2500, now CFM56-7B MRE); more heavy work adds capital, not customers</a:t>
            </a:r>
            <a:endParaRPr lang="en-US" sz="950" dirty="0"/>
          </a:p>
          <a:p>
            <a:pPr marL="342900" indent="-342900">
              <a:spcAft>
                <a:spcPts val="500"/>
              </a:spcAft>
              <a:buSzPct val="100000"/>
              <a:buChar char="▪"/>
            </a:pPr>
            <a:r>
              <a:rPr lang="en-US" sz="950" b="1" dirty="0">
                <a:solidFill>
                  <a:srgbClr val="0B1F44"/>
                </a:solidFill>
                <a:latin typeface="Calibri" pitchFamily="34" charset="0"/>
                <a:ea typeface="Calibri" pitchFamily="34" charset="-122"/>
                <a:cs typeface="Calibri" pitchFamily="34" charset="-120"/>
              </a:rPr>
              <a:t>Supply-constrained market:</a:t>
            </a:r>
            <a:r>
              <a:rPr lang="en-US" sz="950" dirty="0">
                <a:solidFill>
                  <a:srgbClr val="404040"/>
                </a:solidFill>
                <a:latin typeface="Calibri" pitchFamily="34" charset="0"/>
                <a:ea typeface="Calibri" pitchFamily="34" charset="-122"/>
                <a:cs typeface="Calibri" pitchFamily="34" charset="-120"/>
              </a:rPr>
              <a:t> management says CFM56 is "supply-constrained, not demand-constrained". FTAI can choose its mix</a:t>
            </a:r>
            <a:endParaRPr lang="en-US" sz="950" dirty="0"/>
          </a:p>
        </p:txBody>
      </p:sp>
      <p:sp>
        <p:nvSpPr>
          <p:cNvPr id="16" name="Shape 13"/>
          <p:cNvSpPr/>
          <p:nvPr/>
        </p:nvSpPr>
        <p:spPr>
          <a:xfrm>
            <a:off x="8092440" y="1536192"/>
            <a:ext cx="3685032" cy="292608"/>
          </a:xfrm>
          <a:prstGeom prst="rect">
            <a:avLst/>
          </a:prstGeom>
          <a:solidFill>
            <a:srgbClr val="DCE6F2"/>
          </a:solidFill>
          <a:ln w="9525">
            <a:solidFill>
              <a:srgbClr val="0B1F44"/>
            </a:solidFill>
            <a:prstDash val="solid"/>
          </a:ln>
        </p:spPr>
      </p:sp>
      <p:sp>
        <p:nvSpPr>
          <p:cNvPr id="17" name="Text 14"/>
          <p:cNvSpPr txBox="1"/>
          <p:nvPr/>
        </p:nvSpPr>
        <p:spPr>
          <a:xfrm>
            <a:off x="8092440" y="1536192"/>
            <a:ext cx="368503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Broader-Work Share Only Drifts ~1 pt A Year</a:t>
            </a:r>
            <a:endParaRPr lang="en-US" sz="1200" dirty="0"/>
          </a:p>
        </p:txBody>
      </p:sp>
      <p:graphicFrame>
        <p:nvGraphicFramePr>
          <p:cNvPr id="18" name="Chart 1" descr=""/>
          <p:cNvGraphicFramePr/>
          <p:nvPr/>
        </p:nvGraphicFramePr>
        <p:xfrm>
          <a:off x="8092440" y="1847088"/>
          <a:ext cx="3685032" cy="219456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8092440" y="4114800"/>
            <a:ext cx="3685032" cy="685800"/>
          </a:xfrm>
          <a:prstGeom prst="roundRect">
            <a:avLst>
              <a:gd name="adj" fmla="val 8000"/>
            </a:avLst>
          </a:prstGeom>
          <a:solidFill>
            <a:srgbClr val="FFFFFF"/>
          </a:solidFill>
          <a:ln w="12700">
            <a:solidFill>
              <a:srgbClr val="0B1F44"/>
            </a:solidFill>
            <a:prstDash val="dash"/>
          </a:ln>
        </p:spPr>
      </p:sp>
      <p:sp>
        <p:nvSpPr>
          <p:cNvPr id="20" name="Text 16"/>
          <p:cNvSpPr txBox="1"/>
          <p:nvPr/>
        </p:nvSpPr>
        <p:spPr>
          <a:xfrm>
            <a:off x="8147304" y="4142232"/>
            <a:ext cx="3575304" cy="63093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Even as engines age, the share of visits needing broader work rises only </a:t>
            </a:r>
            <a:r>
              <a:rPr lang="en-US" sz="950" b="1" dirty="0">
                <a:solidFill>
                  <a:srgbClr val="0B1F44"/>
                </a:solidFill>
                <a:latin typeface="Calibri" pitchFamily="34" charset="0"/>
                <a:ea typeface="Calibri" pitchFamily="34" charset="-122"/>
                <a:cs typeface="Calibri" pitchFamily="34" charset="-120"/>
              </a:rPr>
              <a:t>48% → 52%</a:t>
            </a:r>
            <a:r>
              <a:rPr lang="en-US" sz="950" dirty="0">
                <a:solidFill>
                  <a:srgbClr val="404040"/>
                </a:solidFill>
                <a:latin typeface="Calibri" pitchFamily="34" charset="0"/>
                <a:ea typeface="Calibri" pitchFamily="34" charset="-122"/>
                <a:cs typeface="Calibri" pitchFamily="34" charset="-120"/>
              </a:rPr>
              <a:t> by 2030. The step-change already happened in </a:t>
            </a:r>
            <a:r>
              <a:rPr lang="en-US" sz="950" b="1" dirty="0">
                <a:solidFill>
                  <a:srgbClr val="0B1F44"/>
                </a:solidFill>
                <a:latin typeface="Calibri" pitchFamily="34" charset="0"/>
                <a:ea typeface="Calibri" pitchFamily="34" charset="-122"/>
                <a:cs typeface="Calibri" pitchFamily="34" charset="-120"/>
              </a:rPr>
              <a:t>1H26</a:t>
            </a:r>
            <a:r>
              <a:rPr lang="en-US" sz="950" dirty="0">
                <a:solidFill>
                  <a:srgbClr val="404040"/>
                </a:solidFill>
                <a:latin typeface="Calibri" pitchFamily="34" charset="0"/>
                <a:ea typeface="Calibri" pitchFamily="34" charset="-122"/>
                <a:cs typeface="Calibri" pitchFamily="34" charset="-120"/>
              </a:rPr>
              <a:t> as FTAI won airline contracts</a:t>
            </a:r>
            <a:endParaRPr lang="en-US" sz="950" dirty="0"/>
          </a:p>
        </p:txBody>
      </p:sp>
      <p:sp>
        <p:nvSpPr>
          <p:cNvPr id="21" name="Shape 17"/>
          <p:cNvSpPr/>
          <p:nvPr/>
        </p:nvSpPr>
        <p:spPr>
          <a:xfrm>
            <a:off x="8092440" y="4892040"/>
            <a:ext cx="3685032" cy="292608"/>
          </a:xfrm>
          <a:prstGeom prst="rect">
            <a:avLst/>
          </a:prstGeom>
          <a:solidFill>
            <a:srgbClr val="DCE6F2"/>
          </a:solidFill>
          <a:ln w="9525">
            <a:solidFill>
              <a:srgbClr val="0B1F44"/>
            </a:solidFill>
            <a:prstDash val="solid"/>
          </a:ln>
        </p:spPr>
      </p:sp>
      <p:sp>
        <p:nvSpPr>
          <p:cNvPr id="22" name="Text 18"/>
          <p:cNvSpPr txBox="1"/>
          <p:nvPr/>
        </p:nvSpPr>
        <p:spPr>
          <a:xfrm>
            <a:off x="8092440" y="4892040"/>
            <a:ext cx="368503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AP Margin vs Light-Scope Share Of Jobs</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092440" y="5230368"/>
          <a:ext cx="3685032" cy="914400"/>
        </p:xfrm>
        <a:graphic>
          <a:graphicData uri="http://schemas.openxmlformats.org/drawingml/2006/table">
            <a:tbl>
              <a:tblPr/>
              <a:tblGrid>
                <a:gridCol w="941832"/>
                <a:gridCol w="548640"/>
                <a:gridCol w="548640"/>
                <a:gridCol w="548640"/>
                <a:gridCol w="548640"/>
                <a:gridCol w="548640"/>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Light share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60%</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70%</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AP margin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31%</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24" name="Shape 19"/>
          <p:cNvSpPr/>
          <p:nvPr/>
        </p:nvSpPr>
        <p:spPr>
          <a:xfrm>
            <a:off x="4251960" y="5440680"/>
            <a:ext cx="3657600" cy="822960"/>
          </a:xfrm>
          <a:prstGeom prst="rect">
            <a:avLst>
              <a:gd name="adj" fmla="val 6667"/>
            </a:avLst>
          </a:prstGeom>
          <a:solidFill>
            <a:srgbClr val="0B1F44"/>
          </a:solidFill>
          <a:ln w="9525">
            <a:solidFill>
              <a:srgbClr val="0B1F44"/>
            </a:solidFill>
            <a:prstDash val="solid"/>
          </a:ln>
        </p:spPr>
      </p:sp>
      <p:sp>
        <p:nvSpPr>
          <p:cNvPr id="25" name="Text 20"/>
          <p:cNvSpPr txBox="1"/>
          <p:nvPr/>
        </p:nvSpPr>
        <p:spPr>
          <a:xfrm>
            <a:off x="4297680" y="5440680"/>
            <a:ext cx="3566160" cy="822960"/>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Every 10 pts of mix back to light work = +1.5–2 pts margin</a:t>
            </a:r>
            <a:endParaRPr lang="en-US" sz="1100" dirty="0"/>
          </a:p>
        </p:txBody>
      </p:sp>
      <p:sp>
        <p:nvSpPr>
          <p:cNvPr id="26" name="Shape 21"/>
          <p:cNvSpPr/>
          <p:nvPr/>
        </p:nvSpPr>
        <p:spPr>
          <a:xfrm>
            <a:off x="411480" y="4892040"/>
            <a:ext cx="3657600" cy="566928"/>
          </a:xfrm>
          <a:prstGeom prst="rect">
            <a:avLst>
              <a:gd name="adj" fmla="val 9677"/>
            </a:avLst>
          </a:prstGeom>
          <a:solidFill>
            <a:srgbClr val="DCE6F2"/>
          </a:solidFill>
          <a:ln w="9525">
            <a:solidFill>
              <a:srgbClr val="DCE6F2"/>
            </a:solidFill>
            <a:prstDash val="solid"/>
          </a:ln>
        </p:spPr>
      </p:sp>
      <p:sp>
        <p:nvSpPr>
          <p:cNvPr id="27" name="Text 22"/>
          <p:cNvSpPr txBox="1"/>
          <p:nvPr/>
        </p:nvSpPr>
        <p:spPr>
          <a:xfrm>
            <a:off x="457200" y="4892040"/>
            <a:ext cx="3566160" cy="56692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Our base case holds ~30% through FY27: no mix recovery assumed</a:t>
            </a:r>
            <a:endParaRPr lang="en-US" sz="1000" dirty="0"/>
          </a:p>
        </p:txBody>
      </p:sp>
      <p:sp>
        <p:nvSpPr>
          <p:cNvPr id="28" name="Text 23"/>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Q1'26 and Q2'26 calls; United / FTAI release (8-Oct-26); OEM cohort data (CFM56 fleet by completed shop visits);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1 (3/4): PMA Gets In Through FTAI's Own Fleet</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The Market Prices ~0% PMA Because Lessors Object; At SCI, FTAI Is The Lessor</a:t>
            </a:r>
            <a:endParaRPr lang="en-US" sz="1500" dirty="0"/>
          </a:p>
        </p:txBody>
      </p:sp>
      <p:sp>
        <p:nvSpPr>
          <p:cNvPr id="5" name="Shape 3"/>
          <p:cNvSpPr/>
          <p:nvPr/>
        </p:nvSpPr>
        <p:spPr>
          <a:xfrm>
            <a:off x="411480" y="1536192"/>
            <a:ext cx="365760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The Street's Objection</a:t>
            </a:r>
            <a:endParaRPr lang="en-US" sz="1200" dirty="0"/>
          </a:p>
        </p:txBody>
      </p:sp>
      <p:sp>
        <p:nvSpPr>
          <p:cNvPr id="7" name="Text 5"/>
          <p:cNvSpPr txBox="1"/>
          <p:nvPr/>
        </p:nvSpPr>
        <p:spPr>
          <a:xfrm>
            <a:off x="411480" y="1874520"/>
            <a:ext cx="3657600" cy="1554480"/>
          </a:xfrm>
          <a:prstGeom prst="rect">
            <a:avLst/>
          </a:prstGeom>
          <a:noFill/>
          <a:ln/>
        </p:spPr>
        <p:txBody>
          <a:bodyPr wrap="square" lIns="38100" tIns="38100" rIns="38100" bIns="38100" rtlCol="0" anchor="t"/>
          <a:lstStyle/>
          <a:p>
            <a:pPr marL="342900" indent="-342900">
              <a:spcAft>
                <a:spcPts val="500"/>
              </a:spcAft>
              <a:buSzPct val="100000"/>
              <a:buChar char="▪"/>
            </a:pPr>
            <a:r>
              <a:rPr lang="en-US" sz="950" b="1" dirty="0">
                <a:solidFill>
                  <a:srgbClr val="0B1F44"/>
                </a:solidFill>
                <a:latin typeface="Calibri" pitchFamily="34" charset="0"/>
                <a:ea typeface="Calibri" pitchFamily="34" charset="-122"/>
                <a:cs typeface="Calibri" pitchFamily="34" charset="-120"/>
              </a:rPr>
              <a:t>Lessor resistance:</a:t>
            </a:r>
            <a:r>
              <a:rPr lang="en-US" sz="950" dirty="0">
                <a:solidFill>
                  <a:srgbClr val="404040"/>
                </a:solidFill>
                <a:latin typeface="Calibri" pitchFamily="34" charset="0"/>
                <a:ea typeface="Calibri" pitchFamily="34" charset="-122"/>
                <a:cs typeface="Calibri" pitchFamily="34" charset="-120"/>
              </a:rPr>
              <a:t> PMA parts can hurt asset conformity, residual values and return conditions</a:t>
            </a:r>
            <a:endParaRPr lang="en-US" sz="950" dirty="0"/>
          </a:p>
          <a:p>
            <a:pPr marL="342900" indent="-342900">
              <a:spcAft>
                <a:spcPts val="500"/>
              </a:spcAft>
              <a:buSzPct val="100000"/>
              <a:buChar char="▪"/>
            </a:pPr>
            <a:r>
              <a:rPr lang="en-US" sz="950" b="1" dirty="0">
                <a:solidFill>
                  <a:srgbClr val="0B1F44"/>
                </a:solidFill>
                <a:latin typeface="Calibri" pitchFamily="34" charset="0"/>
                <a:ea typeface="Calibri" pitchFamily="34" charset="-122"/>
                <a:cs typeface="Calibri" pitchFamily="34" charset="-120"/>
              </a:rPr>
              <a:t>Supply chain:</a:t>
            </a:r>
            <a:r>
              <a:rPr lang="en-US" sz="950" dirty="0">
                <a:solidFill>
                  <a:srgbClr val="404040"/>
                </a:solidFill>
                <a:latin typeface="Calibri" pitchFamily="34" charset="0"/>
                <a:ea typeface="Calibri" pitchFamily="34" charset="-122"/>
                <a:cs typeface="Calibri" pitchFamily="34" charset="-120"/>
              </a:rPr>
              <a:t> Chromalloy's 2025 output sold out; LPT blades not yet approved</a:t>
            </a:r>
            <a:endParaRPr lang="en-US" sz="950" dirty="0"/>
          </a:p>
          <a:p>
            <a:pPr marL="342900" indent="-342900">
              <a:spcAft>
                <a:spcPts val="500"/>
              </a:spcAft>
              <a:buSzPct val="100000"/>
              <a:buChar char="▪"/>
            </a:pPr>
            <a:r>
              <a:rPr lang="en-US" sz="950" b="1" dirty="0">
                <a:solidFill>
                  <a:srgbClr val="0B1F44"/>
                </a:solidFill>
                <a:latin typeface="Calibri" pitchFamily="34" charset="0"/>
                <a:ea typeface="Calibri" pitchFamily="34" charset="-122"/>
                <a:cs typeface="Calibri" pitchFamily="34" charset="-120"/>
              </a:rPr>
              <a:t>Result:</a:t>
            </a:r>
            <a:r>
              <a:rPr lang="en-US" sz="950" dirty="0">
                <a:solidFill>
                  <a:srgbClr val="404040"/>
                </a:solidFill>
                <a:latin typeface="Calibri" pitchFamily="34" charset="0"/>
                <a:ea typeface="Calibri" pitchFamily="34" charset="-122"/>
                <a:cs typeface="Calibri" pitchFamily="34" charset="-120"/>
              </a:rPr>
              <a:t> consensus gives PMA almost no value; our base case uses only </a:t>
            </a:r>
            <a:r>
              <a:rPr lang="en-US" sz="950" b="1" dirty="0">
                <a:solidFill>
                  <a:srgbClr val="0B1F44"/>
                </a:solidFill>
                <a:latin typeface="Calibri" pitchFamily="34" charset="0"/>
                <a:ea typeface="Calibri" pitchFamily="34" charset="-122"/>
                <a:cs typeface="Calibri" pitchFamily="34" charset="-120"/>
              </a:rPr>
              <a:t>0.9% → 9%</a:t>
            </a:r>
            <a:r>
              <a:rPr lang="en-US" sz="950" dirty="0">
                <a:solidFill>
                  <a:srgbClr val="404040"/>
                </a:solidFill>
                <a:latin typeface="Calibri" pitchFamily="34" charset="0"/>
                <a:ea typeface="Calibri" pitchFamily="34" charset="-122"/>
                <a:cs typeface="Calibri" pitchFamily="34" charset="-120"/>
              </a:rPr>
              <a:t> penetration</a:t>
            </a:r>
            <a:endParaRPr lang="en-US" sz="950" dirty="0"/>
          </a:p>
        </p:txBody>
      </p:sp>
      <p:sp>
        <p:nvSpPr>
          <p:cNvPr id="8" name="Shape 6"/>
          <p:cNvSpPr/>
          <p:nvPr/>
        </p:nvSpPr>
        <p:spPr>
          <a:xfrm>
            <a:off x="411480" y="3474720"/>
            <a:ext cx="3657600" cy="292608"/>
          </a:xfrm>
          <a:prstGeom prst="rect">
            <a:avLst/>
          </a:prstGeom>
          <a:solidFill>
            <a:srgbClr val="DCE6F2"/>
          </a:solidFill>
          <a:ln w="9525">
            <a:solidFill>
              <a:srgbClr val="0B1F44"/>
            </a:solidFill>
            <a:prstDash val="solid"/>
          </a:ln>
        </p:spPr>
      </p:sp>
      <p:sp>
        <p:nvSpPr>
          <p:cNvPr id="9" name="Text 7"/>
          <p:cNvSpPr txBox="1"/>
          <p:nvPr/>
        </p:nvSpPr>
        <p:spPr>
          <a:xfrm>
            <a:off x="411480" y="3474720"/>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What's Already Approved (Chromalloy)</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11480" y="3794760"/>
          <a:ext cx="3657600" cy="914400"/>
        </p:xfrm>
        <a:graphic>
          <a:graphicData uri="http://schemas.openxmlformats.org/drawingml/2006/table">
            <a:tbl>
              <a:tblPr/>
              <a:tblGrid>
                <a:gridCol w="2194560"/>
                <a:gridCol w="1463040"/>
              </a:tblGrid>
              <a:tr h="265176">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HPT stage 1 vane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Approved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LPT stage 1 NGV</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Approved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HPT blade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Approved (Oct-25)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LPT stage 1 &amp; 2 blades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Pending</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11" name="Shape 8"/>
          <p:cNvSpPr/>
          <p:nvPr/>
        </p:nvSpPr>
        <p:spPr>
          <a:xfrm>
            <a:off x="411480" y="5212080"/>
            <a:ext cx="3657600" cy="822960"/>
          </a:xfrm>
          <a:prstGeom prst="roundRect">
            <a:avLst>
              <a:gd name="adj" fmla="val 6667"/>
            </a:avLst>
          </a:prstGeom>
          <a:solidFill>
            <a:srgbClr val="FFFFFF"/>
          </a:solidFill>
          <a:ln w="12700">
            <a:solidFill>
              <a:srgbClr val="0B1F44"/>
            </a:solidFill>
            <a:prstDash val="dash"/>
          </a:ln>
        </p:spPr>
      </p:sp>
      <p:sp>
        <p:nvSpPr>
          <p:cNvPr id="12" name="Text 9"/>
          <p:cNvSpPr txBox="1"/>
          <p:nvPr/>
        </p:nvSpPr>
        <p:spPr>
          <a:xfrm>
            <a:off x="466344" y="5239512"/>
            <a:ext cx="3547872" cy="76809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Chromalloy's CEO: </a:t>
            </a:r>
            <a:r>
              <a:rPr lang="en-US" sz="950" b="1" dirty="0">
                <a:solidFill>
                  <a:srgbClr val="0B1F44"/>
                </a:solidFill>
                <a:latin typeface="Calibri" pitchFamily="34" charset="0"/>
                <a:ea typeface="Calibri" pitchFamily="34" charset="-122"/>
                <a:cs typeface="Calibri" pitchFamily="34" charset="-120"/>
              </a:rPr>
              <a:t>"80% of the savings will come from the first three parts"</a:t>
            </a:r>
            <a:r>
              <a:rPr lang="en-US" sz="950" dirty="0">
                <a:solidFill>
                  <a:srgbClr val="404040"/>
                </a:solidFill>
                <a:latin typeface="Calibri" pitchFamily="34" charset="0"/>
                <a:ea typeface="Calibri" pitchFamily="34" charset="-122"/>
                <a:cs typeface="Calibri" pitchFamily="34" charset="-120"/>
              </a:rPr>
              <a:t>, and all three are approved. In Apr-26 a US airline adopted the HPT blade</a:t>
            </a:r>
            <a:endParaRPr lang="en-US" sz="950" dirty="0"/>
          </a:p>
        </p:txBody>
      </p:sp>
      <p:sp>
        <p:nvSpPr>
          <p:cNvPr id="13" name="Shape 10"/>
          <p:cNvSpPr/>
          <p:nvPr/>
        </p:nvSpPr>
        <p:spPr>
          <a:xfrm>
            <a:off x="4251960" y="1536192"/>
            <a:ext cx="3657600" cy="292608"/>
          </a:xfrm>
          <a:prstGeom prst="rect">
            <a:avLst/>
          </a:prstGeom>
          <a:solidFill>
            <a:srgbClr val="DCE6F2"/>
          </a:solidFill>
          <a:ln w="9525">
            <a:solidFill>
              <a:srgbClr val="0B1F44"/>
            </a:solidFill>
            <a:prstDash val="solid"/>
          </a:ln>
        </p:spPr>
      </p:sp>
      <p:sp>
        <p:nvSpPr>
          <p:cNvPr id="14" name="Text 11"/>
          <p:cNvSpPr txBox="1"/>
          <p:nvPr/>
        </p:nvSpPr>
        <p:spPr>
          <a:xfrm>
            <a:off x="425196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SCI Is A Growing Share Of FTAI's Modules</a:t>
            </a:r>
            <a:endParaRPr lang="en-US" sz="1200" dirty="0"/>
          </a:p>
        </p:txBody>
      </p:sp>
      <p:graphicFrame>
        <p:nvGraphicFramePr>
          <p:cNvPr id="15" name="Chart 0" descr=""/>
          <p:cNvGraphicFramePr/>
          <p:nvPr/>
        </p:nvGraphicFramePr>
        <p:xfrm>
          <a:off x="4251960" y="1847088"/>
          <a:ext cx="3657600" cy="233172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4251960" y="4251960"/>
            <a:ext cx="3657600" cy="914400"/>
          </a:xfrm>
          <a:prstGeom prst="roundRect">
            <a:avLst>
              <a:gd name="adj" fmla="val 6000"/>
            </a:avLst>
          </a:prstGeom>
          <a:solidFill>
            <a:srgbClr val="FFFFFF"/>
          </a:solidFill>
          <a:ln w="12700">
            <a:solidFill>
              <a:srgbClr val="0B1F44"/>
            </a:solidFill>
            <a:prstDash val="dash"/>
          </a:ln>
        </p:spPr>
      </p:sp>
      <p:sp>
        <p:nvSpPr>
          <p:cNvPr id="17" name="Text 13"/>
          <p:cNvSpPr txBox="1"/>
          <p:nvPr/>
        </p:nvSpPr>
        <p:spPr>
          <a:xfrm>
            <a:off x="4306824" y="4279392"/>
            <a:ext cx="3547872" cy="85953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SCI owns the aircraft and sends </a:t>
            </a:r>
            <a:r>
              <a:rPr lang="en-US" sz="950" b="1" dirty="0">
                <a:solidFill>
                  <a:srgbClr val="0B1F44"/>
                </a:solidFill>
                <a:latin typeface="Calibri" pitchFamily="34" charset="0"/>
                <a:ea typeface="Calibri" pitchFamily="34" charset="-122"/>
                <a:cs typeface="Calibri" pitchFamily="34" charset="-120"/>
              </a:rPr>
              <a:t>all engine work to FTAI</a:t>
            </a:r>
            <a:r>
              <a:rPr lang="en-US" sz="950" dirty="0">
                <a:solidFill>
                  <a:srgbClr val="404040"/>
                </a:solidFill>
                <a:latin typeface="Calibri" pitchFamily="34" charset="0"/>
                <a:ea typeface="Calibri" pitchFamily="34" charset="-122"/>
                <a:cs typeface="Calibri" pitchFamily="34" charset="-120"/>
              </a:rPr>
              <a:t>. SCI rises from </a:t>
            </a:r>
            <a:r>
              <a:rPr lang="en-US" sz="950" b="1" dirty="0">
                <a:solidFill>
                  <a:srgbClr val="0B1F44"/>
                </a:solidFill>
                <a:latin typeface="Calibri" pitchFamily="34" charset="0"/>
                <a:ea typeface="Calibri" pitchFamily="34" charset="-122"/>
                <a:cs typeface="Calibri" pitchFamily="34" charset="-120"/>
              </a:rPr>
              <a:t>11% to ~40%</a:t>
            </a:r>
            <a:r>
              <a:rPr lang="en-US" sz="950" dirty="0">
                <a:solidFill>
                  <a:srgbClr val="404040"/>
                </a:solidFill>
                <a:latin typeface="Calibri" pitchFamily="34" charset="0"/>
                <a:ea typeface="Calibri" pitchFamily="34" charset="-122"/>
                <a:cs typeface="Calibri" pitchFamily="34" charset="-120"/>
              </a:rPr>
              <a:t> of modules (130 → 700 aircraft); FTAI sponsors and services the fund, so it </a:t>
            </a:r>
            <a:r>
              <a:rPr lang="en-US" sz="950" b="1" dirty="0">
                <a:solidFill>
                  <a:srgbClr val="0B1F44"/>
                </a:solidFill>
                <a:latin typeface="Calibri" pitchFamily="34" charset="0"/>
                <a:ea typeface="Calibri" pitchFamily="34" charset="-122"/>
                <a:cs typeface="Calibri" pitchFamily="34" charset="-120"/>
              </a:rPr>
              <a:t>sets the parts policy</a:t>
            </a:r>
            <a:endParaRPr lang="en-US" sz="950" dirty="0"/>
          </a:p>
        </p:txBody>
      </p:sp>
      <p:sp>
        <p:nvSpPr>
          <p:cNvPr id="18" name="Shape 14"/>
          <p:cNvSpPr/>
          <p:nvPr/>
        </p:nvSpPr>
        <p:spPr>
          <a:xfrm>
            <a:off x="4251960" y="5257800"/>
            <a:ext cx="3657600" cy="777240"/>
          </a:xfrm>
          <a:prstGeom prst="rect">
            <a:avLst>
              <a:gd name="adj" fmla="val 7059"/>
            </a:avLst>
          </a:prstGeom>
          <a:solidFill>
            <a:srgbClr val="DCE6F2"/>
          </a:solidFill>
          <a:ln w="9525">
            <a:solidFill>
              <a:srgbClr val="DCE6F2"/>
            </a:solidFill>
            <a:prstDash val="solid"/>
          </a:ln>
        </p:spPr>
      </p:sp>
      <p:sp>
        <p:nvSpPr>
          <p:cNvPr id="19" name="Text 15"/>
          <p:cNvSpPr txBox="1"/>
          <p:nvPr/>
        </p:nvSpPr>
        <p:spPr>
          <a:xfrm>
            <a:off x="4297680" y="5257800"/>
            <a:ext cx="3566160" cy="777240"/>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Diligence item:</a:t>
            </a:r>
            <a:r>
              <a:rPr lang="en-US" sz="950" dirty="0">
                <a:solidFill>
                  <a:srgbClr val="404040"/>
                </a:solidFill>
                <a:latin typeface="Calibri" pitchFamily="34" charset="0"/>
                <a:ea typeface="Calibri" pitchFamily="34" charset="-122"/>
                <a:cs typeface="Calibri" pitchFamily="34" charset="-120"/>
              </a:rPr>
              <a:t> confirm SCI's LP and lender terms allow PMA (no public disclosure either way)</a:t>
            </a:r>
            <a:endParaRPr lang="en-US" sz="950" dirty="0"/>
          </a:p>
        </p:txBody>
      </p:sp>
      <p:sp>
        <p:nvSpPr>
          <p:cNvPr id="20" name="Shape 16"/>
          <p:cNvSpPr/>
          <p:nvPr/>
        </p:nvSpPr>
        <p:spPr>
          <a:xfrm>
            <a:off x="8092440" y="1536192"/>
            <a:ext cx="3685032" cy="292608"/>
          </a:xfrm>
          <a:prstGeom prst="rect">
            <a:avLst/>
          </a:prstGeom>
          <a:solidFill>
            <a:srgbClr val="DCE6F2"/>
          </a:solidFill>
          <a:ln w="9525">
            <a:solidFill>
              <a:srgbClr val="0B1F44"/>
            </a:solidFill>
            <a:prstDash val="solid"/>
          </a:ln>
        </p:spPr>
      </p:sp>
      <p:sp>
        <p:nvSpPr>
          <p:cNvPr id="21" name="Text 17"/>
          <p:cNvSpPr txBox="1"/>
          <p:nvPr/>
        </p:nvSpPr>
        <p:spPr>
          <a:xfrm>
            <a:off x="8092440" y="1536192"/>
            <a:ext cx="368503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PMA EBITDA Uplift: Base vs SCI-Led ($M)</a:t>
            </a:r>
            <a:endParaRPr lang="en-US" sz="1200" dirty="0"/>
          </a:p>
        </p:txBody>
      </p:sp>
      <p:graphicFrame>
        <p:nvGraphicFramePr>
          <p:cNvPr id="22" name="Chart 1" descr=""/>
          <p:cNvGraphicFramePr/>
          <p:nvPr/>
        </p:nvGraphicFramePr>
        <p:xfrm>
          <a:off x="8092440" y="1847088"/>
          <a:ext cx="3685032" cy="2331720"/>
        </p:xfrm>
        <a:graphic xmlns:a="http://schemas.openxmlformats.org/drawingml/2006/main">
          <a:graphicData uri="http://schemas.openxmlformats.org/drawingml/2006/chart">
            <c:chart xmlns:c="http://schemas.openxmlformats.org/drawingml/2006/chart" r:id="rId2"/>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8092440" y="4251960"/>
          <a:ext cx="3685032" cy="914400"/>
        </p:xfrm>
        <a:graphic>
          <a:graphicData uri="http://schemas.openxmlformats.org/drawingml/2006/table">
            <a:tbl>
              <a:tblPr/>
              <a:tblGrid>
                <a:gridCol w="1856232"/>
                <a:gridCol w="914400"/>
                <a:gridCol w="914400"/>
              </a:tblGrid>
              <a:tr h="246888">
                <a:tc>
                  <a:txBody>
                    <a:bodyPr/>
                    <a:lstStyle/>
                    <a:p>
                      <a:pPr algn="ctr" indent="0" marL="0">
                        <a:buNone/>
                      </a:pP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Base</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SCI-led</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46888">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Uplift per PMA module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$0.4M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$0.4M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FY28E AP margin uplift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+0.4 pts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+2.1 pts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46888">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FY28E value at 16x / share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24" name="Shape 18"/>
          <p:cNvSpPr/>
          <p:nvPr/>
        </p:nvSpPr>
        <p:spPr>
          <a:xfrm>
            <a:off x="8092440" y="5440680"/>
            <a:ext cx="3685032" cy="685800"/>
          </a:xfrm>
          <a:prstGeom prst="rect">
            <a:avLst>
              <a:gd name="adj" fmla="val 8000"/>
            </a:avLst>
          </a:prstGeom>
          <a:solidFill>
            <a:srgbClr val="0B1F44"/>
          </a:solidFill>
          <a:ln w="9525">
            <a:solidFill>
              <a:srgbClr val="0B1F44"/>
            </a:solidFill>
            <a:prstDash val="solid"/>
          </a:ln>
        </p:spPr>
      </p:sp>
      <p:sp>
        <p:nvSpPr>
          <p:cNvPr id="25" name="Text 19"/>
          <p:cNvSpPr txBox="1"/>
          <p:nvPr/>
        </p:nvSpPr>
        <p:spPr>
          <a:xfrm>
            <a:off x="8138160" y="5440680"/>
            <a:ext cx="3593592" cy="685800"/>
          </a:xfrm>
          <a:prstGeom prst="rect">
            <a:avLst/>
          </a:prstGeom>
          <a:noFill/>
          <a:ln/>
        </p:spPr>
        <p:txBody>
          <a:bodyPr wrap="square" lIns="38100" tIns="38100" rIns="38100" bIns="381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SCI alone can take AP margin back above 32% without a single outside lessor signing up</a:t>
            </a:r>
            <a:endParaRPr lang="en-US" sz="1050" dirty="0"/>
          </a:p>
        </p:txBody>
      </p:sp>
      <p:sp>
        <p:nvSpPr>
          <p:cNvPr id="26" name="Text 20"/>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Chromalloy / FAA PMA releases; Aviation Week; AviTrader (May-26); FTAI 10-K (SCI); GPS model (PMA uplift $0.4M per module; SCI modules from RPM build)</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1 (4/4): Two Stable Prints Re-Rate The Trough</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Price Catch-Up Plus PMA Rebuild Margins To 32.5%; The Market Only Needs To See ~30% Hold</a:t>
            </a:r>
            <a:endParaRPr lang="en-US" sz="15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Aerospace Margin: Trough, Then Rebuild (Base Case)</a:t>
            </a:r>
            <a:endParaRPr lang="en-US" sz="1200" dirty="0"/>
          </a:p>
        </p:txBody>
      </p:sp>
      <p:graphicFrame>
        <p:nvGraphicFramePr>
          <p:cNvPr id="7" name="Chart 0" descr=""/>
          <p:cNvGraphicFramePr/>
          <p:nvPr/>
        </p:nvGraphicFramePr>
        <p:xfrm>
          <a:off x="411480" y="1847088"/>
          <a:ext cx="5577840" cy="23774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11480" y="4297680"/>
            <a:ext cx="5577840" cy="292608"/>
          </a:xfrm>
          <a:prstGeom prst="rect">
            <a:avLst/>
          </a:prstGeom>
          <a:solidFill>
            <a:srgbClr val="DCE6F2"/>
          </a:solidFill>
          <a:ln w="9525">
            <a:solidFill>
              <a:srgbClr val="0B1F44"/>
            </a:solidFill>
            <a:prstDash val="solid"/>
          </a:ln>
        </p:spPr>
      </p:sp>
      <p:sp>
        <p:nvSpPr>
          <p:cNvPr id="9" name="Text 6"/>
          <p:cNvSpPr txBox="1"/>
          <p:nvPr/>
        </p:nvSpPr>
        <p:spPr>
          <a:xfrm>
            <a:off x="411480" y="429768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Bridge FY27E → FY31E</a:t>
            </a:r>
            <a:endParaRPr lang="en-US" sz="1200" dirty="0"/>
          </a:p>
        </p:txBody>
      </p:sp>
      <p:graphicFrame>
        <p:nvGraphicFramePr>
          <p:cNvPr id="10" name="Chart 1" descr=""/>
          <p:cNvGraphicFramePr/>
          <p:nvPr/>
        </p:nvGraphicFramePr>
        <p:xfrm>
          <a:off x="411480" y="4617720"/>
          <a:ext cx="5577840" cy="173736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685800" y="4617720"/>
            <a:ext cx="82296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29.9%</a:t>
            </a:r>
            <a:endParaRPr lang="en-US" sz="900" dirty="0"/>
          </a:p>
        </p:txBody>
      </p:sp>
      <p:sp>
        <p:nvSpPr>
          <p:cNvPr id="12" name="Text 8"/>
          <p:cNvSpPr txBox="1"/>
          <p:nvPr/>
        </p:nvSpPr>
        <p:spPr>
          <a:xfrm>
            <a:off x="2029968" y="4617720"/>
            <a:ext cx="82296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+1.6</a:t>
            </a:r>
            <a:endParaRPr lang="en-US" sz="900" dirty="0"/>
          </a:p>
        </p:txBody>
      </p:sp>
      <p:sp>
        <p:nvSpPr>
          <p:cNvPr id="13" name="Text 9"/>
          <p:cNvSpPr txBox="1"/>
          <p:nvPr/>
        </p:nvSpPr>
        <p:spPr>
          <a:xfrm>
            <a:off x="3364992" y="4617720"/>
            <a:ext cx="82296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+1.0</a:t>
            </a:r>
            <a:endParaRPr lang="en-US" sz="900" dirty="0"/>
          </a:p>
        </p:txBody>
      </p:sp>
      <p:sp>
        <p:nvSpPr>
          <p:cNvPr id="14" name="Text 10"/>
          <p:cNvSpPr txBox="1"/>
          <p:nvPr/>
        </p:nvSpPr>
        <p:spPr>
          <a:xfrm>
            <a:off x="4709160" y="4617720"/>
            <a:ext cx="82296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32.5%</a:t>
            </a:r>
            <a:endParaRPr lang="en-US" sz="900" dirty="0"/>
          </a:p>
        </p:txBody>
      </p:sp>
      <p:sp>
        <p:nvSpPr>
          <p:cNvPr id="15" name="Shape 11"/>
          <p:cNvSpPr/>
          <p:nvPr/>
        </p:nvSpPr>
        <p:spPr>
          <a:xfrm>
            <a:off x="6199632" y="1536192"/>
            <a:ext cx="5577840" cy="292608"/>
          </a:xfrm>
          <a:prstGeom prst="rect">
            <a:avLst/>
          </a:prstGeom>
          <a:solidFill>
            <a:srgbClr val="DCE6F2"/>
          </a:solidFill>
          <a:ln w="9525">
            <a:solidFill>
              <a:srgbClr val="0B1F44"/>
            </a:solidFill>
            <a:prstDash val="solid"/>
          </a:ln>
        </p:spPr>
      </p:sp>
      <p:sp>
        <p:nvSpPr>
          <p:cNvPr id="16" name="Text 12"/>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Pricing Headroom</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199632" y="1874520"/>
          <a:ext cx="5577840" cy="914400"/>
        </p:xfrm>
        <a:graphic>
          <a:graphicData uri="http://schemas.openxmlformats.org/drawingml/2006/table">
            <a:tbl>
              <a:tblPr/>
              <a:tblGrid>
                <a:gridCol w="1737360"/>
                <a:gridCol w="1188720"/>
                <a:gridCol w="1097280"/>
                <a:gridCol w="1554480"/>
              </a:tblGrid>
              <a:tr h="265176">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Catalogue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Matched parts</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Median Δ</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Higher / Lower</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CFM56-5B 2024→25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1,342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6.2%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1,338 / 1</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CFM56-5B 2025→26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1,070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6.2%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1,057 / 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CFM56-7B 2025→26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992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6.1%</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981 / 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18" name="Shape 13"/>
          <p:cNvSpPr/>
          <p:nvPr/>
        </p:nvSpPr>
        <p:spPr>
          <a:xfrm>
            <a:off x="6199632" y="2971800"/>
            <a:ext cx="5577840" cy="731520"/>
          </a:xfrm>
          <a:prstGeom prst="roundRect">
            <a:avLst>
              <a:gd name="adj" fmla="val 7500"/>
            </a:avLst>
          </a:prstGeom>
          <a:solidFill>
            <a:srgbClr val="FFFFFF"/>
          </a:solidFill>
          <a:ln w="12700">
            <a:solidFill>
              <a:srgbClr val="0B1F44"/>
            </a:solidFill>
            <a:prstDash val="dash"/>
          </a:ln>
        </p:spPr>
      </p:sp>
      <p:sp>
        <p:nvSpPr>
          <p:cNvPr id="19" name="Text 14"/>
          <p:cNvSpPr txBox="1"/>
          <p:nvPr/>
        </p:nvSpPr>
        <p:spPr>
          <a:xfrm>
            <a:off x="6254496" y="2999232"/>
            <a:ext cx="5468112" cy="67665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Third-party repair prices rise </a:t>
            </a:r>
            <a:r>
              <a:rPr lang="en-US" sz="950" b="1" dirty="0">
                <a:solidFill>
                  <a:srgbClr val="0B1F44"/>
                </a:solidFill>
                <a:latin typeface="Calibri" pitchFamily="34" charset="0"/>
                <a:ea typeface="Calibri" pitchFamily="34" charset="-122"/>
                <a:cs typeface="Calibri" pitchFamily="34" charset="-120"/>
              </a:rPr>
              <a:t>~6% a year</a:t>
            </a:r>
            <a:r>
              <a:rPr lang="en-US" sz="950" dirty="0">
                <a:solidFill>
                  <a:srgbClr val="404040"/>
                </a:solidFill>
                <a:latin typeface="Calibri" pitchFamily="34" charset="0"/>
                <a:ea typeface="Calibri" pitchFamily="34" charset="-122"/>
                <a:cs typeface="Calibri" pitchFamily="34" charset="-120"/>
              </a:rPr>
              <a:t> with almost none falling. FTAI held price to win share; we assume it passes through </a:t>
            </a:r>
            <a:r>
              <a:rPr lang="en-US" sz="950" b="1" dirty="0">
                <a:solidFill>
                  <a:srgbClr val="0B1F44"/>
                </a:solidFill>
                <a:latin typeface="Calibri" pitchFamily="34" charset="0"/>
                <a:ea typeface="Calibri" pitchFamily="34" charset="-122"/>
                <a:cs typeface="Calibri" pitchFamily="34" charset="-120"/>
              </a:rPr>
              <a:t>half</a:t>
            </a:r>
            <a:r>
              <a:rPr lang="en-US" sz="950" dirty="0">
                <a:solidFill>
                  <a:srgbClr val="404040"/>
                </a:solidFill>
                <a:latin typeface="Calibri" pitchFamily="34" charset="0"/>
                <a:ea typeface="Calibri" pitchFamily="34" charset="-122"/>
                <a:cs typeface="Calibri" pitchFamily="34" charset="-120"/>
              </a:rPr>
              <a:t> of the escalator from FY28, lifting </a:t>
            </a:r>
            <a:r>
              <a:rPr lang="en-US" sz="950" b="1" dirty="0">
                <a:solidFill>
                  <a:srgbClr val="0B1F44"/>
                </a:solidFill>
                <a:latin typeface="Calibri" pitchFamily="34" charset="0"/>
                <a:ea typeface="Calibri" pitchFamily="34" charset="-122"/>
                <a:cs typeface="Calibri" pitchFamily="34" charset="-120"/>
              </a:rPr>
              <a:t>EBITDA per module from $0.91M to $1.14M</a:t>
            </a:r>
            <a:endParaRPr lang="en-US" sz="950" dirty="0"/>
          </a:p>
        </p:txBody>
      </p:sp>
      <p:sp>
        <p:nvSpPr>
          <p:cNvPr id="20" name="Shape 15"/>
          <p:cNvSpPr/>
          <p:nvPr/>
        </p:nvSpPr>
        <p:spPr>
          <a:xfrm>
            <a:off x="6199632" y="3794760"/>
            <a:ext cx="5577840" cy="292608"/>
          </a:xfrm>
          <a:prstGeom prst="rect">
            <a:avLst/>
          </a:prstGeom>
          <a:solidFill>
            <a:srgbClr val="DCE6F2"/>
          </a:solidFill>
          <a:ln w="9525">
            <a:solidFill>
              <a:srgbClr val="0B1F44"/>
            </a:solidFill>
            <a:prstDash val="solid"/>
          </a:ln>
        </p:spPr>
      </p:sp>
      <p:sp>
        <p:nvSpPr>
          <p:cNvPr id="21" name="Text 16"/>
          <p:cNvSpPr txBox="1"/>
          <p:nvPr/>
        </p:nvSpPr>
        <p:spPr>
          <a:xfrm>
            <a:off x="6199632" y="379476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Catalyst: The Next Two Prints</a:t>
            </a:r>
            <a:endParaRPr lang="en-US" sz="1200" dirty="0"/>
          </a:p>
        </p:txBody>
      </p:sp>
      <p:sp>
        <p:nvSpPr>
          <p:cNvPr id="22" name="Shape 17"/>
          <p:cNvSpPr/>
          <p:nvPr/>
        </p:nvSpPr>
        <p:spPr>
          <a:xfrm>
            <a:off x="6199632" y="4133088"/>
            <a:ext cx="1600200" cy="493776"/>
          </a:xfrm>
          <a:prstGeom prst="rect">
            <a:avLst>
              <a:gd name="adj" fmla="val 11111"/>
            </a:avLst>
          </a:prstGeom>
          <a:solidFill>
            <a:srgbClr val="0B1F44"/>
          </a:solidFill>
          <a:ln w="9525">
            <a:solidFill>
              <a:srgbClr val="0B1F44"/>
            </a:solidFill>
            <a:prstDash val="solid"/>
          </a:ln>
        </p:spPr>
      </p:sp>
      <p:sp>
        <p:nvSpPr>
          <p:cNvPr id="23" name="Text 18"/>
          <p:cNvSpPr txBox="1"/>
          <p:nvPr/>
        </p:nvSpPr>
        <p:spPr>
          <a:xfrm>
            <a:off x="6245352" y="4133088"/>
            <a:ext cx="1508760" cy="493776"/>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Q3'26 (29-Oct)</a:t>
            </a:r>
            <a:endParaRPr lang="en-US" sz="950" dirty="0"/>
          </a:p>
        </p:txBody>
      </p:sp>
      <p:sp>
        <p:nvSpPr>
          <p:cNvPr id="24" name="Shape 19"/>
          <p:cNvSpPr/>
          <p:nvPr/>
        </p:nvSpPr>
        <p:spPr>
          <a:xfrm>
            <a:off x="7863840" y="4133088"/>
            <a:ext cx="3913632" cy="493776"/>
          </a:xfrm>
          <a:prstGeom prst="roundRect">
            <a:avLst>
              <a:gd name="adj" fmla="val 11111"/>
            </a:avLst>
          </a:prstGeom>
          <a:solidFill>
            <a:srgbClr val="FFFFFF"/>
          </a:solidFill>
          <a:ln w="12700">
            <a:solidFill>
              <a:srgbClr val="0B1F44"/>
            </a:solidFill>
            <a:prstDash val="dash"/>
          </a:ln>
        </p:spPr>
      </p:sp>
      <p:sp>
        <p:nvSpPr>
          <p:cNvPr id="25" name="Text 20"/>
          <p:cNvSpPr txBox="1"/>
          <p:nvPr/>
        </p:nvSpPr>
        <p:spPr>
          <a:xfrm>
            <a:off x="7918704" y="4160520"/>
            <a:ext cx="3803904" cy="43891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First print after the guide. ~30% holds while modules run toward 1,200; first PMA usage commentary</a:t>
            </a:r>
            <a:endParaRPr lang="en-US" sz="900" dirty="0"/>
          </a:p>
        </p:txBody>
      </p:sp>
      <p:sp>
        <p:nvSpPr>
          <p:cNvPr id="26" name="Shape 21"/>
          <p:cNvSpPr/>
          <p:nvPr/>
        </p:nvSpPr>
        <p:spPr>
          <a:xfrm>
            <a:off x="6199632" y="4700016"/>
            <a:ext cx="1600200" cy="493776"/>
          </a:xfrm>
          <a:prstGeom prst="rect">
            <a:avLst>
              <a:gd name="adj" fmla="val 11111"/>
            </a:avLst>
          </a:prstGeom>
          <a:solidFill>
            <a:srgbClr val="0B1F44"/>
          </a:solidFill>
          <a:ln w="9525">
            <a:solidFill>
              <a:srgbClr val="0B1F44"/>
            </a:solidFill>
            <a:prstDash val="solid"/>
          </a:ln>
        </p:spPr>
      </p:sp>
      <p:sp>
        <p:nvSpPr>
          <p:cNvPr id="27" name="Text 22"/>
          <p:cNvSpPr txBox="1"/>
          <p:nvPr/>
        </p:nvSpPr>
        <p:spPr>
          <a:xfrm>
            <a:off x="6245352" y="4700016"/>
            <a:ext cx="1508760" cy="493776"/>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Investor day (10-Dec)</a:t>
            </a:r>
            <a:endParaRPr lang="en-US" sz="950" dirty="0"/>
          </a:p>
        </p:txBody>
      </p:sp>
      <p:sp>
        <p:nvSpPr>
          <p:cNvPr id="28" name="Shape 23"/>
          <p:cNvSpPr/>
          <p:nvPr/>
        </p:nvSpPr>
        <p:spPr>
          <a:xfrm>
            <a:off x="7863840" y="4700016"/>
            <a:ext cx="3913632" cy="493776"/>
          </a:xfrm>
          <a:prstGeom prst="roundRect">
            <a:avLst>
              <a:gd name="adj" fmla="val 11111"/>
            </a:avLst>
          </a:prstGeom>
          <a:solidFill>
            <a:srgbClr val="FFFFFF"/>
          </a:solidFill>
          <a:ln w="12700">
            <a:solidFill>
              <a:srgbClr val="0B1F44"/>
            </a:solidFill>
            <a:prstDash val="dash"/>
          </a:ln>
        </p:spPr>
      </p:sp>
      <p:sp>
        <p:nvSpPr>
          <p:cNvPr id="29" name="Text 24"/>
          <p:cNvSpPr txBox="1"/>
          <p:nvPr/>
        </p:nvSpPr>
        <p:spPr>
          <a:xfrm>
            <a:off x="7918704" y="4727448"/>
            <a:ext cx="3803904" cy="43891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2027 framework: 1,700 modules, Power backlog, SCI II size</a:t>
            </a:r>
            <a:endParaRPr lang="en-US" sz="900" dirty="0"/>
          </a:p>
        </p:txBody>
      </p:sp>
      <p:sp>
        <p:nvSpPr>
          <p:cNvPr id="30" name="Shape 25"/>
          <p:cNvSpPr/>
          <p:nvPr/>
        </p:nvSpPr>
        <p:spPr>
          <a:xfrm>
            <a:off x="6199632" y="5266944"/>
            <a:ext cx="1600200" cy="493776"/>
          </a:xfrm>
          <a:prstGeom prst="rect">
            <a:avLst>
              <a:gd name="adj" fmla="val 11111"/>
            </a:avLst>
          </a:prstGeom>
          <a:solidFill>
            <a:srgbClr val="0B1F44"/>
          </a:solidFill>
          <a:ln w="9525">
            <a:solidFill>
              <a:srgbClr val="0B1F44"/>
            </a:solidFill>
            <a:prstDash val="solid"/>
          </a:ln>
        </p:spPr>
      </p:sp>
      <p:sp>
        <p:nvSpPr>
          <p:cNvPr id="31" name="Text 26"/>
          <p:cNvSpPr txBox="1"/>
          <p:nvPr/>
        </p:nvSpPr>
        <p:spPr>
          <a:xfrm>
            <a:off x="6245352" y="5266944"/>
            <a:ext cx="1508760" cy="493776"/>
          </a:xfrm>
          <a:prstGeom prst="rect">
            <a:avLst/>
          </a:prstGeom>
          <a:noFill/>
          <a:ln/>
        </p:spPr>
        <p:txBody>
          <a:bodyPr wrap="square" lIns="38100" tIns="38100" rIns="38100" bIns="3810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Q4'26 (Feb-27)</a:t>
            </a:r>
            <a:endParaRPr lang="en-US" sz="950" dirty="0"/>
          </a:p>
        </p:txBody>
      </p:sp>
      <p:sp>
        <p:nvSpPr>
          <p:cNvPr id="32" name="Shape 27"/>
          <p:cNvSpPr/>
          <p:nvPr/>
        </p:nvSpPr>
        <p:spPr>
          <a:xfrm>
            <a:off x="7863840" y="5266944"/>
            <a:ext cx="3913632" cy="493776"/>
          </a:xfrm>
          <a:prstGeom prst="roundRect">
            <a:avLst>
              <a:gd name="adj" fmla="val 11111"/>
            </a:avLst>
          </a:prstGeom>
          <a:solidFill>
            <a:srgbClr val="FFFFFF"/>
          </a:solidFill>
          <a:ln w="12700">
            <a:solidFill>
              <a:srgbClr val="0B1F44"/>
            </a:solidFill>
            <a:prstDash val="dash"/>
          </a:ln>
        </p:spPr>
      </p:sp>
      <p:sp>
        <p:nvSpPr>
          <p:cNvPr id="33" name="Text 28"/>
          <p:cNvSpPr txBox="1"/>
          <p:nvPr/>
        </p:nvSpPr>
        <p:spPr>
          <a:xfrm>
            <a:off x="7918704" y="5294376"/>
            <a:ext cx="3803904" cy="438912"/>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Second ~30% print + FY27 guide: the market stops reading 30% as a waypoint</a:t>
            </a:r>
            <a:endParaRPr lang="en-US" sz="900" dirty="0"/>
          </a:p>
        </p:txBody>
      </p:sp>
      <p:sp>
        <p:nvSpPr>
          <p:cNvPr id="34" name="Shape 29"/>
          <p:cNvSpPr/>
          <p:nvPr/>
        </p:nvSpPr>
        <p:spPr>
          <a:xfrm>
            <a:off x="6199632" y="5852160"/>
            <a:ext cx="5577840" cy="438912"/>
          </a:xfrm>
          <a:prstGeom prst="rect">
            <a:avLst>
              <a:gd name="adj" fmla="val 12500"/>
            </a:avLst>
          </a:prstGeom>
          <a:solidFill>
            <a:srgbClr val="DCE6F2"/>
          </a:solidFill>
          <a:ln w="9525">
            <a:solidFill>
              <a:srgbClr val="DCE6F2"/>
            </a:solidFill>
            <a:prstDash val="solid"/>
          </a:ln>
        </p:spPr>
      </p:sp>
      <p:sp>
        <p:nvSpPr>
          <p:cNvPr id="35" name="Text 30"/>
          <p:cNvSpPr txBox="1"/>
          <p:nvPr/>
        </p:nvSpPr>
        <p:spPr>
          <a:xfrm>
            <a:off x="6245352" y="5852160"/>
            <a:ext cx="5486400" cy="438912"/>
          </a:xfrm>
          <a:prstGeom prst="rect">
            <a:avLst/>
          </a:prstGeom>
          <a:noFill/>
          <a:ln/>
        </p:spPr>
        <p:txBody>
          <a:bodyPr wrap="square" lIns="38100" tIns="38100" rIns="38100" bIns="381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Each +1x on Aerospace EBITDA = ~$15 / share</a:t>
            </a:r>
            <a:endParaRPr lang="en-US" sz="1100" dirty="0"/>
          </a:p>
        </p:txBody>
      </p:sp>
      <p:sp>
        <p:nvSpPr>
          <p:cNvPr id="36" name="Text 3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SR Technics CFM56 capabilities &amp; price catalogues (2024–26, ~3,400 matched packages); FTAI Q2'26 call; GPS model (FY27E AP EBITDA $1,541M / 104.0mm shares)</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Theses Summary</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Three Theses: The Trough Is A Floor, The Share Is Coming, And Power Is Free</a:t>
            </a:r>
            <a:endParaRPr lang="en-US" sz="1500" dirty="0"/>
          </a:p>
        </p:txBody>
      </p:sp>
      <p:sp>
        <p:nvSpPr>
          <p:cNvPr id="5" name="Shape 3"/>
          <p:cNvSpPr/>
          <p:nvPr/>
        </p:nvSpPr>
        <p:spPr>
          <a:xfrm>
            <a:off x="411480" y="1691640"/>
            <a:ext cx="11365992" cy="1280160"/>
          </a:xfrm>
          <a:prstGeom prst="roundRect">
            <a:avLst>
              <a:gd name="adj" fmla="val 5714"/>
            </a:avLst>
          </a:prstGeom>
          <a:solidFill>
            <a:srgbClr val="F7F8FA"/>
          </a:solidFill>
          <a:ln w="19050">
            <a:solidFill>
              <a:srgbClr val="F7F8FA"/>
            </a:solidFill>
            <a:prstDash val="solid"/>
          </a:ln>
        </p:spPr>
      </p:sp>
      <p:sp>
        <p:nvSpPr>
          <p:cNvPr id="6" name="Shape 4"/>
          <p:cNvSpPr/>
          <p:nvPr/>
        </p:nvSpPr>
        <p:spPr>
          <a:xfrm>
            <a:off x="411480" y="1691640"/>
            <a:ext cx="1188720" cy="1280160"/>
          </a:xfrm>
          <a:prstGeom prst="rect">
            <a:avLst/>
          </a:prstGeom>
          <a:solidFill>
            <a:srgbClr val="AEB7C7"/>
          </a:solidFill>
          <a:ln w="12700">
            <a:solidFill>
              <a:srgbClr val="AEB7C7"/>
            </a:solidFill>
            <a:prstDash val="solid"/>
          </a:ln>
        </p:spPr>
      </p:sp>
      <p:sp>
        <p:nvSpPr>
          <p:cNvPr id="7" name="Text 5"/>
          <p:cNvSpPr txBox="1"/>
          <p:nvPr/>
        </p:nvSpPr>
        <p:spPr>
          <a:xfrm>
            <a:off x="411480" y="169164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a:t>
            </a:r>
            <a:endParaRPr lang="en-US" sz="3000" dirty="0"/>
          </a:p>
        </p:txBody>
      </p:sp>
      <p:sp>
        <p:nvSpPr>
          <p:cNvPr id="8" name="Text 6"/>
          <p:cNvSpPr txBox="1"/>
          <p:nvPr/>
        </p:nvSpPr>
        <p:spPr>
          <a:xfrm>
            <a:off x="1783080" y="180136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B8BFCC"/>
                </a:solidFill>
                <a:latin typeface="Cambria" pitchFamily="34" charset="0"/>
                <a:ea typeface="Cambria" pitchFamily="34" charset="-122"/>
                <a:cs typeface="Cambria" pitchFamily="34" charset="-120"/>
              </a:rPr>
              <a:t>Margins Have Bottomed: ~30% Is The Floor</a:t>
            </a:r>
            <a:endParaRPr lang="en-US" sz="1500" dirty="0"/>
          </a:p>
        </p:txBody>
      </p:sp>
      <p:sp>
        <p:nvSpPr>
          <p:cNvPr id="9" name="Text 7"/>
          <p:cNvSpPr txBox="1"/>
          <p:nvPr/>
        </p:nvSpPr>
        <p:spPr>
          <a:xfrm>
            <a:off x="1783080" y="2148840"/>
            <a:ext cx="9784080" cy="749808"/>
          </a:xfrm>
          <a:prstGeom prst="rect">
            <a:avLst/>
          </a:prstGeom>
          <a:noFill/>
          <a:ln/>
        </p:spPr>
        <p:txBody>
          <a:bodyPr wrap="square" lIns="25400" tIns="25400" rIns="25400" bIns="25400" rtlCol="0" anchor="t"/>
          <a:lstStyle/>
          <a:p>
            <a:pPr algn="ctr" indent="0" marL="0">
              <a:buNone/>
            </a:pPr>
            <a:r>
              <a:rPr lang="en-US" sz="1100" dirty="0">
                <a:solidFill>
                  <a:srgbClr val="C4C9D2"/>
                </a:solidFill>
                <a:latin typeface="Calibri" pitchFamily="34" charset="0"/>
                <a:ea typeface="Calibri" pitchFamily="34" charset="-122"/>
                <a:cs typeface="Calibri" pitchFamily="34" charset="-120"/>
              </a:rPr>
              <a:t>Even if the short thesis is right, depreciated leasing stock is &lt;8% of inventory. Heavy-scope mix is capped by capacity and incentive, and PMA enters through SCI, where FTAI is the lessor. Two more stable prints re-rate the trough</a:t>
            </a:r>
            <a:endParaRPr lang="en-US" sz="1100" dirty="0"/>
          </a:p>
        </p:txBody>
      </p:sp>
      <p:sp>
        <p:nvSpPr>
          <p:cNvPr id="10" name="Shape 8"/>
          <p:cNvSpPr/>
          <p:nvPr/>
        </p:nvSpPr>
        <p:spPr>
          <a:xfrm>
            <a:off x="411480" y="3246120"/>
            <a:ext cx="11365992" cy="1280160"/>
          </a:xfrm>
          <a:prstGeom prst="roundRect">
            <a:avLst>
              <a:gd name="adj" fmla="val 5714"/>
            </a:avLst>
          </a:prstGeom>
          <a:solidFill>
            <a:srgbClr val="DCE6F2"/>
          </a:solidFill>
          <a:ln w="19050">
            <a:solidFill>
              <a:srgbClr val="0B1F44"/>
            </a:solidFill>
            <a:prstDash val="solid"/>
          </a:ln>
        </p:spPr>
      </p:sp>
      <p:sp>
        <p:nvSpPr>
          <p:cNvPr id="11" name="Shape 9"/>
          <p:cNvSpPr/>
          <p:nvPr/>
        </p:nvSpPr>
        <p:spPr>
          <a:xfrm>
            <a:off x="411480" y="3246120"/>
            <a:ext cx="1188720" cy="1280160"/>
          </a:xfrm>
          <a:prstGeom prst="rect">
            <a:avLst/>
          </a:prstGeom>
          <a:solidFill>
            <a:srgbClr val="0B1F44"/>
          </a:solidFill>
          <a:ln w="12700">
            <a:solidFill>
              <a:srgbClr val="0B1F44"/>
            </a:solidFill>
            <a:prstDash val="solid"/>
          </a:ln>
        </p:spPr>
      </p:sp>
      <p:sp>
        <p:nvSpPr>
          <p:cNvPr id="12" name="Text 10"/>
          <p:cNvSpPr txBox="1"/>
          <p:nvPr/>
        </p:nvSpPr>
        <p:spPr>
          <a:xfrm>
            <a:off x="411480" y="324612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a:t>
            </a:r>
            <a:endParaRPr lang="en-US" sz="3000" dirty="0"/>
          </a:p>
        </p:txBody>
      </p:sp>
      <p:sp>
        <p:nvSpPr>
          <p:cNvPr id="13" name="Text 11"/>
          <p:cNvSpPr txBox="1"/>
          <p:nvPr/>
        </p:nvSpPr>
        <p:spPr>
          <a:xfrm>
            <a:off x="1783080" y="335584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FTAI Takes The CFM56 Whitespace To ~25% Share</a:t>
            </a:r>
            <a:endParaRPr lang="en-US" sz="1500" dirty="0"/>
          </a:p>
        </p:txBody>
      </p:sp>
      <p:sp>
        <p:nvSpPr>
          <p:cNvPr id="14" name="Text 12"/>
          <p:cNvSpPr txBox="1"/>
          <p:nvPr/>
        </p:nvSpPr>
        <p:spPr>
          <a:xfrm>
            <a:off x="1783080" y="3703320"/>
            <a:ext cx="9784080" cy="749808"/>
          </a:xfrm>
          <a:prstGeom prst="rect">
            <a:avLst/>
          </a:prstGeom>
          <a:noFill/>
          <a:ln/>
        </p:spPr>
        <p:txBody>
          <a:bodyPr wrap="square" lIns="25400" tIns="25400" rIns="25400" bIns="25400" rtlCol="0" anchor="t"/>
          <a:lstStyle/>
          <a:p>
            <a:pPr algn="ctr" indent="0" marL="0">
              <a:buNone/>
            </a:pPr>
            <a:r>
              <a:rPr lang="en-US" sz="1100" dirty="0">
                <a:solidFill>
                  <a:srgbClr val="404040"/>
                </a:solidFill>
                <a:latin typeface="Calibri" pitchFamily="34" charset="0"/>
                <a:ea typeface="Calibri" pitchFamily="34" charset="-122"/>
                <a:cs typeface="Calibri" pitchFamily="34" charset="-120"/>
              </a:rPr>
              <a:t>OEMs and MROs move capacity to LEAP while LEAP problems keep CFM56s flying and retirements run below plan. FTAI's cost and turnaround edge wins the visits, and its capacity is already built</a:t>
            </a:r>
            <a:endParaRPr lang="en-US" sz="1100" dirty="0"/>
          </a:p>
        </p:txBody>
      </p:sp>
      <p:sp>
        <p:nvSpPr>
          <p:cNvPr id="15" name="Shape 13"/>
          <p:cNvSpPr/>
          <p:nvPr/>
        </p:nvSpPr>
        <p:spPr>
          <a:xfrm>
            <a:off x="411480" y="4800600"/>
            <a:ext cx="11365992" cy="1280160"/>
          </a:xfrm>
          <a:prstGeom prst="roundRect">
            <a:avLst>
              <a:gd name="adj" fmla="val 5714"/>
            </a:avLst>
          </a:prstGeom>
          <a:solidFill>
            <a:srgbClr val="F7F8FA"/>
          </a:solidFill>
          <a:ln w="19050">
            <a:solidFill>
              <a:srgbClr val="F7F8FA"/>
            </a:solidFill>
            <a:prstDash val="solid"/>
          </a:ln>
        </p:spPr>
      </p:sp>
      <p:sp>
        <p:nvSpPr>
          <p:cNvPr id="16" name="Shape 14"/>
          <p:cNvSpPr/>
          <p:nvPr/>
        </p:nvSpPr>
        <p:spPr>
          <a:xfrm>
            <a:off x="411480" y="4800600"/>
            <a:ext cx="1188720" cy="1280160"/>
          </a:xfrm>
          <a:prstGeom prst="rect">
            <a:avLst/>
          </a:prstGeom>
          <a:solidFill>
            <a:srgbClr val="AEB7C7"/>
          </a:solidFill>
          <a:ln w="12700">
            <a:solidFill>
              <a:srgbClr val="AEB7C7"/>
            </a:solidFill>
            <a:prstDash val="solid"/>
          </a:ln>
        </p:spPr>
      </p:sp>
      <p:sp>
        <p:nvSpPr>
          <p:cNvPr id="17" name="Text 15"/>
          <p:cNvSpPr txBox="1"/>
          <p:nvPr/>
        </p:nvSpPr>
        <p:spPr>
          <a:xfrm>
            <a:off x="411480" y="480060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III</a:t>
            </a:r>
            <a:endParaRPr lang="en-US" sz="3000" dirty="0"/>
          </a:p>
        </p:txBody>
      </p:sp>
      <p:sp>
        <p:nvSpPr>
          <p:cNvPr id="18" name="Text 16"/>
          <p:cNvSpPr txBox="1"/>
          <p:nvPr/>
        </p:nvSpPr>
        <p:spPr>
          <a:xfrm>
            <a:off x="1783080" y="491032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B8BFCC"/>
                </a:solidFill>
                <a:latin typeface="Cambria" pitchFamily="34" charset="0"/>
                <a:ea typeface="Cambria" pitchFamily="34" charset="-122"/>
                <a:cs typeface="Cambria" pitchFamily="34" charset="-120"/>
              </a:rPr>
              <a:t>Power Is A Call Option The Market Isn't Paying For</a:t>
            </a:r>
            <a:endParaRPr lang="en-US" sz="1500" dirty="0"/>
          </a:p>
        </p:txBody>
      </p:sp>
      <p:sp>
        <p:nvSpPr>
          <p:cNvPr id="19" name="Text 17"/>
          <p:cNvSpPr txBox="1"/>
          <p:nvPr/>
        </p:nvSpPr>
        <p:spPr>
          <a:xfrm>
            <a:off x="1783080" y="5257800"/>
            <a:ext cx="9784080" cy="749808"/>
          </a:xfrm>
          <a:prstGeom prst="rect">
            <a:avLst/>
          </a:prstGeom>
          <a:noFill/>
          <a:ln/>
        </p:spPr>
        <p:txBody>
          <a:bodyPr wrap="square" lIns="25400" tIns="25400" rIns="25400" bIns="25400" rtlCol="0" anchor="t"/>
          <a:lstStyle/>
          <a:p>
            <a:pPr algn="ctr" indent="0" marL="0">
              <a:buNone/>
            </a:pPr>
            <a:r>
              <a:rPr lang="en-US" sz="1100" dirty="0">
                <a:solidFill>
                  <a:srgbClr val="C4C9D2"/>
                </a:solidFill>
                <a:latin typeface="Calibri" pitchFamily="34" charset="0"/>
                <a:ea typeface="Calibri" pitchFamily="34" charset="-122"/>
                <a:cs typeface="Calibri" pitchFamily="34" charset="-120"/>
              </a:rPr>
              <a:t>The grid is short from 2029 and hyperscaler capex outruns contracted power. The first order came from a site at a stage many campuses share today. Mobile units are ~13% of build cost and pay back in about a month of earlier revenue</a:t>
            </a:r>
            <a:endParaRPr lang="en-US" sz="11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2 (1/4): OEMs Leave Whitespace Behind</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OEMs And Large MROs Are Pouring New Capacity Into LEAP While CFM56 Demand Plateaus At ~2,350 Visits A Year</a:t>
            </a:r>
            <a:endParaRPr lang="en-US" sz="14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Where New Capacity Is Going</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874520"/>
          <a:ext cx="5577840" cy="914400"/>
        </p:xfrm>
        <a:graphic>
          <a:graphicData uri="http://schemas.openxmlformats.org/drawingml/2006/table">
            <a:tbl>
              <a:tblPr/>
              <a:tblGrid>
                <a:gridCol w="1463040"/>
                <a:gridCol w="3200400"/>
                <a:gridCol w="914400"/>
              </a:tblGrid>
              <a:tr h="32918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Player</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Recent capacity move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Engine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29184">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GE Aerospace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&gt;$1bn</a:t>
                      </a:r>
                      <a:r>
                        <a:rPr lang="en-US" sz="900" dirty="0">
                          <a:solidFill>
                            <a:srgbClr val="404040"/>
                          </a:solidFill>
                          <a:latin typeface="Calibri" pitchFamily="34" charset="0"/>
                          <a:ea typeface="Calibri" pitchFamily="34" charset="-122"/>
                          <a:cs typeface="Calibri" pitchFamily="34" charset="-120"/>
                        </a:rPr>
                        <a:t> over 5 yrs; ~half of MRO spend now on LEAP</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LEAP</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Safran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&gt;€1bn</a:t>
                      </a:r>
                      <a:r>
                        <a:rPr lang="en-US" sz="900" dirty="0">
                          <a:solidFill>
                            <a:srgbClr val="404040"/>
                          </a:solidFill>
                          <a:latin typeface="Calibri" pitchFamily="34" charset="0"/>
                          <a:ea typeface="Calibri" pitchFamily="34" charset="-122"/>
                          <a:cs typeface="Calibri" pitchFamily="34" charset="-120"/>
                        </a:rPr>
                        <a:t> over 5 yrs; Querétaro sized for 350 LEAP visits/yr by 2030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LEAP</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CFM open network</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35 licensed LEAP sites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LEAP</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ST Engineering</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300 CFM engines/yr by 2027, weighted to LEAP</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Mixed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MTU / LHT / AFI KLM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LEAP lines ramping; CFM56 slots </a:t>
                      </a:r>
                      <a:r>
                        <a:rPr lang="en-US" sz="900" b="1" dirty="0">
                          <a:solidFill>
                            <a:srgbClr val="0B1F44"/>
                          </a:solidFill>
                          <a:latin typeface="Calibri" pitchFamily="34" charset="0"/>
                          <a:ea typeface="Calibri" pitchFamily="34" charset="-122"/>
                          <a:cs typeface="Calibri" pitchFamily="34" charset="-120"/>
                        </a:rPr>
                        <a:t>sold out into 2027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Mixed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0B1F44"/>
                          </a:solidFill>
                          <a:latin typeface="Calibri" pitchFamily="34" charset="0"/>
                          <a:ea typeface="Calibri" pitchFamily="34" charset="-122"/>
                          <a:cs typeface="Calibri" pitchFamily="34" charset="-120"/>
                        </a:rPr>
                        <a:t>FTAI</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2,000 → 3,000 modules/yr</a:t>
                      </a:r>
                      <a:r>
                        <a:rPr lang="en-US" sz="900" dirty="0">
                          <a:solidFill>
                            <a:srgbClr val="404040"/>
                          </a:solidFill>
                          <a:latin typeface="Calibri" pitchFamily="34" charset="0"/>
                          <a:ea typeface="Calibri" pitchFamily="34" charset="-122"/>
                          <a:cs typeface="Calibri" pitchFamily="34" charset="-120"/>
                        </a:rPr>
                        <a:t>, all CFM56 (+ Jakarta, Cairo)</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CFM56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r>
            </a:tbl>
          </a:graphicData>
        </a:graphic>
      </p:graphicFrame>
      <p:sp>
        <p:nvSpPr>
          <p:cNvPr id="8" name="Shape 5"/>
          <p:cNvSpPr/>
          <p:nvPr/>
        </p:nvSpPr>
        <p:spPr>
          <a:xfrm>
            <a:off x="411480" y="4251960"/>
            <a:ext cx="5577840" cy="658368"/>
          </a:xfrm>
          <a:prstGeom prst="roundRect">
            <a:avLst>
              <a:gd name="adj" fmla="val 8333"/>
            </a:avLst>
          </a:prstGeom>
          <a:solidFill>
            <a:srgbClr val="FFFFFF"/>
          </a:solidFill>
          <a:ln w="12700">
            <a:solidFill>
              <a:srgbClr val="0B1F44"/>
            </a:solidFill>
            <a:prstDash val="dash"/>
          </a:ln>
        </p:spPr>
      </p:sp>
      <p:sp>
        <p:nvSpPr>
          <p:cNvPr id="9" name="Text 6"/>
          <p:cNvSpPr txBox="1"/>
          <p:nvPr/>
        </p:nvSpPr>
        <p:spPr>
          <a:xfrm>
            <a:off x="466344" y="4279392"/>
            <a:ext cx="5468112" cy="603504"/>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"The variability in capital investment required to capture the LEAP is extremely low versus what it took them to capture the CFM." — </a:t>
            </a:r>
            <a:r>
              <a:rPr lang="en-US" sz="950" b="1" dirty="0">
                <a:solidFill>
                  <a:srgbClr val="0B1F44"/>
                </a:solidFill>
                <a:latin typeface="Calibri" pitchFamily="34" charset="0"/>
                <a:ea typeface="Calibri" pitchFamily="34" charset="-122"/>
                <a:cs typeface="Calibri" pitchFamily="34" charset="-120"/>
              </a:rPr>
              <a:t>Former executive, engine MRO shop</a:t>
            </a:r>
            <a:endParaRPr lang="en-US" sz="950" dirty="0"/>
          </a:p>
        </p:txBody>
      </p:sp>
      <p:sp>
        <p:nvSpPr>
          <p:cNvPr id="10" name="Shape 7"/>
          <p:cNvSpPr/>
          <p:nvPr/>
        </p:nvSpPr>
        <p:spPr>
          <a:xfrm>
            <a:off x="411480" y="4983480"/>
            <a:ext cx="2743200" cy="292608"/>
          </a:xfrm>
          <a:prstGeom prst="rect">
            <a:avLst/>
          </a:prstGeom>
          <a:solidFill>
            <a:srgbClr val="DCE6F2"/>
          </a:solidFill>
          <a:ln w="9525">
            <a:solidFill>
              <a:srgbClr val="0B1F44"/>
            </a:solidFill>
            <a:prstDash val="solid"/>
          </a:ln>
        </p:spPr>
      </p:sp>
      <p:sp>
        <p:nvSpPr>
          <p:cNvPr id="11" name="Text 8"/>
          <p:cNvSpPr txBox="1"/>
          <p:nvPr/>
        </p:nvSpPr>
        <p:spPr>
          <a:xfrm>
            <a:off x="411480" y="4983480"/>
            <a:ext cx="27432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GE Commercial MRO Spend Mix</a:t>
            </a:r>
            <a:endParaRPr lang="en-US" sz="1200" dirty="0"/>
          </a:p>
        </p:txBody>
      </p:sp>
      <p:graphicFrame>
        <p:nvGraphicFramePr>
          <p:cNvPr id="12" name="Chart 0" descr=""/>
          <p:cNvGraphicFramePr/>
          <p:nvPr/>
        </p:nvGraphicFramePr>
        <p:xfrm>
          <a:off x="411480" y="5285232"/>
          <a:ext cx="2743200" cy="1069848"/>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246120" y="4983480"/>
            <a:ext cx="1325880" cy="1325880"/>
          </a:xfrm>
          <a:prstGeom prst="roundRect">
            <a:avLst>
              <a:gd name="adj" fmla="val 4138"/>
            </a:avLst>
          </a:prstGeom>
          <a:solidFill>
            <a:srgbClr val="F2F2F2"/>
          </a:solidFill>
          <a:ln w="9525">
            <a:solidFill>
              <a:srgbClr val="F2F2F2"/>
            </a:solidFill>
            <a:prstDash val="solid"/>
          </a:ln>
        </p:spPr>
      </p:sp>
      <p:sp>
        <p:nvSpPr>
          <p:cNvPr id="14" name="Text 10"/>
          <p:cNvSpPr txBox="1"/>
          <p:nvPr/>
        </p:nvSpPr>
        <p:spPr>
          <a:xfrm>
            <a:off x="3246120" y="5020056"/>
            <a:ext cx="1325880" cy="729234"/>
          </a:xfrm>
          <a:prstGeom prst="rect">
            <a:avLst/>
          </a:prstGeom>
          <a:noFill/>
          <a:ln/>
        </p:spPr>
        <p:txBody>
          <a:bodyPr wrap="square" lIns="0" tIns="0" rIns="0" bIns="0" rtlCol="0" anchor="b"/>
          <a:lstStyle/>
          <a:p>
            <a:pPr algn="ctr" indent="0" marL="0">
              <a:buNone/>
            </a:pPr>
            <a:r>
              <a:rPr lang="en-US" sz="2000" b="1" dirty="0">
                <a:solidFill>
                  <a:srgbClr val="E8702A"/>
                </a:solidFill>
                <a:latin typeface="Cambria" pitchFamily="34" charset="0"/>
                <a:ea typeface="Cambria" pitchFamily="34" charset="-122"/>
                <a:cs typeface="Cambria" pitchFamily="34" charset="-120"/>
              </a:rPr>
              <a:t>+50%</a:t>
            </a:r>
            <a:endParaRPr lang="en-US" sz="2000" dirty="0"/>
          </a:p>
        </p:txBody>
      </p:sp>
      <p:sp>
        <p:nvSpPr>
          <p:cNvPr id="15" name="Text 11"/>
          <p:cNvSpPr txBox="1"/>
          <p:nvPr/>
        </p:nvSpPr>
        <p:spPr>
          <a:xfrm>
            <a:off x="3291840" y="5752490"/>
            <a:ext cx="1234440" cy="53035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LEAP shop visits y/y (GE, 2026)</a:t>
            </a:r>
            <a:endParaRPr lang="en-US" sz="900" dirty="0"/>
          </a:p>
        </p:txBody>
      </p:sp>
      <p:sp>
        <p:nvSpPr>
          <p:cNvPr id="16" name="Shape 12"/>
          <p:cNvSpPr/>
          <p:nvPr/>
        </p:nvSpPr>
        <p:spPr>
          <a:xfrm>
            <a:off x="4663440" y="4983480"/>
            <a:ext cx="1325880" cy="1325880"/>
          </a:xfrm>
          <a:prstGeom prst="roundRect">
            <a:avLst>
              <a:gd name="adj" fmla="val 4138"/>
            </a:avLst>
          </a:prstGeom>
          <a:solidFill>
            <a:srgbClr val="F2F2F2"/>
          </a:solidFill>
          <a:ln w="9525">
            <a:solidFill>
              <a:srgbClr val="F2F2F2"/>
            </a:solidFill>
            <a:prstDash val="solid"/>
          </a:ln>
        </p:spPr>
      </p:sp>
      <p:sp>
        <p:nvSpPr>
          <p:cNvPr id="17" name="Text 13"/>
          <p:cNvSpPr txBox="1"/>
          <p:nvPr/>
        </p:nvSpPr>
        <p:spPr>
          <a:xfrm>
            <a:off x="4663440" y="5020056"/>
            <a:ext cx="1325880" cy="729234"/>
          </a:xfrm>
          <a:prstGeom prst="rect">
            <a:avLst/>
          </a:prstGeom>
          <a:noFill/>
          <a:ln/>
        </p:spPr>
        <p:txBody>
          <a:bodyPr wrap="square" lIns="0" tIns="0" rIns="0" bIns="0" rtlCol="0" anchor="b"/>
          <a:lstStyle/>
          <a:p>
            <a:pPr algn="ctr" indent="0" marL="0">
              <a:buNone/>
            </a:pPr>
            <a:r>
              <a:rPr lang="en-US" sz="2000" b="1" dirty="0">
                <a:solidFill>
                  <a:srgbClr val="E8702A"/>
                </a:solidFill>
                <a:latin typeface="Cambria" pitchFamily="34" charset="0"/>
                <a:ea typeface="Cambria" pitchFamily="34" charset="-122"/>
                <a:cs typeface="Cambria" pitchFamily="34" charset="-120"/>
              </a:rPr>
              <a:t>40%</a:t>
            </a:r>
            <a:endParaRPr lang="en-US" sz="2000" dirty="0"/>
          </a:p>
        </p:txBody>
      </p:sp>
      <p:sp>
        <p:nvSpPr>
          <p:cNvPr id="18" name="Text 14"/>
          <p:cNvSpPr txBox="1"/>
          <p:nvPr/>
        </p:nvSpPr>
        <p:spPr>
          <a:xfrm>
            <a:off x="4709160" y="5752490"/>
            <a:ext cx="1234440" cy="53035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GE shop-visit slots </a:t>
            </a:r>
            <a:r>
              <a:rPr lang="en-US" sz="900" b="1" dirty="0">
                <a:solidFill>
                  <a:srgbClr val="0B1F44"/>
                </a:solidFill>
                <a:latin typeface="Calibri" pitchFamily="34" charset="0"/>
                <a:ea typeface="Calibri" pitchFamily="34" charset="-122"/>
                <a:cs typeface="Calibri" pitchFamily="34" charset="-120"/>
              </a:rPr>
              <a:t>oversubscribed</a:t>
            </a:r>
            <a:endParaRPr lang="en-US" sz="900" dirty="0"/>
          </a:p>
        </p:txBody>
      </p:sp>
      <p:sp>
        <p:nvSpPr>
          <p:cNvPr id="19" name="Shape 15"/>
          <p:cNvSpPr/>
          <p:nvPr/>
        </p:nvSpPr>
        <p:spPr>
          <a:xfrm>
            <a:off x="6199632" y="1536192"/>
            <a:ext cx="5577840" cy="292608"/>
          </a:xfrm>
          <a:prstGeom prst="rect">
            <a:avLst/>
          </a:prstGeom>
          <a:solidFill>
            <a:srgbClr val="DCE6F2"/>
          </a:solidFill>
          <a:ln w="9525">
            <a:solidFill>
              <a:srgbClr val="0B1F44"/>
            </a:solidFill>
            <a:prstDash val="solid"/>
          </a:ln>
        </p:spPr>
      </p:sp>
      <p:sp>
        <p:nvSpPr>
          <p:cNvPr id="20" name="Text 16"/>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CFM56 Demand Stays Put While Supply Leaves</a:t>
            </a:r>
            <a:endParaRPr lang="en-US" sz="1200" dirty="0"/>
          </a:p>
        </p:txBody>
      </p:sp>
      <p:sp>
        <p:nvSpPr>
          <p:cNvPr id="21" name="Text 17"/>
          <p:cNvSpPr txBox="1"/>
          <p:nvPr/>
        </p:nvSpPr>
        <p:spPr>
          <a:xfrm>
            <a:off x="6199632" y="1847088"/>
            <a:ext cx="5577840"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CFM56 module demand (3 per shop visit), base case</a:t>
            </a:r>
            <a:endParaRPr lang="en-US" sz="1050" dirty="0"/>
          </a:p>
        </p:txBody>
      </p:sp>
      <p:graphicFrame>
        <p:nvGraphicFramePr>
          <p:cNvPr id="22" name="Chart 1" descr=""/>
          <p:cNvGraphicFramePr/>
          <p:nvPr/>
        </p:nvGraphicFramePr>
        <p:xfrm>
          <a:off x="6199632" y="2084832"/>
          <a:ext cx="5577840" cy="2139696"/>
        </p:xfrm>
        <a:graphic xmlns:a="http://schemas.openxmlformats.org/drawingml/2006/main">
          <a:graphicData uri="http://schemas.openxmlformats.org/drawingml/2006/chart">
            <c:chart xmlns:c="http://schemas.openxmlformats.org/drawingml/2006/chart" r:id="rId2"/>
          </a:graphicData>
        </a:graphic>
      </p:graphicFrame>
      <p:sp>
        <p:nvSpPr>
          <p:cNvPr id="23" name="Text 18"/>
          <p:cNvSpPr txBox="1"/>
          <p:nvPr/>
        </p:nvSpPr>
        <p:spPr>
          <a:xfrm>
            <a:off x="6199632" y="4297680"/>
            <a:ext cx="5577840" cy="1463040"/>
          </a:xfrm>
          <a:prstGeom prst="rect">
            <a:avLst/>
          </a:prstGeom>
          <a:noFill/>
          <a:ln/>
        </p:spPr>
        <p:txBody>
          <a:bodyPr wrap="square" lIns="38100" tIns="38100" rIns="38100" bIns="38100" rtlCol="0" anchor="t"/>
          <a:lstStyle/>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Module demand only falls </a:t>
            </a:r>
            <a:r>
              <a:rPr lang="en-US" sz="950" b="1" dirty="0">
                <a:solidFill>
                  <a:srgbClr val="0B1F44"/>
                </a:solidFill>
                <a:latin typeface="Calibri" pitchFamily="34" charset="0"/>
                <a:ea typeface="Calibri" pitchFamily="34" charset="-122"/>
                <a:cs typeface="Calibri" pitchFamily="34" charset="-120"/>
              </a:rPr>
              <a:t>~2% a year</a:t>
            </a:r>
            <a:r>
              <a:rPr lang="en-US" sz="950" dirty="0">
                <a:solidFill>
                  <a:srgbClr val="404040"/>
                </a:solidFill>
                <a:latin typeface="Calibri" pitchFamily="34" charset="0"/>
                <a:ea typeface="Calibri" pitchFamily="34" charset="-122"/>
                <a:cs typeface="Calibri" pitchFamily="34" charset="-120"/>
              </a:rPr>
              <a:t> after the 2026–28 plateau; LEAP/GTF visits do not pass CFM56/V2500 until the </a:t>
            </a:r>
            <a:r>
              <a:rPr lang="en-US" sz="950" b="1" dirty="0">
                <a:solidFill>
                  <a:srgbClr val="0B1F44"/>
                </a:solidFill>
                <a:latin typeface="Calibri" pitchFamily="34" charset="0"/>
                <a:ea typeface="Calibri" pitchFamily="34" charset="-122"/>
                <a:cs typeface="Calibri" pitchFamily="34" charset="-120"/>
              </a:rPr>
              <a:t>mid-2030s</a:t>
            </a:r>
            <a:r>
              <a:rPr lang="en-US" sz="950" dirty="0">
                <a:solidFill>
                  <a:srgbClr val="404040"/>
                </a:solidFill>
                <a:latin typeface="Calibri" pitchFamily="34" charset="0"/>
                <a:ea typeface="Calibri" pitchFamily="34" charset="-122"/>
                <a:cs typeface="Calibri" pitchFamily="34" charset="-120"/>
              </a:rPr>
              <a:t> (FTAI)</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~45% of CFM56s have </a:t>
            </a:r>
            <a:r>
              <a:rPr lang="en-US" sz="950" b="1" dirty="0">
                <a:solidFill>
                  <a:srgbClr val="0B1F44"/>
                </a:solidFill>
                <a:latin typeface="Calibri" pitchFamily="34" charset="0"/>
                <a:ea typeface="Calibri" pitchFamily="34" charset="-122"/>
                <a:cs typeface="Calibri" pitchFamily="34" charset="-120"/>
              </a:rPr>
              <a:t>not had a first shop visit</a:t>
            </a:r>
            <a:r>
              <a:rPr lang="en-US" sz="950" dirty="0">
                <a:solidFill>
                  <a:srgbClr val="404040"/>
                </a:solidFill>
                <a:latin typeface="Calibri" pitchFamily="34" charset="0"/>
                <a:ea typeface="Calibri" pitchFamily="34" charset="-122"/>
                <a:cs typeface="Calibri" pitchFamily="34" charset="-120"/>
              </a:rPr>
              <a:t> (CFM): the heaviest second and third visits are still ahead</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Every slot an OEM or MRO moves to LEAP is a CFM56 visit that has to go </a:t>
            </a:r>
            <a:r>
              <a:rPr lang="en-US" sz="950" b="1" dirty="0">
                <a:solidFill>
                  <a:srgbClr val="0B1F44"/>
                </a:solidFill>
                <a:latin typeface="Calibri" pitchFamily="34" charset="0"/>
                <a:ea typeface="Calibri" pitchFamily="34" charset="-122"/>
                <a:cs typeface="Calibri" pitchFamily="34" charset="-120"/>
              </a:rPr>
              <a:t>somewhere else</a:t>
            </a:r>
            <a:r>
              <a:rPr lang="en-US" sz="950" dirty="0">
                <a:solidFill>
                  <a:srgbClr val="404040"/>
                </a:solidFill>
                <a:latin typeface="Calibri" pitchFamily="34" charset="0"/>
                <a:ea typeface="Calibri" pitchFamily="34" charset="-122"/>
                <a:cs typeface="Calibri" pitchFamily="34" charset="-120"/>
              </a:rPr>
              <a:t>. FTAI is the only scaled player adding CFM56 capacity</a:t>
            </a:r>
            <a:endParaRPr lang="en-US" sz="950" dirty="0"/>
          </a:p>
        </p:txBody>
      </p:sp>
      <p:sp>
        <p:nvSpPr>
          <p:cNvPr id="24" name="Shape 19"/>
          <p:cNvSpPr/>
          <p:nvPr/>
        </p:nvSpPr>
        <p:spPr>
          <a:xfrm>
            <a:off x="6199632" y="5806440"/>
            <a:ext cx="5577840" cy="502920"/>
          </a:xfrm>
          <a:prstGeom prst="rect">
            <a:avLst>
              <a:gd name="adj" fmla="val 10909"/>
            </a:avLst>
          </a:prstGeom>
          <a:solidFill>
            <a:srgbClr val="0B1F44"/>
          </a:solidFill>
          <a:ln w="9525">
            <a:solidFill>
              <a:srgbClr val="0B1F44"/>
            </a:solidFill>
            <a:prstDash val="solid"/>
          </a:ln>
        </p:spPr>
      </p:sp>
      <p:sp>
        <p:nvSpPr>
          <p:cNvPr id="25" name="Text 20"/>
          <p:cNvSpPr txBox="1"/>
          <p:nvPr/>
        </p:nvSpPr>
        <p:spPr>
          <a:xfrm>
            <a:off x="6245352" y="5806440"/>
            <a:ext cx="5486400" cy="502920"/>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Whitespace: shrinking supply + flat demand = share for the last scaled builder</a:t>
            </a:r>
            <a:endParaRPr lang="en-US" sz="1100" dirty="0"/>
          </a:p>
        </p:txBody>
      </p:sp>
      <p:sp>
        <p:nvSpPr>
          <p:cNvPr id="26" name="Text 2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GE Aerospace and Safran investor materials; Aviation Week; CFM; ST Engineering; FTAI Q4'25 and Q2'26 calls; expert call;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2 (2/4): LEAP Keeps The CFM56 Flying</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LEAP Is Late, Grounded Or Stuck In The Shop; The Fuel Shock Has Not Moved Retirements</a:t>
            </a:r>
            <a:endParaRPr lang="en-US" sz="1500" dirty="0"/>
          </a:p>
        </p:txBody>
      </p:sp>
      <p:sp>
        <p:nvSpPr>
          <p:cNvPr id="5" name="Shape 3"/>
          <p:cNvSpPr/>
          <p:nvPr/>
        </p:nvSpPr>
        <p:spPr>
          <a:xfrm>
            <a:off x="411480" y="1536192"/>
            <a:ext cx="365760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Why The Replacements Aren't Arriving</a:t>
            </a:r>
            <a:endParaRPr lang="en-US" sz="1200" dirty="0"/>
          </a:p>
        </p:txBody>
      </p:sp>
      <p:sp>
        <p:nvSpPr>
          <p:cNvPr id="7" name="Shape 5"/>
          <p:cNvSpPr/>
          <p:nvPr/>
        </p:nvSpPr>
        <p:spPr>
          <a:xfrm>
            <a:off x="411480" y="1874520"/>
            <a:ext cx="1188720" cy="621792"/>
          </a:xfrm>
          <a:prstGeom prst="rect">
            <a:avLst>
              <a:gd name="adj" fmla="val 8824"/>
            </a:avLst>
          </a:prstGeom>
          <a:solidFill>
            <a:srgbClr val="0B1F44"/>
          </a:solidFill>
          <a:ln w="9525">
            <a:solidFill>
              <a:srgbClr val="0B1F44"/>
            </a:solidFill>
            <a:prstDash val="solid"/>
          </a:ln>
        </p:spPr>
      </p:sp>
      <p:sp>
        <p:nvSpPr>
          <p:cNvPr id="8" name="Text 6"/>
          <p:cNvSpPr txBox="1"/>
          <p:nvPr/>
        </p:nvSpPr>
        <p:spPr>
          <a:xfrm>
            <a:off x="457200" y="1874520"/>
            <a:ext cx="1097280" cy="621792"/>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LEAP-1B durability</a:t>
            </a:r>
            <a:endParaRPr lang="en-US" sz="900" dirty="0"/>
          </a:p>
        </p:txBody>
      </p:sp>
      <p:sp>
        <p:nvSpPr>
          <p:cNvPr id="9" name="Shape 7"/>
          <p:cNvSpPr/>
          <p:nvPr/>
        </p:nvSpPr>
        <p:spPr>
          <a:xfrm>
            <a:off x="1645920" y="1874520"/>
            <a:ext cx="2423160" cy="621792"/>
          </a:xfrm>
          <a:prstGeom prst="roundRect">
            <a:avLst>
              <a:gd name="adj" fmla="val 8824"/>
            </a:avLst>
          </a:prstGeom>
          <a:solidFill>
            <a:srgbClr val="FFFFFF"/>
          </a:solidFill>
          <a:ln w="12700">
            <a:solidFill>
              <a:srgbClr val="0B1F44"/>
            </a:solidFill>
            <a:prstDash val="dash"/>
          </a:ln>
        </p:spPr>
      </p:sp>
      <p:sp>
        <p:nvSpPr>
          <p:cNvPr id="10" name="Text 8"/>
          <p:cNvSpPr txBox="1"/>
          <p:nvPr/>
        </p:nvSpPr>
        <p:spPr>
          <a:xfrm>
            <a:off x="1700784" y="1901952"/>
            <a:ext cx="2313432" cy="566928"/>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HPT kit certified </a:t>
            </a:r>
            <a:r>
              <a:rPr lang="en-US" sz="900" b="1" dirty="0">
                <a:solidFill>
                  <a:srgbClr val="0B1F44"/>
                </a:solidFill>
                <a:latin typeface="Calibri" pitchFamily="34" charset="0"/>
                <a:ea typeface="Calibri" pitchFamily="34" charset="-122"/>
                <a:cs typeface="Calibri" pitchFamily="34" charset="-120"/>
              </a:rPr>
              <a:t>Jul-26</a:t>
            </a:r>
            <a:r>
              <a:rPr lang="en-US" sz="900" dirty="0">
                <a:solidFill>
                  <a:srgbClr val="404040"/>
                </a:solidFill>
                <a:latin typeface="Calibri" pitchFamily="34" charset="0"/>
                <a:ea typeface="Calibri" pitchFamily="34" charset="-122"/>
                <a:cs typeface="Calibri" pitchFamily="34" charset="-120"/>
              </a:rPr>
              <a:t>; full production cutover only </a:t>
            </a:r>
            <a:r>
              <a:rPr lang="en-US" sz="900" b="1" dirty="0">
                <a:solidFill>
                  <a:srgbClr val="0B1F44"/>
                </a:solidFill>
                <a:latin typeface="Calibri" pitchFamily="34" charset="0"/>
                <a:ea typeface="Calibri" pitchFamily="34" charset="-122"/>
                <a:cs typeface="Calibri" pitchFamily="34" charset="-120"/>
              </a:rPr>
              <a:t>early 2027</a:t>
            </a:r>
            <a:endParaRPr lang="en-US" sz="900" dirty="0"/>
          </a:p>
        </p:txBody>
      </p:sp>
      <p:sp>
        <p:nvSpPr>
          <p:cNvPr id="11" name="Shape 9"/>
          <p:cNvSpPr/>
          <p:nvPr/>
        </p:nvSpPr>
        <p:spPr>
          <a:xfrm>
            <a:off x="411480" y="2587752"/>
            <a:ext cx="1188720" cy="621792"/>
          </a:xfrm>
          <a:prstGeom prst="rect">
            <a:avLst>
              <a:gd name="adj" fmla="val 8824"/>
            </a:avLst>
          </a:prstGeom>
          <a:solidFill>
            <a:srgbClr val="0B1F44"/>
          </a:solidFill>
          <a:ln w="9525">
            <a:solidFill>
              <a:srgbClr val="0B1F44"/>
            </a:solidFill>
            <a:prstDash val="solid"/>
          </a:ln>
        </p:spPr>
      </p:sp>
      <p:sp>
        <p:nvSpPr>
          <p:cNvPr id="12" name="Text 10"/>
          <p:cNvSpPr txBox="1"/>
          <p:nvPr/>
        </p:nvSpPr>
        <p:spPr>
          <a:xfrm>
            <a:off x="457200" y="2587752"/>
            <a:ext cx="1097280" cy="621792"/>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LEAP-1A durability</a:t>
            </a:r>
            <a:endParaRPr lang="en-US" sz="900" dirty="0"/>
          </a:p>
        </p:txBody>
      </p:sp>
      <p:sp>
        <p:nvSpPr>
          <p:cNvPr id="13" name="Shape 11"/>
          <p:cNvSpPr/>
          <p:nvPr/>
        </p:nvSpPr>
        <p:spPr>
          <a:xfrm>
            <a:off x="1645920" y="2587752"/>
            <a:ext cx="2423160" cy="621792"/>
          </a:xfrm>
          <a:prstGeom prst="roundRect">
            <a:avLst>
              <a:gd name="adj" fmla="val 8824"/>
            </a:avLst>
          </a:prstGeom>
          <a:solidFill>
            <a:srgbClr val="FFFFFF"/>
          </a:solidFill>
          <a:ln w="12700">
            <a:solidFill>
              <a:srgbClr val="0B1F44"/>
            </a:solidFill>
            <a:prstDash val="dash"/>
          </a:ln>
        </p:spPr>
      </p:sp>
      <p:sp>
        <p:nvSpPr>
          <p:cNvPr id="14" name="Text 12"/>
          <p:cNvSpPr txBox="1"/>
          <p:nvPr/>
        </p:nvSpPr>
        <p:spPr>
          <a:xfrm>
            <a:off x="1700784" y="2615184"/>
            <a:ext cx="2313432" cy="566928"/>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Only </a:t>
            </a:r>
            <a:r>
              <a:rPr lang="en-US" sz="900" b="1" dirty="0">
                <a:solidFill>
                  <a:srgbClr val="0B1F44"/>
                </a:solidFill>
                <a:latin typeface="Calibri" pitchFamily="34" charset="0"/>
                <a:ea typeface="Calibri" pitchFamily="34" charset="-122"/>
                <a:cs typeface="Calibri" pitchFamily="34" charset="-120"/>
              </a:rPr>
              <a:t>~40%</a:t>
            </a:r>
            <a:r>
              <a:rPr lang="en-US" sz="900" dirty="0">
                <a:solidFill>
                  <a:srgbClr val="404040"/>
                </a:solidFill>
                <a:latin typeface="Calibri" pitchFamily="34" charset="0"/>
                <a:ea typeface="Calibri" pitchFamily="34" charset="-122"/>
                <a:cs typeface="Calibri" pitchFamily="34" charset="-120"/>
              </a:rPr>
              <a:t> of fleet kitted; 70% has reverse-bleed fix</a:t>
            </a:r>
            <a:endParaRPr lang="en-US" sz="900" dirty="0"/>
          </a:p>
        </p:txBody>
      </p:sp>
      <p:sp>
        <p:nvSpPr>
          <p:cNvPr id="15" name="Shape 13"/>
          <p:cNvSpPr/>
          <p:nvPr/>
        </p:nvSpPr>
        <p:spPr>
          <a:xfrm>
            <a:off x="411480" y="3300984"/>
            <a:ext cx="1188720" cy="621792"/>
          </a:xfrm>
          <a:prstGeom prst="rect">
            <a:avLst>
              <a:gd name="adj" fmla="val 8824"/>
            </a:avLst>
          </a:prstGeom>
          <a:solidFill>
            <a:srgbClr val="0B1F44"/>
          </a:solidFill>
          <a:ln w="9525">
            <a:solidFill>
              <a:srgbClr val="0B1F44"/>
            </a:solidFill>
            <a:prstDash val="solid"/>
          </a:ln>
        </p:spPr>
      </p:sp>
      <p:sp>
        <p:nvSpPr>
          <p:cNvPr id="16" name="Text 14"/>
          <p:cNvSpPr txBox="1"/>
          <p:nvPr/>
        </p:nvSpPr>
        <p:spPr>
          <a:xfrm>
            <a:off x="457200" y="3300984"/>
            <a:ext cx="1097280" cy="621792"/>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GTF groundings</a:t>
            </a:r>
            <a:endParaRPr lang="en-US" sz="900" dirty="0"/>
          </a:p>
        </p:txBody>
      </p:sp>
      <p:sp>
        <p:nvSpPr>
          <p:cNvPr id="17" name="Shape 15"/>
          <p:cNvSpPr/>
          <p:nvPr/>
        </p:nvSpPr>
        <p:spPr>
          <a:xfrm>
            <a:off x="1645920" y="3300984"/>
            <a:ext cx="2423160" cy="621792"/>
          </a:xfrm>
          <a:prstGeom prst="roundRect">
            <a:avLst>
              <a:gd name="adj" fmla="val 8824"/>
            </a:avLst>
          </a:prstGeom>
          <a:solidFill>
            <a:srgbClr val="FFFFFF"/>
          </a:solidFill>
          <a:ln w="12700">
            <a:solidFill>
              <a:srgbClr val="0B1F44"/>
            </a:solidFill>
            <a:prstDash val="dash"/>
          </a:ln>
        </p:spPr>
      </p:sp>
      <p:sp>
        <p:nvSpPr>
          <p:cNvPr id="18" name="Text 16"/>
          <p:cNvSpPr txBox="1"/>
          <p:nvPr/>
        </p:nvSpPr>
        <p:spPr>
          <a:xfrm>
            <a:off x="1700784" y="3328416"/>
            <a:ext cx="2313432" cy="566928"/>
          </a:xfrm>
          <a:prstGeom prst="rect">
            <a:avLst/>
          </a:prstGeom>
          <a:noFill/>
          <a:ln/>
        </p:spPr>
        <p:txBody>
          <a:bodyPr wrap="square" lIns="38100" tIns="38100" rIns="38100" bIns="38100" rtlCol="0" anchor="ctr"/>
          <a:lstStyle/>
          <a:p>
            <a:pPr algn="l" indent="0" marL="0">
              <a:buNone/>
            </a:pPr>
            <a:r>
              <a:rPr lang="en-US" sz="900" b="1" dirty="0">
                <a:solidFill>
                  <a:srgbClr val="0B1F44"/>
                </a:solidFill>
                <a:latin typeface="Calibri" pitchFamily="34" charset="0"/>
                <a:ea typeface="Calibri" pitchFamily="34" charset="-122"/>
                <a:cs typeface="Calibri" pitchFamily="34" charset="-120"/>
              </a:rPr>
              <a:t>~835</a:t>
            </a:r>
            <a:r>
              <a:rPr lang="en-US" sz="900" dirty="0">
                <a:solidFill>
                  <a:srgbClr val="404040"/>
                </a:solidFill>
                <a:latin typeface="Calibri" pitchFamily="34" charset="0"/>
                <a:ea typeface="Calibri" pitchFamily="34" charset="-122"/>
                <a:cs typeface="Calibri" pitchFamily="34" charset="-120"/>
              </a:rPr>
              <a:t> PW1100G aircraft grounded or stored (late 2025); relief "a few more years" away</a:t>
            </a:r>
            <a:endParaRPr lang="en-US" sz="900" dirty="0"/>
          </a:p>
        </p:txBody>
      </p:sp>
      <p:sp>
        <p:nvSpPr>
          <p:cNvPr id="19" name="Shape 17"/>
          <p:cNvSpPr/>
          <p:nvPr/>
        </p:nvSpPr>
        <p:spPr>
          <a:xfrm>
            <a:off x="411480" y="4014216"/>
            <a:ext cx="1188720" cy="621792"/>
          </a:xfrm>
          <a:prstGeom prst="rect">
            <a:avLst>
              <a:gd name="adj" fmla="val 8824"/>
            </a:avLst>
          </a:prstGeom>
          <a:solidFill>
            <a:srgbClr val="0B1F44"/>
          </a:solidFill>
          <a:ln w="9525">
            <a:solidFill>
              <a:srgbClr val="0B1F44"/>
            </a:solidFill>
            <a:prstDash val="solid"/>
          </a:ln>
        </p:spPr>
      </p:sp>
      <p:sp>
        <p:nvSpPr>
          <p:cNvPr id="20" name="Text 18"/>
          <p:cNvSpPr txBox="1"/>
          <p:nvPr/>
        </p:nvSpPr>
        <p:spPr>
          <a:xfrm>
            <a:off x="457200" y="4014216"/>
            <a:ext cx="1097280" cy="621792"/>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Delivery backlog</a:t>
            </a:r>
            <a:endParaRPr lang="en-US" sz="900" dirty="0"/>
          </a:p>
        </p:txBody>
      </p:sp>
      <p:sp>
        <p:nvSpPr>
          <p:cNvPr id="21" name="Shape 19"/>
          <p:cNvSpPr/>
          <p:nvPr/>
        </p:nvSpPr>
        <p:spPr>
          <a:xfrm>
            <a:off x="1645920" y="4014216"/>
            <a:ext cx="2423160" cy="621792"/>
          </a:xfrm>
          <a:prstGeom prst="roundRect">
            <a:avLst>
              <a:gd name="adj" fmla="val 8824"/>
            </a:avLst>
          </a:prstGeom>
          <a:solidFill>
            <a:srgbClr val="FFFFFF"/>
          </a:solidFill>
          <a:ln w="12700">
            <a:solidFill>
              <a:srgbClr val="0B1F44"/>
            </a:solidFill>
            <a:prstDash val="dash"/>
          </a:ln>
        </p:spPr>
      </p:sp>
      <p:sp>
        <p:nvSpPr>
          <p:cNvPr id="22" name="Text 20"/>
          <p:cNvSpPr txBox="1"/>
          <p:nvPr/>
        </p:nvSpPr>
        <p:spPr>
          <a:xfrm>
            <a:off x="1700784" y="4041648"/>
            <a:ext cx="2313432" cy="566928"/>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Airbus/Boeing still behind plan; airlines </a:t>
            </a:r>
            <a:r>
              <a:rPr lang="en-US" sz="900" b="1" dirty="0">
                <a:solidFill>
                  <a:srgbClr val="0B1F44"/>
                </a:solidFill>
                <a:latin typeface="Calibri" pitchFamily="34" charset="0"/>
                <a:ea typeface="Calibri" pitchFamily="34" charset="-122"/>
                <a:cs typeface="Calibri" pitchFamily="34" charset="-120"/>
              </a:rPr>
              <a:t>cannot retire</a:t>
            </a:r>
            <a:r>
              <a:rPr lang="en-US" sz="900" dirty="0">
                <a:solidFill>
                  <a:srgbClr val="404040"/>
                </a:solidFill>
                <a:latin typeface="Calibri" pitchFamily="34" charset="0"/>
                <a:ea typeface="Calibri" pitchFamily="34" charset="-122"/>
                <a:cs typeface="Calibri" pitchFamily="34" charset="-120"/>
              </a:rPr>
              <a:t> what isn't replaced</a:t>
            </a:r>
            <a:endParaRPr lang="en-US" sz="900" dirty="0"/>
          </a:p>
        </p:txBody>
      </p:sp>
      <p:sp>
        <p:nvSpPr>
          <p:cNvPr id="23" name="Shape 21"/>
          <p:cNvSpPr/>
          <p:nvPr/>
        </p:nvSpPr>
        <p:spPr>
          <a:xfrm>
            <a:off x="411480" y="4754880"/>
            <a:ext cx="3657600" cy="658368"/>
          </a:xfrm>
          <a:prstGeom prst="roundRect">
            <a:avLst>
              <a:gd name="adj" fmla="val 8333"/>
            </a:avLst>
          </a:prstGeom>
          <a:solidFill>
            <a:srgbClr val="FFFFFF"/>
          </a:solidFill>
          <a:ln w="12700">
            <a:solidFill>
              <a:srgbClr val="0B1F44"/>
            </a:solidFill>
            <a:prstDash val="dash"/>
          </a:ln>
        </p:spPr>
      </p:sp>
      <p:sp>
        <p:nvSpPr>
          <p:cNvPr id="24" name="Text 22"/>
          <p:cNvSpPr txBox="1"/>
          <p:nvPr/>
        </p:nvSpPr>
        <p:spPr>
          <a:xfrm>
            <a:off x="466344" y="4782312"/>
            <a:ext cx="3547872" cy="603504"/>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LEAP time-on-wing issues persist </a:t>
            </a:r>
            <a:r>
              <a:rPr lang="en-US" sz="950" b="1" dirty="0">
                <a:solidFill>
                  <a:srgbClr val="0B1F44"/>
                </a:solidFill>
                <a:latin typeface="Calibri" pitchFamily="34" charset="0"/>
                <a:ea typeface="Calibri" pitchFamily="34" charset="-122"/>
                <a:cs typeface="Calibri" pitchFamily="34" charset="-120"/>
              </a:rPr>
              <a:t>into 2027</a:t>
            </a:r>
            <a:r>
              <a:rPr lang="en-US" sz="950" dirty="0">
                <a:solidFill>
                  <a:srgbClr val="404040"/>
                </a:solidFill>
                <a:latin typeface="Calibri" pitchFamily="34" charset="0"/>
                <a:ea typeface="Calibri" pitchFamily="34" charset="-122"/>
                <a:cs typeface="Calibri" pitchFamily="34" charset="-120"/>
              </a:rPr>
              <a:t>, which pushes utilisation back onto CFM56-5B/-7B and keeps them in the shop-visit pool</a:t>
            </a:r>
            <a:endParaRPr lang="en-US" sz="950" dirty="0"/>
          </a:p>
        </p:txBody>
      </p:sp>
      <p:sp>
        <p:nvSpPr>
          <p:cNvPr id="25" name="Shape 23"/>
          <p:cNvSpPr/>
          <p:nvPr/>
        </p:nvSpPr>
        <p:spPr>
          <a:xfrm>
            <a:off x="4251960" y="1536192"/>
            <a:ext cx="3657600" cy="292608"/>
          </a:xfrm>
          <a:prstGeom prst="rect">
            <a:avLst/>
          </a:prstGeom>
          <a:solidFill>
            <a:srgbClr val="DCE6F2"/>
          </a:solidFill>
          <a:ln w="9525">
            <a:solidFill>
              <a:srgbClr val="0B1F44"/>
            </a:solidFill>
            <a:prstDash val="solid"/>
          </a:ln>
        </p:spPr>
      </p:sp>
      <p:sp>
        <p:nvSpPr>
          <p:cNvPr id="26" name="Text 24"/>
          <p:cNvSpPr txBox="1"/>
          <p:nvPr/>
        </p:nvSpPr>
        <p:spPr>
          <a:xfrm>
            <a:off x="425196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CFM56 Retirement Rate: Assumed vs Actual</a:t>
            </a:r>
            <a:endParaRPr lang="en-US" sz="1200" dirty="0"/>
          </a:p>
        </p:txBody>
      </p:sp>
      <p:graphicFrame>
        <p:nvGraphicFramePr>
          <p:cNvPr id="27" name="Chart 0" descr=""/>
          <p:cNvGraphicFramePr/>
          <p:nvPr/>
        </p:nvGraphicFramePr>
        <p:xfrm>
          <a:off x="4251960" y="1847088"/>
          <a:ext cx="3657600" cy="288036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4251960" y="4754880"/>
            <a:ext cx="3657600" cy="658368"/>
          </a:xfrm>
          <a:prstGeom prst="roundRect">
            <a:avLst>
              <a:gd name="adj" fmla="val 8333"/>
            </a:avLst>
          </a:prstGeom>
          <a:solidFill>
            <a:srgbClr val="FFFFFF"/>
          </a:solidFill>
          <a:ln w="12700">
            <a:solidFill>
              <a:srgbClr val="0B1F44"/>
            </a:solidFill>
            <a:prstDash val="dash"/>
          </a:ln>
        </p:spPr>
      </p:sp>
      <p:sp>
        <p:nvSpPr>
          <p:cNvPr id="29" name="Text 26"/>
          <p:cNvSpPr txBox="1"/>
          <p:nvPr/>
        </p:nvSpPr>
        <p:spPr>
          <a:xfrm>
            <a:off x="4306824" y="4782312"/>
            <a:ext cx="3547872" cy="603504"/>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Midpoints of GE's 3–4% and 2–3% ranges vs 1.5–2% actual. Our base case </a:t>
            </a:r>
            <a:r>
              <a:rPr lang="en-US" sz="900" b="1" dirty="0">
                <a:solidFill>
                  <a:srgbClr val="0B1F44"/>
                </a:solidFill>
                <a:latin typeface="Calibri" pitchFamily="34" charset="0"/>
                <a:ea typeface="Calibri" pitchFamily="34" charset="-122"/>
                <a:cs typeface="Calibri" pitchFamily="34" charset="-120"/>
              </a:rPr>
              <a:t>still steps retirements up</a:t>
            </a:r>
            <a:r>
              <a:rPr lang="en-US" sz="900" dirty="0">
                <a:solidFill>
                  <a:srgbClr val="404040"/>
                </a:solidFill>
                <a:latin typeface="Calibri" pitchFamily="34" charset="0"/>
                <a:ea typeface="Calibri" pitchFamily="34" charset="-122"/>
                <a:cs typeface="Calibri" pitchFamily="34" charset="-120"/>
              </a:rPr>
              <a:t> to 2–4% by FY31</a:t>
            </a:r>
            <a:endParaRPr lang="en-US" sz="900" dirty="0"/>
          </a:p>
        </p:txBody>
      </p:sp>
      <p:sp>
        <p:nvSpPr>
          <p:cNvPr id="30" name="Shape 27"/>
          <p:cNvSpPr/>
          <p:nvPr/>
        </p:nvSpPr>
        <p:spPr>
          <a:xfrm>
            <a:off x="8092440" y="1536192"/>
            <a:ext cx="3685032" cy="292608"/>
          </a:xfrm>
          <a:prstGeom prst="rect">
            <a:avLst/>
          </a:prstGeom>
          <a:solidFill>
            <a:srgbClr val="DCE6F2"/>
          </a:solidFill>
          <a:ln w="9525">
            <a:solidFill>
              <a:srgbClr val="0B1F44"/>
            </a:solidFill>
            <a:prstDash val="solid"/>
          </a:ln>
        </p:spPr>
      </p:sp>
      <p:sp>
        <p:nvSpPr>
          <p:cNvPr id="31" name="Text 28"/>
          <p:cNvSpPr txBox="1"/>
          <p:nvPr/>
        </p:nvSpPr>
        <p:spPr>
          <a:xfrm>
            <a:off x="8092440" y="1536192"/>
            <a:ext cx="368503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The Fuel-Shock Bear Case</a:t>
            </a:r>
            <a:endParaRPr lang="en-US" sz="1200" dirty="0"/>
          </a:p>
        </p:txBody>
      </p:sp>
      <p:sp>
        <p:nvSpPr>
          <p:cNvPr id="32" name="Shape 29"/>
          <p:cNvSpPr/>
          <p:nvPr/>
        </p:nvSpPr>
        <p:spPr>
          <a:xfrm>
            <a:off x="8092440" y="1874520"/>
            <a:ext cx="3685032" cy="868680"/>
          </a:xfrm>
          <a:prstGeom prst="rect">
            <a:avLst>
              <a:gd name="adj" fmla="val 6316"/>
            </a:avLst>
          </a:prstGeom>
          <a:solidFill>
            <a:srgbClr val="DCE6F2"/>
          </a:solidFill>
          <a:ln w="9525">
            <a:solidFill>
              <a:srgbClr val="DCE6F2"/>
            </a:solidFill>
            <a:prstDash val="solid"/>
          </a:ln>
        </p:spPr>
      </p:sp>
      <p:sp>
        <p:nvSpPr>
          <p:cNvPr id="33" name="Text 30"/>
          <p:cNvSpPr txBox="1"/>
          <p:nvPr/>
        </p:nvSpPr>
        <p:spPr>
          <a:xfrm>
            <a:off x="8138160" y="1874520"/>
            <a:ext cx="3593592" cy="868680"/>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Bear:</a:t>
            </a:r>
            <a:r>
              <a:rPr lang="en-US" sz="950" dirty="0">
                <a:solidFill>
                  <a:srgbClr val="404040"/>
                </a:solidFill>
                <a:latin typeface="Calibri" pitchFamily="34" charset="0"/>
                <a:ea typeface="Calibri" pitchFamily="34" charset="-122"/>
                <a:cs typeface="Calibri" pitchFamily="34" charset="-120"/>
              </a:rPr>
              <a:t> jet fuel more than doubled from Feb-26 (Hormuz); IATA cut 2026 profit to ~$23bn. Old, thirsty CFM56 jets get parked first</a:t>
            </a:r>
            <a:endParaRPr lang="en-US" sz="950" dirty="0"/>
          </a:p>
        </p:txBody>
      </p:sp>
      <p:sp>
        <p:nvSpPr>
          <p:cNvPr id="34" name="Text 31"/>
          <p:cNvSpPr txBox="1"/>
          <p:nvPr/>
        </p:nvSpPr>
        <p:spPr>
          <a:xfrm>
            <a:off x="8092440" y="2816352"/>
            <a:ext cx="3685032" cy="274320"/>
          </a:xfrm>
          <a:prstGeom prst="rect">
            <a:avLst/>
          </a:prstGeom>
          <a:noFill/>
          <a:ln/>
        </p:spPr>
        <p:txBody>
          <a:bodyPr wrap="square" lIns="25400" tIns="25400" rIns="25400" bIns="25400" rtlCol="0" anchor="ctr"/>
          <a:lstStyle/>
          <a:p>
            <a:pPr algn="l" indent="0" marL="0">
              <a:buNone/>
            </a:pPr>
            <a:r>
              <a:rPr lang="en-US" sz="1000" b="1" dirty="0">
                <a:solidFill>
                  <a:srgbClr val="0B1F44"/>
                </a:solidFill>
                <a:latin typeface="Calibri" pitchFamily="34" charset="0"/>
                <a:ea typeface="Calibri" pitchFamily="34" charset="-122"/>
                <a:cs typeface="Calibri" pitchFamily="34" charset="-120"/>
              </a:rPr>
              <a:t>Our view: no evidence, and fleets can't turn on a dime</a:t>
            </a:r>
            <a:endParaRPr lang="en-US" sz="1000" dirty="0"/>
          </a:p>
        </p:txBody>
      </p:sp>
      <p:sp>
        <p:nvSpPr>
          <p:cNvPr id="35" name="Text 32"/>
          <p:cNvSpPr txBox="1"/>
          <p:nvPr/>
        </p:nvSpPr>
        <p:spPr>
          <a:xfrm>
            <a:off x="8092440" y="3108960"/>
            <a:ext cx="3685032" cy="2331720"/>
          </a:xfrm>
          <a:prstGeom prst="rect">
            <a:avLst/>
          </a:prstGeom>
          <a:noFill/>
          <a:ln/>
        </p:spPr>
        <p:txBody>
          <a:bodyPr wrap="square" lIns="38100" tIns="38100" rIns="38100" bIns="38100" rtlCol="0" anchor="t"/>
          <a:lstStyle/>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GE's mid-2026 data shows retirements at </a:t>
            </a:r>
            <a:r>
              <a:rPr lang="en-US" sz="950" b="1" dirty="0">
                <a:solidFill>
                  <a:srgbClr val="0B1F44"/>
                </a:solidFill>
                <a:latin typeface="Calibri" pitchFamily="34" charset="0"/>
                <a:ea typeface="Calibri" pitchFamily="34" charset="-122"/>
                <a:cs typeface="Calibri" pitchFamily="34" charset="-120"/>
              </a:rPr>
              <a:t>1.5–2%</a:t>
            </a:r>
            <a:r>
              <a:rPr lang="en-US" sz="950" dirty="0">
                <a:solidFill>
                  <a:srgbClr val="404040"/>
                </a:solidFill>
                <a:latin typeface="Calibri" pitchFamily="34" charset="0"/>
                <a:ea typeface="Calibri" pitchFamily="34" charset="-122"/>
                <a:cs typeface="Calibri" pitchFamily="34" charset="-120"/>
              </a:rPr>
              <a:t>, below its own 2–3% assumption</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IBA (Sep-26): CFM56 values </a:t>
            </a:r>
            <a:r>
              <a:rPr lang="en-US" sz="950" b="1" dirty="0">
                <a:solidFill>
                  <a:srgbClr val="0B1F44"/>
                </a:solidFill>
                <a:latin typeface="Calibri" pitchFamily="34" charset="0"/>
                <a:ea typeface="Calibri" pitchFamily="34" charset="-122"/>
                <a:cs typeface="Calibri" pitchFamily="34" charset="-120"/>
              </a:rPr>
              <a:t>"broadly stabilised"</a:t>
            </a:r>
            <a:r>
              <a:rPr lang="en-US" sz="950" dirty="0">
                <a:solidFill>
                  <a:srgbClr val="404040"/>
                </a:solidFill>
                <a:latin typeface="Calibri" pitchFamily="34" charset="0"/>
                <a:ea typeface="Calibri" pitchFamily="34" charset="-122"/>
                <a:cs typeface="Calibri" pitchFamily="34" charset="-120"/>
              </a:rPr>
              <a:t>; -5B lease rates </a:t>
            </a:r>
            <a:r>
              <a:rPr lang="en-US" sz="950" b="1" dirty="0">
                <a:solidFill>
                  <a:srgbClr val="0B1F44"/>
                </a:solidFill>
                <a:latin typeface="Calibri" pitchFamily="34" charset="0"/>
                <a:ea typeface="Calibri" pitchFamily="34" charset="-122"/>
                <a:cs typeface="Calibri" pitchFamily="34" charset="-120"/>
              </a:rPr>
              <a:t>+11%</a:t>
            </a:r>
            <a:r>
              <a:rPr lang="en-US" sz="950" dirty="0">
                <a:solidFill>
                  <a:srgbClr val="404040"/>
                </a:solidFill>
                <a:latin typeface="Calibri" pitchFamily="34" charset="0"/>
                <a:ea typeface="Calibri" pitchFamily="34" charset="-122"/>
                <a:cs typeface="Calibri" pitchFamily="34" charset="-120"/>
              </a:rPr>
              <a:t>. Retired engines would push values down</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Retirement plans are set by </a:t>
            </a:r>
            <a:r>
              <a:rPr lang="en-US" sz="950" b="1" dirty="0">
                <a:solidFill>
                  <a:srgbClr val="0B1F44"/>
                </a:solidFill>
                <a:latin typeface="Calibri" pitchFamily="34" charset="0"/>
                <a:ea typeface="Calibri" pitchFamily="34" charset="-122"/>
                <a:cs typeface="Calibri" pitchFamily="34" charset="-120"/>
              </a:rPr>
              <a:t>lease terms, delivery slots and crew/sim training</a:t>
            </a:r>
            <a:r>
              <a:rPr lang="en-US" sz="950" dirty="0">
                <a:solidFill>
                  <a:srgbClr val="404040"/>
                </a:solidFill>
                <a:latin typeface="Calibri" pitchFamily="34" charset="0"/>
                <a:ea typeface="Calibri" pitchFamily="34" charset="-122"/>
                <a:cs typeface="Calibri" pitchFamily="34" charset="-120"/>
              </a:rPr>
              <a:t> years ahead</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WestJet's 737-700 retirement is real — and </a:t>
            </a:r>
            <a:r>
              <a:rPr lang="en-US" sz="950" b="1" dirty="0">
                <a:solidFill>
                  <a:srgbClr val="0B1F44"/>
                </a:solidFill>
                <a:latin typeface="Calibri" pitchFamily="34" charset="0"/>
                <a:ea typeface="Calibri" pitchFamily="34" charset="-122"/>
                <a:cs typeface="Calibri" pitchFamily="34" charset="-120"/>
              </a:rPr>
              <a:t>FTAI is the buyer</a:t>
            </a:r>
            <a:r>
              <a:rPr lang="en-US" sz="950" dirty="0">
                <a:solidFill>
                  <a:srgbClr val="404040"/>
                </a:solidFill>
                <a:latin typeface="Calibri" pitchFamily="34" charset="0"/>
                <a:ea typeface="Calibri" pitchFamily="34" charset="-122"/>
                <a:cs typeface="Calibri" pitchFamily="34" charset="-120"/>
              </a:rPr>
              <a:t> (10 aircraft to AP feedstock)</a:t>
            </a:r>
            <a:endParaRPr lang="en-US" sz="950" dirty="0"/>
          </a:p>
        </p:txBody>
      </p:sp>
      <p:sp>
        <p:nvSpPr>
          <p:cNvPr id="36" name="Shape 33"/>
          <p:cNvSpPr/>
          <p:nvPr/>
        </p:nvSpPr>
        <p:spPr>
          <a:xfrm>
            <a:off x="411480" y="5532120"/>
            <a:ext cx="11365992" cy="749808"/>
          </a:xfrm>
          <a:prstGeom prst="rect">
            <a:avLst>
              <a:gd name="adj" fmla="val 7317"/>
            </a:avLst>
          </a:prstGeom>
          <a:solidFill>
            <a:srgbClr val="0B1F44"/>
          </a:solidFill>
          <a:ln w="9525">
            <a:solidFill>
              <a:srgbClr val="0B1F44"/>
            </a:solidFill>
            <a:prstDash val="solid"/>
          </a:ln>
        </p:spPr>
      </p:sp>
      <p:sp>
        <p:nvSpPr>
          <p:cNvPr id="37" name="Text 34"/>
          <p:cNvSpPr txBox="1"/>
          <p:nvPr/>
        </p:nvSpPr>
        <p:spPr>
          <a:xfrm>
            <a:off x="457200" y="5532120"/>
            <a:ext cx="11274552" cy="74980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Bear case cuts -5B retirements to 4–5%/yr: still $173 SOTP</a:t>
            </a:r>
            <a:endParaRPr lang="en-US" sz="1200" dirty="0"/>
          </a:p>
        </p:txBody>
      </p:sp>
      <p:sp>
        <p:nvSpPr>
          <p:cNvPr id="38" name="Text 35"/>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GE Aerospace (Morgan Stanley Laguna conf., via Aviation Week); GE Q2'26 release; Leeham; The Air Current; Cirium; IATA (Jun-26); IBA (H1'26, Sep-26); WestJet / FTAI (28-Sep-26);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2 (3/4): Why FTAI Wins The Whitespace</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Cheaper, Faster, And With Its Own Feedstock: FTAI Sells Airlines Time They Can't Buy Elsewhere</a:t>
            </a:r>
            <a:endParaRPr lang="en-US" sz="15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Days Off Wing</a:t>
            </a:r>
            <a:endParaRPr lang="en-US" sz="1200" dirty="0"/>
          </a:p>
        </p:txBody>
      </p:sp>
      <p:graphicFrame>
        <p:nvGraphicFramePr>
          <p:cNvPr id="7" name="Chart 0" descr=""/>
          <p:cNvGraphicFramePr/>
          <p:nvPr/>
        </p:nvGraphicFramePr>
        <p:xfrm>
          <a:off x="411480" y="1847088"/>
          <a:ext cx="5577840" cy="17373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11480" y="3584448"/>
            <a:ext cx="5577840" cy="228600"/>
          </a:xfrm>
          <a:prstGeom prst="rect">
            <a:avLst/>
          </a:prstGeom>
          <a:noFill/>
          <a:ln/>
        </p:spPr>
        <p:txBody>
          <a:bodyPr wrap="square" lIns="25400" tIns="25400" rIns="25400" bIns="25400" rtlCol="0" anchor="ctr"/>
          <a:lstStyle/>
          <a:p>
            <a:pPr algn="l" indent="0" marL="0">
              <a:buNone/>
            </a:pPr>
            <a:r>
              <a:rPr lang="en-US" sz="800" i="1" dirty="0">
                <a:solidFill>
                  <a:srgbClr val="8C8C8C"/>
                </a:solidFill>
                <a:latin typeface="Calibri" pitchFamily="34" charset="0"/>
                <a:ea typeface="Calibri" pitchFamily="34" charset="-122"/>
                <a:cs typeface="Calibri" pitchFamily="34" charset="-120"/>
              </a:rPr>
              <a:t>Shop visit 120–180 days incl. 2–6 months waiting for a slot; FTAI swap 5–25 days</a:t>
            </a:r>
            <a:endParaRPr lang="en-US" sz="800" dirty="0"/>
          </a:p>
        </p:txBody>
      </p:sp>
      <p:sp>
        <p:nvSpPr>
          <p:cNvPr id="9" name="Shape 6"/>
          <p:cNvSpPr/>
          <p:nvPr/>
        </p:nvSpPr>
        <p:spPr>
          <a:xfrm>
            <a:off x="411480" y="3886200"/>
            <a:ext cx="2743200" cy="292608"/>
          </a:xfrm>
          <a:prstGeom prst="rect">
            <a:avLst/>
          </a:prstGeom>
          <a:solidFill>
            <a:srgbClr val="DCE6F2"/>
          </a:solidFill>
          <a:ln w="9525">
            <a:solidFill>
              <a:srgbClr val="0B1F44"/>
            </a:solidFill>
            <a:prstDash val="solid"/>
          </a:ln>
        </p:spPr>
      </p:sp>
      <p:sp>
        <p:nvSpPr>
          <p:cNvPr id="10" name="Text 7"/>
          <p:cNvSpPr txBox="1"/>
          <p:nvPr/>
        </p:nvSpPr>
        <p:spPr>
          <a:xfrm>
            <a:off x="411480" y="3886200"/>
            <a:ext cx="27432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Lease Cost While Grounded ($K)</a:t>
            </a:r>
            <a:endParaRPr lang="en-US" sz="1200" dirty="0"/>
          </a:p>
        </p:txBody>
      </p:sp>
      <p:graphicFrame>
        <p:nvGraphicFramePr>
          <p:cNvPr id="11" name="Chart 1" descr=""/>
          <p:cNvGraphicFramePr/>
          <p:nvPr/>
        </p:nvGraphicFramePr>
        <p:xfrm>
          <a:off x="411480" y="4206240"/>
          <a:ext cx="2743200" cy="141732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3291840" y="3886200"/>
            <a:ext cx="1280160" cy="1737360"/>
          </a:xfrm>
          <a:prstGeom prst="roundRect">
            <a:avLst>
              <a:gd name="adj" fmla="val 4286"/>
            </a:avLst>
          </a:prstGeom>
          <a:solidFill>
            <a:srgbClr val="F2F2F2"/>
          </a:solidFill>
          <a:ln w="9525">
            <a:solidFill>
              <a:srgbClr val="F2F2F2"/>
            </a:solidFill>
            <a:prstDash val="solid"/>
          </a:ln>
        </p:spPr>
      </p:sp>
      <p:sp>
        <p:nvSpPr>
          <p:cNvPr id="13" name="Text 9"/>
          <p:cNvSpPr txBox="1"/>
          <p:nvPr/>
        </p:nvSpPr>
        <p:spPr>
          <a:xfrm>
            <a:off x="3291840" y="3922776"/>
            <a:ext cx="1280160" cy="955548"/>
          </a:xfrm>
          <a:prstGeom prst="rect">
            <a:avLst/>
          </a:prstGeom>
          <a:noFill/>
          <a:ln/>
        </p:spPr>
        <p:txBody>
          <a:bodyPr wrap="square" lIns="0" tIns="0" rIns="0" bIns="0" rtlCol="0" anchor="b"/>
          <a:lstStyle/>
          <a:p>
            <a:pPr algn="ctr" indent="0" marL="0">
              <a:buNone/>
            </a:pPr>
            <a:r>
              <a:rPr lang="en-US" sz="2400" b="1" dirty="0">
                <a:solidFill>
                  <a:srgbClr val="E8702A"/>
                </a:solidFill>
                <a:latin typeface="Cambria" pitchFamily="34" charset="0"/>
                <a:ea typeface="Cambria" pitchFamily="34" charset="-122"/>
                <a:cs typeface="Cambria" pitchFamily="34" charset="-120"/>
              </a:rPr>
              <a:t>~7x</a:t>
            </a:r>
            <a:endParaRPr lang="en-US" sz="2400" dirty="0"/>
          </a:p>
        </p:txBody>
      </p:sp>
      <p:sp>
        <p:nvSpPr>
          <p:cNvPr id="14" name="Text 10"/>
          <p:cNvSpPr txBox="1"/>
          <p:nvPr/>
        </p:nvSpPr>
        <p:spPr>
          <a:xfrm>
            <a:off x="3337560" y="4893869"/>
            <a:ext cx="1188720" cy="694944"/>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faster back in service</a:t>
            </a:r>
            <a:endParaRPr lang="en-US" sz="900" dirty="0"/>
          </a:p>
        </p:txBody>
      </p:sp>
      <p:sp>
        <p:nvSpPr>
          <p:cNvPr id="15" name="Shape 11"/>
          <p:cNvSpPr/>
          <p:nvPr/>
        </p:nvSpPr>
        <p:spPr>
          <a:xfrm>
            <a:off x="4663440" y="3886200"/>
            <a:ext cx="1325880" cy="1737360"/>
          </a:xfrm>
          <a:prstGeom prst="roundRect">
            <a:avLst>
              <a:gd name="adj" fmla="val 4138"/>
            </a:avLst>
          </a:prstGeom>
          <a:solidFill>
            <a:srgbClr val="F2F2F2"/>
          </a:solidFill>
          <a:ln w="9525">
            <a:solidFill>
              <a:srgbClr val="F2F2F2"/>
            </a:solidFill>
            <a:prstDash val="solid"/>
          </a:ln>
        </p:spPr>
      </p:sp>
      <p:sp>
        <p:nvSpPr>
          <p:cNvPr id="16" name="Text 12"/>
          <p:cNvSpPr txBox="1"/>
          <p:nvPr/>
        </p:nvSpPr>
        <p:spPr>
          <a:xfrm>
            <a:off x="4663440" y="3922776"/>
            <a:ext cx="1325880" cy="955548"/>
          </a:xfrm>
          <a:prstGeom prst="rect">
            <a:avLst/>
          </a:prstGeom>
          <a:noFill/>
          <a:ln/>
        </p:spPr>
        <p:txBody>
          <a:bodyPr wrap="square" lIns="0" tIns="0" rIns="0" bIns="0" rtlCol="0" anchor="b"/>
          <a:lstStyle/>
          <a:p>
            <a:pPr algn="ctr" indent="0" marL="0">
              <a:buNone/>
            </a:pPr>
            <a:r>
              <a:rPr lang="en-US" sz="2000" b="1" dirty="0">
                <a:solidFill>
                  <a:srgbClr val="E8702A"/>
                </a:solidFill>
                <a:latin typeface="Cambria" pitchFamily="34" charset="0"/>
                <a:ea typeface="Cambria" pitchFamily="34" charset="-122"/>
                <a:cs typeface="Cambria" pitchFamily="34" charset="-120"/>
              </a:rPr>
              <a:t>$427K</a:t>
            </a:r>
            <a:endParaRPr lang="en-US" sz="2000" dirty="0"/>
          </a:p>
        </p:txBody>
      </p:sp>
      <p:sp>
        <p:nvSpPr>
          <p:cNvPr id="17" name="Text 13"/>
          <p:cNvSpPr txBox="1"/>
          <p:nvPr/>
        </p:nvSpPr>
        <p:spPr>
          <a:xfrm>
            <a:off x="4709160" y="4893869"/>
            <a:ext cx="1234440" cy="694944"/>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lease cost saved per event</a:t>
            </a:r>
            <a:endParaRPr lang="en-US" sz="900" dirty="0"/>
          </a:p>
        </p:txBody>
      </p:sp>
      <p:sp>
        <p:nvSpPr>
          <p:cNvPr id="18" name="Shape 14"/>
          <p:cNvSpPr/>
          <p:nvPr/>
        </p:nvSpPr>
        <p:spPr>
          <a:xfrm>
            <a:off x="411480" y="5715000"/>
            <a:ext cx="5577840" cy="566928"/>
          </a:xfrm>
          <a:prstGeom prst="roundRect">
            <a:avLst>
              <a:gd name="adj" fmla="val 9677"/>
            </a:avLst>
          </a:prstGeom>
          <a:solidFill>
            <a:srgbClr val="FFFFFF"/>
          </a:solidFill>
          <a:ln w="12700">
            <a:solidFill>
              <a:srgbClr val="0B1F44"/>
            </a:solidFill>
            <a:prstDash val="dash"/>
          </a:ln>
        </p:spPr>
      </p:sp>
      <p:sp>
        <p:nvSpPr>
          <p:cNvPr id="19" name="Text 15"/>
          <p:cNvSpPr txBox="1"/>
          <p:nvPr/>
        </p:nvSpPr>
        <p:spPr>
          <a:xfrm>
            <a:off x="466344" y="5742432"/>
            <a:ext cx="5468112" cy="512064"/>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"FTAI's advantage is basically turnaround time and cheaper sourcing." — </a:t>
            </a:r>
            <a:r>
              <a:rPr lang="en-US" sz="950" b="1" dirty="0">
                <a:solidFill>
                  <a:srgbClr val="0B1F44"/>
                </a:solidFill>
                <a:latin typeface="Calibri" pitchFamily="34" charset="0"/>
                <a:ea typeface="Calibri" pitchFamily="34" charset="-122"/>
                <a:cs typeface="Calibri" pitchFamily="34" charset="-120"/>
              </a:rPr>
              <a:t>Industry expert</a:t>
            </a:r>
            <a:endParaRPr lang="en-US" sz="950" dirty="0"/>
          </a:p>
        </p:txBody>
      </p:sp>
      <p:sp>
        <p:nvSpPr>
          <p:cNvPr id="20" name="Shape 16"/>
          <p:cNvSpPr/>
          <p:nvPr/>
        </p:nvSpPr>
        <p:spPr>
          <a:xfrm>
            <a:off x="6199632" y="1536192"/>
            <a:ext cx="5577840" cy="292608"/>
          </a:xfrm>
          <a:prstGeom prst="rect">
            <a:avLst/>
          </a:prstGeom>
          <a:solidFill>
            <a:srgbClr val="DCE6F2"/>
          </a:solidFill>
          <a:ln w="9525">
            <a:solidFill>
              <a:srgbClr val="0B1F44"/>
            </a:solidFill>
            <a:prstDash val="solid"/>
          </a:ln>
        </p:spPr>
      </p:sp>
      <p:sp>
        <p:nvSpPr>
          <p:cNvPr id="21" name="Text 17"/>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FTAI vs A Conventional Shop</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99632" y="1874520"/>
          <a:ext cx="5577840" cy="914400"/>
        </p:xfrm>
        <a:graphic>
          <a:graphicData uri="http://schemas.openxmlformats.org/drawingml/2006/table">
            <a:tbl>
              <a:tblPr/>
              <a:tblGrid>
                <a:gridCol w="1097280"/>
                <a:gridCol w="2514600"/>
                <a:gridCol w="1965960"/>
              </a:tblGrid>
              <a:tr h="347472">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Edge</a:t>
                      </a:r>
                      <a:endParaRPr lang="en-US" sz="8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FTAI</a:t>
                      </a:r>
                      <a:endParaRPr lang="en-US" sz="8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MTU / LHT / SRT / OEM shops</a:t>
                      </a:r>
                      <a:endParaRPr lang="en-US" sz="8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47472">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Feedstock</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1,000+ owned CFM56s; WestJet, United run-outs; AAR USM through 2030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Buy new OEM parts at list (+6%/yr)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47472">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Parts cost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PMA (3 of 5 approved), USM, in-house repairs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OEM-licensed, little PMA</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47472">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Model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Swap a restored module from the pool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Repair the engine in sequence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47472">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Labour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Montreal, Miami, Lisbon, Jakarta, Cairo</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High-wage Europe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47472">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Slots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1,800 modules of unused capacity in 2026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Sold out into 2027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47472">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Captive volume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SCI: 482 modules FY27E, contracted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None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23" name="Shape 18"/>
          <p:cNvSpPr/>
          <p:nvPr/>
        </p:nvSpPr>
        <p:spPr>
          <a:xfrm>
            <a:off x="6199632" y="4526280"/>
            <a:ext cx="5577840" cy="292608"/>
          </a:xfrm>
          <a:prstGeom prst="rect">
            <a:avLst/>
          </a:prstGeom>
          <a:solidFill>
            <a:srgbClr val="DCE6F2"/>
          </a:solidFill>
          <a:ln w="9525">
            <a:solidFill>
              <a:srgbClr val="0B1F44"/>
            </a:solidFill>
            <a:prstDash val="solid"/>
          </a:ln>
        </p:spPr>
      </p:sp>
      <p:sp>
        <p:nvSpPr>
          <p:cNvPr id="24" name="Text 19"/>
          <p:cNvSpPr txBox="1"/>
          <p:nvPr/>
        </p:nvSpPr>
        <p:spPr>
          <a:xfrm>
            <a:off x="6199632" y="452628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Proof It's Working</a:t>
            </a:r>
            <a:endParaRPr lang="en-US" sz="1200" dirty="0"/>
          </a:p>
        </p:txBody>
      </p:sp>
      <p:sp>
        <p:nvSpPr>
          <p:cNvPr id="25" name="Text 20"/>
          <p:cNvSpPr txBox="1"/>
          <p:nvPr/>
        </p:nvSpPr>
        <p:spPr>
          <a:xfrm>
            <a:off x="6199632" y="4846320"/>
            <a:ext cx="5577840" cy="1508760"/>
          </a:xfrm>
          <a:prstGeom prst="rect">
            <a:avLst/>
          </a:prstGeom>
          <a:noFill/>
          <a:ln/>
        </p:spPr>
        <p:txBody>
          <a:bodyPr wrap="square" lIns="38100" tIns="38100" rIns="38100" bIns="38100" rtlCol="0" anchor="t"/>
          <a:lstStyle/>
          <a:p>
            <a:pPr marL="342900" indent="-342900">
              <a:spcAft>
                <a:spcPts val="400"/>
              </a:spcAft>
              <a:buSzPct val="100000"/>
              <a:buChar char="▪"/>
            </a:pPr>
            <a:r>
              <a:rPr lang="en-US" sz="950" b="1" dirty="0">
                <a:solidFill>
                  <a:srgbClr val="0B1F44"/>
                </a:solidFill>
                <a:latin typeface="Calibri" pitchFamily="34" charset="0"/>
                <a:ea typeface="Calibri" pitchFamily="34" charset="-122"/>
                <a:cs typeface="Calibri" pitchFamily="34" charset="-120"/>
              </a:rPr>
              <a:t>United:</a:t>
            </a:r>
            <a:r>
              <a:rPr lang="en-US" sz="950" dirty="0">
                <a:solidFill>
                  <a:srgbClr val="404040"/>
                </a:solidFill>
                <a:latin typeface="Calibri" pitchFamily="34" charset="0"/>
                <a:ea typeface="Calibri" pitchFamily="34" charset="-122"/>
                <a:cs typeface="Calibri" pitchFamily="34" charset="-120"/>
              </a:rPr>
              <a:t> V2500 exchange expanded to a multi-year </a:t>
            </a:r>
            <a:r>
              <a:rPr lang="en-US" sz="950" b="1" dirty="0">
                <a:solidFill>
                  <a:srgbClr val="0B1F44"/>
                </a:solidFill>
                <a:latin typeface="Calibri" pitchFamily="34" charset="0"/>
                <a:ea typeface="Calibri" pitchFamily="34" charset="-122"/>
                <a:cs typeface="Calibri" pitchFamily="34" charset="-120"/>
              </a:rPr>
              <a:t>CFM56-7B MRE</a:t>
            </a:r>
            <a:r>
              <a:rPr lang="en-US" sz="950" dirty="0">
                <a:solidFill>
                  <a:srgbClr val="404040"/>
                </a:solidFill>
                <a:latin typeface="Calibri" pitchFamily="34" charset="0"/>
                <a:ea typeface="Calibri" pitchFamily="34" charset="-122"/>
                <a:cs typeface="Calibri" pitchFamily="34" charset="-120"/>
              </a:rPr>
              <a:t> for the 737NG fleet (8-Oct-26); FTAI buys the run-outs</a:t>
            </a:r>
            <a:endParaRPr lang="en-US" sz="950" dirty="0"/>
          </a:p>
          <a:p>
            <a:pPr marL="342900" indent="-342900">
              <a:spcAft>
                <a:spcPts val="400"/>
              </a:spcAft>
              <a:buSzPct val="100000"/>
              <a:buChar char="▪"/>
            </a:pPr>
            <a:r>
              <a:rPr lang="en-US" sz="950" b="1" dirty="0">
                <a:solidFill>
                  <a:srgbClr val="0B1F44"/>
                </a:solidFill>
                <a:latin typeface="Calibri" pitchFamily="34" charset="0"/>
                <a:ea typeface="Calibri" pitchFamily="34" charset="-122"/>
                <a:cs typeface="Calibri" pitchFamily="34" charset="-120"/>
              </a:rPr>
              <a:t>Share:</a:t>
            </a:r>
            <a:r>
              <a:rPr lang="en-US" sz="950" dirty="0">
                <a:solidFill>
                  <a:srgbClr val="404040"/>
                </a:solidFill>
                <a:latin typeface="Calibri" pitchFamily="34" charset="0"/>
                <a:ea typeface="Calibri" pitchFamily="34" charset="-122"/>
                <a:cs typeface="Calibri" pitchFamily="34" charset="-120"/>
              </a:rPr>
              <a:t> ~10% → 12% (Q1'26) → </a:t>
            </a:r>
            <a:r>
              <a:rPr lang="en-US" sz="950" b="1" dirty="0">
                <a:solidFill>
                  <a:srgbClr val="0B1F44"/>
                </a:solidFill>
                <a:latin typeface="Calibri" pitchFamily="34" charset="0"/>
                <a:ea typeface="Calibri" pitchFamily="34" charset="-122"/>
                <a:cs typeface="Calibri" pitchFamily="34" charset="-120"/>
              </a:rPr>
              <a:t>14% (Q2'26)</a:t>
            </a:r>
            <a:r>
              <a:rPr lang="en-US" sz="950" dirty="0">
                <a:solidFill>
                  <a:srgbClr val="404040"/>
                </a:solidFill>
                <a:latin typeface="Calibri" pitchFamily="34" charset="0"/>
                <a:ea typeface="Calibri" pitchFamily="34" charset="-122"/>
                <a:cs typeface="Calibri" pitchFamily="34" charset="-120"/>
              </a:rPr>
              <a:t> of the CFM56/V2500 market; modules </a:t>
            </a:r>
            <a:r>
              <a:rPr lang="en-US" sz="950" b="1" dirty="0">
                <a:solidFill>
                  <a:srgbClr val="0B1F44"/>
                </a:solidFill>
                <a:latin typeface="Calibri" pitchFamily="34" charset="0"/>
                <a:ea typeface="Calibri" pitchFamily="34" charset="-122"/>
                <a:cs typeface="Calibri" pitchFamily="34" charset="-120"/>
              </a:rPr>
              <a:t>+61% y/y</a:t>
            </a:r>
            <a:r>
              <a:rPr lang="en-US" sz="950" dirty="0">
                <a:solidFill>
                  <a:srgbClr val="404040"/>
                </a:solidFill>
                <a:latin typeface="Calibri" pitchFamily="34" charset="0"/>
                <a:ea typeface="Calibri" pitchFamily="34" charset="-122"/>
                <a:cs typeface="Calibri" pitchFamily="34" charset="-120"/>
              </a:rPr>
              <a:t> in Q2</a:t>
            </a:r>
            <a:endParaRPr lang="en-US" sz="950" dirty="0"/>
          </a:p>
          <a:p>
            <a:pPr marL="342900" indent="-342900">
              <a:spcAft>
                <a:spcPts val="400"/>
              </a:spcAft>
              <a:buSzPct val="100000"/>
              <a:buChar char="▪"/>
            </a:pPr>
            <a:r>
              <a:rPr lang="en-US" sz="950" b="1" dirty="0">
                <a:solidFill>
                  <a:srgbClr val="0B1F44"/>
                </a:solidFill>
                <a:latin typeface="Calibri" pitchFamily="34" charset="0"/>
                <a:ea typeface="Calibri" pitchFamily="34" charset="-122"/>
                <a:cs typeface="Calibri" pitchFamily="34" charset="-120"/>
              </a:rPr>
              <a:t>Guidance:</a:t>
            </a:r>
            <a:r>
              <a:rPr lang="en-US" sz="950" dirty="0">
                <a:solidFill>
                  <a:srgbClr val="404040"/>
                </a:solidFill>
                <a:latin typeface="Calibri" pitchFamily="34" charset="0"/>
                <a:ea typeface="Calibri" pitchFamily="34" charset="-122"/>
                <a:cs typeface="Calibri" pitchFamily="34" charset="-120"/>
              </a:rPr>
              <a:t> 2026 modules raised twice, 1,000 → 1,050 → </a:t>
            </a:r>
            <a:r>
              <a:rPr lang="en-US" sz="950" b="1" dirty="0">
                <a:solidFill>
                  <a:srgbClr val="0B1F44"/>
                </a:solidFill>
                <a:latin typeface="Calibri" pitchFamily="34" charset="0"/>
                <a:ea typeface="Calibri" pitchFamily="34" charset="-122"/>
                <a:cs typeface="Calibri" pitchFamily="34" charset="-120"/>
              </a:rPr>
              <a:t>1,200</a:t>
            </a:r>
            <a:r>
              <a:rPr lang="en-US" sz="950" dirty="0">
                <a:solidFill>
                  <a:srgbClr val="404040"/>
                </a:solidFill>
                <a:latin typeface="Calibri" pitchFamily="34" charset="0"/>
                <a:ea typeface="Calibri" pitchFamily="34" charset="-122"/>
                <a:cs typeface="Calibri" pitchFamily="34" charset="-120"/>
              </a:rPr>
              <a:t>; 2027 target </a:t>
            </a:r>
            <a:r>
              <a:rPr lang="en-US" sz="950" b="1" dirty="0">
                <a:solidFill>
                  <a:srgbClr val="0B1F44"/>
                </a:solidFill>
                <a:latin typeface="Calibri" pitchFamily="34" charset="0"/>
                <a:ea typeface="Calibri" pitchFamily="34" charset="-122"/>
                <a:cs typeface="Calibri" pitchFamily="34" charset="-120"/>
              </a:rPr>
              <a:t>1,700</a:t>
            </a:r>
            <a:endParaRPr lang="en-US" sz="950" dirty="0"/>
          </a:p>
        </p:txBody>
      </p:sp>
      <p:sp>
        <p:nvSpPr>
          <p:cNvPr id="26" name="Text 2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Q2'24 call (TAT); IBA (2024) lease rates; FTAI Q1'26, Q2'26 calls and releases; United / FTAI (8-Oct-26); AAR; expert call. Step lengths illustrative</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2 (4/4): Capex Spent, Share To ~25%</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3,000 Modules Of Capacity vs 1,200 Produced: Jakarta And Cairo Ramp In 2027 And Accelerate Volume Adds</a:t>
            </a:r>
            <a:endParaRPr lang="en-US" sz="1500" dirty="0"/>
          </a:p>
        </p:txBody>
      </p:sp>
      <p:sp>
        <p:nvSpPr>
          <p:cNvPr id="5" name="Shape 3"/>
          <p:cNvSpPr/>
          <p:nvPr/>
        </p:nvSpPr>
        <p:spPr>
          <a:xfrm>
            <a:off x="411480" y="1536192"/>
            <a:ext cx="2176272" cy="777240"/>
          </a:xfrm>
          <a:prstGeom prst="roundRect">
            <a:avLst>
              <a:gd name="adj" fmla="val 7059"/>
            </a:avLst>
          </a:prstGeom>
          <a:solidFill>
            <a:srgbClr val="F2F2F2"/>
          </a:solidFill>
          <a:ln w="9525">
            <a:solidFill>
              <a:srgbClr val="F2F2F2"/>
            </a:solidFill>
            <a:prstDash val="solid"/>
          </a:ln>
        </p:spPr>
      </p:sp>
      <p:sp>
        <p:nvSpPr>
          <p:cNvPr id="6" name="Text 4"/>
          <p:cNvSpPr txBox="1"/>
          <p:nvPr/>
        </p:nvSpPr>
        <p:spPr>
          <a:xfrm>
            <a:off x="411480" y="1572768"/>
            <a:ext cx="2176272" cy="427482"/>
          </a:xfrm>
          <a:prstGeom prst="rect">
            <a:avLst/>
          </a:prstGeom>
          <a:noFill/>
          <a:ln/>
        </p:spPr>
        <p:txBody>
          <a:bodyPr wrap="square" lIns="0" tIns="0" rIns="0" bIns="0" rtlCol="0" anchor="b"/>
          <a:lstStyle/>
          <a:p>
            <a:pPr algn="ctr" indent="0" marL="0">
              <a:buNone/>
            </a:pPr>
            <a:r>
              <a:rPr lang="en-US" sz="1700" b="1" dirty="0">
                <a:solidFill>
                  <a:srgbClr val="0B1F44"/>
                </a:solidFill>
                <a:latin typeface="Cambria" pitchFamily="34" charset="0"/>
                <a:ea typeface="Cambria" pitchFamily="34" charset="-122"/>
                <a:cs typeface="Cambria" pitchFamily="34" charset="-120"/>
              </a:rPr>
              <a:t>2,386</a:t>
            </a:r>
            <a:endParaRPr lang="en-US" sz="1700" dirty="0"/>
          </a:p>
        </p:txBody>
      </p:sp>
      <p:sp>
        <p:nvSpPr>
          <p:cNvPr id="7" name="Text 5"/>
          <p:cNvSpPr txBox="1"/>
          <p:nvPr/>
        </p:nvSpPr>
        <p:spPr>
          <a:xfrm>
            <a:off x="457200" y="1986991"/>
            <a:ext cx="2084832" cy="31089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CFM56 shop visits</a:t>
            </a:r>
            <a:endParaRPr lang="en-US" sz="900" dirty="0"/>
          </a:p>
        </p:txBody>
      </p:sp>
      <p:sp>
        <p:nvSpPr>
          <p:cNvPr id="8" name="Shape 6"/>
          <p:cNvSpPr/>
          <p:nvPr/>
        </p:nvSpPr>
        <p:spPr>
          <a:xfrm>
            <a:off x="2697480" y="1536192"/>
            <a:ext cx="2176272" cy="777240"/>
          </a:xfrm>
          <a:prstGeom prst="roundRect">
            <a:avLst>
              <a:gd name="adj" fmla="val 7059"/>
            </a:avLst>
          </a:prstGeom>
          <a:solidFill>
            <a:srgbClr val="F2F2F2"/>
          </a:solidFill>
          <a:ln w="9525">
            <a:solidFill>
              <a:srgbClr val="F2F2F2"/>
            </a:solidFill>
            <a:prstDash val="solid"/>
          </a:ln>
        </p:spPr>
      </p:sp>
      <p:sp>
        <p:nvSpPr>
          <p:cNvPr id="9" name="Text 7"/>
          <p:cNvSpPr txBox="1"/>
          <p:nvPr/>
        </p:nvSpPr>
        <p:spPr>
          <a:xfrm>
            <a:off x="2697480" y="1572768"/>
            <a:ext cx="2176272" cy="427482"/>
          </a:xfrm>
          <a:prstGeom prst="rect">
            <a:avLst/>
          </a:prstGeom>
          <a:noFill/>
          <a:ln/>
        </p:spPr>
        <p:txBody>
          <a:bodyPr wrap="square" lIns="0" tIns="0" rIns="0" bIns="0" rtlCol="0" anchor="b"/>
          <a:lstStyle/>
          <a:p>
            <a:pPr algn="ctr" indent="0" marL="0">
              <a:buNone/>
            </a:pPr>
            <a:r>
              <a:rPr lang="en-US" sz="1700" b="1" dirty="0">
                <a:solidFill>
                  <a:srgbClr val="0B1F44"/>
                </a:solidFill>
                <a:latin typeface="Cambria" pitchFamily="34" charset="0"/>
                <a:ea typeface="Cambria" pitchFamily="34" charset="-122"/>
                <a:cs typeface="Cambria" pitchFamily="34" charset="-120"/>
              </a:rPr>
              <a:t>× 3</a:t>
            </a:r>
            <a:endParaRPr lang="en-US" sz="1700" dirty="0"/>
          </a:p>
        </p:txBody>
      </p:sp>
      <p:sp>
        <p:nvSpPr>
          <p:cNvPr id="10" name="Text 8"/>
          <p:cNvSpPr txBox="1"/>
          <p:nvPr/>
        </p:nvSpPr>
        <p:spPr>
          <a:xfrm>
            <a:off x="2743200" y="1986991"/>
            <a:ext cx="2084832" cy="31089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modules each</a:t>
            </a:r>
            <a:endParaRPr lang="en-US" sz="900" dirty="0"/>
          </a:p>
        </p:txBody>
      </p:sp>
      <p:sp>
        <p:nvSpPr>
          <p:cNvPr id="11" name="Shape 9"/>
          <p:cNvSpPr/>
          <p:nvPr/>
        </p:nvSpPr>
        <p:spPr>
          <a:xfrm>
            <a:off x="4983480" y="1536192"/>
            <a:ext cx="2176272" cy="777240"/>
          </a:xfrm>
          <a:prstGeom prst="roundRect">
            <a:avLst>
              <a:gd name="adj" fmla="val 7059"/>
            </a:avLst>
          </a:prstGeom>
          <a:solidFill>
            <a:srgbClr val="F2F2F2"/>
          </a:solidFill>
          <a:ln w="9525">
            <a:solidFill>
              <a:srgbClr val="F2F2F2"/>
            </a:solidFill>
            <a:prstDash val="solid"/>
          </a:ln>
        </p:spPr>
      </p:sp>
      <p:sp>
        <p:nvSpPr>
          <p:cNvPr id="12" name="Text 10"/>
          <p:cNvSpPr txBox="1"/>
          <p:nvPr/>
        </p:nvSpPr>
        <p:spPr>
          <a:xfrm>
            <a:off x="4983480" y="1572768"/>
            <a:ext cx="2176272" cy="427482"/>
          </a:xfrm>
          <a:prstGeom prst="rect">
            <a:avLst/>
          </a:prstGeom>
          <a:noFill/>
          <a:ln/>
        </p:spPr>
        <p:txBody>
          <a:bodyPr wrap="square" lIns="0" tIns="0" rIns="0" bIns="0" rtlCol="0" anchor="b"/>
          <a:lstStyle/>
          <a:p>
            <a:pPr algn="ctr" indent="0" marL="0">
              <a:buNone/>
            </a:pPr>
            <a:r>
              <a:rPr lang="en-US" sz="1700" b="1" dirty="0">
                <a:solidFill>
                  <a:srgbClr val="0B1F44"/>
                </a:solidFill>
                <a:latin typeface="Cambria" pitchFamily="34" charset="0"/>
                <a:ea typeface="Cambria" pitchFamily="34" charset="-122"/>
                <a:cs typeface="Cambria" pitchFamily="34" charset="-120"/>
              </a:rPr>
              <a:t>× 16.8%</a:t>
            </a:r>
            <a:endParaRPr lang="en-US" sz="1700" dirty="0"/>
          </a:p>
        </p:txBody>
      </p:sp>
      <p:sp>
        <p:nvSpPr>
          <p:cNvPr id="13" name="Text 11"/>
          <p:cNvSpPr txBox="1"/>
          <p:nvPr/>
        </p:nvSpPr>
        <p:spPr>
          <a:xfrm>
            <a:off x="5029200" y="1986991"/>
            <a:ext cx="2084832" cy="31089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FTAI third-party share</a:t>
            </a:r>
            <a:endParaRPr lang="en-US" sz="900" dirty="0"/>
          </a:p>
        </p:txBody>
      </p:sp>
      <p:sp>
        <p:nvSpPr>
          <p:cNvPr id="14" name="Shape 12"/>
          <p:cNvSpPr/>
          <p:nvPr/>
        </p:nvSpPr>
        <p:spPr>
          <a:xfrm>
            <a:off x="7269480" y="1536192"/>
            <a:ext cx="2176272" cy="777240"/>
          </a:xfrm>
          <a:prstGeom prst="roundRect">
            <a:avLst>
              <a:gd name="adj" fmla="val 7059"/>
            </a:avLst>
          </a:prstGeom>
          <a:solidFill>
            <a:srgbClr val="F2F2F2"/>
          </a:solidFill>
          <a:ln w="9525">
            <a:solidFill>
              <a:srgbClr val="F2F2F2"/>
            </a:solidFill>
            <a:prstDash val="solid"/>
          </a:ln>
        </p:spPr>
      </p:sp>
      <p:sp>
        <p:nvSpPr>
          <p:cNvPr id="15" name="Text 13"/>
          <p:cNvSpPr txBox="1"/>
          <p:nvPr/>
        </p:nvSpPr>
        <p:spPr>
          <a:xfrm>
            <a:off x="7269480" y="1572768"/>
            <a:ext cx="2176272" cy="427482"/>
          </a:xfrm>
          <a:prstGeom prst="rect">
            <a:avLst/>
          </a:prstGeom>
          <a:noFill/>
          <a:ln/>
        </p:spPr>
        <p:txBody>
          <a:bodyPr wrap="square" lIns="0" tIns="0" rIns="0" bIns="0" rtlCol="0" anchor="b"/>
          <a:lstStyle/>
          <a:p>
            <a:pPr algn="ctr" indent="0" marL="0">
              <a:buNone/>
            </a:pPr>
            <a:r>
              <a:rPr lang="en-US" sz="1700" b="1" dirty="0">
                <a:solidFill>
                  <a:srgbClr val="0B1F44"/>
                </a:solidFill>
                <a:latin typeface="Cambria" pitchFamily="34" charset="0"/>
                <a:ea typeface="Cambria" pitchFamily="34" charset="-122"/>
                <a:cs typeface="Cambria" pitchFamily="34" charset="-120"/>
              </a:rPr>
              <a:t>+ 482</a:t>
            </a:r>
            <a:endParaRPr lang="en-US" sz="1700" dirty="0"/>
          </a:p>
        </p:txBody>
      </p:sp>
      <p:sp>
        <p:nvSpPr>
          <p:cNvPr id="16" name="Text 14"/>
          <p:cNvSpPr txBox="1"/>
          <p:nvPr/>
        </p:nvSpPr>
        <p:spPr>
          <a:xfrm>
            <a:off x="7315200" y="1986991"/>
            <a:ext cx="2084832" cy="31089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SCI modules</a:t>
            </a:r>
            <a:endParaRPr lang="en-US" sz="900" dirty="0"/>
          </a:p>
        </p:txBody>
      </p:sp>
      <p:sp>
        <p:nvSpPr>
          <p:cNvPr id="17" name="Shape 15"/>
          <p:cNvSpPr/>
          <p:nvPr/>
        </p:nvSpPr>
        <p:spPr>
          <a:xfrm>
            <a:off x="9555480" y="1536192"/>
            <a:ext cx="2176272" cy="777240"/>
          </a:xfrm>
          <a:prstGeom prst="roundRect">
            <a:avLst>
              <a:gd name="adj" fmla="val 7059"/>
            </a:avLst>
          </a:prstGeom>
          <a:solidFill>
            <a:srgbClr val="0B1F44"/>
          </a:solidFill>
          <a:ln w="9525">
            <a:solidFill>
              <a:srgbClr val="0B1F44"/>
            </a:solidFill>
            <a:prstDash val="solid"/>
          </a:ln>
        </p:spPr>
      </p:sp>
      <p:sp>
        <p:nvSpPr>
          <p:cNvPr id="18" name="Text 16"/>
          <p:cNvSpPr txBox="1"/>
          <p:nvPr/>
        </p:nvSpPr>
        <p:spPr>
          <a:xfrm>
            <a:off x="9555480" y="1572768"/>
            <a:ext cx="2176272" cy="427482"/>
          </a:xfrm>
          <a:prstGeom prst="rect">
            <a:avLst/>
          </a:prstGeom>
          <a:noFill/>
          <a:ln/>
        </p:spPr>
        <p:txBody>
          <a:bodyPr wrap="square" lIns="0" tIns="0" rIns="0" bIns="0" rtlCol="0" anchor="b"/>
          <a:lstStyle/>
          <a:p>
            <a:pPr algn="ctr" indent="0" marL="0">
              <a:buNone/>
            </a:pPr>
            <a:r>
              <a:rPr lang="en-US" sz="1700" b="1" dirty="0">
                <a:solidFill>
                  <a:srgbClr val="FFFFFF"/>
                </a:solidFill>
                <a:latin typeface="Cambria" pitchFamily="34" charset="0"/>
                <a:ea typeface="Cambria" pitchFamily="34" charset="-122"/>
                <a:cs typeface="Cambria" pitchFamily="34" charset="-120"/>
              </a:rPr>
              <a:t>= 1,687</a:t>
            </a:r>
            <a:endParaRPr lang="en-US" sz="1700" dirty="0"/>
          </a:p>
        </p:txBody>
      </p:sp>
      <p:sp>
        <p:nvSpPr>
          <p:cNvPr id="19" name="Text 17"/>
          <p:cNvSpPr txBox="1"/>
          <p:nvPr/>
        </p:nvSpPr>
        <p:spPr>
          <a:xfrm>
            <a:off x="9601200" y="1986991"/>
            <a:ext cx="2084832" cy="310896"/>
          </a:xfrm>
          <a:prstGeom prst="rect">
            <a:avLst/>
          </a:prstGeom>
          <a:noFill/>
          <a:ln/>
        </p:spPr>
        <p:txBody>
          <a:bodyPr wrap="square" lIns="0" tIns="0" rIns="0" bIns="0" rtlCol="0" anchor="t"/>
          <a:lstStyle/>
          <a:p>
            <a:pPr algn="ctr" indent="0" marL="0">
              <a:buNone/>
            </a:pPr>
            <a:r>
              <a:rPr lang="en-US" sz="900" dirty="0">
                <a:solidFill>
                  <a:srgbClr val="FFFFFF"/>
                </a:solidFill>
                <a:latin typeface="Calibri" pitchFamily="34" charset="0"/>
                <a:ea typeface="Calibri" pitchFamily="34" charset="-122"/>
                <a:cs typeface="Calibri" pitchFamily="34" charset="-120"/>
              </a:rPr>
              <a:t>FY27E modules</a:t>
            </a:r>
            <a:endParaRPr lang="en-US" sz="900" dirty="0"/>
          </a:p>
        </p:txBody>
      </p:sp>
      <p:sp>
        <p:nvSpPr>
          <p:cNvPr id="20" name="Shape 18"/>
          <p:cNvSpPr/>
          <p:nvPr/>
        </p:nvSpPr>
        <p:spPr>
          <a:xfrm>
            <a:off x="411480" y="2450592"/>
            <a:ext cx="5577840" cy="292608"/>
          </a:xfrm>
          <a:prstGeom prst="rect">
            <a:avLst/>
          </a:prstGeom>
          <a:solidFill>
            <a:srgbClr val="DCE6F2"/>
          </a:solidFill>
          <a:ln w="9525">
            <a:solidFill>
              <a:srgbClr val="0B1F44"/>
            </a:solidFill>
            <a:prstDash val="solid"/>
          </a:ln>
        </p:spPr>
      </p:sp>
      <p:sp>
        <p:nvSpPr>
          <p:cNvPr id="21" name="Text 19"/>
          <p:cNvSpPr txBox="1"/>
          <p:nvPr/>
        </p:nvSpPr>
        <p:spPr>
          <a:xfrm>
            <a:off x="411480" y="24505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FTAI Share Of CFM56 Module Demand</a:t>
            </a:r>
            <a:endParaRPr lang="en-US" sz="1200" dirty="0"/>
          </a:p>
        </p:txBody>
      </p:sp>
      <p:graphicFrame>
        <p:nvGraphicFramePr>
          <p:cNvPr id="22" name="Chart 0" descr=""/>
          <p:cNvGraphicFramePr/>
          <p:nvPr/>
        </p:nvGraphicFramePr>
        <p:xfrm>
          <a:off x="411480" y="2743200"/>
          <a:ext cx="5577840" cy="237744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411480" y="5212080"/>
            <a:ext cx="5577840" cy="1097280"/>
          </a:xfrm>
          <a:prstGeom prst="roundRect">
            <a:avLst>
              <a:gd name="adj" fmla="val 5000"/>
            </a:avLst>
          </a:prstGeom>
          <a:solidFill>
            <a:srgbClr val="FFFFFF"/>
          </a:solidFill>
          <a:ln w="12700">
            <a:solidFill>
              <a:srgbClr val="0B1F44"/>
            </a:solidFill>
            <a:prstDash val="dash"/>
          </a:ln>
        </p:spPr>
      </p:sp>
      <p:sp>
        <p:nvSpPr>
          <p:cNvPr id="24" name="Text 21"/>
          <p:cNvSpPr txBox="1"/>
          <p:nvPr/>
        </p:nvSpPr>
        <p:spPr>
          <a:xfrm>
            <a:off x="466344" y="5239512"/>
            <a:ext cx="5468112" cy="104241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Management sized 3,000 modules for </a:t>
            </a:r>
            <a:r>
              <a:rPr lang="en-US" sz="950" b="1" dirty="0">
                <a:solidFill>
                  <a:srgbClr val="0B1F44"/>
                </a:solidFill>
                <a:latin typeface="Calibri" pitchFamily="34" charset="0"/>
                <a:ea typeface="Calibri" pitchFamily="34" charset="-122"/>
                <a:cs typeface="Calibri" pitchFamily="34" charset="-120"/>
              </a:rPr>
              <a:t>25% of the market</a:t>
            </a:r>
            <a:r>
              <a:rPr lang="en-US" sz="950" dirty="0">
                <a:solidFill>
                  <a:srgbClr val="404040"/>
                </a:solidFill>
                <a:latin typeface="Calibri" pitchFamily="34" charset="0"/>
                <a:ea typeface="Calibri" pitchFamily="34" charset="-122"/>
                <a:cs typeface="Calibri" pitchFamily="34" charset="-120"/>
              </a:rPr>
              <a:t>. Including SCI's contracted volume, FTAI touches </a:t>
            </a:r>
            <a:r>
              <a:rPr lang="en-US" sz="950" b="1" dirty="0">
                <a:solidFill>
                  <a:srgbClr val="0B1F44"/>
                </a:solidFill>
                <a:latin typeface="Calibri" pitchFamily="34" charset="0"/>
                <a:ea typeface="Calibri" pitchFamily="34" charset="-122"/>
                <a:cs typeface="Calibri" pitchFamily="34" charset="-120"/>
              </a:rPr>
              <a:t>~24% of all CFM56 module demand in FY27E</a:t>
            </a:r>
            <a:r>
              <a:rPr lang="en-US" sz="950" dirty="0">
                <a:solidFill>
                  <a:srgbClr val="404040"/>
                </a:solidFill>
                <a:latin typeface="Calibri" pitchFamily="34" charset="0"/>
                <a:ea typeface="Calibri" pitchFamily="34" charset="-122"/>
                <a:cs typeface="Calibri" pitchFamily="34" charset="-120"/>
              </a:rPr>
              <a:t>; third-party share alone only needs to grow </a:t>
            </a:r>
            <a:r>
              <a:rPr lang="en-US" sz="950" b="1" dirty="0">
                <a:solidFill>
                  <a:srgbClr val="0B1F44"/>
                </a:solidFill>
                <a:latin typeface="Calibri" pitchFamily="34" charset="0"/>
                <a:ea typeface="Calibri" pitchFamily="34" charset="-122"/>
                <a:cs typeface="Calibri" pitchFamily="34" charset="-120"/>
              </a:rPr>
              <a:t>half as fast</a:t>
            </a:r>
            <a:r>
              <a:rPr lang="en-US" sz="950" dirty="0">
                <a:solidFill>
                  <a:srgbClr val="404040"/>
                </a:solidFill>
                <a:latin typeface="Calibri" pitchFamily="34" charset="0"/>
                <a:ea typeface="Calibri" pitchFamily="34" charset="-122"/>
                <a:cs typeface="Calibri" pitchFamily="34" charset="-120"/>
              </a:rPr>
              <a:t> as it did in 1H26. Bull: third-party </a:t>
            </a:r>
            <a:r>
              <a:rPr lang="en-US" sz="950" b="1" dirty="0">
                <a:solidFill>
                  <a:srgbClr val="0B1F44"/>
                </a:solidFill>
                <a:latin typeface="Calibri" pitchFamily="34" charset="0"/>
                <a:ea typeface="Calibri" pitchFamily="34" charset="-122"/>
                <a:cs typeface="Calibri" pitchFamily="34" charset="-120"/>
              </a:rPr>
              <a:t>25%</a:t>
            </a:r>
            <a:r>
              <a:rPr lang="en-US" sz="950" dirty="0">
                <a:solidFill>
                  <a:srgbClr val="404040"/>
                </a:solidFill>
                <a:latin typeface="Calibri" pitchFamily="34" charset="0"/>
                <a:ea typeface="Calibri" pitchFamily="34" charset="-122"/>
                <a:cs typeface="Calibri" pitchFamily="34" charset="-120"/>
              </a:rPr>
              <a:t> by FY31</a:t>
            </a:r>
            <a:endParaRPr lang="en-US" sz="950" dirty="0"/>
          </a:p>
        </p:txBody>
      </p:sp>
      <p:sp>
        <p:nvSpPr>
          <p:cNvPr id="25" name="Shape 22"/>
          <p:cNvSpPr/>
          <p:nvPr/>
        </p:nvSpPr>
        <p:spPr>
          <a:xfrm>
            <a:off x="6199632" y="2450592"/>
            <a:ext cx="2743200" cy="292608"/>
          </a:xfrm>
          <a:prstGeom prst="rect">
            <a:avLst/>
          </a:prstGeom>
          <a:solidFill>
            <a:srgbClr val="DCE6F2"/>
          </a:solidFill>
          <a:ln w="9525">
            <a:solidFill>
              <a:srgbClr val="0B1F44"/>
            </a:solidFill>
            <a:prstDash val="solid"/>
          </a:ln>
        </p:spPr>
      </p:sp>
      <p:sp>
        <p:nvSpPr>
          <p:cNvPr id="26" name="Text 23"/>
          <p:cNvSpPr txBox="1"/>
          <p:nvPr/>
        </p:nvSpPr>
        <p:spPr>
          <a:xfrm>
            <a:off x="6199632" y="2450592"/>
            <a:ext cx="27432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Output vs Capacity (Modules)</a:t>
            </a:r>
            <a:endParaRPr lang="en-US" sz="1200" dirty="0"/>
          </a:p>
        </p:txBody>
      </p:sp>
      <p:graphicFrame>
        <p:nvGraphicFramePr>
          <p:cNvPr id="27" name="Chart 1" descr=""/>
          <p:cNvGraphicFramePr/>
          <p:nvPr/>
        </p:nvGraphicFramePr>
        <p:xfrm>
          <a:off x="6199632" y="2743200"/>
          <a:ext cx="2743200" cy="2377440"/>
        </p:xfrm>
        <a:graphic xmlns:a="http://schemas.openxmlformats.org/drawingml/2006/main">
          <a:graphicData uri="http://schemas.openxmlformats.org/drawingml/2006/chart">
            <c:chart xmlns:c="http://schemas.openxmlformats.org/drawingml/2006/chart" r:id="rId2"/>
          </a:graphicData>
        </a:graphic>
      </p:graphicFrame>
      <p:sp>
        <p:nvSpPr>
          <p:cNvPr id="28" name="Shape 24"/>
          <p:cNvSpPr/>
          <p:nvPr/>
        </p:nvSpPr>
        <p:spPr>
          <a:xfrm>
            <a:off x="9034272" y="2450592"/>
            <a:ext cx="2743200" cy="292608"/>
          </a:xfrm>
          <a:prstGeom prst="rect">
            <a:avLst/>
          </a:prstGeom>
          <a:solidFill>
            <a:srgbClr val="DCE6F2"/>
          </a:solidFill>
          <a:ln w="9525">
            <a:solidFill>
              <a:srgbClr val="0B1F44"/>
            </a:solidFill>
            <a:prstDash val="solid"/>
          </a:ln>
        </p:spPr>
      </p:sp>
      <p:sp>
        <p:nvSpPr>
          <p:cNvPr id="29" name="Text 25"/>
          <p:cNvSpPr txBox="1"/>
          <p:nvPr/>
        </p:nvSpPr>
        <p:spPr>
          <a:xfrm>
            <a:off x="9034272" y="2450592"/>
            <a:ext cx="27432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The Network</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034272" y="2743200"/>
          <a:ext cx="2743200" cy="914400"/>
        </p:xfrm>
        <a:graphic>
          <a:graphicData uri="http://schemas.openxmlformats.org/drawingml/2006/table">
            <a:tbl>
              <a:tblPr/>
              <a:tblGrid>
                <a:gridCol w="960120"/>
                <a:gridCol w="1783080"/>
              </a:tblGrid>
              <a:tr h="329184">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Site</a:t>
                      </a:r>
                      <a:endParaRPr lang="en-US" sz="8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Role</a:t>
                      </a:r>
                      <a:endParaRPr lang="en-US" sz="8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29184">
                <a:tc>
                  <a:txBody>
                    <a:bodyPr/>
                    <a:lstStyle/>
                    <a:p>
                      <a:pPr algn="l" indent="0" marL="0">
                        <a:buNone/>
                      </a:pPr>
                      <a:r>
                        <a:rPr lang="en-US" sz="800" dirty="0">
                          <a:solidFill>
                            <a:srgbClr val="404040"/>
                          </a:solidFill>
                          <a:latin typeface="Calibri" pitchFamily="34" charset="0"/>
                          <a:ea typeface="Calibri" pitchFamily="34" charset="-122"/>
                          <a:cs typeface="Calibri" pitchFamily="34" charset="-120"/>
                        </a:rPr>
                        <a:t>Montreal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Flagship, up to ~900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404040"/>
                          </a:solidFill>
                          <a:latin typeface="Calibri" pitchFamily="34" charset="0"/>
                          <a:ea typeface="Calibri" pitchFamily="34" charset="-122"/>
                          <a:cs typeface="Calibri" pitchFamily="34" charset="-120"/>
                        </a:rPr>
                        <a:t>Miami</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~475 in 2026E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29184">
                <a:tc>
                  <a:txBody>
                    <a:bodyPr/>
                    <a:lstStyle/>
                    <a:p>
                      <a:pPr algn="l" indent="0" marL="0">
                        <a:buNone/>
                      </a:pPr>
                      <a:r>
                        <a:rPr lang="en-US" sz="800" dirty="0">
                          <a:solidFill>
                            <a:srgbClr val="404040"/>
                          </a:solidFill>
                          <a:latin typeface="Calibri" pitchFamily="34" charset="0"/>
                          <a:ea typeface="Calibri" pitchFamily="34" charset="-122"/>
                          <a:cs typeface="Calibri" pitchFamily="34" charset="-120"/>
                        </a:rPr>
                        <a:t>Rome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QuickTurn; CFM56/LEAP test cell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404040"/>
                          </a:solidFill>
                          <a:latin typeface="Calibri" pitchFamily="34" charset="0"/>
                          <a:ea typeface="Calibri" pitchFamily="34" charset="-122"/>
                          <a:cs typeface="Calibri" pitchFamily="34" charset="-120"/>
                        </a:rPr>
                        <a:t>Lisbon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dirty="0">
                          <a:solidFill>
                            <a:srgbClr val="404040"/>
                          </a:solidFill>
                          <a:latin typeface="Calibri" pitchFamily="34" charset="0"/>
                          <a:ea typeface="Calibri" pitchFamily="34" charset="-122"/>
                          <a:cs typeface="Calibri" pitchFamily="34" charset="-120"/>
                        </a:rPr>
                        <a:t>+113k sq ft → 300+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29184">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Jakarta (GMF)</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B1F44"/>
                          </a:solidFill>
                          <a:latin typeface="Calibri" pitchFamily="34" charset="0"/>
                          <a:ea typeface="Calibri" pitchFamily="34" charset="-122"/>
                          <a:cs typeface="Calibri" pitchFamily="34" charset="-120"/>
                        </a:rPr>
                        <a:t>Heavy; 200+ techs; 5-yr deal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0B1F44"/>
                          </a:solidFill>
                          <a:latin typeface="Calibri" pitchFamily="34" charset="0"/>
                          <a:ea typeface="Calibri" pitchFamily="34" charset="-122"/>
                          <a:cs typeface="Calibri" pitchFamily="34" charset="-120"/>
                        </a:rPr>
                        <a:t>Cairo (EgyptAir)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0B1F44"/>
                          </a:solidFill>
                          <a:latin typeface="Calibri" pitchFamily="34" charset="0"/>
                          <a:ea typeface="Calibri" pitchFamily="34" charset="-122"/>
                          <a:cs typeface="Calibri" pitchFamily="34" charset="-120"/>
                        </a:rPr>
                        <a:t>-7B; ~120 techs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31" name="Shape 26"/>
          <p:cNvSpPr/>
          <p:nvPr/>
        </p:nvSpPr>
        <p:spPr>
          <a:xfrm>
            <a:off x="6199632" y="5212080"/>
            <a:ext cx="5577840" cy="502920"/>
          </a:xfrm>
          <a:prstGeom prst="rect">
            <a:avLst>
              <a:gd name="adj" fmla="val 10909"/>
            </a:avLst>
          </a:prstGeom>
          <a:solidFill>
            <a:srgbClr val="DCE6F2"/>
          </a:solidFill>
          <a:ln w="9525">
            <a:solidFill>
              <a:srgbClr val="DCE6F2"/>
            </a:solidFill>
            <a:prstDash val="solid"/>
          </a:ln>
        </p:spPr>
      </p:sp>
      <p:sp>
        <p:nvSpPr>
          <p:cNvPr id="32" name="Text 27"/>
          <p:cNvSpPr txBox="1"/>
          <p:nvPr/>
        </p:nvSpPr>
        <p:spPr>
          <a:xfrm>
            <a:off x="6245352" y="5212080"/>
            <a:ext cx="5486400" cy="502920"/>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Capex already in the ground; Jakarta and Cairo are </a:t>
            </a:r>
            <a:r>
              <a:rPr lang="en-US" sz="950" b="1" dirty="0">
                <a:solidFill>
                  <a:srgbClr val="0B1F44"/>
                </a:solidFill>
                <a:latin typeface="Calibri" pitchFamily="34" charset="0"/>
                <a:ea typeface="Calibri" pitchFamily="34" charset="-122"/>
                <a:cs typeface="Calibri" pitchFamily="34" charset="-120"/>
              </a:rPr>
              <a:t>partner-funded</a:t>
            </a:r>
            <a:r>
              <a:rPr lang="en-US" sz="950" dirty="0">
                <a:solidFill>
                  <a:srgbClr val="404040"/>
                </a:solidFill>
                <a:latin typeface="Calibri" pitchFamily="34" charset="0"/>
                <a:ea typeface="Calibri" pitchFamily="34" charset="-122"/>
                <a:cs typeface="Calibri" pitchFamily="34" charset="-120"/>
              </a:rPr>
              <a:t>. Volume adds need working capital, not new buildings</a:t>
            </a:r>
            <a:endParaRPr lang="en-US" sz="950" dirty="0"/>
          </a:p>
        </p:txBody>
      </p:sp>
      <p:sp>
        <p:nvSpPr>
          <p:cNvPr id="33" name="Shape 28"/>
          <p:cNvSpPr/>
          <p:nvPr/>
        </p:nvSpPr>
        <p:spPr>
          <a:xfrm>
            <a:off x="6199632" y="5788152"/>
            <a:ext cx="5577840" cy="521208"/>
          </a:xfrm>
          <a:prstGeom prst="rect">
            <a:avLst>
              <a:gd name="adj" fmla="val 10526"/>
            </a:avLst>
          </a:prstGeom>
          <a:solidFill>
            <a:srgbClr val="0B1F44"/>
          </a:solidFill>
          <a:ln w="9525">
            <a:solidFill>
              <a:srgbClr val="0B1F44"/>
            </a:solidFill>
            <a:prstDash val="solid"/>
          </a:ln>
        </p:spPr>
      </p:sp>
      <p:sp>
        <p:nvSpPr>
          <p:cNvPr id="34" name="Text 29"/>
          <p:cNvSpPr txBox="1"/>
          <p:nvPr/>
        </p:nvSpPr>
        <p:spPr>
          <a:xfrm>
            <a:off x="6245352" y="5788152"/>
            <a:ext cx="5486400" cy="521208"/>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Each +1 pt of third-party share ≈ 70 modules ≈ $65M EBITDA ≈ $10 / share</a:t>
            </a:r>
            <a:endParaRPr lang="en-US" sz="1100" dirty="0"/>
          </a:p>
        </p:txBody>
      </p:sp>
      <p:sp>
        <p:nvSpPr>
          <p:cNvPr id="35" name="Text 30"/>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Q2'26 supplement (1,200 / 1,700 modules, 3,000 capacity, 25% target); GMF / FTAI (23-Sep-26); Aviation Week (Aug-26); GPS model (RPM build)</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Theses Summary</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Three Theses: The Trough Is A Floor, The Share Is Coming, And Power Is Free</a:t>
            </a:r>
            <a:endParaRPr lang="en-US" sz="1500" dirty="0"/>
          </a:p>
        </p:txBody>
      </p:sp>
      <p:sp>
        <p:nvSpPr>
          <p:cNvPr id="5" name="Shape 3"/>
          <p:cNvSpPr/>
          <p:nvPr/>
        </p:nvSpPr>
        <p:spPr>
          <a:xfrm>
            <a:off x="411480" y="1691640"/>
            <a:ext cx="11365992" cy="1280160"/>
          </a:xfrm>
          <a:prstGeom prst="roundRect">
            <a:avLst>
              <a:gd name="adj" fmla="val 5714"/>
            </a:avLst>
          </a:prstGeom>
          <a:solidFill>
            <a:srgbClr val="F7F8FA"/>
          </a:solidFill>
          <a:ln w="19050">
            <a:solidFill>
              <a:srgbClr val="F7F8FA"/>
            </a:solidFill>
            <a:prstDash val="solid"/>
          </a:ln>
        </p:spPr>
      </p:sp>
      <p:sp>
        <p:nvSpPr>
          <p:cNvPr id="6" name="Shape 4"/>
          <p:cNvSpPr/>
          <p:nvPr/>
        </p:nvSpPr>
        <p:spPr>
          <a:xfrm>
            <a:off x="411480" y="1691640"/>
            <a:ext cx="1188720" cy="1280160"/>
          </a:xfrm>
          <a:prstGeom prst="rect">
            <a:avLst/>
          </a:prstGeom>
          <a:solidFill>
            <a:srgbClr val="AEB7C7"/>
          </a:solidFill>
          <a:ln w="12700">
            <a:solidFill>
              <a:srgbClr val="AEB7C7"/>
            </a:solidFill>
            <a:prstDash val="solid"/>
          </a:ln>
        </p:spPr>
      </p:sp>
      <p:sp>
        <p:nvSpPr>
          <p:cNvPr id="7" name="Text 5"/>
          <p:cNvSpPr txBox="1"/>
          <p:nvPr/>
        </p:nvSpPr>
        <p:spPr>
          <a:xfrm>
            <a:off x="411480" y="169164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a:t>
            </a:r>
            <a:endParaRPr lang="en-US" sz="3000" dirty="0"/>
          </a:p>
        </p:txBody>
      </p:sp>
      <p:sp>
        <p:nvSpPr>
          <p:cNvPr id="8" name="Text 6"/>
          <p:cNvSpPr txBox="1"/>
          <p:nvPr/>
        </p:nvSpPr>
        <p:spPr>
          <a:xfrm>
            <a:off x="1783080" y="180136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B8BFCC"/>
                </a:solidFill>
                <a:latin typeface="Cambria" pitchFamily="34" charset="0"/>
                <a:ea typeface="Cambria" pitchFamily="34" charset="-122"/>
                <a:cs typeface="Cambria" pitchFamily="34" charset="-120"/>
              </a:rPr>
              <a:t>Margins Have Bottomed: ~30% Is The Floor</a:t>
            </a:r>
            <a:endParaRPr lang="en-US" sz="1500" dirty="0"/>
          </a:p>
        </p:txBody>
      </p:sp>
      <p:sp>
        <p:nvSpPr>
          <p:cNvPr id="9" name="Text 7"/>
          <p:cNvSpPr txBox="1"/>
          <p:nvPr/>
        </p:nvSpPr>
        <p:spPr>
          <a:xfrm>
            <a:off x="1783080" y="2148840"/>
            <a:ext cx="9784080" cy="749808"/>
          </a:xfrm>
          <a:prstGeom prst="rect">
            <a:avLst/>
          </a:prstGeom>
          <a:noFill/>
          <a:ln/>
        </p:spPr>
        <p:txBody>
          <a:bodyPr wrap="square" lIns="25400" tIns="25400" rIns="25400" bIns="25400" rtlCol="0" anchor="t"/>
          <a:lstStyle/>
          <a:p>
            <a:pPr algn="ctr" indent="0" marL="0">
              <a:buNone/>
            </a:pPr>
            <a:r>
              <a:rPr lang="en-US" sz="1100" dirty="0">
                <a:solidFill>
                  <a:srgbClr val="C4C9D2"/>
                </a:solidFill>
                <a:latin typeface="Calibri" pitchFamily="34" charset="0"/>
                <a:ea typeface="Calibri" pitchFamily="34" charset="-122"/>
                <a:cs typeface="Calibri" pitchFamily="34" charset="-120"/>
              </a:rPr>
              <a:t>Even if the short thesis is right, depreciated leasing stock is &lt;8% of inventory. Heavy-scope mix is capped by capacity and incentive, and PMA enters through SCI, where FTAI is the lessor. Two more stable prints re-rate the trough</a:t>
            </a:r>
            <a:endParaRPr lang="en-US" sz="1100" dirty="0"/>
          </a:p>
        </p:txBody>
      </p:sp>
      <p:sp>
        <p:nvSpPr>
          <p:cNvPr id="10" name="Shape 8"/>
          <p:cNvSpPr/>
          <p:nvPr/>
        </p:nvSpPr>
        <p:spPr>
          <a:xfrm>
            <a:off x="411480" y="3246120"/>
            <a:ext cx="11365992" cy="1280160"/>
          </a:xfrm>
          <a:prstGeom prst="roundRect">
            <a:avLst>
              <a:gd name="adj" fmla="val 5714"/>
            </a:avLst>
          </a:prstGeom>
          <a:solidFill>
            <a:srgbClr val="F7F8FA"/>
          </a:solidFill>
          <a:ln w="19050">
            <a:solidFill>
              <a:srgbClr val="F7F8FA"/>
            </a:solidFill>
            <a:prstDash val="solid"/>
          </a:ln>
        </p:spPr>
      </p:sp>
      <p:sp>
        <p:nvSpPr>
          <p:cNvPr id="11" name="Shape 9"/>
          <p:cNvSpPr/>
          <p:nvPr/>
        </p:nvSpPr>
        <p:spPr>
          <a:xfrm>
            <a:off x="411480" y="3246120"/>
            <a:ext cx="1188720" cy="1280160"/>
          </a:xfrm>
          <a:prstGeom prst="rect">
            <a:avLst/>
          </a:prstGeom>
          <a:solidFill>
            <a:srgbClr val="AEB7C7"/>
          </a:solidFill>
          <a:ln w="12700">
            <a:solidFill>
              <a:srgbClr val="AEB7C7"/>
            </a:solidFill>
            <a:prstDash val="solid"/>
          </a:ln>
        </p:spPr>
      </p:sp>
      <p:sp>
        <p:nvSpPr>
          <p:cNvPr id="12" name="Text 10"/>
          <p:cNvSpPr txBox="1"/>
          <p:nvPr/>
        </p:nvSpPr>
        <p:spPr>
          <a:xfrm>
            <a:off x="411480" y="324612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a:t>
            </a:r>
            <a:endParaRPr lang="en-US" sz="3000" dirty="0"/>
          </a:p>
        </p:txBody>
      </p:sp>
      <p:sp>
        <p:nvSpPr>
          <p:cNvPr id="13" name="Text 11"/>
          <p:cNvSpPr txBox="1"/>
          <p:nvPr/>
        </p:nvSpPr>
        <p:spPr>
          <a:xfrm>
            <a:off x="1783080" y="335584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B8BFCC"/>
                </a:solidFill>
                <a:latin typeface="Cambria" pitchFamily="34" charset="0"/>
                <a:ea typeface="Cambria" pitchFamily="34" charset="-122"/>
                <a:cs typeface="Cambria" pitchFamily="34" charset="-120"/>
              </a:rPr>
              <a:t>FTAI Takes The CFM56 Whitespace To ~25% Share</a:t>
            </a:r>
            <a:endParaRPr lang="en-US" sz="1500" dirty="0"/>
          </a:p>
        </p:txBody>
      </p:sp>
      <p:sp>
        <p:nvSpPr>
          <p:cNvPr id="14" name="Text 12"/>
          <p:cNvSpPr txBox="1"/>
          <p:nvPr/>
        </p:nvSpPr>
        <p:spPr>
          <a:xfrm>
            <a:off x="1783080" y="3703320"/>
            <a:ext cx="9784080" cy="749808"/>
          </a:xfrm>
          <a:prstGeom prst="rect">
            <a:avLst/>
          </a:prstGeom>
          <a:noFill/>
          <a:ln/>
        </p:spPr>
        <p:txBody>
          <a:bodyPr wrap="square" lIns="25400" tIns="25400" rIns="25400" bIns="25400" rtlCol="0" anchor="t"/>
          <a:lstStyle/>
          <a:p>
            <a:pPr algn="ctr" indent="0" marL="0">
              <a:buNone/>
            </a:pPr>
            <a:r>
              <a:rPr lang="en-US" sz="1100" dirty="0">
                <a:solidFill>
                  <a:srgbClr val="C4C9D2"/>
                </a:solidFill>
                <a:latin typeface="Calibri" pitchFamily="34" charset="0"/>
                <a:ea typeface="Calibri" pitchFamily="34" charset="-122"/>
                <a:cs typeface="Calibri" pitchFamily="34" charset="-120"/>
              </a:rPr>
              <a:t>OEMs and MROs move capacity to LEAP while LEAP problems keep CFM56s flying and retirements run below plan. FTAI's cost and turnaround edge wins the visits, and its capacity is already built</a:t>
            </a:r>
            <a:endParaRPr lang="en-US" sz="1100" dirty="0"/>
          </a:p>
        </p:txBody>
      </p:sp>
      <p:sp>
        <p:nvSpPr>
          <p:cNvPr id="15" name="Shape 13"/>
          <p:cNvSpPr/>
          <p:nvPr/>
        </p:nvSpPr>
        <p:spPr>
          <a:xfrm>
            <a:off x="411480" y="4800600"/>
            <a:ext cx="11365992" cy="1280160"/>
          </a:xfrm>
          <a:prstGeom prst="roundRect">
            <a:avLst>
              <a:gd name="adj" fmla="val 5714"/>
            </a:avLst>
          </a:prstGeom>
          <a:solidFill>
            <a:srgbClr val="DCE6F2"/>
          </a:solidFill>
          <a:ln w="19050">
            <a:solidFill>
              <a:srgbClr val="0B1F44"/>
            </a:solidFill>
            <a:prstDash val="solid"/>
          </a:ln>
        </p:spPr>
      </p:sp>
      <p:sp>
        <p:nvSpPr>
          <p:cNvPr id="16" name="Shape 14"/>
          <p:cNvSpPr/>
          <p:nvPr/>
        </p:nvSpPr>
        <p:spPr>
          <a:xfrm>
            <a:off x="411480" y="4800600"/>
            <a:ext cx="1188720" cy="1280160"/>
          </a:xfrm>
          <a:prstGeom prst="rect">
            <a:avLst/>
          </a:prstGeom>
          <a:solidFill>
            <a:srgbClr val="0B1F44"/>
          </a:solidFill>
          <a:ln w="12700">
            <a:solidFill>
              <a:srgbClr val="0B1F44"/>
            </a:solidFill>
            <a:prstDash val="solid"/>
          </a:ln>
        </p:spPr>
      </p:sp>
      <p:sp>
        <p:nvSpPr>
          <p:cNvPr id="17" name="Text 15"/>
          <p:cNvSpPr txBox="1"/>
          <p:nvPr/>
        </p:nvSpPr>
        <p:spPr>
          <a:xfrm>
            <a:off x="411480" y="4800600"/>
            <a:ext cx="1188720" cy="1280160"/>
          </a:xfrm>
          <a:prstGeom prst="rect">
            <a:avLst/>
          </a:prstGeom>
          <a:noFill/>
          <a:ln/>
        </p:spPr>
        <p:txBody>
          <a:bodyPr wrap="square" lIns="25400" tIns="25400" rIns="25400" bIns="2540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III</a:t>
            </a:r>
            <a:endParaRPr lang="en-US" sz="3000" dirty="0"/>
          </a:p>
        </p:txBody>
      </p:sp>
      <p:sp>
        <p:nvSpPr>
          <p:cNvPr id="18" name="Text 16"/>
          <p:cNvSpPr txBox="1"/>
          <p:nvPr/>
        </p:nvSpPr>
        <p:spPr>
          <a:xfrm>
            <a:off x="1783080" y="4910328"/>
            <a:ext cx="9784080" cy="365760"/>
          </a:xfrm>
          <a:prstGeom prst="rect">
            <a:avLst/>
          </a:prstGeom>
          <a:noFill/>
          <a:ln/>
        </p:spPr>
        <p:txBody>
          <a:bodyPr wrap="square" lIns="25400" tIns="25400" rIns="25400" bIns="254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Power Is A Call Option The Market Isn't Paying For</a:t>
            </a:r>
            <a:endParaRPr lang="en-US" sz="1500" dirty="0"/>
          </a:p>
        </p:txBody>
      </p:sp>
      <p:sp>
        <p:nvSpPr>
          <p:cNvPr id="19" name="Text 17"/>
          <p:cNvSpPr txBox="1"/>
          <p:nvPr/>
        </p:nvSpPr>
        <p:spPr>
          <a:xfrm>
            <a:off x="1783080" y="5257800"/>
            <a:ext cx="9784080" cy="749808"/>
          </a:xfrm>
          <a:prstGeom prst="rect">
            <a:avLst/>
          </a:prstGeom>
          <a:noFill/>
          <a:ln/>
        </p:spPr>
        <p:txBody>
          <a:bodyPr wrap="square" lIns="25400" tIns="25400" rIns="25400" bIns="25400" rtlCol="0" anchor="t"/>
          <a:lstStyle/>
          <a:p>
            <a:pPr algn="ctr" indent="0" marL="0">
              <a:buNone/>
            </a:pPr>
            <a:r>
              <a:rPr lang="en-US" sz="1100" dirty="0">
                <a:solidFill>
                  <a:srgbClr val="404040"/>
                </a:solidFill>
                <a:latin typeface="Calibri" pitchFamily="34" charset="0"/>
                <a:ea typeface="Calibri" pitchFamily="34" charset="-122"/>
                <a:cs typeface="Calibri" pitchFamily="34" charset="-120"/>
              </a:rPr>
              <a:t>The grid is short from 2029 and hyperscaler capex outruns contracted power. The first order came from a site at a stage many campuses share today. Mobile units are ~13% of build cost and pay back in about a month of earlier revenue</a:t>
            </a:r>
            <a:endParaRPr lang="en-US" sz="11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3 (1/5): The Power Hole Behind The Capex</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Hyperscalers Fund ~10 GW Of New US Data Center Shells In 2026 Alone; NERC Reserves Go Short From 2029</a:t>
            </a:r>
            <a:endParaRPr lang="en-US" sz="15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Capex Is Outrunning Contracted Power</a:t>
            </a:r>
            <a:endParaRPr lang="en-US" sz="1200" dirty="0"/>
          </a:p>
        </p:txBody>
      </p:sp>
      <p:sp>
        <p:nvSpPr>
          <p:cNvPr id="7" name="Text 5"/>
          <p:cNvSpPr txBox="1"/>
          <p:nvPr/>
        </p:nvSpPr>
        <p:spPr>
          <a:xfrm>
            <a:off x="411480" y="1847088"/>
            <a:ext cx="3291840"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Big Four capex ($bn)</a:t>
            </a:r>
            <a:endParaRPr lang="en-US" sz="1050" dirty="0"/>
          </a:p>
        </p:txBody>
      </p:sp>
      <p:graphicFrame>
        <p:nvGraphicFramePr>
          <p:cNvPr id="8" name="Chart 0" descr=""/>
          <p:cNvGraphicFramePr/>
          <p:nvPr/>
        </p:nvGraphicFramePr>
        <p:xfrm>
          <a:off x="411480" y="2084832"/>
          <a:ext cx="3291840" cy="2139696"/>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3749040" y="1847088"/>
            <a:ext cx="2240280" cy="237744"/>
          </a:xfrm>
          <a:prstGeom prst="rect">
            <a:avLst/>
          </a:prstGeom>
          <a:noFill/>
          <a:ln/>
        </p:spPr>
        <p:txBody>
          <a:bodyPr wrap="square" lIns="0" tIns="0" rIns="0" bIns="0" rtlCol="0" anchor="ctr"/>
          <a:lstStyle/>
          <a:p>
            <a:pPr algn="ctr" indent="0" marL="0">
              <a:buNone/>
            </a:pPr>
            <a:r>
              <a:rPr lang="en-US" sz="1050" b="1" dirty="0">
                <a:solidFill>
                  <a:srgbClr val="0B1F44"/>
                </a:solidFill>
                <a:latin typeface="Calibri" pitchFamily="34" charset="0"/>
                <a:ea typeface="Calibri" pitchFamily="34" charset="-122"/>
                <a:cs typeface="Calibri" pitchFamily="34" charset="-120"/>
              </a:rPr>
              <a:t>US corporate PPAs (GW)</a:t>
            </a:r>
            <a:endParaRPr lang="en-US" sz="1050" dirty="0"/>
          </a:p>
        </p:txBody>
      </p:sp>
      <p:graphicFrame>
        <p:nvGraphicFramePr>
          <p:cNvPr id="10" name="Chart 1" descr=""/>
          <p:cNvGraphicFramePr/>
          <p:nvPr/>
        </p:nvGraphicFramePr>
        <p:xfrm>
          <a:off x="3749040" y="2084832"/>
          <a:ext cx="2240280" cy="2139696"/>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411480" y="4279392"/>
            <a:ext cx="5577840" cy="621792"/>
          </a:xfrm>
          <a:prstGeom prst="roundRect">
            <a:avLst>
              <a:gd name="adj" fmla="val 8824"/>
            </a:avLst>
          </a:prstGeom>
          <a:solidFill>
            <a:srgbClr val="FFFFFF"/>
          </a:solidFill>
          <a:ln w="12700">
            <a:solidFill>
              <a:srgbClr val="0B1F44"/>
            </a:solidFill>
            <a:prstDash val="dash"/>
          </a:ln>
        </p:spPr>
      </p:sp>
      <p:sp>
        <p:nvSpPr>
          <p:cNvPr id="12" name="Text 8"/>
          <p:cNvSpPr txBox="1"/>
          <p:nvPr/>
        </p:nvSpPr>
        <p:spPr>
          <a:xfrm>
            <a:off x="466344" y="4306824"/>
            <a:ext cx="5468112" cy="566928"/>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Capex and PPAs moved together for a decade (</a:t>
            </a:r>
            <a:r>
              <a:rPr lang="en-US" sz="950" b="1" dirty="0">
                <a:solidFill>
                  <a:srgbClr val="0B1F44"/>
                </a:solidFill>
                <a:latin typeface="Calibri" pitchFamily="34" charset="0"/>
                <a:ea typeface="Calibri" pitchFamily="34" charset="-122"/>
                <a:cs typeface="Calibri" pitchFamily="34" charset="-120"/>
              </a:rPr>
              <a:t>0.89 correlation in levels</a:t>
            </a:r>
            <a:r>
              <a:rPr lang="en-US" sz="950" dirty="0">
                <a:solidFill>
                  <a:srgbClr val="404040"/>
                </a:solidFill>
                <a:latin typeface="Calibri" pitchFamily="34" charset="0"/>
                <a:ea typeface="Calibri" pitchFamily="34" charset="-122"/>
                <a:cs typeface="Calibri" pitchFamily="34" charset="-120"/>
              </a:rPr>
              <a:t>). In 2025 capex rose </a:t>
            </a:r>
            <a:r>
              <a:rPr lang="en-US" sz="950" b="1" dirty="0">
                <a:solidFill>
                  <a:srgbClr val="0B1F44"/>
                </a:solidFill>
                <a:latin typeface="Calibri" pitchFamily="34" charset="0"/>
                <a:ea typeface="Calibri" pitchFamily="34" charset="-122"/>
                <a:cs typeface="Calibri" pitchFamily="34" charset="-120"/>
              </a:rPr>
              <a:t>+65%</a:t>
            </a:r>
            <a:r>
              <a:rPr lang="en-US" sz="950" dirty="0">
                <a:solidFill>
                  <a:srgbClr val="404040"/>
                </a:solidFill>
                <a:latin typeface="Calibri" pitchFamily="34" charset="0"/>
                <a:ea typeface="Calibri" pitchFamily="34" charset="-122"/>
                <a:cs typeface="Calibri" pitchFamily="34" charset="-120"/>
              </a:rPr>
              <a:t> but PPAs were </a:t>
            </a:r>
            <a:r>
              <a:rPr lang="en-US" sz="950" b="1" dirty="0">
                <a:solidFill>
                  <a:srgbClr val="0B1F44"/>
                </a:solidFill>
                <a:latin typeface="Calibri" pitchFamily="34" charset="0"/>
                <a:ea typeface="Calibri" pitchFamily="34" charset="-122"/>
                <a:cs typeface="Calibri" pitchFamily="34" charset="-120"/>
              </a:rPr>
              <a:t>flat at ~29.5 GW</a:t>
            </a:r>
            <a:r>
              <a:rPr lang="en-US" sz="950" dirty="0">
                <a:solidFill>
                  <a:srgbClr val="404040"/>
                </a:solidFill>
                <a:latin typeface="Calibri" pitchFamily="34" charset="0"/>
                <a:ea typeface="Calibri" pitchFamily="34" charset="-122"/>
                <a:cs typeface="Calibri" pitchFamily="34" charset="-120"/>
              </a:rPr>
              <a:t>: the money is arriving faster than contracted power</a:t>
            </a:r>
            <a:endParaRPr lang="en-US" sz="950" dirty="0"/>
          </a:p>
        </p:txBody>
      </p:sp>
      <p:sp>
        <p:nvSpPr>
          <p:cNvPr id="13" name="Shape 9"/>
          <p:cNvSpPr/>
          <p:nvPr/>
        </p:nvSpPr>
        <p:spPr>
          <a:xfrm>
            <a:off x="411480" y="4983480"/>
            <a:ext cx="5577840" cy="292608"/>
          </a:xfrm>
          <a:prstGeom prst="rect">
            <a:avLst/>
          </a:prstGeom>
          <a:solidFill>
            <a:srgbClr val="DCE6F2"/>
          </a:solidFill>
          <a:ln w="9525">
            <a:solidFill>
              <a:srgbClr val="0B1F44"/>
            </a:solidFill>
            <a:prstDash val="solid"/>
          </a:ln>
        </p:spPr>
      </p:sp>
      <p:sp>
        <p:nvSpPr>
          <p:cNvPr id="14" name="Text 10"/>
          <p:cNvSpPr txBox="1"/>
          <p:nvPr/>
        </p:nvSpPr>
        <p:spPr>
          <a:xfrm>
            <a:off x="411480" y="498348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Our Rough Power Build</a:t>
            </a:r>
            <a:endParaRPr lang="en-US" sz="1200" dirty="0"/>
          </a:p>
        </p:txBody>
      </p:sp>
      <p:sp>
        <p:nvSpPr>
          <p:cNvPr id="15" name="Shape 11"/>
          <p:cNvSpPr/>
          <p:nvPr/>
        </p:nvSpPr>
        <p:spPr>
          <a:xfrm>
            <a:off x="411480" y="5321808"/>
            <a:ext cx="1051560" cy="960120"/>
          </a:xfrm>
          <a:prstGeom prst="roundRect">
            <a:avLst>
              <a:gd name="adj" fmla="val 5714"/>
            </a:avLst>
          </a:prstGeom>
          <a:solidFill>
            <a:srgbClr val="F2F2F2"/>
          </a:solidFill>
          <a:ln w="9525">
            <a:solidFill>
              <a:srgbClr val="F2F2F2"/>
            </a:solidFill>
            <a:prstDash val="solid"/>
          </a:ln>
        </p:spPr>
      </p:sp>
      <p:sp>
        <p:nvSpPr>
          <p:cNvPr id="16" name="Text 12"/>
          <p:cNvSpPr txBox="1"/>
          <p:nvPr/>
        </p:nvSpPr>
        <p:spPr>
          <a:xfrm>
            <a:off x="411480" y="5358384"/>
            <a:ext cx="1051560" cy="528066"/>
          </a:xfrm>
          <a:prstGeom prst="rect">
            <a:avLst/>
          </a:prstGeom>
          <a:noFill/>
          <a:ln/>
        </p:spPr>
        <p:txBody>
          <a:bodyPr wrap="square" lIns="0" tIns="0" rIns="0" bIns="0" rtlCol="0" anchor="b"/>
          <a:lstStyle/>
          <a:p>
            <a:pPr algn="ctr" indent="0" marL="0">
              <a:buNone/>
            </a:pPr>
            <a:r>
              <a:rPr lang="en-US" sz="1500" b="1" dirty="0">
                <a:solidFill>
                  <a:srgbClr val="E8702A"/>
                </a:solidFill>
                <a:latin typeface="Cambria" pitchFamily="34" charset="0"/>
                <a:ea typeface="Cambria" pitchFamily="34" charset="-122"/>
                <a:cs typeface="Cambria" pitchFamily="34" charset="-120"/>
              </a:rPr>
              <a:t>$733bn</a:t>
            </a:r>
            <a:endParaRPr lang="en-US" sz="1500" dirty="0"/>
          </a:p>
        </p:txBody>
      </p:sp>
      <p:sp>
        <p:nvSpPr>
          <p:cNvPr id="17" name="Text 13"/>
          <p:cNvSpPr txBox="1"/>
          <p:nvPr/>
        </p:nvSpPr>
        <p:spPr>
          <a:xfrm>
            <a:off x="457200" y="5878678"/>
            <a:ext cx="960120" cy="384048"/>
          </a:xfrm>
          <a:prstGeom prst="rect">
            <a:avLst/>
          </a:prstGeom>
          <a:noFill/>
          <a:ln/>
        </p:spPr>
        <p:txBody>
          <a:bodyPr wrap="square" lIns="0" tIns="0" rIns="0" bIns="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Big Four 2026 capex</a:t>
            </a:r>
            <a:endParaRPr lang="en-US" sz="850" dirty="0"/>
          </a:p>
        </p:txBody>
      </p:sp>
      <p:sp>
        <p:nvSpPr>
          <p:cNvPr id="18" name="Shape 14"/>
          <p:cNvSpPr/>
          <p:nvPr/>
        </p:nvSpPr>
        <p:spPr>
          <a:xfrm>
            <a:off x="1540764" y="5321808"/>
            <a:ext cx="1051560" cy="960120"/>
          </a:xfrm>
          <a:prstGeom prst="roundRect">
            <a:avLst>
              <a:gd name="adj" fmla="val 5714"/>
            </a:avLst>
          </a:prstGeom>
          <a:solidFill>
            <a:srgbClr val="F2F2F2"/>
          </a:solidFill>
          <a:ln w="9525">
            <a:solidFill>
              <a:srgbClr val="F2F2F2"/>
            </a:solidFill>
            <a:prstDash val="solid"/>
          </a:ln>
        </p:spPr>
      </p:sp>
      <p:sp>
        <p:nvSpPr>
          <p:cNvPr id="19" name="Text 15"/>
          <p:cNvSpPr txBox="1"/>
          <p:nvPr/>
        </p:nvSpPr>
        <p:spPr>
          <a:xfrm>
            <a:off x="1540764" y="5358384"/>
            <a:ext cx="1051560" cy="528066"/>
          </a:xfrm>
          <a:prstGeom prst="rect">
            <a:avLst/>
          </a:prstGeom>
          <a:noFill/>
          <a:ln/>
        </p:spPr>
        <p:txBody>
          <a:bodyPr wrap="square" lIns="0" tIns="0" rIns="0" bIns="0" rtlCol="0" anchor="b"/>
          <a:lstStyle/>
          <a:p>
            <a:pPr algn="ctr" indent="0" marL="0">
              <a:buNone/>
            </a:pPr>
            <a:r>
              <a:rPr lang="en-US" sz="1500" b="1" dirty="0">
                <a:solidFill>
                  <a:srgbClr val="E8702A"/>
                </a:solidFill>
                <a:latin typeface="Cambria" pitchFamily="34" charset="0"/>
                <a:ea typeface="Cambria" pitchFamily="34" charset="-122"/>
                <a:cs typeface="Cambria" pitchFamily="34" charset="-120"/>
              </a:rPr>
              <a:t>× 65%</a:t>
            </a:r>
            <a:endParaRPr lang="en-US" sz="1500" dirty="0"/>
          </a:p>
        </p:txBody>
      </p:sp>
      <p:sp>
        <p:nvSpPr>
          <p:cNvPr id="20" name="Text 16"/>
          <p:cNvSpPr txBox="1"/>
          <p:nvPr/>
        </p:nvSpPr>
        <p:spPr>
          <a:xfrm>
            <a:off x="1586484" y="5878678"/>
            <a:ext cx="960120" cy="384048"/>
          </a:xfrm>
          <a:prstGeom prst="rect">
            <a:avLst/>
          </a:prstGeom>
          <a:noFill/>
          <a:ln/>
        </p:spPr>
        <p:txBody>
          <a:bodyPr wrap="square" lIns="0" tIns="0" rIns="0" bIns="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US share</a:t>
            </a:r>
            <a:endParaRPr lang="en-US" sz="850" dirty="0"/>
          </a:p>
        </p:txBody>
      </p:sp>
      <p:sp>
        <p:nvSpPr>
          <p:cNvPr id="21" name="Shape 17"/>
          <p:cNvSpPr/>
          <p:nvPr/>
        </p:nvSpPr>
        <p:spPr>
          <a:xfrm>
            <a:off x="2670048" y="5321808"/>
            <a:ext cx="1051560" cy="960120"/>
          </a:xfrm>
          <a:prstGeom prst="roundRect">
            <a:avLst>
              <a:gd name="adj" fmla="val 5714"/>
            </a:avLst>
          </a:prstGeom>
          <a:solidFill>
            <a:srgbClr val="F2F2F2"/>
          </a:solidFill>
          <a:ln w="9525">
            <a:solidFill>
              <a:srgbClr val="F2F2F2"/>
            </a:solidFill>
            <a:prstDash val="solid"/>
          </a:ln>
        </p:spPr>
      </p:sp>
      <p:sp>
        <p:nvSpPr>
          <p:cNvPr id="22" name="Text 18"/>
          <p:cNvSpPr txBox="1"/>
          <p:nvPr/>
        </p:nvSpPr>
        <p:spPr>
          <a:xfrm>
            <a:off x="2670048" y="5358384"/>
            <a:ext cx="1051560" cy="528066"/>
          </a:xfrm>
          <a:prstGeom prst="rect">
            <a:avLst/>
          </a:prstGeom>
          <a:noFill/>
          <a:ln/>
        </p:spPr>
        <p:txBody>
          <a:bodyPr wrap="square" lIns="0" tIns="0" rIns="0" bIns="0" rtlCol="0" anchor="b"/>
          <a:lstStyle/>
          <a:p>
            <a:pPr algn="ctr" indent="0" marL="0">
              <a:buNone/>
            </a:pPr>
            <a:r>
              <a:rPr lang="en-US" sz="1500" b="1" dirty="0">
                <a:solidFill>
                  <a:srgbClr val="E8702A"/>
                </a:solidFill>
                <a:latin typeface="Cambria" pitchFamily="34" charset="0"/>
                <a:ea typeface="Cambria" pitchFamily="34" charset="-122"/>
                <a:cs typeface="Cambria" pitchFamily="34" charset="-120"/>
              </a:rPr>
              <a:t>× 25%</a:t>
            </a:r>
            <a:endParaRPr lang="en-US" sz="1500" dirty="0"/>
          </a:p>
        </p:txBody>
      </p:sp>
      <p:sp>
        <p:nvSpPr>
          <p:cNvPr id="23" name="Text 19"/>
          <p:cNvSpPr txBox="1"/>
          <p:nvPr/>
        </p:nvSpPr>
        <p:spPr>
          <a:xfrm>
            <a:off x="2715768" y="5878678"/>
            <a:ext cx="960120" cy="384048"/>
          </a:xfrm>
          <a:prstGeom prst="rect">
            <a:avLst/>
          </a:prstGeom>
          <a:noFill/>
          <a:ln/>
        </p:spPr>
        <p:txBody>
          <a:bodyPr wrap="square" lIns="0" tIns="0" rIns="0" bIns="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facility (non-GPU)</a:t>
            </a:r>
            <a:endParaRPr lang="en-US" sz="850" dirty="0"/>
          </a:p>
        </p:txBody>
      </p:sp>
      <p:sp>
        <p:nvSpPr>
          <p:cNvPr id="24" name="Shape 20"/>
          <p:cNvSpPr/>
          <p:nvPr/>
        </p:nvSpPr>
        <p:spPr>
          <a:xfrm>
            <a:off x="3799332" y="5321808"/>
            <a:ext cx="1051560" cy="960120"/>
          </a:xfrm>
          <a:prstGeom prst="roundRect">
            <a:avLst>
              <a:gd name="adj" fmla="val 5714"/>
            </a:avLst>
          </a:prstGeom>
          <a:solidFill>
            <a:srgbClr val="F2F2F2"/>
          </a:solidFill>
          <a:ln w="9525">
            <a:solidFill>
              <a:srgbClr val="F2F2F2"/>
            </a:solidFill>
            <a:prstDash val="solid"/>
          </a:ln>
        </p:spPr>
      </p:sp>
      <p:sp>
        <p:nvSpPr>
          <p:cNvPr id="25" name="Text 21"/>
          <p:cNvSpPr txBox="1"/>
          <p:nvPr/>
        </p:nvSpPr>
        <p:spPr>
          <a:xfrm>
            <a:off x="3799332" y="5358384"/>
            <a:ext cx="1051560" cy="528066"/>
          </a:xfrm>
          <a:prstGeom prst="rect">
            <a:avLst/>
          </a:prstGeom>
          <a:noFill/>
          <a:ln/>
        </p:spPr>
        <p:txBody>
          <a:bodyPr wrap="square" lIns="0" tIns="0" rIns="0" bIns="0" rtlCol="0" anchor="b"/>
          <a:lstStyle/>
          <a:p>
            <a:pPr algn="ctr" indent="0" marL="0">
              <a:buNone/>
            </a:pPr>
            <a:r>
              <a:rPr lang="en-US" sz="1500" b="1" dirty="0">
                <a:solidFill>
                  <a:srgbClr val="E8702A"/>
                </a:solidFill>
                <a:latin typeface="Cambria" pitchFamily="34" charset="0"/>
                <a:ea typeface="Cambria" pitchFamily="34" charset="-122"/>
                <a:cs typeface="Cambria" pitchFamily="34" charset="-120"/>
              </a:rPr>
              <a:t>÷ $12M/MW</a:t>
            </a:r>
            <a:endParaRPr lang="en-US" sz="1500" dirty="0"/>
          </a:p>
        </p:txBody>
      </p:sp>
      <p:sp>
        <p:nvSpPr>
          <p:cNvPr id="26" name="Text 22"/>
          <p:cNvSpPr txBox="1"/>
          <p:nvPr/>
        </p:nvSpPr>
        <p:spPr>
          <a:xfrm>
            <a:off x="3845052" y="5878678"/>
            <a:ext cx="960120" cy="384048"/>
          </a:xfrm>
          <a:prstGeom prst="rect">
            <a:avLst/>
          </a:prstGeom>
          <a:noFill/>
          <a:ln/>
        </p:spPr>
        <p:txBody>
          <a:bodyPr wrap="square" lIns="0" tIns="0" rIns="0" bIns="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facility cost</a:t>
            </a:r>
            <a:endParaRPr lang="en-US" sz="850" dirty="0"/>
          </a:p>
        </p:txBody>
      </p:sp>
      <p:sp>
        <p:nvSpPr>
          <p:cNvPr id="27" name="Shape 23"/>
          <p:cNvSpPr/>
          <p:nvPr/>
        </p:nvSpPr>
        <p:spPr>
          <a:xfrm>
            <a:off x="4928616" y="5321808"/>
            <a:ext cx="1051560" cy="960120"/>
          </a:xfrm>
          <a:prstGeom prst="roundRect">
            <a:avLst>
              <a:gd name="adj" fmla="val 5714"/>
            </a:avLst>
          </a:prstGeom>
          <a:solidFill>
            <a:srgbClr val="DCE6F2"/>
          </a:solidFill>
          <a:ln w="9525">
            <a:solidFill>
              <a:srgbClr val="DCE6F2"/>
            </a:solidFill>
            <a:prstDash val="solid"/>
          </a:ln>
        </p:spPr>
      </p:sp>
      <p:sp>
        <p:nvSpPr>
          <p:cNvPr id="28" name="Text 24"/>
          <p:cNvSpPr txBox="1"/>
          <p:nvPr/>
        </p:nvSpPr>
        <p:spPr>
          <a:xfrm>
            <a:off x="4928616" y="5358384"/>
            <a:ext cx="1051560" cy="528066"/>
          </a:xfrm>
          <a:prstGeom prst="rect">
            <a:avLst/>
          </a:prstGeom>
          <a:noFill/>
          <a:ln/>
        </p:spPr>
        <p:txBody>
          <a:bodyPr wrap="square" lIns="0" tIns="0" rIns="0" bIns="0" rtlCol="0" anchor="b"/>
          <a:lstStyle/>
          <a:p>
            <a:pPr algn="ctr" indent="0" marL="0">
              <a:buNone/>
            </a:pPr>
            <a:r>
              <a:rPr lang="en-US" sz="1500" b="1" dirty="0">
                <a:solidFill>
                  <a:srgbClr val="0B1F44"/>
                </a:solidFill>
                <a:latin typeface="Cambria" pitchFamily="34" charset="0"/>
                <a:ea typeface="Cambria" pitchFamily="34" charset="-122"/>
                <a:cs typeface="Cambria" pitchFamily="34" charset="-120"/>
              </a:rPr>
              <a:t>= 9.9 GW</a:t>
            </a:r>
            <a:endParaRPr lang="en-US" sz="1500" dirty="0"/>
          </a:p>
        </p:txBody>
      </p:sp>
      <p:sp>
        <p:nvSpPr>
          <p:cNvPr id="29" name="Text 25"/>
          <p:cNvSpPr txBox="1"/>
          <p:nvPr/>
        </p:nvSpPr>
        <p:spPr>
          <a:xfrm>
            <a:off x="4974336" y="5878678"/>
            <a:ext cx="960120" cy="384048"/>
          </a:xfrm>
          <a:prstGeom prst="rect">
            <a:avLst/>
          </a:prstGeom>
          <a:noFill/>
          <a:ln/>
        </p:spPr>
        <p:txBody>
          <a:bodyPr wrap="square" lIns="0" tIns="0" rIns="0" bIns="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funded in 2026</a:t>
            </a:r>
            <a:endParaRPr lang="en-US" sz="850" dirty="0"/>
          </a:p>
        </p:txBody>
      </p:sp>
      <p:sp>
        <p:nvSpPr>
          <p:cNvPr id="30" name="Shape 26"/>
          <p:cNvSpPr/>
          <p:nvPr/>
        </p:nvSpPr>
        <p:spPr>
          <a:xfrm>
            <a:off x="6199632" y="1536192"/>
            <a:ext cx="5577840" cy="292608"/>
          </a:xfrm>
          <a:prstGeom prst="rect">
            <a:avLst/>
          </a:prstGeom>
          <a:solidFill>
            <a:srgbClr val="DCE6F2"/>
          </a:solidFill>
          <a:ln w="9525">
            <a:solidFill>
              <a:srgbClr val="0B1F44"/>
            </a:solidFill>
            <a:prstDash val="solid"/>
          </a:ln>
        </p:spPr>
      </p:sp>
      <p:sp>
        <p:nvSpPr>
          <p:cNvPr id="31" name="Text 27"/>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US Reserve Shortfall vs Requirement (GW), Base Case</a:t>
            </a:r>
            <a:endParaRPr lang="en-US" sz="1200" dirty="0"/>
          </a:p>
        </p:txBody>
      </p:sp>
      <p:graphicFrame>
        <p:nvGraphicFramePr>
          <p:cNvPr id="32" name="Chart 2" descr=""/>
          <p:cNvGraphicFramePr/>
          <p:nvPr/>
        </p:nvGraphicFramePr>
        <p:xfrm>
          <a:off x="6199632" y="1847088"/>
          <a:ext cx="5577840" cy="2377440"/>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99632" y="4279392"/>
          <a:ext cx="5577840" cy="914400"/>
        </p:xfrm>
        <a:graphic>
          <a:graphicData uri="http://schemas.openxmlformats.org/drawingml/2006/table">
            <a:tbl>
              <a:tblPr/>
              <a:tblGrid>
                <a:gridCol w="2148840"/>
                <a:gridCol w="685800"/>
                <a:gridCol w="685800"/>
                <a:gridCol w="685800"/>
                <a:gridCol w="685800"/>
                <a:gridCol w="685800"/>
              </a:tblGrid>
              <a:tr h="228600">
                <a:tc>
                  <a:txBody>
                    <a:bodyPr/>
                    <a:lstStyle/>
                    <a:p>
                      <a:pPr algn="ctr" indent="0" marL="0">
                        <a:buNone/>
                      </a:pP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2028</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2029</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2030</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2031</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28600">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US DC energy demand (TWh)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298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464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549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649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746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Tracked new hyperscaler capacity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5.9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7.7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9.6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11.2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Reserve shortfall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8.4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27.2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47.2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34" name="Shape 28"/>
          <p:cNvSpPr/>
          <p:nvPr/>
        </p:nvSpPr>
        <p:spPr>
          <a:xfrm>
            <a:off x="6199632" y="5321808"/>
            <a:ext cx="5577840" cy="1005840"/>
          </a:xfrm>
          <a:prstGeom prst="roundRect">
            <a:avLst>
              <a:gd name="adj" fmla="val 5455"/>
            </a:avLst>
          </a:prstGeom>
          <a:solidFill>
            <a:srgbClr val="FFFFFF"/>
          </a:solidFill>
          <a:ln w="12700">
            <a:solidFill>
              <a:srgbClr val="0B1F44"/>
            </a:solidFill>
            <a:prstDash val="dash"/>
          </a:ln>
        </p:spPr>
      </p:sp>
      <p:sp>
        <p:nvSpPr>
          <p:cNvPr id="35" name="Text 29"/>
          <p:cNvSpPr txBox="1"/>
          <p:nvPr/>
        </p:nvSpPr>
        <p:spPr>
          <a:xfrm>
            <a:off x="6254496" y="5349240"/>
            <a:ext cx="5468112" cy="950976"/>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Data center demand </a:t>
            </a:r>
            <a:r>
              <a:rPr lang="en-US" sz="900" b="1" dirty="0">
                <a:solidFill>
                  <a:srgbClr val="0B1F44"/>
                </a:solidFill>
                <a:latin typeface="Calibri" pitchFamily="34" charset="0"/>
                <a:ea typeface="Calibri" pitchFamily="34" charset="-122"/>
                <a:cs typeface="Calibri" pitchFamily="34" charset="-120"/>
              </a:rPr>
              <a:t>2.5x by 2031</a:t>
            </a:r>
            <a:r>
              <a:rPr lang="en-US" sz="900" dirty="0">
                <a:solidFill>
                  <a:srgbClr val="404040"/>
                </a:solidFill>
                <a:latin typeface="Calibri" pitchFamily="34" charset="0"/>
                <a:ea typeface="Calibri" pitchFamily="34" charset="-122"/>
                <a:cs typeface="Calibri" pitchFamily="34" charset="-120"/>
              </a:rPr>
              <a:t> while new contracted supply adds only ~11 GW. </a:t>
            </a:r>
            <a:r>
              <a:rPr lang="en-US" sz="900" b="1" dirty="0">
                <a:solidFill>
                  <a:srgbClr val="0B1F44"/>
                </a:solidFill>
                <a:latin typeface="Calibri" pitchFamily="34" charset="0"/>
                <a:ea typeface="Calibri" pitchFamily="34" charset="-122"/>
                <a:cs typeface="Calibri" pitchFamily="34" charset="-120"/>
              </a:rPr>
              <a:t>57%</a:t>
            </a:r>
            <a:r>
              <a:rPr lang="en-US" sz="900" dirty="0">
                <a:solidFill>
                  <a:srgbClr val="404040"/>
                </a:solidFill>
                <a:latin typeface="Calibri" pitchFamily="34" charset="0"/>
                <a:ea typeface="Calibri" pitchFamily="34" charset="-122"/>
                <a:cs typeface="Calibri" pitchFamily="34" charset="-120"/>
              </a:rPr>
              <a:t> of power hyperscalers have contracted lands </a:t>
            </a:r>
            <a:r>
              <a:rPr lang="en-US" sz="900" b="1" dirty="0">
                <a:solidFill>
                  <a:srgbClr val="0B1F44"/>
                </a:solidFill>
                <a:latin typeface="Calibri" pitchFamily="34" charset="0"/>
                <a:ea typeface="Calibri" pitchFamily="34" charset="-122"/>
                <a:cs typeface="Calibri" pitchFamily="34" charset="-120"/>
              </a:rPr>
              <a:t>2029 or later</a:t>
            </a:r>
            <a:r>
              <a:rPr lang="en-US" sz="900" dirty="0">
                <a:solidFill>
                  <a:srgbClr val="404040"/>
                </a:solidFill>
                <a:latin typeface="Calibri" pitchFamily="34" charset="0"/>
                <a:ea typeface="Calibri" pitchFamily="34" charset="-122"/>
                <a:cs typeface="Calibri" pitchFamily="34" charset="-120"/>
              </a:rPr>
              <a:t>: a 2–3 year gap that only on-site, fast-to-deploy generation can fill. ERCOT's large-load queue is </a:t>
            </a:r>
            <a:r>
              <a:rPr lang="en-US" sz="900" b="1" dirty="0">
                <a:solidFill>
                  <a:srgbClr val="0B1F44"/>
                </a:solidFill>
                <a:latin typeface="Calibri" pitchFamily="34" charset="0"/>
                <a:ea typeface="Calibri" pitchFamily="34" charset="-122"/>
                <a:cs typeface="Calibri" pitchFamily="34" charset="-120"/>
              </a:rPr>
              <a:t>~475 GW</a:t>
            </a:r>
            <a:r>
              <a:rPr lang="en-US" sz="900" dirty="0">
                <a:solidFill>
                  <a:srgbClr val="404040"/>
                </a:solidFill>
                <a:latin typeface="Calibri" pitchFamily="34" charset="0"/>
                <a:ea typeface="Calibri" pitchFamily="34" charset="-122"/>
                <a:cs typeface="Calibri" pitchFamily="34" charset="-120"/>
              </a:rPr>
              <a:t>, 90% data centers</a:t>
            </a:r>
            <a:endParaRPr lang="en-US" sz="900" dirty="0"/>
          </a:p>
        </p:txBody>
      </p:sp>
      <p:sp>
        <p:nvSpPr>
          <p:cNvPr id="36" name="Text 30"/>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Company filings (AMZN, GOOGL, META, MSFT); BCSE/BNEF (PPAs); NERC 2025 LTRA; 67 hyperscaler power agreements tracked in GPS model; ERCOT Senate testimony (Jul-26)</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3 (2/5): What The First Order Tells Us</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$1.465bn Came From A Site That Was Built, Energized On Mobile Gas, And Out Of Turbines</a:t>
            </a:r>
            <a:endParaRPr lang="en-US" sz="1500" dirty="0"/>
          </a:p>
        </p:txBody>
      </p:sp>
      <p:sp>
        <p:nvSpPr>
          <p:cNvPr id="5" name="Shape 3"/>
          <p:cNvSpPr/>
          <p:nvPr/>
        </p:nvSpPr>
        <p:spPr>
          <a:xfrm>
            <a:off x="411480" y="1536192"/>
            <a:ext cx="365760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The Order (22-Jul-26)</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874520"/>
          <a:ext cx="3657600" cy="914400"/>
        </p:xfrm>
        <a:graphic>
          <a:graphicData uri="http://schemas.openxmlformats.org/drawingml/2006/table">
            <a:tbl>
              <a:tblPr/>
              <a:tblGrid>
                <a:gridCol w="914400"/>
                <a:gridCol w="2743200"/>
              </a:tblGrid>
              <a:tr h="310896">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Term</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Detail</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Seller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J&amp;F Power Systems (FTAI × Jereh JV)</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Buyer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"Leading international cloud service provider"; </a:t>
                      </a:r>
                      <a:r>
                        <a:rPr lang="en-US" sz="850" b="1" dirty="0">
                          <a:solidFill>
                            <a:srgbClr val="0B1F44"/>
                          </a:solidFill>
                          <a:latin typeface="Calibri" pitchFamily="34" charset="0"/>
                          <a:ea typeface="Calibri" pitchFamily="34" charset="-122"/>
                          <a:cs typeface="Calibri" pitchFamily="34" charset="-120"/>
                        </a:rPr>
                        <a:t>reported to be xAI</a:t>
                      </a:r>
                      <a:r>
                        <a:rPr lang="en-US" sz="850" dirty="0">
                          <a:solidFill>
                            <a:srgbClr val="404040"/>
                          </a:solidFill>
                          <a:latin typeface="Calibri" pitchFamily="34" charset="0"/>
                          <a:ea typeface="Calibri" pitchFamily="34" charset="-122"/>
                          <a:cs typeface="Calibri" pitchFamily="34" charset="-120"/>
                        </a:rPr>
                        <a:t> (not confirmed)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Size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$1.465bn</a:t>
                      </a:r>
                      <a:r>
                        <a:rPr lang="en-US" sz="850" dirty="0">
                          <a:solidFill>
                            <a:srgbClr val="404040"/>
                          </a:solidFill>
                          <a:latin typeface="Calibri" pitchFamily="34" charset="0"/>
                          <a:ea typeface="Calibri" pitchFamily="34" charset="-122"/>
                          <a:cs typeface="Calibri" pitchFamily="34" charset="-120"/>
                        </a:rPr>
                        <a:t> initial PO under a 5-yr MSA</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Implied units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~58 Mod-1 at ~$25M (~1.45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Delivery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Batches through </a:t>
                      </a:r>
                      <a:r>
                        <a:rPr lang="en-US" sz="850" b="1" dirty="0">
                          <a:solidFill>
                            <a:srgbClr val="0B1F44"/>
                          </a:solidFill>
                          <a:latin typeface="Calibri" pitchFamily="34" charset="0"/>
                          <a:ea typeface="Calibri" pitchFamily="34" charset="-122"/>
                          <a:cs typeface="Calibri" pitchFamily="34" charset="-120"/>
                        </a:rPr>
                        <a:t>Nov-27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Terms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Advance + milestone payments; output penalty capped at 10%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8" name="Shape 5"/>
          <p:cNvSpPr/>
          <p:nvPr/>
        </p:nvSpPr>
        <p:spPr>
          <a:xfrm>
            <a:off x="411480" y="4526280"/>
            <a:ext cx="3657600" cy="868680"/>
          </a:xfrm>
          <a:prstGeom prst="roundRect">
            <a:avLst>
              <a:gd name="adj" fmla="val 6316"/>
            </a:avLst>
          </a:prstGeom>
          <a:solidFill>
            <a:srgbClr val="FFFFFF"/>
          </a:solidFill>
          <a:ln w="12700">
            <a:solidFill>
              <a:srgbClr val="0B1F44"/>
            </a:solidFill>
            <a:prstDash val="dash"/>
          </a:ln>
        </p:spPr>
      </p:sp>
      <p:sp>
        <p:nvSpPr>
          <p:cNvPr id="9" name="Text 6"/>
          <p:cNvSpPr txBox="1"/>
          <p:nvPr/>
        </p:nvSpPr>
        <p:spPr>
          <a:xfrm>
            <a:off x="466344" y="4553712"/>
            <a:ext cx="3547872" cy="81381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The MSA lets the buyer </a:t>
            </a:r>
            <a:r>
              <a:rPr lang="en-US" sz="950" b="1" dirty="0">
                <a:solidFill>
                  <a:srgbClr val="0B1F44"/>
                </a:solidFill>
                <a:latin typeface="Calibri" pitchFamily="34" charset="0"/>
                <a:ea typeface="Calibri" pitchFamily="34" charset="-122"/>
                <a:cs typeface="Calibri" pitchFamily="34" charset="-120"/>
              </a:rPr>
              <a:t>re-order without renegotiating</a:t>
            </a:r>
            <a:r>
              <a:rPr lang="en-US" sz="950" dirty="0">
                <a:solidFill>
                  <a:srgbClr val="404040"/>
                </a:solidFill>
                <a:latin typeface="Calibri" pitchFamily="34" charset="0"/>
                <a:ea typeface="Calibri" pitchFamily="34" charset="-122"/>
                <a:cs typeface="Calibri" pitchFamily="34" charset="-120"/>
              </a:rPr>
              <a:t>: further xAI-scale orders need no new contract</a:t>
            </a:r>
            <a:endParaRPr lang="en-US" sz="950" dirty="0"/>
          </a:p>
        </p:txBody>
      </p:sp>
      <p:sp>
        <p:nvSpPr>
          <p:cNvPr id="10" name="Shape 7"/>
          <p:cNvSpPr/>
          <p:nvPr/>
        </p:nvSpPr>
        <p:spPr>
          <a:xfrm>
            <a:off x="4251960" y="1536192"/>
            <a:ext cx="7525512" cy="292608"/>
          </a:xfrm>
          <a:prstGeom prst="rect">
            <a:avLst/>
          </a:prstGeom>
          <a:solidFill>
            <a:srgbClr val="DCE6F2"/>
          </a:solidFill>
          <a:ln w="9525">
            <a:solidFill>
              <a:srgbClr val="0B1F44"/>
            </a:solidFill>
            <a:prstDash val="solid"/>
          </a:ln>
        </p:spPr>
      </p:sp>
      <p:sp>
        <p:nvSpPr>
          <p:cNvPr id="11" name="Text 8"/>
          <p:cNvSpPr txBox="1"/>
          <p:nvPr/>
        </p:nvSpPr>
        <p:spPr>
          <a:xfrm>
            <a:off x="4251960" y="1536192"/>
            <a:ext cx="752551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Reference Site: xAI Colossus 2 / Southaven</a:t>
            </a:r>
            <a:endParaRPr lang="en-US" sz="1200" dirty="0"/>
          </a:p>
        </p:txBody>
      </p:sp>
      <p:sp>
        <p:nvSpPr>
          <p:cNvPr id="12" name="Shape 9"/>
          <p:cNvSpPr/>
          <p:nvPr/>
        </p:nvSpPr>
        <p:spPr>
          <a:xfrm>
            <a:off x="4434840" y="2212848"/>
            <a:ext cx="7178040" cy="0"/>
          </a:xfrm>
          <a:prstGeom prst="line">
            <a:avLst/>
          </a:prstGeom>
          <a:noFill/>
          <a:ln w="25400">
            <a:solidFill>
              <a:srgbClr val="0B1F44"/>
            </a:solidFill>
            <a:prstDash val="solid"/>
          </a:ln>
        </p:spPr>
      </p:sp>
      <p:sp>
        <p:nvSpPr>
          <p:cNvPr id="13" name="Shape 10"/>
          <p:cNvSpPr/>
          <p:nvPr/>
        </p:nvSpPr>
        <p:spPr>
          <a:xfrm>
            <a:off x="4818888" y="2121408"/>
            <a:ext cx="182880" cy="182880"/>
          </a:xfrm>
          <a:prstGeom prst="ellipse">
            <a:avLst/>
          </a:prstGeom>
          <a:solidFill>
            <a:srgbClr val="0B1F44"/>
          </a:solidFill>
          <a:ln w="12700">
            <a:solidFill>
              <a:srgbClr val="FFFFFF"/>
            </a:solidFill>
            <a:prstDash val="solid"/>
          </a:ln>
        </p:spPr>
      </p:sp>
      <p:sp>
        <p:nvSpPr>
          <p:cNvPr id="14" name="Text 11"/>
          <p:cNvSpPr txBox="1"/>
          <p:nvPr/>
        </p:nvSpPr>
        <p:spPr>
          <a:xfrm>
            <a:off x="4343400" y="1874520"/>
            <a:ext cx="114300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Feb–Mar 25</a:t>
            </a:r>
            <a:endParaRPr lang="en-US" sz="900" dirty="0"/>
          </a:p>
        </p:txBody>
      </p:sp>
      <p:sp>
        <p:nvSpPr>
          <p:cNvPr id="15" name="Text 12"/>
          <p:cNvSpPr txBox="1"/>
          <p:nvPr/>
        </p:nvSpPr>
        <p:spPr>
          <a:xfrm>
            <a:off x="4343400" y="2359152"/>
            <a:ext cx="1143000" cy="566928"/>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Land + 186 ac bought in Memphis</a:t>
            </a:r>
            <a:endParaRPr lang="en-US" sz="850" dirty="0"/>
          </a:p>
        </p:txBody>
      </p:sp>
      <p:sp>
        <p:nvSpPr>
          <p:cNvPr id="16" name="Shape 13"/>
          <p:cNvSpPr/>
          <p:nvPr/>
        </p:nvSpPr>
        <p:spPr>
          <a:xfrm>
            <a:off x="6062472" y="2121408"/>
            <a:ext cx="182880" cy="182880"/>
          </a:xfrm>
          <a:prstGeom prst="ellipse">
            <a:avLst/>
          </a:prstGeom>
          <a:solidFill>
            <a:srgbClr val="0B1F44"/>
          </a:solidFill>
          <a:ln w="12700">
            <a:solidFill>
              <a:srgbClr val="FFFFFF"/>
            </a:solidFill>
            <a:prstDash val="solid"/>
          </a:ln>
        </p:spPr>
      </p:sp>
      <p:sp>
        <p:nvSpPr>
          <p:cNvPr id="17" name="Text 14"/>
          <p:cNvSpPr txBox="1"/>
          <p:nvPr/>
        </p:nvSpPr>
        <p:spPr>
          <a:xfrm>
            <a:off x="5586984" y="1874520"/>
            <a:ext cx="114300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Apr 25</a:t>
            </a:r>
            <a:endParaRPr lang="en-US" sz="900" dirty="0"/>
          </a:p>
        </p:txBody>
      </p:sp>
      <p:sp>
        <p:nvSpPr>
          <p:cNvPr id="18" name="Text 15"/>
          <p:cNvSpPr txBox="1"/>
          <p:nvPr/>
        </p:nvSpPr>
        <p:spPr>
          <a:xfrm>
            <a:off x="5586984" y="2359152"/>
            <a:ext cx="1143000" cy="566928"/>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Solaris JV: ~900 MW mobile gas</a:t>
            </a:r>
            <a:endParaRPr lang="en-US" sz="850" dirty="0"/>
          </a:p>
        </p:txBody>
      </p:sp>
      <p:sp>
        <p:nvSpPr>
          <p:cNvPr id="19" name="Shape 16"/>
          <p:cNvSpPr/>
          <p:nvPr/>
        </p:nvSpPr>
        <p:spPr>
          <a:xfrm>
            <a:off x="7306056" y="2121408"/>
            <a:ext cx="182880" cy="182880"/>
          </a:xfrm>
          <a:prstGeom prst="ellipse">
            <a:avLst/>
          </a:prstGeom>
          <a:solidFill>
            <a:srgbClr val="0B1F44"/>
          </a:solidFill>
          <a:ln w="12700">
            <a:solidFill>
              <a:srgbClr val="FFFFFF"/>
            </a:solidFill>
            <a:prstDash val="solid"/>
          </a:ln>
        </p:spPr>
      </p:sp>
      <p:sp>
        <p:nvSpPr>
          <p:cNvPr id="20" name="Text 17"/>
          <p:cNvSpPr txBox="1"/>
          <p:nvPr/>
        </p:nvSpPr>
        <p:spPr>
          <a:xfrm>
            <a:off x="6830568" y="1874520"/>
            <a:ext cx="114300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Jul 25</a:t>
            </a:r>
            <a:endParaRPr lang="en-US" sz="900" dirty="0"/>
          </a:p>
        </p:txBody>
      </p:sp>
      <p:sp>
        <p:nvSpPr>
          <p:cNvPr id="21" name="Text 18"/>
          <p:cNvSpPr txBox="1"/>
          <p:nvPr/>
        </p:nvSpPr>
        <p:spPr>
          <a:xfrm>
            <a:off x="6830568" y="2359152"/>
            <a:ext cx="1143000" cy="566928"/>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Buys ex-Duke plant, Southaven MS</a:t>
            </a:r>
            <a:endParaRPr lang="en-US" sz="850" dirty="0"/>
          </a:p>
        </p:txBody>
      </p:sp>
      <p:sp>
        <p:nvSpPr>
          <p:cNvPr id="22" name="Shape 19"/>
          <p:cNvSpPr/>
          <p:nvPr/>
        </p:nvSpPr>
        <p:spPr>
          <a:xfrm>
            <a:off x="8549640" y="2121408"/>
            <a:ext cx="182880" cy="182880"/>
          </a:xfrm>
          <a:prstGeom prst="ellipse">
            <a:avLst/>
          </a:prstGeom>
          <a:solidFill>
            <a:srgbClr val="0B1F44"/>
          </a:solidFill>
          <a:ln w="12700">
            <a:solidFill>
              <a:srgbClr val="FFFFFF"/>
            </a:solidFill>
            <a:prstDash val="solid"/>
          </a:ln>
        </p:spPr>
      </p:sp>
      <p:sp>
        <p:nvSpPr>
          <p:cNvPr id="23" name="Text 20"/>
          <p:cNvSpPr txBox="1"/>
          <p:nvPr/>
        </p:nvSpPr>
        <p:spPr>
          <a:xfrm>
            <a:off x="8074152" y="1874520"/>
            <a:ext cx="114300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Jan 26</a:t>
            </a:r>
            <a:endParaRPr lang="en-US" sz="900" dirty="0"/>
          </a:p>
        </p:txBody>
      </p:sp>
      <p:sp>
        <p:nvSpPr>
          <p:cNvPr id="24" name="Text 21"/>
          <p:cNvSpPr txBox="1"/>
          <p:nvPr/>
        </p:nvSpPr>
        <p:spPr>
          <a:xfrm>
            <a:off x="8074152" y="2359152"/>
            <a:ext cx="1143000" cy="566928"/>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1 GW online; $20bn Southaven DC</a:t>
            </a:r>
            <a:endParaRPr lang="en-US" sz="850" dirty="0"/>
          </a:p>
        </p:txBody>
      </p:sp>
      <p:sp>
        <p:nvSpPr>
          <p:cNvPr id="25" name="Shape 22"/>
          <p:cNvSpPr/>
          <p:nvPr/>
        </p:nvSpPr>
        <p:spPr>
          <a:xfrm>
            <a:off x="9793224" y="2121408"/>
            <a:ext cx="182880" cy="182880"/>
          </a:xfrm>
          <a:prstGeom prst="ellipse">
            <a:avLst/>
          </a:prstGeom>
          <a:solidFill>
            <a:srgbClr val="0B1F44"/>
          </a:solidFill>
          <a:ln w="12700">
            <a:solidFill>
              <a:srgbClr val="FFFFFF"/>
            </a:solidFill>
            <a:prstDash val="solid"/>
          </a:ln>
        </p:spPr>
      </p:sp>
      <p:sp>
        <p:nvSpPr>
          <p:cNvPr id="26" name="Text 23"/>
          <p:cNvSpPr txBox="1"/>
          <p:nvPr/>
        </p:nvSpPr>
        <p:spPr>
          <a:xfrm>
            <a:off x="9317736" y="1874520"/>
            <a:ext cx="114300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Mar 26</a:t>
            </a:r>
            <a:endParaRPr lang="en-US" sz="900" dirty="0"/>
          </a:p>
        </p:txBody>
      </p:sp>
      <p:sp>
        <p:nvSpPr>
          <p:cNvPr id="27" name="Text 24"/>
          <p:cNvSpPr txBox="1"/>
          <p:nvPr/>
        </p:nvSpPr>
        <p:spPr>
          <a:xfrm>
            <a:off x="9317736" y="2359152"/>
            <a:ext cx="1143000" cy="566928"/>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Permit for 41 turbines (~1.2 GW)</a:t>
            </a:r>
            <a:endParaRPr lang="en-US" sz="850" dirty="0"/>
          </a:p>
        </p:txBody>
      </p:sp>
      <p:sp>
        <p:nvSpPr>
          <p:cNvPr id="28" name="Shape 25"/>
          <p:cNvSpPr/>
          <p:nvPr/>
        </p:nvSpPr>
        <p:spPr>
          <a:xfrm>
            <a:off x="11036808" y="2121408"/>
            <a:ext cx="182880" cy="182880"/>
          </a:xfrm>
          <a:prstGeom prst="ellipse">
            <a:avLst/>
          </a:prstGeom>
          <a:solidFill>
            <a:srgbClr val="E8702A"/>
          </a:solidFill>
          <a:ln w="12700">
            <a:solidFill>
              <a:srgbClr val="FFFFFF"/>
            </a:solidFill>
            <a:prstDash val="solid"/>
          </a:ln>
        </p:spPr>
      </p:sp>
      <p:sp>
        <p:nvSpPr>
          <p:cNvPr id="29" name="Text 26"/>
          <p:cNvSpPr txBox="1"/>
          <p:nvPr/>
        </p:nvSpPr>
        <p:spPr>
          <a:xfrm>
            <a:off x="10561320" y="1874520"/>
            <a:ext cx="1143000" cy="228600"/>
          </a:xfrm>
          <a:prstGeom prst="rect">
            <a:avLst/>
          </a:prstGeom>
          <a:noFill/>
          <a:ln/>
        </p:spPr>
        <p:txBody>
          <a:bodyPr wrap="square" lIns="25400" tIns="25400" rIns="25400" bIns="25400" rtlCol="0" anchor="ctr"/>
          <a:lstStyle/>
          <a:p>
            <a:pPr algn="ctr" indent="0" marL="0">
              <a:buNone/>
            </a:pPr>
            <a:r>
              <a:rPr lang="en-US" sz="900" b="1" dirty="0">
                <a:solidFill>
                  <a:srgbClr val="0B1F44"/>
                </a:solidFill>
                <a:latin typeface="Calibri" pitchFamily="34" charset="0"/>
                <a:ea typeface="Calibri" pitchFamily="34" charset="-122"/>
                <a:cs typeface="Calibri" pitchFamily="34" charset="-120"/>
              </a:rPr>
              <a:t>Jul 26</a:t>
            </a:r>
            <a:endParaRPr lang="en-US" sz="900" dirty="0"/>
          </a:p>
        </p:txBody>
      </p:sp>
      <p:sp>
        <p:nvSpPr>
          <p:cNvPr id="30" name="Text 27"/>
          <p:cNvSpPr txBox="1"/>
          <p:nvPr/>
        </p:nvSpPr>
        <p:spPr>
          <a:xfrm>
            <a:off x="10561320" y="2359152"/>
            <a:ext cx="1143000" cy="566928"/>
          </a:xfrm>
          <a:prstGeom prst="rect">
            <a:avLst/>
          </a:prstGeom>
          <a:noFill/>
          <a:ln/>
        </p:spPr>
        <p:txBody>
          <a:bodyPr wrap="square" lIns="25400" tIns="25400" rIns="25400" bIns="25400" rtlCol="0" anchor="t"/>
          <a:lstStyle/>
          <a:p>
            <a:pPr algn="ctr" indent="0" marL="0">
              <a:buNone/>
            </a:pPr>
            <a:r>
              <a:rPr lang="en-US" sz="850" b="1" dirty="0">
                <a:solidFill>
                  <a:srgbClr val="E8702A"/>
                </a:solidFill>
                <a:latin typeface="Calibri" pitchFamily="34" charset="0"/>
                <a:ea typeface="Calibri" pitchFamily="34" charset="-122"/>
                <a:cs typeface="Calibri" pitchFamily="34" charset="-120"/>
              </a:rPr>
              <a:t>FTAI / J&amp;F order</a:t>
            </a:r>
            <a:endParaRPr lang="en-US" sz="850" dirty="0"/>
          </a:p>
        </p:txBody>
      </p:sp>
      <p:sp>
        <p:nvSpPr>
          <p:cNvPr id="31" name="Shape 28"/>
          <p:cNvSpPr/>
          <p:nvPr/>
        </p:nvSpPr>
        <p:spPr>
          <a:xfrm>
            <a:off x="4251960" y="3035808"/>
            <a:ext cx="7525512" cy="292608"/>
          </a:xfrm>
          <a:prstGeom prst="rect">
            <a:avLst/>
          </a:prstGeom>
          <a:solidFill>
            <a:srgbClr val="DCE6F2"/>
          </a:solidFill>
          <a:ln w="9525">
            <a:solidFill>
              <a:srgbClr val="0B1F44"/>
            </a:solidFill>
            <a:prstDash val="solid"/>
          </a:ln>
        </p:spPr>
      </p:sp>
      <p:sp>
        <p:nvSpPr>
          <p:cNvPr id="32" name="Text 29"/>
          <p:cNvSpPr txBox="1"/>
          <p:nvPr/>
        </p:nvSpPr>
        <p:spPr>
          <a:xfrm>
            <a:off x="4251960" y="3035808"/>
            <a:ext cx="752551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"The xAI Stage": What Was True When It Signed</a:t>
            </a:r>
            <a:endParaRPr lang="en-US" sz="1200" dirty="0"/>
          </a:p>
        </p:txBody>
      </p:sp>
      <p:sp>
        <p:nvSpPr>
          <p:cNvPr id="33" name="Shape 30"/>
          <p:cNvSpPr/>
          <p:nvPr/>
        </p:nvSpPr>
        <p:spPr>
          <a:xfrm>
            <a:off x="4297680" y="3419856"/>
            <a:ext cx="292608" cy="292608"/>
          </a:xfrm>
          <a:prstGeom prst="ellipse">
            <a:avLst/>
          </a:prstGeom>
          <a:solidFill>
            <a:srgbClr val="E8702A"/>
          </a:solidFill>
          <a:ln w="12700">
            <a:solidFill>
              <a:srgbClr val="E8702A"/>
            </a:solidFill>
            <a:prstDash val="solid"/>
          </a:ln>
        </p:spPr>
      </p:sp>
      <p:sp>
        <p:nvSpPr>
          <p:cNvPr id="34" name="Text 31"/>
          <p:cNvSpPr txBox="1"/>
          <p:nvPr/>
        </p:nvSpPr>
        <p:spPr>
          <a:xfrm>
            <a:off x="4297680" y="341985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35" name="Text 32"/>
          <p:cNvSpPr txBox="1"/>
          <p:nvPr/>
        </p:nvSpPr>
        <p:spPr>
          <a:xfrm>
            <a:off x="4663440" y="3401568"/>
            <a:ext cx="2423160" cy="329184"/>
          </a:xfrm>
          <a:prstGeom prst="rect">
            <a:avLst/>
          </a:prstGeom>
          <a:noFill/>
          <a:ln/>
        </p:spPr>
        <p:txBody>
          <a:bodyPr wrap="square" lIns="25400" tIns="25400" rIns="25400" bIns="254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Shell built, GPUs committed</a:t>
            </a:r>
            <a:endParaRPr lang="en-US" sz="950" dirty="0"/>
          </a:p>
        </p:txBody>
      </p:sp>
      <p:sp>
        <p:nvSpPr>
          <p:cNvPr id="36" name="Text 33"/>
          <p:cNvSpPr txBox="1"/>
          <p:nvPr/>
        </p:nvSpPr>
        <p:spPr>
          <a:xfrm>
            <a:off x="7086600" y="3401568"/>
            <a:ext cx="4663440" cy="329184"/>
          </a:xfrm>
          <a:prstGeom prst="rect">
            <a:avLst/>
          </a:prstGeom>
          <a:noFill/>
          <a:ln/>
        </p:spPr>
        <p:txBody>
          <a:bodyPr wrap="square" lIns="25400" tIns="25400" rIns="25400" bIns="254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~1 GW live; next GW ($20bn Southaven) under construction</a:t>
            </a:r>
            <a:endParaRPr lang="en-US" sz="950" dirty="0"/>
          </a:p>
        </p:txBody>
      </p:sp>
      <p:sp>
        <p:nvSpPr>
          <p:cNvPr id="37" name="Shape 34"/>
          <p:cNvSpPr/>
          <p:nvPr/>
        </p:nvSpPr>
        <p:spPr>
          <a:xfrm>
            <a:off x="4297680" y="3785616"/>
            <a:ext cx="292608" cy="292608"/>
          </a:xfrm>
          <a:prstGeom prst="ellipse">
            <a:avLst/>
          </a:prstGeom>
          <a:solidFill>
            <a:srgbClr val="E8702A"/>
          </a:solidFill>
          <a:ln w="12700">
            <a:solidFill>
              <a:srgbClr val="E8702A"/>
            </a:solidFill>
            <a:prstDash val="solid"/>
          </a:ln>
        </p:spPr>
      </p:sp>
      <p:sp>
        <p:nvSpPr>
          <p:cNvPr id="38" name="Text 35"/>
          <p:cNvSpPr txBox="1"/>
          <p:nvPr/>
        </p:nvSpPr>
        <p:spPr>
          <a:xfrm>
            <a:off x="4297680" y="378561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39" name="Text 36"/>
          <p:cNvSpPr txBox="1"/>
          <p:nvPr/>
        </p:nvSpPr>
        <p:spPr>
          <a:xfrm>
            <a:off x="4663440" y="3767328"/>
            <a:ext cx="2423160" cy="329184"/>
          </a:xfrm>
          <a:prstGeom prst="rect">
            <a:avLst/>
          </a:prstGeom>
          <a:noFill/>
          <a:ln/>
        </p:spPr>
        <p:txBody>
          <a:bodyPr wrap="square" lIns="25400" tIns="25400" rIns="25400" bIns="254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No grid for the next phase</a:t>
            </a:r>
            <a:endParaRPr lang="en-US" sz="950" dirty="0"/>
          </a:p>
        </p:txBody>
      </p:sp>
      <p:sp>
        <p:nvSpPr>
          <p:cNvPr id="40" name="Text 37"/>
          <p:cNvSpPr txBox="1"/>
          <p:nvPr/>
        </p:nvSpPr>
        <p:spPr>
          <a:xfrm>
            <a:off x="7086600" y="3767328"/>
            <a:ext cx="4663440" cy="329184"/>
          </a:xfrm>
          <a:prstGeom prst="rect">
            <a:avLst/>
          </a:prstGeom>
          <a:noFill/>
          <a:ln/>
        </p:spPr>
        <p:txBody>
          <a:bodyPr wrap="square" lIns="25400" tIns="25400" rIns="25400" bIns="254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MLGW supplies </a:t>
            </a:r>
            <a:r>
              <a:rPr lang="en-US" sz="950" b="1" dirty="0">
                <a:solidFill>
                  <a:srgbClr val="0B1F44"/>
                </a:solidFill>
                <a:latin typeface="Calibri" pitchFamily="34" charset="0"/>
                <a:ea typeface="Calibri" pitchFamily="34" charset="-122"/>
                <a:cs typeface="Calibri" pitchFamily="34" charset="-120"/>
              </a:rPr>
              <a:t>no power</a:t>
            </a:r>
            <a:r>
              <a:rPr lang="en-US" sz="950" dirty="0">
                <a:solidFill>
                  <a:srgbClr val="404040"/>
                </a:solidFill>
                <a:latin typeface="Calibri" pitchFamily="34" charset="0"/>
                <a:ea typeface="Calibri" pitchFamily="34" charset="-122"/>
                <a:cs typeface="Calibri" pitchFamily="34" charset="-120"/>
              </a:rPr>
              <a:t> to Colossus 2; no TVA allocation</a:t>
            </a:r>
            <a:endParaRPr lang="en-US" sz="950" dirty="0"/>
          </a:p>
        </p:txBody>
      </p:sp>
      <p:sp>
        <p:nvSpPr>
          <p:cNvPr id="41" name="Shape 38"/>
          <p:cNvSpPr/>
          <p:nvPr/>
        </p:nvSpPr>
        <p:spPr>
          <a:xfrm>
            <a:off x="4297680" y="4151376"/>
            <a:ext cx="292608" cy="292608"/>
          </a:xfrm>
          <a:prstGeom prst="ellipse">
            <a:avLst/>
          </a:prstGeom>
          <a:solidFill>
            <a:srgbClr val="E8702A"/>
          </a:solidFill>
          <a:ln w="12700">
            <a:solidFill>
              <a:srgbClr val="E8702A"/>
            </a:solidFill>
            <a:prstDash val="solid"/>
          </a:ln>
        </p:spPr>
      </p:sp>
      <p:sp>
        <p:nvSpPr>
          <p:cNvPr id="42" name="Text 39"/>
          <p:cNvSpPr txBox="1"/>
          <p:nvPr/>
        </p:nvSpPr>
        <p:spPr>
          <a:xfrm>
            <a:off x="4297680" y="415137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43" name="Text 40"/>
          <p:cNvSpPr txBox="1"/>
          <p:nvPr/>
        </p:nvSpPr>
        <p:spPr>
          <a:xfrm>
            <a:off x="4663440" y="4133088"/>
            <a:ext cx="2423160" cy="329184"/>
          </a:xfrm>
          <a:prstGeom prst="rect">
            <a:avLst/>
          </a:prstGeom>
          <a:noFill/>
          <a:ln/>
        </p:spPr>
        <p:txBody>
          <a:bodyPr wrap="square" lIns="25400" tIns="25400" rIns="25400" bIns="254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Behind-the-meter gas permitted</a:t>
            </a:r>
            <a:endParaRPr lang="en-US" sz="950" dirty="0"/>
          </a:p>
        </p:txBody>
      </p:sp>
      <p:sp>
        <p:nvSpPr>
          <p:cNvPr id="44" name="Text 41"/>
          <p:cNvSpPr txBox="1"/>
          <p:nvPr/>
        </p:nvSpPr>
        <p:spPr>
          <a:xfrm>
            <a:off x="7086600" y="4133088"/>
            <a:ext cx="4663440" cy="329184"/>
          </a:xfrm>
          <a:prstGeom prst="rect">
            <a:avLst/>
          </a:prstGeom>
          <a:noFill/>
          <a:ln/>
        </p:spPr>
        <p:txBody>
          <a:bodyPr wrap="square" lIns="25400" tIns="25400" rIns="25400" bIns="254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41 permanent turbines permitted; gas lateral in place</a:t>
            </a:r>
            <a:endParaRPr lang="en-US" sz="950" dirty="0"/>
          </a:p>
        </p:txBody>
      </p:sp>
      <p:sp>
        <p:nvSpPr>
          <p:cNvPr id="45" name="Shape 42"/>
          <p:cNvSpPr/>
          <p:nvPr/>
        </p:nvSpPr>
        <p:spPr>
          <a:xfrm>
            <a:off x="4297680" y="4517136"/>
            <a:ext cx="292608" cy="292608"/>
          </a:xfrm>
          <a:prstGeom prst="ellipse">
            <a:avLst/>
          </a:prstGeom>
          <a:solidFill>
            <a:srgbClr val="E8702A"/>
          </a:solidFill>
          <a:ln w="12700">
            <a:solidFill>
              <a:srgbClr val="E8702A"/>
            </a:solidFill>
            <a:prstDash val="solid"/>
          </a:ln>
        </p:spPr>
      </p:sp>
      <p:sp>
        <p:nvSpPr>
          <p:cNvPr id="46" name="Text 43"/>
          <p:cNvSpPr txBox="1"/>
          <p:nvPr/>
        </p:nvSpPr>
        <p:spPr>
          <a:xfrm>
            <a:off x="4297680" y="45171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47" name="Text 44"/>
          <p:cNvSpPr txBox="1"/>
          <p:nvPr/>
        </p:nvSpPr>
        <p:spPr>
          <a:xfrm>
            <a:off x="4663440" y="4498848"/>
            <a:ext cx="2423160" cy="329184"/>
          </a:xfrm>
          <a:prstGeom prst="rect">
            <a:avLst/>
          </a:prstGeom>
          <a:noFill/>
          <a:ln/>
        </p:spPr>
        <p:txBody>
          <a:bodyPr wrap="square" lIns="25400" tIns="25400" rIns="25400" bIns="254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Incumbent supply tapped out</a:t>
            </a:r>
            <a:endParaRPr lang="en-US" sz="950" dirty="0"/>
          </a:p>
        </p:txBody>
      </p:sp>
      <p:sp>
        <p:nvSpPr>
          <p:cNvPr id="48" name="Text 45"/>
          <p:cNvSpPr txBox="1"/>
          <p:nvPr/>
        </p:nvSpPr>
        <p:spPr>
          <a:xfrm>
            <a:off x="7086600" y="4498848"/>
            <a:ext cx="4663440" cy="329184"/>
          </a:xfrm>
          <a:prstGeom prst="rect">
            <a:avLst/>
          </a:prstGeom>
          <a:noFill/>
          <a:ln/>
        </p:spPr>
        <p:txBody>
          <a:bodyPr wrap="square" lIns="25400" tIns="25400" rIns="25400" bIns="254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Solaris fleet committed; OEM aero slots </a:t>
            </a:r>
            <a:r>
              <a:rPr lang="en-US" sz="950" b="1" dirty="0">
                <a:solidFill>
                  <a:srgbClr val="0B1F44"/>
                </a:solidFill>
                <a:latin typeface="Calibri" pitchFamily="34" charset="0"/>
                <a:ea typeface="Calibri" pitchFamily="34" charset="-122"/>
                <a:cs typeface="Calibri" pitchFamily="34" charset="-120"/>
              </a:rPr>
              <a:t>2028+</a:t>
            </a:r>
            <a:endParaRPr lang="en-US" sz="950" dirty="0"/>
          </a:p>
        </p:txBody>
      </p:sp>
      <p:sp>
        <p:nvSpPr>
          <p:cNvPr id="49" name="Shape 46"/>
          <p:cNvSpPr/>
          <p:nvPr/>
        </p:nvSpPr>
        <p:spPr>
          <a:xfrm>
            <a:off x="4251960" y="4919472"/>
            <a:ext cx="7525512" cy="502920"/>
          </a:xfrm>
          <a:prstGeom prst="roundRect">
            <a:avLst>
              <a:gd name="adj" fmla="val 10909"/>
            </a:avLst>
          </a:prstGeom>
          <a:solidFill>
            <a:srgbClr val="FFFFFF"/>
          </a:solidFill>
          <a:ln w="12700">
            <a:solidFill>
              <a:srgbClr val="0B1F44"/>
            </a:solidFill>
            <a:prstDash val="dash"/>
          </a:ln>
        </p:spPr>
      </p:sp>
      <p:sp>
        <p:nvSpPr>
          <p:cNvPr id="50" name="Text 47"/>
          <p:cNvSpPr txBox="1"/>
          <p:nvPr/>
        </p:nvSpPr>
        <p:spPr>
          <a:xfrm>
            <a:off x="4306824" y="4946904"/>
            <a:ext cx="7415784" cy="44805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We use these four conditions as the screen on the next page: a site that meets all four needs </a:t>
            </a:r>
            <a:r>
              <a:rPr lang="en-US" sz="950" b="1" dirty="0">
                <a:solidFill>
                  <a:srgbClr val="0B1F44"/>
                </a:solidFill>
                <a:latin typeface="Calibri" pitchFamily="34" charset="0"/>
                <a:ea typeface="Calibri" pitchFamily="34" charset="-122"/>
                <a:cs typeface="Calibri" pitchFamily="34" charset="-120"/>
              </a:rPr>
              <a:t>bridge power in 2027–28</a:t>
            </a:r>
            <a:r>
              <a:rPr lang="en-US" sz="950" dirty="0">
                <a:solidFill>
                  <a:srgbClr val="404040"/>
                </a:solidFill>
                <a:latin typeface="Calibri" pitchFamily="34" charset="0"/>
                <a:ea typeface="Calibri" pitchFamily="34" charset="-122"/>
                <a:cs typeface="Calibri" pitchFamily="34" charset="-120"/>
              </a:rPr>
              <a:t> and has no OEM alternative before 2029</a:t>
            </a:r>
            <a:endParaRPr lang="en-US" sz="950" dirty="0"/>
          </a:p>
        </p:txBody>
      </p:sp>
      <p:sp>
        <p:nvSpPr>
          <p:cNvPr id="51" name="Shape 48"/>
          <p:cNvSpPr/>
          <p:nvPr/>
        </p:nvSpPr>
        <p:spPr>
          <a:xfrm>
            <a:off x="411480" y="5532120"/>
            <a:ext cx="11365992" cy="749808"/>
          </a:xfrm>
          <a:prstGeom prst="rect">
            <a:avLst>
              <a:gd name="adj" fmla="val 7317"/>
            </a:avLst>
          </a:prstGeom>
          <a:solidFill>
            <a:srgbClr val="DCE6F2"/>
          </a:solidFill>
          <a:ln w="9525">
            <a:solidFill>
              <a:srgbClr val="DCE6F2"/>
            </a:solidFill>
            <a:prstDash val="solid"/>
          </a:ln>
        </p:spPr>
      </p:sp>
      <p:sp>
        <p:nvSpPr>
          <p:cNvPr id="52" name="Text 49"/>
          <p:cNvSpPr txBox="1"/>
          <p:nvPr/>
        </p:nvSpPr>
        <p:spPr>
          <a:xfrm>
            <a:off x="457200" y="5532120"/>
            <a:ext cx="11274552" cy="749808"/>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Diligence flag:</a:t>
            </a:r>
            <a:r>
              <a:rPr lang="en-US" sz="950" dirty="0">
                <a:solidFill>
                  <a:srgbClr val="404040"/>
                </a:solidFill>
                <a:latin typeface="Calibri" pitchFamily="34" charset="0"/>
                <a:ea typeface="Calibri" pitchFamily="34" charset="-122"/>
                <a:cs typeface="Calibri" pitchFamily="34" charset="-120"/>
              </a:rPr>
              <a:t> FTAI has not named the buyer and xAI was folded into SpaceX in Feb-26. The xAI link comes from Jereh gensets on the Southaven equipment list (CV Research). Our thesis does not depend on the name: the order is signed, priced and has a delivery schedule</a:t>
            </a:r>
            <a:endParaRPr lang="en-US" sz="950" dirty="0"/>
          </a:p>
        </p:txBody>
      </p:sp>
      <p:sp>
        <p:nvSpPr>
          <p:cNvPr id="53" name="Text 50"/>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release (22-Jul-26); Q2'26 call; Solaris 8-K; MDEQ permit (10-Mar-26); Mississippi Governor's office (8-Jan-26); DCD; SemiAnalysis; CV Research</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3 (3/5): Sites At The xAI Stage</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We Screened 24 US AI Campuses: 9 Meet The xAI Conditions, ~10 GW Of Load With No Locked Bridge Supplier</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554480"/>
          <a:ext cx="11365992" cy="914400"/>
        </p:xfrm>
        <a:graphic>
          <a:graphicData uri="http://schemas.openxmlformats.org/drawingml/2006/table">
            <a:tbl>
              <a:tblPr/>
              <a:tblGrid>
                <a:gridCol w="2148840"/>
                <a:gridCol w="1143000"/>
                <a:gridCol w="1097280"/>
                <a:gridCol w="1417320"/>
                <a:gridCol w="2377440"/>
                <a:gridCol w="1051560"/>
                <a:gridCol w="1033272"/>
                <a:gridCol w="1097280"/>
              </a:tblGrid>
              <a:tr h="310896">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Project (tenant)</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Location</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Target</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Stage</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Power plan today</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Grid timing</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Bridge need</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FTAI win</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Amazon "GW Ranch" (ex-Pacifico)</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Pecos Co., TX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Up to 7.6 GW gen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Bldgs 1–3 under constr.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Off-grid; 35-turbine permit, mixed sizes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Undefined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E8702A"/>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Poolside / CoreWeave "Horizon"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Pecos Co., TX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 GW (8×250 MW)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Under constr.; Ph1 1Q27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Behind-the-meter; no supplier named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None planned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E8702A"/>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Project Jade (Tallgrass)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Cheyenne, WY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1.8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Plans approved; 2028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CCGT + </a:t>
                      </a:r>
                      <a:r>
                        <a:rPr lang="en-US" sz="850" b="1" dirty="0">
                          <a:solidFill>
                            <a:srgbClr val="0B1F44"/>
                          </a:solidFill>
                          <a:latin typeface="Calibri" pitchFamily="34" charset="0"/>
                          <a:ea typeface="Calibri" pitchFamily="34" charset="-122"/>
                          <a:cs typeface="Calibri" pitchFamily="34" charset="-120"/>
                        </a:rPr>
                        <a:t>"temporary aeroderivatives"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Off-grid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E8702A"/>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Google / Crusoe "Goodnight"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Armstrong Co., TX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Multi-100 MW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Under constr.; Ph1 2027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933 MW aeros, </a:t>
                      </a:r>
                      <a:r>
                        <a:rPr lang="en-US" sz="850" b="1" dirty="0">
                          <a:solidFill>
                            <a:srgbClr val="0B1F44"/>
                          </a:solidFill>
                          <a:latin typeface="Calibri" pitchFamily="34" charset="0"/>
                          <a:ea typeface="Calibri" pitchFamily="34" charset="-122"/>
                          <a:cs typeface="Calibri" pitchFamily="34" charset="-120"/>
                        </a:rPr>
                        <a:t>not sourced from GE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Partial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Meta El Paso</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El Paso, TX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Under constr.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366 MW utility plant, stalled at PUC</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2027 if approved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Microsoft / Chevron "Kilby"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Pecos area, TX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2–2.5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PPA signed; FID 2026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Chevron BTM; first power </a:t>
                      </a:r>
                      <a:r>
                        <a:rPr lang="en-US" sz="850" b="1" dirty="0">
                          <a:solidFill>
                            <a:srgbClr val="0B1F44"/>
                          </a:solidFill>
                          <a:latin typeface="Calibri" pitchFamily="34" charset="0"/>
                          <a:ea typeface="Calibri" pitchFamily="34" charset="-122"/>
                          <a:cs typeface="Calibri" pitchFamily="34" charset="-120"/>
                        </a:rPr>
                        <a:t>2028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n/a</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Cipher "Colchis"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West TX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Land + AEP deal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AEP direct connect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2028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Med-High</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Stargate Milam (SB Energy)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Milam Co., TX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1.2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First bldg ~Oct-26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Solar + storage; no firm gas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ERCOT, n.d.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31089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Nebius Independence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Independence, MO</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0.8–1.1 GW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Early constr.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New private plant, fuel n.d.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Oct-27 Ph1</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Med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6" name="Shape 3"/>
          <p:cNvSpPr/>
          <p:nvPr/>
        </p:nvSpPr>
        <p:spPr>
          <a:xfrm>
            <a:off x="411480" y="4983480"/>
            <a:ext cx="6766560" cy="1325880"/>
          </a:xfrm>
          <a:prstGeom prst="roundRect">
            <a:avLst>
              <a:gd name="adj" fmla="val 4138"/>
            </a:avLst>
          </a:prstGeom>
          <a:solidFill>
            <a:srgbClr val="FFFFFF"/>
          </a:solidFill>
          <a:ln w="12700">
            <a:solidFill>
              <a:srgbClr val="0B1F44"/>
            </a:solidFill>
            <a:prstDash val="dash"/>
          </a:ln>
        </p:spPr>
      </p:sp>
      <p:sp>
        <p:nvSpPr>
          <p:cNvPr id="7" name="Text 4"/>
          <p:cNvSpPr txBox="1"/>
          <p:nvPr/>
        </p:nvSpPr>
        <p:spPr>
          <a:xfrm>
            <a:off x="466344" y="5010912"/>
            <a:ext cx="6656832" cy="1271016"/>
          </a:xfrm>
          <a:prstGeom prst="rect">
            <a:avLst/>
          </a:prstGeom>
          <a:noFill/>
          <a:ln/>
        </p:spPr>
        <p:txBody>
          <a:bodyPr wrap="square" lIns="38100" tIns="38100" rIns="38100" bIns="38100" rtlCol="0" anchor="ctr"/>
          <a:lstStyle/>
          <a:p>
            <a:pPr algn="l" indent="0" marL="0">
              <a:buNone/>
            </a:pPr>
            <a:r>
              <a:rPr lang="en-US" sz="900" b="1" dirty="0">
                <a:solidFill>
                  <a:srgbClr val="0B1F44"/>
                </a:solidFill>
                <a:latin typeface="Calibri" pitchFamily="34" charset="0"/>
                <a:ea typeface="Calibri" pitchFamily="34" charset="-122"/>
                <a:cs typeface="Calibri" pitchFamily="34" charset="-120"/>
              </a:rPr>
              <a:t>Already locked (screened out):</a:t>
            </a:r>
            <a:r>
              <a:rPr lang="en-US" sz="900" dirty="0">
                <a:solidFill>
                  <a:srgbClr val="404040"/>
                </a:solidFill>
                <a:latin typeface="Calibri" pitchFamily="34" charset="0"/>
                <a:ea typeface="Calibri" pitchFamily="34" charset="-122"/>
                <a:cs typeface="Calibri" pitchFamily="34" charset="-120"/>
              </a:rPr>
              <a:t> Stargate Jupiter → Bloom fuel cells (2.45 GW); Vantage Frontier → VoltaGrid; Meta Prometheus → Williams; Homer City → GE 7HA; Fermi → owns SGT-800s, no tenant; Abilene Ph3 → GE + third-party aeros (Med). </a:t>
            </a:r>
            <a:r>
              <a:rPr lang="en-US" sz="900" b="1" dirty="0">
                <a:solidFill>
                  <a:srgbClr val="0B1F44"/>
                </a:solidFill>
                <a:latin typeface="Calibri" pitchFamily="34" charset="0"/>
                <a:ea typeface="Calibri" pitchFamily="34" charset="-122"/>
                <a:cs typeface="Calibri" pitchFamily="34" charset="-120"/>
              </a:rPr>
              <a:t>Grid-led (low need):</a:t>
            </a:r>
            <a:r>
              <a:rPr lang="en-US" sz="900" dirty="0">
                <a:solidFill>
                  <a:srgbClr val="404040"/>
                </a:solidFill>
                <a:latin typeface="Calibri" pitchFamily="34" charset="0"/>
                <a:ea typeface="Calibri" pitchFamily="34" charset="-122"/>
                <a:cs typeface="Calibri" pitchFamily="34" charset="-120"/>
              </a:rPr>
              <a:t> Saline MI, Lighthouse WI, Fairwater WI, Galaxy Helios, IREN Sweetwater, Applied Digital ND</a:t>
            </a:r>
            <a:endParaRPr lang="en-US" sz="900" dirty="0"/>
          </a:p>
        </p:txBody>
      </p:sp>
      <p:sp>
        <p:nvSpPr>
          <p:cNvPr id="8" name="Shape 5"/>
          <p:cNvSpPr/>
          <p:nvPr/>
        </p:nvSpPr>
        <p:spPr>
          <a:xfrm>
            <a:off x="7315200" y="4983480"/>
            <a:ext cx="2148840" cy="1325880"/>
          </a:xfrm>
          <a:prstGeom prst="roundRect">
            <a:avLst>
              <a:gd name="adj" fmla="val 4138"/>
            </a:avLst>
          </a:prstGeom>
          <a:solidFill>
            <a:srgbClr val="F2F2F2"/>
          </a:solidFill>
          <a:ln w="9525">
            <a:solidFill>
              <a:srgbClr val="F2F2F2"/>
            </a:solidFill>
            <a:prstDash val="solid"/>
          </a:ln>
        </p:spPr>
      </p:sp>
      <p:sp>
        <p:nvSpPr>
          <p:cNvPr id="9" name="Text 6"/>
          <p:cNvSpPr txBox="1"/>
          <p:nvPr/>
        </p:nvSpPr>
        <p:spPr>
          <a:xfrm>
            <a:off x="7315200" y="5020056"/>
            <a:ext cx="2148840" cy="729234"/>
          </a:xfrm>
          <a:prstGeom prst="rect">
            <a:avLst/>
          </a:prstGeom>
          <a:noFill/>
          <a:ln/>
        </p:spPr>
        <p:txBody>
          <a:bodyPr wrap="square" lIns="0" tIns="0" rIns="0" bIns="0" rtlCol="0" anchor="b"/>
          <a:lstStyle/>
          <a:p>
            <a:pPr algn="ctr" indent="0" marL="0">
              <a:buNone/>
            </a:pPr>
            <a:r>
              <a:rPr lang="en-US" sz="2000" b="1" dirty="0">
                <a:solidFill>
                  <a:srgbClr val="E8702A"/>
                </a:solidFill>
                <a:latin typeface="Cambria" pitchFamily="34" charset="0"/>
                <a:ea typeface="Cambria" pitchFamily="34" charset="-122"/>
                <a:cs typeface="Cambria" pitchFamily="34" charset="-120"/>
              </a:rPr>
              <a:t>60 units</a:t>
            </a:r>
            <a:endParaRPr lang="en-US" sz="2000" dirty="0"/>
          </a:p>
        </p:txBody>
      </p:sp>
      <p:sp>
        <p:nvSpPr>
          <p:cNvPr id="10" name="Text 7"/>
          <p:cNvSpPr txBox="1"/>
          <p:nvPr/>
        </p:nvSpPr>
        <p:spPr>
          <a:xfrm>
            <a:off x="7360920" y="5752490"/>
            <a:ext cx="2057400" cy="530352"/>
          </a:xfrm>
          <a:prstGeom prst="rect">
            <a:avLst/>
          </a:prstGeom>
          <a:noFill/>
          <a:ln/>
        </p:spPr>
        <p:txBody>
          <a:bodyPr wrap="square" lIns="0" tIns="0" rIns="0" bIns="0" rtlCol="0" anchor="t"/>
          <a:lstStyle/>
          <a:p>
            <a:pPr algn="ctr" indent="0" marL="0">
              <a:buNone/>
            </a:pPr>
            <a:r>
              <a:rPr lang="en-US" sz="900" b="1" dirty="0">
                <a:solidFill>
                  <a:srgbClr val="0B1F44"/>
                </a:solidFill>
                <a:latin typeface="Calibri" pitchFamily="34" charset="0"/>
                <a:ea typeface="Calibri" pitchFamily="34" charset="-122"/>
                <a:cs typeface="Calibri" pitchFamily="34" charset="-120"/>
              </a:rPr>
              <a:t>per 1 GW of load</a:t>
            </a:r>
            <a:r>
              <a:rPr lang="en-US" sz="900" dirty="0">
                <a:solidFill>
                  <a:srgbClr val="404040"/>
                </a:solidFill>
                <a:latin typeface="Calibri" pitchFamily="34" charset="0"/>
                <a:ea typeface="Calibri" pitchFamily="34" charset="-122"/>
                <a:cs typeface="Calibri" pitchFamily="34" charset="-120"/>
              </a:rPr>
              <a:t> at 50% redundancy (~$1.5bn of orders)</a:t>
            </a:r>
            <a:endParaRPr lang="en-US" sz="900" dirty="0"/>
          </a:p>
        </p:txBody>
      </p:sp>
      <p:sp>
        <p:nvSpPr>
          <p:cNvPr id="11" name="Shape 8"/>
          <p:cNvSpPr/>
          <p:nvPr/>
        </p:nvSpPr>
        <p:spPr>
          <a:xfrm>
            <a:off x="9601200" y="4983480"/>
            <a:ext cx="2176272" cy="1325880"/>
          </a:xfrm>
          <a:prstGeom prst="roundRect">
            <a:avLst>
              <a:gd name="adj" fmla="val 4138"/>
            </a:avLst>
          </a:prstGeom>
          <a:solidFill>
            <a:srgbClr val="F2F2F2"/>
          </a:solidFill>
          <a:ln w="9525">
            <a:solidFill>
              <a:srgbClr val="F2F2F2"/>
            </a:solidFill>
            <a:prstDash val="solid"/>
          </a:ln>
        </p:spPr>
      </p:sp>
      <p:sp>
        <p:nvSpPr>
          <p:cNvPr id="12" name="Text 9"/>
          <p:cNvSpPr txBox="1"/>
          <p:nvPr/>
        </p:nvSpPr>
        <p:spPr>
          <a:xfrm>
            <a:off x="9601200" y="5020056"/>
            <a:ext cx="2176272" cy="729234"/>
          </a:xfrm>
          <a:prstGeom prst="rect">
            <a:avLst/>
          </a:prstGeom>
          <a:noFill/>
          <a:ln/>
        </p:spPr>
        <p:txBody>
          <a:bodyPr wrap="square" lIns="0" tIns="0" rIns="0" bIns="0" rtlCol="0" anchor="b"/>
          <a:lstStyle/>
          <a:p>
            <a:pPr algn="ctr" indent="0" marL="0">
              <a:buNone/>
            </a:pPr>
            <a:r>
              <a:rPr lang="en-US" sz="2000" b="1" dirty="0">
                <a:solidFill>
                  <a:srgbClr val="E8702A"/>
                </a:solidFill>
                <a:latin typeface="Cambria" pitchFamily="34" charset="0"/>
                <a:ea typeface="Cambria" pitchFamily="34" charset="-122"/>
                <a:cs typeface="Cambria" pitchFamily="34" charset="-120"/>
              </a:rPr>
              <a:t>3 sites</a:t>
            </a:r>
            <a:endParaRPr lang="en-US" sz="2000" dirty="0"/>
          </a:p>
        </p:txBody>
      </p:sp>
      <p:sp>
        <p:nvSpPr>
          <p:cNvPr id="13" name="Text 10"/>
          <p:cNvSpPr txBox="1"/>
          <p:nvPr/>
        </p:nvSpPr>
        <p:spPr>
          <a:xfrm>
            <a:off x="9646920" y="5752490"/>
            <a:ext cx="2084832" cy="530352"/>
          </a:xfrm>
          <a:prstGeom prst="rect">
            <a:avLst/>
          </a:prstGeom>
          <a:noFill/>
          <a:ln/>
        </p:spPr>
        <p:txBody>
          <a:bodyPr wrap="square" lIns="0" tIns="0" rIns="0" bIns="0" rtlCol="0" anchor="t"/>
          <a:lstStyle/>
          <a:p>
            <a:pPr algn="ctr" indent="0" marL="0">
              <a:buNone/>
            </a:pPr>
            <a:r>
              <a:rPr lang="en-US" sz="900" b="1" dirty="0">
                <a:solidFill>
                  <a:srgbClr val="0B1F44"/>
                </a:solidFill>
                <a:latin typeface="Calibri" pitchFamily="34" charset="0"/>
                <a:ea typeface="Calibri" pitchFamily="34" charset="-122"/>
                <a:cs typeface="Calibri" pitchFamily="34" charset="-120"/>
              </a:rPr>
              <a:t>High win-ability</a:t>
            </a:r>
            <a:r>
              <a:rPr lang="en-US" sz="900" dirty="0">
                <a:solidFill>
                  <a:srgbClr val="404040"/>
                </a:solidFill>
                <a:latin typeface="Calibri" pitchFamily="34" charset="0"/>
                <a:ea typeface="Calibri" pitchFamily="34" charset="-122"/>
                <a:cs typeface="Calibri" pitchFamily="34" charset="-120"/>
              </a:rPr>
              <a:t> = ~5 GW of load. One of them = </a:t>
            </a:r>
            <a:r>
              <a:rPr lang="en-US" sz="900" b="1" dirty="0">
                <a:solidFill>
                  <a:srgbClr val="0B1F44"/>
                </a:solidFill>
                <a:latin typeface="Calibri" pitchFamily="34" charset="0"/>
                <a:ea typeface="Calibri" pitchFamily="34" charset="-122"/>
                <a:cs typeface="Calibri" pitchFamily="34" charset="-120"/>
              </a:rPr>
              <a:t>another first order</a:t>
            </a:r>
            <a:endParaRPr lang="en-US" sz="900" dirty="0"/>
          </a:p>
        </p:txBody>
      </p:sp>
      <p:sp>
        <p:nvSpPr>
          <p:cNvPr id="14" name="Text 1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Company releases; TCEQ / MDEQ filings; Cleanview behind-the-meter tracker (2026); Epoch AI; DCD; Texas Tribune; World Oil; GPS analysis. Win-ability = gas access + BTM permitting + no locked supplier + 2026–28 load date</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3 (4/5): A Faster Ramp Than The Street Thinks</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Prototype To Order In Seven Months; The Feedstock (1,000+ Owned CFM56s) And The Shops Already Exist</a:t>
            </a:r>
            <a:endParaRPr lang="en-US" sz="1500" dirty="0"/>
          </a:p>
        </p:txBody>
      </p:sp>
      <p:sp>
        <p:nvSpPr>
          <p:cNvPr id="5" name="Shape 3"/>
          <p:cNvSpPr/>
          <p:nvPr/>
        </p:nvSpPr>
        <p:spPr>
          <a:xfrm>
            <a:off x="411480" y="1536192"/>
            <a:ext cx="557784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Mod-1 Units Delivered By Case</a:t>
            </a:r>
            <a:endParaRPr lang="en-US" sz="1200" dirty="0"/>
          </a:p>
        </p:txBody>
      </p:sp>
      <p:graphicFrame>
        <p:nvGraphicFramePr>
          <p:cNvPr id="7" name="Chart 0" descr=""/>
          <p:cNvGraphicFramePr/>
          <p:nvPr/>
        </p:nvGraphicFramePr>
        <p:xfrm>
          <a:off x="411480" y="1847088"/>
          <a:ext cx="5577840" cy="26060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11480" y="4526280"/>
            <a:ext cx="5577840" cy="685800"/>
          </a:xfrm>
          <a:prstGeom prst="roundRect">
            <a:avLst>
              <a:gd name="adj" fmla="val 8000"/>
            </a:avLst>
          </a:prstGeom>
          <a:solidFill>
            <a:srgbClr val="FFFFFF"/>
          </a:solidFill>
          <a:ln w="12700">
            <a:solidFill>
              <a:srgbClr val="0B1F44"/>
            </a:solidFill>
            <a:prstDash val="dash"/>
          </a:ln>
        </p:spPr>
      </p:sp>
      <p:sp>
        <p:nvSpPr>
          <p:cNvPr id="9" name="Text 6"/>
          <p:cNvSpPr txBox="1"/>
          <p:nvPr/>
        </p:nvSpPr>
        <p:spPr>
          <a:xfrm>
            <a:off x="466344" y="4553712"/>
            <a:ext cx="5468112" cy="63093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Management's $450M FY27 Power planning base assumes </a:t>
            </a:r>
            <a:r>
              <a:rPr lang="en-US" sz="950" b="1" dirty="0">
                <a:solidFill>
                  <a:srgbClr val="0B1F44"/>
                </a:solidFill>
                <a:latin typeface="Calibri" pitchFamily="34" charset="0"/>
                <a:ea typeface="Calibri" pitchFamily="34" charset="-122"/>
                <a:cs typeface="Calibri" pitchFamily="34" charset="-120"/>
              </a:rPr>
              <a:t>"materially less" than its 100+ unit capacity</a:t>
            </a:r>
            <a:r>
              <a:rPr lang="en-US" sz="950" dirty="0">
                <a:solidFill>
                  <a:srgbClr val="404040"/>
                </a:solidFill>
                <a:latin typeface="Calibri" pitchFamily="34" charset="0"/>
                <a:ea typeface="Calibri" pitchFamily="34" charset="-122"/>
                <a:cs typeface="Calibri" pitchFamily="34" charset="-120"/>
              </a:rPr>
              <a:t> — essentially the signed order. Our base case of </a:t>
            </a:r>
            <a:r>
              <a:rPr lang="en-US" sz="950" b="1" dirty="0">
                <a:solidFill>
                  <a:srgbClr val="0B1F44"/>
                </a:solidFill>
                <a:latin typeface="Calibri" pitchFamily="34" charset="0"/>
                <a:ea typeface="Calibri" pitchFamily="34" charset="-122"/>
                <a:cs typeface="Calibri" pitchFamily="34" charset="-120"/>
              </a:rPr>
              <a:t>45 units</a:t>
            </a:r>
            <a:r>
              <a:rPr lang="en-US" sz="950" dirty="0">
                <a:solidFill>
                  <a:srgbClr val="404040"/>
                </a:solidFill>
                <a:latin typeface="Calibri" pitchFamily="34" charset="0"/>
                <a:ea typeface="Calibri" pitchFamily="34" charset="-122"/>
                <a:cs typeface="Calibri" pitchFamily="34" charset="-120"/>
              </a:rPr>
              <a:t> sits below even that; every unit above it is upside</a:t>
            </a:r>
            <a:endParaRPr lang="en-US" sz="950" dirty="0"/>
          </a:p>
        </p:txBody>
      </p:sp>
      <p:sp>
        <p:nvSpPr>
          <p:cNvPr id="10" name="Shape 7"/>
          <p:cNvSpPr/>
          <p:nvPr/>
        </p:nvSpPr>
        <p:spPr>
          <a:xfrm>
            <a:off x="411480" y="5303520"/>
            <a:ext cx="5577840" cy="292608"/>
          </a:xfrm>
          <a:prstGeom prst="rect">
            <a:avLst/>
          </a:prstGeom>
          <a:solidFill>
            <a:srgbClr val="DCE6F2"/>
          </a:solidFill>
          <a:ln w="9525">
            <a:solidFill>
              <a:srgbClr val="0B1F44"/>
            </a:solidFill>
            <a:prstDash val="solid"/>
          </a:ln>
        </p:spPr>
      </p:sp>
      <p:sp>
        <p:nvSpPr>
          <p:cNvPr id="11" name="Text 8"/>
          <p:cNvSpPr txBox="1"/>
          <p:nvPr/>
        </p:nvSpPr>
        <p:spPr>
          <a:xfrm>
            <a:off x="411480" y="530352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Path To First Power</a:t>
            </a:r>
            <a:endParaRPr lang="en-US" sz="1200" dirty="0"/>
          </a:p>
        </p:txBody>
      </p:sp>
      <p:sp>
        <p:nvSpPr>
          <p:cNvPr id="12" name="Shape 9"/>
          <p:cNvSpPr/>
          <p:nvPr/>
        </p:nvSpPr>
        <p:spPr>
          <a:xfrm>
            <a:off x="411480" y="5623560"/>
            <a:ext cx="1051560" cy="274320"/>
          </a:xfrm>
          <a:prstGeom prst="rect">
            <a:avLst>
              <a:gd name="adj" fmla="val 20000"/>
            </a:avLst>
          </a:prstGeom>
          <a:solidFill>
            <a:srgbClr val="0B1F44"/>
          </a:solidFill>
          <a:ln w="9525">
            <a:solidFill>
              <a:srgbClr val="0B1F44"/>
            </a:solidFill>
            <a:prstDash val="solid"/>
          </a:ln>
        </p:spPr>
      </p:sp>
      <p:sp>
        <p:nvSpPr>
          <p:cNvPr id="13" name="Text 10"/>
          <p:cNvSpPr txBox="1"/>
          <p:nvPr/>
        </p:nvSpPr>
        <p:spPr>
          <a:xfrm>
            <a:off x="457200" y="5623560"/>
            <a:ext cx="960120" cy="274320"/>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Dec-25</a:t>
            </a:r>
            <a:endParaRPr lang="en-US" sz="900" dirty="0"/>
          </a:p>
        </p:txBody>
      </p:sp>
      <p:sp>
        <p:nvSpPr>
          <p:cNvPr id="14" name="Text 11"/>
          <p:cNvSpPr txBox="1"/>
          <p:nvPr/>
        </p:nvSpPr>
        <p:spPr>
          <a:xfrm>
            <a:off x="411480" y="5916168"/>
            <a:ext cx="1051560" cy="411480"/>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FTAI Power launched</a:t>
            </a:r>
            <a:endParaRPr lang="en-US" sz="850" dirty="0"/>
          </a:p>
        </p:txBody>
      </p:sp>
      <p:sp>
        <p:nvSpPr>
          <p:cNvPr id="15" name="Shape 12"/>
          <p:cNvSpPr/>
          <p:nvPr/>
        </p:nvSpPr>
        <p:spPr>
          <a:xfrm>
            <a:off x="1540764" y="5623560"/>
            <a:ext cx="1051560" cy="274320"/>
          </a:xfrm>
          <a:prstGeom prst="rect">
            <a:avLst>
              <a:gd name="adj" fmla="val 20000"/>
            </a:avLst>
          </a:prstGeom>
          <a:solidFill>
            <a:srgbClr val="0B1F44"/>
          </a:solidFill>
          <a:ln w="9525">
            <a:solidFill>
              <a:srgbClr val="0B1F44"/>
            </a:solidFill>
            <a:prstDash val="solid"/>
          </a:ln>
        </p:spPr>
      </p:sp>
      <p:sp>
        <p:nvSpPr>
          <p:cNvPr id="16" name="Text 13"/>
          <p:cNvSpPr txBox="1"/>
          <p:nvPr/>
        </p:nvSpPr>
        <p:spPr>
          <a:xfrm>
            <a:off x="1586484" y="5623560"/>
            <a:ext cx="960120" cy="274320"/>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1H26</a:t>
            </a:r>
            <a:endParaRPr lang="en-US" sz="900" dirty="0"/>
          </a:p>
        </p:txBody>
      </p:sp>
      <p:sp>
        <p:nvSpPr>
          <p:cNvPr id="17" name="Text 14"/>
          <p:cNvSpPr txBox="1"/>
          <p:nvPr/>
        </p:nvSpPr>
        <p:spPr>
          <a:xfrm>
            <a:off x="1540764" y="5916168"/>
            <a:ext cx="1051560" cy="411480"/>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Prototype tested in Montreal</a:t>
            </a:r>
            <a:endParaRPr lang="en-US" sz="850" dirty="0"/>
          </a:p>
        </p:txBody>
      </p:sp>
      <p:sp>
        <p:nvSpPr>
          <p:cNvPr id="18" name="Shape 15"/>
          <p:cNvSpPr/>
          <p:nvPr/>
        </p:nvSpPr>
        <p:spPr>
          <a:xfrm>
            <a:off x="2670048" y="5623560"/>
            <a:ext cx="1051560" cy="274320"/>
          </a:xfrm>
          <a:prstGeom prst="rect">
            <a:avLst>
              <a:gd name="adj" fmla="val 20000"/>
            </a:avLst>
          </a:prstGeom>
          <a:solidFill>
            <a:srgbClr val="0B1F44"/>
          </a:solidFill>
          <a:ln w="9525">
            <a:solidFill>
              <a:srgbClr val="0B1F44"/>
            </a:solidFill>
            <a:prstDash val="solid"/>
          </a:ln>
        </p:spPr>
      </p:sp>
      <p:sp>
        <p:nvSpPr>
          <p:cNvPr id="19" name="Text 16"/>
          <p:cNvSpPr txBox="1"/>
          <p:nvPr/>
        </p:nvSpPr>
        <p:spPr>
          <a:xfrm>
            <a:off x="2715768" y="5623560"/>
            <a:ext cx="960120" cy="274320"/>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Jul-26</a:t>
            </a:r>
            <a:endParaRPr lang="en-US" sz="900" dirty="0"/>
          </a:p>
        </p:txBody>
      </p:sp>
      <p:sp>
        <p:nvSpPr>
          <p:cNvPr id="20" name="Text 17"/>
          <p:cNvSpPr txBox="1"/>
          <p:nvPr/>
        </p:nvSpPr>
        <p:spPr>
          <a:xfrm>
            <a:off x="2670048" y="5916168"/>
            <a:ext cx="1051560" cy="411480"/>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$1.465bn order; unit in Miami</a:t>
            </a:r>
            <a:endParaRPr lang="en-US" sz="850" dirty="0"/>
          </a:p>
        </p:txBody>
      </p:sp>
      <p:sp>
        <p:nvSpPr>
          <p:cNvPr id="21" name="Shape 18"/>
          <p:cNvSpPr/>
          <p:nvPr/>
        </p:nvSpPr>
        <p:spPr>
          <a:xfrm>
            <a:off x="3799332" y="5623560"/>
            <a:ext cx="1051560" cy="274320"/>
          </a:xfrm>
          <a:prstGeom prst="rect">
            <a:avLst>
              <a:gd name="adj" fmla="val 20000"/>
            </a:avLst>
          </a:prstGeom>
          <a:solidFill>
            <a:srgbClr val="E8702A"/>
          </a:solidFill>
          <a:ln w="9525">
            <a:solidFill>
              <a:srgbClr val="E8702A"/>
            </a:solidFill>
            <a:prstDash val="solid"/>
          </a:ln>
        </p:spPr>
      </p:sp>
      <p:sp>
        <p:nvSpPr>
          <p:cNvPr id="22" name="Text 19"/>
          <p:cNvSpPr txBox="1"/>
          <p:nvPr/>
        </p:nvSpPr>
        <p:spPr>
          <a:xfrm>
            <a:off x="3845052" y="5623560"/>
            <a:ext cx="960120" cy="274320"/>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4Q26</a:t>
            </a:r>
            <a:endParaRPr lang="en-US" sz="900" dirty="0"/>
          </a:p>
        </p:txBody>
      </p:sp>
      <p:sp>
        <p:nvSpPr>
          <p:cNvPr id="23" name="Text 20"/>
          <p:cNvSpPr txBox="1"/>
          <p:nvPr/>
        </p:nvSpPr>
        <p:spPr>
          <a:xfrm>
            <a:off x="3799332" y="5916168"/>
            <a:ext cx="1051560" cy="411480"/>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Commercial launch</a:t>
            </a:r>
            <a:endParaRPr lang="en-US" sz="850" dirty="0"/>
          </a:p>
        </p:txBody>
      </p:sp>
      <p:sp>
        <p:nvSpPr>
          <p:cNvPr id="24" name="Shape 21"/>
          <p:cNvSpPr/>
          <p:nvPr/>
        </p:nvSpPr>
        <p:spPr>
          <a:xfrm>
            <a:off x="4928616" y="5623560"/>
            <a:ext cx="1051560" cy="274320"/>
          </a:xfrm>
          <a:prstGeom prst="rect">
            <a:avLst>
              <a:gd name="adj" fmla="val 20000"/>
            </a:avLst>
          </a:prstGeom>
          <a:solidFill>
            <a:srgbClr val="E8702A"/>
          </a:solidFill>
          <a:ln w="9525">
            <a:solidFill>
              <a:srgbClr val="E8702A"/>
            </a:solidFill>
            <a:prstDash val="solid"/>
          </a:ln>
        </p:spPr>
      </p:sp>
      <p:sp>
        <p:nvSpPr>
          <p:cNvPr id="25" name="Text 22"/>
          <p:cNvSpPr txBox="1"/>
          <p:nvPr/>
        </p:nvSpPr>
        <p:spPr>
          <a:xfrm>
            <a:off x="4974336" y="5623560"/>
            <a:ext cx="960120" cy="274320"/>
          </a:xfrm>
          <a:prstGeom prst="rect">
            <a:avLst/>
          </a:prstGeom>
          <a:noFill/>
          <a:ln/>
        </p:spPr>
        <p:txBody>
          <a:bodyPr wrap="square" lIns="38100" tIns="38100" rIns="38100" bIns="3810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2027</a:t>
            </a:r>
            <a:endParaRPr lang="en-US" sz="900" dirty="0"/>
          </a:p>
        </p:txBody>
      </p:sp>
      <p:sp>
        <p:nvSpPr>
          <p:cNvPr id="26" name="Text 23"/>
          <p:cNvSpPr txBox="1"/>
          <p:nvPr/>
        </p:nvSpPr>
        <p:spPr>
          <a:xfrm>
            <a:off x="4928616" y="5916168"/>
            <a:ext cx="1051560" cy="411480"/>
          </a:xfrm>
          <a:prstGeom prst="rect">
            <a:avLst/>
          </a:prstGeom>
          <a:noFill/>
          <a:ln/>
        </p:spPr>
        <p:txBody>
          <a:bodyPr wrap="square" lIns="25400" tIns="25400" rIns="25400" bIns="25400" rtlCol="0" anchor="t"/>
          <a:lstStyle/>
          <a:p>
            <a:pPr algn="ctr" indent="0" marL="0">
              <a:buNone/>
            </a:pPr>
            <a:r>
              <a:rPr lang="en-US" sz="850" dirty="0">
                <a:solidFill>
                  <a:srgbClr val="404040"/>
                </a:solidFill>
                <a:latin typeface="Calibri" pitchFamily="34" charset="0"/>
                <a:ea typeface="Calibri" pitchFamily="34" charset="-122"/>
                <a:cs typeface="Calibri" pitchFamily="34" charset="-120"/>
              </a:rPr>
              <a:t>Batch deliveries to Nov-27</a:t>
            </a:r>
            <a:endParaRPr lang="en-US" sz="850" dirty="0"/>
          </a:p>
        </p:txBody>
      </p:sp>
      <p:sp>
        <p:nvSpPr>
          <p:cNvPr id="27" name="Shape 24"/>
          <p:cNvSpPr/>
          <p:nvPr/>
        </p:nvSpPr>
        <p:spPr>
          <a:xfrm>
            <a:off x="6199632" y="1536192"/>
            <a:ext cx="5577840" cy="292608"/>
          </a:xfrm>
          <a:prstGeom prst="rect">
            <a:avLst/>
          </a:prstGeom>
          <a:solidFill>
            <a:srgbClr val="DCE6F2"/>
          </a:solidFill>
          <a:ln w="9525">
            <a:solidFill>
              <a:srgbClr val="0B1F44"/>
            </a:solidFill>
            <a:prstDash val="solid"/>
          </a:ln>
        </p:spPr>
      </p:sp>
      <p:sp>
        <p:nvSpPr>
          <p:cNvPr id="28" name="Text 25"/>
          <p:cNvSpPr txBox="1"/>
          <p:nvPr/>
        </p:nvSpPr>
        <p:spPr>
          <a:xfrm>
            <a:off x="6199632" y="1536192"/>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Why The Ramp Is Credible</a:t>
            </a:r>
            <a:endParaRPr lang="en-US" sz="1200" dirty="0"/>
          </a:p>
        </p:txBody>
      </p:sp>
      <p:sp>
        <p:nvSpPr>
          <p:cNvPr id="29" name="Text 26"/>
          <p:cNvSpPr txBox="1"/>
          <p:nvPr/>
        </p:nvSpPr>
        <p:spPr>
          <a:xfrm>
            <a:off x="6199632" y="1874520"/>
            <a:ext cx="5577840" cy="2057400"/>
          </a:xfrm>
          <a:prstGeom prst="rect">
            <a:avLst/>
          </a:prstGeom>
          <a:noFill/>
          <a:ln/>
        </p:spPr>
        <p:txBody>
          <a:bodyPr wrap="square" lIns="38100" tIns="38100" rIns="38100" bIns="38100" rtlCol="0" anchor="t"/>
          <a:lstStyle/>
          <a:p>
            <a:pPr marL="342900" indent="-342900">
              <a:spcAft>
                <a:spcPts val="300"/>
              </a:spcAft>
              <a:buSzPct val="100000"/>
              <a:buChar char="▪"/>
            </a:pPr>
            <a:r>
              <a:rPr lang="en-US" sz="950" b="1" dirty="0">
                <a:solidFill>
                  <a:srgbClr val="0B1F44"/>
                </a:solidFill>
                <a:latin typeface="Calibri" pitchFamily="34" charset="0"/>
                <a:ea typeface="Calibri" pitchFamily="34" charset="-122"/>
                <a:cs typeface="Calibri" pitchFamily="34" charset="-120"/>
              </a:rPr>
              <a:t>Feedstock in hand:</a:t>
            </a:r>
            <a:r>
              <a:rPr lang="en-US" sz="950" dirty="0">
                <a:solidFill>
                  <a:srgbClr val="404040"/>
                </a:solidFill>
                <a:latin typeface="Calibri" pitchFamily="34" charset="0"/>
                <a:ea typeface="Calibri" pitchFamily="34" charset="-122"/>
                <a:cs typeface="Calibri" pitchFamily="34" charset="-120"/>
              </a:rPr>
              <a:t> FTAI owns </a:t>
            </a:r>
            <a:r>
              <a:rPr lang="en-US" sz="950" b="1" dirty="0">
                <a:solidFill>
                  <a:srgbClr val="0B1F44"/>
                </a:solidFill>
                <a:latin typeface="Calibri" pitchFamily="34" charset="0"/>
                <a:ea typeface="Calibri" pitchFamily="34" charset="-122"/>
                <a:cs typeface="Calibri" pitchFamily="34" charset="-120"/>
              </a:rPr>
              <a:t>1,000+ CFM56 engines</a:t>
            </a:r>
            <a:r>
              <a:rPr lang="en-US" sz="950" dirty="0">
                <a:solidFill>
                  <a:srgbClr val="404040"/>
                </a:solidFill>
                <a:latin typeface="Calibri" pitchFamily="34" charset="0"/>
                <a:ea typeface="Calibri" pitchFamily="34" charset="-122"/>
                <a:cs typeface="Calibri" pitchFamily="34" charset="-120"/>
              </a:rPr>
              <a:t>; 22,000+ were built. No new-build hot section is needed, only the core it already overhauls</a:t>
            </a:r>
            <a:endParaRPr lang="en-US" sz="950" dirty="0"/>
          </a:p>
          <a:p>
            <a:pPr marL="342900" indent="-342900">
              <a:spcAft>
                <a:spcPts val="300"/>
              </a:spcAft>
              <a:buSzPct val="100000"/>
              <a:buChar char="▪"/>
            </a:pPr>
            <a:r>
              <a:rPr lang="en-US" sz="950" b="1" dirty="0">
                <a:solidFill>
                  <a:srgbClr val="0B1F44"/>
                </a:solidFill>
                <a:latin typeface="Calibri" pitchFamily="34" charset="0"/>
                <a:ea typeface="Calibri" pitchFamily="34" charset="-122"/>
                <a:cs typeface="Calibri" pitchFamily="34" charset="-120"/>
              </a:rPr>
              <a:t>Capacity:</a:t>
            </a:r>
            <a:r>
              <a:rPr lang="en-US" sz="950" dirty="0">
                <a:solidFill>
                  <a:srgbClr val="404040"/>
                </a:solidFill>
                <a:latin typeface="Calibri" pitchFamily="34" charset="0"/>
                <a:ea typeface="Calibri" pitchFamily="34" charset="-122"/>
                <a:cs typeface="Calibri" pitchFamily="34" charset="-120"/>
              </a:rPr>
              <a:t> launch release targets </a:t>
            </a:r>
            <a:r>
              <a:rPr lang="en-US" sz="950" b="1" dirty="0">
                <a:solidFill>
                  <a:srgbClr val="0B1F44"/>
                </a:solidFill>
                <a:latin typeface="Calibri" pitchFamily="34" charset="0"/>
                <a:ea typeface="Calibri" pitchFamily="34" charset="-122"/>
                <a:cs typeface="Calibri" pitchFamily="34" charset="-120"/>
              </a:rPr>
              <a:t>100+ units a year</a:t>
            </a:r>
            <a:r>
              <a:rPr lang="en-US" sz="950" dirty="0">
                <a:solidFill>
                  <a:srgbClr val="404040"/>
                </a:solidFill>
                <a:latin typeface="Calibri" pitchFamily="34" charset="0"/>
                <a:ea typeface="Calibri" pitchFamily="34" charset="-122"/>
                <a:cs typeface="Calibri" pitchFamily="34" charset="-120"/>
              </a:rPr>
              <a:t>; ~$150M of Power inventory built in 4Q25 and ~$250M of working capital planned for 2027</a:t>
            </a:r>
            <a:endParaRPr lang="en-US" sz="950" dirty="0"/>
          </a:p>
          <a:p>
            <a:pPr marL="342900" indent="-342900">
              <a:spcAft>
                <a:spcPts val="300"/>
              </a:spcAft>
              <a:buSzPct val="100000"/>
              <a:buChar char="▪"/>
            </a:pPr>
            <a:r>
              <a:rPr lang="en-US" sz="950" b="1" dirty="0">
                <a:solidFill>
                  <a:srgbClr val="0B1F44"/>
                </a:solidFill>
                <a:latin typeface="Calibri" pitchFamily="34" charset="0"/>
                <a:ea typeface="Calibri" pitchFamily="34" charset="-122"/>
                <a:cs typeface="Calibri" pitchFamily="34" charset="-120"/>
              </a:rPr>
              <a:t>Packaging outsourced:</a:t>
            </a:r>
            <a:r>
              <a:rPr lang="en-US" sz="950" dirty="0">
                <a:solidFill>
                  <a:srgbClr val="404040"/>
                </a:solidFill>
                <a:latin typeface="Calibri" pitchFamily="34" charset="0"/>
                <a:ea typeface="Calibri" pitchFamily="34" charset="-122"/>
                <a:cs typeface="Calibri" pitchFamily="34" charset="-120"/>
              </a:rPr>
              <a:t> Jereh supplies the package, generator and gearbox from US, Canadian, UAE and Chinese plants, so FTAI's own shops only do the turbine</a:t>
            </a:r>
            <a:endParaRPr lang="en-US" sz="950" dirty="0"/>
          </a:p>
          <a:p>
            <a:pPr marL="342900" indent="-342900">
              <a:spcAft>
                <a:spcPts val="300"/>
              </a:spcAft>
              <a:buSzPct val="100000"/>
              <a:buChar char="▪"/>
            </a:pPr>
            <a:r>
              <a:rPr lang="en-US" sz="950" b="1" dirty="0">
                <a:solidFill>
                  <a:srgbClr val="0B1F44"/>
                </a:solidFill>
                <a:latin typeface="Calibri" pitchFamily="34" charset="0"/>
                <a:ea typeface="Calibri" pitchFamily="34" charset="-122"/>
                <a:cs typeface="Calibri" pitchFamily="34" charset="-120"/>
              </a:rPr>
              <a:t>Learning curve already run:</a:t>
            </a:r>
            <a:r>
              <a:rPr lang="en-US" sz="950" dirty="0">
                <a:solidFill>
                  <a:srgbClr val="404040"/>
                </a:solidFill>
                <a:latin typeface="Calibri" pitchFamily="34" charset="0"/>
                <a:ea typeface="Calibri" pitchFamily="34" charset="-122"/>
                <a:cs typeface="Calibri" pitchFamily="34" charset="-120"/>
              </a:rPr>
              <a:t> the same technicians restore ~1,200 CFM56 modules a year; a conversion is reported at </a:t>
            </a:r>
            <a:r>
              <a:rPr lang="en-US" sz="950" b="1" dirty="0">
                <a:solidFill>
                  <a:srgbClr val="0B1F44"/>
                </a:solidFill>
                <a:latin typeface="Calibri" pitchFamily="34" charset="0"/>
                <a:ea typeface="Calibri" pitchFamily="34" charset="-122"/>
                <a:cs typeface="Calibri" pitchFamily="34" charset="-120"/>
              </a:rPr>
              <a:t>30–45 days</a:t>
            </a:r>
            <a:endParaRPr lang="en-US" sz="950" dirty="0"/>
          </a:p>
          <a:p>
            <a:pPr marL="342900" indent="-342900">
              <a:spcAft>
                <a:spcPts val="300"/>
              </a:spcAft>
              <a:buSzPct val="100000"/>
              <a:buChar char="▪"/>
            </a:pPr>
            <a:r>
              <a:rPr lang="en-US" sz="950" b="1" dirty="0">
                <a:solidFill>
                  <a:srgbClr val="0B1F44"/>
                </a:solidFill>
                <a:latin typeface="Calibri" pitchFamily="34" charset="0"/>
                <a:ea typeface="Calibri" pitchFamily="34" charset="-122"/>
                <a:cs typeface="Calibri" pitchFamily="34" charset="-120"/>
              </a:rPr>
              <a:t>First power:</a:t>
            </a:r>
            <a:r>
              <a:rPr lang="en-US" sz="950" dirty="0">
                <a:solidFill>
                  <a:srgbClr val="404040"/>
                </a:solidFill>
                <a:latin typeface="Calibri" pitchFamily="34" charset="0"/>
                <a:ea typeface="Calibri" pitchFamily="34" charset="-122"/>
                <a:cs typeface="Calibri" pitchFamily="34" charset="-120"/>
              </a:rPr>
              <a:t> management says it is "prudent to expect deliveries in 2027"; we model </a:t>
            </a:r>
            <a:r>
              <a:rPr lang="en-US" sz="950" b="1" dirty="0">
                <a:solidFill>
                  <a:srgbClr val="0B1F44"/>
                </a:solidFill>
                <a:latin typeface="Calibri" pitchFamily="34" charset="0"/>
                <a:ea typeface="Calibri" pitchFamily="34" charset="-122"/>
                <a:cs typeface="Calibri" pitchFamily="34" charset="-120"/>
              </a:rPr>
              <a:t>2 units in 4Q26</a:t>
            </a:r>
            <a:r>
              <a:rPr lang="en-US" sz="950" dirty="0">
                <a:solidFill>
                  <a:srgbClr val="404040"/>
                </a:solidFill>
                <a:latin typeface="Calibri" pitchFamily="34" charset="0"/>
                <a:ea typeface="Calibri" pitchFamily="34" charset="-122"/>
                <a:cs typeface="Calibri" pitchFamily="34" charset="-120"/>
              </a:rPr>
              <a:t> and 45 in FY27</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199632" y="3977640"/>
          <a:ext cx="5577840" cy="914400"/>
        </p:xfrm>
        <a:graphic>
          <a:graphicData uri="http://schemas.openxmlformats.org/drawingml/2006/table">
            <a:tbl>
              <a:tblPr/>
              <a:tblGrid>
                <a:gridCol w="1920240"/>
                <a:gridCol w="1463040"/>
                <a:gridCol w="2194560"/>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Power economics</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Base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Mgmt framing</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Price per unit (25 MW)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$25M ($1M/MW)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~$1M/MW</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EBITDA margin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"As good or better" than Aerospace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EBITDA per unit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$10M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$7–8M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FY27E Power EBITDA</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$450M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$450–750M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31" name="Shape 27"/>
          <p:cNvSpPr/>
          <p:nvPr/>
        </p:nvSpPr>
        <p:spPr>
          <a:xfrm>
            <a:off x="6199632" y="5486400"/>
            <a:ext cx="5577840" cy="777240"/>
          </a:xfrm>
          <a:prstGeom prst="roundRect">
            <a:avLst>
              <a:gd name="adj" fmla="val 7059"/>
            </a:avLst>
          </a:prstGeom>
          <a:solidFill>
            <a:srgbClr val="FFFFFF"/>
          </a:solidFill>
          <a:ln w="12700">
            <a:solidFill>
              <a:srgbClr val="0B1F44"/>
            </a:solidFill>
            <a:prstDash val="dash"/>
          </a:ln>
        </p:spPr>
      </p:sp>
      <p:sp>
        <p:nvSpPr>
          <p:cNvPr id="32" name="Text 28"/>
          <p:cNvSpPr txBox="1"/>
          <p:nvPr/>
        </p:nvSpPr>
        <p:spPr>
          <a:xfrm>
            <a:off x="6254496" y="5513832"/>
            <a:ext cx="5468112" cy="722376"/>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Order math:</a:t>
            </a:r>
            <a:r>
              <a:rPr lang="en-US" sz="950" dirty="0">
                <a:solidFill>
                  <a:srgbClr val="404040"/>
                </a:solidFill>
                <a:latin typeface="Calibri" pitchFamily="34" charset="0"/>
                <a:ea typeface="Calibri" pitchFamily="34" charset="-122"/>
                <a:cs typeface="Calibri" pitchFamily="34" charset="-120"/>
              </a:rPr>
              <a:t> $1.465bn ÷ ~$25M per unit ≈ </a:t>
            </a:r>
            <a:r>
              <a:rPr lang="en-US" sz="950" b="1" dirty="0">
                <a:solidFill>
                  <a:srgbClr val="0B1F44"/>
                </a:solidFill>
                <a:latin typeface="Calibri" pitchFamily="34" charset="0"/>
                <a:ea typeface="Calibri" pitchFamily="34" charset="-122"/>
                <a:cs typeface="Calibri" pitchFamily="34" charset="-120"/>
              </a:rPr>
              <a:t>58 units ≈ 1.45 GW</a:t>
            </a:r>
            <a:r>
              <a:rPr lang="en-US" sz="950" dirty="0">
                <a:solidFill>
                  <a:srgbClr val="404040"/>
                </a:solidFill>
                <a:latin typeface="Calibri" pitchFamily="34" charset="0"/>
                <a:ea typeface="Calibri" pitchFamily="34" charset="-122"/>
                <a:cs typeface="Calibri" pitchFamily="34" charset="-120"/>
              </a:rPr>
              <a:t>, i.e. more than our entire FY27E base case. Every unit FTAI ships beyond 45 is upside to our numbers</a:t>
            </a:r>
            <a:endParaRPr lang="en-US" sz="950" dirty="0"/>
          </a:p>
        </p:txBody>
      </p:sp>
      <p:sp>
        <p:nvSpPr>
          <p:cNvPr id="33" name="Text 29"/>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Power launch release (30-Dec-25); Q4'25, Q1'26, Q2'26 calls; J&amp;F order release (22-Jul-26);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Thesis 3 (5/5): Why FTAI Has The Right To Win</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Cheap, Available Now, And Mobile: The Units Leave When The Grid Arrives</a:t>
            </a:r>
            <a:endParaRPr lang="en-US" sz="1500" dirty="0"/>
          </a:p>
        </p:txBody>
      </p:sp>
      <p:sp>
        <p:nvSpPr>
          <p:cNvPr id="5" name="Shape 3"/>
          <p:cNvSpPr/>
          <p:nvPr/>
        </p:nvSpPr>
        <p:spPr>
          <a:xfrm>
            <a:off x="411480" y="1536192"/>
            <a:ext cx="365760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Cost To Power 100 MW Of Load ($M)</a:t>
            </a:r>
            <a:endParaRPr lang="en-US" sz="1200" dirty="0"/>
          </a:p>
        </p:txBody>
      </p:sp>
      <p:graphicFrame>
        <p:nvGraphicFramePr>
          <p:cNvPr id="7" name="Chart 0" descr=""/>
          <p:cNvGraphicFramePr/>
          <p:nvPr/>
        </p:nvGraphicFramePr>
        <p:xfrm>
          <a:off x="411480" y="1847088"/>
          <a:ext cx="3657600" cy="20116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11480" y="3931920"/>
            <a:ext cx="3657600" cy="960120"/>
          </a:xfrm>
          <a:prstGeom prst="roundRect">
            <a:avLst>
              <a:gd name="adj" fmla="val 5714"/>
            </a:avLst>
          </a:prstGeom>
          <a:solidFill>
            <a:srgbClr val="F2F2F2"/>
          </a:solidFill>
          <a:ln w="9525">
            <a:solidFill>
              <a:srgbClr val="F2F2F2"/>
            </a:solidFill>
            <a:prstDash val="solid"/>
          </a:ln>
        </p:spPr>
      </p:sp>
      <p:sp>
        <p:nvSpPr>
          <p:cNvPr id="9" name="Text 6"/>
          <p:cNvSpPr txBox="1"/>
          <p:nvPr/>
        </p:nvSpPr>
        <p:spPr>
          <a:xfrm>
            <a:off x="411480" y="3968496"/>
            <a:ext cx="3657600" cy="528066"/>
          </a:xfrm>
          <a:prstGeom prst="rect">
            <a:avLst/>
          </a:prstGeom>
          <a:noFill/>
          <a:ln/>
        </p:spPr>
        <p:txBody>
          <a:bodyPr wrap="square" lIns="0" tIns="0" rIns="0" bIns="0" rtlCol="0" anchor="b"/>
          <a:lstStyle/>
          <a:p>
            <a:pPr algn="ctr" indent="0" marL="0">
              <a:buNone/>
            </a:pPr>
            <a:r>
              <a:rPr lang="en-US" sz="2200" b="1" dirty="0">
                <a:solidFill>
                  <a:srgbClr val="E8702A"/>
                </a:solidFill>
                <a:latin typeface="Cambria" pitchFamily="34" charset="0"/>
                <a:ea typeface="Cambria" pitchFamily="34" charset="-122"/>
                <a:cs typeface="Cambria" pitchFamily="34" charset="-120"/>
              </a:rPr>
              <a:t>~13%</a:t>
            </a:r>
            <a:endParaRPr lang="en-US" sz="2200" dirty="0"/>
          </a:p>
        </p:txBody>
      </p:sp>
      <p:sp>
        <p:nvSpPr>
          <p:cNvPr id="10" name="Text 7"/>
          <p:cNvSpPr txBox="1"/>
          <p:nvPr/>
        </p:nvSpPr>
        <p:spPr>
          <a:xfrm>
            <a:off x="457200" y="4488790"/>
            <a:ext cx="3566160" cy="384048"/>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of build cost ex-GPUs, with 50% spare units; </a:t>
            </a:r>
            <a:r>
              <a:rPr lang="en-US" sz="900" b="1" dirty="0">
                <a:solidFill>
                  <a:srgbClr val="0B1F44"/>
                </a:solidFill>
                <a:latin typeface="Calibri" pitchFamily="34" charset="0"/>
                <a:ea typeface="Calibri" pitchFamily="34" charset="-122"/>
                <a:cs typeface="Calibri" pitchFamily="34" charset="-120"/>
              </a:rPr>
              <a:t>~2%</a:t>
            </a:r>
            <a:r>
              <a:rPr lang="en-US" sz="900" dirty="0">
                <a:solidFill>
                  <a:srgbClr val="404040"/>
                </a:solidFill>
                <a:latin typeface="Calibri" pitchFamily="34" charset="0"/>
                <a:ea typeface="Calibri" pitchFamily="34" charset="-122"/>
                <a:cs typeface="Calibri" pitchFamily="34" charset="-120"/>
              </a:rPr>
              <a:t> of an all-in AI site ($50–60M/MW)</a:t>
            </a:r>
            <a:endParaRPr lang="en-US" sz="900" dirty="0"/>
          </a:p>
        </p:txBody>
      </p:sp>
      <p:sp>
        <p:nvSpPr>
          <p:cNvPr id="11" name="Shape 8"/>
          <p:cNvSpPr/>
          <p:nvPr/>
        </p:nvSpPr>
        <p:spPr>
          <a:xfrm>
            <a:off x="4251960" y="1536192"/>
            <a:ext cx="3657600" cy="292608"/>
          </a:xfrm>
          <a:prstGeom prst="rect">
            <a:avLst/>
          </a:prstGeom>
          <a:solidFill>
            <a:srgbClr val="DCE6F2"/>
          </a:solidFill>
          <a:ln w="9525">
            <a:solidFill>
              <a:srgbClr val="0B1F44"/>
            </a:solidFill>
            <a:prstDash val="solid"/>
          </a:ln>
        </p:spPr>
      </p:sp>
      <p:sp>
        <p:nvSpPr>
          <p:cNvPr id="12" name="Text 9"/>
          <p:cNvSpPr txBox="1"/>
          <p:nvPr/>
        </p:nvSpPr>
        <p:spPr>
          <a:xfrm>
            <a:off x="4251960" y="1536192"/>
            <a:ext cx="365760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When New Supply Can Arrive</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251960" y="1874520"/>
          <a:ext cx="3657600" cy="914400"/>
        </p:xfrm>
        <a:graphic>
          <a:graphicData uri="http://schemas.openxmlformats.org/drawingml/2006/table">
            <a:tbl>
              <a:tblPr/>
              <a:tblGrid>
                <a:gridCol w="1645920"/>
                <a:gridCol w="1005840"/>
                <a:gridCol w="1005840"/>
              </a:tblGrid>
              <a:tr h="274320">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Supplier</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Earliest slot</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$/kW</a:t>
                      </a:r>
                      <a:endParaRPr lang="en-US" sz="85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74320">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FTAI Mod-1</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2027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850" b="1" dirty="0">
                          <a:solidFill>
                            <a:srgbClr val="0B1F44"/>
                          </a:solidFill>
                          <a:latin typeface="Calibri" pitchFamily="34" charset="0"/>
                          <a:ea typeface="Calibri" pitchFamily="34" charset="-122"/>
                          <a:cs typeface="Calibri" pitchFamily="34" charset="-120"/>
                        </a:rPr>
                        <a:t>~$1,000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r>
              <a:tr h="274320">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GE Vernova aeros (LM6000)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2028–30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$1,400–2,000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Siemens Energy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3+ yrs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n.d.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MHI large frame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2028–30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~$2,000+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Caterpillar recips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72–104 wks</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n.d.</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Boom Superpower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250 MW in 2027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404040"/>
                          </a:solidFill>
                          <a:latin typeface="Calibri" pitchFamily="34" charset="0"/>
                          <a:ea typeface="Calibri" pitchFamily="34" charset="-122"/>
                          <a:cs typeface="Calibri" pitchFamily="34" charset="-120"/>
                        </a:rPr>
                        <a:t>~$1,030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bl>
          </a:graphicData>
        </a:graphic>
      </p:graphicFrame>
      <p:sp>
        <p:nvSpPr>
          <p:cNvPr id="14" name="Shape 10"/>
          <p:cNvSpPr/>
          <p:nvPr/>
        </p:nvSpPr>
        <p:spPr>
          <a:xfrm>
            <a:off x="4251960" y="3840480"/>
            <a:ext cx="3657600" cy="1051560"/>
          </a:xfrm>
          <a:prstGeom prst="roundRect">
            <a:avLst>
              <a:gd name="adj" fmla="val 5217"/>
            </a:avLst>
          </a:prstGeom>
          <a:solidFill>
            <a:srgbClr val="FFFFFF"/>
          </a:solidFill>
          <a:ln w="12700">
            <a:solidFill>
              <a:srgbClr val="0B1F44"/>
            </a:solidFill>
            <a:prstDash val="dash"/>
          </a:ln>
        </p:spPr>
      </p:sp>
      <p:sp>
        <p:nvSpPr>
          <p:cNvPr id="15" name="Text 11"/>
          <p:cNvSpPr txBox="1"/>
          <p:nvPr/>
        </p:nvSpPr>
        <p:spPr>
          <a:xfrm>
            <a:off x="4306824" y="3867912"/>
            <a:ext cx="3547872" cy="996696"/>
          </a:xfrm>
          <a:prstGeom prst="rect">
            <a:avLst/>
          </a:prstGeom>
          <a:noFill/>
          <a:ln/>
        </p:spPr>
        <p:txBody>
          <a:bodyPr wrap="square" lIns="38100" tIns="38100" rIns="38100" bIns="38100" rtlCol="0" anchor="ctr"/>
          <a:lstStyle/>
          <a:p>
            <a:pPr algn="l" indent="0" marL="0">
              <a:buNone/>
            </a:pPr>
            <a:r>
              <a:rPr lang="en-US" sz="900" dirty="0">
                <a:solidFill>
                  <a:srgbClr val="404040"/>
                </a:solidFill>
                <a:latin typeface="Calibri" pitchFamily="34" charset="0"/>
                <a:ea typeface="Calibri" pitchFamily="34" charset="-122"/>
                <a:cs typeface="Calibri" pitchFamily="34" charset="-120"/>
              </a:rPr>
              <a:t>OEM gas backlog incl. reservations: </a:t>
            </a:r>
            <a:r>
              <a:rPr lang="en-US" sz="900" b="1" dirty="0">
                <a:solidFill>
                  <a:srgbClr val="0B1F44"/>
                </a:solidFill>
                <a:latin typeface="Calibri" pitchFamily="34" charset="0"/>
                <a:ea typeface="Calibri" pitchFamily="34" charset="-122"/>
                <a:cs typeface="Calibri" pitchFamily="34" charset="-120"/>
              </a:rPr>
              <a:t>~220 GW</a:t>
            </a:r>
            <a:r>
              <a:rPr lang="en-US" sz="900" dirty="0">
                <a:solidFill>
                  <a:srgbClr val="404040"/>
                </a:solidFill>
                <a:latin typeface="Calibri" pitchFamily="34" charset="0"/>
                <a:ea typeface="Calibri" pitchFamily="34" charset="-122"/>
                <a:cs typeface="Calibri" pitchFamily="34" charset="-120"/>
              </a:rPr>
              <a:t> (GEV 116, SE 95 incl. reservations, MHI 35). Crusoe </a:t>
            </a:r>
            <a:r>
              <a:rPr lang="en-US" sz="900" b="1" dirty="0">
                <a:solidFill>
                  <a:srgbClr val="0B1F44"/>
                </a:solidFill>
                <a:latin typeface="Calibri" pitchFamily="34" charset="0"/>
                <a:ea typeface="Calibri" pitchFamily="34" charset="-122"/>
                <a:cs typeface="Calibri" pitchFamily="34" charset="-120"/>
              </a:rPr>
              <a:t>walked away</a:t>
            </a:r>
            <a:r>
              <a:rPr lang="en-US" sz="900" dirty="0">
                <a:solidFill>
                  <a:srgbClr val="404040"/>
                </a:solidFill>
                <a:latin typeface="Calibri" pitchFamily="34" charset="0"/>
                <a:ea typeface="Calibri" pitchFamily="34" charset="-122"/>
                <a:cs typeface="Calibri" pitchFamily="34" charset="-120"/>
              </a:rPr>
              <a:t> from Boom in Sep-26: unproven new entrants carry the risk FTAI's flown core avoids</a:t>
            </a:r>
            <a:endParaRPr lang="en-US" sz="900" dirty="0"/>
          </a:p>
        </p:txBody>
      </p:sp>
      <p:sp>
        <p:nvSpPr>
          <p:cNvPr id="16" name="Shape 12"/>
          <p:cNvSpPr/>
          <p:nvPr/>
        </p:nvSpPr>
        <p:spPr>
          <a:xfrm>
            <a:off x="8092440" y="1536192"/>
            <a:ext cx="3685032" cy="292608"/>
          </a:xfrm>
          <a:prstGeom prst="rect">
            <a:avLst/>
          </a:prstGeom>
          <a:solidFill>
            <a:srgbClr val="DCE6F2"/>
          </a:solidFill>
          <a:ln w="9525">
            <a:solidFill>
              <a:srgbClr val="0B1F44"/>
            </a:solidFill>
            <a:prstDash val="solid"/>
          </a:ln>
        </p:spPr>
      </p:sp>
      <p:sp>
        <p:nvSpPr>
          <p:cNvPr id="17" name="Text 13"/>
          <p:cNvSpPr txBox="1"/>
          <p:nvPr/>
        </p:nvSpPr>
        <p:spPr>
          <a:xfrm>
            <a:off x="8092440" y="1536192"/>
            <a:ext cx="368503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Transitory Units Accelerate ROIC</a:t>
            </a:r>
            <a:endParaRPr lang="en-US" sz="1200" dirty="0"/>
          </a:p>
        </p:txBody>
      </p:sp>
      <p:sp>
        <p:nvSpPr>
          <p:cNvPr id="18" name="Text 14"/>
          <p:cNvSpPr txBox="1"/>
          <p:nvPr/>
        </p:nvSpPr>
        <p:spPr>
          <a:xfrm>
            <a:off x="8092440" y="1874520"/>
            <a:ext cx="3685032" cy="2011680"/>
          </a:xfrm>
          <a:prstGeom prst="rect">
            <a:avLst/>
          </a:prstGeom>
          <a:noFill/>
          <a:ln/>
        </p:spPr>
        <p:txBody>
          <a:bodyPr wrap="square" lIns="38100" tIns="38100" rIns="38100" bIns="38100" rtlCol="0" anchor="t"/>
          <a:lstStyle/>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An idle AI site burns </a:t>
            </a:r>
            <a:r>
              <a:rPr lang="en-US" sz="950" b="1" dirty="0">
                <a:solidFill>
                  <a:srgbClr val="0B1F44"/>
                </a:solidFill>
                <a:latin typeface="Calibri" pitchFamily="34" charset="0"/>
                <a:ea typeface="Calibri" pitchFamily="34" charset="-122"/>
                <a:cs typeface="Calibri" pitchFamily="34" charset="-120"/>
              </a:rPr>
              <a:t>~$1M per MW per month</a:t>
            </a:r>
            <a:r>
              <a:rPr lang="en-US" sz="950" dirty="0">
                <a:solidFill>
                  <a:srgbClr val="404040"/>
                </a:solidFill>
                <a:latin typeface="Calibri" pitchFamily="34" charset="0"/>
                <a:ea typeface="Calibri" pitchFamily="34" charset="-122"/>
                <a:cs typeface="Calibri" pitchFamily="34" charset="-120"/>
              </a:rPr>
              <a:t> (GPU depreciation + cost of capital). A $1M/MW unit </a:t>
            </a:r>
            <a:r>
              <a:rPr lang="en-US" sz="950" b="1" dirty="0">
                <a:solidFill>
                  <a:srgbClr val="0B1F44"/>
                </a:solidFill>
                <a:latin typeface="Calibri" pitchFamily="34" charset="0"/>
                <a:ea typeface="Calibri" pitchFamily="34" charset="-122"/>
                <a:cs typeface="Calibri" pitchFamily="34" charset="-120"/>
              </a:rPr>
              <a:t>pays back in about a month</a:t>
            </a:r>
            <a:r>
              <a:rPr lang="en-US" sz="950" dirty="0">
                <a:solidFill>
                  <a:srgbClr val="404040"/>
                </a:solidFill>
                <a:latin typeface="Calibri" pitchFamily="34" charset="0"/>
                <a:ea typeface="Calibri" pitchFamily="34" charset="-122"/>
                <a:cs typeface="Calibri" pitchFamily="34" charset="-120"/>
              </a:rPr>
              <a:t> of earlier energization</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Units are </a:t>
            </a:r>
            <a:r>
              <a:rPr lang="en-US" sz="950" b="1" dirty="0">
                <a:solidFill>
                  <a:srgbClr val="0B1F44"/>
                </a:solidFill>
                <a:latin typeface="Calibri" pitchFamily="34" charset="0"/>
                <a:ea typeface="Calibri" pitchFamily="34" charset="-122"/>
                <a:cs typeface="Calibri" pitchFamily="34" charset="-120"/>
              </a:rPr>
              <a:t>mobile</a:t>
            </a:r>
            <a:r>
              <a:rPr lang="en-US" sz="950" dirty="0">
                <a:solidFill>
                  <a:srgbClr val="404040"/>
                </a:solidFill>
                <a:latin typeface="Calibri" pitchFamily="34" charset="0"/>
                <a:ea typeface="Calibri" pitchFamily="34" charset="-122"/>
                <a:cs typeface="Calibri" pitchFamily="34" charset="-120"/>
              </a:rPr>
              <a:t>: once the grid arrives they redeploy to the next site, so the owner is not stranded with a 20-year plant</a:t>
            </a:r>
            <a:endParaRPr lang="en-US" sz="950" dirty="0"/>
          </a:p>
          <a:p>
            <a:pPr marL="342900" indent="-342900">
              <a:spcAft>
                <a:spcPts val="500"/>
              </a:spcAft>
              <a:buSzPct val="100000"/>
              <a:buChar char="▪"/>
            </a:pPr>
            <a:r>
              <a:rPr lang="en-US" sz="950" dirty="0">
                <a:solidFill>
                  <a:srgbClr val="404040"/>
                </a:solidFill>
                <a:latin typeface="Calibri" pitchFamily="34" charset="0"/>
                <a:ea typeface="Calibri" pitchFamily="34" charset="-122"/>
                <a:cs typeface="Calibri" pitchFamily="34" charset="-120"/>
              </a:rPr>
              <a:t>A behind-the-meter fleet keeps working as </a:t>
            </a:r>
            <a:r>
              <a:rPr lang="en-US" sz="950" b="1" dirty="0">
                <a:solidFill>
                  <a:srgbClr val="0B1F44"/>
                </a:solidFill>
                <a:latin typeface="Calibri" pitchFamily="34" charset="0"/>
                <a:ea typeface="Calibri" pitchFamily="34" charset="-122"/>
                <a:cs typeface="Calibri" pitchFamily="34" charset="-120"/>
              </a:rPr>
              <a:t>backup and peak</a:t>
            </a:r>
            <a:r>
              <a:rPr lang="en-US" sz="950" dirty="0">
                <a:solidFill>
                  <a:srgbClr val="404040"/>
                </a:solidFill>
                <a:latin typeface="Calibri" pitchFamily="34" charset="0"/>
                <a:ea typeface="Calibri" pitchFamily="34" charset="-122"/>
                <a:cs typeface="Calibri" pitchFamily="34" charset="-120"/>
              </a:rPr>
              <a:t> under PJM's bring-your-own-capacity rules from 2027</a:t>
            </a:r>
            <a:endParaRPr lang="en-US" sz="950" dirty="0"/>
          </a:p>
        </p:txBody>
      </p:sp>
      <p:sp>
        <p:nvSpPr>
          <p:cNvPr id="19" name="Shape 15"/>
          <p:cNvSpPr/>
          <p:nvPr/>
        </p:nvSpPr>
        <p:spPr>
          <a:xfrm>
            <a:off x="8092440" y="3931920"/>
            <a:ext cx="3685032" cy="960120"/>
          </a:xfrm>
          <a:prstGeom prst="roundRect">
            <a:avLst>
              <a:gd name="adj" fmla="val 5714"/>
            </a:avLst>
          </a:prstGeom>
          <a:solidFill>
            <a:srgbClr val="F2F2F2"/>
          </a:solidFill>
          <a:ln w="9525">
            <a:solidFill>
              <a:srgbClr val="F2F2F2"/>
            </a:solidFill>
            <a:prstDash val="solid"/>
          </a:ln>
        </p:spPr>
      </p:sp>
      <p:sp>
        <p:nvSpPr>
          <p:cNvPr id="20" name="Text 16"/>
          <p:cNvSpPr txBox="1"/>
          <p:nvPr/>
        </p:nvSpPr>
        <p:spPr>
          <a:xfrm>
            <a:off x="8092440" y="3968496"/>
            <a:ext cx="3685032" cy="528066"/>
          </a:xfrm>
          <a:prstGeom prst="rect">
            <a:avLst/>
          </a:prstGeom>
          <a:noFill/>
          <a:ln/>
        </p:spPr>
        <p:txBody>
          <a:bodyPr wrap="square" lIns="0" tIns="0" rIns="0" bIns="0" rtlCol="0" anchor="b"/>
          <a:lstStyle/>
          <a:p>
            <a:pPr algn="ctr" indent="0" marL="0">
              <a:buNone/>
            </a:pPr>
            <a:r>
              <a:rPr lang="en-US" sz="2200" b="1" dirty="0">
                <a:solidFill>
                  <a:srgbClr val="E8702A"/>
                </a:solidFill>
                <a:latin typeface="Cambria" pitchFamily="34" charset="0"/>
                <a:ea typeface="Cambria" pitchFamily="34" charset="-122"/>
                <a:cs typeface="Cambria" pitchFamily="34" charset="-120"/>
              </a:rPr>
              <a:t>~1 month</a:t>
            </a:r>
            <a:endParaRPr lang="en-US" sz="2200" dirty="0"/>
          </a:p>
        </p:txBody>
      </p:sp>
      <p:sp>
        <p:nvSpPr>
          <p:cNvPr id="21" name="Text 17"/>
          <p:cNvSpPr txBox="1"/>
          <p:nvPr/>
        </p:nvSpPr>
        <p:spPr>
          <a:xfrm>
            <a:off x="8138160" y="4488790"/>
            <a:ext cx="3593592" cy="384048"/>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of earlier energization pays for a </a:t>
            </a:r>
            <a:r>
              <a:rPr lang="en-US" sz="900" b="1" dirty="0">
                <a:solidFill>
                  <a:srgbClr val="0B1F44"/>
                </a:solidFill>
                <a:latin typeface="Calibri" pitchFamily="34" charset="0"/>
                <a:ea typeface="Calibri" pitchFamily="34" charset="-122"/>
                <a:cs typeface="Calibri" pitchFamily="34" charset="-120"/>
              </a:rPr>
              <a:t>$1M/MW</a:t>
            </a:r>
            <a:r>
              <a:rPr lang="en-US" sz="900" dirty="0">
                <a:solidFill>
                  <a:srgbClr val="404040"/>
                </a:solidFill>
                <a:latin typeface="Calibri" pitchFamily="34" charset="0"/>
                <a:ea typeface="Calibri" pitchFamily="34" charset="-122"/>
                <a:cs typeface="Calibri" pitchFamily="34" charset="-120"/>
              </a:rPr>
              <a:t> unit</a:t>
            </a:r>
            <a:endParaRPr lang="en-US" sz="900" dirty="0"/>
          </a:p>
        </p:txBody>
      </p:sp>
      <p:sp>
        <p:nvSpPr>
          <p:cNvPr id="22" name="Shape 18"/>
          <p:cNvSpPr/>
          <p:nvPr/>
        </p:nvSpPr>
        <p:spPr>
          <a:xfrm>
            <a:off x="411480" y="5010912"/>
            <a:ext cx="11365992" cy="292608"/>
          </a:xfrm>
          <a:prstGeom prst="rect">
            <a:avLst/>
          </a:prstGeom>
          <a:solidFill>
            <a:srgbClr val="DCE6F2"/>
          </a:solidFill>
          <a:ln w="9525">
            <a:solidFill>
              <a:srgbClr val="0B1F44"/>
            </a:solidFill>
            <a:prstDash val="solid"/>
          </a:ln>
        </p:spPr>
      </p:sp>
      <p:sp>
        <p:nvSpPr>
          <p:cNvPr id="23" name="Text 19"/>
          <p:cNvSpPr txBox="1"/>
          <p:nvPr/>
        </p:nvSpPr>
        <p:spPr>
          <a:xfrm>
            <a:off x="411480" y="5010912"/>
            <a:ext cx="1136599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What One More Contract Is Worth</a:t>
            </a:r>
            <a:endParaRPr lang="en-US" sz="1200" dirty="0"/>
          </a:p>
        </p:txBody>
      </p:sp>
      <p:sp>
        <p:nvSpPr>
          <p:cNvPr id="24" name="Shape 20"/>
          <p:cNvSpPr/>
          <p:nvPr/>
        </p:nvSpPr>
        <p:spPr>
          <a:xfrm>
            <a:off x="411480" y="5349240"/>
            <a:ext cx="1600200" cy="960120"/>
          </a:xfrm>
          <a:prstGeom prst="rect">
            <a:avLst>
              <a:gd name="adj" fmla="val 5714"/>
            </a:avLst>
          </a:prstGeom>
          <a:solidFill>
            <a:srgbClr val="5B7DB1"/>
          </a:solidFill>
          <a:ln w="9525">
            <a:solidFill>
              <a:srgbClr val="5B7DB1"/>
            </a:solidFill>
            <a:prstDash val="solid"/>
          </a:ln>
        </p:spPr>
      </p:sp>
      <p:sp>
        <p:nvSpPr>
          <p:cNvPr id="25" name="Text 21"/>
          <p:cNvSpPr txBox="1"/>
          <p:nvPr/>
        </p:nvSpPr>
        <p:spPr>
          <a:xfrm>
            <a:off x="457200" y="5349240"/>
            <a:ext cx="1508760" cy="960120"/>
          </a:xfrm>
          <a:prstGeom prst="rect">
            <a:avLst/>
          </a:prstGeom>
          <a:noFill/>
          <a:ln/>
        </p:spPr>
        <p:txBody>
          <a:bodyPr wrap="square" lIns="38100" tIns="38100" rIns="38100" bIns="381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Signed order only</a:t>
            </a:r>
            <a:endParaRPr lang="en-US" sz="1050" dirty="0"/>
          </a:p>
        </p:txBody>
      </p:sp>
      <p:sp>
        <p:nvSpPr>
          <p:cNvPr id="26" name="Shape 22"/>
          <p:cNvSpPr/>
          <p:nvPr/>
        </p:nvSpPr>
        <p:spPr>
          <a:xfrm>
            <a:off x="2057400" y="5349240"/>
            <a:ext cx="2057400" cy="960120"/>
          </a:xfrm>
          <a:prstGeom prst="roundRect">
            <a:avLst>
              <a:gd name="adj" fmla="val 5714"/>
            </a:avLst>
          </a:prstGeom>
          <a:solidFill>
            <a:srgbClr val="FFFFFF"/>
          </a:solidFill>
          <a:ln w="12700">
            <a:solidFill>
              <a:srgbClr val="0B1F44"/>
            </a:solidFill>
            <a:prstDash val="dash"/>
          </a:ln>
        </p:spPr>
      </p:sp>
      <p:sp>
        <p:nvSpPr>
          <p:cNvPr id="27" name="Text 23"/>
          <p:cNvSpPr txBox="1"/>
          <p:nvPr/>
        </p:nvSpPr>
        <p:spPr>
          <a:xfrm>
            <a:off x="2112264" y="5376672"/>
            <a:ext cx="1947672" cy="905256"/>
          </a:xfrm>
          <a:prstGeom prst="rect">
            <a:avLst/>
          </a:prstGeom>
          <a:noFill/>
          <a:ln/>
        </p:spPr>
        <p:txBody>
          <a:bodyPr wrap="square" lIns="38100" tIns="38100" rIns="38100" bIns="38100" rtlCol="0" anchor="ctr"/>
          <a:lstStyle/>
          <a:p>
            <a:pPr algn="l" indent="0" marL="0">
              <a:buNone/>
            </a:pPr>
            <a:r>
              <a:rPr lang="en-US" sz="1000" b="1" dirty="0">
                <a:solidFill>
                  <a:srgbClr val="0B1F44"/>
                </a:solidFill>
                <a:latin typeface="Calibri" pitchFamily="34" charset="0"/>
                <a:ea typeface="Calibri" pitchFamily="34" charset="-122"/>
                <a:cs typeface="Calibri" pitchFamily="34" charset="-120"/>
              </a:rPr>
              <a:t>45 units</a:t>
            </a:r>
            <a:r>
              <a:rPr lang="en-US" sz="1000" dirty="0">
                <a:solidFill>
                  <a:srgbClr val="404040"/>
                </a:solidFill>
                <a:latin typeface="Calibri" pitchFamily="34" charset="0"/>
                <a:ea typeface="Calibri" pitchFamily="34" charset="-122"/>
                <a:cs typeface="Calibri" pitchFamily="34" charset="-120"/>
              </a:rPr>
              <a:t> in FY27E
</a:t>
            </a:r>
            <a:r>
              <a:rPr lang="en-US" sz="1000" b="1" dirty="0">
                <a:solidFill>
                  <a:srgbClr val="0B1F44"/>
                </a:solidFill>
                <a:latin typeface="Calibri" pitchFamily="34" charset="0"/>
                <a:ea typeface="Calibri" pitchFamily="34" charset="-122"/>
                <a:cs typeface="Calibri" pitchFamily="34" charset="-120"/>
              </a:rPr>
              <a:t>$450M</a:t>
            </a:r>
            <a:r>
              <a:rPr lang="en-US" sz="1000" dirty="0">
                <a:solidFill>
                  <a:srgbClr val="404040"/>
                </a:solidFill>
                <a:latin typeface="Calibri" pitchFamily="34" charset="0"/>
                <a:ea typeface="Calibri" pitchFamily="34" charset="-122"/>
                <a:cs typeface="Calibri" pitchFamily="34" charset="-120"/>
              </a:rPr>
              <a:t> Power EBITDA
</a:t>
            </a:r>
            <a:r>
              <a:rPr lang="en-US" sz="1000" b="1" dirty="0">
                <a:solidFill>
                  <a:srgbClr val="E8702A"/>
                </a:solidFill>
                <a:latin typeface="Calibri" pitchFamily="34" charset="0"/>
                <a:ea typeface="Calibri" pitchFamily="34" charset="-122"/>
                <a:cs typeface="Calibri" pitchFamily="34" charset="-120"/>
              </a:rPr>
              <a:t>+$52 / share</a:t>
            </a:r>
            <a:r>
              <a:rPr lang="en-US" sz="1000" dirty="0">
                <a:solidFill>
                  <a:srgbClr val="404040"/>
                </a:solidFill>
                <a:latin typeface="Calibri" pitchFamily="34" charset="0"/>
                <a:ea typeface="Calibri" pitchFamily="34" charset="-122"/>
                <a:cs typeface="Calibri" pitchFamily="34" charset="-120"/>
              </a:rPr>
              <a:t> at 12x</a:t>
            </a:r>
            <a:endParaRPr lang="en-US" sz="1000" dirty="0"/>
          </a:p>
        </p:txBody>
      </p:sp>
      <p:sp>
        <p:nvSpPr>
          <p:cNvPr id="28" name="Shape 24"/>
          <p:cNvSpPr/>
          <p:nvPr/>
        </p:nvSpPr>
        <p:spPr>
          <a:xfrm>
            <a:off x="4233672" y="5349240"/>
            <a:ext cx="1600200" cy="960120"/>
          </a:xfrm>
          <a:prstGeom prst="rect">
            <a:avLst>
              <a:gd name="adj" fmla="val 5714"/>
            </a:avLst>
          </a:prstGeom>
          <a:solidFill>
            <a:srgbClr val="2E8FAE"/>
          </a:solidFill>
          <a:ln w="9525">
            <a:solidFill>
              <a:srgbClr val="2E8FAE"/>
            </a:solidFill>
            <a:prstDash val="solid"/>
          </a:ln>
        </p:spPr>
      </p:sp>
      <p:sp>
        <p:nvSpPr>
          <p:cNvPr id="29" name="Text 25"/>
          <p:cNvSpPr txBox="1"/>
          <p:nvPr/>
        </p:nvSpPr>
        <p:spPr>
          <a:xfrm>
            <a:off x="4279392" y="5349240"/>
            <a:ext cx="1508760" cy="960120"/>
          </a:xfrm>
          <a:prstGeom prst="rect">
            <a:avLst/>
          </a:prstGeom>
          <a:noFill/>
          <a:ln/>
        </p:spPr>
        <p:txBody>
          <a:bodyPr wrap="square" lIns="38100" tIns="38100" rIns="38100" bIns="381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 contract (~1 GW)</a:t>
            </a:r>
            <a:endParaRPr lang="en-US" sz="1050" dirty="0"/>
          </a:p>
        </p:txBody>
      </p:sp>
      <p:sp>
        <p:nvSpPr>
          <p:cNvPr id="30" name="Shape 26"/>
          <p:cNvSpPr/>
          <p:nvPr/>
        </p:nvSpPr>
        <p:spPr>
          <a:xfrm>
            <a:off x="5879592" y="5349240"/>
            <a:ext cx="2057400" cy="960120"/>
          </a:xfrm>
          <a:prstGeom prst="roundRect">
            <a:avLst>
              <a:gd name="adj" fmla="val 5714"/>
            </a:avLst>
          </a:prstGeom>
          <a:solidFill>
            <a:srgbClr val="FFFFFF"/>
          </a:solidFill>
          <a:ln w="12700">
            <a:solidFill>
              <a:srgbClr val="0B1F44"/>
            </a:solidFill>
            <a:prstDash val="dash"/>
          </a:ln>
        </p:spPr>
      </p:sp>
      <p:sp>
        <p:nvSpPr>
          <p:cNvPr id="31" name="Text 27"/>
          <p:cNvSpPr txBox="1"/>
          <p:nvPr/>
        </p:nvSpPr>
        <p:spPr>
          <a:xfrm>
            <a:off x="5934456" y="5376672"/>
            <a:ext cx="1947672" cy="905256"/>
          </a:xfrm>
          <a:prstGeom prst="rect">
            <a:avLst/>
          </a:prstGeom>
          <a:noFill/>
          <a:ln/>
        </p:spPr>
        <p:txBody>
          <a:bodyPr wrap="square" lIns="38100" tIns="38100" rIns="38100" bIns="38100" rtlCol="0" anchor="ctr"/>
          <a:lstStyle/>
          <a:p>
            <a:pPr algn="l" indent="0" marL="0">
              <a:buNone/>
            </a:pPr>
            <a:r>
              <a:rPr lang="en-US" sz="1000" b="1" dirty="0">
                <a:solidFill>
                  <a:srgbClr val="0B1F44"/>
                </a:solidFill>
                <a:latin typeface="Calibri" pitchFamily="34" charset="0"/>
                <a:ea typeface="Calibri" pitchFamily="34" charset="-122"/>
                <a:cs typeface="Calibri" pitchFamily="34" charset="-120"/>
              </a:rPr>
              <a:t>~90 units</a:t>
            </a:r>
            <a:r>
              <a:rPr lang="en-US" sz="1000" dirty="0">
                <a:solidFill>
                  <a:srgbClr val="404040"/>
                </a:solidFill>
                <a:latin typeface="Calibri" pitchFamily="34" charset="0"/>
                <a:ea typeface="Calibri" pitchFamily="34" charset="-122"/>
                <a:cs typeface="Calibri" pitchFamily="34" charset="-120"/>
              </a:rPr>
              <a:t> in FY27E
</a:t>
            </a:r>
            <a:r>
              <a:rPr lang="en-US" sz="1000" b="1" dirty="0">
                <a:solidFill>
                  <a:srgbClr val="0B1F44"/>
                </a:solidFill>
                <a:latin typeface="Calibri" pitchFamily="34" charset="0"/>
                <a:ea typeface="Calibri" pitchFamily="34" charset="-122"/>
                <a:cs typeface="Calibri" pitchFamily="34" charset="-120"/>
              </a:rPr>
              <a:t>~$750M</a:t>
            </a:r>
            <a:r>
              <a:rPr lang="en-US" sz="1000" dirty="0">
                <a:solidFill>
                  <a:srgbClr val="404040"/>
                </a:solidFill>
                <a:latin typeface="Calibri" pitchFamily="34" charset="0"/>
                <a:ea typeface="Calibri" pitchFamily="34" charset="-122"/>
                <a:cs typeface="Calibri" pitchFamily="34" charset="-120"/>
              </a:rPr>
              <a:t> Power EBITDA
</a:t>
            </a:r>
            <a:r>
              <a:rPr lang="en-US" sz="1000" b="1" dirty="0">
                <a:solidFill>
                  <a:srgbClr val="E8702A"/>
                </a:solidFill>
                <a:latin typeface="Calibri" pitchFamily="34" charset="0"/>
                <a:ea typeface="Calibri" pitchFamily="34" charset="-122"/>
                <a:cs typeface="Calibri" pitchFamily="34" charset="-120"/>
              </a:rPr>
              <a:t>+$35 / share</a:t>
            </a:r>
            <a:r>
              <a:rPr lang="en-US" sz="1000" dirty="0">
                <a:solidFill>
                  <a:srgbClr val="404040"/>
                </a:solidFill>
                <a:latin typeface="Calibri" pitchFamily="34" charset="0"/>
                <a:ea typeface="Calibri" pitchFamily="34" charset="-122"/>
                <a:cs typeface="Calibri" pitchFamily="34" charset="-120"/>
              </a:rPr>
              <a:t> at 12x</a:t>
            </a:r>
            <a:endParaRPr lang="en-US" sz="1000" dirty="0"/>
          </a:p>
        </p:txBody>
      </p:sp>
      <p:sp>
        <p:nvSpPr>
          <p:cNvPr id="32" name="Shape 28"/>
          <p:cNvSpPr/>
          <p:nvPr/>
        </p:nvSpPr>
        <p:spPr>
          <a:xfrm>
            <a:off x="8055864" y="5349240"/>
            <a:ext cx="1600200" cy="960120"/>
          </a:xfrm>
          <a:prstGeom prst="rect">
            <a:avLst>
              <a:gd name="adj" fmla="val 5714"/>
            </a:avLst>
          </a:prstGeom>
          <a:solidFill>
            <a:srgbClr val="0B1F44"/>
          </a:solidFill>
          <a:ln w="9525">
            <a:solidFill>
              <a:srgbClr val="0B1F44"/>
            </a:solidFill>
            <a:prstDash val="solid"/>
          </a:ln>
        </p:spPr>
      </p:sp>
      <p:sp>
        <p:nvSpPr>
          <p:cNvPr id="33" name="Text 29"/>
          <p:cNvSpPr txBox="1"/>
          <p:nvPr/>
        </p:nvSpPr>
        <p:spPr>
          <a:xfrm>
            <a:off x="8101584" y="5349240"/>
            <a:ext cx="1508760" cy="960120"/>
          </a:xfrm>
          <a:prstGeom prst="rect">
            <a:avLst/>
          </a:prstGeom>
          <a:noFill/>
          <a:ln/>
        </p:spPr>
        <p:txBody>
          <a:bodyPr wrap="square" lIns="38100" tIns="38100" rIns="38100" bIns="381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 contracts</a:t>
            </a:r>
            <a:endParaRPr lang="en-US" sz="1050" dirty="0"/>
          </a:p>
        </p:txBody>
      </p:sp>
      <p:sp>
        <p:nvSpPr>
          <p:cNvPr id="34" name="Shape 30"/>
          <p:cNvSpPr/>
          <p:nvPr/>
        </p:nvSpPr>
        <p:spPr>
          <a:xfrm>
            <a:off x="9701784" y="5349240"/>
            <a:ext cx="2057400" cy="960120"/>
          </a:xfrm>
          <a:prstGeom prst="roundRect">
            <a:avLst>
              <a:gd name="adj" fmla="val 5714"/>
            </a:avLst>
          </a:prstGeom>
          <a:solidFill>
            <a:srgbClr val="FFFFFF"/>
          </a:solidFill>
          <a:ln w="12700">
            <a:solidFill>
              <a:srgbClr val="0B1F44"/>
            </a:solidFill>
            <a:prstDash val="dash"/>
          </a:ln>
        </p:spPr>
      </p:sp>
      <p:sp>
        <p:nvSpPr>
          <p:cNvPr id="35" name="Text 31"/>
          <p:cNvSpPr txBox="1"/>
          <p:nvPr/>
        </p:nvSpPr>
        <p:spPr>
          <a:xfrm>
            <a:off x="9756648" y="5376672"/>
            <a:ext cx="1947672" cy="905256"/>
          </a:xfrm>
          <a:prstGeom prst="rect">
            <a:avLst/>
          </a:prstGeom>
          <a:noFill/>
          <a:ln/>
        </p:spPr>
        <p:txBody>
          <a:bodyPr wrap="square" lIns="38100" tIns="38100" rIns="38100" bIns="38100" rtlCol="0" anchor="ctr"/>
          <a:lstStyle/>
          <a:p>
            <a:pPr algn="l" indent="0" marL="0">
              <a:buNone/>
            </a:pPr>
            <a:r>
              <a:rPr lang="en-US" sz="1000" b="1" dirty="0">
                <a:solidFill>
                  <a:srgbClr val="0B1F44"/>
                </a:solidFill>
                <a:latin typeface="Calibri" pitchFamily="34" charset="0"/>
                <a:ea typeface="Calibri" pitchFamily="34" charset="-122"/>
                <a:cs typeface="Calibri" pitchFamily="34" charset="-120"/>
              </a:rPr>
              <a:t>~130 units</a:t>
            </a:r>
            <a:r>
              <a:rPr lang="en-US" sz="1000" dirty="0">
                <a:solidFill>
                  <a:srgbClr val="404040"/>
                </a:solidFill>
                <a:latin typeface="Calibri" pitchFamily="34" charset="0"/>
                <a:ea typeface="Calibri" pitchFamily="34" charset="-122"/>
                <a:cs typeface="Calibri" pitchFamily="34" charset="-120"/>
              </a:rPr>
              <a:t> in FY27E
</a:t>
            </a:r>
            <a:r>
              <a:rPr lang="en-US" sz="1000" b="1" dirty="0">
                <a:solidFill>
                  <a:srgbClr val="0B1F44"/>
                </a:solidFill>
                <a:latin typeface="Calibri" pitchFamily="34" charset="0"/>
                <a:ea typeface="Calibri" pitchFamily="34" charset="-122"/>
                <a:cs typeface="Calibri" pitchFamily="34" charset="-120"/>
              </a:rPr>
              <a:t>~$1.05bn</a:t>
            </a:r>
            <a:r>
              <a:rPr lang="en-US" sz="1000" dirty="0">
                <a:solidFill>
                  <a:srgbClr val="404040"/>
                </a:solidFill>
                <a:latin typeface="Calibri" pitchFamily="34" charset="0"/>
                <a:ea typeface="Calibri" pitchFamily="34" charset="-122"/>
                <a:cs typeface="Calibri" pitchFamily="34" charset="-120"/>
              </a:rPr>
              <a:t> Power EBITDA
</a:t>
            </a:r>
            <a:r>
              <a:rPr lang="en-US" sz="1000" b="1" dirty="0">
                <a:solidFill>
                  <a:srgbClr val="E8702A"/>
                </a:solidFill>
                <a:latin typeface="Calibri" pitchFamily="34" charset="0"/>
                <a:ea typeface="Calibri" pitchFamily="34" charset="-122"/>
                <a:cs typeface="Calibri" pitchFamily="34" charset="-120"/>
              </a:rPr>
              <a:t>+$70 / share</a:t>
            </a:r>
            <a:r>
              <a:rPr lang="en-US" sz="1000" dirty="0">
                <a:solidFill>
                  <a:srgbClr val="404040"/>
                </a:solidFill>
                <a:latin typeface="Calibri" pitchFamily="34" charset="0"/>
                <a:ea typeface="Calibri" pitchFamily="34" charset="-122"/>
                <a:cs typeface="Calibri" pitchFamily="34" charset="-120"/>
              </a:rPr>
              <a:t> at 12x</a:t>
            </a:r>
            <a:endParaRPr lang="en-US" sz="1000" dirty="0"/>
          </a:p>
        </p:txBody>
      </p:sp>
      <p:sp>
        <p:nvSpPr>
          <p:cNvPr id="36" name="Text 32"/>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CNBC (Jun-26); JLL, Turner &amp; Townsend build costs; GE Vernova, Siemens Energy, MHI Q2'26 filings; Rabobank; GridLab; TechCrunch; GPS model (12x Power EBITDA, 104.0mm shares; incremental value vs signed order)</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Valuation: Cases Overview</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FY27E Sum Of The Parts By Case, Cross-Checked With A Blended DCF</a:t>
            </a:r>
            <a:endParaRPr lang="en-US" sz="1500" dirty="0"/>
          </a:p>
        </p:txBody>
      </p:sp>
      <p:sp>
        <p:nvSpPr>
          <p:cNvPr id="5" name="Shape 3"/>
          <p:cNvSpPr/>
          <p:nvPr/>
        </p:nvSpPr>
        <p:spPr>
          <a:xfrm>
            <a:off x="1234440" y="1600200"/>
            <a:ext cx="2011680" cy="384048"/>
          </a:xfrm>
          <a:prstGeom prst="rect">
            <a:avLst>
              <a:gd name="adj" fmla="val 14286"/>
            </a:avLst>
          </a:prstGeom>
          <a:solidFill>
            <a:srgbClr val="5B7DB1"/>
          </a:solidFill>
          <a:ln w="9525">
            <a:solidFill>
              <a:srgbClr val="5B7DB1"/>
            </a:solidFill>
            <a:prstDash val="solid"/>
          </a:ln>
        </p:spPr>
      </p:sp>
      <p:sp>
        <p:nvSpPr>
          <p:cNvPr id="6" name="Text 4"/>
          <p:cNvSpPr txBox="1"/>
          <p:nvPr/>
        </p:nvSpPr>
        <p:spPr>
          <a:xfrm>
            <a:off x="1280160" y="1600200"/>
            <a:ext cx="1920240" cy="384048"/>
          </a:xfrm>
          <a:prstGeom prst="rect">
            <a:avLst/>
          </a:prstGeom>
          <a:noFill/>
          <a:ln/>
        </p:spPr>
        <p:txBody>
          <a:bodyPr wrap="square" lIns="38100" tIns="38100" rIns="38100" bIns="38100" rtlCol="0" anchor="ctr"/>
          <a:lstStyle/>
          <a:p>
            <a:pPr algn="ctr" indent="0" marL="0">
              <a:buNone/>
            </a:pPr>
            <a:r>
              <a:rPr lang="en-US" sz="1400" dirty="0">
                <a:solidFill>
                  <a:srgbClr val="FFFFFF"/>
                </a:solidFill>
                <a:latin typeface="Cambria" pitchFamily="34" charset="0"/>
                <a:ea typeface="Cambria" pitchFamily="34" charset="-122"/>
                <a:cs typeface="Cambria" pitchFamily="34" charset="-120"/>
              </a:rPr>
              <a:t>Bear Case</a:t>
            </a:r>
            <a:endParaRPr lang="en-US" sz="1400" dirty="0"/>
          </a:p>
        </p:txBody>
      </p:sp>
      <p:sp>
        <p:nvSpPr>
          <p:cNvPr id="7" name="Shape 5"/>
          <p:cNvSpPr/>
          <p:nvPr/>
        </p:nvSpPr>
        <p:spPr>
          <a:xfrm>
            <a:off x="411480" y="2103120"/>
            <a:ext cx="3685032" cy="2606040"/>
          </a:xfrm>
          <a:prstGeom prst="roundRect">
            <a:avLst>
              <a:gd name="adj" fmla="val 2105"/>
            </a:avLst>
          </a:prstGeom>
          <a:solidFill>
            <a:srgbClr val="FFFFFF"/>
          </a:solidFill>
          <a:ln w="12700">
            <a:solidFill>
              <a:srgbClr val="5B7DB1"/>
            </a:solidFill>
            <a:prstDash val="dash"/>
          </a:ln>
        </p:spPr>
      </p:sp>
      <p:sp>
        <p:nvSpPr>
          <p:cNvPr id="8" name="Text 6"/>
          <p:cNvSpPr txBox="1"/>
          <p:nvPr/>
        </p:nvSpPr>
        <p:spPr>
          <a:xfrm>
            <a:off x="411480" y="2148840"/>
            <a:ext cx="3685032" cy="274320"/>
          </a:xfrm>
          <a:prstGeom prst="rect">
            <a:avLst/>
          </a:prstGeom>
          <a:noFill/>
          <a:ln/>
        </p:spPr>
        <p:txBody>
          <a:bodyPr wrap="square" lIns="25400" tIns="25400" rIns="25400" bIns="254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Key assumptions</a:t>
            </a:r>
            <a:endParaRPr lang="en-US" sz="1100" dirty="0"/>
          </a:p>
        </p:txBody>
      </p:sp>
      <p:sp>
        <p:nvSpPr>
          <p:cNvPr id="9" name="Text 7"/>
          <p:cNvSpPr txBox="1"/>
          <p:nvPr/>
        </p:nvSpPr>
        <p:spPr>
          <a:xfrm>
            <a:off x="502920" y="2487168"/>
            <a:ext cx="3520440" cy="2194560"/>
          </a:xfrm>
          <a:prstGeom prst="rect">
            <a:avLst/>
          </a:prstGeom>
          <a:noFill/>
          <a:ln/>
        </p:spPr>
        <p:txBody>
          <a:bodyPr wrap="square" lIns="38100" tIns="38100" rIns="38100" bIns="38100" rtlCol="0" anchor="t"/>
          <a:lstStyle/>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Aerospace margin stuck at </a:t>
            </a:r>
            <a:r>
              <a:rPr lang="en-US" sz="1050" b="1" dirty="0">
                <a:solidFill>
                  <a:srgbClr val="0B1F44"/>
                </a:solidFill>
                <a:latin typeface="Calibri" pitchFamily="34" charset="0"/>
                <a:ea typeface="Calibri" pitchFamily="34" charset="-122"/>
                <a:cs typeface="Calibri" pitchFamily="34" charset="-120"/>
              </a:rPr>
              <a:t>28.5%</a:t>
            </a:r>
            <a:r>
              <a:rPr lang="en-US" sz="1050" dirty="0">
                <a:solidFill>
                  <a:srgbClr val="404040"/>
                </a:solidFill>
                <a:latin typeface="Calibri" pitchFamily="34" charset="0"/>
                <a:ea typeface="Calibri" pitchFamily="34" charset="-122"/>
                <a:cs typeface="Calibri" pitchFamily="34" charset="-120"/>
              </a:rPr>
              <a:t> through FY31; no PMA</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Third-party share stalls at </a:t>
            </a:r>
            <a:r>
              <a:rPr lang="en-US" sz="1050" b="1" dirty="0">
                <a:solidFill>
                  <a:srgbClr val="0B1F44"/>
                </a:solidFill>
                <a:latin typeface="Calibri" pitchFamily="34" charset="0"/>
                <a:ea typeface="Calibri" pitchFamily="34" charset="-122"/>
                <a:cs typeface="Calibri" pitchFamily="34" charset="-120"/>
              </a:rPr>
              <a:t>15%</a:t>
            </a:r>
            <a:r>
              <a:rPr lang="en-US" sz="1050" dirty="0">
                <a:solidFill>
                  <a:srgbClr val="404040"/>
                </a:solidFill>
                <a:latin typeface="Calibri" pitchFamily="34" charset="0"/>
                <a:ea typeface="Calibri" pitchFamily="34" charset="-122"/>
                <a:cs typeface="Calibri" pitchFamily="34" charset="-120"/>
              </a:rPr>
              <a:t>; modules ~1,400</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-5B retirements </a:t>
            </a:r>
            <a:r>
              <a:rPr lang="en-US" sz="1050" b="1" dirty="0">
                <a:solidFill>
                  <a:srgbClr val="0B1F44"/>
                </a:solidFill>
                <a:latin typeface="Calibri" pitchFamily="34" charset="0"/>
                <a:ea typeface="Calibri" pitchFamily="34" charset="-122"/>
                <a:cs typeface="Calibri" pitchFamily="34" charset="-120"/>
              </a:rPr>
              <a:t>4–5%</a:t>
            </a:r>
            <a:r>
              <a:rPr lang="en-US" sz="1050" dirty="0">
                <a:solidFill>
                  <a:srgbClr val="404040"/>
                </a:solidFill>
                <a:latin typeface="Calibri" pitchFamily="34" charset="0"/>
                <a:ea typeface="Calibri" pitchFamily="34" charset="-122"/>
                <a:cs typeface="Calibri" pitchFamily="34" charset="-120"/>
              </a:rPr>
              <a:t>/yr; inventory stays bloated</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Power: </a:t>
            </a:r>
            <a:r>
              <a:rPr lang="en-US" sz="1050" b="1" dirty="0">
                <a:solidFill>
                  <a:srgbClr val="0B1F44"/>
                </a:solidFill>
                <a:latin typeface="Calibri" pitchFamily="34" charset="0"/>
                <a:ea typeface="Calibri" pitchFamily="34" charset="-122"/>
                <a:cs typeface="Calibri" pitchFamily="34" charset="-120"/>
              </a:rPr>
              <a:t>30 units</a:t>
            </a:r>
            <a:r>
              <a:rPr lang="en-US" sz="1050" dirty="0">
                <a:solidFill>
                  <a:srgbClr val="404040"/>
                </a:solidFill>
                <a:latin typeface="Calibri" pitchFamily="34" charset="0"/>
                <a:ea typeface="Calibri" pitchFamily="34" charset="-122"/>
                <a:cs typeface="Calibri" pitchFamily="34" charset="-120"/>
              </a:rPr>
              <a:t> FY27, 50 a year after; </a:t>
            </a:r>
            <a:r>
              <a:rPr lang="en-US" sz="1050" b="1" dirty="0">
                <a:solidFill>
                  <a:srgbClr val="0B1F44"/>
                </a:solidFill>
                <a:latin typeface="Calibri" pitchFamily="34" charset="0"/>
                <a:ea typeface="Calibri" pitchFamily="34" charset="-122"/>
                <a:cs typeface="Calibri" pitchFamily="34" charset="-120"/>
              </a:rPr>
              <a:t>30%</a:t>
            </a:r>
            <a:r>
              <a:rPr lang="en-US" sz="1050" dirty="0">
                <a:solidFill>
                  <a:srgbClr val="404040"/>
                </a:solidFill>
                <a:latin typeface="Calibri" pitchFamily="34" charset="0"/>
                <a:ea typeface="Calibri" pitchFamily="34" charset="-122"/>
                <a:cs typeface="Calibri" pitchFamily="34" charset="-120"/>
              </a:rPr>
              <a:t> margin, </a:t>
            </a:r>
            <a:r>
              <a:rPr lang="en-US" sz="1050" b="1" dirty="0">
                <a:solidFill>
                  <a:srgbClr val="0B1F44"/>
                </a:solidFill>
                <a:latin typeface="Calibri" pitchFamily="34" charset="0"/>
                <a:ea typeface="Calibri" pitchFamily="34" charset="-122"/>
                <a:cs typeface="Calibri" pitchFamily="34" charset="-120"/>
              </a:rPr>
              <a:t>50%</a:t>
            </a:r>
            <a:r>
              <a:rPr lang="en-US" sz="1050" dirty="0">
                <a:solidFill>
                  <a:srgbClr val="404040"/>
                </a:solidFill>
                <a:latin typeface="Calibri" pitchFamily="34" charset="0"/>
                <a:ea typeface="Calibri" pitchFamily="34" charset="-122"/>
                <a:cs typeface="Calibri" pitchFamily="34" charset="-120"/>
              </a:rPr>
              <a:t> of JV</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SCI stops at 400 aircraft</a:t>
            </a:r>
            <a:endParaRPr lang="en-US" sz="1050" dirty="0"/>
          </a:p>
        </p:txBody>
      </p:sp>
      <p:sp>
        <p:nvSpPr>
          <p:cNvPr id="10" name="Shape 8"/>
          <p:cNvSpPr/>
          <p:nvPr/>
        </p:nvSpPr>
        <p:spPr>
          <a:xfrm>
            <a:off x="868680" y="4800600"/>
            <a:ext cx="2770632" cy="292608"/>
          </a:xfrm>
          <a:prstGeom prst="rect">
            <a:avLst>
              <a:gd name="adj" fmla="val 18750"/>
            </a:avLst>
          </a:prstGeom>
          <a:solidFill>
            <a:srgbClr val="DCE6F2"/>
          </a:solidFill>
          <a:ln w="9525">
            <a:solidFill>
              <a:srgbClr val="DCE6F2"/>
            </a:solidFill>
            <a:prstDash val="solid"/>
          </a:ln>
        </p:spPr>
      </p:sp>
      <p:sp>
        <p:nvSpPr>
          <p:cNvPr id="11" name="Text 9"/>
          <p:cNvSpPr txBox="1"/>
          <p:nvPr/>
        </p:nvSpPr>
        <p:spPr>
          <a:xfrm>
            <a:off x="914400" y="4800600"/>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SOTP target: $173</a:t>
            </a:r>
            <a:endParaRPr lang="en-US" sz="1000" dirty="0"/>
          </a:p>
        </p:txBody>
      </p:sp>
      <p:sp>
        <p:nvSpPr>
          <p:cNvPr id="12" name="Shape 10"/>
          <p:cNvSpPr/>
          <p:nvPr/>
        </p:nvSpPr>
        <p:spPr>
          <a:xfrm>
            <a:off x="868680" y="5138928"/>
            <a:ext cx="2770632" cy="292608"/>
          </a:xfrm>
          <a:prstGeom prst="rect">
            <a:avLst>
              <a:gd name="adj" fmla="val 18750"/>
            </a:avLst>
          </a:prstGeom>
          <a:solidFill>
            <a:srgbClr val="DCE6F2"/>
          </a:solidFill>
          <a:ln w="9525">
            <a:solidFill>
              <a:srgbClr val="DCE6F2"/>
            </a:solidFill>
            <a:prstDash val="solid"/>
          </a:ln>
        </p:spPr>
      </p:sp>
      <p:sp>
        <p:nvSpPr>
          <p:cNvPr id="13" name="Text 11"/>
          <p:cNvSpPr txBox="1"/>
          <p:nvPr/>
        </p:nvSpPr>
        <p:spPr>
          <a:xfrm>
            <a:off x="914400" y="5138928"/>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Implied return: +4%</a:t>
            </a:r>
            <a:endParaRPr lang="en-US" sz="1000" dirty="0"/>
          </a:p>
        </p:txBody>
      </p:sp>
      <p:sp>
        <p:nvSpPr>
          <p:cNvPr id="14" name="Shape 12"/>
          <p:cNvSpPr/>
          <p:nvPr/>
        </p:nvSpPr>
        <p:spPr>
          <a:xfrm>
            <a:off x="868680" y="5477256"/>
            <a:ext cx="2770632" cy="292608"/>
          </a:xfrm>
          <a:prstGeom prst="rect">
            <a:avLst>
              <a:gd name="adj" fmla="val 18750"/>
            </a:avLst>
          </a:prstGeom>
          <a:solidFill>
            <a:srgbClr val="F2F2F2"/>
          </a:solidFill>
          <a:ln w="9525">
            <a:solidFill>
              <a:srgbClr val="F2F2F2"/>
            </a:solidFill>
            <a:prstDash val="solid"/>
          </a:ln>
        </p:spPr>
      </p:sp>
      <p:sp>
        <p:nvSpPr>
          <p:cNvPr id="15" name="Text 13"/>
          <p:cNvSpPr txBox="1"/>
          <p:nvPr/>
        </p:nvSpPr>
        <p:spPr>
          <a:xfrm>
            <a:off x="914400" y="5477256"/>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DCF: $103 (–39%)</a:t>
            </a:r>
            <a:endParaRPr lang="en-US" sz="1000" dirty="0"/>
          </a:p>
        </p:txBody>
      </p:sp>
      <p:sp>
        <p:nvSpPr>
          <p:cNvPr id="16" name="Shape 14"/>
          <p:cNvSpPr/>
          <p:nvPr/>
        </p:nvSpPr>
        <p:spPr>
          <a:xfrm>
            <a:off x="868680" y="5815584"/>
            <a:ext cx="2770632" cy="292608"/>
          </a:xfrm>
          <a:prstGeom prst="rect">
            <a:avLst>
              <a:gd name="adj" fmla="val 18750"/>
            </a:avLst>
          </a:prstGeom>
          <a:solidFill>
            <a:srgbClr val="F2F2F2"/>
          </a:solidFill>
          <a:ln w="9525">
            <a:solidFill>
              <a:srgbClr val="F2F2F2"/>
            </a:solidFill>
            <a:prstDash val="solid"/>
          </a:ln>
        </p:spPr>
      </p:sp>
      <p:sp>
        <p:nvSpPr>
          <p:cNvPr id="17" name="Text 15"/>
          <p:cNvSpPr txBox="1"/>
          <p:nvPr/>
        </p:nvSpPr>
        <p:spPr>
          <a:xfrm>
            <a:off x="914400" y="5815584"/>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Weighting: 20%</a:t>
            </a:r>
            <a:endParaRPr lang="en-US" sz="1000" dirty="0"/>
          </a:p>
        </p:txBody>
      </p:sp>
      <p:sp>
        <p:nvSpPr>
          <p:cNvPr id="18" name="Shape 16"/>
          <p:cNvSpPr/>
          <p:nvPr/>
        </p:nvSpPr>
        <p:spPr>
          <a:xfrm>
            <a:off x="5074920" y="1600200"/>
            <a:ext cx="2011680" cy="384048"/>
          </a:xfrm>
          <a:prstGeom prst="rect">
            <a:avLst>
              <a:gd name="adj" fmla="val 14286"/>
            </a:avLst>
          </a:prstGeom>
          <a:solidFill>
            <a:srgbClr val="0B1F44"/>
          </a:solidFill>
          <a:ln w="9525">
            <a:solidFill>
              <a:srgbClr val="0B1F44"/>
            </a:solidFill>
            <a:prstDash val="solid"/>
          </a:ln>
        </p:spPr>
      </p:sp>
      <p:sp>
        <p:nvSpPr>
          <p:cNvPr id="19" name="Text 17"/>
          <p:cNvSpPr txBox="1"/>
          <p:nvPr/>
        </p:nvSpPr>
        <p:spPr>
          <a:xfrm>
            <a:off x="5120640" y="1600200"/>
            <a:ext cx="1920240" cy="384048"/>
          </a:xfrm>
          <a:prstGeom prst="rect">
            <a:avLst/>
          </a:prstGeom>
          <a:noFill/>
          <a:ln/>
        </p:spPr>
        <p:txBody>
          <a:bodyPr wrap="square" lIns="38100" tIns="38100" rIns="38100" bIns="38100" rtlCol="0" anchor="ctr"/>
          <a:lstStyle/>
          <a:p>
            <a:pPr algn="ctr" indent="0" marL="0">
              <a:buNone/>
            </a:pPr>
            <a:r>
              <a:rPr lang="en-US" sz="1400" dirty="0">
                <a:solidFill>
                  <a:srgbClr val="FFFFFF"/>
                </a:solidFill>
                <a:latin typeface="Cambria" pitchFamily="34" charset="0"/>
                <a:ea typeface="Cambria" pitchFamily="34" charset="-122"/>
                <a:cs typeface="Cambria" pitchFamily="34" charset="-120"/>
              </a:rPr>
              <a:t>Base Case</a:t>
            </a:r>
            <a:endParaRPr lang="en-US" sz="1400" dirty="0"/>
          </a:p>
        </p:txBody>
      </p:sp>
      <p:sp>
        <p:nvSpPr>
          <p:cNvPr id="20" name="Shape 18"/>
          <p:cNvSpPr/>
          <p:nvPr/>
        </p:nvSpPr>
        <p:spPr>
          <a:xfrm>
            <a:off x="4251960" y="2103120"/>
            <a:ext cx="3685032" cy="2606040"/>
          </a:xfrm>
          <a:prstGeom prst="roundRect">
            <a:avLst>
              <a:gd name="adj" fmla="val 2105"/>
            </a:avLst>
          </a:prstGeom>
          <a:solidFill>
            <a:srgbClr val="FFFFFF"/>
          </a:solidFill>
          <a:ln w="12700">
            <a:solidFill>
              <a:srgbClr val="0B1F44"/>
            </a:solidFill>
            <a:prstDash val="dash"/>
          </a:ln>
        </p:spPr>
      </p:sp>
      <p:sp>
        <p:nvSpPr>
          <p:cNvPr id="21" name="Text 19"/>
          <p:cNvSpPr txBox="1"/>
          <p:nvPr/>
        </p:nvSpPr>
        <p:spPr>
          <a:xfrm>
            <a:off x="4251960" y="2148840"/>
            <a:ext cx="3685032" cy="274320"/>
          </a:xfrm>
          <a:prstGeom prst="rect">
            <a:avLst/>
          </a:prstGeom>
          <a:noFill/>
          <a:ln/>
        </p:spPr>
        <p:txBody>
          <a:bodyPr wrap="square" lIns="25400" tIns="25400" rIns="25400" bIns="254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Key assumptions</a:t>
            </a:r>
            <a:endParaRPr lang="en-US" sz="1100" dirty="0"/>
          </a:p>
        </p:txBody>
      </p:sp>
      <p:sp>
        <p:nvSpPr>
          <p:cNvPr id="22" name="Text 20"/>
          <p:cNvSpPr txBox="1"/>
          <p:nvPr/>
        </p:nvSpPr>
        <p:spPr>
          <a:xfrm>
            <a:off x="4343400" y="2487168"/>
            <a:ext cx="3520440" cy="2194560"/>
          </a:xfrm>
          <a:prstGeom prst="rect">
            <a:avLst/>
          </a:prstGeom>
          <a:noFill/>
          <a:ln/>
        </p:spPr>
        <p:txBody>
          <a:bodyPr wrap="square" lIns="38100" tIns="38100" rIns="38100" bIns="38100" rtlCol="0" anchor="t"/>
          <a:lstStyle/>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Aerospace margin </a:t>
            </a:r>
            <a:r>
              <a:rPr lang="en-US" sz="1050" b="1" dirty="0">
                <a:solidFill>
                  <a:srgbClr val="0B1F44"/>
                </a:solidFill>
                <a:latin typeface="Calibri" pitchFamily="34" charset="0"/>
                <a:ea typeface="Calibri" pitchFamily="34" charset="-122"/>
                <a:cs typeface="Calibri" pitchFamily="34" charset="-120"/>
              </a:rPr>
              <a:t>~30%</a:t>
            </a:r>
            <a:r>
              <a:rPr lang="en-US" sz="1050" dirty="0">
                <a:solidFill>
                  <a:srgbClr val="404040"/>
                </a:solidFill>
                <a:latin typeface="Calibri" pitchFamily="34" charset="0"/>
                <a:ea typeface="Calibri" pitchFamily="34" charset="-122"/>
                <a:cs typeface="Calibri" pitchFamily="34" charset="-120"/>
              </a:rPr>
              <a:t> FY26–27, rebuilding to </a:t>
            </a:r>
            <a:r>
              <a:rPr lang="en-US" sz="1050" b="1" dirty="0">
                <a:solidFill>
                  <a:srgbClr val="0B1F44"/>
                </a:solidFill>
                <a:latin typeface="Calibri" pitchFamily="34" charset="0"/>
                <a:ea typeface="Calibri" pitchFamily="34" charset="-122"/>
                <a:cs typeface="Calibri" pitchFamily="34" charset="-120"/>
              </a:rPr>
              <a:t>32.5%</a:t>
            </a:r>
            <a:r>
              <a:rPr lang="en-US" sz="1050" dirty="0">
                <a:solidFill>
                  <a:srgbClr val="404040"/>
                </a:solidFill>
                <a:latin typeface="Calibri" pitchFamily="34" charset="0"/>
                <a:ea typeface="Calibri" pitchFamily="34" charset="-122"/>
                <a:cs typeface="Calibri" pitchFamily="34" charset="-120"/>
              </a:rPr>
              <a:t> by FY31 (half price pass-through + PMA 0.9→9%)</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Third-party share </a:t>
            </a:r>
            <a:r>
              <a:rPr lang="en-US" sz="1050" b="1" dirty="0">
                <a:solidFill>
                  <a:srgbClr val="0B1F44"/>
                </a:solidFill>
                <a:latin typeface="Calibri" pitchFamily="34" charset="0"/>
                <a:ea typeface="Calibri" pitchFamily="34" charset="-122"/>
                <a:cs typeface="Calibri" pitchFamily="34" charset="-120"/>
              </a:rPr>
              <a:t>17% → 20%</a:t>
            </a:r>
            <a:r>
              <a:rPr lang="en-US" sz="1050" dirty="0">
                <a:solidFill>
                  <a:srgbClr val="404040"/>
                </a:solidFill>
                <a:latin typeface="Calibri" pitchFamily="34" charset="0"/>
                <a:ea typeface="Calibri" pitchFamily="34" charset="-122"/>
                <a:cs typeface="Calibri" pitchFamily="34" charset="-120"/>
              </a:rPr>
              <a:t> by FY30; </a:t>
            </a:r>
            <a:r>
              <a:rPr lang="en-US" sz="1050" b="1" dirty="0">
                <a:solidFill>
                  <a:srgbClr val="0B1F44"/>
                </a:solidFill>
                <a:latin typeface="Calibri" pitchFamily="34" charset="0"/>
                <a:ea typeface="Calibri" pitchFamily="34" charset="-122"/>
                <a:cs typeface="Calibri" pitchFamily="34" charset="-120"/>
              </a:rPr>
              <a:t>1,687</a:t>
            </a:r>
            <a:r>
              <a:rPr lang="en-US" sz="1050" dirty="0">
                <a:solidFill>
                  <a:srgbClr val="404040"/>
                </a:solidFill>
                <a:latin typeface="Calibri" pitchFamily="34" charset="0"/>
                <a:ea typeface="Calibri" pitchFamily="34" charset="-122"/>
                <a:cs typeface="Calibri" pitchFamily="34" charset="-120"/>
              </a:rPr>
              <a:t> modules FY27E</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Power: </a:t>
            </a:r>
            <a:r>
              <a:rPr lang="en-US" sz="1050" b="1" dirty="0">
                <a:solidFill>
                  <a:srgbClr val="0B1F44"/>
                </a:solidFill>
                <a:latin typeface="Calibri" pitchFamily="34" charset="0"/>
                <a:ea typeface="Calibri" pitchFamily="34" charset="-122"/>
                <a:cs typeface="Calibri" pitchFamily="34" charset="-120"/>
              </a:rPr>
              <a:t>45 units</a:t>
            </a:r>
            <a:r>
              <a:rPr lang="en-US" sz="1050" dirty="0">
                <a:solidFill>
                  <a:srgbClr val="404040"/>
                </a:solidFill>
                <a:latin typeface="Calibri" pitchFamily="34" charset="0"/>
                <a:ea typeface="Calibri" pitchFamily="34" charset="-122"/>
                <a:cs typeface="Calibri" pitchFamily="34" charset="-120"/>
              </a:rPr>
              <a:t> FY27 (signed order), 110 by FY29 at 40%</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SCI to 700 aircraft by FY30</a:t>
            </a:r>
            <a:endParaRPr lang="en-US" sz="1050" dirty="0"/>
          </a:p>
        </p:txBody>
      </p:sp>
      <p:sp>
        <p:nvSpPr>
          <p:cNvPr id="23" name="Shape 21"/>
          <p:cNvSpPr/>
          <p:nvPr/>
        </p:nvSpPr>
        <p:spPr>
          <a:xfrm>
            <a:off x="4709160" y="4800600"/>
            <a:ext cx="2770632" cy="292608"/>
          </a:xfrm>
          <a:prstGeom prst="rect">
            <a:avLst>
              <a:gd name="adj" fmla="val 18750"/>
            </a:avLst>
          </a:prstGeom>
          <a:solidFill>
            <a:srgbClr val="DCE6F2"/>
          </a:solidFill>
          <a:ln w="9525">
            <a:solidFill>
              <a:srgbClr val="DCE6F2"/>
            </a:solidFill>
            <a:prstDash val="solid"/>
          </a:ln>
        </p:spPr>
      </p:sp>
      <p:sp>
        <p:nvSpPr>
          <p:cNvPr id="24" name="Text 22"/>
          <p:cNvSpPr txBox="1"/>
          <p:nvPr/>
        </p:nvSpPr>
        <p:spPr>
          <a:xfrm>
            <a:off x="4754880" y="4800600"/>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SOTP target: $277</a:t>
            </a:r>
            <a:endParaRPr lang="en-US" sz="1000" dirty="0"/>
          </a:p>
        </p:txBody>
      </p:sp>
      <p:sp>
        <p:nvSpPr>
          <p:cNvPr id="25" name="Shape 23"/>
          <p:cNvSpPr/>
          <p:nvPr/>
        </p:nvSpPr>
        <p:spPr>
          <a:xfrm>
            <a:off x="4709160" y="5138928"/>
            <a:ext cx="2770632" cy="292608"/>
          </a:xfrm>
          <a:prstGeom prst="rect">
            <a:avLst>
              <a:gd name="adj" fmla="val 18750"/>
            </a:avLst>
          </a:prstGeom>
          <a:solidFill>
            <a:srgbClr val="DCE6F2"/>
          </a:solidFill>
          <a:ln w="9525">
            <a:solidFill>
              <a:srgbClr val="DCE6F2"/>
            </a:solidFill>
            <a:prstDash val="solid"/>
          </a:ln>
        </p:spPr>
      </p:sp>
      <p:sp>
        <p:nvSpPr>
          <p:cNvPr id="26" name="Text 24"/>
          <p:cNvSpPr txBox="1"/>
          <p:nvPr/>
        </p:nvSpPr>
        <p:spPr>
          <a:xfrm>
            <a:off x="4754880" y="5138928"/>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Implied return: +66%</a:t>
            </a:r>
            <a:endParaRPr lang="en-US" sz="1000" dirty="0"/>
          </a:p>
        </p:txBody>
      </p:sp>
      <p:sp>
        <p:nvSpPr>
          <p:cNvPr id="27" name="Shape 25"/>
          <p:cNvSpPr/>
          <p:nvPr/>
        </p:nvSpPr>
        <p:spPr>
          <a:xfrm>
            <a:off x="4709160" y="5477256"/>
            <a:ext cx="2770632" cy="292608"/>
          </a:xfrm>
          <a:prstGeom prst="rect">
            <a:avLst>
              <a:gd name="adj" fmla="val 18750"/>
            </a:avLst>
          </a:prstGeom>
          <a:solidFill>
            <a:srgbClr val="F2F2F2"/>
          </a:solidFill>
          <a:ln w="9525">
            <a:solidFill>
              <a:srgbClr val="F2F2F2"/>
            </a:solidFill>
            <a:prstDash val="solid"/>
          </a:ln>
        </p:spPr>
      </p:sp>
      <p:sp>
        <p:nvSpPr>
          <p:cNvPr id="28" name="Text 26"/>
          <p:cNvSpPr txBox="1"/>
          <p:nvPr/>
        </p:nvSpPr>
        <p:spPr>
          <a:xfrm>
            <a:off x="4754880" y="5477256"/>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DCF: $308 (+84%)</a:t>
            </a:r>
            <a:endParaRPr lang="en-US" sz="1000" dirty="0"/>
          </a:p>
        </p:txBody>
      </p:sp>
      <p:sp>
        <p:nvSpPr>
          <p:cNvPr id="29" name="Shape 27"/>
          <p:cNvSpPr/>
          <p:nvPr/>
        </p:nvSpPr>
        <p:spPr>
          <a:xfrm>
            <a:off x="4709160" y="5815584"/>
            <a:ext cx="2770632" cy="292608"/>
          </a:xfrm>
          <a:prstGeom prst="rect">
            <a:avLst>
              <a:gd name="adj" fmla="val 18750"/>
            </a:avLst>
          </a:prstGeom>
          <a:solidFill>
            <a:srgbClr val="F2F2F2"/>
          </a:solidFill>
          <a:ln w="9525">
            <a:solidFill>
              <a:srgbClr val="F2F2F2"/>
            </a:solidFill>
            <a:prstDash val="solid"/>
          </a:ln>
        </p:spPr>
      </p:sp>
      <p:sp>
        <p:nvSpPr>
          <p:cNvPr id="30" name="Text 28"/>
          <p:cNvSpPr txBox="1"/>
          <p:nvPr/>
        </p:nvSpPr>
        <p:spPr>
          <a:xfrm>
            <a:off x="4754880" y="5815584"/>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Weighting: 60%</a:t>
            </a:r>
            <a:endParaRPr lang="en-US" sz="1000" dirty="0"/>
          </a:p>
        </p:txBody>
      </p:sp>
      <p:sp>
        <p:nvSpPr>
          <p:cNvPr id="31" name="Shape 29"/>
          <p:cNvSpPr/>
          <p:nvPr/>
        </p:nvSpPr>
        <p:spPr>
          <a:xfrm>
            <a:off x="8915400" y="1600200"/>
            <a:ext cx="2011680" cy="384048"/>
          </a:xfrm>
          <a:prstGeom prst="rect">
            <a:avLst>
              <a:gd name="adj" fmla="val 14286"/>
            </a:avLst>
          </a:prstGeom>
          <a:solidFill>
            <a:srgbClr val="2E8FAE"/>
          </a:solidFill>
          <a:ln w="9525">
            <a:solidFill>
              <a:srgbClr val="2E8FAE"/>
            </a:solidFill>
            <a:prstDash val="solid"/>
          </a:ln>
        </p:spPr>
      </p:sp>
      <p:sp>
        <p:nvSpPr>
          <p:cNvPr id="32" name="Text 30"/>
          <p:cNvSpPr txBox="1"/>
          <p:nvPr/>
        </p:nvSpPr>
        <p:spPr>
          <a:xfrm>
            <a:off x="8961120" y="1600200"/>
            <a:ext cx="1920240" cy="384048"/>
          </a:xfrm>
          <a:prstGeom prst="rect">
            <a:avLst/>
          </a:prstGeom>
          <a:noFill/>
          <a:ln/>
        </p:spPr>
        <p:txBody>
          <a:bodyPr wrap="square" lIns="38100" tIns="38100" rIns="38100" bIns="38100" rtlCol="0" anchor="ctr"/>
          <a:lstStyle/>
          <a:p>
            <a:pPr algn="ctr" indent="0" marL="0">
              <a:buNone/>
            </a:pPr>
            <a:r>
              <a:rPr lang="en-US" sz="1400" dirty="0">
                <a:solidFill>
                  <a:srgbClr val="FFFFFF"/>
                </a:solidFill>
                <a:latin typeface="Cambria" pitchFamily="34" charset="0"/>
                <a:ea typeface="Cambria" pitchFamily="34" charset="-122"/>
                <a:cs typeface="Cambria" pitchFamily="34" charset="-120"/>
              </a:rPr>
              <a:t>Bull Case</a:t>
            </a:r>
            <a:endParaRPr lang="en-US" sz="1400" dirty="0"/>
          </a:p>
        </p:txBody>
      </p:sp>
      <p:sp>
        <p:nvSpPr>
          <p:cNvPr id="33" name="Shape 31"/>
          <p:cNvSpPr/>
          <p:nvPr/>
        </p:nvSpPr>
        <p:spPr>
          <a:xfrm>
            <a:off x="8092440" y="2103120"/>
            <a:ext cx="3685032" cy="2606040"/>
          </a:xfrm>
          <a:prstGeom prst="roundRect">
            <a:avLst>
              <a:gd name="adj" fmla="val 2105"/>
            </a:avLst>
          </a:prstGeom>
          <a:solidFill>
            <a:srgbClr val="FFFFFF"/>
          </a:solidFill>
          <a:ln w="12700">
            <a:solidFill>
              <a:srgbClr val="2E8FAE"/>
            </a:solidFill>
            <a:prstDash val="dash"/>
          </a:ln>
        </p:spPr>
      </p:sp>
      <p:sp>
        <p:nvSpPr>
          <p:cNvPr id="34" name="Text 32"/>
          <p:cNvSpPr txBox="1"/>
          <p:nvPr/>
        </p:nvSpPr>
        <p:spPr>
          <a:xfrm>
            <a:off x="8092440" y="2148840"/>
            <a:ext cx="3685032" cy="274320"/>
          </a:xfrm>
          <a:prstGeom prst="rect">
            <a:avLst/>
          </a:prstGeom>
          <a:noFill/>
          <a:ln/>
        </p:spPr>
        <p:txBody>
          <a:bodyPr wrap="square" lIns="25400" tIns="25400" rIns="25400" bIns="254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Key assumptions</a:t>
            </a:r>
            <a:endParaRPr lang="en-US" sz="1100" dirty="0"/>
          </a:p>
        </p:txBody>
      </p:sp>
      <p:sp>
        <p:nvSpPr>
          <p:cNvPr id="35" name="Text 33"/>
          <p:cNvSpPr txBox="1"/>
          <p:nvPr/>
        </p:nvSpPr>
        <p:spPr>
          <a:xfrm>
            <a:off x="8183880" y="2487168"/>
            <a:ext cx="3520440" cy="2194560"/>
          </a:xfrm>
          <a:prstGeom prst="rect">
            <a:avLst/>
          </a:prstGeom>
          <a:noFill/>
          <a:ln/>
        </p:spPr>
        <p:txBody>
          <a:bodyPr wrap="square" lIns="38100" tIns="38100" rIns="38100" bIns="38100" rtlCol="0" anchor="t"/>
          <a:lstStyle/>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Margin recovers to </a:t>
            </a:r>
            <a:r>
              <a:rPr lang="en-US" sz="1050" b="1" dirty="0">
                <a:solidFill>
                  <a:srgbClr val="0B1F44"/>
                </a:solidFill>
                <a:latin typeface="Calibri" pitchFamily="34" charset="0"/>
                <a:ea typeface="Calibri" pitchFamily="34" charset="-122"/>
                <a:cs typeface="Calibri" pitchFamily="34" charset="-120"/>
              </a:rPr>
              <a:t>31%</a:t>
            </a:r>
            <a:r>
              <a:rPr lang="en-US" sz="1050" dirty="0">
                <a:solidFill>
                  <a:srgbClr val="404040"/>
                </a:solidFill>
                <a:latin typeface="Calibri" pitchFamily="34" charset="0"/>
                <a:ea typeface="Calibri" pitchFamily="34" charset="-122"/>
                <a:cs typeface="Calibri" pitchFamily="34" charset="-120"/>
              </a:rPr>
              <a:t> FY27E and </a:t>
            </a:r>
            <a:r>
              <a:rPr lang="en-US" sz="1050" b="1" dirty="0">
                <a:solidFill>
                  <a:srgbClr val="0B1F44"/>
                </a:solidFill>
                <a:latin typeface="Calibri" pitchFamily="34" charset="0"/>
                <a:ea typeface="Calibri" pitchFamily="34" charset="-122"/>
                <a:cs typeface="Calibri" pitchFamily="34" charset="-120"/>
              </a:rPr>
              <a:t>34.5%</a:t>
            </a:r>
            <a:r>
              <a:rPr lang="en-US" sz="1050" dirty="0">
                <a:solidFill>
                  <a:srgbClr val="404040"/>
                </a:solidFill>
                <a:latin typeface="Calibri" pitchFamily="34" charset="0"/>
                <a:ea typeface="Calibri" pitchFamily="34" charset="-122"/>
                <a:cs typeface="Calibri" pitchFamily="34" charset="-120"/>
              </a:rPr>
              <a:t> FY31 as light work returns</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Third-party share </a:t>
            </a:r>
            <a:r>
              <a:rPr lang="en-US" sz="1050" b="1" dirty="0">
                <a:solidFill>
                  <a:srgbClr val="0B1F44"/>
                </a:solidFill>
                <a:latin typeface="Calibri" pitchFamily="34" charset="0"/>
                <a:ea typeface="Calibri" pitchFamily="34" charset="-122"/>
                <a:cs typeface="Calibri" pitchFamily="34" charset="-120"/>
              </a:rPr>
              <a:t>25%</a:t>
            </a:r>
            <a:r>
              <a:rPr lang="en-US" sz="1050" dirty="0">
                <a:solidFill>
                  <a:srgbClr val="404040"/>
                </a:solidFill>
                <a:latin typeface="Calibri" pitchFamily="34" charset="0"/>
                <a:ea typeface="Calibri" pitchFamily="34" charset="-122"/>
                <a:cs typeface="Calibri" pitchFamily="34" charset="-120"/>
              </a:rPr>
              <a:t> by FY31</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Power: one more contract, </a:t>
            </a:r>
            <a:r>
              <a:rPr lang="en-US" sz="1050" b="1" dirty="0">
                <a:solidFill>
                  <a:srgbClr val="0B1F44"/>
                </a:solidFill>
                <a:latin typeface="Calibri" pitchFamily="34" charset="0"/>
                <a:ea typeface="Calibri" pitchFamily="34" charset="-122"/>
                <a:cs typeface="Calibri" pitchFamily="34" charset="-120"/>
              </a:rPr>
              <a:t>130–170 units</a:t>
            </a:r>
            <a:r>
              <a:rPr lang="en-US" sz="1050" dirty="0">
                <a:solidFill>
                  <a:srgbClr val="404040"/>
                </a:solidFill>
                <a:latin typeface="Calibri" pitchFamily="34" charset="0"/>
                <a:ea typeface="Calibri" pitchFamily="34" charset="-122"/>
                <a:cs typeface="Calibri" pitchFamily="34" charset="-120"/>
              </a:rPr>
              <a:t> a year</a:t>
            </a:r>
            <a:endParaRPr lang="en-US" sz="1050" dirty="0"/>
          </a:p>
          <a:p>
            <a:pPr marL="342900" indent="-342900">
              <a:spcAft>
                <a:spcPts val="600"/>
              </a:spcAft>
              <a:buSzPct val="100000"/>
              <a:buChar char="▪"/>
            </a:pPr>
            <a:r>
              <a:rPr lang="en-US" sz="1050" dirty="0">
                <a:solidFill>
                  <a:srgbClr val="404040"/>
                </a:solidFill>
                <a:latin typeface="Calibri" pitchFamily="34" charset="0"/>
                <a:ea typeface="Calibri" pitchFamily="34" charset="-122"/>
                <a:cs typeface="Calibri" pitchFamily="34" charset="-120"/>
              </a:rPr>
              <a:t>Base-case SCI and PMA</a:t>
            </a:r>
            <a:endParaRPr lang="en-US" sz="1050" dirty="0"/>
          </a:p>
        </p:txBody>
      </p:sp>
      <p:sp>
        <p:nvSpPr>
          <p:cNvPr id="36" name="Shape 34"/>
          <p:cNvSpPr/>
          <p:nvPr/>
        </p:nvSpPr>
        <p:spPr>
          <a:xfrm>
            <a:off x="8549640" y="4800600"/>
            <a:ext cx="2770632" cy="292608"/>
          </a:xfrm>
          <a:prstGeom prst="rect">
            <a:avLst>
              <a:gd name="adj" fmla="val 18750"/>
            </a:avLst>
          </a:prstGeom>
          <a:solidFill>
            <a:srgbClr val="DCE6F2"/>
          </a:solidFill>
          <a:ln w="9525">
            <a:solidFill>
              <a:srgbClr val="DCE6F2"/>
            </a:solidFill>
            <a:prstDash val="solid"/>
          </a:ln>
        </p:spPr>
      </p:sp>
      <p:sp>
        <p:nvSpPr>
          <p:cNvPr id="37" name="Text 35"/>
          <p:cNvSpPr txBox="1"/>
          <p:nvPr/>
        </p:nvSpPr>
        <p:spPr>
          <a:xfrm>
            <a:off x="8595360" y="4800600"/>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SOTP target: $308</a:t>
            </a:r>
            <a:endParaRPr lang="en-US" sz="1000" dirty="0"/>
          </a:p>
        </p:txBody>
      </p:sp>
      <p:sp>
        <p:nvSpPr>
          <p:cNvPr id="38" name="Shape 36"/>
          <p:cNvSpPr/>
          <p:nvPr/>
        </p:nvSpPr>
        <p:spPr>
          <a:xfrm>
            <a:off x="8549640" y="5138928"/>
            <a:ext cx="2770632" cy="292608"/>
          </a:xfrm>
          <a:prstGeom prst="rect">
            <a:avLst>
              <a:gd name="adj" fmla="val 18750"/>
            </a:avLst>
          </a:prstGeom>
          <a:solidFill>
            <a:srgbClr val="DCE6F2"/>
          </a:solidFill>
          <a:ln w="9525">
            <a:solidFill>
              <a:srgbClr val="DCE6F2"/>
            </a:solidFill>
            <a:prstDash val="solid"/>
          </a:ln>
        </p:spPr>
      </p:sp>
      <p:sp>
        <p:nvSpPr>
          <p:cNvPr id="39" name="Text 37"/>
          <p:cNvSpPr txBox="1"/>
          <p:nvPr/>
        </p:nvSpPr>
        <p:spPr>
          <a:xfrm>
            <a:off x="8595360" y="5138928"/>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Implied return: +85%</a:t>
            </a:r>
            <a:endParaRPr lang="en-US" sz="1000" dirty="0"/>
          </a:p>
        </p:txBody>
      </p:sp>
      <p:sp>
        <p:nvSpPr>
          <p:cNvPr id="40" name="Shape 38"/>
          <p:cNvSpPr/>
          <p:nvPr/>
        </p:nvSpPr>
        <p:spPr>
          <a:xfrm>
            <a:off x="8549640" y="5477256"/>
            <a:ext cx="2770632" cy="292608"/>
          </a:xfrm>
          <a:prstGeom prst="rect">
            <a:avLst>
              <a:gd name="adj" fmla="val 18750"/>
            </a:avLst>
          </a:prstGeom>
          <a:solidFill>
            <a:srgbClr val="F2F2F2"/>
          </a:solidFill>
          <a:ln w="9525">
            <a:solidFill>
              <a:srgbClr val="F2F2F2"/>
            </a:solidFill>
            <a:prstDash val="solid"/>
          </a:ln>
        </p:spPr>
      </p:sp>
      <p:sp>
        <p:nvSpPr>
          <p:cNvPr id="41" name="Text 39"/>
          <p:cNvSpPr txBox="1"/>
          <p:nvPr/>
        </p:nvSpPr>
        <p:spPr>
          <a:xfrm>
            <a:off x="8595360" y="5477256"/>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DCF: $387 (+132%)</a:t>
            </a:r>
            <a:endParaRPr lang="en-US" sz="1000" dirty="0"/>
          </a:p>
        </p:txBody>
      </p:sp>
      <p:sp>
        <p:nvSpPr>
          <p:cNvPr id="42" name="Shape 40"/>
          <p:cNvSpPr/>
          <p:nvPr/>
        </p:nvSpPr>
        <p:spPr>
          <a:xfrm>
            <a:off x="8549640" y="5815584"/>
            <a:ext cx="2770632" cy="292608"/>
          </a:xfrm>
          <a:prstGeom prst="rect">
            <a:avLst>
              <a:gd name="adj" fmla="val 18750"/>
            </a:avLst>
          </a:prstGeom>
          <a:solidFill>
            <a:srgbClr val="F2F2F2"/>
          </a:solidFill>
          <a:ln w="9525">
            <a:solidFill>
              <a:srgbClr val="F2F2F2"/>
            </a:solidFill>
            <a:prstDash val="solid"/>
          </a:ln>
        </p:spPr>
      </p:sp>
      <p:sp>
        <p:nvSpPr>
          <p:cNvPr id="43" name="Text 41"/>
          <p:cNvSpPr txBox="1"/>
          <p:nvPr/>
        </p:nvSpPr>
        <p:spPr>
          <a:xfrm>
            <a:off x="8595360" y="5815584"/>
            <a:ext cx="2679192" cy="292608"/>
          </a:xfrm>
          <a:prstGeom prst="rect">
            <a:avLst/>
          </a:prstGeom>
          <a:noFill/>
          <a:ln/>
        </p:spPr>
        <p:txBody>
          <a:bodyPr wrap="square" lIns="38100" tIns="38100" rIns="38100" bIns="381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Weighting: 20%</a:t>
            </a:r>
            <a:endParaRPr lang="en-US" sz="1000" dirty="0"/>
          </a:p>
        </p:txBody>
      </p:sp>
      <p:sp>
        <p:nvSpPr>
          <p:cNvPr id="44" name="Shape 42"/>
          <p:cNvSpPr/>
          <p:nvPr/>
        </p:nvSpPr>
        <p:spPr>
          <a:xfrm>
            <a:off x="411480" y="6172200"/>
            <a:ext cx="11365992" cy="201168"/>
          </a:xfrm>
          <a:prstGeom prst="rect">
            <a:avLst>
              <a:gd name="adj" fmla="val 27273"/>
            </a:avLst>
          </a:prstGeom>
          <a:solidFill>
            <a:srgbClr val="FFFFFF"/>
          </a:solidFill>
          <a:ln w="9525">
            <a:solidFill>
              <a:srgbClr val="FFFFFF"/>
            </a:solidFill>
            <a:prstDash val="solid"/>
          </a:ln>
        </p:spPr>
      </p:sp>
      <p:sp>
        <p:nvSpPr>
          <p:cNvPr id="45" name="Text 43"/>
          <p:cNvSpPr txBox="1"/>
          <p:nvPr/>
        </p:nvSpPr>
        <p:spPr>
          <a:xfrm>
            <a:off x="457200" y="6172200"/>
            <a:ext cx="11274552" cy="201168"/>
          </a:xfrm>
          <a:prstGeom prst="rect">
            <a:avLst/>
          </a:prstGeom>
          <a:noFill/>
          <a:ln/>
        </p:spPr>
        <p:txBody>
          <a:bodyPr wrap="square" lIns="38100" tIns="38100" rIns="38100" bIns="381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Probability-weighted SOTP: $262 (+57%)   |   Base target: $277 (+66%)   |   R/R (blended DCF bull vs bear): 3.4x</a:t>
            </a:r>
            <a:endParaRPr lang="en-US" sz="1100" dirty="0"/>
          </a:p>
        </p:txBody>
      </p:sp>
      <p:sp>
        <p:nvSpPr>
          <p:cNvPr id="46" name="Text 44"/>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GPS model case toggle; SOTP at Aerospace 16x, Power 12x, Leasing + SCI 9x, corporate at blended multiple; DCF 9.5% WACC, 3% TGR / 13x exit, 50/50 blend</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Valuation: Sum Of The Parts &amp; DCF</a:t>
            </a:r>
            <a:endParaRPr lang="en-US" sz="2600" dirty="0"/>
          </a:p>
        </p:txBody>
      </p:sp>
      <p:sp>
        <p:nvSpPr>
          <p:cNvPr id="3" name="Shape 1"/>
          <p:cNvSpPr/>
          <p:nvPr/>
        </p:nvSpPr>
        <p:spPr>
          <a:xfrm>
            <a:off x="411480" y="1051560"/>
            <a:ext cx="11365992" cy="365760"/>
          </a:xfrm>
          <a:prstGeom prst="rect">
            <a:avLst/>
          </a:prstGeom>
          <a:solidFill>
            <a:srgbClr val="0B1F44"/>
          </a:solidFill>
          <a:ln w="12700">
            <a:solidFill>
              <a:srgbClr val="0B1F44"/>
            </a:solidFill>
            <a:prstDash val="solid"/>
          </a:ln>
        </p:spPr>
      </p:sp>
      <p:sp>
        <p:nvSpPr>
          <p:cNvPr id="4" name="Text 2"/>
          <p:cNvSpPr txBox="1"/>
          <p:nvPr/>
        </p:nvSpPr>
        <p:spPr>
          <a:xfrm>
            <a:off x="411480" y="1051560"/>
            <a:ext cx="11365992" cy="36576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$167 The Market Pays For The Bear Case; Each Thesis Adds Value From There</a:t>
            </a:r>
            <a:endParaRPr lang="en-US" sz="1500" dirty="0"/>
          </a:p>
        </p:txBody>
      </p:sp>
      <p:sp>
        <p:nvSpPr>
          <p:cNvPr id="5" name="Shape 3"/>
          <p:cNvSpPr/>
          <p:nvPr/>
        </p:nvSpPr>
        <p:spPr>
          <a:xfrm>
            <a:off x="411480" y="1536192"/>
            <a:ext cx="6309360" cy="292608"/>
          </a:xfrm>
          <a:prstGeom prst="rect">
            <a:avLst/>
          </a:prstGeom>
          <a:solidFill>
            <a:srgbClr val="DCE6F2"/>
          </a:solidFill>
          <a:ln w="9525">
            <a:solidFill>
              <a:srgbClr val="0B1F44"/>
            </a:solidFill>
            <a:prstDash val="solid"/>
          </a:ln>
        </p:spPr>
      </p:sp>
      <p:sp>
        <p:nvSpPr>
          <p:cNvPr id="6" name="Text 4"/>
          <p:cNvSpPr txBox="1"/>
          <p:nvPr/>
        </p:nvSpPr>
        <p:spPr>
          <a:xfrm>
            <a:off x="411480" y="1536192"/>
            <a:ext cx="630936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From Today To Our Base Case ($ / Share)</a:t>
            </a:r>
            <a:endParaRPr lang="en-US" sz="1200" dirty="0"/>
          </a:p>
        </p:txBody>
      </p:sp>
      <p:graphicFrame>
        <p:nvGraphicFramePr>
          <p:cNvPr id="7" name="Chart 0" descr=""/>
          <p:cNvGraphicFramePr/>
          <p:nvPr/>
        </p:nvGraphicFramePr>
        <p:xfrm>
          <a:off x="411480" y="1874520"/>
          <a:ext cx="6309360" cy="28346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85800" y="2884322"/>
            <a:ext cx="914400" cy="228600"/>
          </a:xfrm>
          <a:prstGeom prst="rect">
            <a:avLst/>
          </a:prstGeom>
          <a:noFill/>
          <a:ln/>
        </p:spPr>
        <p:txBody>
          <a:bodyPr wrap="square" lIns="25400" tIns="25400" rIns="25400" bIns="254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$167</a:t>
            </a:r>
            <a:endParaRPr lang="en-US" sz="1000" dirty="0"/>
          </a:p>
        </p:txBody>
      </p:sp>
      <p:sp>
        <p:nvSpPr>
          <p:cNvPr id="9" name="Text 6"/>
          <p:cNvSpPr txBox="1"/>
          <p:nvPr/>
        </p:nvSpPr>
        <p:spPr>
          <a:xfrm>
            <a:off x="1874520" y="2714244"/>
            <a:ext cx="914400" cy="228600"/>
          </a:xfrm>
          <a:prstGeom prst="rect">
            <a:avLst/>
          </a:prstGeom>
          <a:noFill/>
          <a:ln/>
        </p:spPr>
        <p:txBody>
          <a:bodyPr wrap="square" lIns="25400" tIns="25400" rIns="25400" bIns="254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+$18</a:t>
            </a:r>
            <a:endParaRPr lang="en-US" sz="1000" dirty="0"/>
          </a:p>
        </p:txBody>
      </p:sp>
      <p:sp>
        <p:nvSpPr>
          <p:cNvPr id="10" name="Text 7"/>
          <p:cNvSpPr txBox="1"/>
          <p:nvPr/>
        </p:nvSpPr>
        <p:spPr>
          <a:xfrm>
            <a:off x="3063240" y="2392985"/>
            <a:ext cx="914400" cy="228600"/>
          </a:xfrm>
          <a:prstGeom prst="rect">
            <a:avLst/>
          </a:prstGeom>
          <a:noFill/>
          <a:ln/>
        </p:spPr>
        <p:txBody>
          <a:bodyPr wrap="square" lIns="25400" tIns="25400" rIns="25400" bIns="254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+$34</a:t>
            </a:r>
            <a:endParaRPr lang="en-US" sz="1000" dirty="0"/>
          </a:p>
        </p:txBody>
      </p:sp>
      <p:sp>
        <p:nvSpPr>
          <p:cNvPr id="11" name="Text 8"/>
          <p:cNvSpPr txBox="1"/>
          <p:nvPr/>
        </p:nvSpPr>
        <p:spPr>
          <a:xfrm>
            <a:off x="4251960" y="1844954"/>
            <a:ext cx="914400" cy="228600"/>
          </a:xfrm>
          <a:prstGeom prst="rect">
            <a:avLst/>
          </a:prstGeom>
          <a:noFill/>
          <a:ln/>
        </p:spPr>
        <p:txBody>
          <a:bodyPr wrap="square" lIns="25400" tIns="25400" rIns="25400" bIns="254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+$58</a:t>
            </a:r>
            <a:endParaRPr lang="en-US" sz="1000" dirty="0"/>
          </a:p>
        </p:txBody>
      </p:sp>
      <p:sp>
        <p:nvSpPr>
          <p:cNvPr id="12" name="Text 9"/>
          <p:cNvSpPr txBox="1"/>
          <p:nvPr/>
        </p:nvSpPr>
        <p:spPr>
          <a:xfrm>
            <a:off x="5440680" y="1844954"/>
            <a:ext cx="914400" cy="228600"/>
          </a:xfrm>
          <a:prstGeom prst="rect">
            <a:avLst/>
          </a:prstGeom>
          <a:noFill/>
          <a:ln/>
        </p:spPr>
        <p:txBody>
          <a:bodyPr wrap="square" lIns="25400" tIns="25400" rIns="25400" bIns="25400" rtlCol="0" anchor="ctr"/>
          <a:lstStyle/>
          <a:p>
            <a:pPr algn="ctr" indent="0" marL="0">
              <a:buNone/>
            </a:pPr>
            <a:r>
              <a:rPr lang="en-US" sz="1000" b="1" dirty="0">
                <a:solidFill>
                  <a:srgbClr val="0B1F44"/>
                </a:solidFill>
                <a:latin typeface="Calibri" pitchFamily="34" charset="0"/>
                <a:ea typeface="Calibri" pitchFamily="34" charset="-122"/>
                <a:cs typeface="Calibri" pitchFamily="34" charset="-120"/>
              </a:rPr>
              <a:t>$277</a:t>
            </a:r>
            <a:endParaRPr lang="en-US" sz="1000" dirty="0"/>
          </a:p>
        </p:txBody>
      </p:sp>
      <p:sp>
        <p:nvSpPr>
          <p:cNvPr id="13" name="Shape 10"/>
          <p:cNvSpPr/>
          <p:nvPr/>
        </p:nvSpPr>
        <p:spPr>
          <a:xfrm>
            <a:off x="411480" y="4800600"/>
            <a:ext cx="6309360" cy="594360"/>
          </a:xfrm>
          <a:prstGeom prst="roundRect">
            <a:avLst>
              <a:gd name="adj" fmla="val 9231"/>
            </a:avLst>
          </a:prstGeom>
          <a:solidFill>
            <a:srgbClr val="FFFFFF"/>
          </a:solidFill>
          <a:ln w="12700">
            <a:solidFill>
              <a:srgbClr val="0B1F44"/>
            </a:solidFill>
            <a:prstDash val="dash"/>
          </a:ln>
        </p:spPr>
      </p:sp>
      <p:sp>
        <p:nvSpPr>
          <p:cNvPr id="14" name="Text 11"/>
          <p:cNvSpPr txBox="1"/>
          <p:nvPr/>
        </p:nvSpPr>
        <p:spPr>
          <a:xfrm>
            <a:off x="466344" y="4828032"/>
            <a:ext cx="6199632" cy="539496"/>
          </a:xfrm>
          <a:prstGeom prst="rect">
            <a:avLst/>
          </a:prstGeom>
          <a:noFill/>
          <a:ln/>
        </p:spPr>
        <p:txBody>
          <a:bodyPr wrap="square" lIns="38100" tIns="38100" rIns="38100" bIns="381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Today's price is roughly our bear case. Switching each thesis from bear to base: </a:t>
            </a:r>
            <a:r>
              <a:rPr lang="en-US" sz="950" b="1" dirty="0">
                <a:solidFill>
                  <a:srgbClr val="0B1F44"/>
                </a:solidFill>
                <a:latin typeface="Calibri" pitchFamily="34" charset="0"/>
                <a:ea typeface="Calibri" pitchFamily="34" charset="-122"/>
                <a:cs typeface="Calibri" pitchFamily="34" charset="-120"/>
              </a:rPr>
              <a:t>margins +$18, share +$34, Power +$58</a:t>
            </a:r>
            <a:r>
              <a:rPr lang="en-US" sz="950" dirty="0">
                <a:solidFill>
                  <a:srgbClr val="404040"/>
                </a:solidFill>
                <a:latin typeface="Calibri" pitchFamily="34" charset="0"/>
                <a:ea typeface="Calibri" pitchFamily="34" charset="-122"/>
                <a:cs typeface="Calibri" pitchFamily="34" charset="-120"/>
              </a:rPr>
              <a:t> (signed order only)</a:t>
            </a:r>
            <a:endParaRPr lang="en-US" sz="950" dirty="0"/>
          </a:p>
        </p:txBody>
      </p:sp>
      <p:sp>
        <p:nvSpPr>
          <p:cNvPr id="15" name="Shape 12"/>
          <p:cNvSpPr/>
          <p:nvPr/>
        </p:nvSpPr>
        <p:spPr>
          <a:xfrm>
            <a:off x="411480" y="5486400"/>
            <a:ext cx="6309360" cy="292608"/>
          </a:xfrm>
          <a:prstGeom prst="rect">
            <a:avLst/>
          </a:prstGeom>
          <a:solidFill>
            <a:srgbClr val="DCE6F2"/>
          </a:solidFill>
          <a:ln w="9525">
            <a:solidFill>
              <a:srgbClr val="0B1F44"/>
            </a:solidFill>
            <a:prstDash val="solid"/>
          </a:ln>
        </p:spPr>
      </p:sp>
      <p:sp>
        <p:nvSpPr>
          <p:cNvPr id="16" name="Text 13"/>
          <p:cNvSpPr txBox="1"/>
          <p:nvPr/>
        </p:nvSpPr>
        <p:spPr>
          <a:xfrm>
            <a:off x="411480" y="5486400"/>
            <a:ext cx="630936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FY27E Sum Of The Parts (Base)</a:t>
            </a:r>
            <a:endParaRPr lang="en-US" sz="1200" dirty="0"/>
          </a:p>
        </p:txBody>
      </p:sp>
      <p:sp>
        <p:nvSpPr>
          <p:cNvPr id="17" name="Text 14"/>
          <p:cNvSpPr txBox="1"/>
          <p:nvPr/>
        </p:nvSpPr>
        <p:spPr>
          <a:xfrm>
            <a:off x="411480" y="5806440"/>
            <a:ext cx="6309360" cy="502920"/>
          </a:xfrm>
          <a:prstGeom prst="rect">
            <a:avLst/>
          </a:prstGeom>
          <a:noFill/>
          <a:ln/>
        </p:spPr>
        <p:txBody>
          <a:bodyPr wrap="square" lIns="25400" tIns="25400" rIns="25400" bIns="25400" rtlCol="0" anchor="ctr"/>
          <a:lstStyle/>
          <a:p>
            <a:pPr algn="l" indent="0" marL="0">
              <a:buNone/>
            </a:pPr>
            <a:r>
              <a:rPr lang="en-US" sz="950" dirty="0">
                <a:solidFill>
                  <a:srgbClr val="404040"/>
                </a:solidFill>
                <a:latin typeface="Calibri" pitchFamily="34" charset="0"/>
                <a:ea typeface="Calibri" pitchFamily="34" charset="-122"/>
                <a:cs typeface="Calibri" pitchFamily="34" charset="-120"/>
              </a:rPr>
              <a:t>Aerospace $1,541M × 16x = </a:t>
            </a:r>
            <a:r>
              <a:rPr lang="en-US" sz="950" b="1" dirty="0">
                <a:solidFill>
                  <a:srgbClr val="0B1F44"/>
                </a:solidFill>
                <a:latin typeface="Calibri" pitchFamily="34" charset="0"/>
                <a:ea typeface="Calibri" pitchFamily="34" charset="-122"/>
                <a:cs typeface="Calibri" pitchFamily="34" charset="-120"/>
              </a:rPr>
              <a:t>$237</a:t>
            </a:r>
            <a:r>
              <a:rPr lang="en-US" sz="950" dirty="0">
                <a:solidFill>
                  <a:srgbClr val="404040"/>
                </a:solidFill>
                <a:latin typeface="Calibri" pitchFamily="34" charset="0"/>
                <a:ea typeface="Calibri" pitchFamily="34" charset="-122"/>
                <a:cs typeface="Calibri" pitchFamily="34" charset="-120"/>
              </a:rPr>
              <a:t> | Power $450M × 12x = </a:t>
            </a:r>
            <a:r>
              <a:rPr lang="en-US" sz="950" b="1" dirty="0">
                <a:solidFill>
                  <a:srgbClr val="0B1F44"/>
                </a:solidFill>
                <a:latin typeface="Calibri" pitchFamily="34" charset="0"/>
                <a:ea typeface="Calibri" pitchFamily="34" charset="-122"/>
                <a:cs typeface="Calibri" pitchFamily="34" charset="-120"/>
              </a:rPr>
              <a:t>$52</a:t>
            </a:r>
            <a:r>
              <a:rPr lang="en-US" sz="950" dirty="0">
                <a:solidFill>
                  <a:srgbClr val="404040"/>
                </a:solidFill>
                <a:latin typeface="Calibri" pitchFamily="34" charset="0"/>
                <a:ea typeface="Calibri" pitchFamily="34" charset="-122"/>
                <a:cs typeface="Calibri" pitchFamily="34" charset="-120"/>
              </a:rPr>
              <a:t> | Leasing+SCI $455M × 9x = </a:t>
            </a:r>
            <a:r>
              <a:rPr lang="en-US" sz="950" b="1" dirty="0">
                <a:solidFill>
                  <a:srgbClr val="0B1F44"/>
                </a:solidFill>
                <a:latin typeface="Calibri" pitchFamily="34" charset="0"/>
                <a:ea typeface="Calibri" pitchFamily="34" charset="-122"/>
                <a:cs typeface="Calibri" pitchFamily="34" charset="-120"/>
              </a:rPr>
              <a:t>$39</a:t>
            </a:r>
            <a:r>
              <a:rPr lang="en-US" sz="950" dirty="0">
                <a:solidFill>
                  <a:srgbClr val="404040"/>
                </a:solidFill>
                <a:latin typeface="Calibri" pitchFamily="34" charset="0"/>
                <a:ea typeface="Calibri" pitchFamily="34" charset="-122"/>
                <a:cs typeface="Calibri" pitchFamily="34" charset="-120"/>
              </a:rPr>
              <a:t> | Corp. </a:t>
            </a:r>
            <a:r>
              <a:rPr lang="en-US" sz="950" b="1" dirty="0">
                <a:solidFill>
                  <a:srgbClr val="0B1F44"/>
                </a:solidFill>
                <a:latin typeface="Calibri" pitchFamily="34" charset="0"/>
                <a:ea typeface="Calibri" pitchFamily="34" charset="-122"/>
                <a:cs typeface="Calibri" pitchFamily="34" charset="-120"/>
              </a:rPr>
              <a:t>–$28</a:t>
            </a:r>
            <a:r>
              <a:rPr lang="en-US" sz="950" dirty="0">
                <a:solidFill>
                  <a:srgbClr val="404040"/>
                </a:solidFill>
                <a:latin typeface="Calibri" pitchFamily="34" charset="0"/>
                <a:ea typeface="Calibri" pitchFamily="34" charset="-122"/>
                <a:cs typeface="Calibri" pitchFamily="34" charset="-120"/>
              </a:rPr>
              <a:t> | Net debt &amp; pref. </a:t>
            </a:r>
            <a:r>
              <a:rPr lang="en-US" sz="950" b="1" dirty="0">
                <a:solidFill>
                  <a:srgbClr val="0B1F44"/>
                </a:solidFill>
                <a:latin typeface="Calibri" pitchFamily="34" charset="0"/>
                <a:ea typeface="Calibri" pitchFamily="34" charset="-122"/>
                <a:cs typeface="Calibri" pitchFamily="34" charset="-120"/>
              </a:rPr>
              <a:t>–$24</a:t>
            </a:r>
            <a:r>
              <a:rPr lang="en-US" sz="950" dirty="0">
                <a:solidFill>
                  <a:srgbClr val="404040"/>
                </a:solidFill>
                <a:latin typeface="Calibri" pitchFamily="34" charset="0"/>
                <a:ea typeface="Calibri" pitchFamily="34" charset="-122"/>
                <a:cs typeface="Calibri" pitchFamily="34" charset="-120"/>
              </a:rPr>
              <a:t> → </a:t>
            </a:r>
            <a:r>
              <a:rPr lang="en-US" sz="950" b="1" dirty="0">
                <a:solidFill>
                  <a:srgbClr val="0B1F44"/>
                </a:solidFill>
                <a:latin typeface="Calibri" pitchFamily="34" charset="0"/>
                <a:ea typeface="Calibri" pitchFamily="34" charset="-122"/>
                <a:cs typeface="Calibri" pitchFamily="34" charset="-120"/>
              </a:rPr>
              <a:t>$277</a:t>
            </a:r>
            <a:endParaRPr lang="en-US" sz="950" dirty="0"/>
          </a:p>
        </p:txBody>
      </p:sp>
      <p:sp>
        <p:nvSpPr>
          <p:cNvPr id="18" name="Shape 15"/>
          <p:cNvSpPr/>
          <p:nvPr/>
        </p:nvSpPr>
        <p:spPr>
          <a:xfrm>
            <a:off x="6903720" y="1536192"/>
            <a:ext cx="4873752" cy="292608"/>
          </a:xfrm>
          <a:prstGeom prst="rect">
            <a:avLst/>
          </a:prstGeom>
          <a:solidFill>
            <a:srgbClr val="DCE6F2"/>
          </a:solidFill>
          <a:ln w="9525">
            <a:solidFill>
              <a:srgbClr val="0B1F44"/>
            </a:solidFill>
            <a:prstDash val="solid"/>
          </a:ln>
        </p:spPr>
      </p:sp>
      <p:sp>
        <p:nvSpPr>
          <p:cNvPr id="19" name="Text 16"/>
          <p:cNvSpPr txBox="1"/>
          <p:nvPr/>
        </p:nvSpPr>
        <p:spPr>
          <a:xfrm>
            <a:off x="6903720" y="1536192"/>
            <a:ext cx="487375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DCF Cross-Check (Base)</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903720" y="1874520"/>
          <a:ext cx="4873752" cy="914400"/>
        </p:xfrm>
        <a:graphic>
          <a:graphicData uri="http://schemas.openxmlformats.org/drawingml/2006/table">
            <a:tbl>
              <a:tblPr/>
              <a:tblGrid>
                <a:gridCol w="1947672"/>
                <a:gridCol w="1463040"/>
                <a:gridCol w="1463040"/>
              </a:tblGrid>
              <a:tr h="274320">
                <a:tc>
                  <a:txBody>
                    <a:bodyPr/>
                    <a:lstStyle/>
                    <a:p>
                      <a:pPr algn="ctr" indent="0" marL="0">
                        <a:buNone/>
                      </a:pP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Perpetuity</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Exit multiple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WACC</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9.5%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9.5%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Terminal assumption</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 TGR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13.0x EBITDA</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PV of FY26–31 UFCF ($M)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7,288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7,288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PV of terminal value ($M)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25,106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30,778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Enterprise value ($M)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32,394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38,066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Implied share price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$280.77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$335.29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Implied cross-check</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10.6x exit</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4.2% TGR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21" name="Shape 17"/>
          <p:cNvSpPr/>
          <p:nvPr/>
        </p:nvSpPr>
        <p:spPr>
          <a:xfrm>
            <a:off x="6903720" y="4160520"/>
            <a:ext cx="4873752" cy="411480"/>
          </a:xfrm>
          <a:prstGeom prst="rect">
            <a:avLst>
              <a:gd name="adj" fmla="val 13333"/>
            </a:avLst>
          </a:prstGeom>
          <a:solidFill>
            <a:srgbClr val="0B1F44"/>
          </a:solidFill>
          <a:ln w="9525">
            <a:solidFill>
              <a:srgbClr val="0B1F44"/>
            </a:solidFill>
            <a:prstDash val="solid"/>
          </a:ln>
        </p:spPr>
      </p:sp>
      <p:sp>
        <p:nvSpPr>
          <p:cNvPr id="22" name="Text 18"/>
          <p:cNvSpPr txBox="1"/>
          <p:nvPr/>
        </p:nvSpPr>
        <p:spPr>
          <a:xfrm>
            <a:off x="6949440" y="4160520"/>
            <a:ext cx="4782312"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Blended DCF: $308 (+84%)</a:t>
            </a:r>
            <a:endParaRPr lang="en-US" sz="1200" dirty="0"/>
          </a:p>
        </p:txBody>
      </p:sp>
      <p:sp>
        <p:nvSpPr>
          <p:cNvPr id="23" name="Shape 19"/>
          <p:cNvSpPr/>
          <p:nvPr/>
        </p:nvSpPr>
        <p:spPr>
          <a:xfrm>
            <a:off x="6903720" y="4663440"/>
            <a:ext cx="4873752" cy="292608"/>
          </a:xfrm>
          <a:prstGeom prst="rect">
            <a:avLst/>
          </a:prstGeom>
          <a:solidFill>
            <a:srgbClr val="DCE6F2"/>
          </a:solidFill>
          <a:ln w="9525">
            <a:solidFill>
              <a:srgbClr val="0B1F44"/>
            </a:solidFill>
            <a:prstDash val="solid"/>
          </a:ln>
        </p:spPr>
      </p:sp>
      <p:sp>
        <p:nvSpPr>
          <p:cNvPr id="24" name="Text 20"/>
          <p:cNvSpPr txBox="1"/>
          <p:nvPr/>
        </p:nvSpPr>
        <p:spPr>
          <a:xfrm>
            <a:off x="6903720" y="4663440"/>
            <a:ext cx="4873752"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Implied Price: WACC vs Terminal Growth</a:t>
            </a:r>
            <a:endParaRPr lang="en-US" sz="120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903720" y="4983480"/>
          <a:ext cx="4873752" cy="914400"/>
        </p:xfrm>
        <a:graphic>
          <a:graphicData uri="http://schemas.openxmlformats.org/drawingml/2006/table">
            <a:tbl>
              <a:tblPr/>
              <a:tblGrid>
                <a:gridCol w="1581912"/>
                <a:gridCol w="1097280"/>
                <a:gridCol w="1097280"/>
                <a:gridCol w="1097280"/>
              </a:tblGrid>
              <a:tr h="265176">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WACC \ TGR</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9.0%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$286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$331</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9.5%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$263</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$280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10.0%</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$242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$257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$273</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26" name="Text 2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GPS model (FY27E SOTP; DCF tab); price $167.03 (2-Oct-26); 104.0mm diluted shares</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Catalyst Path</a:t>
            </a:r>
            <a:endParaRPr lang="en-US" sz="2600" dirty="0"/>
          </a:p>
        </p:txBody>
      </p:sp>
      <p:sp>
        <p:nvSpPr>
          <p:cNvPr id="3" name="Shape 1"/>
          <p:cNvSpPr/>
          <p:nvPr/>
        </p:nvSpPr>
        <p:spPr>
          <a:xfrm>
            <a:off x="502920" y="1097280"/>
            <a:ext cx="502920" cy="868680"/>
          </a:xfrm>
          <a:prstGeom prst="rect">
            <a:avLst/>
          </a:prstGeom>
          <a:solidFill>
            <a:srgbClr val="0B1F44"/>
          </a:solidFill>
          <a:ln w="12700">
            <a:solidFill>
              <a:srgbClr val="0B1F44"/>
            </a:solidFill>
            <a:prstDash val="solid"/>
          </a:ln>
        </p:spPr>
      </p:sp>
      <p:sp>
        <p:nvSpPr>
          <p:cNvPr id="4" name="Shape 2"/>
          <p:cNvSpPr/>
          <p:nvPr/>
        </p:nvSpPr>
        <p:spPr>
          <a:xfrm rot="10800000">
            <a:off x="502920" y="1965960"/>
            <a:ext cx="502920" cy="256032"/>
          </a:xfrm>
          <a:prstGeom prst="triangle">
            <a:avLst/>
          </a:prstGeom>
          <a:solidFill>
            <a:srgbClr val="0B1F44"/>
          </a:solidFill>
          <a:ln w="12700">
            <a:solidFill>
              <a:srgbClr val="0B1F44"/>
            </a:solidFill>
            <a:prstDash val="solid"/>
          </a:ln>
        </p:spPr>
      </p:sp>
      <p:sp>
        <p:nvSpPr>
          <p:cNvPr id="5" name="Shape 3"/>
          <p:cNvSpPr/>
          <p:nvPr/>
        </p:nvSpPr>
        <p:spPr>
          <a:xfrm>
            <a:off x="754380" y="2221992"/>
            <a:ext cx="0" cy="173736"/>
          </a:xfrm>
          <a:prstGeom prst="line">
            <a:avLst/>
          </a:prstGeom>
          <a:noFill/>
          <a:ln w="15875">
            <a:solidFill>
              <a:srgbClr val="0B1F44"/>
            </a:solidFill>
            <a:prstDash val="dash"/>
          </a:ln>
        </p:spPr>
      </p:sp>
      <p:sp>
        <p:nvSpPr>
          <p:cNvPr id="6" name="Shape 4"/>
          <p:cNvSpPr/>
          <p:nvPr/>
        </p:nvSpPr>
        <p:spPr>
          <a:xfrm>
            <a:off x="1234440" y="1097280"/>
            <a:ext cx="1737360" cy="914400"/>
          </a:xfrm>
          <a:prstGeom prst="rect">
            <a:avLst>
              <a:gd name="adj" fmla="val 6000"/>
            </a:avLst>
          </a:prstGeom>
          <a:solidFill>
            <a:srgbClr val="F2F2F2"/>
          </a:solidFill>
          <a:ln w="9525">
            <a:solidFill>
              <a:srgbClr val="0B1F44"/>
            </a:solidFill>
            <a:prstDash val="solid"/>
          </a:ln>
        </p:spPr>
      </p:sp>
      <p:sp>
        <p:nvSpPr>
          <p:cNvPr id="7" name="Text 5"/>
          <p:cNvSpPr txBox="1"/>
          <p:nvPr/>
        </p:nvSpPr>
        <p:spPr>
          <a:xfrm>
            <a:off x="1280160" y="1097280"/>
            <a:ext cx="1645920" cy="914400"/>
          </a:xfrm>
          <a:prstGeom prst="rect">
            <a:avLst/>
          </a:prstGeom>
          <a:noFill/>
          <a:ln/>
        </p:spPr>
        <p:txBody>
          <a:bodyPr wrap="square" lIns="38100" tIns="38100" rIns="38100" bIns="381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29-Oct-26</a:t>
            </a:r>
            <a:endParaRPr lang="en-US" sz="1500" dirty="0"/>
          </a:p>
        </p:txBody>
      </p:sp>
      <p:sp>
        <p:nvSpPr>
          <p:cNvPr id="8" name="Text 6"/>
          <p:cNvSpPr txBox="1"/>
          <p:nvPr/>
        </p:nvSpPr>
        <p:spPr>
          <a:xfrm>
            <a:off x="3154680" y="1078992"/>
            <a:ext cx="8595360" cy="347472"/>
          </a:xfrm>
          <a:prstGeom prst="rect">
            <a:avLst/>
          </a:prstGeom>
          <a:noFill/>
          <a:ln/>
        </p:spPr>
        <p:txBody>
          <a:bodyPr wrap="square" lIns="25400" tIns="25400" rIns="25400" bIns="25400" rtlCol="0" anchor="ctr"/>
          <a:lstStyle/>
          <a:p>
            <a:pPr algn="l" indent="0" marL="0">
              <a:buNone/>
            </a:pPr>
            <a:r>
              <a:rPr lang="en-US" sz="1500" b="1" dirty="0">
                <a:solidFill>
                  <a:srgbClr val="0B1F44"/>
                </a:solidFill>
                <a:latin typeface="Cambria" pitchFamily="34" charset="0"/>
                <a:ea typeface="Cambria" pitchFamily="34" charset="-122"/>
                <a:cs typeface="Cambria" pitchFamily="34" charset="-120"/>
              </a:rPr>
              <a:t>Q3'26 results: first print after the 30% reset</a:t>
            </a:r>
            <a:endParaRPr lang="en-US" sz="1500" dirty="0"/>
          </a:p>
        </p:txBody>
      </p:sp>
      <p:sp>
        <p:nvSpPr>
          <p:cNvPr id="9" name="Text 7"/>
          <p:cNvSpPr txBox="1"/>
          <p:nvPr/>
        </p:nvSpPr>
        <p:spPr>
          <a:xfrm>
            <a:off x="3154680" y="1444752"/>
            <a:ext cx="8595360" cy="777240"/>
          </a:xfrm>
          <a:prstGeom prst="rect">
            <a:avLst/>
          </a:prstGeom>
          <a:noFill/>
          <a:ln/>
        </p:spPr>
        <p:txBody>
          <a:bodyPr wrap="square" lIns="38100" tIns="38100" rIns="38100" bIns="38100" rtlCol="0" anchor="t"/>
          <a:lstStyle/>
          <a:p>
            <a:pPr marL="342900" indent="-342900">
              <a:spcAft>
                <a:spcPts val="300"/>
              </a:spcAft>
              <a:buSzPct val="100000"/>
              <a:buChar char="▪"/>
            </a:pPr>
            <a:r>
              <a:rPr lang="en-US" sz="1050" dirty="0">
                <a:solidFill>
                  <a:srgbClr val="404040"/>
                </a:solidFill>
                <a:latin typeface="Calibri" pitchFamily="34" charset="0"/>
                <a:ea typeface="Calibri" pitchFamily="34" charset="-122"/>
                <a:cs typeface="Calibri" pitchFamily="34" charset="-120"/>
              </a:rPr>
              <a:t>Aerospace margin </a:t>
            </a:r>
            <a:r>
              <a:rPr lang="en-US" sz="1050" b="1" dirty="0">
                <a:solidFill>
                  <a:srgbClr val="0B1F44"/>
                </a:solidFill>
                <a:latin typeface="Calibri" pitchFamily="34" charset="0"/>
                <a:ea typeface="Calibri" pitchFamily="34" charset="-122"/>
                <a:cs typeface="Calibri" pitchFamily="34" charset="-120"/>
              </a:rPr>
              <a:t>≥30%</a:t>
            </a:r>
            <a:r>
              <a:rPr lang="en-US" sz="1050" dirty="0">
                <a:solidFill>
                  <a:srgbClr val="404040"/>
                </a:solidFill>
                <a:latin typeface="Calibri" pitchFamily="34" charset="0"/>
                <a:ea typeface="Calibri" pitchFamily="34" charset="-122"/>
                <a:cs typeface="Calibri" pitchFamily="34" charset="-120"/>
              </a:rPr>
              <a:t> with modules on track for 1,200; first PMA usage and pricing commentary</a:t>
            </a:r>
            <a:endParaRPr lang="en-US" sz="1050" dirty="0"/>
          </a:p>
          <a:p>
            <a:pPr marL="342900" indent="-342900">
              <a:spcAft>
                <a:spcPts val="300"/>
              </a:spcAft>
              <a:buSzPct val="100000"/>
              <a:buChar char="▪"/>
            </a:pPr>
            <a:r>
              <a:rPr lang="en-US" sz="1050" dirty="0">
                <a:solidFill>
                  <a:srgbClr val="404040"/>
                </a:solidFill>
                <a:latin typeface="Calibri" pitchFamily="34" charset="0"/>
                <a:ea typeface="Calibri" pitchFamily="34" charset="-122"/>
                <a:cs typeface="Calibri" pitchFamily="34" charset="-120"/>
              </a:rPr>
              <a:t>Leasing-to-inventory transfers keep shrinking; SCI II fundraising update</a:t>
            </a:r>
            <a:endParaRPr lang="en-US" sz="1050" dirty="0"/>
          </a:p>
        </p:txBody>
      </p:sp>
      <p:sp>
        <p:nvSpPr>
          <p:cNvPr id="10" name="Shape 8"/>
          <p:cNvSpPr/>
          <p:nvPr/>
        </p:nvSpPr>
        <p:spPr>
          <a:xfrm>
            <a:off x="502920" y="2395728"/>
            <a:ext cx="502920" cy="868680"/>
          </a:xfrm>
          <a:prstGeom prst="rect">
            <a:avLst/>
          </a:prstGeom>
          <a:solidFill>
            <a:srgbClr val="5B7DB1"/>
          </a:solidFill>
          <a:ln w="12700">
            <a:solidFill>
              <a:srgbClr val="5B7DB1"/>
            </a:solidFill>
            <a:prstDash val="solid"/>
          </a:ln>
        </p:spPr>
      </p:sp>
      <p:sp>
        <p:nvSpPr>
          <p:cNvPr id="11" name="Shape 9"/>
          <p:cNvSpPr/>
          <p:nvPr/>
        </p:nvSpPr>
        <p:spPr>
          <a:xfrm rot="10800000">
            <a:off x="502920" y="3264408"/>
            <a:ext cx="502920" cy="256032"/>
          </a:xfrm>
          <a:prstGeom prst="triangle">
            <a:avLst/>
          </a:prstGeom>
          <a:solidFill>
            <a:srgbClr val="5B7DB1"/>
          </a:solidFill>
          <a:ln w="12700">
            <a:solidFill>
              <a:srgbClr val="5B7DB1"/>
            </a:solidFill>
            <a:prstDash val="solid"/>
          </a:ln>
        </p:spPr>
      </p:sp>
      <p:sp>
        <p:nvSpPr>
          <p:cNvPr id="12" name="Shape 10"/>
          <p:cNvSpPr/>
          <p:nvPr/>
        </p:nvSpPr>
        <p:spPr>
          <a:xfrm>
            <a:off x="754380" y="3520440"/>
            <a:ext cx="0" cy="173736"/>
          </a:xfrm>
          <a:prstGeom prst="line">
            <a:avLst/>
          </a:prstGeom>
          <a:noFill/>
          <a:ln w="15875">
            <a:solidFill>
              <a:srgbClr val="0B1F44"/>
            </a:solidFill>
            <a:prstDash val="dash"/>
          </a:ln>
        </p:spPr>
      </p:sp>
      <p:sp>
        <p:nvSpPr>
          <p:cNvPr id="13" name="Shape 11"/>
          <p:cNvSpPr/>
          <p:nvPr/>
        </p:nvSpPr>
        <p:spPr>
          <a:xfrm>
            <a:off x="1234440" y="2395728"/>
            <a:ext cx="1737360" cy="914400"/>
          </a:xfrm>
          <a:prstGeom prst="rect">
            <a:avLst>
              <a:gd name="adj" fmla="val 6000"/>
            </a:avLst>
          </a:prstGeom>
          <a:solidFill>
            <a:srgbClr val="F2F2F2"/>
          </a:solidFill>
          <a:ln w="9525">
            <a:solidFill>
              <a:srgbClr val="0B1F44"/>
            </a:solidFill>
            <a:prstDash val="solid"/>
          </a:ln>
        </p:spPr>
      </p:sp>
      <p:sp>
        <p:nvSpPr>
          <p:cNvPr id="14" name="Text 12"/>
          <p:cNvSpPr txBox="1"/>
          <p:nvPr/>
        </p:nvSpPr>
        <p:spPr>
          <a:xfrm>
            <a:off x="1280160" y="2395728"/>
            <a:ext cx="1645920" cy="914400"/>
          </a:xfrm>
          <a:prstGeom prst="rect">
            <a:avLst/>
          </a:prstGeom>
          <a:noFill/>
          <a:ln/>
        </p:spPr>
        <p:txBody>
          <a:bodyPr wrap="square" lIns="38100" tIns="38100" rIns="38100" bIns="381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10-Dec-26</a:t>
            </a:r>
            <a:endParaRPr lang="en-US" sz="1500" dirty="0"/>
          </a:p>
        </p:txBody>
      </p:sp>
      <p:sp>
        <p:nvSpPr>
          <p:cNvPr id="15" name="Text 13"/>
          <p:cNvSpPr txBox="1"/>
          <p:nvPr/>
        </p:nvSpPr>
        <p:spPr>
          <a:xfrm>
            <a:off x="3154680" y="2377440"/>
            <a:ext cx="8595360" cy="347472"/>
          </a:xfrm>
          <a:prstGeom prst="rect">
            <a:avLst/>
          </a:prstGeom>
          <a:noFill/>
          <a:ln/>
        </p:spPr>
        <p:txBody>
          <a:bodyPr wrap="square" lIns="25400" tIns="25400" rIns="25400" bIns="25400" rtlCol="0" anchor="ctr"/>
          <a:lstStyle/>
          <a:p>
            <a:pPr algn="l" indent="0" marL="0">
              <a:buNone/>
            </a:pPr>
            <a:r>
              <a:rPr lang="en-US" sz="1500" b="1" dirty="0">
                <a:solidFill>
                  <a:srgbClr val="0B1F44"/>
                </a:solidFill>
                <a:latin typeface="Cambria" pitchFamily="34" charset="0"/>
                <a:ea typeface="Cambria" pitchFamily="34" charset="-122"/>
                <a:cs typeface="Cambria" pitchFamily="34" charset="-120"/>
              </a:rPr>
              <a:t>Investor day (New York)</a:t>
            </a:r>
            <a:endParaRPr lang="en-US" sz="1500" dirty="0"/>
          </a:p>
        </p:txBody>
      </p:sp>
      <p:sp>
        <p:nvSpPr>
          <p:cNvPr id="16" name="Text 14"/>
          <p:cNvSpPr txBox="1"/>
          <p:nvPr/>
        </p:nvSpPr>
        <p:spPr>
          <a:xfrm>
            <a:off x="3154680" y="2743200"/>
            <a:ext cx="8595360" cy="777240"/>
          </a:xfrm>
          <a:prstGeom prst="rect">
            <a:avLst/>
          </a:prstGeom>
          <a:noFill/>
          <a:ln/>
        </p:spPr>
        <p:txBody>
          <a:bodyPr wrap="square" lIns="38100" tIns="38100" rIns="38100" bIns="38100" rtlCol="0" anchor="t"/>
          <a:lstStyle/>
          <a:p>
            <a:pPr marL="342900" indent="-342900">
              <a:spcAft>
                <a:spcPts val="300"/>
              </a:spcAft>
              <a:buSzPct val="100000"/>
              <a:buChar char="▪"/>
            </a:pPr>
            <a:r>
              <a:rPr lang="en-US" sz="1050" dirty="0">
                <a:solidFill>
                  <a:srgbClr val="404040"/>
                </a:solidFill>
                <a:latin typeface="Calibri" pitchFamily="34" charset="0"/>
                <a:ea typeface="Calibri" pitchFamily="34" charset="-122"/>
                <a:cs typeface="Calibri" pitchFamily="34" charset="-120"/>
              </a:rPr>
              <a:t>2027 framework: </a:t>
            </a:r>
            <a:r>
              <a:rPr lang="en-US" sz="1050" b="1" dirty="0">
                <a:solidFill>
                  <a:srgbClr val="0B1F44"/>
                </a:solidFill>
                <a:latin typeface="Calibri" pitchFamily="34" charset="0"/>
                <a:ea typeface="Calibri" pitchFamily="34" charset="-122"/>
                <a:cs typeface="Calibri" pitchFamily="34" charset="-120"/>
              </a:rPr>
              <a:t>1,700 modules</a:t>
            </a:r>
            <a:r>
              <a:rPr lang="en-US" sz="1050" dirty="0">
                <a:solidFill>
                  <a:srgbClr val="404040"/>
                </a:solidFill>
                <a:latin typeface="Calibri" pitchFamily="34" charset="0"/>
                <a:ea typeface="Calibri" pitchFamily="34" charset="-122"/>
                <a:cs typeface="Calibri" pitchFamily="34" charset="-120"/>
              </a:rPr>
              <a:t>, Jakarta/Cairo ramp, United CFM56 MRE scope</a:t>
            </a:r>
            <a:endParaRPr lang="en-US" sz="1050" dirty="0"/>
          </a:p>
          <a:p>
            <a:pPr marL="342900" indent="-342900">
              <a:spcAft>
                <a:spcPts val="300"/>
              </a:spcAft>
              <a:buSzPct val="100000"/>
              <a:buChar char="▪"/>
            </a:pPr>
            <a:r>
              <a:rPr lang="en-US" sz="1050" dirty="0">
                <a:solidFill>
                  <a:srgbClr val="404040"/>
                </a:solidFill>
                <a:latin typeface="Calibri" pitchFamily="34" charset="0"/>
                <a:ea typeface="Calibri" pitchFamily="34" charset="-122"/>
                <a:cs typeface="Calibri" pitchFamily="34" charset="-120"/>
              </a:rPr>
              <a:t>Power: delivery schedule for the $1.465bn order and </a:t>
            </a:r>
            <a:r>
              <a:rPr lang="en-US" sz="1050" b="1" dirty="0">
                <a:solidFill>
                  <a:srgbClr val="0B1F44"/>
                </a:solidFill>
                <a:latin typeface="Calibri" pitchFamily="34" charset="0"/>
                <a:ea typeface="Calibri" pitchFamily="34" charset="-122"/>
                <a:cs typeface="Calibri" pitchFamily="34" charset="-120"/>
              </a:rPr>
              <a:t>backlog beyond it</a:t>
            </a:r>
            <a:endParaRPr lang="en-US" sz="1050" dirty="0"/>
          </a:p>
        </p:txBody>
      </p:sp>
      <p:sp>
        <p:nvSpPr>
          <p:cNvPr id="17" name="Shape 15"/>
          <p:cNvSpPr/>
          <p:nvPr/>
        </p:nvSpPr>
        <p:spPr>
          <a:xfrm>
            <a:off x="502920" y="3694176"/>
            <a:ext cx="502920" cy="868680"/>
          </a:xfrm>
          <a:prstGeom prst="rect">
            <a:avLst/>
          </a:prstGeom>
          <a:solidFill>
            <a:srgbClr val="2E8FAE"/>
          </a:solidFill>
          <a:ln w="12700">
            <a:solidFill>
              <a:srgbClr val="2E8FAE"/>
            </a:solidFill>
            <a:prstDash val="solid"/>
          </a:ln>
        </p:spPr>
      </p:sp>
      <p:sp>
        <p:nvSpPr>
          <p:cNvPr id="18" name="Shape 16"/>
          <p:cNvSpPr/>
          <p:nvPr/>
        </p:nvSpPr>
        <p:spPr>
          <a:xfrm rot="10800000">
            <a:off x="502920" y="4562856"/>
            <a:ext cx="502920" cy="256032"/>
          </a:xfrm>
          <a:prstGeom prst="triangle">
            <a:avLst/>
          </a:prstGeom>
          <a:solidFill>
            <a:srgbClr val="2E8FAE"/>
          </a:solidFill>
          <a:ln w="12700">
            <a:solidFill>
              <a:srgbClr val="2E8FAE"/>
            </a:solidFill>
            <a:prstDash val="solid"/>
          </a:ln>
        </p:spPr>
      </p:sp>
      <p:sp>
        <p:nvSpPr>
          <p:cNvPr id="19" name="Shape 17"/>
          <p:cNvSpPr/>
          <p:nvPr/>
        </p:nvSpPr>
        <p:spPr>
          <a:xfrm>
            <a:off x="754380" y="4818888"/>
            <a:ext cx="0" cy="173736"/>
          </a:xfrm>
          <a:prstGeom prst="line">
            <a:avLst/>
          </a:prstGeom>
          <a:noFill/>
          <a:ln w="15875">
            <a:solidFill>
              <a:srgbClr val="0B1F44"/>
            </a:solidFill>
            <a:prstDash val="dash"/>
          </a:ln>
        </p:spPr>
      </p:sp>
      <p:sp>
        <p:nvSpPr>
          <p:cNvPr id="20" name="Shape 18"/>
          <p:cNvSpPr/>
          <p:nvPr/>
        </p:nvSpPr>
        <p:spPr>
          <a:xfrm>
            <a:off x="1234440" y="3694176"/>
            <a:ext cx="1737360" cy="914400"/>
          </a:xfrm>
          <a:prstGeom prst="rect">
            <a:avLst>
              <a:gd name="adj" fmla="val 6000"/>
            </a:avLst>
          </a:prstGeom>
          <a:solidFill>
            <a:srgbClr val="F2F2F2"/>
          </a:solidFill>
          <a:ln w="9525">
            <a:solidFill>
              <a:srgbClr val="0B1F44"/>
            </a:solidFill>
            <a:prstDash val="solid"/>
          </a:ln>
        </p:spPr>
      </p:sp>
      <p:sp>
        <p:nvSpPr>
          <p:cNvPr id="21" name="Text 19"/>
          <p:cNvSpPr txBox="1"/>
          <p:nvPr/>
        </p:nvSpPr>
        <p:spPr>
          <a:xfrm>
            <a:off x="1280160" y="3694176"/>
            <a:ext cx="1645920" cy="914400"/>
          </a:xfrm>
          <a:prstGeom prst="rect">
            <a:avLst/>
          </a:prstGeom>
          <a:noFill/>
          <a:ln/>
        </p:spPr>
        <p:txBody>
          <a:bodyPr wrap="square" lIns="38100" tIns="38100" rIns="38100" bIns="381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Feb-27</a:t>
            </a:r>
            <a:endParaRPr lang="en-US" sz="1500" dirty="0"/>
          </a:p>
        </p:txBody>
      </p:sp>
      <p:sp>
        <p:nvSpPr>
          <p:cNvPr id="22" name="Text 20"/>
          <p:cNvSpPr txBox="1"/>
          <p:nvPr/>
        </p:nvSpPr>
        <p:spPr>
          <a:xfrm>
            <a:off x="3154680" y="3675888"/>
            <a:ext cx="8595360" cy="347472"/>
          </a:xfrm>
          <a:prstGeom prst="rect">
            <a:avLst/>
          </a:prstGeom>
          <a:noFill/>
          <a:ln/>
        </p:spPr>
        <p:txBody>
          <a:bodyPr wrap="square" lIns="25400" tIns="25400" rIns="25400" bIns="25400" rtlCol="0" anchor="ctr"/>
          <a:lstStyle/>
          <a:p>
            <a:pPr algn="l" indent="0" marL="0">
              <a:buNone/>
            </a:pPr>
            <a:r>
              <a:rPr lang="en-US" sz="1500" b="1" dirty="0">
                <a:solidFill>
                  <a:srgbClr val="0B1F44"/>
                </a:solidFill>
                <a:latin typeface="Cambria" pitchFamily="34" charset="0"/>
                <a:ea typeface="Cambria" pitchFamily="34" charset="-122"/>
                <a:cs typeface="Cambria" pitchFamily="34" charset="-120"/>
              </a:rPr>
              <a:t>Q4'26 print and FY27 guide</a:t>
            </a:r>
            <a:endParaRPr lang="en-US" sz="1500" dirty="0"/>
          </a:p>
        </p:txBody>
      </p:sp>
      <p:sp>
        <p:nvSpPr>
          <p:cNvPr id="23" name="Text 21"/>
          <p:cNvSpPr txBox="1"/>
          <p:nvPr/>
        </p:nvSpPr>
        <p:spPr>
          <a:xfrm>
            <a:off x="3154680" y="4041648"/>
            <a:ext cx="8595360" cy="777240"/>
          </a:xfrm>
          <a:prstGeom prst="rect">
            <a:avLst/>
          </a:prstGeom>
          <a:noFill/>
          <a:ln/>
        </p:spPr>
        <p:txBody>
          <a:bodyPr wrap="square" lIns="38100" tIns="38100" rIns="38100" bIns="38100" rtlCol="0" anchor="t"/>
          <a:lstStyle/>
          <a:p>
            <a:pPr marL="342900" indent="-342900">
              <a:spcAft>
                <a:spcPts val="300"/>
              </a:spcAft>
              <a:buSzPct val="100000"/>
              <a:buChar char="▪"/>
            </a:pPr>
            <a:r>
              <a:rPr lang="en-US" sz="1050" b="1" dirty="0">
                <a:solidFill>
                  <a:srgbClr val="0B1F44"/>
                </a:solidFill>
                <a:latin typeface="Calibri" pitchFamily="34" charset="0"/>
                <a:ea typeface="Calibri" pitchFamily="34" charset="-122"/>
                <a:cs typeface="Calibri" pitchFamily="34" charset="-120"/>
              </a:rPr>
              <a:t>Second ~30% print</a:t>
            </a:r>
            <a:r>
              <a:rPr lang="en-US" sz="1050" dirty="0">
                <a:solidFill>
                  <a:srgbClr val="404040"/>
                </a:solidFill>
                <a:latin typeface="Calibri" pitchFamily="34" charset="0"/>
                <a:ea typeface="Calibri" pitchFamily="34" charset="-122"/>
                <a:cs typeface="Calibri" pitchFamily="34" charset="-120"/>
              </a:rPr>
              <a:t>: the market stops reading 30% as a waypoint</a:t>
            </a:r>
            <a:endParaRPr lang="en-US" sz="1050" dirty="0"/>
          </a:p>
          <a:p>
            <a:pPr marL="342900" indent="-342900">
              <a:spcAft>
                <a:spcPts val="300"/>
              </a:spcAft>
              <a:buSzPct val="100000"/>
              <a:buChar char="▪"/>
            </a:pPr>
            <a:r>
              <a:rPr lang="en-US" sz="1050" dirty="0">
                <a:solidFill>
                  <a:srgbClr val="404040"/>
                </a:solidFill>
                <a:latin typeface="Calibri" pitchFamily="34" charset="0"/>
                <a:ea typeface="Calibri" pitchFamily="34" charset="-122"/>
                <a:cs typeface="Calibri" pitchFamily="34" charset="-120"/>
              </a:rPr>
              <a:t>FY27 guide vs. $2.3bn segment EBITDA framework; buyback pace ($500M authorised)</a:t>
            </a:r>
            <a:endParaRPr lang="en-US" sz="1050" dirty="0"/>
          </a:p>
        </p:txBody>
      </p:sp>
      <p:sp>
        <p:nvSpPr>
          <p:cNvPr id="24" name="Shape 22"/>
          <p:cNvSpPr/>
          <p:nvPr/>
        </p:nvSpPr>
        <p:spPr>
          <a:xfrm>
            <a:off x="502920" y="4992624"/>
            <a:ext cx="502920" cy="868680"/>
          </a:xfrm>
          <a:prstGeom prst="rect">
            <a:avLst/>
          </a:prstGeom>
          <a:solidFill>
            <a:srgbClr val="E8702A"/>
          </a:solidFill>
          <a:ln w="12700">
            <a:solidFill>
              <a:srgbClr val="E8702A"/>
            </a:solidFill>
            <a:prstDash val="solid"/>
          </a:ln>
        </p:spPr>
      </p:sp>
      <p:sp>
        <p:nvSpPr>
          <p:cNvPr id="25" name="Shape 23"/>
          <p:cNvSpPr/>
          <p:nvPr/>
        </p:nvSpPr>
        <p:spPr>
          <a:xfrm rot="10800000">
            <a:off x="502920" y="5861304"/>
            <a:ext cx="502920" cy="256032"/>
          </a:xfrm>
          <a:prstGeom prst="triangle">
            <a:avLst/>
          </a:prstGeom>
          <a:solidFill>
            <a:srgbClr val="E8702A"/>
          </a:solidFill>
          <a:ln w="12700">
            <a:solidFill>
              <a:srgbClr val="E8702A"/>
            </a:solidFill>
            <a:prstDash val="solid"/>
          </a:ln>
        </p:spPr>
      </p:sp>
      <p:sp>
        <p:nvSpPr>
          <p:cNvPr id="26" name="Shape 24"/>
          <p:cNvSpPr/>
          <p:nvPr/>
        </p:nvSpPr>
        <p:spPr>
          <a:xfrm>
            <a:off x="1234440" y="4992624"/>
            <a:ext cx="1737360" cy="914400"/>
          </a:xfrm>
          <a:prstGeom prst="rect">
            <a:avLst>
              <a:gd name="adj" fmla="val 6000"/>
            </a:avLst>
          </a:prstGeom>
          <a:solidFill>
            <a:srgbClr val="F2F2F2"/>
          </a:solidFill>
          <a:ln w="9525">
            <a:solidFill>
              <a:srgbClr val="0B1F44"/>
            </a:solidFill>
            <a:prstDash val="solid"/>
          </a:ln>
        </p:spPr>
      </p:sp>
      <p:sp>
        <p:nvSpPr>
          <p:cNvPr id="27" name="Text 25"/>
          <p:cNvSpPr txBox="1"/>
          <p:nvPr/>
        </p:nvSpPr>
        <p:spPr>
          <a:xfrm>
            <a:off x="1280160" y="4992624"/>
            <a:ext cx="1645920" cy="914400"/>
          </a:xfrm>
          <a:prstGeom prst="rect">
            <a:avLst/>
          </a:prstGeom>
          <a:noFill/>
          <a:ln/>
        </p:spPr>
        <p:txBody>
          <a:bodyPr wrap="square" lIns="38100" tIns="38100" rIns="38100" bIns="38100" rtlCol="0" anchor="ctr"/>
          <a:lstStyle/>
          <a:p>
            <a:pPr algn="ctr" indent="0" marL="0">
              <a:buNone/>
            </a:pPr>
            <a:r>
              <a:rPr lang="en-US" sz="1500" b="1" dirty="0">
                <a:solidFill>
                  <a:srgbClr val="0B1F44"/>
                </a:solidFill>
                <a:latin typeface="Cambria" pitchFamily="34" charset="0"/>
                <a:ea typeface="Cambria" pitchFamily="34" charset="-122"/>
                <a:cs typeface="Cambria" pitchFamily="34" charset="-120"/>
              </a:rPr>
              <a:t>2027</a:t>
            </a:r>
            <a:endParaRPr lang="en-US" sz="1500" dirty="0"/>
          </a:p>
        </p:txBody>
      </p:sp>
      <p:sp>
        <p:nvSpPr>
          <p:cNvPr id="28" name="Text 26"/>
          <p:cNvSpPr txBox="1"/>
          <p:nvPr/>
        </p:nvSpPr>
        <p:spPr>
          <a:xfrm>
            <a:off x="3154680" y="4974336"/>
            <a:ext cx="8595360" cy="347472"/>
          </a:xfrm>
          <a:prstGeom prst="rect">
            <a:avLst/>
          </a:prstGeom>
          <a:noFill/>
          <a:ln/>
        </p:spPr>
        <p:txBody>
          <a:bodyPr wrap="square" lIns="25400" tIns="25400" rIns="25400" bIns="25400" rtlCol="0" anchor="ctr"/>
          <a:lstStyle/>
          <a:p>
            <a:pPr algn="l" indent="0" marL="0">
              <a:buNone/>
            </a:pPr>
            <a:r>
              <a:rPr lang="en-US" sz="1500" b="1" dirty="0">
                <a:solidFill>
                  <a:srgbClr val="0B1F44"/>
                </a:solidFill>
                <a:latin typeface="Cambria" pitchFamily="34" charset="0"/>
                <a:ea typeface="Cambria" pitchFamily="34" charset="-122"/>
                <a:cs typeface="Cambria" pitchFamily="34" charset="-120"/>
              </a:rPr>
              <a:t>Power deliveries and new contracts</a:t>
            </a:r>
            <a:endParaRPr lang="en-US" sz="1500" dirty="0"/>
          </a:p>
        </p:txBody>
      </p:sp>
      <p:sp>
        <p:nvSpPr>
          <p:cNvPr id="29" name="Text 27"/>
          <p:cNvSpPr txBox="1"/>
          <p:nvPr/>
        </p:nvSpPr>
        <p:spPr>
          <a:xfrm>
            <a:off x="3154680" y="5340096"/>
            <a:ext cx="8595360" cy="777240"/>
          </a:xfrm>
          <a:prstGeom prst="rect">
            <a:avLst/>
          </a:prstGeom>
          <a:noFill/>
          <a:ln/>
        </p:spPr>
        <p:txBody>
          <a:bodyPr wrap="square" lIns="38100" tIns="38100" rIns="38100" bIns="38100" rtlCol="0" anchor="t"/>
          <a:lstStyle/>
          <a:p>
            <a:pPr marL="342900" indent="-342900">
              <a:spcAft>
                <a:spcPts val="300"/>
              </a:spcAft>
              <a:buSzPct val="100000"/>
              <a:buChar char="▪"/>
            </a:pPr>
            <a:r>
              <a:rPr lang="en-US" sz="1050" dirty="0">
                <a:solidFill>
                  <a:srgbClr val="404040"/>
                </a:solidFill>
                <a:latin typeface="Calibri" pitchFamily="34" charset="0"/>
                <a:ea typeface="Calibri" pitchFamily="34" charset="-122"/>
                <a:cs typeface="Calibri" pitchFamily="34" charset="-120"/>
              </a:rPr>
              <a:t>Batch deliveries through </a:t>
            </a:r>
            <a:r>
              <a:rPr lang="en-US" sz="1050" b="1" dirty="0">
                <a:solidFill>
                  <a:srgbClr val="0B1F44"/>
                </a:solidFill>
                <a:latin typeface="Calibri" pitchFamily="34" charset="0"/>
                <a:ea typeface="Calibri" pitchFamily="34" charset="-122"/>
                <a:cs typeface="Calibri" pitchFamily="34" charset="-120"/>
              </a:rPr>
              <a:t>Nov-27</a:t>
            </a:r>
            <a:r>
              <a:rPr lang="en-US" sz="1050" dirty="0">
                <a:solidFill>
                  <a:srgbClr val="404040"/>
                </a:solidFill>
                <a:latin typeface="Calibri" pitchFamily="34" charset="0"/>
                <a:ea typeface="Calibri" pitchFamily="34" charset="-122"/>
                <a:cs typeface="Calibri" pitchFamily="34" charset="-120"/>
              </a:rPr>
              <a:t>; first revenue recognition</a:t>
            </a:r>
            <a:endParaRPr lang="en-US" sz="1050" dirty="0"/>
          </a:p>
          <a:p>
            <a:pPr marL="342900" indent="-342900">
              <a:spcAft>
                <a:spcPts val="300"/>
              </a:spcAft>
              <a:buSzPct val="100000"/>
              <a:buChar char="▪"/>
            </a:pPr>
            <a:r>
              <a:rPr lang="en-US" sz="1050" dirty="0">
                <a:solidFill>
                  <a:srgbClr val="404040"/>
                </a:solidFill>
                <a:latin typeface="Calibri" pitchFamily="34" charset="0"/>
                <a:ea typeface="Calibri" pitchFamily="34" charset="-122"/>
                <a:cs typeface="Calibri" pitchFamily="34" charset="-120"/>
              </a:rPr>
              <a:t>Any second hyperscaler order (+$35/share per ~1 GW contract) from the sites on our screen</a:t>
            </a:r>
            <a:endParaRPr lang="en-US" sz="1050" dirty="0"/>
          </a:p>
        </p:txBody>
      </p:sp>
      <p:sp>
        <p:nvSpPr>
          <p:cNvPr id="30" name="Text 28"/>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(Q3'26 timing release; Q2'26 supplement; buyback 15-Sep-26); GPS analysis</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Risks &amp; Mitigants</a:t>
            </a:r>
            <a:endParaRPr lang="en-US" sz="2600" dirty="0"/>
          </a:p>
        </p:txBody>
      </p:sp>
      <p:sp>
        <p:nvSpPr>
          <p:cNvPr id="3" name="Shape 1"/>
          <p:cNvSpPr/>
          <p:nvPr/>
        </p:nvSpPr>
        <p:spPr>
          <a:xfrm>
            <a:off x="411480" y="1051560"/>
            <a:ext cx="4206240" cy="365760"/>
          </a:xfrm>
          <a:prstGeom prst="rect">
            <a:avLst/>
          </a:prstGeom>
          <a:solidFill>
            <a:srgbClr val="0B1F44"/>
          </a:solidFill>
          <a:ln/>
        </p:spPr>
      </p:sp>
      <p:sp>
        <p:nvSpPr>
          <p:cNvPr id="4" name="Text 2"/>
          <p:cNvSpPr txBox="1"/>
          <p:nvPr/>
        </p:nvSpPr>
        <p:spPr>
          <a:xfrm>
            <a:off x="411480" y="1051560"/>
            <a:ext cx="4206240" cy="3657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Risk</a:t>
            </a:r>
            <a:endParaRPr lang="en-US" sz="1400" dirty="0"/>
          </a:p>
        </p:txBody>
      </p:sp>
      <p:sp>
        <p:nvSpPr>
          <p:cNvPr id="5" name="Shape 3"/>
          <p:cNvSpPr/>
          <p:nvPr/>
        </p:nvSpPr>
        <p:spPr>
          <a:xfrm>
            <a:off x="5120640" y="1051560"/>
            <a:ext cx="6656832" cy="365760"/>
          </a:xfrm>
          <a:prstGeom prst="rect">
            <a:avLst/>
          </a:prstGeom>
          <a:solidFill>
            <a:srgbClr val="0B1F44"/>
          </a:solidFill>
          <a:ln/>
        </p:spPr>
      </p:sp>
      <p:sp>
        <p:nvSpPr>
          <p:cNvPr id="6" name="Text 4"/>
          <p:cNvSpPr txBox="1"/>
          <p:nvPr/>
        </p:nvSpPr>
        <p:spPr>
          <a:xfrm>
            <a:off x="5120640" y="1051560"/>
            <a:ext cx="6656832" cy="3657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Mitigants</a:t>
            </a:r>
            <a:endParaRPr lang="en-US" sz="1400" dirty="0"/>
          </a:p>
        </p:txBody>
      </p:sp>
      <p:sp>
        <p:nvSpPr>
          <p:cNvPr id="7" name="Shape 5"/>
          <p:cNvSpPr/>
          <p:nvPr/>
        </p:nvSpPr>
        <p:spPr>
          <a:xfrm>
            <a:off x="411480" y="1554480"/>
            <a:ext cx="548640" cy="841248"/>
          </a:xfrm>
          <a:prstGeom prst="rect">
            <a:avLst>
              <a:gd name="adj" fmla="val 10000"/>
            </a:avLst>
          </a:prstGeom>
          <a:solidFill>
            <a:srgbClr val="0B1F44"/>
          </a:solidFill>
          <a:ln w="9525">
            <a:solidFill>
              <a:srgbClr val="0B1F44"/>
            </a:solidFill>
            <a:prstDash val="solid"/>
          </a:ln>
        </p:spPr>
      </p:sp>
      <p:sp>
        <p:nvSpPr>
          <p:cNvPr id="8" name="Text 6"/>
          <p:cNvSpPr txBox="1"/>
          <p:nvPr/>
        </p:nvSpPr>
        <p:spPr>
          <a:xfrm>
            <a:off x="457200" y="1554480"/>
            <a:ext cx="457200" cy="841248"/>
          </a:xfrm>
          <a:prstGeom prst="rect">
            <a:avLst/>
          </a:prstGeom>
          <a:noFill/>
          <a:ln/>
        </p:spPr>
        <p:txBody>
          <a:bodyPr wrap="square" lIns="38100" tIns="38100" rIns="38100" bIns="38100" rtlCol="0" anchor="ctr"/>
          <a:lstStyle/>
          <a:p>
            <a:pPr algn="ctr" indent="0" marL="0">
              <a:buNone/>
            </a:pPr>
            <a:r>
              <a:rPr lang="en-US" sz="1500" dirty="0">
                <a:solidFill>
                  <a:srgbClr val="FFFFFF"/>
                </a:solidFill>
                <a:latin typeface="Cambria" pitchFamily="34" charset="0"/>
                <a:ea typeface="Cambria" pitchFamily="34" charset="-122"/>
                <a:cs typeface="Cambria" pitchFamily="34" charset="-120"/>
              </a:rPr>
              <a:t>I</a:t>
            </a:r>
            <a:endParaRPr lang="en-US" sz="1500" dirty="0"/>
          </a:p>
        </p:txBody>
      </p:sp>
      <p:sp>
        <p:nvSpPr>
          <p:cNvPr id="9" name="Shape 7"/>
          <p:cNvSpPr/>
          <p:nvPr/>
        </p:nvSpPr>
        <p:spPr>
          <a:xfrm>
            <a:off x="960120" y="1554480"/>
            <a:ext cx="3657600" cy="841248"/>
          </a:xfrm>
          <a:prstGeom prst="rect">
            <a:avLst>
              <a:gd name="adj" fmla="val 6522"/>
            </a:avLst>
          </a:prstGeom>
          <a:solidFill>
            <a:srgbClr val="DCE6F2"/>
          </a:solidFill>
          <a:ln w="9525">
            <a:solidFill>
              <a:srgbClr val="DCE6F2"/>
            </a:solidFill>
            <a:prstDash val="solid"/>
          </a:ln>
        </p:spPr>
      </p:sp>
      <p:sp>
        <p:nvSpPr>
          <p:cNvPr id="10" name="Text 8"/>
          <p:cNvSpPr txBox="1"/>
          <p:nvPr/>
        </p:nvSpPr>
        <p:spPr>
          <a:xfrm>
            <a:off x="1005840" y="1554480"/>
            <a:ext cx="3566160" cy="841248"/>
          </a:xfrm>
          <a:prstGeom prst="rect">
            <a:avLst/>
          </a:prstGeom>
          <a:noFill/>
          <a:ln/>
        </p:spPr>
        <p:txBody>
          <a:bodyPr wrap="square" lIns="38100" tIns="38100" rIns="38100" bIns="381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Margins keep falling: 30% is a waypoint, not a floor</a:t>
            </a:r>
            <a:endParaRPr lang="en-US" sz="1100" dirty="0"/>
          </a:p>
        </p:txBody>
      </p:sp>
      <p:sp>
        <p:nvSpPr>
          <p:cNvPr id="11" name="Shape 9"/>
          <p:cNvSpPr/>
          <p:nvPr/>
        </p:nvSpPr>
        <p:spPr>
          <a:xfrm>
            <a:off x="4681728" y="1792224"/>
            <a:ext cx="365760" cy="365760"/>
          </a:xfrm>
          <a:prstGeom prst="rightArrow">
            <a:avLst/>
          </a:prstGeom>
          <a:solidFill>
            <a:srgbClr val="DCE6F2"/>
          </a:solidFill>
          <a:ln w="9525">
            <a:solidFill>
              <a:srgbClr val="0B1F44"/>
            </a:solidFill>
            <a:prstDash val="solid"/>
          </a:ln>
        </p:spPr>
      </p:sp>
      <p:sp>
        <p:nvSpPr>
          <p:cNvPr id="12" name="Shape 10"/>
          <p:cNvSpPr/>
          <p:nvPr/>
        </p:nvSpPr>
        <p:spPr>
          <a:xfrm>
            <a:off x="5120640" y="1554480"/>
            <a:ext cx="6656832" cy="841248"/>
          </a:xfrm>
          <a:prstGeom prst="roundRect">
            <a:avLst>
              <a:gd name="adj" fmla="val 6522"/>
            </a:avLst>
          </a:prstGeom>
          <a:solidFill>
            <a:srgbClr val="FFFFFF"/>
          </a:solidFill>
          <a:ln w="12700">
            <a:solidFill>
              <a:srgbClr val="0B1F44"/>
            </a:solidFill>
            <a:prstDash val="solid"/>
          </a:ln>
        </p:spPr>
      </p:sp>
      <p:sp>
        <p:nvSpPr>
          <p:cNvPr id="13" name="Text 11"/>
          <p:cNvSpPr txBox="1"/>
          <p:nvPr/>
        </p:nvSpPr>
        <p:spPr>
          <a:xfrm>
            <a:off x="5212080" y="1600200"/>
            <a:ext cx="6492240" cy="777240"/>
          </a:xfrm>
          <a:prstGeom prst="rect">
            <a:avLst/>
          </a:prstGeom>
          <a:noFill/>
          <a:ln/>
        </p:spPr>
        <p:txBody>
          <a:bodyPr wrap="square" lIns="38100" tIns="38100" rIns="38100" bIns="38100" rtlCol="0" anchor="ctr"/>
          <a:lstStyle/>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&lt;8% of inventory came from leasing; worst-case residual drag ≤150 bps, inside our 28.5% bear case</a:t>
            </a:r>
            <a:endParaRPr lang="en-US" sz="950" dirty="0"/>
          </a:p>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Bear case already holds 28.5% with zero PMA and still prints </a:t>
            </a:r>
            <a:r>
              <a:rPr lang="en-US" sz="950" b="1" dirty="0">
                <a:solidFill>
                  <a:srgbClr val="0B1F44"/>
                </a:solidFill>
                <a:latin typeface="Calibri" pitchFamily="34" charset="0"/>
                <a:ea typeface="Calibri" pitchFamily="34" charset="-122"/>
                <a:cs typeface="Calibri" pitchFamily="34" charset="-120"/>
              </a:rPr>
              <a:t>$173</a:t>
            </a:r>
            <a:endParaRPr lang="en-US" sz="950" dirty="0"/>
          </a:p>
        </p:txBody>
      </p:sp>
      <p:sp>
        <p:nvSpPr>
          <p:cNvPr id="14" name="Shape 12"/>
          <p:cNvSpPr/>
          <p:nvPr/>
        </p:nvSpPr>
        <p:spPr>
          <a:xfrm>
            <a:off x="411480" y="2505456"/>
            <a:ext cx="548640" cy="841248"/>
          </a:xfrm>
          <a:prstGeom prst="rect">
            <a:avLst>
              <a:gd name="adj" fmla="val 10000"/>
            </a:avLst>
          </a:prstGeom>
          <a:solidFill>
            <a:srgbClr val="0B1F44"/>
          </a:solidFill>
          <a:ln w="9525">
            <a:solidFill>
              <a:srgbClr val="0B1F44"/>
            </a:solidFill>
            <a:prstDash val="solid"/>
          </a:ln>
        </p:spPr>
      </p:sp>
      <p:sp>
        <p:nvSpPr>
          <p:cNvPr id="15" name="Text 13"/>
          <p:cNvSpPr txBox="1"/>
          <p:nvPr/>
        </p:nvSpPr>
        <p:spPr>
          <a:xfrm>
            <a:off x="457200" y="2505456"/>
            <a:ext cx="457200" cy="841248"/>
          </a:xfrm>
          <a:prstGeom prst="rect">
            <a:avLst/>
          </a:prstGeom>
          <a:noFill/>
          <a:ln/>
        </p:spPr>
        <p:txBody>
          <a:bodyPr wrap="square" lIns="38100" tIns="38100" rIns="38100" bIns="38100" rtlCol="0" anchor="ctr"/>
          <a:lstStyle/>
          <a:p>
            <a:pPr algn="ctr" indent="0" marL="0">
              <a:buNone/>
            </a:pPr>
            <a:r>
              <a:rPr lang="en-US" sz="1500" dirty="0">
                <a:solidFill>
                  <a:srgbClr val="FFFFFF"/>
                </a:solidFill>
                <a:latin typeface="Cambria" pitchFamily="34" charset="0"/>
                <a:ea typeface="Cambria" pitchFamily="34" charset="-122"/>
                <a:cs typeface="Cambria" pitchFamily="34" charset="-120"/>
              </a:rPr>
              <a:t>II</a:t>
            </a:r>
            <a:endParaRPr lang="en-US" sz="1500" dirty="0"/>
          </a:p>
        </p:txBody>
      </p:sp>
      <p:sp>
        <p:nvSpPr>
          <p:cNvPr id="16" name="Shape 14"/>
          <p:cNvSpPr/>
          <p:nvPr/>
        </p:nvSpPr>
        <p:spPr>
          <a:xfrm>
            <a:off x="960120" y="2505456"/>
            <a:ext cx="3657600" cy="841248"/>
          </a:xfrm>
          <a:prstGeom prst="rect">
            <a:avLst>
              <a:gd name="adj" fmla="val 6522"/>
            </a:avLst>
          </a:prstGeom>
          <a:solidFill>
            <a:srgbClr val="DCE6F2"/>
          </a:solidFill>
          <a:ln w="9525">
            <a:solidFill>
              <a:srgbClr val="DCE6F2"/>
            </a:solidFill>
            <a:prstDash val="solid"/>
          </a:ln>
        </p:spPr>
      </p:sp>
      <p:sp>
        <p:nvSpPr>
          <p:cNvPr id="17" name="Text 15"/>
          <p:cNvSpPr txBox="1"/>
          <p:nvPr/>
        </p:nvSpPr>
        <p:spPr>
          <a:xfrm>
            <a:off x="1005840" y="2505456"/>
            <a:ext cx="3566160" cy="841248"/>
          </a:xfrm>
          <a:prstGeom prst="rect">
            <a:avLst/>
          </a:prstGeom>
          <a:noFill/>
          <a:ln/>
        </p:spPr>
        <p:txBody>
          <a:bodyPr wrap="square" lIns="38100" tIns="38100" rIns="38100" bIns="381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Short-report overhang: governance discount never closes</a:t>
            </a:r>
            <a:endParaRPr lang="en-US" sz="1100" dirty="0"/>
          </a:p>
        </p:txBody>
      </p:sp>
      <p:sp>
        <p:nvSpPr>
          <p:cNvPr id="18" name="Shape 16"/>
          <p:cNvSpPr/>
          <p:nvPr/>
        </p:nvSpPr>
        <p:spPr>
          <a:xfrm>
            <a:off x="4681728" y="2743200"/>
            <a:ext cx="365760" cy="365760"/>
          </a:xfrm>
          <a:prstGeom prst="rightArrow">
            <a:avLst/>
          </a:prstGeom>
          <a:solidFill>
            <a:srgbClr val="DCE6F2"/>
          </a:solidFill>
          <a:ln w="9525">
            <a:solidFill>
              <a:srgbClr val="0B1F44"/>
            </a:solidFill>
            <a:prstDash val="solid"/>
          </a:ln>
        </p:spPr>
      </p:sp>
      <p:sp>
        <p:nvSpPr>
          <p:cNvPr id="19" name="Shape 17"/>
          <p:cNvSpPr/>
          <p:nvPr/>
        </p:nvSpPr>
        <p:spPr>
          <a:xfrm>
            <a:off x="5120640" y="2505456"/>
            <a:ext cx="6656832" cy="841248"/>
          </a:xfrm>
          <a:prstGeom prst="roundRect">
            <a:avLst>
              <a:gd name="adj" fmla="val 6522"/>
            </a:avLst>
          </a:prstGeom>
          <a:solidFill>
            <a:srgbClr val="FFFFFF"/>
          </a:solidFill>
          <a:ln w="12700">
            <a:solidFill>
              <a:srgbClr val="0B1F44"/>
            </a:solidFill>
            <a:prstDash val="solid"/>
          </a:ln>
        </p:spPr>
      </p:sp>
      <p:sp>
        <p:nvSpPr>
          <p:cNvPr id="20" name="Text 18"/>
          <p:cNvSpPr txBox="1"/>
          <p:nvPr/>
        </p:nvSpPr>
        <p:spPr>
          <a:xfrm>
            <a:off x="5212080" y="2551176"/>
            <a:ext cx="6492240" cy="777240"/>
          </a:xfrm>
          <a:prstGeom prst="rect">
            <a:avLst/>
          </a:prstGeom>
          <a:noFill/>
          <a:ln/>
        </p:spPr>
        <p:txBody>
          <a:bodyPr wrap="square" lIns="38100" tIns="38100" rIns="38100" bIns="38100" rtlCol="0" anchor="ctr"/>
          <a:lstStyle/>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Audit-committee review found claims without merit; no restatement; transfers now flow </a:t>
            </a:r>
            <a:r>
              <a:rPr lang="en-US" sz="950" b="1" dirty="0">
                <a:solidFill>
                  <a:srgbClr val="0B1F44"/>
                </a:solidFill>
                <a:latin typeface="Calibri" pitchFamily="34" charset="0"/>
                <a:ea typeface="Calibri" pitchFamily="34" charset="-122"/>
                <a:cs typeface="Calibri" pitchFamily="34" charset="-120"/>
              </a:rPr>
              <a:t>inventory → leasing</a:t>
            </a:r>
            <a:endParaRPr lang="en-US" sz="950" dirty="0"/>
          </a:p>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$500M buyback authorised Sep-26; each clean print shrinks the discount</a:t>
            </a:r>
            <a:endParaRPr lang="en-US" sz="950" dirty="0"/>
          </a:p>
        </p:txBody>
      </p:sp>
      <p:sp>
        <p:nvSpPr>
          <p:cNvPr id="21" name="Shape 19"/>
          <p:cNvSpPr/>
          <p:nvPr/>
        </p:nvSpPr>
        <p:spPr>
          <a:xfrm>
            <a:off x="411480" y="3456432"/>
            <a:ext cx="548640" cy="841248"/>
          </a:xfrm>
          <a:prstGeom prst="rect">
            <a:avLst>
              <a:gd name="adj" fmla="val 10000"/>
            </a:avLst>
          </a:prstGeom>
          <a:solidFill>
            <a:srgbClr val="0B1F44"/>
          </a:solidFill>
          <a:ln w="9525">
            <a:solidFill>
              <a:srgbClr val="0B1F44"/>
            </a:solidFill>
            <a:prstDash val="solid"/>
          </a:ln>
        </p:spPr>
      </p:sp>
      <p:sp>
        <p:nvSpPr>
          <p:cNvPr id="22" name="Text 20"/>
          <p:cNvSpPr txBox="1"/>
          <p:nvPr/>
        </p:nvSpPr>
        <p:spPr>
          <a:xfrm>
            <a:off x="457200" y="3456432"/>
            <a:ext cx="457200" cy="841248"/>
          </a:xfrm>
          <a:prstGeom prst="rect">
            <a:avLst/>
          </a:prstGeom>
          <a:noFill/>
          <a:ln/>
        </p:spPr>
        <p:txBody>
          <a:bodyPr wrap="square" lIns="38100" tIns="38100" rIns="38100" bIns="38100" rtlCol="0" anchor="ctr"/>
          <a:lstStyle/>
          <a:p>
            <a:pPr algn="ctr" indent="0" marL="0">
              <a:buNone/>
            </a:pPr>
            <a:r>
              <a:rPr lang="en-US" sz="1500" dirty="0">
                <a:solidFill>
                  <a:srgbClr val="FFFFFF"/>
                </a:solidFill>
                <a:latin typeface="Cambria" pitchFamily="34" charset="0"/>
                <a:ea typeface="Cambria" pitchFamily="34" charset="-122"/>
                <a:cs typeface="Cambria" pitchFamily="34" charset="-120"/>
              </a:rPr>
              <a:t>III</a:t>
            </a:r>
            <a:endParaRPr lang="en-US" sz="1500" dirty="0"/>
          </a:p>
        </p:txBody>
      </p:sp>
      <p:sp>
        <p:nvSpPr>
          <p:cNvPr id="23" name="Shape 21"/>
          <p:cNvSpPr/>
          <p:nvPr/>
        </p:nvSpPr>
        <p:spPr>
          <a:xfrm>
            <a:off x="960120" y="3456432"/>
            <a:ext cx="3657600" cy="841248"/>
          </a:xfrm>
          <a:prstGeom prst="rect">
            <a:avLst>
              <a:gd name="adj" fmla="val 6522"/>
            </a:avLst>
          </a:prstGeom>
          <a:solidFill>
            <a:srgbClr val="DCE6F2"/>
          </a:solidFill>
          <a:ln w="9525">
            <a:solidFill>
              <a:srgbClr val="DCE6F2"/>
            </a:solidFill>
            <a:prstDash val="solid"/>
          </a:ln>
        </p:spPr>
      </p:sp>
      <p:sp>
        <p:nvSpPr>
          <p:cNvPr id="24" name="Text 22"/>
          <p:cNvSpPr txBox="1"/>
          <p:nvPr/>
        </p:nvSpPr>
        <p:spPr>
          <a:xfrm>
            <a:off x="1005840" y="3456432"/>
            <a:ext cx="3566160" cy="841248"/>
          </a:xfrm>
          <a:prstGeom prst="rect">
            <a:avLst/>
          </a:prstGeom>
          <a:noFill/>
          <a:ln/>
        </p:spPr>
        <p:txBody>
          <a:bodyPr wrap="square" lIns="38100" tIns="38100" rIns="38100" bIns="381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CFM56 retirements accelerate (fuel shock, LEAP fixes)</a:t>
            </a:r>
            <a:endParaRPr lang="en-US" sz="1100" dirty="0"/>
          </a:p>
        </p:txBody>
      </p:sp>
      <p:sp>
        <p:nvSpPr>
          <p:cNvPr id="25" name="Shape 23"/>
          <p:cNvSpPr/>
          <p:nvPr/>
        </p:nvSpPr>
        <p:spPr>
          <a:xfrm>
            <a:off x="4681728" y="3694176"/>
            <a:ext cx="365760" cy="365760"/>
          </a:xfrm>
          <a:prstGeom prst="rightArrow">
            <a:avLst/>
          </a:prstGeom>
          <a:solidFill>
            <a:srgbClr val="DCE6F2"/>
          </a:solidFill>
          <a:ln w="9525">
            <a:solidFill>
              <a:srgbClr val="0B1F44"/>
            </a:solidFill>
            <a:prstDash val="solid"/>
          </a:ln>
        </p:spPr>
      </p:sp>
      <p:sp>
        <p:nvSpPr>
          <p:cNvPr id="26" name="Shape 24"/>
          <p:cNvSpPr/>
          <p:nvPr/>
        </p:nvSpPr>
        <p:spPr>
          <a:xfrm>
            <a:off x="5120640" y="3456432"/>
            <a:ext cx="6656832" cy="841248"/>
          </a:xfrm>
          <a:prstGeom prst="roundRect">
            <a:avLst>
              <a:gd name="adj" fmla="val 6522"/>
            </a:avLst>
          </a:prstGeom>
          <a:solidFill>
            <a:srgbClr val="FFFFFF"/>
          </a:solidFill>
          <a:ln w="12700">
            <a:solidFill>
              <a:srgbClr val="0B1F44"/>
            </a:solidFill>
            <a:prstDash val="solid"/>
          </a:ln>
        </p:spPr>
      </p:sp>
      <p:sp>
        <p:nvSpPr>
          <p:cNvPr id="27" name="Text 25"/>
          <p:cNvSpPr txBox="1"/>
          <p:nvPr/>
        </p:nvSpPr>
        <p:spPr>
          <a:xfrm>
            <a:off x="5212080" y="3502152"/>
            <a:ext cx="6492240" cy="777240"/>
          </a:xfrm>
          <a:prstGeom prst="rect">
            <a:avLst/>
          </a:prstGeom>
          <a:noFill/>
          <a:ln/>
        </p:spPr>
        <p:txBody>
          <a:bodyPr wrap="square" lIns="38100" tIns="38100" rIns="38100" bIns="38100" rtlCol="0" anchor="ctr"/>
          <a:lstStyle/>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Actual retirements </a:t>
            </a:r>
            <a:r>
              <a:rPr lang="en-US" sz="950" b="1" dirty="0">
                <a:solidFill>
                  <a:srgbClr val="0B1F44"/>
                </a:solidFill>
                <a:latin typeface="Calibri" pitchFamily="34" charset="0"/>
                <a:ea typeface="Calibri" pitchFamily="34" charset="-122"/>
                <a:cs typeface="Calibri" pitchFamily="34" charset="-120"/>
              </a:rPr>
              <a:t>1.5–2%</a:t>
            </a:r>
            <a:r>
              <a:rPr lang="en-US" sz="950" dirty="0">
                <a:solidFill>
                  <a:srgbClr val="404040"/>
                </a:solidFill>
                <a:latin typeface="Calibri" pitchFamily="34" charset="0"/>
                <a:ea typeface="Calibri" pitchFamily="34" charset="-122"/>
                <a:cs typeface="Calibri" pitchFamily="34" charset="-120"/>
              </a:rPr>
              <a:t> vs GE's 2–3% assumption; IBA values stable, lease rates up</a:t>
            </a:r>
            <a:endParaRPr lang="en-US" sz="950" dirty="0"/>
          </a:p>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LEAP durability cutover only in 2027; FTAI buys retiring fleets as feedstock (WestJet)</a:t>
            </a:r>
            <a:endParaRPr lang="en-US" sz="950" dirty="0"/>
          </a:p>
        </p:txBody>
      </p:sp>
      <p:sp>
        <p:nvSpPr>
          <p:cNvPr id="28" name="Shape 26"/>
          <p:cNvSpPr/>
          <p:nvPr/>
        </p:nvSpPr>
        <p:spPr>
          <a:xfrm>
            <a:off x="411480" y="4407408"/>
            <a:ext cx="548640" cy="841248"/>
          </a:xfrm>
          <a:prstGeom prst="rect">
            <a:avLst>
              <a:gd name="adj" fmla="val 10000"/>
            </a:avLst>
          </a:prstGeom>
          <a:solidFill>
            <a:srgbClr val="0B1F44"/>
          </a:solidFill>
          <a:ln w="9525">
            <a:solidFill>
              <a:srgbClr val="0B1F44"/>
            </a:solidFill>
            <a:prstDash val="solid"/>
          </a:ln>
        </p:spPr>
      </p:sp>
      <p:sp>
        <p:nvSpPr>
          <p:cNvPr id="29" name="Text 27"/>
          <p:cNvSpPr txBox="1"/>
          <p:nvPr/>
        </p:nvSpPr>
        <p:spPr>
          <a:xfrm>
            <a:off x="457200" y="4407408"/>
            <a:ext cx="457200" cy="841248"/>
          </a:xfrm>
          <a:prstGeom prst="rect">
            <a:avLst/>
          </a:prstGeom>
          <a:noFill/>
          <a:ln/>
        </p:spPr>
        <p:txBody>
          <a:bodyPr wrap="square" lIns="38100" tIns="38100" rIns="38100" bIns="38100" rtlCol="0" anchor="ctr"/>
          <a:lstStyle/>
          <a:p>
            <a:pPr algn="ctr" indent="0" marL="0">
              <a:buNone/>
            </a:pPr>
            <a:r>
              <a:rPr lang="en-US" sz="1500" dirty="0">
                <a:solidFill>
                  <a:srgbClr val="FFFFFF"/>
                </a:solidFill>
                <a:latin typeface="Cambria" pitchFamily="34" charset="0"/>
                <a:ea typeface="Cambria" pitchFamily="34" charset="-122"/>
                <a:cs typeface="Cambria" pitchFamily="34" charset="-120"/>
              </a:rPr>
              <a:t>IV</a:t>
            </a:r>
            <a:endParaRPr lang="en-US" sz="1500" dirty="0"/>
          </a:p>
        </p:txBody>
      </p:sp>
      <p:sp>
        <p:nvSpPr>
          <p:cNvPr id="30" name="Shape 28"/>
          <p:cNvSpPr/>
          <p:nvPr/>
        </p:nvSpPr>
        <p:spPr>
          <a:xfrm>
            <a:off x="960120" y="4407408"/>
            <a:ext cx="3657600" cy="841248"/>
          </a:xfrm>
          <a:prstGeom prst="rect">
            <a:avLst>
              <a:gd name="adj" fmla="val 6522"/>
            </a:avLst>
          </a:prstGeom>
          <a:solidFill>
            <a:srgbClr val="DCE6F2"/>
          </a:solidFill>
          <a:ln w="9525">
            <a:solidFill>
              <a:srgbClr val="DCE6F2"/>
            </a:solidFill>
            <a:prstDash val="solid"/>
          </a:ln>
        </p:spPr>
      </p:sp>
      <p:sp>
        <p:nvSpPr>
          <p:cNvPr id="31" name="Text 29"/>
          <p:cNvSpPr txBox="1"/>
          <p:nvPr/>
        </p:nvSpPr>
        <p:spPr>
          <a:xfrm>
            <a:off x="1005840" y="4407408"/>
            <a:ext cx="3566160" cy="841248"/>
          </a:xfrm>
          <a:prstGeom prst="rect">
            <a:avLst/>
          </a:prstGeom>
          <a:noFill/>
          <a:ln/>
        </p:spPr>
        <p:txBody>
          <a:bodyPr wrap="square" lIns="38100" tIns="38100" rIns="38100" bIns="381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Power slips or the buyer walks (Boom/Crusoe precedent)</a:t>
            </a:r>
            <a:endParaRPr lang="en-US" sz="1100" dirty="0"/>
          </a:p>
        </p:txBody>
      </p:sp>
      <p:sp>
        <p:nvSpPr>
          <p:cNvPr id="32" name="Shape 30"/>
          <p:cNvSpPr/>
          <p:nvPr/>
        </p:nvSpPr>
        <p:spPr>
          <a:xfrm>
            <a:off x="4681728" y="4645152"/>
            <a:ext cx="365760" cy="365760"/>
          </a:xfrm>
          <a:prstGeom prst="rightArrow">
            <a:avLst/>
          </a:prstGeom>
          <a:solidFill>
            <a:srgbClr val="DCE6F2"/>
          </a:solidFill>
          <a:ln w="9525">
            <a:solidFill>
              <a:srgbClr val="0B1F44"/>
            </a:solidFill>
            <a:prstDash val="solid"/>
          </a:ln>
        </p:spPr>
      </p:sp>
      <p:sp>
        <p:nvSpPr>
          <p:cNvPr id="33" name="Shape 31"/>
          <p:cNvSpPr/>
          <p:nvPr/>
        </p:nvSpPr>
        <p:spPr>
          <a:xfrm>
            <a:off x="5120640" y="4407408"/>
            <a:ext cx="6656832" cy="841248"/>
          </a:xfrm>
          <a:prstGeom prst="roundRect">
            <a:avLst>
              <a:gd name="adj" fmla="val 6522"/>
            </a:avLst>
          </a:prstGeom>
          <a:solidFill>
            <a:srgbClr val="FFFFFF"/>
          </a:solidFill>
          <a:ln w="12700">
            <a:solidFill>
              <a:srgbClr val="0B1F44"/>
            </a:solidFill>
            <a:prstDash val="solid"/>
          </a:ln>
        </p:spPr>
      </p:sp>
      <p:sp>
        <p:nvSpPr>
          <p:cNvPr id="34" name="Text 32"/>
          <p:cNvSpPr txBox="1"/>
          <p:nvPr/>
        </p:nvSpPr>
        <p:spPr>
          <a:xfrm>
            <a:off x="5212080" y="4453128"/>
            <a:ext cx="6492240" cy="777240"/>
          </a:xfrm>
          <a:prstGeom prst="rect">
            <a:avLst/>
          </a:prstGeom>
          <a:noFill/>
          <a:ln/>
        </p:spPr>
        <p:txBody>
          <a:bodyPr wrap="square" lIns="38100" tIns="38100" rIns="38100" bIns="38100" rtlCol="0" anchor="ctr"/>
          <a:lstStyle/>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Signed PO with advance and milestone payments; delivery penalty capped at 10%</a:t>
            </a:r>
            <a:endParaRPr lang="en-US" sz="950" dirty="0"/>
          </a:p>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Base case uses 45 units vs 100+ capacity; bear case haircuts Power to $113M EBITDA</a:t>
            </a:r>
            <a:endParaRPr lang="en-US" sz="950" dirty="0"/>
          </a:p>
        </p:txBody>
      </p:sp>
      <p:sp>
        <p:nvSpPr>
          <p:cNvPr id="35" name="Shape 33"/>
          <p:cNvSpPr/>
          <p:nvPr/>
        </p:nvSpPr>
        <p:spPr>
          <a:xfrm>
            <a:off x="411480" y="5358384"/>
            <a:ext cx="548640" cy="841248"/>
          </a:xfrm>
          <a:prstGeom prst="rect">
            <a:avLst>
              <a:gd name="adj" fmla="val 10000"/>
            </a:avLst>
          </a:prstGeom>
          <a:solidFill>
            <a:srgbClr val="0B1F44"/>
          </a:solidFill>
          <a:ln w="9525">
            <a:solidFill>
              <a:srgbClr val="0B1F44"/>
            </a:solidFill>
            <a:prstDash val="solid"/>
          </a:ln>
        </p:spPr>
      </p:sp>
      <p:sp>
        <p:nvSpPr>
          <p:cNvPr id="36" name="Text 34"/>
          <p:cNvSpPr txBox="1"/>
          <p:nvPr/>
        </p:nvSpPr>
        <p:spPr>
          <a:xfrm>
            <a:off x="457200" y="5358384"/>
            <a:ext cx="457200" cy="841248"/>
          </a:xfrm>
          <a:prstGeom prst="rect">
            <a:avLst/>
          </a:prstGeom>
          <a:noFill/>
          <a:ln/>
        </p:spPr>
        <p:txBody>
          <a:bodyPr wrap="square" lIns="38100" tIns="38100" rIns="38100" bIns="38100" rtlCol="0" anchor="ctr"/>
          <a:lstStyle/>
          <a:p>
            <a:pPr algn="ctr" indent="0" marL="0">
              <a:buNone/>
            </a:pPr>
            <a:r>
              <a:rPr lang="en-US" sz="1500" dirty="0">
                <a:solidFill>
                  <a:srgbClr val="FFFFFF"/>
                </a:solidFill>
                <a:latin typeface="Cambria" pitchFamily="34" charset="0"/>
                <a:ea typeface="Cambria" pitchFamily="34" charset="-122"/>
                <a:cs typeface="Cambria" pitchFamily="34" charset="-120"/>
              </a:rPr>
              <a:t>V</a:t>
            </a:r>
            <a:endParaRPr lang="en-US" sz="1500" dirty="0"/>
          </a:p>
        </p:txBody>
      </p:sp>
      <p:sp>
        <p:nvSpPr>
          <p:cNvPr id="37" name="Shape 35"/>
          <p:cNvSpPr/>
          <p:nvPr/>
        </p:nvSpPr>
        <p:spPr>
          <a:xfrm>
            <a:off x="960120" y="5358384"/>
            <a:ext cx="3657600" cy="841248"/>
          </a:xfrm>
          <a:prstGeom prst="rect">
            <a:avLst>
              <a:gd name="adj" fmla="val 6522"/>
            </a:avLst>
          </a:prstGeom>
          <a:solidFill>
            <a:srgbClr val="DCE6F2"/>
          </a:solidFill>
          <a:ln w="9525">
            <a:solidFill>
              <a:srgbClr val="DCE6F2"/>
            </a:solidFill>
            <a:prstDash val="solid"/>
          </a:ln>
        </p:spPr>
      </p:sp>
      <p:sp>
        <p:nvSpPr>
          <p:cNvPr id="38" name="Text 36"/>
          <p:cNvSpPr txBox="1"/>
          <p:nvPr/>
        </p:nvSpPr>
        <p:spPr>
          <a:xfrm>
            <a:off x="1005840" y="5358384"/>
            <a:ext cx="3566160" cy="841248"/>
          </a:xfrm>
          <a:prstGeom prst="rect">
            <a:avLst/>
          </a:prstGeom>
          <a:noFill/>
          <a:ln/>
        </p:spPr>
        <p:txBody>
          <a:bodyPr wrap="square" lIns="38100" tIns="38100" rIns="38100" bIns="38100" rtlCol="0" anchor="ctr"/>
          <a:lstStyle/>
          <a:p>
            <a:pPr algn="ctr" indent="0" marL="0">
              <a:buNone/>
            </a:pPr>
            <a:r>
              <a:rPr lang="en-US" sz="1100" b="1" dirty="0">
                <a:solidFill>
                  <a:srgbClr val="0B1F44"/>
                </a:solidFill>
                <a:latin typeface="Calibri" pitchFamily="34" charset="0"/>
                <a:ea typeface="Calibri" pitchFamily="34" charset="-122"/>
                <a:cs typeface="Calibri" pitchFamily="34" charset="-120"/>
              </a:rPr>
              <a:t>Jereh JV: China supply-chain, tariff and FEOC exposure</a:t>
            </a:r>
            <a:endParaRPr lang="en-US" sz="1100" dirty="0"/>
          </a:p>
        </p:txBody>
      </p:sp>
      <p:sp>
        <p:nvSpPr>
          <p:cNvPr id="39" name="Shape 37"/>
          <p:cNvSpPr/>
          <p:nvPr/>
        </p:nvSpPr>
        <p:spPr>
          <a:xfrm>
            <a:off x="4681728" y="5596128"/>
            <a:ext cx="365760" cy="365760"/>
          </a:xfrm>
          <a:prstGeom prst="rightArrow">
            <a:avLst/>
          </a:prstGeom>
          <a:solidFill>
            <a:srgbClr val="DCE6F2"/>
          </a:solidFill>
          <a:ln w="9525">
            <a:solidFill>
              <a:srgbClr val="0B1F44"/>
            </a:solidFill>
            <a:prstDash val="solid"/>
          </a:ln>
        </p:spPr>
      </p:sp>
      <p:sp>
        <p:nvSpPr>
          <p:cNvPr id="40" name="Shape 38"/>
          <p:cNvSpPr/>
          <p:nvPr/>
        </p:nvSpPr>
        <p:spPr>
          <a:xfrm>
            <a:off x="5120640" y="5358384"/>
            <a:ext cx="6656832" cy="841248"/>
          </a:xfrm>
          <a:prstGeom prst="roundRect">
            <a:avLst>
              <a:gd name="adj" fmla="val 6522"/>
            </a:avLst>
          </a:prstGeom>
          <a:solidFill>
            <a:srgbClr val="FFFFFF"/>
          </a:solidFill>
          <a:ln w="12700">
            <a:solidFill>
              <a:srgbClr val="0B1F44"/>
            </a:solidFill>
            <a:prstDash val="solid"/>
          </a:ln>
        </p:spPr>
      </p:sp>
      <p:sp>
        <p:nvSpPr>
          <p:cNvPr id="41" name="Text 39"/>
          <p:cNvSpPr txBox="1"/>
          <p:nvPr/>
        </p:nvSpPr>
        <p:spPr>
          <a:xfrm>
            <a:off x="5212080" y="5404104"/>
            <a:ext cx="6492240" cy="777240"/>
          </a:xfrm>
          <a:prstGeom prst="rect">
            <a:avLst/>
          </a:prstGeom>
          <a:noFill/>
          <a:ln/>
        </p:spPr>
        <p:txBody>
          <a:bodyPr wrap="square" lIns="38100" tIns="38100" rIns="38100" bIns="38100" rtlCol="0" anchor="ctr"/>
          <a:lstStyle/>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Jereh packages from US, Canadian and UAE plants as well as China; FTAI supplies the turbine</a:t>
            </a:r>
            <a:endParaRPr lang="en-US" sz="950" dirty="0"/>
          </a:p>
          <a:p>
            <a:pPr marL="342900" indent="-342900">
              <a:spcAft>
                <a:spcPts val="300"/>
              </a:spcAft>
              <a:buSzPct val="100000"/>
              <a:buChar char="▪"/>
            </a:pPr>
            <a:r>
              <a:rPr lang="en-US" sz="950" dirty="0">
                <a:solidFill>
                  <a:srgbClr val="404040"/>
                </a:solidFill>
                <a:latin typeface="Calibri" pitchFamily="34" charset="0"/>
                <a:ea typeface="Calibri" pitchFamily="34" charset="-122"/>
                <a:cs typeface="Calibri" pitchFamily="34" charset="-120"/>
              </a:rPr>
              <a:t>Key diligence item; Power is &lt;20% of our FY27E SOTP ex-net debt</a:t>
            </a:r>
            <a:endParaRPr lang="en-US" sz="950" dirty="0"/>
          </a:p>
        </p:txBody>
      </p:sp>
      <p:sp>
        <p:nvSpPr>
          <p:cNvPr id="42" name="Text 40"/>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FTAI filings and calls; GE Aerospace; IBA; J&amp;F order release (22-Jul-26); TechCrunch / CryptoBriefing (Boom–Crusoe); GPS model</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20040"/>
            <a:ext cx="5486400" cy="411480"/>
          </a:xfrm>
          <a:prstGeom prst="rect">
            <a:avLst/>
          </a:prstGeom>
          <a:noFill/>
          <a:ln/>
        </p:spPr>
        <p:txBody>
          <a:bodyPr wrap="square" lIns="0" tIns="0" rIns="0" bIns="0" rtlCol="0" anchor="ctr"/>
          <a:lstStyle/>
          <a:p>
            <a:pPr indent="0" marL="0">
              <a:buNone/>
            </a:pPr>
            <a:r>
              <a:rPr lang="en-US" sz="2200" b="1" dirty="0">
                <a:solidFill>
                  <a:srgbClr val="0B1F44"/>
                </a:solidFill>
                <a:latin typeface="Cambria" pitchFamily="34" charset="0"/>
                <a:ea typeface="Cambria" pitchFamily="34" charset="-122"/>
                <a:cs typeface="Cambria" pitchFamily="34" charset="-120"/>
              </a:rPr>
              <a:t>FTAI Aviation</a:t>
            </a:r>
            <a:endParaRPr lang="en-US" sz="2200" dirty="0"/>
          </a:p>
        </p:txBody>
      </p:sp>
      <p:sp>
        <p:nvSpPr>
          <p:cNvPr id="3" name="Text 1"/>
          <p:cNvSpPr txBox="1"/>
          <p:nvPr/>
        </p:nvSpPr>
        <p:spPr>
          <a:xfrm>
            <a:off x="502920" y="731520"/>
            <a:ext cx="5486400" cy="320040"/>
          </a:xfrm>
          <a:prstGeom prst="rect">
            <a:avLst/>
          </a:prstGeom>
          <a:noFill/>
          <a:ln/>
        </p:spPr>
        <p:txBody>
          <a:bodyPr wrap="square" lIns="0" tIns="0" rIns="0" bIns="0" rtlCol="0" anchor="ctr"/>
          <a:lstStyle/>
          <a:p>
            <a:pPr indent="0" marL="0">
              <a:buNone/>
            </a:pPr>
            <a:r>
              <a:rPr lang="en-US" sz="1600" dirty="0">
                <a:solidFill>
                  <a:srgbClr val="0B1F44"/>
                </a:solidFill>
                <a:latin typeface="Cambria" pitchFamily="34" charset="0"/>
                <a:ea typeface="Cambria" pitchFamily="34" charset="-122"/>
                <a:cs typeface="Cambria" pitchFamily="34" charset="-120"/>
              </a:rPr>
              <a:t>(NASDAQ: FTAI)</a:t>
            </a:r>
            <a:endParaRPr lang="en-US" sz="1600" dirty="0"/>
          </a:p>
        </p:txBody>
      </p:sp>
      <p:sp>
        <p:nvSpPr>
          <p:cNvPr id="4" name="Text 2"/>
          <p:cNvSpPr txBox="1"/>
          <p:nvPr/>
        </p:nvSpPr>
        <p:spPr>
          <a:xfrm>
            <a:off x="914400" y="2926080"/>
            <a:ext cx="10360152" cy="914400"/>
          </a:xfrm>
          <a:prstGeom prst="rect">
            <a:avLst/>
          </a:prstGeom>
          <a:noFill/>
          <a:ln/>
        </p:spPr>
        <p:txBody>
          <a:bodyPr wrap="square" lIns="0" tIns="0" rIns="0" bIns="0" rtlCol="0" anchor="ctr"/>
          <a:lstStyle/>
          <a:p>
            <a:pPr algn="ctr" indent="0" marL="0">
              <a:buNone/>
            </a:pPr>
            <a:r>
              <a:rPr lang="en-US" sz="4000" b="1" dirty="0">
                <a:solidFill>
                  <a:srgbClr val="0B1F44"/>
                </a:solidFill>
                <a:latin typeface="Cambria" pitchFamily="34" charset="0"/>
                <a:ea typeface="Cambria" pitchFamily="34" charset="-122"/>
                <a:cs typeface="Cambria" pitchFamily="34" charset="-120"/>
              </a:rPr>
              <a:t>Q&amp;A</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20040"/>
            <a:ext cx="5486400" cy="411480"/>
          </a:xfrm>
          <a:prstGeom prst="rect">
            <a:avLst/>
          </a:prstGeom>
          <a:noFill/>
          <a:ln/>
        </p:spPr>
        <p:txBody>
          <a:bodyPr wrap="square" lIns="0" tIns="0" rIns="0" bIns="0" rtlCol="0" anchor="ctr"/>
          <a:lstStyle/>
          <a:p>
            <a:pPr indent="0" marL="0">
              <a:buNone/>
            </a:pPr>
            <a:r>
              <a:rPr lang="en-US" sz="2200" b="1" dirty="0">
                <a:solidFill>
                  <a:srgbClr val="0B1F44"/>
                </a:solidFill>
                <a:latin typeface="Cambria" pitchFamily="34" charset="0"/>
                <a:ea typeface="Cambria" pitchFamily="34" charset="-122"/>
                <a:cs typeface="Cambria" pitchFamily="34" charset="-120"/>
              </a:rPr>
              <a:t>FTAI Aviation</a:t>
            </a:r>
            <a:endParaRPr lang="en-US" sz="2200" dirty="0"/>
          </a:p>
        </p:txBody>
      </p:sp>
      <p:sp>
        <p:nvSpPr>
          <p:cNvPr id="3" name="Text 1"/>
          <p:cNvSpPr txBox="1"/>
          <p:nvPr/>
        </p:nvSpPr>
        <p:spPr>
          <a:xfrm>
            <a:off x="502920" y="731520"/>
            <a:ext cx="5486400" cy="320040"/>
          </a:xfrm>
          <a:prstGeom prst="rect">
            <a:avLst/>
          </a:prstGeom>
          <a:noFill/>
          <a:ln/>
        </p:spPr>
        <p:txBody>
          <a:bodyPr wrap="square" lIns="0" tIns="0" rIns="0" bIns="0" rtlCol="0" anchor="ctr"/>
          <a:lstStyle/>
          <a:p>
            <a:pPr indent="0" marL="0">
              <a:buNone/>
            </a:pPr>
            <a:r>
              <a:rPr lang="en-US" sz="1600" dirty="0">
                <a:solidFill>
                  <a:srgbClr val="0B1F44"/>
                </a:solidFill>
                <a:latin typeface="Cambria" pitchFamily="34" charset="0"/>
                <a:ea typeface="Cambria" pitchFamily="34" charset="-122"/>
                <a:cs typeface="Cambria" pitchFamily="34" charset="-120"/>
              </a:rPr>
              <a:t>(NASDAQ: FTAI)</a:t>
            </a:r>
            <a:endParaRPr lang="en-US" sz="1600" dirty="0"/>
          </a:p>
        </p:txBody>
      </p:sp>
      <p:sp>
        <p:nvSpPr>
          <p:cNvPr id="4" name="Text 2"/>
          <p:cNvSpPr txBox="1"/>
          <p:nvPr/>
        </p:nvSpPr>
        <p:spPr>
          <a:xfrm>
            <a:off x="914400" y="2926080"/>
            <a:ext cx="10360152" cy="914400"/>
          </a:xfrm>
          <a:prstGeom prst="rect">
            <a:avLst/>
          </a:prstGeom>
          <a:noFill/>
          <a:ln/>
        </p:spPr>
        <p:txBody>
          <a:bodyPr wrap="square" lIns="0" tIns="0" rIns="0" bIns="0" rtlCol="0" anchor="ctr"/>
          <a:lstStyle/>
          <a:p>
            <a:pPr algn="ctr" indent="0" marL="0">
              <a:buNone/>
            </a:pPr>
            <a:r>
              <a:rPr lang="en-US" sz="4000" b="1" dirty="0">
                <a:solidFill>
                  <a:srgbClr val="0B1F44"/>
                </a:solidFill>
                <a:latin typeface="Cambria" pitchFamily="34" charset="0"/>
                <a:ea typeface="Cambria" pitchFamily="34" charset="-122"/>
                <a:cs typeface="Cambria" pitchFamily="34" charset="-120"/>
              </a:rPr>
              <a:t>Appendix</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Appendix: Operating Model &amp; Cash Flow (Base)</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3410712"/>
                <a:gridCol w="1133856"/>
                <a:gridCol w="1133856"/>
                <a:gridCol w="1133856"/>
                <a:gridCol w="1133856"/>
                <a:gridCol w="1133856"/>
                <a:gridCol w="1133856"/>
                <a:gridCol w="1152144"/>
              </a:tblGrid>
              <a:tr h="18745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FY25A</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FY26E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FY27E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FY28E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FY29E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FY30E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FY31E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r>
              <a:tr h="187452">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Aerospace Products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1,936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3,474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5,150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6,258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6,794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7,147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7,473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FTAI Power</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1,125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2,750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3,250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Aviation Leasing + SCI</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571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285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275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265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255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b="1" dirty="0">
                          <a:solidFill>
                            <a:srgbClr val="404040"/>
                          </a:solidFill>
                          <a:latin typeface="Calibri" pitchFamily="34" charset="0"/>
                          <a:ea typeface="Calibri" pitchFamily="34" charset="-122"/>
                          <a:cs typeface="Calibri" pitchFamily="34" charset="-120"/>
                        </a:rPr>
                        <a:t>Total revenue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2,508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3,854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8,793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9,819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10,412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10,978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187452">
                <a:tc>
                  <a:txBody>
                    <a:bodyPr/>
                    <a:lstStyle/>
                    <a:p>
                      <a:pPr algn="l" indent="0" marL="0">
                        <a:buNone/>
                      </a:pPr>
                      <a:r>
                        <a:rPr lang="en-US" sz="850" i="1" dirty="0">
                          <a:solidFill>
                            <a:srgbClr val="404040"/>
                          </a:solidFill>
                          <a:latin typeface="Calibri" pitchFamily="34" charset="0"/>
                          <a:ea typeface="Calibri" pitchFamily="34" charset="-122"/>
                          <a:cs typeface="Calibri" pitchFamily="34" charset="-120"/>
                        </a:rPr>
                        <a:t>   y/y growth</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53.7%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70.6%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33.7%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11.7%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6.0%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Adj. EBITDA</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Aerospace Products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1,541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2,134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2,289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2,431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i="1" dirty="0">
                          <a:solidFill>
                            <a:srgbClr val="404040"/>
                          </a:solidFill>
                          <a:latin typeface="Calibri" pitchFamily="34" charset="0"/>
                          <a:ea typeface="Calibri" pitchFamily="34" charset="-122"/>
                          <a:cs typeface="Calibri" pitchFamily="34" charset="-120"/>
                        </a:rPr>
                        <a:t>   margin</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34.7%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30.1%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29.9%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30.7%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31.4%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FTAI Power</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1,100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Aviation Leasing + SCI</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475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455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440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410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Corporate &amp; eliminations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(207)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(245)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b="1" dirty="0">
                          <a:solidFill>
                            <a:srgbClr val="404040"/>
                          </a:solidFill>
                          <a:latin typeface="Calibri" pitchFamily="34" charset="0"/>
                          <a:ea typeface="Calibri" pitchFamily="34" charset="-122"/>
                          <a:cs typeface="Calibri" pitchFamily="34" charset="-120"/>
                        </a:rPr>
                        <a:t>Total adj. EBITDA</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1,198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1,310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2,239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3,045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3,439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3,674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3,896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187452">
                <a:tc>
                  <a:txBody>
                    <a:bodyPr/>
                    <a:lstStyle/>
                    <a:p>
                      <a:pPr algn="l" indent="0" marL="0">
                        <a:buNone/>
                      </a:pPr>
                      <a:r>
                        <a:rPr lang="en-US" sz="850" i="1" dirty="0">
                          <a:solidFill>
                            <a:srgbClr val="404040"/>
                          </a:solidFill>
                          <a:latin typeface="Calibri" pitchFamily="34" charset="0"/>
                          <a:ea typeface="Calibri" pitchFamily="34" charset="-122"/>
                          <a:cs typeface="Calibri" pitchFamily="34" charset="-120"/>
                        </a:rPr>
                        <a:t>   margin</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47.8%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34.0%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34.0%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34.6%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35.3%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Unlevered free cash flow</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NOPAT</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1,388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1,975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2,253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2,417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2,571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 D&amp;A and SBC</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 Change in NWC</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(476)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(147)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 Capex (leasing + PP&amp;E)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(156)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(172)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(175)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(176)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(177)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 Leasing asset sales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410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 SCI investment, net of distributions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b="1" dirty="0">
                          <a:solidFill>
                            <a:srgbClr val="404040"/>
                          </a:solidFill>
                          <a:latin typeface="Calibri" pitchFamily="34" charset="0"/>
                          <a:ea typeface="Calibri" pitchFamily="34" charset="-122"/>
                          <a:cs typeface="Calibri" pitchFamily="34" charset="-120"/>
                        </a:rPr>
                        <a:t>UFCF</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512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1,778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1,987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2,237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2,403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187452">
                <a:tc>
                  <a:txBody>
                    <a:bodyPr/>
                    <a:lstStyle/>
                    <a:p>
                      <a:pPr algn="l" indent="0" marL="0">
                        <a:buNone/>
                      </a:pPr>
                      <a:r>
                        <a:rPr lang="en-US" sz="850" i="1" dirty="0">
                          <a:solidFill>
                            <a:srgbClr val="404040"/>
                          </a:solidFill>
                          <a:latin typeface="Calibri" pitchFamily="34" charset="0"/>
                          <a:ea typeface="Calibri" pitchFamily="34" charset="-122"/>
                          <a:cs typeface="Calibri" pitchFamily="34" charset="-120"/>
                        </a:rPr>
                        <a:t>   % of adj. EBITDA</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39.1%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46.7%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58.4%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57.8%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61.7%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Net debt / adj. EBITDA</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2.6x</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2.3x</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1.1x</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0.3x</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-0.1x</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-0.6x</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-1.1x</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vs. Jefferies (2-Aug-26)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Total adj. EBITDA: Jefferies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1,289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2,099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3,023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187452">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   GPS vs Jefferies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140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4" name="Text 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GPS model (Operating Model tab); Jefferies estimates (2-Aug-26)</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Appendix: Aerospace Products Revenue Build (Base)</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3410712"/>
                <a:gridCol w="1133856"/>
                <a:gridCol w="1133856"/>
                <a:gridCol w="1133856"/>
                <a:gridCol w="1133856"/>
                <a:gridCol w="1133856"/>
                <a:gridCol w="1133856"/>
                <a:gridCol w="1152144"/>
              </a:tblGrid>
              <a:tr h="219456">
                <a:tc>
                  <a:txBody>
                    <a:bodyPr/>
                    <a:lstStyle/>
                    <a:p>
                      <a:pPr algn="l"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FY25A</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FY26E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FY27E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FY28E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FY29E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FY30E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FY31E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r>
              <a:tr h="219456">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CFM56 fleet &amp; shop demand</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CFM56-7B EoP fleet</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13,809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13,381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13,114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12,786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12,466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12,092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i="1" dirty="0">
                          <a:solidFill>
                            <a:srgbClr val="404040"/>
                          </a:solidFill>
                          <a:latin typeface="Calibri" pitchFamily="34" charset="0"/>
                          <a:ea typeface="Calibri" pitchFamily="34" charset="-122"/>
                          <a:cs typeface="Calibri" pitchFamily="34" charset="-120"/>
                        </a:rPr>
                        <a:t>   retirement rate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CFM56-5B EoP fleet</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8,540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8,284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7,994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7,714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7,406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i="1" dirty="0">
                          <a:solidFill>
                            <a:srgbClr val="404040"/>
                          </a:solidFill>
                          <a:latin typeface="Calibri" pitchFamily="34" charset="0"/>
                          <a:ea typeface="Calibri" pitchFamily="34" charset="-122"/>
                          <a:cs typeface="Calibri" pitchFamily="34" charset="-120"/>
                        </a:rPr>
                        <a:t>   retirement rate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i="1" dirty="0">
                          <a:solidFill>
                            <a:srgbClr val="404040"/>
                          </a:solidFill>
                          <a:latin typeface="Calibri" pitchFamily="34" charset="0"/>
                          <a:ea typeface="Calibri" pitchFamily="34" charset="-122"/>
                          <a:cs typeface="Calibri" pitchFamily="34" charset="-120"/>
                        </a:rPr>
                        <a:t>4.0%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Total shop visits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2,385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2,386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2,318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2,219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2,120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2,056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b="1" dirty="0">
                          <a:solidFill>
                            <a:srgbClr val="404040"/>
                          </a:solidFill>
                          <a:latin typeface="Calibri" pitchFamily="34" charset="0"/>
                          <a:ea typeface="Calibri" pitchFamily="34" charset="-122"/>
                          <a:cs typeface="Calibri" pitchFamily="34" charset="-120"/>
                        </a:rPr>
                        <a:t>Module demand (3 per visit)</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7,050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7,156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7,159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6,953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6,656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6,359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6,168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219456">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FTAI volume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FTAI third-party share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9.6%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Third-party modules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675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1,206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1,321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1,272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1,234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SCI aircraft (EoP)</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316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SCI modules (20% SV rate, 2 engines)</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328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482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780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840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b="1" dirty="0">
                          <a:solidFill>
                            <a:srgbClr val="404040"/>
                          </a:solidFill>
                          <a:latin typeface="Calibri" pitchFamily="34" charset="0"/>
                          <a:ea typeface="Calibri" pitchFamily="34" charset="-122"/>
                          <a:cs typeface="Calibri" pitchFamily="34" charset="-120"/>
                        </a:rPr>
                        <a:t>FTAI modules produced</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757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1,193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1,687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1,981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2,078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2,112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2,134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219456">
                <a:tc>
                  <a:txBody>
                    <a:bodyPr/>
                    <a:lstStyle/>
                    <a:p>
                      <a:pPr algn="l" indent="0" marL="0">
                        <a:buNone/>
                      </a:pPr>
                      <a:r>
                        <a:rPr lang="en-US" sz="850" b="1" dirty="0">
                          <a:solidFill>
                            <a:srgbClr val="0B1F44"/>
                          </a:solidFill>
                          <a:latin typeface="Calibri" pitchFamily="34" charset="0"/>
                          <a:ea typeface="Calibri" pitchFamily="34" charset="-122"/>
                          <a:cs typeface="Calibri" pitchFamily="34" charset="-120"/>
                        </a:rPr>
                        <a:t>Price &amp; margin</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c>
                  <a:txBody>
                    <a:bodyPr/>
                    <a:lstStyle/>
                    <a:p>
                      <a:pPr algn="r" indent="0" marL="0">
                        <a:buNone/>
                      </a:pP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DCE6F2"/>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Revenue per module ($M)</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2.56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2.91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3.16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3.27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3.38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Aerospace revenue ($M)</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1,936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3,474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5,150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6,258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6,794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7,147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7,473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EBITDA margin ex-PMA</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34.7%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29.8%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30.8%</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31.2%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31.5%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PMA penetration</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PMA uplift ($M, $0.4M / module)</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24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59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77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850" b="1" dirty="0">
                          <a:solidFill>
                            <a:srgbClr val="404040"/>
                          </a:solidFill>
                          <a:latin typeface="Calibri" pitchFamily="34" charset="0"/>
                          <a:ea typeface="Calibri" pitchFamily="34" charset="-122"/>
                          <a:cs typeface="Calibri" pitchFamily="34" charset="-120"/>
                        </a:rPr>
                        <a:t>Aerospace adj. EBITDA ($M)</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1,541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1,920</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2,134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2,289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850" b="1" dirty="0">
                          <a:solidFill>
                            <a:srgbClr val="404040"/>
                          </a:solidFill>
                          <a:latin typeface="Calibri" pitchFamily="34" charset="0"/>
                          <a:ea typeface="Calibri" pitchFamily="34" charset="-122"/>
                          <a:cs typeface="Calibri" pitchFamily="34" charset="-120"/>
                        </a:rPr>
                        <a:t>2,431</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219456">
                <a:tc>
                  <a:txBody>
                    <a:bodyPr/>
                    <a:lstStyle/>
                    <a:p>
                      <a:pPr algn="l" indent="0" marL="0">
                        <a:buNone/>
                      </a:pPr>
                      <a:r>
                        <a:rPr lang="en-US" sz="850" dirty="0">
                          <a:solidFill>
                            <a:srgbClr val="404040"/>
                          </a:solidFill>
                          <a:latin typeface="Calibri" pitchFamily="34" charset="0"/>
                          <a:ea typeface="Calibri" pitchFamily="34" charset="-122"/>
                          <a:cs typeface="Calibri" pitchFamily="34" charset="-120"/>
                        </a:rPr>
                        <a:t>EBITDA per module ($K)</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887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876</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913</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969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1,027</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1,084</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850" dirty="0">
                          <a:solidFill>
                            <a:srgbClr val="404040"/>
                          </a:solidFill>
                          <a:latin typeface="Calibri" pitchFamily="34" charset="0"/>
                          <a:ea typeface="Calibri" pitchFamily="34" charset="-122"/>
                          <a:cs typeface="Calibri" pitchFamily="34" charset="-120"/>
                        </a:rPr>
                        <a:t>1,139</a:t>
                      </a:r>
                      <a:endParaRPr lang="en-US" sz="85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4" name="Text 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GPS model (RPM, Assumptions tabs); GE / CFM shop-visit outlook</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Appendix: DCF Sensitivities</a:t>
            </a:r>
            <a:endParaRPr lang="en-US" sz="2600" dirty="0"/>
          </a:p>
        </p:txBody>
      </p:sp>
      <p:sp>
        <p:nvSpPr>
          <p:cNvPr id="3" name="Shape 1"/>
          <p:cNvSpPr/>
          <p:nvPr/>
        </p:nvSpPr>
        <p:spPr>
          <a:xfrm>
            <a:off x="411480" y="1097280"/>
            <a:ext cx="5577840" cy="292608"/>
          </a:xfrm>
          <a:prstGeom prst="rect">
            <a:avLst/>
          </a:prstGeom>
          <a:solidFill>
            <a:srgbClr val="DCE6F2"/>
          </a:solidFill>
          <a:ln w="9525">
            <a:solidFill>
              <a:srgbClr val="0B1F44"/>
            </a:solidFill>
            <a:prstDash val="solid"/>
          </a:ln>
        </p:spPr>
      </p:sp>
      <p:sp>
        <p:nvSpPr>
          <p:cNvPr id="4" name="Text 2"/>
          <p:cNvSpPr txBox="1"/>
          <p:nvPr/>
        </p:nvSpPr>
        <p:spPr>
          <a:xfrm>
            <a:off x="411480" y="109728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Perpetuity Growth Method (Terminal Growth Rate)</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1463040"/>
          <a:ext cx="5577840" cy="914400"/>
        </p:xfrm>
        <a:graphic>
          <a:graphicData uri="http://schemas.openxmlformats.org/drawingml/2006/table">
            <a:tbl>
              <a:tblPr/>
              <a:tblGrid>
                <a:gridCol w="1005840"/>
                <a:gridCol w="914400"/>
                <a:gridCol w="914400"/>
                <a:gridCol w="914400"/>
                <a:gridCol w="914400"/>
                <a:gridCol w="914400"/>
              </a:tblGrid>
              <a:tr h="32918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WACC</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8.5%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$293</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$314</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$339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$368</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$404</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9.0%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$269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$286</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$307</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$331</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$359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$248</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b="1" dirty="0">
                          <a:solidFill>
                            <a:srgbClr val="404040"/>
                          </a:solidFill>
                          <a:latin typeface="Calibri" pitchFamily="34" charset="0"/>
                          <a:ea typeface="Calibri" pitchFamily="34" charset="-122"/>
                          <a:cs typeface="Calibri" pitchFamily="34" charset="-120"/>
                        </a:rPr>
                        <a:t>$280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$230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$242</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$292</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10.5%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$213</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$224</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$236</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$250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$267</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$199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$208</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$219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$231</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8D7C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r>
            </a:tbl>
          </a:graphicData>
        </a:graphic>
      </p:graphicFrame>
      <p:sp>
        <p:nvSpPr>
          <p:cNvPr id="6" name="Shape 3"/>
          <p:cNvSpPr/>
          <p:nvPr/>
        </p:nvSpPr>
        <p:spPr>
          <a:xfrm>
            <a:off x="6199632" y="1097280"/>
            <a:ext cx="5577840" cy="292608"/>
          </a:xfrm>
          <a:prstGeom prst="rect">
            <a:avLst/>
          </a:prstGeom>
          <a:solidFill>
            <a:srgbClr val="DCE6F2"/>
          </a:solidFill>
          <a:ln w="9525">
            <a:solidFill>
              <a:srgbClr val="0B1F44"/>
            </a:solidFill>
            <a:prstDash val="solid"/>
          </a:ln>
        </p:spPr>
      </p:sp>
      <p:sp>
        <p:nvSpPr>
          <p:cNvPr id="7" name="Text 4"/>
          <p:cNvSpPr txBox="1"/>
          <p:nvPr/>
        </p:nvSpPr>
        <p:spPr>
          <a:xfrm>
            <a:off x="6199632" y="109728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Exit Multiple Method (EV / EBITDA)</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6199632" y="1463040"/>
          <a:ext cx="5577840" cy="914400"/>
        </p:xfrm>
        <a:graphic>
          <a:graphicData uri="http://schemas.openxmlformats.org/drawingml/2006/table">
            <a:tbl>
              <a:tblPr/>
              <a:tblGrid>
                <a:gridCol w="1005840"/>
                <a:gridCol w="914400"/>
                <a:gridCol w="914400"/>
                <a:gridCol w="914400"/>
                <a:gridCol w="914400"/>
                <a:gridCol w="914400"/>
              </a:tblGrid>
              <a:tr h="32918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WACC</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11.0x</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12.0x</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13.0x</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14.0x</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15.0x</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1F44"/>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8.5%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$328</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$352</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$376</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9.0%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$297</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$320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$343</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$367</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$390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b="1" dirty="0">
                          <a:solidFill>
                            <a:srgbClr val="404040"/>
                          </a:solidFill>
                          <a:latin typeface="Calibri" pitchFamily="34" charset="0"/>
                          <a:ea typeface="Calibri" pitchFamily="34" charset="-122"/>
                          <a:cs typeface="Calibri" pitchFamily="34" charset="-120"/>
                        </a:rPr>
                        <a:t>$335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$358</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$380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$282</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$349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$371</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10.5%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$297</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$319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$362</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r h="329184">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$269</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2CC"/>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$290</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$311</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DCEFD9"/>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$332</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$353</a:t>
                      </a:r>
                      <a:endParaRPr lang="en-US" sz="900" dirty="0">
                        <a:latin typeface="Calibri" charset="0"/>
                        <a:ea typeface="Calibri" charset="0"/>
                        <a:cs typeface="Calibri" charset="0"/>
                      </a:endParaRPr>
                    </a:p>
                  </a:txBody>
                  <a:tcPr marL="91440" marR="91440" marT="45720" marB="45720">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7DDBF"/>
                    </a:solidFill>
                  </a:tcPr>
                </a:tc>
              </a:tr>
            </a:tbl>
          </a:graphicData>
        </a:graphic>
      </p:graphicFrame>
      <p:sp>
        <p:nvSpPr>
          <p:cNvPr id="9" name="Shape 5"/>
          <p:cNvSpPr/>
          <p:nvPr/>
        </p:nvSpPr>
        <p:spPr>
          <a:xfrm>
            <a:off x="411480" y="3977640"/>
            <a:ext cx="5577840" cy="292608"/>
          </a:xfrm>
          <a:prstGeom prst="rect">
            <a:avLst/>
          </a:prstGeom>
          <a:solidFill>
            <a:srgbClr val="DCE6F2"/>
          </a:solidFill>
          <a:ln w="9525">
            <a:solidFill>
              <a:srgbClr val="0B1F44"/>
            </a:solidFill>
            <a:prstDash val="solid"/>
          </a:ln>
        </p:spPr>
      </p:sp>
      <p:sp>
        <p:nvSpPr>
          <p:cNvPr id="10" name="Text 6"/>
          <p:cNvSpPr txBox="1"/>
          <p:nvPr/>
        </p:nvSpPr>
        <p:spPr>
          <a:xfrm>
            <a:off x="411480" y="397764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WACC Build</a:t>
            </a:r>
            <a:endParaRPr lang="en-US" sz="1200" dirty="0"/>
          </a:p>
        </p:txBody>
      </p:sp>
      <p:graphicFrame>
        <p:nvGraphicFramePr>
          <p:cNvPr id="97" name="Table 2"/>
          <p:cNvGraphicFramePr>
            <a:graphicFrameLocks noGrp="1"/>
          </p:cNvGraphicFramePr>
          <p:nvPr>
            <p:extLst>
              <p:ext uri="{D42A27DB-BD31-4B8C-83A1-F6EECF244321}">
                <p14:modId xmlns:p14="http://schemas.microsoft.com/office/powerpoint/2010/main" val="1579011935"/>
              </p:ext>
            </p:extLst>
          </p:nvPr>
        </p:nvGraphicFramePr>
        <p:xfrm>
          <a:off x="411480" y="4297680"/>
          <a:ext cx="5577840" cy="914400"/>
        </p:xfrm>
        <a:graphic>
          <a:graphicData uri="http://schemas.openxmlformats.org/drawingml/2006/table">
            <a:tbl>
              <a:tblPr/>
              <a:tblGrid>
                <a:gridCol w="3931920"/>
                <a:gridCol w="1645920"/>
              </a:tblGrid>
              <a:tr h="265176">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Risk-free rate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Market risk premium</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Adjusted beta (0.67 × 1.51 raw + 0.33)</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1.34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Cost of equity</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10.2%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After-tax cost of debt (7.2% pre-tax, 21.4% tax)</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5.7%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E / (D+E)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83% / 17%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2F2F2"/>
                    </a:solidFill>
                  </a:tcPr>
                </a:tc>
              </a:tr>
              <a:tr h="265176">
                <a:tc>
                  <a:txBody>
                    <a:bodyPr/>
                    <a:lstStyle/>
                    <a:p>
                      <a:pPr algn="l" indent="0" marL="0">
                        <a:buNone/>
                      </a:pPr>
                      <a:r>
                        <a:rPr lang="en-US" sz="900" b="1" dirty="0">
                          <a:solidFill>
                            <a:srgbClr val="0B1F44"/>
                          </a:solidFill>
                          <a:latin typeface="Calibri" pitchFamily="34" charset="0"/>
                          <a:ea typeface="Calibri" pitchFamily="34" charset="-122"/>
                          <a:cs typeface="Calibri" pitchFamily="34" charset="-120"/>
                        </a:rPr>
                        <a:t>WACC</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B1F44"/>
                          </a:solidFill>
                          <a:latin typeface="Calibri" pitchFamily="34" charset="0"/>
                          <a:ea typeface="Calibri" pitchFamily="34" charset="-122"/>
                          <a:cs typeface="Calibri" pitchFamily="34" charset="-120"/>
                        </a:rPr>
                        <a:t>9.5%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12" name="Shape 7"/>
          <p:cNvSpPr/>
          <p:nvPr/>
        </p:nvSpPr>
        <p:spPr>
          <a:xfrm>
            <a:off x="6199632" y="3977640"/>
            <a:ext cx="5577840" cy="292608"/>
          </a:xfrm>
          <a:prstGeom prst="rect">
            <a:avLst/>
          </a:prstGeom>
          <a:solidFill>
            <a:srgbClr val="DCE6F2"/>
          </a:solidFill>
          <a:ln w="9525">
            <a:solidFill>
              <a:srgbClr val="0B1F44"/>
            </a:solidFill>
            <a:prstDash val="solid"/>
          </a:ln>
        </p:spPr>
      </p:sp>
      <p:sp>
        <p:nvSpPr>
          <p:cNvPr id="13" name="Text 8"/>
          <p:cNvSpPr txBox="1"/>
          <p:nvPr/>
        </p:nvSpPr>
        <p:spPr>
          <a:xfrm>
            <a:off x="6199632" y="3977640"/>
            <a:ext cx="5577840" cy="292608"/>
          </a:xfrm>
          <a:prstGeom prst="rect">
            <a:avLst/>
          </a:prstGeom>
          <a:noFill/>
          <a:ln/>
        </p:spPr>
        <p:txBody>
          <a:bodyPr wrap="square" lIns="25400" tIns="25400" rIns="25400" bIns="25400" rtlCol="0" anchor="ctr"/>
          <a:lstStyle/>
          <a:p>
            <a:pPr algn="ctr" indent="0" marL="0">
              <a:buNone/>
            </a:pPr>
            <a:r>
              <a:rPr lang="en-US" sz="1200" b="1" dirty="0">
                <a:solidFill>
                  <a:srgbClr val="0B1F44"/>
                </a:solidFill>
                <a:latin typeface="Cambria" pitchFamily="34" charset="0"/>
                <a:ea typeface="Cambria" pitchFamily="34" charset="-122"/>
                <a:cs typeface="Cambria" pitchFamily="34" charset="-120"/>
              </a:rPr>
              <a:t>Reward / Risk (Blended DCF By Case)</a:t>
            </a:r>
            <a:endParaRPr lang="en-US" sz="1200" dirty="0"/>
          </a:p>
        </p:txBody>
      </p:sp>
      <p:graphicFrame>
        <p:nvGraphicFramePr>
          <p:cNvPr id="129" name="Table 3"/>
          <p:cNvGraphicFramePr>
            <a:graphicFrameLocks noGrp="1"/>
          </p:cNvGraphicFramePr>
          <p:nvPr>
            <p:extLst>
              <p:ext uri="{D42A27DB-BD31-4B8C-83A1-F6EECF244321}">
                <p14:modId xmlns:p14="http://schemas.microsoft.com/office/powerpoint/2010/main" val="1579011935"/>
              </p:ext>
            </p:extLst>
          </p:nvPr>
        </p:nvGraphicFramePr>
        <p:xfrm>
          <a:off x="6199632" y="4297680"/>
          <a:ext cx="5577840" cy="914400"/>
        </p:xfrm>
        <a:graphic>
          <a:graphicData uri="http://schemas.openxmlformats.org/drawingml/2006/table">
            <a:tbl>
              <a:tblPr/>
              <a:tblGrid>
                <a:gridCol w="1188720"/>
                <a:gridCol w="1097280"/>
                <a:gridCol w="1097280"/>
                <a:gridCol w="1097280"/>
                <a:gridCol w="1097280"/>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Case</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Perpetuity</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Exit</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Blended</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vs $167</a:t>
                      </a:r>
                      <a:endParaRPr lang="en-US" sz="900" dirty="0">
                        <a:latin typeface="Calibri" charset="0"/>
                        <a:ea typeface="Calibri" charset="0"/>
                        <a:cs typeface="Calibri" charset="0"/>
                      </a:endParaRPr>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0B1F44"/>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Bull</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$356</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$419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$387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+132%</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Base</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$281</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$335</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$308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+84%</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DCE6F2"/>
                    </a:solidFill>
                  </a:tcPr>
                </a:tc>
              </a:tr>
              <a:tr h="274320">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Bear</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$87</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$118</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$103</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404040"/>
                          </a:solidFill>
                          <a:latin typeface="Calibri" pitchFamily="34" charset="0"/>
                          <a:ea typeface="Calibri" pitchFamily="34" charset="-122"/>
                          <a:cs typeface="Calibri" pitchFamily="34" charset="-120"/>
                        </a:rPr>
                        <a:t>–39%</a:t>
                      </a:r>
                      <a:endParaRPr lang="en-US" sz="1200" dirty="0"/>
                    </a:p>
                  </a:txBody>
                  <a:tcPr marL="50800" marR="50800" marT="25400" marB="254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15" name="Shape 9"/>
          <p:cNvSpPr/>
          <p:nvPr/>
        </p:nvSpPr>
        <p:spPr>
          <a:xfrm>
            <a:off x="6199632" y="5440680"/>
            <a:ext cx="5577840" cy="457200"/>
          </a:xfrm>
          <a:prstGeom prst="rect">
            <a:avLst>
              <a:gd name="adj" fmla="val 12000"/>
            </a:avLst>
          </a:prstGeom>
          <a:solidFill>
            <a:srgbClr val="0B1F44"/>
          </a:solidFill>
          <a:ln w="9525">
            <a:solidFill>
              <a:srgbClr val="0B1F44"/>
            </a:solidFill>
            <a:prstDash val="solid"/>
          </a:ln>
        </p:spPr>
      </p:sp>
      <p:sp>
        <p:nvSpPr>
          <p:cNvPr id="16" name="Text 10"/>
          <p:cNvSpPr txBox="1"/>
          <p:nvPr/>
        </p:nvSpPr>
        <p:spPr>
          <a:xfrm>
            <a:off x="6245352" y="5440680"/>
            <a:ext cx="5486400" cy="45720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R/R skew: 132% / 39% = 3.4x</a:t>
            </a:r>
            <a:endParaRPr lang="en-US" sz="1200" dirty="0"/>
          </a:p>
        </p:txBody>
      </p:sp>
      <p:sp>
        <p:nvSpPr>
          <p:cNvPr id="17" name="Text 11"/>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GPS model (DCF, WACC tabs; case toggle recalculated)</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6"/>
          <p:cNvSpPr/>
          <p:nvPr>
            <p:ph idx="106" type="title" hasCustomPrompt="1"/>
          </p:nvPr>
        </p:nvSpPr>
        <p:spPr>
          <a:xfrm>
            <a:off x="411480" y="201168"/>
            <a:ext cx="8503920" cy="640080"/>
          </a:xfrm>
          <a:prstGeom prst="rect">
            <a:avLst/>
          </a:prstGeom>
          <a:noFill/>
          <a:ln/>
        </p:spPr>
        <p:txBody>
          <a:bodyPr wrap="square" lIns="0" tIns="0" rIns="0" bIns="0" rtlCol="0" anchor="ctr"/>
          <a:lstStyle/>
          <a:p>
            <a:pPr algn="l" indent="0" marL="0">
              <a:buNone/>
            </a:pPr>
            <a:r>
              <a:rPr lang="en-US" sz="2600" b="1" dirty="0">
                <a:solidFill>
                  <a:srgbClr val="0B1F44"/>
                </a:solidFill>
                <a:latin typeface="Cambria" pitchFamily="34" charset="0"/>
                <a:ea typeface="Cambria" pitchFamily="34" charset="-122"/>
                <a:cs typeface="Cambria" pitchFamily="34" charset="-120"/>
              </a:rPr>
              <a:t>Appendix: Power Model &amp; Market Build</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3410712"/>
                <a:gridCol w="1133856"/>
                <a:gridCol w="1133856"/>
                <a:gridCol w="1133856"/>
                <a:gridCol w="1133856"/>
                <a:gridCol w="1133856"/>
                <a:gridCol w="1133856"/>
                <a:gridCol w="1152144"/>
              </a:tblGrid>
              <a:tr h="219456">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FTAI Power (base)</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FY25A</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FY26E</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FY27E</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FY28E</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FY29E</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FY30E</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FY31E</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Mod-1 units delivered</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45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90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120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MW per unit</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MW delivered</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1,125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2,250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2,750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3,000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3,250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$M per MW</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b="1" dirty="0">
                          <a:solidFill>
                            <a:srgbClr val="404040"/>
                          </a:solidFill>
                          <a:latin typeface="Calibri" pitchFamily="34" charset="0"/>
                          <a:ea typeface="Calibri" pitchFamily="34" charset="-122"/>
                          <a:cs typeface="Calibri" pitchFamily="34" charset="-120"/>
                        </a:rPr>
                        <a:t>FTAI Power revenue ($M)</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1,125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2,250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2,750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3,000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3,250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219456">
                <a:tc>
                  <a:txBody>
                    <a:bodyPr/>
                    <a:lstStyle/>
                    <a:p>
                      <a:pPr algn="l" indent="0" marL="0">
                        <a:buNone/>
                      </a:pPr>
                      <a:r>
                        <a:rPr lang="en-US" sz="900" i="1" dirty="0">
                          <a:solidFill>
                            <a:srgbClr val="404040"/>
                          </a:solidFill>
                          <a:latin typeface="Calibri" pitchFamily="34" charset="0"/>
                          <a:ea typeface="Calibri" pitchFamily="34" charset="-122"/>
                          <a:cs typeface="Calibri" pitchFamily="34" charset="-120"/>
                        </a:rPr>
                        <a:t>EBITDA margin</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40.0%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b="1" dirty="0">
                          <a:solidFill>
                            <a:srgbClr val="404040"/>
                          </a:solidFill>
                          <a:latin typeface="Calibri" pitchFamily="34" charset="0"/>
                          <a:ea typeface="Calibri" pitchFamily="34" charset="-122"/>
                          <a:cs typeface="Calibri" pitchFamily="34" charset="-120"/>
                        </a:rPr>
                        <a:t>FTAI Power adj. EBITDA ($M)</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450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1,100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1,300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Bear units / Bull units</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45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160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i="1" dirty="0">
                          <a:solidFill>
                            <a:srgbClr val="404040"/>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411480" y="3337560"/>
          <a:ext cx="11365992" cy="914400"/>
        </p:xfrm>
        <a:graphic>
          <a:graphicData uri="http://schemas.openxmlformats.org/drawingml/2006/table">
            <a:tbl>
              <a:tblPr/>
              <a:tblGrid>
                <a:gridCol w="3410712"/>
                <a:gridCol w="1325880"/>
                <a:gridCol w="1325880"/>
                <a:gridCol w="1325880"/>
                <a:gridCol w="1325880"/>
                <a:gridCol w="1325880"/>
                <a:gridCol w="1325880"/>
              </a:tblGrid>
              <a:tr h="219456">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US power market (GW unless noted)</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2027</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2028</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2029</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2030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2031</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0B1F44"/>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US data center energy demand (TWh)</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464</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549</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746</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Tracked hyperscaler planning capacity</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3.9</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7.7</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9.6</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Reserve shortfall: PJM</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8.4</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21.6</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36.9</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Reserve shortfall: MISO</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9.0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r h="219456">
                <a:tc>
                  <a:txBody>
                    <a:bodyPr/>
                    <a:lstStyle/>
                    <a:p>
                      <a:pPr algn="l" indent="0" marL="0">
                        <a:buNone/>
                      </a:pPr>
                      <a:r>
                        <a:rPr lang="en-US" sz="900" b="1" dirty="0">
                          <a:solidFill>
                            <a:srgbClr val="404040"/>
                          </a:solidFill>
                          <a:latin typeface="Calibri" pitchFamily="34" charset="0"/>
                          <a:ea typeface="Calibri" pitchFamily="34" charset="-122"/>
                          <a:cs typeface="Calibri" pitchFamily="34" charset="-120"/>
                        </a:rPr>
                        <a:t>Reserve shortfall: total</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0.0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8.4</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27.2</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c>
                  <a:txBody>
                    <a:bodyPr/>
                    <a:lstStyle/>
                    <a:p>
                      <a:pPr algn="r" indent="0" marL="0">
                        <a:buNone/>
                      </a:pPr>
                      <a:r>
                        <a:rPr lang="en-US" sz="900" b="1" dirty="0">
                          <a:solidFill>
                            <a:srgbClr val="404040"/>
                          </a:solidFill>
                          <a:latin typeface="Calibri" pitchFamily="34" charset="0"/>
                          <a:ea typeface="Calibri" pitchFamily="34" charset="-122"/>
                          <a:cs typeface="Calibri" pitchFamily="34" charset="-120"/>
                        </a:rPr>
                        <a:t>47.2</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9525" cap="flat" cmpd="sng" algn="ctr">
                      <a:solidFill>
                        <a:srgbClr val="0B1F44"/>
                      </a:solidFill>
                      <a:prstDash val="solid"/>
                      <a:round/>
                      <a:headEnd type="none" w="med" len="med"/>
                      <a:tailEnd type="none" w="med" len="med"/>
                    </a:lnT>
                    <a:lnB w="0" cap="flat" cmpd="sng" algn="ctr">
                      <a:noFill/>
                    </a:lnB>
                    <a:solidFill>
                      <a:srgbClr val="FFFFFF"/>
                    </a:solidFill>
                  </a:tcPr>
                </a:tc>
              </a:tr>
              <a:tr h="219456">
                <a:tc>
                  <a:txBody>
                    <a:bodyPr/>
                    <a:lstStyle/>
                    <a:p>
                      <a:pPr algn="l" indent="0" marL="0">
                        <a:buNone/>
                      </a:pPr>
                      <a:r>
                        <a:rPr lang="en-US" sz="900" dirty="0">
                          <a:solidFill>
                            <a:srgbClr val="404040"/>
                          </a:solidFill>
                          <a:latin typeface="Calibri" pitchFamily="34" charset="0"/>
                          <a:ea typeface="Calibri" pitchFamily="34" charset="-122"/>
                          <a:cs typeface="Calibri" pitchFamily="34" charset="-120"/>
                        </a:rPr>
                        <a:t>Regions below requirement</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900" dirty="0">
                          <a:solidFill>
                            <a:srgbClr val="404040"/>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50800" marR="50800" marT="12700" marB="12700">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Shape 1"/>
          <p:cNvSpPr/>
          <p:nvPr/>
        </p:nvSpPr>
        <p:spPr>
          <a:xfrm>
            <a:off x="411480" y="5120640"/>
            <a:ext cx="11365992" cy="822960"/>
          </a:xfrm>
          <a:prstGeom prst="roundRect">
            <a:avLst>
              <a:gd name="adj" fmla="val 6667"/>
            </a:avLst>
          </a:prstGeom>
          <a:solidFill>
            <a:srgbClr val="FFFFFF"/>
          </a:solidFill>
          <a:ln w="12700">
            <a:solidFill>
              <a:srgbClr val="0B1F44"/>
            </a:solidFill>
            <a:prstDash val="dash"/>
          </a:ln>
        </p:spPr>
      </p:sp>
      <p:sp>
        <p:nvSpPr>
          <p:cNvPr id="6" name="Text 2"/>
          <p:cNvSpPr txBox="1"/>
          <p:nvPr/>
        </p:nvSpPr>
        <p:spPr>
          <a:xfrm>
            <a:off x="466344" y="5148072"/>
            <a:ext cx="11256264" cy="768096"/>
          </a:xfrm>
          <a:prstGeom prst="rect">
            <a:avLst/>
          </a:prstGeom>
          <a:noFill/>
          <a:ln/>
        </p:spPr>
        <p:txBody>
          <a:bodyPr wrap="square" lIns="38100" tIns="38100" rIns="38100" bIns="38100" rtlCol="0" anchor="ctr"/>
          <a:lstStyle/>
          <a:p>
            <a:pPr algn="l" indent="0" marL="0">
              <a:buNone/>
            </a:pPr>
            <a:r>
              <a:rPr lang="en-US" sz="950" b="1" dirty="0">
                <a:solidFill>
                  <a:srgbClr val="0B1F44"/>
                </a:solidFill>
                <a:latin typeface="Calibri" pitchFamily="34" charset="0"/>
                <a:ea typeface="Calibri" pitchFamily="34" charset="-122"/>
                <a:cs typeface="Calibri" pitchFamily="34" charset="-120"/>
              </a:rPr>
              <a:t>Method:</a:t>
            </a:r>
            <a:r>
              <a:rPr lang="en-US" sz="950" dirty="0">
                <a:solidFill>
                  <a:srgbClr val="404040"/>
                </a:solidFill>
                <a:latin typeface="Calibri" pitchFamily="34" charset="0"/>
                <a:ea typeface="Calibri" pitchFamily="34" charset="-122"/>
                <a:cs typeface="Calibri" pitchFamily="34" charset="-120"/>
              </a:rPr>
              <a:t> NERC 2025 LTRA regional demand and anticipated capacity by assessment area, reserve margin requirement applied; 67 hyperscaler power agreements tracked by COD and delivery haircut (no incremental capacity credited to NERC in base). Big Four CY26 capex $732.5bn; capex/PPA correlation 0.89 in levels, 0.34 in log growth</a:t>
            </a:r>
            <a:endParaRPr lang="en-US" sz="950" dirty="0"/>
          </a:p>
        </p:txBody>
      </p:sp>
      <p:sp>
        <p:nvSpPr>
          <p:cNvPr id="7" name="Text 3"/>
          <p:cNvSpPr txBox="1"/>
          <p:nvPr/>
        </p:nvSpPr>
        <p:spPr>
          <a:xfrm>
            <a:off x="868680" y="6437376"/>
            <a:ext cx="8138160" cy="292608"/>
          </a:xfrm>
          <a:prstGeom prst="rect">
            <a:avLst/>
          </a:prstGeom>
          <a:noFill/>
          <a:ln/>
        </p:spPr>
        <p:txBody>
          <a:bodyPr wrap="square" lIns="0" tIns="0" rIns="0" bIns="0" rtlCol="0" anchor="ctr"/>
          <a:lstStyle/>
          <a:p>
            <a:pPr indent="0" marL="0">
              <a:buNone/>
            </a:pPr>
            <a:r>
              <a:rPr lang="en-US" sz="800" b="1" dirty="0">
                <a:solidFill>
                  <a:srgbClr val="0B1F44"/>
                </a:solidFill>
                <a:latin typeface="Calibri" pitchFamily="34" charset="0"/>
                <a:ea typeface="Calibri" pitchFamily="34" charset="-122"/>
                <a:cs typeface="Calibri" pitchFamily="34" charset="-120"/>
              </a:rPr>
              <a:t>Source:</a:t>
            </a:r>
            <a:r>
              <a:rPr lang="en-US" sz="800" dirty="0">
                <a:solidFill>
                  <a:srgbClr val="404040"/>
                </a:solidFill>
                <a:latin typeface="Calibri" pitchFamily="34" charset="0"/>
                <a:ea typeface="Calibri" pitchFamily="34" charset="-122"/>
                <a:cs typeface="Calibri" pitchFamily="34" charset="-120"/>
              </a:rPr>
              <a:t> GPS model (Power outlook, Power Market Assumptions, Regional model, Power agreements tabs); NERC 2025 LTRA</a:t>
            </a:r>
            <a:endParaRPr lang="en-US" sz="800" dirty="0"/>
          </a:p>
        </p:txBody>
      </p:sp>
      <p:sp>
        <p:nvSpPr>
          <p:cNvPr id="25" name="Slide Number Placeholder 0"/>
          <p:cNvSpPr>
            <a:spLocks noGrp="1"/>
          </p:cNvSpPr>
          <p:nvPr>
            <p:ph type="sldNum" sz="quarter" idx="4294967295"/>
          </p:nvPr>
        </p:nvSpPr>
        <p:spPr>
          <a:xfrm>
            <a:off x="411480" y="647395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0B1F44"/>
                </a:solidFill>
                <a:latin typeface="Calibri"/>
                <a:ea typeface="Calibri"/>
                <a:cs typeface="Calibri"/>
              </a:defRPr>
            </a:lvl1pPr>
          </a:lstStyle>
          <a:p>
            <a:pPr algn="l"/>
            <a:fld id="{F7021451-1387-4CA6-816F-3879F97B5CBC}" type="slidenum">
              <a:rPr b="1"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Max Salomon</dc:creator>
  <cp:lastModifiedBy>Max Salomon</cp:lastModifiedBy>
  <cp:revision>1</cp:revision>
  <dcterms:created xsi:type="dcterms:W3CDTF">2026-10-12T22:53:57Z</dcterms:created>
  <dcterms:modified xsi:type="dcterms:W3CDTF">2026-10-12T22:53:57Z</dcterms:modified>
</cp:coreProperties>
</file>