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 prior visits</c:v>
                </c:pt>
              </c:strCache>
            </c:strRef>
          </c:tx>
          <c:spPr>
            <a:solidFill>
              <a:srgbClr val="BDD7EE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Garamond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2024 Actual</c:v>
                  </c:pt>
                  <c:pt idx="1">
                    <c:v>2028 OEM Projection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</c:v>
                </c:pt>
                <c:pt idx="1">
                  <c:v>26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 prior visit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Garamond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2024 Actual</c:v>
                  </c:pt>
                  <c:pt idx="1">
                    <c:v>2028 OEM Projection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29</c:v>
                </c:pt>
                <c:pt idx="1">
                  <c:v>31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2+ prior visits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Garamond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2024 Actual</c:v>
                  </c:pt>
                  <c:pt idx="1">
                    <c:v>2028 OEM Projection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31</c:v>
                </c:pt>
                <c:pt idx="1">
                  <c:v>43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Garamond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7F7F7F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62626"/>
                </a:solidFill>
                <a:latin typeface="Garamon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62626"/>
                </a:solidFill>
                <a:latin typeface="Garamon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Garamond"/>
              <a:cs typeface="Garamon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CFM56 shop visits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62626"/>
                    </a:solidFill>
                    <a:latin typeface="Garamon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2025</c:v>
                  </c:pt>
                  <c:pt idx="1">
                    <c:v>2026</c:v>
                  </c:pt>
                  <c:pt idx="2">
                    <c:v>2027</c:v>
                  </c:pt>
                  <c:pt idx="3">
                    <c:v>2028</c:v>
                  </c:pt>
                  <c:pt idx="4">
                    <c:v>2029</c:v>
                  </c:pt>
                  <c:pt idx="5">
                    <c:v>2030</c:v>
                  </c:pt>
                  <c:pt idx="6">
                    <c:v>2031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2350</c:v>
                </c:pt>
                <c:pt idx="1">
                  <c:v>2400</c:v>
                </c:pt>
                <c:pt idx="2">
                  <c:v>2400</c:v>
                </c:pt>
                <c:pt idx="3">
                  <c:v>2350</c:v>
                </c:pt>
                <c:pt idx="4">
                  <c:v>2250</c:v>
                </c:pt>
                <c:pt idx="5">
                  <c:v>2150</c:v>
                </c:pt>
                <c:pt idx="6">
                  <c:v>2085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62626"/>
                  </a:solidFill>
                  <a:latin typeface="Garamon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7F7F7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62626"/>
                </a:solidFill>
                <a:latin typeface="Garamon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9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62626"/>
                </a:solidFill>
                <a:latin typeface="Garamon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62626"/>
                </a:solidFill>
                <a:latin typeface="Garamond"/>
              </a:defRPr>
            </a:pPr>
            <a:r>
              <a:rPr sz="1100" b="0" i="0" u="none" strike="noStrike">
                <a:solidFill>
                  <a:srgbClr val="262626"/>
                </a:solidFill>
                <a:latin typeface="Garamond"/>
              </a:rPr>
              <a:t>Median Repair List-Price Change (y/y)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list price change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62626"/>
                    </a:solidFill>
                    <a:latin typeface="Garamon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CFM56-5B
2024–25</c:v>
                  </c:pt>
                  <c:pt idx="1">
                    <c:v>CFM56-5B
2025–26</c:v>
                  </c:pt>
                  <c:pt idx="2">
                    <c:v>CFM56-7B
2025–26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0.062</c:v>
                </c:pt>
                <c:pt idx="1">
                  <c:v>0.062</c:v>
                </c:pt>
                <c:pt idx="2">
                  <c:v>0.061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000" u="none">
                  <a:solidFill>
                    <a:srgbClr val="262626"/>
                  </a:solidFill>
                  <a:latin typeface="Garamon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7F7F7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62626"/>
                </a:solidFill>
                <a:latin typeface="Garamon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62626"/>
                </a:solidFill>
                <a:latin typeface="Garamon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62626"/>
                </a:solidFill>
                <a:latin typeface="Garamond"/>
              </a:defRPr>
            </a:pPr>
            <a:r>
              <a:rPr sz="1100" b="0" i="0" u="none" strike="noStrike">
                <a:solidFill>
                  <a:srgbClr val="262626"/>
                </a:solidFill>
                <a:latin typeface="Garamond"/>
              </a:rPr>
              <a:t>Modules Produced (+61% y/y in Q2'26)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Modules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62626"/>
                    </a:solidFill>
                    <a:latin typeface="Garamon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8702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8702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Q1'25</c:v>
                  </c:pt>
                  <c:pt idx="1">
                    <c:v>Q2'25</c:v>
                  </c:pt>
                  <c:pt idx="2">
                    <c:v>Q3'25</c:v>
                  </c:pt>
                  <c:pt idx="3">
                    <c:v>Q4'25</c:v>
                  </c:pt>
                  <c:pt idx="4">
                    <c:v>Q1'26</c:v>
                  </c:pt>
                  <c:pt idx="5">
                    <c:v>Q2'26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138</c:v>
                </c:pt>
                <c:pt idx="1">
                  <c:v>184</c:v>
                </c:pt>
                <c:pt idx="2">
                  <c:v>207</c:v>
                </c:pt>
                <c:pt idx="3">
                  <c:v>228</c:v>
                </c:pt>
                <c:pt idx="4">
                  <c:v>270</c:v>
                </c:pt>
                <c:pt idx="5">
                  <c:v>296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62626"/>
                  </a:solidFill>
                  <a:latin typeface="Garamon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7F7F7F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62626"/>
                </a:solidFill>
                <a:latin typeface="Garamon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62626"/>
                </a:solidFill>
                <a:latin typeface="Garamon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62626"/>
                </a:solidFill>
                <a:latin typeface="Garamond"/>
              </a:defRPr>
            </a:pPr>
            <a:r>
              <a:rPr sz="1100" b="0" i="0" u="none" strike="noStrike">
                <a:solidFill>
                  <a:srgbClr val="262626"/>
                </a:solidFill>
                <a:latin typeface="Garamond"/>
              </a:rPr>
              <a:t>Aerospace Adj. EBITDA Margin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Margin</c:v>
                </c:pt>
              </c:strCache>
            </c:strRef>
          </c:tx>
          <c:spPr>
            <a:solidFill>
              <a:srgbClr val="E8702A"/>
            </a:solidFill>
            <a:ln w="28575" cap="flat">
              <a:solidFill>
                <a:srgbClr val="E8702A"/>
              </a:solidFill>
              <a:prstDash val="solid"/>
              <a:round/>
            </a:ln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62626"/>
                    </a:solidFill>
                    <a:latin typeface="Garamond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702A"/>
              </a:solidFill>
              <a:ln w="9525" cap="flat">
                <a:solidFill>
                  <a:srgbClr val="E8702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Q1'25</c:v>
                  </c:pt>
                  <c:pt idx="1">
                    <c:v>Q2'25</c:v>
                  </c:pt>
                  <c:pt idx="2">
                    <c:v>Q3'25</c:v>
                  </c:pt>
                  <c:pt idx="3">
                    <c:v>Q4'25</c:v>
                  </c:pt>
                  <c:pt idx="4">
                    <c:v>Q1'26</c:v>
                  </c:pt>
                  <c:pt idx="5">
                    <c:v>Q2'26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0.359</c:v>
                </c:pt>
                <c:pt idx="1">
                  <c:v>0.336</c:v>
                </c:pt>
                <c:pt idx="2">
                  <c:v>0.348</c:v>
                </c:pt>
                <c:pt idx="3">
                  <c:v>0.346</c:v>
                </c:pt>
                <c:pt idx="4">
                  <c:v>0.299</c:v>
                </c:pt>
                <c:pt idx="5">
                  <c:v>0.285</c:v>
                </c:pt>
              </c:numCache>
            </c:numRef>
          </c:val>
          <c:smooth val="0"/>
        </c:ser>
        <c:dLbls>
          <c:numFmt formatCode="0.0%" sourceLinked="0"/>
          <c:txPr>
            <a:bodyPr/>
            <a:lstStyle/>
            <a:p>
              <a:pPr>
                <a:defRPr b="0" i="0" strike="noStrike" sz="900" u="none">
                  <a:solidFill>
                    <a:srgbClr val="262626"/>
                  </a:solidFill>
                  <a:latin typeface="Garamond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7F7F7F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62626"/>
                </a:solidFill>
                <a:latin typeface="Garamon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8"/>
          <c:min val="0.24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62626"/>
                </a:solidFill>
                <a:latin typeface="Garamon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262626"/>
                </a:solidFill>
                <a:latin typeface="Garamond"/>
              </a:defRPr>
            </a:pPr>
            <a:r>
              <a:rPr sz="1050" b="0" i="0" u="none" strike="noStrike">
                <a:solidFill>
                  <a:srgbClr val="262626"/>
                </a:solidFill>
                <a:latin typeface="Garamond"/>
              </a:rPr>
              <a:t>Aerospace Inventory ($M)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From leasing</c:v>
                </c:pt>
              </c:strCache>
            </c:strRef>
          </c:tx>
          <c:spPr>
            <a:solidFill>
              <a:srgbClr val="E870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Garamond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Q1'25</c:v>
                  </c:pt>
                  <c:pt idx="1">
                    <c:v>Q1'26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68</c:v>
                </c:pt>
                <c:pt idx="1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Purchased &amp; WIP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Garamond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Q1'25</c:v>
                  </c:pt>
                  <c:pt idx="1">
                    <c:v>Q1'26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577</c:v>
                </c:pt>
                <c:pt idx="1">
                  <c:v>1310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Garamon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7F7F7F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62626"/>
                </a:solidFill>
                <a:latin typeface="Garamon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75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62626"/>
                </a:solidFill>
                <a:latin typeface="Garamon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Garamond"/>
              <a:cs typeface="Garamon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262626"/>
                </a:solidFill>
                <a:latin typeface="Garamond"/>
              </a:defRPr>
            </a:pPr>
            <a:r>
              <a:rPr sz="1050" b="0" i="0" u="none" strike="noStrike">
                <a:solidFill>
                  <a:srgbClr val="262626"/>
                </a:solidFill>
                <a:latin typeface="Garamond"/>
              </a:rPr>
              <a:t>Engine Transfers ($M)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Leasing → inv.</c:v>
                </c:pt>
              </c:strCache>
            </c:strRef>
          </c:tx>
          <c:spPr>
            <a:solidFill>
              <a:srgbClr val="E870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62626"/>
                    </a:solidFill>
                    <a:latin typeface="Garamon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1H25</c:v>
                  </c:pt>
                  <c:pt idx="1">
                    <c:v>1H26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129</c:v>
                </c:pt>
                <c:pt idx="1">
                  <c:v>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Inv. → leasing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62626"/>
                    </a:solidFill>
                    <a:latin typeface="Garamon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1H25</c:v>
                  </c:pt>
                  <c:pt idx="1">
                    <c:v>1H26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160</c:v>
                </c:pt>
                <c:pt idx="1">
                  <c:v>169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62626"/>
                  </a:solidFill>
                  <a:latin typeface="Garamon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7F7F7F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62626"/>
                </a:solidFill>
                <a:latin typeface="Garamon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62626"/>
                </a:solidFill>
                <a:latin typeface="Garamon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Garamond"/>
              <a:cs typeface="Garamon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262626"/>
                </a:solidFill>
                <a:latin typeface="Garamond"/>
              </a:defRPr>
            </a:pPr>
            <a:r>
              <a:rPr sz="1050" b="0" i="0" u="none" strike="noStrike">
                <a:solidFill>
                  <a:srgbClr val="262626"/>
                </a:solidFill>
                <a:latin typeface="Garamond"/>
              </a:rPr>
              <a:t>Margin by Workscope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Margin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62626"/>
                    </a:solidFill>
                    <a:latin typeface="Garamon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702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~6k-cycle
(light)</c:v>
                  </c:pt>
                  <c:pt idx="1">
                    <c:v>Blend
(1H26)</c:v>
                  </c:pt>
                  <c:pt idx="2">
                    <c:v>~10k-cycle
(heavy)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</c:v>
                </c:pt>
                <c:pt idx="1">
                  <c:v>0.3</c:v>
                </c:pt>
                <c:pt idx="2">
                  <c:v>0.25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900" u="none">
                  <a:solidFill>
                    <a:srgbClr val="262626"/>
                  </a:solidFill>
                  <a:latin typeface="Garamon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7F7F7F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62626"/>
                </a:solidFill>
                <a:latin typeface="Garamon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62626"/>
                </a:solidFill>
                <a:latin typeface="Garamon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262626"/>
                </a:solidFill>
                <a:latin typeface="Garamond"/>
              </a:defRPr>
            </a:pPr>
            <a:r>
              <a:rPr sz="1050" b="0" i="0" u="none" strike="noStrike">
                <a:solidFill>
                  <a:srgbClr val="262626"/>
                </a:solidFill>
                <a:latin typeface="Garamond"/>
              </a:rPr>
              <a:t>PMA EBITDA Uplift ($M)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 case PMA</c:v>
                </c:pt>
              </c:strCache>
            </c:strRef>
          </c:tx>
          <c:spPr>
            <a:solidFill>
              <a:srgbClr val="A6A6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62626"/>
                    </a:solidFill>
                    <a:latin typeface="Garamon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FY27E</c:v>
                  </c:pt>
                  <c:pt idx="1">
                    <c:v>FY28E</c:v>
                  </c:pt>
                  <c:pt idx="2">
                    <c:v>FY29E</c:v>
                  </c:pt>
                  <c:pt idx="3">
                    <c:v>FY30E</c:v>
                  </c:pt>
                  <c:pt idx="4">
                    <c:v>FY31E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</c:v>
                </c:pt>
                <c:pt idx="1">
                  <c:v>24</c:v>
                </c:pt>
                <c:pt idx="2">
                  <c:v>42</c:v>
                </c:pt>
                <c:pt idx="3">
                  <c:v>59</c:v>
                </c:pt>
                <c:pt idx="4">
                  <c:v>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50% of SCI modules on PMA</c:v>
                </c:pt>
              </c:strCache>
            </c:strRef>
          </c:tx>
          <c:spPr>
            <a:solidFill>
              <a:srgbClr val="E870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62626"/>
                    </a:solidFill>
                    <a:latin typeface="Garamon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FY27E</c:v>
                  </c:pt>
                  <c:pt idx="1">
                    <c:v>FY28E</c:v>
                  </c:pt>
                  <c:pt idx="2">
                    <c:v>FY29E</c:v>
                  </c:pt>
                  <c:pt idx="3">
                    <c:v>FY30E</c:v>
                  </c:pt>
                  <c:pt idx="4">
                    <c:v>FY31E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96</c:v>
                </c:pt>
                <c:pt idx="1">
                  <c:v>132</c:v>
                </c:pt>
                <c:pt idx="2">
                  <c:v>156</c:v>
                </c:pt>
                <c:pt idx="3">
                  <c:v>168</c:v>
                </c:pt>
                <c:pt idx="4">
                  <c:v>180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62626"/>
                  </a:solidFill>
                  <a:latin typeface="Garamon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7F7F7F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62626"/>
                </a:solidFill>
                <a:latin typeface="Garamon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1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62626"/>
                </a:solidFill>
                <a:latin typeface="Garamon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Garamond"/>
              <a:cs typeface="Garamon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262626"/>
                </a:solidFill>
                <a:latin typeface="Garamond"/>
              </a:defRPr>
            </a:pPr>
            <a:r>
              <a:rPr sz="1050" b="0" i="0" u="none" strike="noStrike">
                <a:solidFill>
                  <a:srgbClr val="262626"/>
                </a:solidFill>
                <a:latin typeface="Garamond"/>
              </a:rPr>
              <a:t>FTAI Modules: SCI Share Rising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Third-party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Garamond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FY26E</c:v>
                  </c:pt>
                  <c:pt idx="1">
                    <c:v>FY27E</c:v>
                  </c:pt>
                  <c:pt idx="2">
                    <c:v>FY28E</c:v>
                  </c:pt>
                  <c:pt idx="3">
                    <c:v>FY29E</c:v>
                  </c:pt>
                  <c:pt idx="4">
                    <c:v>FY30E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865</c:v>
                </c:pt>
                <c:pt idx="1">
                  <c:v>1206</c:v>
                </c:pt>
                <c:pt idx="2">
                  <c:v>1321</c:v>
                </c:pt>
                <c:pt idx="3">
                  <c:v>1298</c:v>
                </c:pt>
                <c:pt idx="4">
                  <c:v>1272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SCI captive</c:v>
                </c:pt>
              </c:strCache>
            </c:strRef>
          </c:tx>
          <c:spPr>
            <a:solidFill>
              <a:srgbClr val="E870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Garamond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FY26E</c:v>
                  </c:pt>
                  <c:pt idx="1">
                    <c:v>FY27E</c:v>
                  </c:pt>
                  <c:pt idx="2">
                    <c:v>FY28E</c:v>
                  </c:pt>
                  <c:pt idx="3">
                    <c:v>FY29E</c:v>
                  </c:pt>
                  <c:pt idx="4">
                    <c:v>FY30E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328</c:v>
                </c:pt>
                <c:pt idx="1">
                  <c:v>482</c:v>
                </c:pt>
                <c:pt idx="2">
                  <c:v>660</c:v>
                </c:pt>
                <c:pt idx="3">
                  <c:v>780</c:v>
                </c:pt>
                <c:pt idx="4">
                  <c:v>840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Garamon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7F7F7F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62626"/>
                </a:solidFill>
                <a:latin typeface="Garamon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62626"/>
                </a:solidFill>
                <a:latin typeface="Garamon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Garamond"/>
              <a:cs typeface="Garamon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262626"/>
                </a:solidFill>
                <a:latin typeface="Garamond"/>
              </a:defRPr>
            </a:pPr>
            <a:r>
              <a:rPr sz="1050" b="0" i="0" u="none" strike="noStrike">
                <a:solidFill>
                  <a:srgbClr val="262626"/>
                </a:solidFill>
                <a:latin typeface="Garamond"/>
              </a:rPr>
              <a:t>Aerospace Margin Bridge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FFFF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Garamond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FY27E</c:v>
                  </c:pt>
                  <c:pt idx="1">
                    <c:v>Price</c:v>
                  </c:pt>
                  <c:pt idx="2">
                    <c:v>PMA</c:v>
                  </c:pt>
                  <c:pt idx="3">
                    <c:v>FY31E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29.9</c:v>
                </c:pt>
                <c:pt idx="2">
                  <c:v>31.6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Garamond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FY27E</c:v>
                  </c:pt>
                  <c:pt idx="1">
                    <c:v>Price</c:v>
                  </c:pt>
                  <c:pt idx="2">
                    <c:v>PMA</c:v>
                  </c:pt>
                  <c:pt idx="3">
                    <c:v>FY31E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29.9</c:v>
                </c:pt>
                <c:pt idx="1">
                  <c:v>1.7</c:v>
                </c:pt>
                <c:pt idx="2">
                  <c:v>0.9</c:v>
                </c:pt>
                <c:pt idx="3">
                  <c:v>32.5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Garamon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7F7F7F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62626"/>
                </a:solidFill>
                <a:latin typeface="Garamon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3.5"/>
          <c:min val="27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62626"/>
                </a:solidFill>
                <a:latin typeface="Garamon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262626"/>
                </a:solidFill>
                <a:latin typeface="Garamond"/>
              </a:defRPr>
            </a:pPr>
            <a:r>
              <a:rPr sz="1050" b="0" i="0" u="none" strike="noStrike">
                <a:solidFill>
                  <a:srgbClr val="262626"/>
                </a:solidFill>
                <a:latin typeface="Garamond"/>
              </a:rPr>
              <a:t>Jet Fuel ($ / bbl)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Jet fuel</c:v>
                </c:pt>
              </c:strCache>
            </c:strRef>
          </c:tx>
          <c:spPr>
            <a:solidFill>
              <a:srgbClr val="E8702A"/>
            </a:solidFill>
            <a:ln w="28575" cap="flat">
              <a:solidFill>
                <a:srgbClr val="E8702A"/>
              </a:solidFill>
              <a:prstDash val="solid"/>
              <a:round/>
            </a:ln>
            <a:effectLst/>
          </c:spPr>
          <c:invertIfNegative val="0"/>
          <c:dLbls>
            <c:numFmt formatCode="$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62626"/>
                    </a:solidFill>
                    <a:latin typeface="Garamond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702A"/>
              </a:solidFill>
              <a:ln w="9525" cap="flat">
                <a:solidFill>
                  <a:srgbClr val="E8702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Jan-26</c:v>
                  </c:pt>
                  <c:pt idx="1">
                    <c:v>3-Apr (peak)</c:v>
                  </c:pt>
                  <c:pt idx="2">
                    <c:v>17-Apr</c:v>
                  </c:pt>
                  <c:pt idx="3">
                    <c:v>14-Aug</c:v>
                  </c:pt>
                  <c:pt idx="4">
                    <c:v>15-Sep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85</c:v>
                </c:pt>
                <c:pt idx="1">
                  <c:v>209</c:v>
                </c:pt>
                <c:pt idx="2">
                  <c:v>185</c:v>
                </c:pt>
                <c:pt idx="3">
                  <c:v>159</c:v>
                </c:pt>
                <c:pt idx="4">
                  <c:v>198</c:v>
                </c:pt>
              </c:numCache>
            </c:numRef>
          </c:val>
          <c:smooth val="0"/>
        </c:ser>
        <c:dLbls>
          <c:numFmt formatCode="$0" sourceLinked="0"/>
          <c:txPr>
            <a:bodyPr/>
            <a:lstStyle/>
            <a:p>
              <a:pPr>
                <a:defRPr b="0" i="0" strike="noStrike" sz="900" u="none">
                  <a:solidFill>
                    <a:srgbClr val="262626"/>
                  </a:solidFill>
                  <a:latin typeface="Garamond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7F7F7F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262626"/>
                </a:solidFill>
                <a:latin typeface="Garamon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0"/>
          <c:min val="4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62626"/>
                </a:solidFill>
                <a:latin typeface="Garamon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262626"/>
                </a:solidFill>
                <a:latin typeface="Garamond"/>
              </a:defRPr>
            </a:pPr>
            <a:r>
              <a:rPr sz="1050" b="0" i="0" u="none" strike="noStrike">
                <a:solidFill>
                  <a:srgbClr val="262626"/>
                </a:solidFill>
                <a:latin typeface="Garamond"/>
              </a:rPr>
              <a:t>GE's 2026 CFM56 Retirement View (Q1 actual &lt;1%)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Retirement</c:v>
                </c:pt>
              </c:strCache>
            </c:strRef>
          </c:tx>
          <c:spPr>
            <a:solidFill>
              <a:srgbClr val="A6A6A6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62626"/>
                    </a:solidFill>
                    <a:latin typeface="Garamon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6A6A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6A6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6A6A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Original</c:v>
                  </c:pt>
                  <c:pt idx="1">
                    <c:v>Jan-26</c:v>
                  </c:pt>
                  <c:pt idx="2">
                    <c:v>Spring</c:v>
                  </c:pt>
                  <c:pt idx="3">
                    <c:v>Sep-26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0.035</c:v>
                </c:pt>
                <c:pt idx="1">
                  <c:v>0.025</c:v>
                </c:pt>
                <c:pt idx="2">
                  <c:v>0.02</c:v>
                </c:pt>
                <c:pt idx="3">
                  <c:v>0.0175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900" u="none">
                  <a:solidFill>
                    <a:srgbClr val="262626"/>
                  </a:solidFill>
                  <a:latin typeface="Garamon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7F7F7F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262626"/>
                </a:solidFill>
                <a:latin typeface="Garamon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42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62626"/>
                </a:solidFill>
                <a:latin typeface="Garamon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262626"/>
                </a:solidFill>
                <a:latin typeface="Garamond"/>
              </a:defRPr>
            </a:pPr>
            <a:r>
              <a:rPr sz="1050" b="0" i="0" u="none" strike="noStrike">
                <a:solidFill>
                  <a:srgbClr val="262626"/>
                </a:solidFill>
                <a:latin typeface="Garamond"/>
              </a:rPr>
              <a:t>Days Off Wing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Days</c:v>
                </c:pt>
              </c:strCache>
            </c:strRef>
          </c:tx>
          <c:spPr>
            <a:solidFill>
              <a:srgbClr val="A6A6A6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62626"/>
                    </a:solidFill>
                    <a:latin typeface="Garamon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6A6A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702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Shop visit</c:v>
                  </c:pt>
                  <c:pt idx="1">
                    <c:v>FTAI swap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150</c:v>
                </c:pt>
                <c:pt idx="1">
                  <c:v>15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262626"/>
                  </a:solidFill>
                  <a:latin typeface="Garamon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7F7F7F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62626"/>
                </a:solidFill>
                <a:latin typeface="Garamon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62626"/>
                </a:solidFill>
                <a:latin typeface="Garamon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Incl. SCI captive</c:v>
                </c:pt>
              </c:strCache>
            </c:strRef>
          </c:tx>
          <c:spPr>
            <a:solidFill>
              <a:srgbClr val="E8702A"/>
            </a:solidFill>
            <a:ln w="28575" cap="flat">
              <a:solidFill>
                <a:srgbClr val="E8702A"/>
              </a:solidFill>
              <a:prstDash val="solid"/>
              <a:round/>
            </a:ln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62626"/>
                    </a:solidFill>
                    <a:latin typeface="Garamond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702A"/>
              </a:solidFill>
              <a:ln w="9525" cap="flat">
                <a:solidFill>
                  <a:srgbClr val="E8702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FY26E</c:v>
                  </c:pt>
                  <c:pt idx="1">
                    <c:v>FY27E</c:v>
                  </c:pt>
                  <c:pt idx="2">
                    <c:v>FY28E</c:v>
                  </c:pt>
                  <c:pt idx="3">
                    <c:v>FY29E</c:v>
                  </c:pt>
                  <c:pt idx="4">
                    <c:v>FY30E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0.167</c:v>
                </c:pt>
                <c:pt idx="1">
                  <c:v>0.236</c:v>
                </c:pt>
                <c:pt idx="2">
                  <c:v>0.285</c:v>
                </c:pt>
                <c:pt idx="3">
                  <c:v>0.312</c:v>
                </c:pt>
                <c:pt idx="4">
                  <c:v>0.332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Third-party only (base)</c:v>
                </c:pt>
              </c:strCache>
            </c:strRef>
          </c:tx>
          <c:spPr>
            <a:solidFill>
              <a:srgbClr val="1F3864"/>
            </a:solidFill>
            <a:ln w="28575" cap="flat">
              <a:solidFill>
                <a:srgbClr val="1F3864"/>
              </a:solidFill>
              <a:prstDash val="solid"/>
              <a:round/>
            </a:ln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62626"/>
                    </a:solidFill>
                    <a:latin typeface="Garamond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3864"/>
              </a:solidFill>
              <a:ln w="9525" cap="flat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FY26E</c:v>
                  </c:pt>
                  <c:pt idx="1">
                    <c:v>FY27E</c:v>
                  </c:pt>
                  <c:pt idx="2">
                    <c:v>FY28E</c:v>
                  </c:pt>
                  <c:pt idx="3">
                    <c:v>FY29E</c:v>
                  </c:pt>
                  <c:pt idx="4">
                    <c:v>FY30E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0.124</c:v>
                </c:pt>
                <c:pt idx="1">
                  <c:v>0.168</c:v>
                </c:pt>
                <c:pt idx="2">
                  <c:v>0.19</c:v>
                </c:pt>
                <c:pt idx="3">
                  <c:v>0.195</c:v>
                </c:pt>
                <c:pt idx="4">
                  <c:v>0.2</c:v>
                </c:pt>
              </c:numCache>
            </c:numRef>
          </c:val>
          <c:smooth val="0"/>
        </c:ser>
        <c:dLbls>
          <c:numFmt formatCode="0%" sourceLinked="0"/>
          <c:txPr>
            <a:bodyPr/>
            <a:lstStyle/>
            <a:p>
              <a:pPr>
                <a:defRPr b="0" i="0" strike="noStrike" sz="900" u="none">
                  <a:solidFill>
                    <a:srgbClr val="262626"/>
                  </a:solidFill>
                  <a:latin typeface="Garamond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7F7F7F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62626"/>
                </a:solidFill>
                <a:latin typeface="Garamon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62626"/>
                </a:solidFill>
                <a:latin typeface="Garamon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Garamond"/>
              <a:cs typeface="Garamon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262626"/>
                </a:solidFill>
                <a:latin typeface="Garamond"/>
              </a:defRPr>
            </a:pPr>
            <a:r>
              <a:rPr sz="1050" b="0" i="0" u="none" strike="noStrike">
                <a:solidFill>
                  <a:srgbClr val="262626"/>
                </a:solidFill>
                <a:latin typeface="Garamond"/>
              </a:rPr>
              <a:t>Output vs. Capacity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Modules produced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Garamond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2025
757</c:v>
                  </c:pt>
                  <c:pt idx="1">
                    <c:v>2026E
1,200</c:v>
                  </c:pt>
                  <c:pt idx="2">
                    <c:v>2027E
1,700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757</c:v>
                </c:pt>
                <c:pt idx="1">
                  <c:v>1200</c:v>
                </c:pt>
                <c:pt idx="2">
                  <c:v>1700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Spare capacity</c:v>
                </c:pt>
              </c:strCache>
            </c:strRef>
          </c:tx>
          <c:spPr>
            <a:solidFill>
              <a:srgbClr val="BDD7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Garamond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2025
757</c:v>
                  </c:pt>
                  <c:pt idx="1">
                    <c:v>2026E
1,200</c:v>
                  </c:pt>
                  <c:pt idx="2">
                    <c:v>2027E
1,700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1243</c:v>
                </c:pt>
                <c:pt idx="1">
                  <c:v>1800</c:v>
                </c:pt>
                <c:pt idx="2">
                  <c:v>1300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Garamon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7F7F7F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62626"/>
                </a:solidFill>
                <a:latin typeface="Garamon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62626"/>
                </a:solidFill>
                <a:latin typeface="Garamon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Garamond"/>
              <a:cs typeface="Garamon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262626"/>
                </a:solidFill>
                <a:latin typeface="Garamond"/>
              </a:defRPr>
            </a:pPr>
            <a:r>
              <a:rPr sz="1050" b="0" i="0" u="none" strike="noStrike">
                <a:solidFill>
                  <a:srgbClr val="262626"/>
                </a:solidFill>
                <a:latin typeface="Garamond"/>
              </a:rPr>
              <a:t>Big Four Capex ($bn)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Capex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62626"/>
                    </a:solidFill>
                    <a:latin typeface="Garamon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  <c:pt idx="7">
                    <c:v>2026E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69</c:v>
                </c:pt>
                <c:pt idx="1">
                  <c:v>95</c:v>
                </c:pt>
                <c:pt idx="2">
                  <c:v>128</c:v>
                </c:pt>
                <c:pt idx="3">
                  <c:v>151</c:v>
                </c:pt>
                <c:pt idx="4">
                  <c:v>147</c:v>
                </c:pt>
                <c:pt idx="5">
                  <c:v>228</c:v>
                </c:pt>
                <c:pt idx="6">
                  <c:v>376</c:v>
                </c:pt>
                <c:pt idx="7">
                  <c:v>733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262626"/>
                  </a:solidFill>
                  <a:latin typeface="Garamon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7F7F7F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262626"/>
                </a:solidFill>
                <a:latin typeface="Garamon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6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62626"/>
                </a:solidFill>
                <a:latin typeface="Garamon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262626"/>
                </a:solidFill>
                <a:latin typeface="Garamond"/>
              </a:defRPr>
            </a:pPr>
            <a:r>
              <a:rPr sz="1050" b="0" i="0" u="none" strike="noStrike">
                <a:solidFill>
                  <a:srgbClr val="262626"/>
                </a:solidFill>
                <a:latin typeface="Garamond"/>
              </a:rPr>
              <a:t>US Corporate PPAs Signed (GW)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PPA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62626"/>
                    </a:solidFill>
                    <a:latin typeface="Garamon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16</c:v>
                </c:pt>
                <c:pt idx="1">
                  <c:v>16</c:v>
                </c:pt>
                <c:pt idx="2">
                  <c:v>19</c:v>
                </c:pt>
                <c:pt idx="3">
                  <c:v>21</c:v>
                </c:pt>
                <c:pt idx="4">
                  <c:v>17</c:v>
                </c:pt>
                <c:pt idx="5">
                  <c:v>29.1</c:v>
                </c:pt>
                <c:pt idx="6">
                  <c:v>29.5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850" u="none">
                  <a:solidFill>
                    <a:srgbClr val="262626"/>
                  </a:solidFill>
                  <a:latin typeface="Garamon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7F7F7F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262626"/>
                </a:solidFill>
                <a:latin typeface="Garamon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6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62626"/>
                </a:solidFill>
                <a:latin typeface="Garamon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262626"/>
                </a:solidFill>
                <a:latin typeface="Garamond"/>
              </a:defRPr>
            </a:pPr>
            <a:r>
              <a:rPr sz="1050" b="0" i="0" u="none" strike="noStrike">
                <a:solidFill>
                  <a:srgbClr val="262626"/>
                </a:solidFill>
                <a:latin typeface="Garamond"/>
              </a:rPr>
              <a:t>Reserve Shortfall (GW)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PJM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Garamond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</c:v>
                  </c:pt>
                  <c:pt idx="5">
                    <c:v>2031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8.4</c:v>
                </c:pt>
                <c:pt idx="4">
                  <c:v>21.6</c:v>
                </c:pt>
                <c:pt idx="5">
                  <c:v>36.9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MISO</c:v>
                </c:pt>
              </c:strCache>
            </c:strRef>
          </c:tx>
          <c:spPr>
            <a:solidFill>
              <a:srgbClr val="E870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Garamond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</c:v>
                  </c:pt>
                  <c:pt idx="5">
                    <c:v>2031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5.5</c:v>
                </c:pt>
                <c:pt idx="5">
                  <c:v>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A6A6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Garamond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</c:v>
                  </c:pt>
                  <c:pt idx="5">
                    <c:v>2031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Garamon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7F7F7F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62626"/>
                </a:solidFill>
                <a:latin typeface="Garamon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62626"/>
                </a:solidFill>
                <a:latin typeface="Garamon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Garamond"/>
              <a:cs typeface="Garamon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262626"/>
                </a:solidFill>
                <a:latin typeface="Garamond"/>
              </a:defRPr>
            </a:pPr>
            <a:r>
              <a:rPr sz="1050" b="0" i="0" u="none" strike="noStrike">
                <a:solidFill>
                  <a:srgbClr val="262626"/>
                </a:solidFill>
                <a:latin typeface="Garamond"/>
              </a:rPr>
              <a:t>P(≥1 order) by buyer group, 12M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62626"/>
                    </a:solidFill>
                    <a:latin typeface="Garamon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Anthropic / neoclouds</c:v>
                  </c:pt>
                  <c:pt idx="1">
                    <c:v>Unidentified (residual)</c:v>
                  </c:pt>
                  <c:pt idx="2">
                    <c:v>Oracle / OpenAI</c:v>
                  </c:pt>
                  <c:pt idx="3">
                    <c:v>Developers (Fermi, Pacifico)</c:v>
                  </c:pt>
                  <c:pt idx="4">
                    <c:v>Crusoe</c:v>
                  </c:pt>
                  <c:pt idx="5">
                    <c:v>Cipher (BYOG, 2.5 GW)</c:v>
                  </c:pt>
                  <c:pt idx="6">
                    <c:v>xAI / SpaceX (4 sites)</c:v>
                  </c:pt>
                  <c:pt idx="7">
                    <c:v>Jereh repeat buyers (B–E)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</c:v>
                </c:pt>
                <c:pt idx="1">
                  <c:v>8</c:v>
                </c:pt>
                <c:pt idx="2">
                  <c:v>8.4</c:v>
                </c:pt>
                <c:pt idx="3">
                  <c:v>9.4</c:v>
                </c:pt>
                <c:pt idx="4">
                  <c:v>11.5</c:v>
                </c:pt>
                <c:pt idx="5">
                  <c:v>17</c:v>
                </c:pt>
                <c:pt idx="6">
                  <c:v>30.4</c:v>
                </c:pt>
                <c:pt idx="7">
                  <c:v>35.8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850" u="none">
                  <a:solidFill>
                    <a:srgbClr val="262626"/>
                  </a:solidFill>
                  <a:latin typeface="Garamon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7F7F7F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262626"/>
                </a:solidFill>
                <a:latin typeface="Garamon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4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62626"/>
                </a:solidFill>
                <a:latin typeface="Garamon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262626"/>
                </a:solidFill>
                <a:latin typeface="Garamond"/>
              </a:defRPr>
            </a:pPr>
            <a:r>
              <a:rPr sz="1050" b="0" i="0" u="none" strike="noStrike">
                <a:solidFill>
                  <a:srgbClr val="262626"/>
                </a:solidFill>
                <a:latin typeface="Garamond"/>
              </a:rPr>
              <a:t>Mod-1 Units Delivered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Bear</c:v>
                </c:pt>
              </c:strCache>
            </c:strRef>
          </c:tx>
          <c:spPr>
            <a:solidFill>
              <a:srgbClr val="A6A6A6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62626"/>
                    </a:solidFill>
                    <a:latin typeface="Garamon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FY26E</c:v>
                  </c:pt>
                  <c:pt idx="1">
                    <c:v>FY27E</c:v>
                  </c:pt>
                  <c:pt idx="2">
                    <c:v>FY28E</c:v>
                  </c:pt>
                  <c:pt idx="3">
                    <c:v>FY29E</c:v>
                  </c:pt>
                  <c:pt idx="4">
                    <c:v>FY30E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30</c:v>
                </c:pt>
                <c:pt idx="2">
                  <c:v>45</c:v>
                </c:pt>
                <c:pt idx="3">
                  <c:v>50</c:v>
                </c:pt>
                <c:pt idx="4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62626"/>
                    </a:solidFill>
                    <a:latin typeface="Garamon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FY26E</c:v>
                  </c:pt>
                  <c:pt idx="1">
                    <c:v>FY27E</c:v>
                  </c:pt>
                  <c:pt idx="2">
                    <c:v>FY28E</c:v>
                  </c:pt>
                  <c:pt idx="3">
                    <c:v>FY29E</c:v>
                  </c:pt>
                  <c:pt idx="4">
                    <c:v>FY30E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45</c:v>
                </c:pt>
                <c:pt idx="2">
                  <c:v>90</c:v>
                </c:pt>
                <c:pt idx="3">
                  <c:v>110</c:v>
                </c:pt>
                <c:pt idx="4">
                  <c:v>120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Bull</c:v>
                </c:pt>
              </c:strCache>
            </c:strRef>
          </c:tx>
          <c:spPr>
            <a:solidFill>
              <a:srgbClr val="E8702A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262626"/>
                    </a:solidFill>
                    <a:latin typeface="Garamon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FY26E</c:v>
                  </c:pt>
                  <c:pt idx="1">
                    <c:v>FY27E</c:v>
                  </c:pt>
                  <c:pt idx="2">
                    <c:v>FY28E</c:v>
                  </c:pt>
                  <c:pt idx="3">
                    <c:v>FY29E</c:v>
                  </c:pt>
                  <c:pt idx="4">
                    <c:v>FY30E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</c:v>
                </c:pt>
                <c:pt idx="1">
                  <c:v>55</c:v>
                </c:pt>
                <c:pt idx="2">
                  <c:v>130</c:v>
                </c:pt>
                <c:pt idx="3">
                  <c:v>150</c:v>
                </c:pt>
                <c:pt idx="4">
                  <c:v>160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0" i="0" strike="noStrike" sz="850" u="none">
                  <a:solidFill>
                    <a:srgbClr val="262626"/>
                  </a:solidFill>
                  <a:latin typeface="Garamon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7F7F7F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62626"/>
                </a:solidFill>
                <a:latin typeface="Garamon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62626"/>
                </a:solidFill>
                <a:latin typeface="Garamon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Garamond"/>
              <a:cs typeface="Garamon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FFFF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Bear-case
outcomes</c:v>
                  </c:pt>
                  <c:pt idx="1">
                    <c:v>Thesis I
Margins</c:v>
                  </c:pt>
                  <c:pt idx="2">
                    <c:v>Thesis II
Share</c:v>
                  </c:pt>
                  <c:pt idx="3">
                    <c:v>Thesis III
Power</c:v>
                  </c:pt>
                  <c:pt idx="4">
                    <c:v>1-yr target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161.2</c:v>
                </c:pt>
                <c:pt idx="2">
                  <c:v>183.5</c:v>
                </c:pt>
                <c:pt idx="3">
                  <c:v>245.9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Bear-case
outcomes</c:v>
                  </c:pt>
                  <c:pt idx="1">
                    <c:v>Thesis I
Margins</c:v>
                  </c:pt>
                  <c:pt idx="2">
                    <c:v>Thesis II
Share</c:v>
                  </c:pt>
                  <c:pt idx="3">
                    <c:v>Thesis III
Power</c:v>
                  </c:pt>
                  <c:pt idx="4">
                    <c:v>1-yr target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161.2</c:v>
                </c:pt>
                <c:pt idx="1">
                  <c:v>22.3</c:v>
                </c:pt>
                <c:pt idx="2">
                  <c:v>62.4</c:v>
                </c:pt>
                <c:pt idx="3">
                  <c:v>63.4</c:v>
                </c:pt>
                <c:pt idx="4">
                  <c:v>309.3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7F7F7F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62626"/>
                </a:solidFill>
                <a:latin typeface="Garamon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6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P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768096"/>
            <a:ext cx="11201400" cy="0"/>
          </a:xfrm>
          <a:prstGeom prst="line">
            <a:avLst/>
          </a:prstGeom>
          <a:noFill/>
          <a:ln w="381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" y="6446520"/>
            <a:ext cx="11201400" cy="0"/>
          </a:xfrm>
          <a:prstGeom prst="line">
            <a:avLst/>
          </a:prstGeom>
          <a:noFill/>
          <a:ln w="381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61320" y="10972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FTAI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155680" y="1097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E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</a:t>
            </a:r>
            <a:endParaRPr lang="en-US" sz="1500" dirty="0"/>
          </a:p>
        </p:txBody>
      </p:sp>
      <p:sp>
        <p:nvSpPr>
          <p:cNvPr id="6" name="Text 4"/>
          <p:cNvSpPr/>
          <p:nvPr>
            <p:ph idx="104" type="title" hasCustomPrompt="1"/>
          </p:nvPr>
        </p:nvSpPr>
        <p:spPr>
          <a:xfrm>
            <a:off x="621792" y="274320"/>
            <a:ext cx="11201400" cy="47548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500" dirty="0">
                <a:solidFill>
                  <a:srgbClr val="20304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defRPr>
            </a:lvl1pPr>
          </a:lstStyle>
          <a:p>
            <a:pPr algn="l" indent="0" marL="0">
              <a:buNone/>
            </a:pP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chart" Target="/ppt/charts/chart5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chart" Target="/ppt/charts/chart8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chart" Target="/ppt/charts/chart11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chart" Target="/ppt/charts/chart13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chart" Target="/ppt/charts/chart15.xml"/><Relationship Id="rId3" Type="http://schemas.openxmlformats.org/officeDocument/2006/relationships/chart" Target="/ppt/charts/chart16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7.xml"/><Relationship Id="rId2" Type="http://schemas.openxmlformats.org/officeDocument/2006/relationships/chart" Target="/ppt/charts/chart18.xml"/><Relationship Id="rId3" Type="http://schemas.openxmlformats.org/officeDocument/2006/relationships/chart" Target="/ppt/charts/chart19.xm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0.xml"/><Relationship Id="rId2" Type="http://schemas.openxmlformats.org/officeDocument/2006/relationships/chart" Target="/ppt/charts/chart21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0"/>
            <a:ext cx="5882335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66560" y="411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FTAI</a:t>
            </a:r>
            <a:r>
              <a:rPr lang="en-US" sz="18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AVIATION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766560" y="13258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$167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6766560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2F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Share price (10/2/26)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418320" y="13258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870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$309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2011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2F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1-year target (+85%)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766560" y="27432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~5x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3429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2F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Reward-to-risk (+157% / –32%)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418320" y="27432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$161</a:t>
            </a:r>
            <a:endParaRPr lang="en-US" sz="4200" dirty="0"/>
          </a:p>
        </p:txBody>
      </p:sp>
      <p:sp>
        <p:nvSpPr>
          <p:cNvPr id="11" name="Text 9"/>
          <p:cNvSpPr txBox="1"/>
          <p:nvPr/>
        </p:nvSpPr>
        <p:spPr>
          <a:xfrm>
            <a:off x="9418320" y="3429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2F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Bear-case value ≈ today's price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66560" y="4297680"/>
            <a:ext cx="4937760" cy="0"/>
          </a:xfrm>
          <a:prstGeom prst="line">
            <a:avLst/>
          </a:prstGeom>
          <a:noFill/>
          <a:ln w="12700">
            <a:solidFill>
              <a:srgbClr val="9DC3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0" y="4480560"/>
            <a:ext cx="384048" cy="384048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0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269480" y="444398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Margins have bottomed at ~30%: the fraud unwind is &lt;8% of inventory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766560" y="5047488"/>
            <a:ext cx="384048" cy="384048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66560" y="5047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II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269480" y="501091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FTAI catches the CFM56 work OEMs and airlines are sending out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766560" y="5614416"/>
            <a:ext cx="384048" cy="384048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66560" y="5614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III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269480" y="5577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Power is a free call option on the grid gap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173736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dirty="0">
                <a:solidFill>
                  <a:srgbClr val="20304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FTAI Aviation</a:t>
            </a:r>
            <a:endParaRPr lang="en-US" sz="4400" dirty="0"/>
          </a:p>
          <a:p>
            <a:pPr indent="0" marL="0">
              <a:buNone/>
            </a:pPr>
            <a:r>
              <a:rPr lang="en-US" sz="4400" dirty="0">
                <a:solidFill>
                  <a:srgbClr val="20304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(NASDAQ: FTAI)</a:t>
            </a:r>
            <a:endParaRPr lang="en-US" sz="44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315468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0304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Long Recommendation (1-Year Target $309, +85%)</a:t>
            </a:r>
            <a:endParaRPr lang="en-US" sz="21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37490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0304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Global Platinum Securities</a:t>
            </a:r>
            <a:endParaRPr lang="en-US" sz="21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41148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304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Max Salomon  |  October 2026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46177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i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compounder still priced for a fraud.</a:t>
            </a:r>
            <a:endParaRPr lang="en-US" sz="2100" dirty="0"/>
          </a:p>
        </p:txBody>
      </p:sp>
      <p:sp>
        <p:nvSpPr>
          <p:cNvPr id="27" name="Text 25"/>
          <p:cNvSpPr txBox="1"/>
          <p:nvPr/>
        </p:nvSpPr>
        <p:spPr>
          <a:xfrm>
            <a:off x="502920" y="53949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600" kern="0" dirty="0">
                <a:solidFill>
                  <a:srgbClr val="1F386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GLOBAL</a:t>
            </a:r>
            <a:endParaRPr lang="en-US" sz="2600" dirty="0"/>
          </a:p>
          <a:p>
            <a:pPr indent="0" marL="0">
              <a:buNone/>
            </a:pPr>
            <a:r>
              <a:rPr lang="en-US" sz="1300" spc="900" kern="0" dirty="0">
                <a:solidFill>
                  <a:srgbClr val="7F8FA6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PLATINUM</a:t>
            </a:r>
            <a:endParaRPr lang="en-US" sz="2600" dirty="0"/>
          </a:p>
          <a:p>
            <a:pPr indent="0" marL="0">
              <a:buNone/>
            </a:pPr>
            <a:r>
              <a:rPr lang="en-US" sz="1300" b="1" spc="700" kern="0" dirty="0">
                <a:solidFill>
                  <a:srgbClr val="1F386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SECURITIES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621792" y="274320"/>
            <a:ext cx="11201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500" dirty="0">
                <a:solidFill>
                  <a:srgbClr val="20304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Opportunity Summary – A Compounder Still Priced for a Fraud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21792" y="896112"/>
            <a:ext cx="1120140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896112"/>
            <a:ext cx="112014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Set-up: A Short Report That Never Proved Out, and a Margin Reset That Looked Like Proof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67512" y="1325880"/>
            <a:ext cx="274320" cy="2743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7512" y="1325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33272" y="1280160"/>
            <a:ext cx="107899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FTAI trades under a fraud overhang</a:t>
            </a:r>
            <a:r>
              <a:rPr lang="en-US" sz="14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: Muddy Waters (Jan-25) alleged </a:t>
            </a:r>
            <a:r>
              <a:rPr lang="en-US" sz="14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depreciated leasing engines were moved into Aerospace inventory at book value</a:t>
            </a:r>
            <a:r>
              <a:rPr lang="en-US" sz="14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, inflating margins; the stock fell 24% in a day. An </a:t>
            </a:r>
            <a:r>
              <a:rPr lang="en-US" sz="14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audit-committee review found the claims without merit</a:t>
            </a:r>
            <a:r>
              <a:rPr lang="en-US" sz="14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and nothing was restated, yet </a:t>
            </a:r>
            <a:r>
              <a:rPr lang="en-US" sz="14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discount never closed</a:t>
            </a:r>
            <a:r>
              <a:rPr lang="en-US" sz="14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67512" y="2075688"/>
            <a:ext cx="274320" cy="2743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7512" y="2075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33272" y="2029968"/>
            <a:ext cx="107899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1H26 reset looked like confirmation</a:t>
            </a:r>
            <a:r>
              <a:rPr lang="en-US" sz="14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: Aerospace margin fell ~500 bps in one quarter and management swapped its 40% target for ~30%. The market read it as </a:t>
            </a:r>
            <a:r>
              <a:rPr lang="en-US" sz="14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cheap leasing stock running out</a:t>
            </a:r>
            <a:r>
              <a:rPr lang="en-US" sz="14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– the short thesis finally unwinding – and the stock now sits </a:t>
            </a:r>
            <a:r>
              <a:rPr lang="en-US" sz="14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~48% below its $324 high at 9.2x FY27E EBITDA</a:t>
            </a:r>
            <a:r>
              <a:rPr lang="en-US" sz="14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" y="2816352"/>
            <a:ext cx="1120140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" y="2816352"/>
            <a:ext cx="1120140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We believe the reset is a choice, not a confession – and place three trackable bets on FTAI.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" y="3182112"/>
            <a:ext cx="112014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Two observations underpin our theses: (i) </a:t>
            </a:r>
            <a:r>
              <a:rPr lang="en-US" sz="14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even if the bears were right, leasing-sourced engines are &lt;8% of inventory</a:t>
            </a:r>
            <a:r>
              <a:rPr lang="en-US" sz="14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and (ii) </a:t>
            </a:r>
            <a:r>
              <a:rPr lang="en-US" sz="14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CFM56 aftermarket is supply-constrained</a:t>
            </a:r>
            <a:r>
              <a:rPr lang="en-US" sz="14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, so FTAI chose volume over margin.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" y="3730752"/>
            <a:ext cx="11201400" cy="777240"/>
          </a:xfrm>
          <a:prstGeom prst="rect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3982212"/>
            <a:ext cx="274320" cy="2743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9822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78992" y="3749040"/>
            <a:ext cx="10652760" cy="7406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Margins have bottomed at ~30%:</a:t>
            </a:r>
            <a:r>
              <a:rPr lang="en-US" sz="13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Q1'26 leasing transfers were $90M against ~$1.4bn of inventory, and engines now flow the other way. Heavy-scope mix is capped by shop capacity, and </a:t>
            </a:r>
            <a:r>
              <a:rPr lang="en-US" sz="135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PMA enters through SCI</a:t>
            </a:r>
            <a:r>
              <a:rPr lang="en-US" sz="13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, where FTAI is the lessor. Two more ~30% prints prove the trough.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21792" y="4572000"/>
            <a:ext cx="11201400" cy="548640"/>
          </a:xfrm>
          <a:prstGeom prst="rect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4709160"/>
            <a:ext cx="274320" cy="2743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3232" y="4709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78992" y="4590288"/>
            <a:ext cx="10652760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FTAI takes the CFM56 whitespace to ~25% share:</a:t>
            </a:r>
            <a:r>
              <a:rPr lang="en-US" sz="13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OEMs and MROs are moving capacity to LEAP while LEAP problems keep CFM56s flying. FTAI's 3,000-module capacity is </a:t>
            </a:r>
            <a:r>
              <a:rPr lang="en-US" sz="135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already built</a:t>
            </a:r>
            <a:r>
              <a:rPr lang="en-US" sz="13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; Jakarta and Cairo ramp in 2027.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21792" y="5184648"/>
            <a:ext cx="11201400" cy="548640"/>
          </a:xfrm>
          <a:prstGeom prst="rect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5321808"/>
            <a:ext cx="274320" cy="2743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3232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78992" y="5202936"/>
            <a:ext cx="10652760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Power is a free call option:</a:t>
            </a:r>
            <a:r>
              <a:rPr lang="en-US" sz="13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a </a:t>
            </a:r>
            <a:r>
              <a:rPr lang="en-US" sz="135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signed $1.465bn order</a:t>
            </a:r>
            <a:r>
              <a:rPr lang="en-US" sz="13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; the grid falls 8–47 GW short from 2029 and many campuses sit at the stage the first buyer was. Today's price </a:t>
            </a:r>
            <a:r>
              <a:rPr lang="en-US" sz="135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pays nothing for it</a:t>
            </a:r>
            <a:r>
              <a:rPr lang="en-US" sz="13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21792" y="5806440"/>
            <a:ext cx="11201400" cy="566928"/>
          </a:xfrm>
          <a:prstGeom prst="rect">
            <a:avLst/>
          </a:prstGeom>
          <a:solidFill>
            <a:srgbClr val="5B7189"/>
          </a:solidFill>
          <a:ln w="12700">
            <a:solidFill>
              <a:srgbClr val="5B718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13232" y="5806440"/>
            <a:ext cx="110185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All we need is for margins to hold ~30% for two more prints. At $167 the market pays for our bear case; we see </a:t>
            </a:r>
            <a:r>
              <a:rPr lang="en-US" sz="1400" b="1" u="sng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$309 in a year, 85% upside,</a:t>
            </a:r>
            <a:r>
              <a:rPr lang="en-US" sz="14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with </a:t>
            </a:r>
            <a:r>
              <a:rPr lang="en-US" sz="1400" b="1" u="sng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~5x reward-to-risk</a:t>
            </a:r>
            <a:r>
              <a:rPr lang="en-US" sz="14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.</a:t>
            </a:r>
            <a:r>
              <a:rPr lang="en-US" sz="1400" baseline="300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" y="647395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Source: Company Filings, Muddy Waters Research (Jan-25), Earnings Calls, Bloomberg, GPS Model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0" y="647395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1.  1-year base-case sum of the parts (Oct-27); reward-to-risk = bull upside (+157%) / bear downside (–32%).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621792" y="274320"/>
            <a:ext cx="11201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500" dirty="0">
                <a:solidFill>
                  <a:srgbClr val="20304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Business Overview – A Module Factory Scaling Through a Margin Reset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475488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20304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($ in millions)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822960"/>
            <a:ext cx="11201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1F386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FTAI offers 1) a CFM56 aftermarket business still winning share, 2) an asset-light leasing arm that feeds it, and 3) a new Power segment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1792" y="1188720"/>
            <a:ext cx="7882128" cy="31089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188720"/>
            <a:ext cx="7882128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Business Segments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536192"/>
            <a:ext cx="7882128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1)  Aerospace Products</a:t>
            </a:r>
            <a:r>
              <a:rPr lang="en-US" sz="13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(77% of FY25 Revenue, 52% of Segment EBITDA</a:t>
            </a:r>
            <a:r>
              <a:rPr lang="en-US" sz="1300" baseline="30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</a:t>
            </a:r>
            <a:r>
              <a:rPr lang="en-US" sz="13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):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50392" y="1773936"/>
            <a:ext cx="7653528" cy="950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Swaps restored </a:t>
            </a:r>
            <a:r>
              <a:rPr lang="en-US" sz="115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fan, core and LPT modules</a:t>
            </a:r>
            <a:r>
              <a:rPr lang="en-US" sz="11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from its own pool: engines back in </a:t>
            </a:r>
            <a:r>
              <a:rPr lang="en-US" sz="115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5–25 days vs. 120–180</a:t>
            </a:r>
            <a:r>
              <a:rPr lang="en-US" sz="11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at a shop</a:t>
            </a:r>
            <a:endParaRPr lang="en-US" sz="1150" dirty="0"/>
          </a:p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Feedstock is </a:t>
            </a:r>
            <a:r>
              <a:rPr lang="en-US" sz="115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run-out engines</a:t>
            </a:r>
            <a:r>
              <a:rPr lang="en-US" sz="11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bought from airlines, lessors and SCI; also sells used serviceable parts</a:t>
            </a:r>
            <a:endParaRPr lang="en-US" sz="1150" dirty="0"/>
          </a:p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115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757 modules (FY25) → 1,200 (FY26E) → 1,700 (FY27E)</a:t>
            </a:r>
            <a:r>
              <a:rPr lang="en-US" sz="11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; CFM56 module share ~10% → 14% in 1H26</a:t>
            </a:r>
            <a:r>
              <a:rPr lang="en-US" sz="1150" baseline="30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</a:t>
            </a:r>
            <a:endParaRPr lang="en-US" sz="1150" dirty="0"/>
          </a:p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Margin </a:t>
            </a:r>
            <a:r>
              <a:rPr lang="en-US" sz="115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reset from ~35% to ~30%</a:t>
            </a:r>
            <a:r>
              <a:rPr lang="en-US" sz="11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in 1H26 on heavier workscopes and large airline deals (United)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" y="2743200"/>
            <a:ext cx="7882128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21792" y="2779776"/>
            <a:ext cx="7882128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2)  Aviation Leasing + SCI</a:t>
            </a:r>
            <a:r>
              <a:rPr lang="en-US" sz="13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(23% of FY25 Revenue, 48% of Segment EBITDA):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50392" y="3017520"/>
            <a:ext cx="7653528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Going asset-light: aircraft sold into </a:t>
            </a:r>
            <a:r>
              <a:rPr lang="en-US" sz="115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SCI</a:t>
            </a:r>
            <a:r>
              <a:rPr lang="en-US" sz="11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, an FTAI-sponsored fund ($2.0bn equity, ~$6bn buying power)</a:t>
            </a:r>
            <a:endParaRPr lang="en-US" sz="1150" dirty="0"/>
          </a:p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FTAI services SCI's fleet and </a:t>
            </a:r>
            <a:r>
              <a:rPr lang="en-US" sz="115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receives all of its engine work</a:t>
            </a:r>
            <a:r>
              <a:rPr lang="en-US" sz="11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: SCI grows from 130 to ~316 aircraft by YE26E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" y="3547872"/>
            <a:ext cx="7882128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621792" y="3584448"/>
            <a:ext cx="7882128" cy="24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3)  FTAI Power</a:t>
            </a:r>
            <a:r>
              <a:rPr lang="en-US" sz="13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(launched Dec-25; $450–750M FY27 EBITDA guidance):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50392" y="3822192"/>
            <a:ext cx="7653528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Converts CFM56 cores into </a:t>
            </a:r>
            <a:r>
              <a:rPr lang="en-US" sz="115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25 MW "Mod-1" gas turbines</a:t>
            </a:r>
            <a:r>
              <a:rPr lang="en-US" sz="11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(~$1M per MW) sold as bridge power to AI data centers</a:t>
            </a:r>
            <a:endParaRPr lang="en-US" sz="1150" dirty="0"/>
          </a:p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First order </a:t>
            </a:r>
            <a:r>
              <a:rPr lang="en-US" sz="115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$1.465bn</a:t>
            </a:r>
            <a:r>
              <a:rPr lang="en-US" sz="11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(Jul-26) via J&amp;F, FTAI's JV with Jereh; delivered in batches through Nov-27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686800" y="1188720"/>
            <a:ext cx="3136392" cy="2011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0" y="1188720"/>
            <a:ext cx="3136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Key Aerospace Financials (FY25)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686800" y="1389888"/>
            <a:ext cx="3136392" cy="182880"/>
          </a:xfrm>
          <a:prstGeom prst="rect">
            <a:avLst/>
          </a:prstGeom>
          <a:solidFill>
            <a:srgbClr val="DDEBF7"/>
          </a:solidFill>
          <a:ln w="12700">
            <a:solidFill>
              <a:srgbClr val="DDEB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714232" y="1389888"/>
            <a:ext cx="213274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Aerospace Revenue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0568635" y="1389888"/>
            <a:ext cx="12179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$1,936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796528" y="1572768"/>
            <a:ext cx="213274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FY26E Revenue Growth (%)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10568635" y="1572768"/>
            <a:ext cx="12179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79.4%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0631363" y="1737360"/>
            <a:ext cx="1155253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0" y="1755648"/>
            <a:ext cx="3136392" cy="182880"/>
          </a:xfrm>
          <a:prstGeom prst="rect">
            <a:avLst/>
          </a:prstGeom>
          <a:solidFill>
            <a:srgbClr val="DDEBF7"/>
          </a:solidFill>
          <a:ln w="12700">
            <a:solidFill>
              <a:srgbClr val="DDEBF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714232" y="1755648"/>
            <a:ext cx="213274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Aerospace Adj. EBITDA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10568635" y="1755648"/>
            <a:ext cx="12179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$671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8796528" y="1938528"/>
            <a:ext cx="213274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EBITDA Margin (%)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10568635" y="1938528"/>
            <a:ext cx="12179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34.7%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8796528" y="2121408"/>
            <a:ext cx="213274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Q2'26 EBITDA Margin (%)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10568635" y="2121408"/>
            <a:ext cx="12179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28.5%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0631363" y="2286000"/>
            <a:ext cx="1155253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86800" y="2304288"/>
            <a:ext cx="3136392" cy="182880"/>
          </a:xfrm>
          <a:prstGeom prst="rect">
            <a:avLst/>
          </a:prstGeom>
          <a:solidFill>
            <a:srgbClr val="DDEBF7"/>
          </a:solidFill>
          <a:ln w="12700">
            <a:solidFill>
              <a:srgbClr val="DDEBF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714232" y="2304288"/>
            <a:ext cx="213274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Modules Produced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10568635" y="2304288"/>
            <a:ext cx="12179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757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8796528" y="2487168"/>
            <a:ext cx="213274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FY26E Guidance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10568635" y="2487168"/>
            <a:ext cx="12179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1,200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686800" y="2697480"/>
            <a:ext cx="3136392" cy="2011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686800" y="2697480"/>
            <a:ext cx="3136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Cap Table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8714232" y="2898648"/>
            <a:ext cx="213274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Share Price (As of 10/2/26)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10568635" y="2898648"/>
            <a:ext cx="12179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$167.03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8714232" y="3081528"/>
            <a:ext cx="213274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(x) Diluted Shares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10568635" y="3081528"/>
            <a:ext cx="12179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104.0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686800" y="3264408"/>
            <a:ext cx="3136392" cy="182880"/>
          </a:xfrm>
          <a:prstGeom prst="rect">
            <a:avLst/>
          </a:prstGeom>
          <a:solidFill>
            <a:srgbClr val="DDEBF7"/>
          </a:solidFill>
          <a:ln w="12700">
            <a:solidFill>
              <a:srgbClr val="DDEBF7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714232" y="3264408"/>
            <a:ext cx="213274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Market Cap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10568635" y="3264408"/>
            <a:ext cx="12179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$17,378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714232" y="3447288"/>
            <a:ext cx="213274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(+) Total Debt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10568635" y="3447288"/>
            <a:ext cx="12179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3,453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8714232" y="3630168"/>
            <a:ext cx="213274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(–) Cash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10568635" y="3630168"/>
            <a:ext cx="12179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(337)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8714232" y="3813048"/>
            <a:ext cx="213274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(+) Preferred Equity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10568635" y="3813048"/>
            <a:ext cx="12179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65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10631363" y="3977640"/>
            <a:ext cx="1155253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686800" y="3995928"/>
            <a:ext cx="3136392" cy="182880"/>
          </a:xfrm>
          <a:prstGeom prst="rect">
            <a:avLst/>
          </a:prstGeom>
          <a:solidFill>
            <a:srgbClr val="DDEBF7"/>
          </a:solidFill>
          <a:ln w="12700">
            <a:solidFill>
              <a:srgbClr val="DDEBF7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714232" y="3995928"/>
            <a:ext cx="213274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Enterprise Value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10568635" y="3995928"/>
            <a:ext cx="12179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$20,560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8714232" y="4178808"/>
            <a:ext cx="213274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EV / FY26E Adj. EBITDA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10568635" y="4178808"/>
            <a:ext cx="12179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15.7x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8714232" y="4361688"/>
            <a:ext cx="213274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EV / FY27E Adj. EBITDA</a:t>
            </a:r>
            <a:endParaRPr lang="en-US" sz="1050" dirty="0"/>
          </a:p>
        </p:txBody>
      </p:sp>
      <p:sp>
        <p:nvSpPr>
          <p:cNvPr id="58" name="Text 56"/>
          <p:cNvSpPr txBox="1"/>
          <p:nvPr/>
        </p:nvSpPr>
        <p:spPr>
          <a:xfrm>
            <a:off x="10568635" y="4361688"/>
            <a:ext cx="121798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9.2x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21792" y="4681728"/>
            <a:ext cx="11201400" cy="31089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21792" y="4681728"/>
            <a:ext cx="1120140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Earnings Algorithm for Aerospace Products</a:t>
            </a:r>
            <a:endParaRPr lang="en-US" sz="1400" dirty="0"/>
          </a:p>
        </p:txBody>
      </p:sp>
      <p:sp>
        <p:nvSpPr>
          <p:cNvPr id="61" name="Text 59"/>
          <p:cNvSpPr txBox="1"/>
          <p:nvPr/>
        </p:nvSpPr>
        <p:spPr>
          <a:xfrm>
            <a:off x="621792" y="5029200"/>
            <a:ext cx="11201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Module Demand × FTAI Share × Revenue per Module × EBITDA Margin</a:t>
            </a:r>
            <a:endParaRPr lang="en-US" sz="1900" dirty="0"/>
          </a:p>
        </p:txBody>
      </p:sp>
      <p:sp>
        <p:nvSpPr>
          <p:cNvPr id="62" name="Shape 60"/>
          <p:cNvSpPr/>
          <p:nvPr/>
        </p:nvSpPr>
        <p:spPr>
          <a:xfrm>
            <a:off x="758952" y="5422392"/>
            <a:ext cx="10927080" cy="384048"/>
          </a:xfrm>
          <a:prstGeom prst="rect">
            <a:avLst/>
          </a:prstGeom>
          <a:ln w="19050">
            <a:solidFill>
              <a:srgbClr val="1A1A1A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777240" y="542239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[Fleet × Shop-Visit Rate × 3]</a:t>
            </a:r>
            <a:endParaRPr lang="en-US" sz="1500" dirty="0"/>
          </a:p>
        </p:txBody>
      </p:sp>
      <p:sp>
        <p:nvSpPr>
          <p:cNvPr id="64" name="Shape 62"/>
          <p:cNvSpPr/>
          <p:nvPr/>
        </p:nvSpPr>
        <p:spPr>
          <a:xfrm rot="5400000">
            <a:off x="1924812" y="4796028"/>
            <a:ext cx="219456" cy="2240280"/>
          </a:xfrm>
          <a:prstGeom prst="rightBrac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777240" y="607161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304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Industry Demand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3337560" y="542239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× [3rd-Party Share + SCI Captive]</a:t>
            </a:r>
            <a:endParaRPr lang="en-US" sz="1500" dirty="0"/>
          </a:p>
        </p:txBody>
      </p:sp>
      <p:sp>
        <p:nvSpPr>
          <p:cNvPr id="67" name="Shape 65"/>
          <p:cNvSpPr/>
          <p:nvPr/>
        </p:nvSpPr>
        <p:spPr>
          <a:xfrm rot="5400000">
            <a:off x="4645152" y="4636008"/>
            <a:ext cx="219456" cy="2560320"/>
          </a:xfrm>
          <a:prstGeom prst="rightBrac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3337560" y="607161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304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Thesis II: Share</a:t>
            </a:r>
            <a:endParaRPr lang="en-US" sz="1400" dirty="0"/>
          </a:p>
        </p:txBody>
      </p:sp>
      <p:sp>
        <p:nvSpPr>
          <p:cNvPr id="69" name="Text 67"/>
          <p:cNvSpPr txBox="1"/>
          <p:nvPr/>
        </p:nvSpPr>
        <p:spPr>
          <a:xfrm>
            <a:off x="6217920" y="5422392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× [Price + OEM Escalator]</a:t>
            </a:r>
            <a:endParaRPr lang="en-US" sz="1500" dirty="0"/>
          </a:p>
        </p:txBody>
      </p:sp>
      <p:sp>
        <p:nvSpPr>
          <p:cNvPr id="70" name="Shape 68"/>
          <p:cNvSpPr/>
          <p:nvPr/>
        </p:nvSpPr>
        <p:spPr>
          <a:xfrm rot="5400000">
            <a:off x="7228332" y="4933188"/>
            <a:ext cx="219456" cy="1965960"/>
          </a:xfrm>
          <a:prstGeom prst="rightBrac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6217920" y="607161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304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Pricing</a:t>
            </a:r>
            <a:endParaRPr lang="en-US" sz="1400" dirty="0"/>
          </a:p>
        </p:txBody>
      </p:sp>
      <p:sp>
        <p:nvSpPr>
          <p:cNvPr id="72" name="Text 70"/>
          <p:cNvSpPr txBox="1"/>
          <p:nvPr/>
        </p:nvSpPr>
        <p:spPr>
          <a:xfrm>
            <a:off x="8503920" y="542239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× [Mix + Feedstock + PMA]</a:t>
            </a:r>
            <a:endParaRPr lang="en-US" sz="1500" dirty="0"/>
          </a:p>
        </p:txBody>
      </p:sp>
      <p:sp>
        <p:nvSpPr>
          <p:cNvPr id="73" name="Shape 71"/>
          <p:cNvSpPr/>
          <p:nvPr/>
        </p:nvSpPr>
        <p:spPr>
          <a:xfrm rot="5400000">
            <a:off x="9651492" y="4796028"/>
            <a:ext cx="219456" cy="2240280"/>
          </a:xfrm>
          <a:prstGeom prst="rightBrac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8503920" y="607161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304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Thesis I: Margin</a:t>
            </a:r>
            <a:endParaRPr lang="en-US" sz="1400" dirty="0"/>
          </a:p>
        </p:txBody>
      </p:sp>
      <p:sp>
        <p:nvSpPr>
          <p:cNvPr id="75" name="Text 73"/>
          <p:cNvSpPr txBox="1"/>
          <p:nvPr/>
        </p:nvSpPr>
        <p:spPr>
          <a:xfrm>
            <a:off x="621792" y="647395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Source: Company Filings, Earnings Calls, Investor Presentation, GPS Model</a:t>
            </a:r>
            <a:endParaRPr lang="en-US" sz="1100" dirty="0"/>
          </a:p>
        </p:txBody>
      </p:sp>
      <p:sp>
        <p:nvSpPr>
          <p:cNvPr id="76" name="Text 74"/>
          <p:cNvSpPr txBox="1"/>
          <p:nvPr/>
        </p:nvSpPr>
        <p:spPr>
          <a:xfrm>
            <a:off x="7772400" y="647395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1.  Segment EBITDA mix excludes Corporate &amp; Other.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2.  Module share of CFM56 third-party module demand, per management (Q2'26).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621792" y="274320"/>
            <a:ext cx="11201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500" dirty="0">
                <a:solidFill>
                  <a:srgbClr val="20304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Industry Overview – A Price-Taking Aftermarket Entering Its Heaviest Years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22960"/>
            <a:ext cx="1120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i="1" dirty="0">
                <a:solidFill>
                  <a:srgbClr val="1F386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CFM56 aftermarket is aging into heavier visits, with flat demand through 2028 and repair prices compounding ~6% a year. FTAI chose share over margin in 1H26 – a deliberate reset the market reads as structural.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41732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304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CFM56 fleet is aging into repeat, heavier visits...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1792" y="1719072"/>
            <a:ext cx="5440680" cy="0"/>
          </a:xfrm>
          <a:prstGeom prst="line">
            <a:avLst/>
          </a:prstGeom>
          <a:noFill/>
          <a:ln w="9525">
            <a:solidFill>
              <a:srgbClr val="203040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621792" y="1783080"/>
          <a:ext cx="338328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096512" y="18288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22,700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4096512" y="2212848"/>
            <a:ext cx="19202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CFM56-5B/-7B engines in service: the </a:t>
            </a:r>
            <a:r>
              <a:rPr lang="en-US" sz="11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largest fleet in aviation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096512" y="27432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70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43%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096512" y="3127248"/>
            <a:ext cx="19202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of the fleet on its </a:t>
            </a:r>
            <a:r>
              <a:rPr lang="en-US" sz="11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third or later visit by 2028</a:t>
            </a:r>
            <a:r>
              <a:rPr lang="en-US" sz="11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, when full restorations dominate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382512" y="141732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304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... keeping shop-visit demand flat through 2028...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382512" y="1719072"/>
            <a:ext cx="5440680" cy="0"/>
          </a:xfrm>
          <a:prstGeom prst="line">
            <a:avLst/>
          </a:prstGeom>
          <a:noFill/>
          <a:ln w="9525">
            <a:solidFill>
              <a:srgbClr val="203040"/>
            </a:solidFill>
            <a:prstDash val="solid"/>
          </a:ln>
        </p:spPr>
      </p:sp>
      <p:graphicFrame>
        <p:nvGraphicFramePr>
          <p:cNvPr id="13" name="Chart 1" descr=""/>
          <p:cNvGraphicFramePr/>
          <p:nvPr/>
        </p:nvGraphicFramePr>
        <p:xfrm>
          <a:off x="6382512" y="2029968"/>
          <a:ext cx="352044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Shape 10"/>
          <p:cNvSpPr/>
          <p:nvPr/>
        </p:nvSpPr>
        <p:spPr>
          <a:xfrm>
            <a:off x="6949440" y="2084832"/>
            <a:ext cx="1417320" cy="1481328"/>
          </a:xfrm>
          <a:prstGeom prst="rect">
            <a:avLst/>
          </a:prstGeom>
          <a:ln w="19050">
            <a:solidFill>
              <a:srgbClr val="C00000"/>
            </a:solidFill>
            <a:prstDash val="dash"/>
          </a:ln>
        </p:spPr>
      </p:sp>
      <p:sp>
        <p:nvSpPr>
          <p:cNvPr id="15" name="Text 11"/>
          <p:cNvSpPr txBox="1"/>
          <p:nvPr/>
        </p:nvSpPr>
        <p:spPr>
          <a:xfrm>
            <a:off x="6748272" y="18288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GE: plateau through 2028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9994392" y="1828800"/>
            <a:ext cx="1828800" cy="1920240"/>
          </a:xfrm>
          <a:prstGeom prst="rect">
            <a:avLst/>
          </a:prstGeom>
          <a:ln w="15875">
            <a:solidFill>
              <a:srgbClr val="1A1A1A"/>
            </a:solidFill>
            <a:prstDash val="dash"/>
          </a:ln>
        </p:spPr>
      </p:sp>
      <p:sp>
        <p:nvSpPr>
          <p:cNvPr id="17" name="Text 13"/>
          <p:cNvSpPr txBox="1"/>
          <p:nvPr/>
        </p:nvSpPr>
        <p:spPr>
          <a:xfrm>
            <a:off x="10040112" y="1874520"/>
            <a:ext cx="1737360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Retirements running </a:t>
            </a:r>
            <a:r>
              <a:rPr lang="en-US" sz="11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1.5–2%</a:t>
            </a:r>
            <a:r>
              <a:rPr lang="en-US" sz="11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vs. GE's 2–3% assumption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LEAP durability fixes cut over only in 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early 2027</a:t>
            </a:r>
            <a:r>
              <a:rPr lang="en-US" sz="11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; GTF groundings persist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621792" y="38862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304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... while third-party repair prices compound ~6% a year...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21792" y="4187952"/>
            <a:ext cx="5440680" cy="0"/>
          </a:xfrm>
          <a:prstGeom prst="line">
            <a:avLst/>
          </a:prstGeom>
          <a:noFill/>
          <a:ln w="9525">
            <a:solidFill>
              <a:srgbClr val="203040"/>
            </a:solidFill>
            <a:prstDash val="solid"/>
          </a:ln>
        </p:spPr>
      </p:sp>
      <p:graphicFrame>
        <p:nvGraphicFramePr>
          <p:cNvPr id="20" name="Chart 2" descr=""/>
          <p:cNvGraphicFramePr/>
          <p:nvPr/>
        </p:nvGraphicFramePr>
        <p:xfrm>
          <a:off x="621792" y="4251960"/>
          <a:ext cx="3383280" cy="21214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1" name="Shape 16"/>
          <p:cNvSpPr/>
          <p:nvPr/>
        </p:nvSpPr>
        <p:spPr>
          <a:xfrm>
            <a:off x="4096512" y="4297680"/>
            <a:ext cx="1965960" cy="2011680"/>
          </a:xfrm>
          <a:prstGeom prst="rect">
            <a:avLst/>
          </a:prstGeom>
          <a:ln w="15875">
            <a:solidFill>
              <a:srgbClr val="1A1A1A"/>
            </a:solidFill>
            <a:prstDash val="dash"/>
          </a:ln>
        </p:spPr>
      </p:sp>
      <p:sp>
        <p:nvSpPr>
          <p:cNvPr id="22" name="Text 17"/>
          <p:cNvSpPr txBox="1"/>
          <p:nvPr/>
        </p:nvSpPr>
        <p:spPr>
          <a:xfrm>
            <a:off x="4142232" y="4343400"/>
            <a:ext cx="1874520" cy="1920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Of </a:t>
            </a:r>
            <a:r>
              <a:rPr lang="en-US" sz="11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3,404 matched repair packages</a:t>
            </a:r>
            <a:r>
              <a:rPr lang="en-US" sz="11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, 3,376 rose and only 1 fell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FTAI prices 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below OEM</a:t>
            </a:r>
            <a:r>
              <a:rPr lang="en-US" sz="11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and has not passed through the escalator: headroom we model from FY28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6382512" y="388620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0304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However, FTAI deliberately traded margin for share in 1H26.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6382512" y="4187952"/>
            <a:ext cx="5440680" cy="0"/>
          </a:xfrm>
          <a:prstGeom prst="line">
            <a:avLst/>
          </a:prstGeom>
          <a:noFill/>
          <a:ln w="9525">
            <a:solidFill>
              <a:srgbClr val="203040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382512" y="4261104"/>
            <a:ext cx="5440680" cy="329184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428232" y="4261104"/>
            <a:ext cx="534924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“We're inclined to say yes and take market share.” – FTAI CEO, Q2'26 Earnings Call</a:t>
            </a:r>
            <a:endParaRPr lang="en-US" sz="1150" dirty="0"/>
          </a:p>
        </p:txBody>
      </p:sp>
      <p:graphicFrame>
        <p:nvGraphicFramePr>
          <p:cNvPr id="27" name="Chart 3" descr=""/>
          <p:cNvGraphicFramePr/>
          <p:nvPr/>
        </p:nvGraphicFramePr>
        <p:xfrm>
          <a:off x="6382512" y="4645152"/>
          <a:ext cx="2697480" cy="17556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28" name="Chart 4" descr=""/>
          <p:cNvGraphicFramePr/>
          <p:nvPr/>
        </p:nvGraphicFramePr>
        <p:xfrm>
          <a:off x="9125712" y="4645152"/>
          <a:ext cx="2697480" cy="17556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9" name="Text 22"/>
          <p:cNvSpPr txBox="1"/>
          <p:nvPr/>
        </p:nvSpPr>
        <p:spPr>
          <a:xfrm>
            <a:off x="621792" y="647395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Source: GE / Safran shop-visit outlook &amp; cohort data, Aviation Week, SR Technics CFM56 catalogues (2024–26), Company Filings, GPS Model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621792" y="274320"/>
            <a:ext cx="11201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500" dirty="0">
                <a:solidFill>
                  <a:srgbClr val="20304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Story: The Fraud Discount Frames Our Three Bets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21792" y="896112"/>
            <a:ext cx="361188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896112"/>
            <a:ext cx="36118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Consensus FTAI Story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261872"/>
            <a:ext cx="36118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FTAI's margins were flattered by the fraud. Now that it is unwinding: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" y="1783080"/>
            <a:ext cx="3611880" cy="1097280"/>
          </a:xfrm>
          <a:prstGeom prst="rect">
            <a:avLst/>
          </a:prstGeom>
          <a:ln w="15875">
            <a:solidFill>
              <a:srgbClr val="7F7F7F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12064" y="1664208"/>
            <a:ext cx="274320" cy="274320"/>
          </a:xfrm>
          <a:prstGeom prst="ellipse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12064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94944" y="1819656"/>
            <a:ext cx="3483864" cy="1042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~500 bps reset is the </a:t>
            </a:r>
            <a:r>
              <a:rPr lang="en-US" sz="13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short thesis unwinding</a:t>
            </a:r>
            <a:r>
              <a:rPr lang="en-US" sz="13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: cheap leasing engines are running out, and heavier workscopes push margin </a:t>
            </a:r>
            <a:r>
              <a:rPr lang="en-US" sz="13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below 30%</a:t>
            </a:r>
            <a:r>
              <a:rPr lang="en-US" sz="13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" y="2999232"/>
            <a:ext cx="3611880" cy="1097280"/>
          </a:xfrm>
          <a:prstGeom prst="rect">
            <a:avLst/>
          </a:prstGeom>
          <a:ln w="15875">
            <a:solidFill>
              <a:srgbClr val="7F7F7F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512064" y="2880360"/>
            <a:ext cx="274320" cy="274320"/>
          </a:xfrm>
          <a:prstGeom prst="ellipse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2064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" y="3035808"/>
            <a:ext cx="3483864" cy="1042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CFM56 is a melting ice cube: the fuel shock </a:t>
            </a:r>
            <a:r>
              <a:rPr lang="en-US" sz="13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accelerates retirements</a:t>
            </a:r>
            <a:r>
              <a:rPr lang="en-US" sz="13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and FTAI's share gains </a:t>
            </a:r>
            <a:r>
              <a:rPr lang="en-US" sz="13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stall at ~15%</a:t>
            </a:r>
            <a:r>
              <a:rPr lang="en-US" sz="13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" y="4215384"/>
            <a:ext cx="3611880" cy="1097280"/>
          </a:xfrm>
          <a:prstGeom prst="rect">
            <a:avLst/>
          </a:prstGeom>
          <a:ln w="15875">
            <a:solidFill>
              <a:srgbClr val="7F7F7F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12064" y="4096512"/>
            <a:ext cx="274320" cy="274320"/>
          </a:xfrm>
          <a:prstGeom prst="ellipse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2064" y="4096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" y="4251960"/>
            <a:ext cx="3483864" cy="1042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Power is </a:t>
            </a:r>
            <a:r>
              <a:rPr lang="en-US" sz="13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press release</a:t>
            </a:r>
            <a:r>
              <a:rPr lang="en-US" sz="13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: one unnamed buyer, no deliveries until 2027 and no proof FTAI can ramp units.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416552" y="896112"/>
            <a:ext cx="361188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16552" y="896112"/>
            <a:ext cx="36118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Why consensus misses our points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416552" y="1261872"/>
            <a:ext cx="36118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We did the work the market skipped: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416552" y="1783080"/>
            <a:ext cx="3611880" cy="1097280"/>
          </a:xfrm>
          <a:prstGeom prst="rect">
            <a:avLst/>
          </a:prstGeom>
          <a:ln w="15875">
            <a:solidFill>
              <a:srgbClr val="1A1A1A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4306824" y="1664208"/>
            <a:ext cx="274320" cy="2743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306824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489704" y="1819656"/>
            <a:ext cx="3483864" cy="1042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market never sized the claim. We traced </a:t>
            </a:r>
            <a:r>
              <a:rPr lang="en-US" sz="13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leasing-to-inventory transfers in the 10-Qs</a:t>
            </a:r>
            <a:r>
              <a:rPr lang="en-US" sz="13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: $90M vs. ~$1.4bn of inventory, and the flow now runs the other way.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416552" y="2999232"/>
            <a:ext cx="3611880" cy="1097280"/>
          </a:xfrm>
          <a:prstGeom prst="rect">
            <a:avLst/>
          </a:prstGeom>
          <a:ln w="15875">
            <a:solidFill>
              <a:srgbClr val="1A1A1A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306824" y="2880360"/>
            <a:ext cx="274320" cy="2743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306824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489704" y="3035808"/>
            <a:ext cx="3483864" cy="1042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street models retirements off assumptions. </a:t>
            </a:r>
            <a:r>
              <a:rPr lang="en-US" sz="13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GE's own 2026 data</a:t>
            </a:r>
            <a:r>
              <a:rPr lang="en-US" sz="13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shows 1.5–2%, and </a:t>
            </a:r>
            <a:r>
              <a:rPr lang="en-US" sz="13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OEMs are moving slots to LEAP</a:t>
            </a:r>
            <a:r>
              <a:rPr lang="en-US" sz="13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, leaving visits to FTAI.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416552" y="4215384"/>
            <a:ext cx="3611880" cy="1097280"/>
          </a:xfrm>
          <a:prstGeom prst="rect">
            <a:avLst/>
          </a:prstGeom>
          <a:ln w="15875">
            <a:solidFill>
              <a:srgbClr val="1A1A1A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4306824" y="4096512"/>
            <a:ext cx="274320" cy="27432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306824" y="4096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489704" y="4251960"/>
            <a:ext cx="3483864" cy="1042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Power is valued off one order. We </a:t>
            </a:r>
            <a:r>
              <a:rPr lang="en-US" sz="13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built a NERC reserve-shortfall model</a:t>
            </a:r>
            <a:r>
              <a:rPr lang="en-US" sz="13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and </a:t>
            </a:r>
            <a:r>
              <a:rPr lang="en-US" sz="13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site-level next-order model</a:t>
            </a:r>
            <a:r>
              <a:rPr lang="en-US" sz="13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across 37 AI campuses.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211312" y="896112"/>
            <a:ext cx="361188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11312" y="896112"/>
            <a:ext cx="36118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Our FTAI Story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8211312" y="1261872"/>
            <a:ext cx="36118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reset is a choice to win share in a supply-constrained market.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211312" y="1783080"/>
            <a:ext cx="3611880" cy="1097280"/>
          </a:xfrm>
          <a:prstGeom prst="rect">
            <a:avLst/>
          </a:prstGeom>
          <a:ln w="15875">
            <a:solidFill>
              <a:srgbClr val="2E9BD6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8101584" y="1664208"/>
            <a:ext cx="274320" cy="274320"/>
          </a:xfrm>
          <a:prstGeom prst="ellipse">
            <a:avLst/>
          </a:prstGeom>
          <a:solidFill>
            <a:srgbClr val="2E9BD6"/>
          </a:solidFill>
          <a:ln w="12700">
            <a:solidFill>
              <a:srgbClr val="2E9BD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101584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8284464" y="1819656"/>
            <a:ext cx="3483864" cy="1042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~30% is </a:t>
            </a:r>
            <a:r>
              <a:rPr lang="en-US" sz="13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floor, not a waypoint</a:t>
            </a:r>
            <a:r>
              <a:rPr lang="en-US" sz="13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: heavy mix is capped by capacity, PMA enters through SCI, and price pass-through </a:t>
            </a:r>
            <a:r>
              <a:rPr lang="en-US" sz="13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rebuilds margin to 32.5%</a:t>
            </a:r>
            <a:r>
              <a:rPr lang="en-US" sz="13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.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211312" y="2999232"/>
            <a:ext cx="3611880" cy="1097280"/>
          </a:xfrm>
          <a:prstGeom prst="rect">
            <a:avLst/>
          </a:prstGeom>
          <a:ln w="15875">
            <a:solidFill>
              <a:srgbClr val="2E9BD6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8101584" y="2880360"/>
            <a:ext cx="274320" cy="274320"/>
          </a:xfrm>
          <a:prstGeom prst="ellipse">
            <a:avLst/>
          </a:prstGeom>
          <a:solidFill>
            <a:srgbClr val="2E9BD6"/>
          </a:solidFill>
          <a:ln w="12700">
            <a:solidFill>
              <a:srgbClr val="2E9BD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101584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8284464" y="3035808"/>
            <a:ext cx="3483864" cy="1042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FTAI fills the whitespace OEMs leave behind: built capacity and partner shops take it to </a:t>
            </a:r>
            <a:r>
              <a:rPr lang="en-US" sz="13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~25% of CFM56 module demand</a:t>
            </a:r>
            <a:r>
              <a:rPr lang="en-US" sz="13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incl. SCI.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8211312" y="4215384"/>
            <a:ext cx="3611880" cy="1097280"/>
          </a:xfrm>
          <a:prstGeom prst="rect">
            <a:avLst/>
          </a:prstGeom>
          <a:ln w="15875">
            <a:solidFill>
              <a:srgbClr val="2E9BD6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8101584" y="4096512"/>
            <a:ext cx="274320" cy="274320"/>
          </a:xfrm>
          <a:prstGeom prst="ellipse">
            <a:avLst/>
          </a:prstGeom>
          <a:solidFill>
            <a:srgbClr val="2E9BD6"/>
          </a:solidFill>
          <a:ln w="12700">
            <a:solidFill>
              <a:srgbClr val="2E9BD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101584" y="4096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8284464" y="4251960"/>
            <a:ext cx="3483864" cy="1042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Power is a call option: we see </a:t>
            </a:r>
            <a:r>
              <a:rPr lang="en-US" sz="13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~75% odds of another order</a:t>
            </a:r>
            <a:r>
              <a:rPr lang="en-US" sz="13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in 12 months (61% ex-xAI); one more contract is worth </a:t>
            </a:r>
            <a:r>
              <a:rPr lang="en-US" sz="13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~$35/share</a:t>
            </a:r>
            <a:r>
              <a:rPr lang="en-US" sz="13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.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21792" y="5422392"/>
            <a:ext cx="3611880" cy="411480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67512" y="5422392"/>
            <a:ext cx="35204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Thus, consensus prices a </a:t>
            </a:r>
            <a:r>
              <a:rPr lang="en-US" sz="12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fraud discount on a shrinking business</a:t>
            </a:r>
            <a:r>
              <a:rPr lang="en-US" sz="12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: 9.2x FY27E EBITDA.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4416552" y="5422392"/>
            <a:ext cx="36118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Diligence: 10-Q cash-flow footnotes, GE retirement data, SR Technics catalogues, NERC LTRA, site permits.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8211312" y="5422392"/>
            <a:ext cx="36118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Catalysts: Q3'26 (late Oct), investor day (10-Dec), Q4'26 print and FY27 guide (Feb-27).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21792" y="5879592"/>
            <a:ext cx="11201400" cy="475488"/>
          </a:xfrm>
          <a:prstGeom prst="rect">
            <a:avLst/>
          </a:prstGeom>
          <a:ln w="19050">
            <a:solidFill>
              <a:srgbClr val="C00000"/>
            </a:solidFill>
            <a:prstDash val="dash"/>
          </a:ln>
        </p:spPr>
      </p:sp>
      <p:sp>
        <p:nvSpPr>
          <p:cNvPr id="53" name="Text 51"/>
          <p:cNvSpPr txBox="1"/>
          <p:nvPr/>
        </p:nvSpPr>
        <p:spPr>
          <a:xfrm>
            <a:off x="685800" y="5879592"/>
            <a:ext cx="11064240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Taking the other side of the fraud discount is a highly attractive proposition: two more ~30% prints prove the trough. Our bets playing out yield $309 in a year, 85% upside.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621792" y="274320"/>
            <a:ext cx="11201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500" dirty="0">
                <a:solidFill>
                  <a:srgbClr val="20304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Thesis I: Variance on Margins – The Unwind Is Done and Heavy Mix Has Peaked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04672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0304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Bears read the 1H26 reset as the fraud unwinding; the 10-Qs show leasing-sourced stock is &lt;8% of inventory.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21792" y="1106424"/>
            <a:ext cx="11201400" cy="0"/>
          </a:xfrm>
          <a:prstGeom prst="line">
            <a:avLst/>
          </a:prstGeom>
          <a:noFill/>
          <a:ln w="9525">
            <a:solidFill>
              <a:srgbClr val="203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170432"/>
            <a:ext cx="5806440" cy="438912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7512" y="1170432"/>
            <a:ext cx="571500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“AP inventory has been largely comprised of depreciated Leasing Equipment”, producing margins ~10 pts above peers. – Muddy Waters, Jan-25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645920"/>
            <a:ext cx="5806440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110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Small:</a:t>
            </a:r>
            <a:r>
              <a:rPr lang="en-US" sz="11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Q1'26 leasing-to-inventory transfers were </a:t>
            </a:r>
            <a:r>
              <a:rPr lang="en-US" sz="11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$89.6M vs. ~$1.4bn of inventory (6.4%)</a:t>
            </a:r>
            <a:r>
              <a:rPr lang="en-US" sz="11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, down from 10.5% a year earlier as purchased feedstock scaled</a:t>
            </a:r>
            <a:endParaRPr lang="en-US" sz="1100" dirty="0"/>
          </a:p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110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Reversing:</a:t>
            </a:r>
            <a:r>
              <a:rPr lang="en-US" sz="11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</a:t>
            </a:r>
            <a:r>
              <a:rPr lang="en-US" sz="11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$169M moved back</a:t>
            </a:r>
            <a:r>
              <a:rPr lang="en-US" sz="11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from inventory to leasing in 1H26 for rebuild and sale – more than came in</a:t>
            </a:r>
            <a:endParaRPr lang="en-US" sz="1100" dirty="0"/>
          </a:p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110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Shrinking source:</a:t>
            </a:r>
            <a:r>
              <a:rPr lang="en-US" sz="11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leasing equipment fell </a:t>
            </a:r>
            <a:r>
              <a:rPr lang="en-US" sz="11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$2.06bn → $1.53bn</a:t>
            </a:r>
            <a:r>
              <a:rPr lang="en-US" sz="11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(Dec-25 → Jun-26) as aircraft are sold into SCI</a:t>
            </a:r>
            <a:endParaRPr lang="en-US" sz="1100" dirty="0"/>
          </a:p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110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Bought at market:</a:t>
            </a:r>
            <a:r>
              <a:rPr lang="en-US" sz="11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new feedstock comes from </a:t>
            </a:r>
            <a:r>
              <a:rPr lang="en-US" sz="11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United run-outs</a:t>
            </a:r>
            <a:r>
              <a:rPr lang="en-US" sz="11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(Oct-26 MRE), </a:t>
            </a:r>
            <a:r>
              <a:rPr lang="en-US" sz="11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WestJet 737-700s</a:t>
            </a:r>
            <a:r>
              <a:rPr lang="en-US" sz="11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(Sep-26) and AAR used parts</a:t>
            </a:r>
            <a:endParaRPr lang="en-US" sz="1100" dirty="0"/>
          </a:p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110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Already in the bear case:</a:t>
            </a:r>
            <a:r>
              <a:rPr lang="en-US" sz="11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6.4% × ~40% cost edge × ~55% material ≈ </a:t>
            </a:r>
            <a:r>
              <a:rPr lang="en-US" sz="11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~140 bps</a:t>
            </a:r>
            <a:r>
              <a:rPr lang="en-US" sz="11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of margin</a:t>
            </a:r>
            <a:r>
              <a:rPr lang="en-US" sz="1100" baseline="30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</a:t>
            </a:r>
            <a:r>
              <a:rPr lang="en-US" sz="11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; audit review found the claims without merit</a:t>
            </a:r>
            <a:endParaRPr lang="en-US" sz="11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565392" y="1170432"/>
          <a:ext cx="2578608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6656832" y="201168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70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$645M | 10.5%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7799832" y="142646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70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$1.4bn | 6.4%</a:t>
            </a:r>
            <a:endParaRPr lang="en-US" sz="95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9244584" y="1170432"/>
          <a:ext cx="2578608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6455664" y="1188720"/>
            <a:ext cx="0" cy="2240280"/>
          </a:xfrm>
          <a:prstGeom prst="line">
            <a:avLst/>
          </a:prstGeom>
          <a:noFill/>
          <a:ln w="12700">
            <a:solidFill>
              <a:srgbClr val="1A1A1A"/>
            </a:solidFill>
            <a:prstDash val="sysDot"/>
          </a:ln>
        </p:spPr>
      </p:sp>
      <p:sp>
        <p:nvSpPr>
          <p:cNvPr id="13" name="Text 9"/>
          <p:cNvSpPr txBox="1"/>
          <p:nvPr/>
        </p:nvSpPr>
        <p:spPr>
          <a:xfrm>
            <a:off x="621792" y="3529584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0304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With the unwind done, the reset is workscope mix – and the shift to heavy work has peaked.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1792" y="3831336"/>
            <a:ext cx="11201400" cy="0"/>
          </a:xfrm>
          <a:prstGeom prst="line">
            <a:avLst/>
          </a:prstGeom>
          <a:noFill/>
          <a:ln w="9525">
            <a:solidFill>
              <a:srgbClr val="20304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1792" y="3895344"/>
            <a:ext cx="5806440" cy="438912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67512" y="3895344"/>
            <a:ext cx="571500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~6,000-cycle engine ~40%, ~10,000-cycle ~25%, blend ~30%: “similar dollars per engine, but more investment.” – FTAI CEO, Q2'26</a:t>
            </a:r>
            <a:r>
              <a:rPr lang="en-US" sz="1100" baseline="30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621792" y="4370832"/>
            <a:ext cx="5806440" cy="1481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110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Capacity-capped:</a:t>
            </a:r>
            <a:r>
              <a:rPr lang="en-US" sz="11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heavy jobs need core disassembly and test cells (~50% of visits open the core); Jakarta's heavy shop only </a:t>
            </a:r>
            <a:r>
              <a:rPr lang="en-US" sz="11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adds capacity from 2027</a:t>
            </a:r>
            <a:endParaRPr lang="en-US" sz="1100" dirty="0"/>
          </a:p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110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No incentive:</a:t>
            </a:r>
            <a:r>
              <a:rPr lang="en-US" sz="11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heavy work was the price of </a:t>
            </a:r>
            <a:r>
              <a:rPr lang="en-US" sz="11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winning airline contracts</a:t>
            </a:r>
            <a:r>
              <a:rPr lang="en-US" sz="11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– United is signed (V2500 exchange, then CFM56-7B MRE), so more heavy jobs add capital, not customers</a:t>
            </a:r>
            <a:endParaRPr lang="en-US" sz="1100" dirty="0"/>
          </a:p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110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FTAI chooses:</a:t>
            </a:r>
            <a:r>
              <a:rPr lang="en-US" sz="11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“</a:t>
            </a:r>
            <a:r>
              <a:rPr lang="en-US" sz="11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supply-constrained, not demand-constrained</a:t>
            </a:r>
            <a:r>
              <a:rPr lang="en-US" sz="11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” (Q2'26) – it turns work away; the 2027 plan targets volume (1,700 modules), not heavier jobs</a:t>
            </a:r>
            <a:endParaRPr lang="en-US" sz="1100" dirty="0"/>
          </a:p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110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Slow fleet drift:</a:t>
            </a:r>
            <a:r>
              <a:rPr lang="en-US" sz="11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visits needing broader work rise only </a:t>
            </a:r>
            <a:r>
              <a:rPr lang="en-US" sz="11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48% → 52% by FY30</a:t>
            </a:r>
            <a:r>
              <a:rPr lang="en-US" sz="11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; the 1H26 step-change was a </a:t>
            </a:r>
            <a:r>
              <a:rPr lang="en-US" sz="11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one-quarter mix shift</a:t>
            </a:r>
            <a:endParaRPr lang="en-US" sz="1100" dirty="0"/>
          </a:p>
        </p:txBody>
      </p:sp>
      <p:graphicFrame>
        <p:nvGraphicFramePr>
          <p:cNvPr id="18" name="Chart 2" descr=""/>
          <p:cNvGraphicFramePr/>
          <p:nvPr/>
        </p:nvGraphicFramePr>
        <p:xfrm>
          <a:off x="6565392" y="3895344"/>
          <a:ext cx="2578608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Text 14"/>
          <p:cNvSpPr txBox="1"/>
          <p:nvPr/>
        </p:nvSpPr>
        <p:spPr>
          <a:xfrm>
            <a:off x="9244584" y="3913632"/>
            <a:ext cx="2578608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Mix back to light = margin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244584" y="4206240"/>
          <a:ext cx="2578608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207008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Light share</a:t>
                      </a:r>
                      <a:endParaRPr lang="en-US" sz="10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Margin</a:t>
                      </a:r>
                      <a:endParaRPr lang="en-US" sz="10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33% (1H26)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30.0%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40%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31.0%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50%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32.5%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60%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34.0%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1" name="Text 15"/>
          <p:cNvSpPr txBox="1"/>
          <p:nvPr/>
        </p:nvSpPr>
        <p:spPr>
          <a:xfrm>
            <a:off x="9244584" y="5349240"/>
            <a:ext cx="2578608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Each 10 pts of mix back to light adds </a:t>
            </a:r>
            <a:r>
              <a:rPr lang="en-US" sz="105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~1.5 pts</a:t>
            </a: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; our base case assumes </a:t>
            </a:r>
            <a:r>
              <a:rPr lang="en-US" sz="105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none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6455664" y="3913632"/>
            <a:ext cx="0" cy="1938528"/>
          </a:xfrm>
          <a:prstGeom prst="line">
            <a:avLst/>
          </a:prstGeom>
          <a:noFill/>
          <a:ln w="12700">
            <a:solidFill>
              <a:srgbClr val="1A1A1A"/>
            </a:solidFill>
            <a:prstDash val="sysDot"/>
          </a:ln>
        </p:spPr>
      </p:sp>
      <p:sp>
        <p:nvSpPr>
          <p:cNvPr id="23" name="Shape 17"/>
          <p:cNvSpPr/>
          <p:nvPr/>
        </p:nvSpPr>
        <p:spPr>
          <a:xfrm>
            <a:off x="621792" y="5925312"/>
            <a:ext cx="11201400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621792" y="5925312"/>
            <a:ext cx="1120140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Even granting the short thesis, it is &lt;8% of the stock – and heavy mix is capacity-capped: ~30% is the floor, not a waypoint.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621792" y="647395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Source: 10-Q disclosures, Muddy Waters, Earnings Calls, In Practise, OEM cohort data, GPS Model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7772400" y="647395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1.  Illustrative: stock share × cost edge vs. market feedstock × material share of revenue. 1H26 transfers per Q2'26 10-Q summary.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2.  Paraphrase of the CEO's cycle/margin example; quoted phrase per call summary.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621792" y="274320"/>
            <a:ext cx="11201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500" dirty="0">
                <a:solidFill>
                  <a:srgbClr val="20304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Thesis I: Variance on Margins – PMA Through SCI and Two Prints Re-Rate the Trough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04672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0304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market prices ~0% PMA and reads 30% as a waypoint; FTAI controls its own PMA channel and only needs 30% to hold.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21792" y="1106424"/>
            <a:ext cx="11201400" cy="0"/>
          </a:xfrm>
          <a:prstGeom prst="line">
            <a:avLst/>
          </a:prstGeom>
          <a:noFill/>
          <a:ln w="9525">
            <a:solidFill>
              <a:srgbClr val="2030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152144"/>
            <a:ext cx="548640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PMA: at SCI, FTAI is the lessor that says yes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1792" y="1426464"/>
            <a:ext cx="5486400" cy="438912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7512" y="1426464"/>
            <a:ext cx="539496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PMA hesitation sits mainly with lessors – conformity, residual values, return conditions – though it is “softening.” – AviTrader, May-26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" y="1920240"/>
            <a:ext cx="1280160" cy="5303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920240"/>
            <a:ext cx="128016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FTAI sponsors SCI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$2.0bn equity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901952" y="2057400"/>
            <a:ext cx="109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►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11680" y="1920240"/>
            <a:ext cx="1280160" cy="5303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011680" y="1920240"/>
            <a:ext cx="128016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SCI owns the jets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SCI is the lessor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2057400"/>
            <a:ext cx="109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►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01568" y="1920240"/>
            <a:ext cx="1280160" cy="5303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01568" y="1920240"/>
            <a:ext cx="128016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Engine work → FTAI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FTAI is servicer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681728" y="2057400"/>
            <a:ext cx="109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►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91456" y="1920240"/>
            <a:ext cx="1280160" cy="530352"/>
          </a:xfrm>
          <a:prstGeom prst="rect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91456" y="1920240"/>
            <a:ext cx="128016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FTAI sets parts policy</a:t>
            </a:r>
            <a:endParaRPr lang="en-US" sz="10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no outside consent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" y="2505456"/>
            <a:ext cx="5486400" cy="1810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110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Program built:</a:t>
            </a:r>
            <a:r>
              <a:rPr lang="en-US" sz="11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Chromalloy has </a:t>
            </a:r>
            <a:r>
              <a:rPr lang="en-US" sz="11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 of 5 CFM56 hot-section PMA parts approved</a:t>
            </a:r>
            <a:r>
              <a:rPr lang="en-US" sz="11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, incl. the HPT blade (Oct-25, &gt;7 yrs, &gt;$100M); “80% of the savings come from the first three parts” (Chromalloy CEO)</a:t>
            </a:r>
            <a:endParaRPr lang="en-US" sz="1100" dirty="0"/>
          </a:p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110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Captive channel:</a:t>
            </a:r>
            <a:r>
              <a:rPr lang="en-US" sz="11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SCI grows from </a:t>
            </a:r>
            <a:r>
              <a:rPr lang="en-US" sz="11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11% to ~40% of FTAI's modules</a:t>
            </a:r>
            <a:r>
              <a:rPr lang="en-US" sz="11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(130 → 700 aircraft) – ~4x our base-case PMA penetration, no outside lessor needed</a:t>
            </a:r>
            <a:endParaRPr lang="en-US" sz="1100" dirty="0"/>
          </a:p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110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Worth:</a:t>
            </a:r>
            <a:r>
              <a:rPr lang="en-US" sz="11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50% of SCI modules on PMA at $0.4M each = </a:t>
            </a:r>
            <a:r>
              <a:rPr lang="en-US" sz="11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~$130M of FY28 EBITDA (~2.1 pts of margin, ~$20 / share)</a:t>
            </a:r>
            <a:endParaRPr lang="en-US" sz="1100" dirty="0"/>
          </a:p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110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Diligence:</a:t>
            </a:r>
            <a:r>
              <a:rPr lang="en-US" sz="11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SCI's LP / lender terms on PMA are </a:t>
            </a:r>
            <a:r>
              <a:rPr lang="en-US" sz="11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not disclosed</a:t>
            </a:r>
            <a:endParaRPr lang="en-US" sz="11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621792" y="4315968"/>
          <a:ext cx="2743200" cy="15361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1" name="Chart 1" descr=""/>
          <p:cNvGraphicFramePr/>
          <p:nvPr/>
        </p:nvGraphicFramePr>
        <p:xfrm>
          <a:off x="3410712" y="4315968"/>
          <a:ext cx="2697480" cy="15361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Shape 18"/>
          <p:cNvSpPr/>
          <p:nvPr/>
        </p:nvSpPr>
        <p:spPr>
          <a:xfrm>
            <a:off x="6227064" y="1170432"/>
            <a:ext cx="0" cy="4681728"/>
          </a:xfrm>
          <a:prstGeom prst="line">
            <a:avLst/>
          </a:prstGeom>
          <a:noFill/>
          <a:ln w="12700">
            <a:solidFill>
              <a:srgbClr val="1A1A1A"/>
            </a:solidFill>
            <a:prstDash val="sysDot"/>
          </a:ln>
        </p:spPr>
      </p:sp>
      <p:sp>
        <p:nvSpPr>
          <p:cNvPr id="23" name="Text 19"/>
          <p:cNvSpPr txBox="1"/>
          <p:nvPr/>
        </p:nvSpPr>
        <p:spPr>
          <a:xfrm>
            <a:off x="6336792" y="1152144"/>
            <a:ext cx="548640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Price and PMA rebuild margin; two prints prove the trough</a:t>
            </a:r>
            <a:endParaRPr lang="en-US" sz="1200" dirty="0"/>
          </a:p>
        </p:txBody>
      </p:sp>
      <p:graphicFrame>
        <p:nvGraphicFramePr>
          <p:cNvPr id="24" name="Chart 2" descr=""/>
          <p:cNvGraphicFramePr/>
          <p:nvPr/>
        </p:nvGraphicFramePr>
        <p:xfrm>
          <a:off x="6336792" y="1426464"/>
          <a:ext cx="237744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5" name="Text 20"/>
          <p:cNvSpPr txBox="1"/>
          <p:nvPr/>
        </p:nvSpPr>
        <p:spPr>
          <a:xfrm>
            <a:off x="6547104" y="16459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29.9%</a:t>
            </a:r>
            <a:endParaRPr lang="en-US" sz="950" dirty="0"/>
          </a:p>
        </p:txBody>
      </p:sp>
      <p:sp>
        <p:nvSpPr>
          <p:cNvPr id="26" name="Text 21"/>
          <p:cNvSpPr txBox="1"/>
          <p:nvPr/>
        </p:nvSpPr>
        <p:spPr>
          <a:xfrm>
            <a:off x="7059168" y="16459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+1.7</a:t>
            </a:r>
            <a:endParaRPr lang="en-US" sz="950" dirty="0"/>
          </a:p>
        </p:txBody>
      </p:sp>
      <p:sp>
        <p:nvSpPr>
          <p:cNvPr id="27" name="Text 22"/>
          <p:cNvSpPr txBox="1"/>
          <p:nvPr/>
        </p:nvSpPr>
        <p:spPr>
          <a:xfrm>
            <a:off x="7571232" y="16459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+0.9</a:t>
            </a:r>
            <a:endParaRPr lang="en-US" sz="950" dirty="0"/>
          </a:p>
        </p:txBody>
      </p:sp>
      <p:sp>
        <p:nvSpPr>
          <p:cNvPr id="28" name="Text 23"/>
          <p:cNvSpPr txBox="1"/>
          <p:nvPr/>
        </p:nvSpPr>
        <p:spPr>
          <a:xfrm>
            <a:off x="8074152" y="16459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32.5%</a:t>
            </a:r>
            <a:endParaRPr lang="en-US" sz="950" dirty="0"/>
          </a:p>
        </p:txBody>
      </p:sp>
      <p:sp>
        <p:nvSpPr>
          <p:cNvPr id="29" name="Text 24"/>
          <p:cNvSpPr txBox="1"/>
          <p:nvPr/>
        </p:nvSpPr>
        <p:spPr>
          <a:xfrm>
            <a:off x="8759952" y="1426464"/>
            <a:ext cx="3063240" cy="1783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105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Price:</a:t>
            </a: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repair catalogues rose a median </a:t>
            </a:r>
            <a:r>
              <a:rPr lang="en-US" sz="105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6.2% / yr</a:t>
            </a: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across 3,404 matched packages (3,376 up, 1 down); FTAI priced below OEM to win share – we pass through </a:t>
            </a:r>
            <a:r>
              <a:rPr lang="en-US" sz="105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half from FY28</a:t>
            </a:r>
            <a:endParaRPr lang="en-US" sz="1050" dirty="0"/>
          </a:p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105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Per module:</a:t>
            </a: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EBITDA </a:t>
            </a:r>
            <a:r>
              <a:rPr lang="en-US" sz="105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$913K → $1,139K</a:t>
            </a: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(FY27E → FY31E)</a:t>
            </a:r>
            <a:endParaRPr lang="en-US" sz="1050" dirty="0"/>
          </a:p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105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No mix recovery</a:t>
            </a: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and no outside-lessor PMA in the base case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6336792" y="3273552"/>
            <a:ext cx="1188720" cy="37490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6336792" y="3273552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Q3'26 | Oct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7571232" y="3273552"/>
            <a:ext cx="4251960" cy="374904"/>
          </a:xfrm>
          <a:prstGeom prst="rect">
            <a:avLst/>
          </a:prstGeom>
          <a:ln w="15875">
            <a:solidFill>
              <a:srgbClr val="1A1A1A"/>
            </a:solidFill>
            <a:prstDash val="dash"/>
          </a:ln>
        </p:spPr>
      </p:sp>
      <p:sp>
        <p:nvSpPr>
          <p:cNvPr id="33" name="Text 28"/>
          <p:cNvSpPr txBox="1"/>
          <p:nvPr/>
        </p:nvSpPr>
        <p:spPr>
          <a:xfrm>
            <a:off x="7616952" y="3273552"/>
            <a:ext cx="4160520" cy="374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First print after the reset: Aerospace margin </a:t>
            </a:r>
            <a:r>
              <a:rPr lang="en-US" sz="105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≥~30%</a:t>
            </a: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, modules on track for 1,200, PMA usage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6336792" y="3703320"/>
            <a:ext cx="1188720" cy="37490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6336792" y="3703320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Inv. day | 10-Dec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7571232" y="3703320"/>
            <a:ext cx="4251960" cy="374904"/>
          </a:xfrm>
          <a:prstGeom prst="rect">
            <a:avLst/>
          </a:prstGeom>
          <a:ln w="15875">
            <a:solidFill>
              <a:srgbClr val="1A1A1A"/>
            </a:solidFill>
            <a:prstDash val="dash"/>
          </a:ln>
        </p:spPr>
      </p:sp>
      <p:sp>
        <p:nvSpPr>
          <p:cNvPr id="37" name="Text 32"/>
          <p:cNvSpPr txBox="1"/>
          <p:nvPr/>
        </p:nvSpPr>
        <p:spPr>
          <a:xfrm>
            <a:off x="7616952" y="3703320"/>
            <a:ext cx="4160520" cy="374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2027 framework: 1,700 modules, Jakarta / Cairo ramp, SCI II size, Power backlog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6336792" y="4133088"/>
            <a:ext cx="1188720" cy="37490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6336792" y="4133088"/>
            <a:ext cx="1188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Q4'26 | Feb-27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7571232" y="4133088"/>
            <a:ext cx="4251960" cy="374904"/>
          </a:xfrm>
          <a:prstGeom prst="rect">
            <a:avLst/>
          </a:prstGeom>
          <a:ln w="15875">
            <a:solidFill>
              <a:srgbClr val="1A1A1A"/>
            </a:solidFill>
            <a:prstDash val="dash"/>
          </a:ln>
        </p:spPr>
      </p:sp>
      <p:sp>
        <p:nvSpPr>
          <p:cNvPr id="41" name="Text 36"/>
          <p:cNvSpPr txBox="1"/>
          <p:nvPr/>
        </p:nvSpPr>
        <p:spPr>
          <a:xfrm>
            <a:off x="7616952" y="4133088"/>
            <a:ext cx="4160520" cy="374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Second ~30% print</a:t>
            </a: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+ FY27 guide: 30% stops reading as a waypoint</a:t>
            </a:r>
            <a:endParaRPr lang="en-US" sz="1050" dirty="0"/>
          </a:p>
        </p:txBody>
      </p:sp>
      <p:sp>
        <p:nvSpPr>
          <p:cNvPr id="42" name="Text 37"/>
          <p:cNvSpPr txBox="1"/>
          <p:nvPr/>
        </p:nvSpPr>
        <p:spPr>
          <a:xfrm>
            <a:off x="6336792" y="4608576"/>
            <a:ext cx="548640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What $167 implies for Aerospace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36792" y="4873752"/>
          <a:ext cx="5486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22960"/>
                <a:gridCol w="822960"/>
                <a:gridCol w="822960"/>
                <a:gridCol w="82296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Aero EV / NTM EBITDA (Oct-27)</a:t>
                      </a:r>
                      <a:endParaRPr lang="en-US" sz="10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5.3x</a:t>
                      </a:r>
                      <a:endParaRPr lang="en-US" sz="10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10x</a:t>
                      </a:r>
                      <a:endParaRPr lang="en-US" sz="10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12x</a:t>
                      </a:r>
                      <a:endParaRPr lang="en-US" sz="10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14x</a:t>
                      </a:r>
                      <a:endParaRPr lang="en-US" sz="10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Implied price / share</a:t>
                      </a:r>
                      <a:r>
                        <a:rPr lang="en-US" sz="1050" baseline="300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$167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$244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$277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$309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Upside vs. $167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+46%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+66%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+85%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4" name="Text 38"/>
          <p:cNvSpPr txBox="1"/>
          <p:nvPr/>
        </p:nvSpPr>
        <p:spPr>
          <a:xfrm>
            <a:off x="6336792" y="5550408"/>
            <a:ext cx="54864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On base earnings, $167 pays only </a:t>
            </a:r>
            <a:r>
              <a:rPr lang="en-US" sz="11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~5x</a:t>
            </a:r>
            <a:r>
              <a:rPr lang="en-US" sz="11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for Aerospace a year out; </a:t>
            </a:r>
            <a:r>
              <a:rPr lang="en-US" sz="11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each turn ≈ $16 / share</a:t>
            </a:r>
            <a:r>
              <a:rPr lang="en-US" sz="11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.</a:t>
            </a:r>
            <a:endParaRPr lang="en-US" sz="1100" dirty="0"/>
          </a:p>
        </p:txBody>
      </p:sp>
      <p:sp>
        <p:nvSpPr>
          <p:cNvPr id="45" name="Shape 39"/>
          <p:cNvSpPr/>
          <p:nvPr/>
        </p:nvSpPr>
        <p:spPr>
          <a:xfrm>
            <a:off x="621792" y="5925312"/>
            <a:ext cx="11201400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6" name="Text 40"/>
          <p:cNvSpPr txBox="1"/>
          <p:nvPr/>
        </p:nvSpPr>
        <p:spPr>
          <a:xfrm>
            <a:off x="621792" y="5925312"/>
            <a:ext cx="1120140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PMA through SCI and price pass-through rebuild margin to 32.5%; two ~30% prints re-rate a business priced at ~5x.</a:t>
            </a:r>
            <a:endParaRPr lang="en-US" sz="1400" dirty="0"/>
          </a:p>
        </p:txBody>
      </p:sp>
      <p:sp>
        <p:nvSpPr>
          <p:cNvPr id="47" name="Text 41"/>
          <p:cNvSpPr txBox="1"/>
          <p:nvPr/>
        </p:nvSpPr>
        <p:spPr>
          <a:xfrm>
            <a:off x="621792" y="647395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Source: Chromalloy / FAA, Aviation Week, AviTrader, SR Technics catalogues, FTAI filings, GPS Model</a:t>
            </a:r>
            <a:endParaRPr lang="en-US" sz="1100" dirty="0"/>
          </a:p>
        </p:txBody>
      </p:sp>
      <p:sp>
        <p:nvSpPr>
          <p:cNvPr id="48" name="Text 42"/>
          <p:cNvSpPr txBox="1"/>
          <p:nvPr/>
        </p:nvSpPr>
        <p:spPr>
          <a:xfrm>
            <a:off x="7772400" y="647395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1.  1-yr base SOTP (NTM ≈ ¼ FY27E + ¾ FY28E), holding Power 10x, Leasing + SCI 9x and Sep-27 net debt.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621792" y="274320"/>
            <a:ext cx="11201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500" dirty="0">
                <a:solidFill>
                  <a:srgbClr val="20304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Thesis II: Variance on CFM56 Life – LEAP Can't Replace It and Fuel Hasn't Moved It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04672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304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Every tier-1 shop is adding LEAP; OEMs are trimming CFM56, independents are catching it, and Lufthansa now sends its own out.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21792" y="1106424"/>
            <a:ext cx="11201400" cy="0"/>
          </a:xfrm>
          <a:prstGeom prst="line">
            <a:avLst/>
          </a:prstGeom>
          <a:noFill/>
          <a:ln w="9525">
            <a:solidFill>
              <a:srgbClr val="203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170432"/>
            <a:ext cx="5806440" cy="2011680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57272" y="1170432"/>
            <a:ext cx="0" cy="2011680"/>
          </a:xfrm>
          <a:prstGeom prst="line">
            <a:avLst/>
          </a:prstGeom>
          <a:noFill/>
          <a:ln w="9525">
            <a:solidFill>
              <a:srgbClr val="BFBFBF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4492752" y="1170432"/>
            <a:ext cx="0" cy="2011680"/>
          </a:xfrm>
          <a:prstGeom prst="line">
            <a:avLst/>
          </a:prstGeom>
          <a:noFill/>
          <a:ln w="9525">
            <a:solidFill>
              <a:srgbClr val="BFBFBF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621792" y="2962656"/>
            <a:ext cx="1935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9595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Pulling back on CFM56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2557272" y="2962656"/>
            <a:ext cx="1935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9595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Holding CFM56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492752" y="2962656"/>
            <a:ext cx="1935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9595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Adding CFM56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67512" y="11887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More LEAP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667512" y="277977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F7F7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Less LEAP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260866" y="1389459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BE5D6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443746" y="1362027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GE / CFM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753865" y="1559481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BE5D6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936745" y="1532049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Safran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589532" y="1838801"/>
            <a:ext cx="146304" cy="146304"/>
          </a:xfrm>
          <a:prstGeom prst="ellipse">
            <a:avLst>
              <a:gd name="adj" fmla="val 18750"/>
            </a:avLst>
          </a:prstGeom>
          <a:solidFill>
            <a:srgbClr val="E6E4FA"/>
          </a:solidFill>
          <a:ln w="12700">
            <a:solidFill>
              <a:srgbClr val="5B4FC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772412" y="1811369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Lufthansa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725864" y="1474470"/>
            <a:ext cx="146304" cy="146304"/>
          </a:xfrm>
          <a:prstGeom prst="ellipse">
            <a:avLst>
              <a:gd name="adj" fmla="val 18750"/>
            </a:avLst>
          </a:prstGeom>
          <a:solidFill>
            <a:srgbClr val="E6E4FA"/>
          </a:solidFill>
          <a:ln w="12700">
            <a:solidFill>
              <a:srgbClr val="5B4FC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908744" y="144703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AFI KLM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96346" y="1717357"/>
            <a:ext cx="146304" cy="146304"/>
          </a:xfrm>
          <a:prstGeom prst="ellipse">
            <a:avLst>
              <a:gd name="adj" fmla="val 18750"/>
            </a:avLst>
          </a:prstGeom>
          <a:solidFill>
            <a:srgbClr val="E6E4FA"/>
          </a:solidFill>
          <a:ln w="12700">
            <a:solidFill>
              <a:srgbClr val="5B4F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379226" y="1689925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Delta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196346" y="2105978"/>
            <a:ext cx="146304" cy="146304"/>
          </a:xfrm>
          <a:prstGeom prst="ellipse">
            <a:avLst>
              <a:gd name="adj" fmla="val 18750"/>
            </a:avLst>
          </a:prstGeom>
          <a:solidFill>
            <a:srgbClr val="E6E4FA"/>
          </a:solidFill>
          <a:ln w="12700">
            <a:solidFill>
              <a:srgbClr val="5B4FC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379226" y="207854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Iberia (planned)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977235" y="2421731"/>
            <a:ext cx="146304" cy="146304"/>
          </a:xfrm>
          <a:prstGeom prst="ellipse">
            <a:avLst>
              <a:gd name="adj" fmla="val 18750"/>
            </a:avLst>
          </a:prstGeom>
          <a:solidFill>
            <a:srgbClr val="E6E4FA"/>
          </a:solidFill>
          <a:ln w="12700">
            <a:solidFill>
              <a:srgbClr val="5B4FC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160115" y="2394299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Turkish (exploring)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977235" y="2664619"/>
            <a:ext cx="146304" cy="146304"/>
          </a:xfrm>
          <a:prstGeom prst="ellipse">
            <a:avLst>
              <a:gd name="adj" fmla="val 18750"/>
            </a:avLst>
          </a:prstGeom>
          <a:solidFill>
            <a:srgbClr val="E6E4FA"/>
          </a:solidFill>
          <a:ln w="12700">
            <a:solidFill>
              <a:srgbClr val="5B4FC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160115" y="2637187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Korean Air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48381" y="1401604"/>
            <a:ext cx="201168" cy="146304"/>
          </a:xfrm>
          <a:prstGeom prst="ellipse">
            <a:avLst>
              <a:gd name="adj" fmla="val 18750"/>
            </a:avLst>
          </a:prstGeom>
          <a:solidFill>
            <a:srgbClr val="D5EFE6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986125" y="13741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MTU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350937" y="1632347"/>
            <a:ext cx="201168" cy="146304"/>
          </a:xfrm>
          <a:prstGeom prst="ellipse">
            <a:avLst>
              <a:gd name="adj" fmla="val 18750"/>
            </a:avLst>
          </a:prstGeom>
          <a:solidFill>
            <a:srgbClr val="D5EFE6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588681" y="1604915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StandardAero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022270" y="1863090"/>
            <a:ext cx="201168" cy="146304"/>
          </a:xfrm>
          <a:prstGeom prst="ellipse">
            <a:avLst>
              <a:gd name="adj" fmla="val 18750"/>
            </a:avLst>
          </a:prstGeom>
          <a:solidFill>
            <a:srgbClr val="D5EFE6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260014" y="183565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ST Engineering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241381" y="2105978"/>
            <a:ext cx="201168" cy="146304"/>
          </a:xfrm>
          <a:prstGeom prst="ellipse">
            <a:avLst>
              <a:gd name="adj" fmla="val 18750"/>
            </a:avLst>
          </a:prstGeom>
          <a:solidFill>
            <a:srgbClr val="D5EFE6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79125" y="207854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SR Technics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570047" y="2567464"/>
            <a:ext cx="146304" cy="146304"/>
          </a:xfrm>
          <a:prstGeom prst="ellipse">
            <a:avLst>
              <a:gd name="adj" fmla="val 18750"/>
            </a:avLst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752927" y="25400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70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FTAI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1792" y="325526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FBE5D6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86384" y="321868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OEM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554480" y="3255264"/>
            <a:ext cx="128016" cy="128016"/>
          </a:xfrm>
          <a:prstGeom prst="ellipse">
            <a:avLst>
              <a:gd name="adj" fmla="val 21429"/>
            </a:avLst>
          </a:prstGeom>
          <a:solidFill>
            <a:srgbClr val="E6E4FA"/>
          </a:solidFill>
          <a:ln w="12700">
            <a:solidFill>
              <a:srgbClr val="5B4FC4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719072" y="321868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Airline-owned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487168" y="3255264"/>
            <a:ext cx="128016" cy="128016"/>
          </a:xfrm>
          <a:prstGeom prst="ellipse">
            <a:avLst>
              <a:gd name="adj" fmla="val 21429"/>
            </a:avLst>
          </a:prstGeom>
          <a:solidFill>
            <a:srgbClr val="D5EFE6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651760" y="321868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Independent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419856" y="3255264"/>
            <a:ext cx="128016" cy="128016"/>
          </a:xfrm>
          <a:prstGeom prst="ellipse">
            <a:avLst>
              <a:gd name="adj" fmla="val 21429"/>
            </a:avLst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584448" y="321868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FTAI</a:t>
            </a:r>
            <a:endParaRPr 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4233672" y="32186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70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CFM56 work flows OEM → independents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455664" y="1188720"/>
            <a:ext cx="0" cy="2240280"/>
          </a:xfrm>
          <a:prstGeom prst="line">
            <a:avLst/>
          </a:prstGeom>
          <a:noFill/>
          <a:ln w="12700">
            <a:solidFill>
              <a:srgbClr val="1A1A1A"/>
            </a:solidFill>
            <a:prstDash val="sysDot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65392" y="1170432"/>
          <a:ext cx="525780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777240"/>
                <a:gridCol w="914400"/>
                <a:gridCol w="1188720"/>
                <a:gridCol w="1051560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Shops (14)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Reviewed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Add LEAP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Pull back CFM56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Win CFM56 work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Airline-owned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8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8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OEM network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Independent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" name="Text 47"/>
          <p:cNvSpPr txBox="1"/>
          <p:nvPr/>
        </p:nvSpPr>
        <p:spPr>
          <a:xfrm>
            <a:off x="6565392" y="2029968"/>
            <a:ext cx="5257800" cy="146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100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OEMs:</a:t>
            </a:r>
            <a:r>
              <a:rPr lang="en-US" sz="1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all new sites </a:t>
            </a:r>
            <a:r>
              <a:rPr lang="en-US" sz="10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LEAP-only</a:t>
            </a:r>
            <a:r>
              <a:rPr lang="en-US" sz="1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(Brazil, India, Mexico, Belgium); CFM </a:t>
            </a:r>
            <a:r>
              <a:rPr lang="en-US" sz="10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gives up Ryanair CFM56 labor from 2029</a:t>
            </a:r>
            <a:r>
              <a:rPr lang="en-US" sz="1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– its largest CFM56 account – keeping only parts</a:t>
            </a:r>
            <a:endParaRPr lang="en-US" sz="1000" dirty="0"/>
          </a:p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100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First airline flip:</a:t>
            </a:r>
            <a:r>
              <a:rPr lang="en-US" sz="1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Lufthansa Group sends its </a:t>
            </a:r>
            <a:r>
              <a:rPr lang="en-US" sz="10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own CFM56 to FL Technics</a:t>
            </a:r>
            <a:r>
              <a:rPr lang="en-US" sz="1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(Oct-26) as Hamburg turns LEAP</a:t>
            </a:r>
            <a:endParaRPr lang="en-US" sz="1000" dirty="0"/>
          </a:p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100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Moving to independents:</a:t>
            </a:r>
            <a:r>
              <a:rPr lang="en-US" sz="1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EVA Air → MTU (first non-OEM, May-26); </a:t>
            </a:r>
            <a:r>
              <a:rPr lang="en-US" sz="10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United → FTAI</a:t>
            </a:r>
            <a:r>
              <a:rPr lang="en-US" sz="1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CFM56-7B MRE (Oct-26)</a:t>
            </a:r>
            <a:endParaRPr lang="en-US" sz="1000" dirty="0"/>
          </a:p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100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Counter:</a:t>
            </a:r>
            <a:r>
              <a:rPr lang="en-US" sz="1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Korean Air keeps CFM56, outsources LEAP; independents add CFM56 too – </a:t>
            </a:r>
            <a:r>
              <a:rPr lang="en-US" sz="10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overflow is real, but contested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621792" y="3511296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0304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Bears fear the 2026 fuel shock accelerates retirements – the data shows parked CFM56s falling, not rising.</a:t>
            </a:r>
            <a:endParaRPr lang="en-US" sz="1350" dirty="0"/>
          </a:p>
        </p:txBody>
      </p:sp>
      <p:sp>
        <p:nvSpPr>
          <p:cNvPr id="52" name="Shape 49"/>
          <p:cNvSpPr/>
          <p:nvPr/>
        </p:nvSpPr>
        <p:spPr>
          <a:xfrm>
            <a:off x="621792" y="3813048"/>
            <a:ext cx="11201400" cy="0"/>
          </a:xfrm>
          <a:prstGeom prst="line">
            <a:avLst/>
          </a:prstGeom>
          <a:noFill/>
          <a:ln w="9525">
            <a:solidFill>
              <a:srgbClr val="203040"/>
            </a:solidFill>
            <a:prstDash val="solid"/>
          </a:ln>
        </p:spPr>
      </p:sp>
      <p:graphicFrame>
        <p:nvGraphicFramePr>
          <p:cNvPr id="53" name="Chart 0" descr=""/>
          <p:cNvGraphicFramePr/>
          <p:nvPr/>
        </p:nvGraphicFramePr>
        <p:xfrm>
          <a:off x="621792" y="3877056"/>
          <a:ext cx="2834640" cy="19933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4" name="Chart 1" descr=""/>
          <p:cNvGraphicFramePr/>
          <p:nvPr/>
        </p:nvGraphicFramePr>
        <p:xfrm>
          <a:off x="3547872" y="3877056"/>
          <a:ext cx="2880360" cy="19933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5" name="Shape 50"/>
          <p:cNvSpPr/>
          <p:nvPr/>
        </p:nvSpPr>
        <p:spPr>
          <a:xfrm>
            <a:off x="6455664" y="3895344"/>
            <a:ext cx="0" cy="1965960"/>
          </a:xfrm>
          <a:prstGeom prst="line">
            <a:avLst/>
          </a:prstGeom>
          <a:noFill/>
          <a:ln w="12700">
            <a:solidFill>
              <a:srgbClr val="1A1A1A"/>
            </a:solidFill>
            <a:prstDash val="sysDot"/>
          </a:ln>
        </p:spPr>
      </p:sp>
      <p:sp>
        <p:nvSpPr>
          <p:cNvPr id="56" name="Text 51"/>
          <p:cNvSpPr txBox="1"/>
          <p:nvPr/>
        </p:nvSpPr>
        <p:spPr>
          <a:xfrm>
            <a:off x="6565392" y="3877056"/>
            <a:ext cx="5257800" cy="1481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105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Parked CFM56s down since March:</a:t>
            </a: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“no meaningful change in customer behavior” – GE CEO, Jul-26; Safran H1 spares up </a:t>
            </a:r>
            <a:r>
              <a:rPr lang="en-US" sz="105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27.9%</a:t>
            </a: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on CFM56</a:t>
            </a:r>
            <a:endParaRPr lang="en-US" sz="1050" dirty="0"/>
          </a:p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105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Airlines trimmed growth and hedged, not parked:</a:t>
            </a: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United –5%, Delta –3.5% growth; Ryanair </a:t>
            </a:r>
            <a:r>
              <a:rPr lang="en-US" sz="105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80% hedged at ~$67</a:t>
            </a:r>
            <a:endParaRPr lang="en-US" sz="1050" dirty="0"/>
          </a:p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105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Replacing an NG on fuel alone</a:t>
            </a: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breaks even only at a sustained </a:t>
            </a:r>
            <a:r>
              <a:rPr lang="en-US" sz="105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$170–200 / bbl</a:t>
            </a: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– and needs a slot that isn't there</a:t>
            </a:r>
            <a:r>
              <a:rPr lang="en-US" sz="1050" baseline="30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</a:t>
            </a:r>
            <a:endParaRPr lang="en-US" sz="1050" dirty="0"/>
          </a:p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105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History:</a:t>
            </a: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2022 fuel +95–150%, retirements only </a:t>
            </a:r>
            <a:r>
              <a:rPr lang="en-US" sz="105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325 vs. 502 in 2019</a:t>
            </a:r>
            <a:endParaRPr lang="en-US" sz="1050" dirty="0"/>
          </a:p>
        </p:txBody>
      </p:sp>
      <p:sp>
        <p:nvSpPr>
          <p:cNvPr id="57" name="Shape 52"/>
          <p:cNvSpPr/>
          <p:nvPr/>
        </p:nvSpPr>
        <p:spPr>
          <a:xfrm>
            <a:off x="6565392" y="5376672"/>
            <a:ext cx="5257800" cy="475488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6601968" y="5376672"/>
            <a:ext cx="5184648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Bear watch:</a:t>
            </a:r>
            <a:r>
              <a:rPr lang="en-US" sz="1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all-type retirements +15% in 9M26 (low base), Spirit's ~57 A320ceos back to lessors, GE sees ~3% in 2027 – retirements also </a:t>
            </a:r>
            <a:r>
              <a:rPr lang="en-US" sz="10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feed FTAI's feedstock</a:t>
            </a:r>
            <a:endParaRPr lang="en-US" sz="1000" dirty="0"/>
          </a:p>
        </p:txBody>
      </p:sp>
      <p:sp>
        <p:nvSpPr>
          <p:cNvPr id="59" name="Shape 54"/>
          <p:cNvSpPr/>
          <p:nvPr/>
        </p:nvSpPr>
        <p:spPr>
          <a:xfrm>
            <a:off x="621792" y="5925312"/>
            <a:ext cx="11201400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0" name="Text 55"/>
          <p:cNvSpPr txBox="1"/>
          <p:nvPr/>
        </p:nvSpPr>
        <p:spPr>
          <a:xfrm>
            <a:off x="621792" y="5925312"/>
            <a:ext cx="1120140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LEAP can't replace the CFM56 before 2027–28 and fuel hasn't moved retirements: demand holds at ~2,400 visits a year.</a:t>
            </a:r>
            <a:endParaRPr lang="en-US" sz="1400" dirty="0"/>
          </a:p>
        </p:txBody>
      </p:sp>
      <p:sp>
        <p:nvSpPr>
          <p:cNvPr id="61" name="Text 56"/>
          <p:cNvSpPr txBox="1"/>
          <p:nvPr/>
        </p:nvSpPr>
        <p:spPr>
          <a:xfrm>
            <a:off x="621792" y="647395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Source: GPS CFM56 Outsourcing Flip Tracker (14 tier-1 shops, Oct-26), Company Releases, GE / Safran, IATA / Platts, Aviation Week</a:t>
            </a:r>
            <a:endParaRPr lang="en-US" sz="1100" dirty="0"/>
          </a:p>
        </p:txBody>
      </p:sp>
      <p:sp>
        <p:nvSpPr>
          <p:cNvPr id="62" name="Text 57"/>
          <p:cNvSpPr txBox="1"/>
          <p:nvPr/>
        </p:nvSpPr>
        <p:spPr>
          <a:xfrm>
            <a:off x="7772400" y="647395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1.  Tracker: public releases, filings, trade press; not exhaustive (a floor).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2.  Fuel: IATA / Platts avg.; Jan, 15-Sep USGC.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3.  GPS est.: 15% fuel saving vs. $2–2.6M / yr MAX lease premium.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621792" y="274320"/>
            <a:ext cx="11201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500" dirty="0">
                <a:solidFill>
                  <a:srgbClr val="20304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Thesis II: Variance on Share – FTAI Fills the Whitespace With Capacity Already Built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04672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0304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FTAI takes the CFM56 visits the LEAP-focused shops can’t turn fast enough: an engine back in weeks, not months.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21792" y="1106424"/>
            <a:ext cx="11201400" cy="0"/>
          </a:xfrm>
          <a:prstGeom prst="line">
            <a:avLst/>
          </a:prstGeom>
          <a:noFill/>
          <a:ln w="9525">
            <a:solidFill>
              <a:srgbClr val="203040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621792" y="1170432"/>
          <a:ext cx="1783080" cy="15727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2496312" y="1152144"/>
            <a:ext cx="361188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Test cells: LEAP now shares CFM56's scarcest slot</a:t>
            </a:r>
            <a:r>
              <a:rPr lang="en-US" sz="1050" baseline="30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496312" y="1371600"/>
          <a:ext cx="3611880" cy="914400"/>
        </p:xfrm>
        <a:graphic>
          <a:graphicData uri="http://schemas.openxmlformats.org/drawingml/2006/table">
            <a:tbl>
              <a:tblPr/>
              <a:tblGrid>
                <a:gridCol w="2880360"/>
                <a:gridCol w="731520"/>
              </a:tblGrid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Engine test cells tracked (18)</a:t>
                      </a:r>
                      <a:endParaRPr lang="en-US" sz="9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Cells</a:t>
                      </a:r>
                      <a:endParaRPr lang="en-US" sz="9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Existing cells adapted to test LEAP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9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...still testing CFM56 (where disclosed)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4 of 4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...dropped CFM56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0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New cells built for LEAP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7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New cell built first for CFM56 (Willis + GEM)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2496312" y="2487168"/>
            <a:ext cx="36118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“</a:t>
            </a:r>
            <a:r>
              <a:rPr lang="en-US" sz="900" u="sng" dirty="0">
                <a:solidFill>
                  <a:srgbClr val="59595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Ongoing shortage of testing capacity</a:t>
            </a:r>
            <a:r>
              <a:rPr lang="en-US" sz="900" dirty="0">
                <a:solidFill>
                  <a:srgbClr val="59595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” – Willis Lease; “Europe-wide testing capacity constraints” – SR Technics</a:t>
            </a:r>
            <a:endParaRPr lang="en-US" sz="9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2834640"/>
          <a:ext cx="548640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2560320"/>
                <a:gridCol w="2057400"/>
              </a:tblGrid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Edge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FTAI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OEM / large MRO shops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Feedstock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1,000+ owned engines; run-outs; AAR USM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OEM parts at list (+6% / yr)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Parts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PMA (3 of 5), USM, in-house repair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HPT blade shortage; OEM parts only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Slots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~1,800 spare modules (2026)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Waits +2–6 mo.; capex to LEAP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Test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Rome adding a cell; Jakarta, Cairo come with cells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LEAP competes for same cells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6227064" y="1188720"/>
            <a:ext cx="0" cy="2606040"/>
          </a:xfrm>
          <a:prstGeom prst="line">
            <a:avLst/>
          </a:prstGeom>
          <a:noFill/>
          <a:ln w="12700">
            <a:solidFill>
              <a:srgbClr val="1A1A1A"/>
            </a:solidFill>
            <a:prstDash val="sysDot"/>
          </a:ln>
        </p:spPr>
      </p:sp>
      <p:sp>
        <p:nvSpPr>
          <p:cNvPr id="11" name="Text 6"/>
          <p:cNvSpPr txBox="1"/>
          <p:nvPr/>
        </p:nvSpPr>
        <p:spPr>
          <a:xfrm>
            <a:off x="6336792" y="1152144"/>
            <a:ext cx="548640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FTAI's share of CFM56 module demand</a:t>
            </a:r>
            <a:endParaRPr lang="en-US" sz="1200" dirty="0"/>
          </a:p>
        </p:txBody>
      </p:sp>
      <p:graphicFrame>
        <p:nvGraphicFramePr>
          <p:cNvPr id="12" name="Chart 1" descr=""/>
          <p:cNvGraphicFramePr/>
          <p:nvPr/>
        </p:nvGraphicFramePr>
        <p:xfrm>
          <a:off x="6336792" y="1371600"/>
          <a:ext cx="329184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7"/>
          <p:cNvSpPr txBox="1"/>
          <p:nvPr/>
        </p:nvSpPr>
        <p:spPr>
          <a:xfrm>
            <a:off x="9674352" y="1389888"/>
            <a:ext cx="2148840" cy="23957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Proof:</a:t>
            </a: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share ~10% → 12% → </a:t>
            </a:r>
            <a:r>
              <a:rPr lang="en-US" sz="105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14%</a:t>
            </a: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in 1H26; Q2 modules up </a:t>
            </a:r>
            <a:r>
              <a:rPr lang="en-US" sz="105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61% y/y</a:t>
            </a:r>
            <a:endParaRPr lang="en-US" sz="10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Guide raised twice:</a:t>
            </a: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1,000 → 1,050 → </a:t>
            </a:r>
            <a:r>
              <a:rPr lang="en-US" sz="105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1,200</a:t>
            </a: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(2026); </a:t>
            </a:r>
            <a:r>
              <a:rPr lang="en-US" sz="105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1,700</a:t>
            </a: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in 2027</a:t>
            </a:r>
            <a:endParaRPr lang="en-US" sz="10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United</a:t>
            </a: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expanded to a multi-year </a:t>
            </a:r>
            <a:r>
              <a:rPr lang="en-US" sz="105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CFM56-7B MRE</a:t>
            </a: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(Oct-26)</a:t>
            </a:r>
            <a:endParaRPr lang="en-US" sz="10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Bull case: third-party alone reaches </a:t>
            </a:r>
            <a:r>
              <a:rPr lang="en-US" sz="105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25%</a:t>
            </a: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by FY31</a:t>
            </a:r>
            <a:endParaRPr lang="en-US" sz="1050" dirty="0"/>
          </a:p>
        </p:txBody>
      </p:sp>
      <p:sp>
        <p:nvSpPr>
          <p:cNvPr id="14" name="Text 8"/>
          <p:cNvSpPr txBox="1"/>
          <p:nvPr/>
        </p:nvSpPr>
        <p:spPr>
          <a:xfrm>
            <a:off x="621792" y="3840480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0304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capex is already spent: 3,000 modules of capacity vs. 1,200 produced, with Jakarta and Cairo adding volume in 2027.</a:t>
            </a:r>
            <a:endParaRPr lang="en-US" sz="1350" dirty="0"/>
          </a:p>
        </p:txBody>
      </p:sp>
      <p:sp>
        <p:nvSpPr>
          <p:cNvPr id="15" name="Shape 9"/>
          <p:cNvSpPr/>
          <p:nvPr/>
        </p:nvSpPr>
        <p:spPr>
          <a:xfrm>
            <a:off x="621792" y="4142232"/>
            <a:ext cx="11201400" cy="0"/>
          </a:xfrm>
          <a:prstGeom prst="line">
            <a:avLst/>
          </a:prstGeom>
          <a:noFill/>
          <a:ln w="9525">
            <a:solidFill>
              <a:srgbClr val="203040"/>
            </a:solidFill>
            <a:prstDash val="solid"/>
          </a:ln>
        </p:spPr>
      </p:sp>
      <p:graphicFrame>
        <p:nvGraphicFramePr>
          <p:cNvPr id="16" name="Chart 2" descr=""/>
          <p:cNvGraphicFramePr/>
          <p:nvPr/>
        </p:nvGraphicFramePr>
        <p:xfrm>
          <a:off x="621792" y="4206240"/>
          <a:ext cx="2194560" cy="16642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2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07792" y="4224528"/>
          <a:ext cx="32004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05740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Shop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Role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Montreal / Miami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Core module shops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Rome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QuickTurn; adding test cell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Lisbon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+113k sq ft; 300+ modules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Jakarta (GMF)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Heavy repair; 200+ techs; 5-yr deal (Sep-26)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Cairo (EgyptAir)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-7B; ~120 techs; test cell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Shape 10"/>
          <p:cNvSpPr/>
          <p:nvPr/>
        </p:nvSpPr>
        <p:spPr>
          <a:xfrm>
            <a:off x="6227064" y="4224528"/>
            <a:ext cx="0" cy="1645920"/>
          </a:xfrm>
          <a:prstGeom prst="line">
            <a:avLst/>
          </a:prstGeom>
          <a:noFill/>
          <a:ln w="12700">
            <a:solidFill>
              <a:srgbClr val="1A1A1A"/>
            </a:solidFill>
            <a:prstDash val="sysDot"/>
          </a:ln>
        </p:spPr>
      </p:sp>
      <p:sp>
        <p:nvSpPr>
          <p:cNvPr id="19" name="Shape 11"/>
          <p:cNvSpPr/>
          <p:nvPr/>
        </p:nvSpPr>
        <p:spPr>
          <a:xfrm>
            <a:off x="6336792" y="4224528"/>
            <a:ext cx="1024128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0" name="Text 12"/>
          <p:cNvSpPr txBox="1"/>
          <p:nvPr/>
        </p:nvSpPr>
        <p:spPr>
          <a:xfrm>
            <a:off x="6336792" y="4224528"/>
            <a:ext cx="1024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2,386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visits</a:t>
            </a:r>
            <a:endParaRPr lang="en-US" sz="1300" dirty="0"/>
          </a:p>
        </p:txBody>
      </p:sp>
      <p:sp>
        <p:nvSpPr>
          <p:cNvPr id="21" name="Shape 13"/>
          <p:cNvSpPr/>
          <p:nvPr/>
        </p:nvSpPr>
        <p:spPr>
          <a:xfrm>
            <a:off x="7434072" y="4224528"/>
            <a:ext cx="1024128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Text 14"/>
          <p:cNvSpPr txBox="1"/>
          <p:nvPr/>
        </p:nvSpPr>
        <p:spPr>
          <a:xfrm>
            <a:off x="7434072" y="4224528"/>
            <a:ext cx="1024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× 3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modules</a:t>
            </a:r>
            <a:endParaRPr lang="en-US" sz="1300" dirty="0"/>
          </a:p>
        </p:txBody>
      </p:sp>
      <p:sp>
        <p:nvSpPr>
          <p:cNvPr id="23" name="Shape 15"/>
          <p:cNvSpPr/>
          <p:nvPr/>
        </p:nvSpPr>
        <p:spPr>
          <a:xfrm>
            <a:off x="8531352" y="4224528"/>
            <a:ext cx="1024128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4" name="Text 16"/>
          <p:cNvSpPr txBox="1"/>
          <p:nvPr/>
        </p:nvSpPr>
        <p:spPr>
          <a:xfrm>
            <a:off x="8531352" y="4224528"/>
            <a:ext cx="1024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× 16.8%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3rd-party share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9628632" y="4224528"/>
            <a:ext cx="1024128" cy="56692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6" name="Text 18"/>
          <p:cNvSpPr txBox="1"/>
          <p:nvPr/>
        </p:nvSpPr>
        <p:spPr>
          <a:xfrm>
            <a:off x="9628632" y="4224528"/>
            <a:ext cx="1024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+ 482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SCI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10725912" y="4224528"/>
            <a:ext cx="1024128" cy="5669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8" name="Text 20"/>
          <p:cNvSpPr txBox="1"/>
          <p:nvPr/>
        </p:nvSpPr>
        <p:spPr>
          <a:xfrm>
            <a:off x="10725912" y="4224528"/>
            <a:ext cx="1024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= 1,687</a:t>
            </a:r>
            <a:endParaRPr lang="en-US" sz="13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FY27E</a:t>
            </a:r>
            <a:endParaRPr lang="en-US" sz="1300" dirty="0"/>
          </a:p>
        </p:txBody>
      </p:sp>
      <p:sp>
        <p:nvSpPr>
          <p:cNvPr id="29" name="Text 21"/>
          <p:cNvSpPr txBox="1"/>
          <p:nvPr/>
        </p:nvSpPr>
        <p:spPr>
          <a:xfrm>
            <a:off x="6336792" y="4846320"/>
            <a:ext cx="548640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Partner-funded growth:</a:t>
            </a: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Jakarta and Cairo are </a:t>
            </a:r>
            <a:r>
              <a:rPr lang="en-US" sz="105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partner shops with guaranteed capacity</a:t>
            </a: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– volume adds need working capital, not new buildings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Each +1 pt of third-party share</a:t>
            </a: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≈ 70 modules ≈ </a:t>
            </a:r>
            <a:r>
              <a:rPr lang="en-US" sz="105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$65M EBITDA ≈ $10 / share</a:t>
            </a: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at 16x</a:t>
            </a:r>
            <a:endParaRPr lang="en-US" sz="105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5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Downside covered:</a:t>
            </a: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independents (StandardAero, ST Eng., SRT, MTU) also chase the overflow; our bear case caps share at </a:t>
            </a:r>
            <a:r>
              <a:rPr lang="en-US" sz="105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15%</a:t>
            </a: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and still yields </a:t>
            </a:r>
            <a:r>
              <a:rPr lang="en-US" sz="105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$173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621792" y="5925312"/>
            <a:ext cx="11201400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621792" y="5925312"/>
            <a:ext cx="1120140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With slots built and partners funding new shops, FTAI reaches ~25% of CFM56 module demand; each point of share is ~$10 / share.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621792" y="647395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Source: FTAI Calls and Supplement, United / FTAI (Oct-26), GMF / FTAI (Sep-26), Willis Lease, SR Technics, In Practise, GPS Model</a:t>
            </a:r>
            <a:endParaRPr lang="en-US" sz="1100" dirty="0"/>
          </a:p>
        </p:txBody>
      </p:sp>
      <p:sp>
        <p:nvSpPr>
          <p:cNvPr id="33" name="Text 25"/>
          <p:cNvSpPr txBox="1"/>
          <p:nvPr/>
        </p:nvSpPr>
        <p:spPr>
          <a:xfrm>
            <a:off x="7772400" y="647395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1.  GPS Test Cell Tracker (18 cells, Oct-26); no public case of a cell dropping CFM56 for LEAP.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2.  Physical capacity 2,000 (2025) and 3,000 modules (from Q2'26) per management.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621792" y="274320"/>
            <a:ext cx="11201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500" dirty="0">
                <a:solidFill>
                  <a:srgbClr val="20304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Thesis III: Variance on Power – The Grid Gap Is Where the First Order Came From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04672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0304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Hyperscaler capex is outrunning contracted power – and NERC reserves go short from 2029.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21792" y="1106424"/>
            <a:ext cx="11201400" cy="0"/>
          </a:xfrm>
          <a:prstGeom prst="line">
            <a:avLst/>
          </a:prstGeom>
          <a:noFill/>
          <a:ln w="9525">
            <a:solidFill>
              <a:srgbClr val="203040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621792" y="1170432"/>
          <a:ext cx="2743200" cy="15727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3410712" y="1170432"/>
          <a:ext cx="2697480" cy="15727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21792" y="2770632"/>
            <a:ext cx="548640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Capex and PPAs tracked each other for a decade (</a:t>
            </a:r>
            <a:r>
              <a:rPr lang="en-US" sz="105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0.89 correlation</a:t>
            </a: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); in 2025 capex rose </a:t>
            </a:r>
            <a:r>
              <a:rPr lang="en-US" sz="105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65%</a:t>
            </a: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while PPAs were </a:t>
            </a:r>
            <a:r>
              <a:rPr lang="en-US" sz="105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flat at ~29.5 GW</a:t>
            </a:r>
            <a:endParaRPr lang="en-US" sz="1050" dirty="0"/>
          </a:p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105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Our build:</a:t>
            </a: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$733bn × 65% US × 25% facility ÷ $12M / MW ≈ </a:t>
            </a:r>
            <a:r>
              <a:rPr lang="en-US" sz="105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9.9 GW of shells funded in 2026 alone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6227064" y="1188720"/>
            <a:ext cx="0" cy="2286000"/>
          </a:xfrm>
          <a:prstGeom prst="line">
            <a:avLst/>
          </a:prstGeom>
          <a:noFill/>
          <a:ln w="12700">
            <a:solidFill>
              <a:srgbClr val="1A1A1A"/>
            </a:solidFill>
            <a:prstDash val="sysDot"/>
          </a:ln>
        </p:spPr>
      </p:sp>
      <p:graphicFrame>
        <p:nvGraphicFramePr>
          <p:cNvPr id="9" name="Chart 2" descr=""/>
          <p:cNvGraphicFramePr/>
          <p:nvPr/>
        </p:nvGraphicFramePr>
        <p:xfrm>
          <a:off x="6336792" y="1170432"/>
          <a:ext cx="265176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7635240" y="21031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8.4</a:t>
            </a:r>
            <a:endParaRPr lang="en-US" sz="900" dirty="0"/>
          </a:p>
        </p:txBody>
      </p:sp>
      <p:sp>
        <p:nvSpPr>
          <p:cNvPr id="11" name="Text 6"/>
          <p:cNvSpPr txBox="1"/>
          <p:nvPr/>
        </p:nvSpPr>
        <p:spPr>
          <a:xfrm>
            <a:off x="8065008" y="17373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27.2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8503920" y="13716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47.2</a:t>
            </a:r>
            <a:endParaRPr lang="en-US" sz="900" dirty="0"/>
          </a:p>
        </p:txBody>
      </p:sp>
      <p:sp>
        <p:nvSpPr>
          <p:cNvPr id="13" name="Text 8"/>
          <p:cNvSpPr txBox="1"/>
          <p:nvPr/>
        </p:nvSpPr>
        <p:spPr>
          <a:xfrm>
            <a:off x="9034272" y="1188720"/>
            <a:ext cx="2788920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US DC demand </a:t>
            </a:r>
            <a:r>
              <a:rPr lang="en-US" sz="10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298 → 746 TWh</a:t>
            </a:r>
            <a:r>
              <a:rPr lang="en-US" sz="1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(2026–31)</a:t>
            </a:r>
            <a:endParaRPr lang="en-US" sz="10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ERCOT large-load queue </a:t>
            </a:r>
            <a:r>
              <a:rPr lang="en-US" sz="10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~475 GW</a:t>
            </a:r>
            <a:r>
              <a:rPr lang="en-US" sz="1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, 90% data centers</a:t>
            </a:r>
            <a:endParaRPr lang="en-US" sz="10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PJM auctions cleared </a:t>
            </a:r>
            <a:r>
              <a:rPr lang="en-US" sz="10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~6.8 GW short</a:t>
            </a:r>
            <a:r>
              <a:rPr lang="en-US" sz="1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(2028/29)</a:t>
            </a:r>
            <a:endParaRPr lang="en-US" sz="10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Grid interconnection: median </a:t>
            </a:r>
            <a:r>
              <a:rPr lang="en-US" sz="10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&gt;5 yrs</a:t>
            </a:r>
            <a:endParaRPr lang="en-US" sz="10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OEM gas-turbine backlog </a:t>
            </a:r>
            <a:r>
              <a:rPr lang="en-US" sz="10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~220 GW</a:t>
            </a:r>
            <a:r>
              <a:rPr lang="en-US" sz="1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; new slots </a:t>
            </a:r>
            <a:r>
              <a:rPr lang="en-US" sz="10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2028 onward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6336792" y="3035808"/>
            <a:ext cx="5486400" cy="438912"/>
          </a:xfrm>
          <a:prstGeom prst="rect">
            <a:avLst/>
          </a:prstGeom>
          <a:solidFill>
            <a:srgbClr val="D9D9D9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373368" y="3035808"/>
            <a:ext cx="5413248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~57% of hyperscaler power contracted lands </a:t>
            </a:r>
            <a:r>
              <a:rPr lang="en-US" sz="105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2029 or later</a:t>
            </a: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– a 2–3 year gap only </a:t>
            </a:r>
            <a:r>
              <a:rPr lang="en-US" sz="105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fast, on-site generation</a:t>
            </a: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can fill</a:t>
            </a:r>
            <a:endParaRPr lang="en-US" sz="1050" dirty="0"/>
          </a:p>
        </p:txBody>
      </p:sp>
      <p:sp>
        <p:nvSpPr>
          <p:cNvPr id="16" name="Text 11"/>
          <p:cNvSpPr txBox="1"/>
          <p:nvPr/>
        </p:nvSpPr>
        <p:spPr>
          <a:xfrm>
            <a:off x="621792" y="3547872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0304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$1.465bn first order came from a site at exactly that stage: built, energized on mobile gas, and out of turbines.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1792" y="3849624"/>
            <a:ext cx="11201400" cy="0"/>
          </a:xfrm>
          <a:prstGeom prst="line">
            <a:avLst/>
          </a:prstGeom>
          <a:noFill/>
          <a:ln w="9525">
            <a:solidFill>
              <a:srgbClr val="203040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3913632"/>
          <a:ext cx="374904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297180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Term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The order (22-Jul-26)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Seller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J&amp;F Power Systems (FTAI × Jereh JV)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Buyer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“Leading international cloud provider” – </a:t>
                      </a:r>
                      <a:r>
                        <a:rPr lang="en-US" sz="950" u="sng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reported xAI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Size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u="sng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$1.465bn</a:t>
                      </a: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 initial PO; 5-yr MSA, re-order w/o renegotiation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Implied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~58 Mod-1 units at ~$25M ≈ </a:t>
                      </a:r>
                      <a:r>
                        <a:rPr lang="en-US" sz="950" u="sng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1.45 GW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Delivery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Batches through </a:t>
                      </a:r>
                      <a:r>
                        <a:rPr lang="en-US" sz="950" u="sng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Nov-27</a:t>
                      </a: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; advance + milestone pay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 13"/>
          <p:cNvSpPr txBox="1"/>
          <p:nvPr/>
        </p:nvSpPr>
        <p:spPr>
          <a:xfrm>
            <a:off x="4507992" y="3895344"/>
            <a:ext cx="731520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What “the xAI stage” looked like (Colossus 2 / Southaven)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4526280" y="4206240"/>
            <a:ext cx="237744" cy="237744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4526280" y="42062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</a:t>
            </a:r>
            <a:endParaRPr lang="en-US" sz="1050" dirty="0"/>
          </a:p>
        </p:txBody>
      </p:sp>
      <p:sp>
        <p:nvSpPr>
          <p:cNvPr id="22" name="Text 16"/>
          <p:cNvSpPr txBox="1"/>
          <p:nvPr/>
        </p:nvSpPr>
        <p:spPr>
          <a:xfrm>
            <a:off x="4828032" y="4151376"/>
            <a:ext cx="24688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Shell built, GPUs committed</a:t>
            </a:r>
            <a:endParaRPr lang="en-US" sz="1050" dirty="0"/>
          </a:p>
        </p:txBody>
      </p:sp>
      <p:sp>
        <p:nvSpPr>
          <p:cNvPr id="23" name="Text 17"/>
          <p:cNvSpPr txBox="1"/>
          <p:nvPr/>
        </p:nvSpPr>
        <p:spPr>
          <a:xfrm>
            <a:off x="7296912" y="4151376"/>
            <a:ext cx="45262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~1 GW live Jan-26; $20bn Southaven DC under way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526280" y="4535424"/>
            <a:ext cx="237744" cy="237744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4526280" y="45354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</a:t>
            </a:r>
            <a:endParaRPr lang="en-US" sz="1050" dirty="0"/>
          </a:p>
        </p:txBody>
      </p:sp>
      <p:sp>
        <p:nvSpPr>
          <p:cNvPr id="26" name="Text 20"/>
          <p:cNvSpPr txBox="1"/>
          <p:nvPr/>
        </p:nvSpPr>
        <p:spPr>
          <a:xfrm>
            <a:off x="4828032" y="4480560"/>
            <a:ext cx="24688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No grid for the next phase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7296912" y="4480560"/>
            <a:ext cx="45262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MLGW supplies </a:t>
            </a:r>
            <a:r>
              <a:rPr lang="en-US" sz="105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no power</a:t>
            </a: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to Colossus 2; no TVA allocation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4526280" y="4864608"/>
            <a:ext cx="237744" cy="237744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4526280" y="48646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</a:t>
            </a:r>
            <a:endParaRPr lang="en-US" sz="1050" dirty="0"/>
          </a:p>
        </p:txBody>
      </p:sp>
      <p:sp>
        <p:nvSpPr>
          <p:cNvPr id="30" name="Text 24"/>
          <p:cNvSpPr txBox="1"/>
          <p:nvPr/>
        </p:nvSpPr>
        <p:spPr>
          <a:xfrm>
            <a:off x="4828032" y="4809744"/>
            <a:ext cx="24688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Behind-the-meter gas permitted</a:t>
            </a:r>
            <a:endParaRPr lang="en-US" sz="1050" dirty="0"/>
          </a:p>
        </p:txBody>
      </p:sp>
      <p:sp>
        <p:nvSpPr>
          <p:cNvPr id="31" name="Text 25"/>
          <p:cNvSpPr txBox="1"/>
          <p:nvPr/>
        </p:nvSpPr>
        <p:spPr>
          <a:xfrm>
            <a:off x="7296912" y="4809744"/>
            <a:ext cx="45262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41 turbines (~1.2 GW)</a:t>
            </a: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permitted Mar-26; gas lateral in place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4526280" y="5193792"/>
            <a:ext cx="237744" cy="237744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4526280" y="51937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</a:t>
            </a:r>
            <a:endParaRPr lang="en-US" sz="1050" dirty="0"/>
          </a:p>
        </p:txBody>
      </p:sp>
      <p:sp>
        <p:nvSpPr>
          <p:cNvPr id="34" name="Text 28"/>
          <p:cNvSpPr txBox="1"/>
          <p:nvPr/>
        </p:nvSpPr>
        <p:spPr>
          <a:xfrm>
            <a:off x="4828032" y="5138928"/>
            <a:ext cx="24688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Incumbent supply tapped out</a:t>
            </a:r>
            <a:endParaRPr lang="en-US" sz="1050" dirty="0"/>
          </a:p>
        </p:txBody>
      </p:sp>
      <p:sp>
        <p:nvSpPr>
          <p:cNvPr id="35" name="Text 29"/>
          <p:cNvSpPr txBox="1"/>
          <p:nvPr/>
        </p:nvSpPr>
        <p:spPr>
          <a:xfrm>
            <a:off x="7296912" y="5138928"/>
            <a:ext cx="45262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Solaris ~900 MW fleet committed; OEM aero slots </a:t>
            </a:r>
            <a:r>
              <a:rPr lang="en-US" sz="105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2028 onward</a:t>
            </a:r>
            <a:endParaRPr lang="en-US" sz="1050" dirty="0"/>
          </a:p>
        </p:txBody>
      </p:sp>
      <p:sp>
        <p:nvSpPr>
          <p:cNvPr id="36" name="Text 30"/>
          <p:cNvSpPr txBox="1"/>
          <p:nvPr/>
        </p:nvSpPr>
        <p:spPr>
          <a:xfrm>
            <a:off x="621792" y="5486400"/>
            <a:ext cx="112014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9595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Diligence flag: FTAI hasn't named the buyer; the xAI link rests on Jereh gensets on the Southaven equipment list (CV Research). </a:t>
            </a:r>
            <a:r>
              <a:rPr lang="en-US" sz="1000" u="sng" dirty="0">
                <a:solidFill>
                  <a:srgbClr val="59595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order is signed either way</a:t>
            </a:r>
            <a:r>
              <a:rPr lang="en-US" sz="1000" dirty="0">
                <a:solidFill>
                  <a:srgbClr val="59595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.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21792" y="5925312"/>
            <a:ext cx="11201400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621792" y="5925312"/>
            <a:ext cx="1120140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grid falls 8–47 GW short from 2029; sites at the first buyer's stage need power in 2027–28 that only mobile units can deliver.</a:t>
            </a:r>
            <a:endParaRPr lang="en-US" sz="1400" dirty="0"/>
          </a:p>
        </p:txBody>
      </p:sp>
      <p:sp>
        <p:nvSpPr>
          <p:cNvPr id="39" name="Text 33"/>
          <p:cNvSpPr txBox="1"/>
          <p:nvPr/>
        </p:nvSpPr>
        <p:spPr>
          <a:xfrm>
            <a:off x="621792" y="647395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Source: Company filings (AMZN, GOOGL, META, MSFT), BCSE / BNEF, NERC 2025 LTRA, ERCOT, PJM, FTAI release (22-Jul-26), MDEQ, DCD, SemiAnalysis, GPS Model</a:t>
            </a:r>
            <a:endParaRPr lang="en-US" sz="1100" dirty="0"/>
          </a:p>
        </p:txBody>
      </p:sp>
      <p:sp>
        <p:nvSpPr>
          <p:cNvPr id="40" name="Text 34"/>
          <p:cNvSpPr txBox="1"/>
          <p:nvPr/>
        </p:nvSpPr>
        <p:spPr>
          <a:xfrm>
            <a:off x="7772400" y="647395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1.  GPS regional model: NERC demand vs. anticipated capacity + 67 tracked hyperscaler power agreements.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621792" y="274320"/>
            <a:ext cx="11201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500" dirty="0">
                <a:solidFill>
                  <a:srgbClr val="20304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Thesis III: Variance on Power – A Pipeline at the First Buyer's Stage and a Right to Win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04672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0304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Our site-level model puts the odds of another J&amp;F order within 12 months at ~75% – and ~61% from a buyer other than xAI.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21792" y="1106424"/>
            <a:ext cx="11201400" cy="0"/>
          </a:xfrm>
          <a:prstGeom prst="line">
            <a:avLst/>
          </a:prstGeom>
          <a:noFill/>
          <a:ln w="9525">
            <a:solidFill>
              <a:srgbClr val="203040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621792" y="1115568"/>
          <a:ext cx="3611880" cy="19385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325112" y="1143000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0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75%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193792" y="1143000"/>
            <a:ext cx="12801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60/40 blend: site-level 71%, top-down 82% (56–97%)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325112" y="1783080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61%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5193792" y="1783080"/>
            <a:ext cx="12801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From a customer other than xAI – the option is not one buyer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4325112" y="2423160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51–71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5193792" y="2423160"/>
            <a:ext cx="128016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2027 Mod-1 units left after the first order: room for 1–3+ more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4325112" y="3044952"/>
            <a:ext cx="21488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9595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Top-down: Jereh wins ~4 DC orders / yr × 45% routed to J&amp;F × 95% disclosed → λ ≈ 1.7.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519672" y="1152144"/>
            <a:ext cx="0" cy="2240280"/>
          </a:xfrm>
          <a:prstGeom prst="line">
            <a:avLst/>
          </a:prstGeom>
          <a:noFill/>
          <a:ln w="12700">
            <a:solidFill>
              <a:srgbClr val="1A1A1A"/>
            </a:solidFill>
            <a:prstDash val="sysDot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1112" y="1133856"/>
          <a:ext cx="5212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514600"/>
                <a:gridCol w="548640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Most likely next buyers</a:t>
                      </a:r>
                      <a:endParaRPr lang="en-US" sz="9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Why the gap is open</a:t>
                      </a:r>
                      <a:endParaRPr lang="en-US" sz="9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</a:t>
                      </a:r>
                      <a:endParaRPr lang="en-US" sz="9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Gap MW</a:t>
                      </a:r>
                      <a:endParaRPr lang="en-US" sz="9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Cipher BYOG sites (TX)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2.5 GW of gas laterals; generator not selected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15%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600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xAI Minihard (Memphis)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4th DC, 2027 load; power source undisclosed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12%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350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Jereh buyers C / D / E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~$820M of 2027 gensets; repeat via packager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11% ea.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550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xAI Southaven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69 temp turbines retire Aug-26 to Jul-27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11%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575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xAI Doosan frame sites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Bridge power until 2027–28 combined cycle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9%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500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Crusoe Abilene (Microsoft)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Cancelled 1.2 GW Boom order 25-Sep-26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8%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250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Fermi Matador (TensorWave)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222 MW lease from H2-27; leased TM2500s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7%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214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1"/>
          <p:cNvSpPr txBox="1"/>
          <p:nvPr/>
        </p:nvSpPr>
        <p:spPr>
          <a:xfrm>
            <a:off x="6611112" y="2935224"/>
            <a:ext cx="52120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Locked out:</a:t>
            </a:r>
            <a:r>
              <a:rPr lang="en-US" sz="9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Jupiter → Bloom; Frontier → VoltaGrid; Prometheus → Williams; Kilby, Homer City → GE 7HA. Typical non-xAI Jereh order: </a:t>
            </a:r>
            <a:r>
              <a:rPr lang="en-US" sz="95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$100–341M (3–11 units)</a:t>
            </a:r>
            <a:r>
              <a:rPr lang="en-US" sz="9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.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621792" y="3511296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0304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FTAI can roll units faster than the street models – and its units are cheap, available now and mobile.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621792" y="3813048"/>
            <a:ext cx="11201400" cy="0"/>
          </a:xfrm>
          <a:prstGeom prst="line">
            <a:avLst/>
          </a:prstGeom>
          <a:noFill/>
          <a:ln w="9525">
            <a:solidFill>
              <a:srgbClr val="203040"/>
            </a:solidFill>
            <a:prstDash val="solid"/>
          </a:ln>
        </p:spPr>
      </p:sp>
      <p:graphicFrame>
        <p:nvGraphicFramePr>
          <p:cNvPr id="18" name="Chart 1" descr=""/>
          <p:cNvGraphicFramePr/>
          <p:nvPr/>
        </p:nvGraphicFramePr>
        <p:xfrm>
          <a:off x="621792" y="3858768"/>
          <a:ext cx="301752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ext 14"/>
          <p:cNvSpPr txBox="1"/>
          <p:nvPr/>
        </p:nvSpPr>
        <p:spPr>
          <a:xfrm>
            <a:off x="3685032" y="3858768"/>
            <a:ext cx="2743200" cy="2011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95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Feedstock in hand:</a:t>
            </a:r>
            <a:r>
              <a:rPr lang="en-US" sz="9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1,000+ owned CFM56s; no new hot section</a:t>
            </a:r>
            <a:endParaRPr lang="en-US" sz="950" dirty="0"/>
          </a:p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95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Capacity:</a:t>
            </a:r>
            <a:r>
              <a:rPr lang="en-US" sz="9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100+ units / yr; ~$400M of Power WC built / planned</a:t>
            </a:r>
            <a:endParaRPr lang="en-US" sz="950" dirty="0"/>
          </a:p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95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Packaging outsourced</a:t>
            </a:r>
            <a:r>
              <a:rPr lang="en-US" sz="9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to Jereh (US, Canada, UAE, China)</a:t>
            </a:r>
            <a:endParaRPr lang="en-US" sz="950" dirty="0"/>
          </a:p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95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Base 45 units FY27</a:t>
            </a:r>
            <a:r>
              <a:rPr lang="en-US" sz="9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&lt; the ~58 implied by the signed order; mgmt's $450M assumes “materially less” than 100</a:t>
            </a:r>
            <a:endParaRPr lang="en-US" sz="950" dirty="0"/>
          </a:p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95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Path:</a:t>
            </a:r>
            <a:r>
              <a:rPr lang="en-US" sz="9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launch Dec-25 → prototype 1H26 → order Jul-26 → first deliveries 2027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519672" y="3877056"/>
            <a:ext cx="0" cy="1984248"/>
          </a:xfrm>
          <a:prstGeom prst="line">
            <a:avLst/>
          </a:prstGeom>
          <a:noFill/>
          <a:ln w="12700">
            <a:solidFill>
              <a:srgbClr val="1A1A1A"/>
            </a:solidFill>
            <a:prstDash val="sysDot"/>
          </a:ln>
        </p:spPr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1112" y="3858768"/>
          <a:ext cx="310896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960120"/>
                <a:gridCol w="73152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Supplier</a:t>
                      </a:r>
                      <a:endParaRPr lang="en-US" sz="9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Earliest slot</a:t>
                      </a:r>
                      <a:endParaRPr lang="en-US" sz="9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 / kW</a:t>
                      </a:r>
                      <a:endParaRPr lang="en-US" sz="9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FTAI Mod-1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2027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~$1,000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GE Vernova aeros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2028–30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$1,400–2,000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MHI / Siemens frames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2028–30 / 3+ yrs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~$2,000+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Boom (Crusoe exited)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250 MW 2027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~$1,030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2" name="Text 16"/>
          <p:cNvSpPr txBox="1"/>
          <p:nvPr/>
        </p:nvSpPr>
        <p:spPr>
          <a:xfrm>
            <a:off x="9765792" y="3858768"/>
            <a:ext cx="2057400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Turbines ≈ </a:t>
            </a:r>
            <a:r>
              <a:rPr lang="en-US" sz="95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13% of shell cost</a:t>
            </a:r>
            <a:r>
              <a:rPr lang="en-US" sz="9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(~2% all-in)</a:t>
            </a:r>
            <a:endParaRPr lang="en-US" sz="950" dirty="0"/>
          </a:p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Idle AI site ≈ </a:t>
            </a:r>
            <a:r>
              <a:rPr lang="en-US" sz="95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$1M / MW / month</a:t>
            </a:r>
            <a:r>
              <a:rPr lang="en-US" sz="9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→ a $1M/MW unit </a:t>
            </a:r>
            <a:r>
              <a:rPr lang="en-US" sz="95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pays back in ~1 month</a:t>
            </a:r>
            <a:endParaRPr lang="en-US" sz="950" dirty="0"/>
          </a:p>
          <a:p>
            <a:pPr marL="177800" indent="-177800">
              <a:spcAft>
                <a:spcPts val="100"/>
              </a:spcAft>
              <a:buSzPct val="100000"/>
              <a:buChar char="•"/>
            </a:pPr>
            <a:r>
              <a:rPr lang="en-US" sz="95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Mobile:</a:t>
            </a:r>
            <a:r>
              <a:rPr lang="en-US" sz="95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redeploys when the grid arrives</a:t>
            </a:r>
            <a:endParaRPr lang="en-US" sz="95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1112" y="5102352"/>
          <a:ext cx="52120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731520"/>
                <a:gridCol w="1234440"/>
                <a:gridCol w="1645920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FY27E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Units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Power EBITDA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Value @ 12x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Signed order only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45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$450M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$52 / sh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+1 contract (~1 GW)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~90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~$750M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+$35 / sh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+2 contracts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~130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~$1.05bn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+$70 / sh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17"/>
          <p:cNvSpPr/>
          <p:nvPr/>
        </p:nvSpPr>
        <p:spPr>
          <a:xfrm>
            <a:off x="621792" y="5925312"/>
            <a:ext cx="11201400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621792" y="5925312"/>
            <a:ext cx="1120140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Power is a free call option: we see ~75% odds of another order within 12 months, and each ~1 GW contract adds ~$35 / share.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621792" y="647395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Source: GPS Power Next-Contract Model, Jereh filings / order ledger, Company releases, TCEQ / MDEQ filings, Cleanview, Epoch AI, DCD, GE Vernova / Siemens Energy / MHI Q2'26, GridLab, JLL, FTAI calls, GPS Model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7772400" y="647395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1.  Site-level P = S × [1 – Π(1 – p_i)] + (1 – S) × P(E | shock), S = 0.855, 37 sites + residual; Chinese-supplier risk excluded. $ / share at 12x, 104.0M shares.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621792" y="274320"/>
            <a:ext cx="11201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500" dirty="0">
                <a:solidFill>
                  <a:srgbClr val="20304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Valuation – 1-Year Target of $309 (+85%) With ~5x Reward-to-Risk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9052560" y="475488"/>
            <a:ext cx="2770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20304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($ in millions, except per share)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804672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304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We value FTAI as of Oct-27 on NTM EBITDA (¼ FY27E + ¾ FY28E) and net debt at Sep-27 – a 1-year hold.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1792" y="1106424"/>
            <a:ext cx="11201400" cy="0"/>
          </a:xfrm>
          <a:prstGeom prst="line">
            <a:avLst/>
          </a:prstGeom>
          <a:noFill/>
          <a:ln w="9525">
            <a:solidFill>
              <a:srgbClr val="20304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152144"/>
            <a:ext cx="548640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Base case: sum of the parts at Oct-27</a:t>
            </a:r>
            <a:endParaRPr lang="en-US" sz="11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408176"/>
          <a:ext cx="54864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68680"/>
                <a:gridCol w="868680"/>
                <a:gridCol w="868680"/>
                <a:gridCol w="86868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Segment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12700" marB="127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NTM EBITDA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12700" marB="127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EV / EBITDA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12700" marB="127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EV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12700" marB="127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 / share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12700" marB="127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864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Aerospace Products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1,825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14.0x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25,552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$245.6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FTAI Power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788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10.0x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7,875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$75.7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Aviation Leasing + SCI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444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9.0x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3,994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$38.4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Corporate &amp; eliminations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(213)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12.2x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(2,608)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($25.1)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Enterprise value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2,843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12.2x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34,813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$334.6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(–) Net debt (Sep-27E)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(2,566)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($24.7)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(–) Preferred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(65)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($0.6)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1-year target (equity / share)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32,183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$309.3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Return vs. $167.03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 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+85%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21792" y="3547872"/>
            <a:ext cx="548640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Multiples: Aerospace </a:t>
            </a:r>
            <a:r>
              <a:rPr lang="en-US" sz="10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14x</a:t>
            </a:r>
            <a:r>
              <a:rPr lang="en-US" sz="1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(a discount to aftermarket peers), Power </a:t>
            </a:r>
            <a:r>
              <a:rPr lang="en-US" sz="10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10x</a:t>
            </a:r>
            <a:r>
              <a:rPr lang="en-US" sz="1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(contract risk), Leasing + SCI 9x; corporate at the blended multiple.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27064" y="1170432"/>
            <a:ext cx="0" cy="2834640"/>
          </a:xfrm>
          <a:prstGeom prst="line">
            <a:avLst/>
          </a:prstGeom>
          <a:noFill/>
          <a:ln w="12700">
            <a:solidFill>
              <a:srgbClr val="1A1A1A"/>
            </a:solidFill>
            <a:prstDash val="sysDot"/>
          </a:ln>
        </p:spPr>
      </p:sp>
      <p:sp>
        <p:nvSpPr>
          <p:cNvPr id="10" name="Text 7"/>
          <p:cNvSpPr txBox="1"/>
          <p:nvPr/>
        </p:nvSpPr>
        <p:spPr>
          <a:xfrm>
            <a:off x="6336792" y="1152144"/>
            <a:ext cx="548640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Bear / base / bull</a:t>
            </a:r>
            <a:endParaRPr lang="en-US" sz="115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36792" y="1408176"/>
          <a:ext cx="54864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463040"/>
                <a:gridCol w="1463040"/>
                <a:gridCol w="14630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12700" marB="127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Bear</a:t>
                      </a:r>
                      <a:endParaRPr lang="en-US" sz="9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12700" marB="127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Base</a:t>
                      </a:r>
                      <a:endParaRPr lang="en-US" sz="9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12700" marB="127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Bull</a:t>
                      </a:r>
                      <a:endParaRPr lang="en-US" sz="9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12700" marB="127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I. Margins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Short thesis right: stuck at 28.5%, no PMA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~30% is the trough; price + PMA via SCI rebuild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Light-work mix returns; full PMA ramp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II. Share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Fuel shock bites; share stalls at 15%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Retirements ~2%; FTAI catches OEM overflow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Overflow flows to FTAI; 25% share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III. Power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Ramp slips; half the JV economics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Signed order delivered; ramp to 90 units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One more ~1 GW contract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Fraud discount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Persists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Partly closes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Fully closes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1-yr target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$114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$309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$430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Return / probability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–32%</a:t>
                      </a: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 / 20%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+85%</a:t>
                      </a: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 / 60%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+157%</a:t>
                      </a:r>
                      <a:r>
                        <a:rPr lang="en-US" sz="90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 / 20%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6336792" y="3401568"/>
            <a:ext cx="5486400" cy="56692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336792" y="3401568"/>
            <a:ext cx="54864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Probability-weighted: $294 (+76%)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Reward / risk: +157% / –32% ≈ 4.9x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621792" y="4041648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304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Today's $167 ≈ the bear case at our multiples ($161) – each thesis then adds value: margins +$22, share +$62, Power +$63.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21792" y="4343400"/>
            <a:ext cx="11201400" cy="0"/>
          </a:xfrm>
          <a:prstGeom prst="line">
            <a:avLst/>
          </a:prstGeom>
          <a:noFill/>
          <a:ln w="9525">
            <a:solidFill>
              <a:srgbClr val="203040"/>
            </a:solidFill>
            <a:prstDash val="solid"/>
          </a:ln>
        </p:spPr>
      </p:sp>
      <p:graphicFrame>
        <p:nvGraphicFramePr>
          <p:cNvPr id="16" name="Chart 0" descr=""/>
          <p:cNvGraphicFramePr/>
          <p:nvPr/>
        </p:nvGraphicFramePr>
        <p:xfrm>
          <a:off x="621792" y="4389120"/>
          <a:ext cx="5486400" cy="14813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2"/>
          <p:cNvSpPr txBox="1"/>
          <p:nvPr/>
        </p:nvSpPr>
        <p:spPr>
          <a:xfrm>
            <a:off x="923544" y="483047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$161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1975104" y="476250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70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+$22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3026664" y="4572305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70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+$62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4078224" y="437906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702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+$63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5129784" y="437906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$309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896112" y="5004816"/>
            <a:ext cx="777240" cy="0"/>
          </a:xfrm>
          <a:prstGeom prst="line">
            <a:avLst/>
          </a:prstGeom>
          <a:noFill/>
          <a:ln w="15875">
            <a:solidFill>
              <a:srgbClr val="C00000"/>
            </a:solidFill>
            <a:prstDash val="dash"/>
          </a:ln>
        </p:spPr>
      </p:sp>
      <p:sp>
        <p:nvSpPr>
          <p:cNvPr id="23" name="Text 18"/>
          <p:cNvSpPr txBox="1"/>
          <p:nvPr/>
        </p:nvSpPr>
        <p:spPr>
          <a:xfrm>
            <a:off x="896112" y="462076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000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today $167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6227064" y="4407408"/>
            <a:ext cx="0" cy="1463040"/>
          </a:xfrm>
          <a:prstGeom prst="line">
            <a:avLst/>
          </a:prstGeom>
          <a:noFill/>
          <a:ln w="12700">
            <a:solidFill>
              <a:srgbClr val="1A1A1A"/>
            </a:solidFill>
            <a:prstDash val="sysDot"/>
          </a:ln>
        </p:spPr>
      </p:sp>
      <p:sp>
        <p:nvSpPr>
          <p:cNvPr id="25" name="Text 20"/>
          <p:cNvSpPr txBox="1"/>
          <p:nvPr/>
        </p:nvSpPr>
        <p:spPr>
          <a:xfrm>
            <a:off x="6336792" y="4370832"/>
            <a:ext cx="237744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Cross-checks</a:t>
            </a:r>
            <a:endParaRPr lang="en-US" sz="1100" dirty="0"/>
          </a:p>
        </p:txBody>
      </p:sp>
      <p:graphicFrame>
        <p:nvGraphicFramePr>
          <p:cNvPr id="3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36792" y="4608576"/>
          <a:ext cx="2377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097280"/>
              </a:tblGrid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DCF rolled 1 yr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12700" marB="127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Target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12700" marB="127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864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Bear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$111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Base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$337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Bull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$425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 21"/>
          <p:cNvSpPr txBox="1"/>
          <p:nvPr/>
        </p:nvSpPr>
        <p:spPr>
          <a:xfrm>
            <a:off x="6336792" y="5413248"/>
            <a:ext cx="237744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Ex-Power base: </a:t>
            </a:r>
            <a:r>
              <a:rPr lang="en-US" sz="100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$239</a:t>
            </a:r>
            <a:r>
              <a:rPr lang="en-US" sz="1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, 43% upside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6336792" y="5614416"/>
            <a:ext cx="23774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EV / NTM: </a:t>
            </a:r>
            <a:r>
              <a:rPr lang="en-US" sz="10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10.2x</a:t>
            </a:r>
            <a:r>
              <a:rPr lang="en-US" sz="1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today → </a:t>
            </a:r>
            <a:r>
              <a:rPr lang="en-US" sz="10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12.2x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8851392" y="4370832"/>
            <a:ext cx="297180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Base target: Aero × Power multiple</a:t>
            </a:r>
            <a:endParaRPr lang="en-US" sz="1100" dirty="0"/>
          </a:p>
        </p:txBody>
      </p:sp>
      <p:graphicFrame>
        <p:nvGraphicFramePr>
          <p:cNvPr id="4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851392" y="4608576"/>
          <a:ext cx="297180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548640"/>
                <a:gridCol w="548640"/>
                <a:gridCol w="548640"/>
                <a:gridCol w="548640"/>
              </a:tblGrid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Aero \ Power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12700" marB="127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6x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12700" marB="127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8x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12700" marB="127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10x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12700" marB="127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12x</a:t>
                      </a:r>
                      <a:endParaRPr lang="en-US" sz="95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38100" marR="38100" marT="12700" marB="127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F3864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12x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$249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$263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$277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$291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14x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$281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$295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$309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$323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16x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$314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$328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$342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$356</a:t>
                      </a:r>
                      <a:endParaRPr lang="en-US" sz="1200" dirty="0"/>
                    </a:p>
                  </a:txBody>
                  <a:tcPr marL="38100" marR="38100" marT="12700" marB="1270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ext 24"/>
          <p:cNvSpPr txBox="1"/>
          <p:nvPr/>
        </p:nvSpPr>
        <p:spPr>
          <a:xfrm>
            <a:off x="8851392" y="5413248"/>
            <a:ext cx="2971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12x Aero, 6x Power: </a:t>
            </a:r>
            <a:r>
              <a:rPr lang="en-US" sz="100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$249</a:t>
            </a:r>
            <a:r>
              <a:rPr lang="en-US" sz="1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, 49% upside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621792" y="5925312"/>
            <a:ext cx="11201400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621792" y="5925312"/>
            <a:ext cx="1120140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Base $309 (+85%) in 12 months; probability-weighted $294 (+76%); bear $114 (–32%) – roughly 5x reward-to-risk.</a:t>
            </a:r>
            <a:endParaRPr lang="en-US" sz="1400" dirty="0"/>
          </a:p>
        </p:txBody>
      </p:sp>
      <p:sp>
        <p:nvSpPr>
          <p:cNvPr id="34" name="Text 27"/>
          <p:cNvSpPr txBox="1"/>
          <p:nvPr/>
        </p:nvSpPr>
        <p:spPr>
          <a:xfrm>
            <a:off x="621792" y="647395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Source: GPS Model (case toggle, driver-level bear → base switch), FTAI filings; $167.03 (10/2/26); 104.0M shares</a:t>
            </a:r>
            <a:endParaRPr lang="en-US" sz="1100" dirty="0"/>
          </a:p>
        </p:txBody>
      </p:sp>
      <p:sp>
        <p:nvSpPr>
          <p:cNvPr id="35" name="Text 28"/>
          <p:cNvSpPr txBox="1"/>
          <p:nvPr/>
        </p:nvSpPr>
        <p:spPr>
          <a:xfrm>
            <a:off x="7772400" y="647395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1.  NTM ≈ ¼ FY27E + ¾ FY28E. Bridge: each thesis's model drivers switched bear → base in order, at base multiples.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621792" y="274320"/>
            <a:ext cx="11201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500" dirty="0">
                <a:solidFill>
                  <a:srgbClr val="20304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Catalysts &amp; Risks – Risks Sit in the Bear Case; Catalysts Land Within the Hold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21792" y="896112"/>
            <a:ext cx="3611880" cy="310896"/>
          </a:xfrm>
          <a:prstGeom prst="rect">
            <a:avLst/>
          </a:prstGeom>
          <a:solidFill>
            <a:srgbClr val="5B7189"/>
          </a:solidFill>
          <a:ln w="12700">
            <a:solidFill>
              <a:srgbClr val="5B718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89611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Risks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416552" y="896112"/>
            <a:ext cx="3611880" cy="310896"/>
          </a:xfrm>
          <a:prstGeom prst="rect">
            <a:avLst/>
          </a:prstGeom>
          <a:solidFill>
            <a:srgbClr val="5B7189"/>
          </a:solidFill>
          <a:ln w="12700">
            <a:solidFill>
              <a:srgbClr val="5B718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416552" y="89611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Mitigants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11312" y="896112"/>
            <a:ext cx="3611880" cy="310896"/>
          </a:xfrm>
          <a:prstGeom prst="rect">
            <a:avLst/>
          </a:prstGeom>
          <a:solidFill>
            <a:srgbClr val="5B7189"/>
          </a:solidFill>
          <a:ln w="12700">
            <a:solidFill>
              <a:srgbClr val="5B718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11312" y="89611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Catalysts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" y="1298448"/>
            <a:ext cx="3611880" cy="1188720"/>
          </a:xfrm>
          <a:prstGeom prst="rect">
            <a:avLst/>
          </a:prstGeom>
          <a:solidFill>
            <a:srgbClr val="F4A6A6"/>
          </a:solidFill>
          <a:ln w="12700">
            <a:solidFill>
              <a:srgbClr val="F4A6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1325880"/>
            <a:ext cx="33924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Margins keep falling (Thesis I)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Heavier workscopes and a thinning supply of cheap engines take Aerospace margin below 30%, and the market keeps reading every print as the short thesis unwinding. </a:t>
            </a:r>
            <a:r>
              <a:rPr lang="en-US" sz="100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Value at risk:</a:t>
            </a:r>
            <a:r>
              <a:rPr lang="en-US" sz="1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</a:t>
            </a:r>
            <a:r>
              <a:rPr lang="en-US" sz="10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~$22 / share</a:t>
            </a:r>
            <a:r>
              <a:rPr lang="en-US" sz="1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(Thesis I, bear vs. base).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16552" y="1298448"/>
            <a:ext cx="3611880" cy="1188720"/>
          </a:xfrm>
          <a:prstGeom prst="rect">
            <a:avLst/>
          </a:prstGeom>
          <a:solidFill>
            <a:srgbClr val="B9DFA6"/>
          </a:solidFill>
          <a:ln w="12700">
            <a:solidFill>
              <a:srgbClr val="B9DF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26280" y="1325880"/>
            <a:ext cx="33924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Little cheap stock left to unwind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Leasing-sourced engines are </a:t>
            </a:r>
            <a:r>
              <a:rPr lang="en-US" sz="10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&lt;8% of inventory</a:t>
            </a:r>
            <a:r>
              <a:rPr lang="en-US" sz="1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and flows now run back to leasing. Heavy mix is capacity-capped and United is signed. Our bear case holds </a:t>
            </a:r>
            <a:r>
              <a:rPr lang="en-US" sz="10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28.5%</a:t>
            </a:r>
            <a:r>
              <a:rPr lang="en-US" sz="1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– and that outcome is </a:t>
            </a:r>
            <a:r>
              <a:rPr lang="en-US" sz="10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$161, about today's price</a:t>
            </a:r>
            <a:r>
              <a:rPr lang="en-US" sz="1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" y="2560320"/>
            <a:ext cx="3611880" cy="1188720"/>
          </a:xfrm>
          <a:prstGeom prst="rect">
            <a:avLst/>
          </a:prstGeom>
          <a:solidFill>
            <a:srgbClr val="F4A6A6"/>
          </a:solidFill>
          <a:ln w="12700">
            <a:solidFill>
              <a:srgbClr val="F4A6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2587752"/>
            <a:ext cx="33924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Fraud overhang never clears (Thesis I)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Muddy Waters or a follow-on short revisits inventory accounting; the governance discount persists even if margins hold. </a:t>
            </a:r>
            <a:r>
              <a:rPr lang="en-US" sz="100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Value at risk:</a:t>
            </a:r>
            <a:r>
              <a:rPr lang="en-US" sz="1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each turn of Aerospace multiple is </a:t>
            </a:r>
            <a:r>
              <a:rPr lang="en-US" sz="10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~$16 / share</a:t>
            </a:r>
            <a:r>
              <a:rPr lang="en-US" sz="1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16552" y="2560320"/>
            <a:ext cx="3611880" cy="1188720"/>
          </a:xfrm>
          <a:prstGeom prst="rect">
            <a:avLst/>
          </a:prstGeom>
          <a:solidFill>
            <a:srgbClr val="B9DFA6"/>
          </a:solidFill>
          <a:ln w="12700">
            <a:solidFill>
              <a:srgbClr val="B9DFA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26280" y="2587752"/>
            <a:ext cx="33924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Claims reviewed; capital returned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Audit-committee review found the claims </a:t>
            </a:r>
            <a:r>
              <a:rPr lang="en-US" sz="10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without merit</a:t>
            </a:r>
            <a:r>
              <a:rPr lang="en-US" sz="1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; </a:t>
            </a:r>
            <a:r>
              <a:rPr lang="en-US" sz="10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no restatement</a:t>
            </a:r>
            <a:r>
              <a:rPr lang="en-US" sz="1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. Management is buying back stock (</a:t>
            </a:r>
            <a:r>
              <a:rPr lang="en-US" sz="10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$500M</a:t>
            </a:r>
            <a:r>
              <a:rPr lang="en-US" sz="1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, Sep-26) and the 10-Q transfer disclosures let anyone track the stock.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" y="3822192"/>
            <a:ext cx="3611880" cy="1188720"/>
          </a:xfrm>
          <a:prstGeom prst="rect">
            <a:avLst/>
          </a:prstGeom>
          <a:solidFill>
            <a:srgbClr val="F4A6A6"/>
          </a:solidFill>
          <a:ln w="12700">
            <a:solidFill>
              <a:srgbClr val="F4A6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849624"/>
            <a:ext cx="33924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CFM56 retires faster or LEAP catches up (Thesis II)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2026 fuel shock or LEAP durability fixes push airlines to park CFM56s; independents (StandardAero, ST Eng., SRT, MTU) take the overflow instead of FTAI. </a:t>
            </a:r>
            <a:r>
              <a:rPr lang="en-US" sz="100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Value at risk:</a:t>
            </a:r>
            <a:r>
              <a:rPr lang="en-US" sz="1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</a:t>
            </a:r>
            <a:r>
              <a:rPr lang="en-US" sz="10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~$62 / share</a:t>
            </a:r>
            <a:r>
              <a:rPr lang="en-US" sz="1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(Thesis II).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16552" y="3822192"/>
            <a:ext cx="3611880" cy="1188720"/>
          </a:xfrm>
          <a:prstGeom prst="rect">
            <a:avLst/>
          </a:prstGeom>
          <a:solidFill>
            <a:srgbClr val="B9DFA6"/>
          </a:solidFill>
          <a:ln w="12700">
            <a:solidFill>
              <a:srgbClr val="B9DFA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26280" y="3849624"/>
            <a:ext cx="33924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Retirements falling; FTAI's edge is speed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GE's 2026 retirements run </a:t>
            </a:r>
            <a:r>
              <a:rPr lang="en-US" sz="10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1.5–2%</a:t>
            </a:r>
            <a:r>
              <a:rPr lang="en-US" sz="1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vs. an original 3–4% plan; parked CFM56s are </a:t>
            </a:r>
            <a:r>
              <a:rPr lang="en-US" sz="10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down since March</a:t>
            </a:r>
            <a:r>
              <a:rPr lang="en-US" sz="1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. Retired jets become FTAI feedstock (WestJet). A </a:t>
            </a:r>
            <a:r>
              <a:rPr lang="en-US" sz="10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5–25 day</a:t>
            </a:r>
            <a:r>
              <a:rPr lang="en-US" sz="1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swap with owned parts beats a 120–180 day shop visit.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" y="5084064"/>
            <a:ext cx="3611880" cy="1188720"/>
          </a:xfrm>
          <a:prstGeom prst="rect">
            <a:avLst/>
          </a:prstGeom>
          <a:solidFill>
            <a:srgbClr val="F4A6A6"/>
          </a:solidFill>
          <a:ln w="12700">
            <a:solidFill>
              <a:srgbClr val="F4A6A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5111496"/>
            <a:ext cx="33924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Power slips or the buyer walks (Thesis III)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Mod-1 deliveries slip past Nov-27, output misses spec, or – like Crusoe with Boom – the customer walks. Jereh's Chinese ownership adds tariff / supply-chain risk. </a:t>
            </a:r>
            <a:r>
              <a:rPr lang="en-US" sz="100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Value at risk:</a:t>
            </a:r>
            <a:r>
              <a:rPr lang="en-US" sz="1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</a:t>
            </a:r>
            <a:r>
              <a:rPr lang="en-US" sz="10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~$63 / share</a:t>
            </a:r>
            <a:r>
              <a:rPr lang="en-US" sz="1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(Thesis III).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16552" y="5084064"/>
            <a:ext cx="3611880" cy="1188720"/>
          </a:xfrm>
          <a:prstGeom prst="rect">
            <a:avLst/>
          </a:prstGeom>
          <a:solidFill>
            <a:srgbClr val="B9DFA6"/>
          </a:solidFill>
          <a:ln w="12700">
            <a:solidFill>
              <a:srgbClr val="B9DFA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26280" y="5111496"/>
            <a:ext cx="33924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Signed, paid for, and not in the price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Signed PO with </a:t>
            </a:r>
            <a:r>
              <a:rPr lang="en-US" sz="10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advance and milestone payments</a:t>
            </a:r>
            <a:r>
              <a:rPr lang="en-US" sz="1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; output penalty </a:t>
            </a:r>
            <a:r>
              <a:rPr lang="en-US" sz="10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capped at 10%</a:t>
            </a:r>
            <a:r>
              <a:rPr lang="en-US" sz="1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. Base case uses 45 units vs. ~58 implied by the order. Jereh packages in the US, Canada and UAE. Ex-Power, the target is still </a:t>
            </a:r>
            <a:r>
              <a:rPr lang="en-US" sz="1000" u="sng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$239, 43% upside</a:t>
            </a:r>
            <a:r>
              <a:rPr lang="en-US" sz="10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11312" y="1298448"/>
            <a:ext cx="3611880" cy="987552"/>
          </a:xfrm>
          <a:prstGeom prst="rect">
            <a:avLst/>
          </a:prstGeom>
          <a:ln w="15875">
            <a:solidFill>
              <a:srgbClr val="C00000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8302752" y="1298448"/>
            <a:ext cx="34290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Two clean ~30% prints and a second Power order re-rate the stock within 12 months.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211312" y="2359152"/>
            <a:ext cx="361188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321040" y="2386584"/>
            <a:ext cx="33924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GE Q3 call (late Oct-26) | Thesis II</a:t>
            </a:r>
            <a:endParaRPr lang="en-US" sz="105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CFM56 retirement and shop-visit update; confirms the 2,300–2,400 visit plateau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11312" y="3104388"/>
            <a:ext cx="361188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321040" y="3131820"/>
            <a:ext cx="33924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FTAI Q3'26 (late Oct-26) | Thesis I</a:t>
            </a:r>
            <a:endParaRPr lang="en-US" sz="105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First print after the reset: margin ≥~30%, modules on track for 1,200, PMA usage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211312" y="3849624"/>
            <a:ext cx="361188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321040" y="3877056"/>
            <a:ext cx="33924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Investor day (10-Dec-26) | I, II, III</a:t>
            </a:r>
            <a:endParaRPr lang="en-US" sz="105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2027 framework: 1,700 modules, Jakarta / Cairo ramp, SCI II size, Power backlog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211312" y="4594860"/>
            <a:ext cx="361188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321040" y="4622292"/>
            <a:ext cx="33924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Q4'26 + FY27 guide (Feb-27) | Thesis I</a:t>
            </a:r>
            <a:endParaRPr lang="en-US" sz="105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Second ~30% print: 30% stops reading as a waypoint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211312" y="5340096"/>
            <a:ext cx="361188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321040" y="5367528"/>
            <a:ext cx="33924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Power deliveries / new order (2027) | III</a:t>
            </a:r>
            <a:endParaRPr lang="en-US" sz="105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First revenue from the $1.465bn order; a second order (~75% odds in 12M) adds ~$35 / share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621792" y="647395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Source: Company Filings and Calls, Muddy Waters, GE Aerospace, J&amp;F order release (Jul-26), TechCrunch (Boom–Crusoe), GPS Model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7772400" y="647395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1.  Value at risk from the valuation bridge (bear → base by thesis). FTAI Q3 date to confirm (26- or 29-Oct).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1A1A1A"/>
                </a:solidFill>
                <a:latin typeface="Garamond"/>
                <a:ea typeface="Garamond"/>
                <a:cs typeface="Garamond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aramon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aramon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Global Platinum Securities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FTAI Aviation - Long Recommendation</dc:title>
  <dc:subject>PptxGenJS Presentation</dc:subject>
  <dc:creator>Max Salomon</dc:creator>
  <cp:lastModifiedBy>Max Salomon</cp:lastModifiedBy>
  <cp:revision>1</cp:revision>
  <dcterms:created xsi:type="dcterms:W3CDTF">2026-10-13T01:34:27Z</dcterms:created>
  <dcterms:modified xsi:type="dcterms:W3CDTF">2026-10-13T01:34:27Z</dcterms:modified>
</cp:coreProperties>
</file>