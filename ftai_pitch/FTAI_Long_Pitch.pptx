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 prior visits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 prior visit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29</c:v>
                </c:pt>
                <c:pt idx="1">
                  <c:v>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2+ prior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31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Garamon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 shop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2350</c:v>
                </c:pt>
                <c:pt idx="1">
                  <c:v>2400</c:v>
                </c:pt>
                <c:pt idx="2">
                  <c:v>2400</c:v>
                </c:pt>
                <c:pt idx="3">
                  <c:v>2350</c:v>
                </c:pt>
                <c:pt idx="4">
                  <c:v>2250</c:v>
                </c:pt>
                <c:pt idx="5">
                  <c:v>2150</c:v>
                </c:pt>
                <c:pt idx="6">
                  <c:v>2085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Median Repair List-Price Change (y/y)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list price change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CFM56-5B
2024–25</c:v>
                  </c:pt>
                  <c:pt idx="1">
                    <c:v>CFM56-5B
2025–26</c:v>
                  </c:pt>
                  <c:pt idx="2">
                    <c:v>CFM56-7B
2025–26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0.062</c:v>
                </c:pt>
                <c:pt idx="1">
                  <c:v>0.062</c:v>
                </c:pt>
                <c:pt idx="2">
                  <c:v>0.061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Modules Produced (+61% y/y in Q2'26)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138</c:v>
                </c:pt>
                <c:pt idx="1">
                  <c:v>184</c:v>
                </c:pt>
                <c:pt idx="2">
                  <c:v>207</c:v>
                </c:pt>
                <c:pt idx="3">
                  <c:v>228</c:v>
                </c:pt>
                <c:pt idx="4">
                  <c:v>270</c:v>
                </c:pt>
                <c:pt idx="5">
                  <c:v>296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Aerospace Adj. EBITDA Margin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Inventory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From leasing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Purchased &amp; WIP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577</c:v>
                </c:pt>
                <c:pt idx="1">
                  <c:v>1310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Engine Transfers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Leasing → inv.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129</c:v>
                </c:pt>
                <c:pt idx="1">
                  <c:v>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Inv. → leasing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160</c:v>
                </c:pt>
                <c:pt idx="1">
                  <c:v>169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Margin by Workscope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~6k-cycle
(light)</c:v>
                  </c:pt>
                  <c:pt idx="1">
                    <c:v>Blend
(1H26)</c:v>
                  </c:pt>
                  <c:pt idx="2">
                    <c:v>~10k-cycle
(heavy)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PMA EBITDA Uplift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case PMA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50% of SCI modules on PMA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132</c:v>
                </c:pt>
                <c:pt idx="2">
                  <c:v>156</c:v>
                </c:pt>
                <c:pt idx="3">
                  <c:v>168</c:v>
                </c:pt>
                <c:pt idx="4">
                  <c:v>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FTAI Modules: SCI Share Rising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865</c:v>
                </c:pt>
                <c:pt idx="1">
                  <c:v>1206</c:v>
                </c:pt>
                <c:pt idx="2">
                  <c:v>1321</c:v>
                </c:pt>
                <c:pt idx="3">
                  <c:v>1298</c:v>
                </c:pt>
                <c:pt idx="4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captive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328</c:v>
                </c:pt>
                <c:pt idx="1">
                  <c:v>482</c:v>
                </c:pt>
                <c:pt idx="2">
                  <c:v>660</c:v>
                </c:pt>
                <c:pt idx="3">
                  <c:v>780</c:v>
                </c:pt>
                <c:pt idx="4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Margin Bridge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29.9</c:v>
                </c:pt>
                <c:pt idx="2">
                  <c:v>31.6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29.9</c:v>
                </c:pt>
                <c:pt idx="1">
                  <c:v>1.7</c:v>
                </c:pt>
                <c:pt idx="2">
                  <c:v>0.9</c:v>
                </c:pt>
                <c:pt idx="3">
                  <c:v>32.5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.5"/>
          <c:min val="2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Jet Fuel ($ / bbl)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Jet fuel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invertIfNegative val="0"/>
          <c:dLbls>
            <c:numFmt formatCode="$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Jan-26</c:v>
                  </c:pt>
                  <c:pt idx="1">
                    <c:v>3-Apr (peak)</c:v>
                  </c:pt>
                  <c:pt idx="2">
                    <c:v>17-Apr</c:v>
                  </c:pt>
                  <c:pt idx="3">
                    <c:v>14-Aug</c:v>
                  </c:pt>
                  <c:pt idx="4">
                    <c:v>15-Sep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209</c:v>
                </c:pt>
                <c:pt idx="2">
                  <c:v>185</c:v>
                </c:pt>
                <c:pt idx="3">
                  <c:v>159</c:v>
                </c:pt>
                <c:pt idx="4">
                  <c:v>198</c:v>
                </c:pt>
              </c:numCache>
            </c:numRef>
          </c:val>
          <c:smooth val="0"/>
        </c:ser>
        <c:dLbls>
          <c:numFmt formatCode="$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GE's 2026 CFM56 Retirement View (Q1 actual &lt;1%)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Retirement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Jan-26</c:v>
                  </c:pt>
                  <c:pt idx="2">
                    <c:v>Spring</c:v>
                  </c:pt>
                  <c:pt idx="3">
                    <c:v>Sep-26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0.035</c:v>
                </c:pt>
                <c:pt idx="1">
                  <c:v>0.025</c:v>
                </c:pt>
                <c:pt idx="2">
                  <c:v>0.02</c:v>
                </c:pt>
                <c:pt idx="3">
                  <c:v>0.0175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4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Days Off Wing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Days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Shop visit</c:v>
                  </c:pt>
                  <c:pt idx="1">
                    <c:v>FTAI swap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Incl. SCI captive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0.167</c:v>
                </c:pt>
                <c:pt idx="1">
                  <c:v>0.236</c:v>
                </c:pt>
                <c:pt idx="2">
                  <c:v>0.285</c:v>
                </c:pt>
                <c:pt idx="3">
                  <c:v>0.312</c:v>
                </c:pt>
                <c:pt idx="4">
                  <c:v>0.332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Third-party only (base)</c:v>
                </c:pt>
              </c:strCache>
            </c:strRef>
          </c:tx>
          <c:spPr>
            <a:solidFill>
              <a:srgbClr val="1F3864"/>
            </a:solidFill>
            <a:ln w="28575" cap="flat">
              <a:solidFill>
                <a:srgbClr val="1F3864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864"/>
              </a:solidFill>
              <a:ln w="9525" cap="flat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0.124</c:v>
                </c:pt>
                <c:pt idx="1">
                  <c:v>0.168</c:v>
                </c:pt>
                <c:pt idx="2">
                  <c:v>0.19</c:v>
                </c:pt>
                <c:pt idx="3">
                  <c:v>0.195</c:v>
                </c:pt>
                <c:pt idx="4">
                  <c:v>0.2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Output vs. Capacity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 produced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Spare capacity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1243</c:v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Big Four Capex ($bn)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US Corporate PPAs Signed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PPA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</c:v>
                </c:pt>
                <c:pt idx="1">
                  <c:v>16</c:v>
                </c:pt>
                <c:pt idx="2">
                  <c:v>19</c:v>
                </c:pt>
                <c:pt idx="3">
                  <c:v>21</c:v>
                </c:pt>
                <c:pt idx="4">
                  <c:v>17</c:v>
                </c:pt>
                <c:pt idx="5">
                  <c:v>29.1</c:v>
                </c:pt>
                <c:pt idx="6">
                  <c:v>29.5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Reserve Shortfall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PJM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21.6</c:v>
                </c:pt>
                <c:pt idx="5">
                  <c:v>36.9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MISO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5.5</c:v>
                </c:pt>
                <c:pt idx="5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Mod-1 Units Delivered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30</c:v>
                </c:pt>
                <c:pt idx="2">
                  <c:v>45</c:v>
                </c:pt>
                <c:pt idx="3">
                  <c:v>50</c:v>
                </c:pt>
                <c:pt idx="4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45</c:v>
                </c:pt>
                <c:pt idx="2">
                  <c:v>90</c:v>
                </c:pt>
                <c:pt idx="3">
                  <c:v>110</c:v>
                </c:pt>
                <c:pt idx="4">
                  <c:v>120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55</c:v>
                </c:pt>
                <c:pt idx="2">
                  <c:v>130</c:v>
                </c:pt>
                <c:pt idx="3">
                  <c:v>150</c:v>
                </c:pt>
                <c:pt idx="4">
                  <c:v>160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161.2</c:v>
                </c:pt>
                <c:pt idx="2">
                  <c:v>183.5</c:v>
                </c:pt>
                <c:pt idx="3">
                  <c:v>245.9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161.2</c:v>
                </c:pt>
                <c:pt idx="1">
                  <c:v>22.3</c:v>
                </c:pt>
                <c:pt idx="2">
                  <c:v>62.4</c:v>
                </c:pt>
                <c:pt idx="3">
                  <c:v>63.4</c:v>
                </c:pt>
                <c:pt idx="4">
                  <c:v>309.3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768096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6446520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61320" y="10972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55680" y="1097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E8F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</a:t>
            </a:r>
            <a:endParaRPr lang="en-US" sz="15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chart" Target="/ppt/charts/chart11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chart" Target="/ppt/charts/chart19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5882335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6560" y="411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r>
              <a:rPr lang="en-US" sz="18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AVIATION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(10/2/26)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41832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941832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1-year target (+85%)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Reward-to-risk (+157% / –32%)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41832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941832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Bear-case value ≈ today's price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4297680"/>
            <a:ext cx="4937760" cy="0"/>
          </a:xfrm>
          <a:prstGeom prst="line">
            <a:avLst/>
          </a:prstGeom>
          <a:noFill/>
          <a:ln w="12700">
            <a:solidFill>
              <a:srgbClr val="9DC3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0" y="4480560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44439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 the fraud unwind is &lt;8% of inventory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5047488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50109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catches the CFM56 work OEMs and airlines are sending out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66560" y="5614416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5614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III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 on the grid gap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17373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Aviation</a:t>
            </a:r>
            <a:endParaRPr lang="en-US" sz="4400" dirty="0"/>
          </a:p>
          <a:p>
            <a:pPr indent="0" marL="0">
              <a:buNone/>
            </a:pPr>
            <a:r>
              <a:rPr lang="en-US" sz="44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(NASDAQ: FTAI)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315468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Long Recommendation (1-Year Target $309, +85%)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3749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Global Platinum Securities</a:t>
            </a:r>
            <a:endParaRPr lang="en-US" sz="2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41148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Max Salomon  |  October 2026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6177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compounder still priced for a fraud.</a:t>
            </a:r>
            <a:endParaRPr lang="en-US" sz="21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53949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GLOBAL</a:t>
            </a:r>
            <a:endParaRPr lang="en-US" sz="2600" dirty="0"/>
          </a:p>
          <a:p>
            <a:pPr indent="0" marL="0">
              <a:buNone/>
            </a:pPr>
            <a:r>
              <a:rPr lang="en-US" sz="1300" spc="900" kern="0" dirty="0">
                <a:solidFill>
                  <a:srgbClr val="7F8FA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PLATINUM</a:t>
            </a:r>
            <a:endParaRPr lang="en-US" sz="2600" dirty="0"/>
          </a:p>
          <a:p>
            <a:pPr indent="0" marL="0">
              <a:buNone/>
            </a:pPr>
            <a:r>
              <a:rPr lang="en-US" sz="1300" b="1" spc="700" kern="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SECURITIES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Opportunity Summary – A Compounder Still Priced for a Fraud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Set-up: A Short Report That Never Proved Out, and a Margin Reset That Looked Like Proof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67512" y="132588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25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33272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trades under a fraud overhang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Muddy Waters (Jan-25) alleged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depreciated leasing engines were moved into Aerospace inventory at book value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inflating margins; the stock fell 24% in a day. An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without merit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nothing was restated, yet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discount never closed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67512" y="207568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" y="2075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2029968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1H26 reset looked like confirmation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Aerospace margin fell ~500 bps in one quarter and management swapped its 40% target for ~30%. The market read it as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cheap leasing stock running out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the short thesis finally unwinding – and the stock now sits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~48% below its $324 high at 9.2x FY27E EBITDA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believe the reset is a choice, not a confession – and place three trackable bets on FTAI.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182112"/>
            <a:ext cx="1120140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observations underpin our theses: (i)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if the bears were right, leasing-sourced engines are &lt;8% of inventory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(ii)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supply-constrained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so FTAI chose volume over margin.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" y="3730752"/>
            <a:ext cx="11201400" cy="7772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39822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982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3749040"/>
            <a:ext cx="1065276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 transfers were $90M against ~$1.4bn of inventory, and engines now flow the other way. Heavy-scope mix is capped by shop capacity, and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enters through SCI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where FTAI is the lessor. Two more ~30% prints prove the trough.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1792" y="4572000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7091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590288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whitespace to ~25% share: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OEMs and MROs are moving capacity to LEAP while LEAP problems keep CFM56s flying. FTAI's 3,000-module capacity is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built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Jakarta and Cairo ramp in 2027.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21792" y="5184648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53218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" y="5202936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$1.465bn order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grid falls 8–47 GW short from 2029 and many campuses sit at the stage the first buyer was. Today's price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nothing for it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1792" y="5806440"/>
            <a:ext cx="11201400" cy="566928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" y="5806440"/>
            <a:ext cx="110185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All we need is for margins to hold ~30% for two more prints. At $167 the market pays for our bear case; we see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 in a year, 85% upside,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with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 reward-to-risk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r>
              <a:rPr lang="en-US" sz="1400" baseline="30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Muddy Waters Research (Jan-25), Earnings Calls, Bloomberg, GPS Model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1-year base-case sum of the parts (Oct-27); reward-to-risk = bull upside (+157%) / bear downside (–32%).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Overview – A Module Factory Scaling Through a Margin Reset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0332720" y="47548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22960"/>
            <a:ext cx="11201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offers 1) a CFM56 aftermarket business still winning share, 2) an asset-light leasing arm that feeds it, and 3) a new Power segment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Segments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536192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1)  Aerospace Products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(77% of FY25 Revenue, 52% of Segment EBITDA</a:t>
            </a:r>
            <a:r>
              <a:rPr lang="en-US" sz="13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1773936"/>
            <a:ext cx="7653528" cy="950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Swaps restored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fan, core and LPT modules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its own pool: engines back 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days vs. 120–180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a shop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is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run-out engines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bought from airlines, lessors and SCI; also sells used serviceable parts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 modules (FY25) → 1,200 (FY26E) → 1,700 (FY27E)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CFM56 module share ~10% → 14% in 1H26</a:t>
            </a:r>
            <a:r>
              <a:rPr lang="en-US" sz="11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reset from ~35% to ~30%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 on heavier workscopes and large airline deals (United)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" y="2743200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21792" y="2779776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2)  Aviation Leasing + SCI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(23% of FY25 Revenue, 48% of Segment EBITDA):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3017520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Going asset-light: aircraft sold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an FTAI-sponsored fund ($2.0bn equity, ~$6bn buying power)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services SCI's fleet and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receives all of its engine work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SCI grows from 130 to ~316 aircraft by YE26E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" y="3547872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21792" y="3584448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3)  FTAI Power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(launched Dec-25; $450–750M FY27 EBITDA guidance):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" y="3822192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Converts CFM56 cores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 MW "Mod-1" gas turbines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(~$1M per MW) sold as bridge power to AI data centers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order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$1.465bn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(Jul-26) via J&amp;F, FTAI's JV with Jereh; delivered in batches through Nov-27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Key Aerospace Financials (FY25)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86800" y="13898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14232" y="13898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Revenue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68635" y="13898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$1,936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796528" y="15727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Revenue Growth (%)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0568635" y="15727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79.4%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631363" y="173736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0" y="175564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14232" y="1755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Adj. EBITDA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568635" y="1755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$671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796528" y="1938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EBITDA Margin (%)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0568635" y="1938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34.7%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96528" y="2121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Q2'26 EBITDA Margin (%)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568635" y="2121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0631363" y="228600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86800" y="23042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14232" y="2304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 Produced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568635" y="2304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796528" y="2487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Guidance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568635" y="2487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 Table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714232" y="2898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(As of 10/2/26)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68635" y="2898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$167.03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714232" y="3081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(x) Diluted Shares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10568635" y="3081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104.0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686800" y="326440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714232" y="3264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Market Cap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568635" y="3264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$17,378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8714232" y="3447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Total Debt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10568635" y="3447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3,453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714232" y="3630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(–) Cash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10568635" y="3630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(337)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8714232" y="38130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Preferred Equity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10568635" y="38130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0631363" y="397764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686800" y="399592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714232" y="39959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Enterprise Value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10568635" y="39959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$20,560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8714232" y="41788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FY26E Adj. EBITDA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10568635" y="41788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15.7x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8714232" y="43616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FY27E Adj. EBITDA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0568635" y="43616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9.2x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Earnings Algorithm for Aerospace Products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621792" y="5029200"/>
            <a:ext cx="11201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 Demand × FTAI Share × Revenue per Module × EBITDA Margin</a:t>
            </a:r>
            <a:endParaRPr lang="en-US" sz="1900" dirty="0"/>
          </a:p>
        </p:txBody>
      </p:sp>
      <p:sp>
        <p:nvSpPr>
          <p:cNvPr id="62" name="Shape 60"/>
          <p:cNvSpPr/>
          <p:nvPr/>
        </p:nvSpPr>
        <p:spPr>
          <a:xfrm>
            <a:off x="758952" y="5422392"/>
            <a:ext cx="10927080" cy="384048"/>
          </a:xfrm>
          <a:prstGeom prst="rect">
            <a:avLst/>
          </a:prstGeom>
          <a:ln w="19050">
            <a:solidFill>
              <a:srgbClr val="1A1A1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7724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[Fleet × Shop-Visit Rate × 3]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 rot="5400000">
            <a:off x="192481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7724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Demand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3337560" y="54223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[3rd-Party Share + SCI Captive]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 rot="5400000">
            <a:off x="4645152" y="4636008"/>
            <a:ext cx="219456" cy="256032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37560" y="60716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Share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6217920" y="542239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[Price + OEM Escalator]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 rot="5400000">
            <a:off x="7228332" y="4933188"/>
            <a:ext cx="219456" cy="196596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217920" y="607161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Pricing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850392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[Mix + Feedstock + PMA]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 rot="5400000">
            <a:off x="965149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50392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Margin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Earnings Calls, Investor Presentation, GPS Model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Segment EBITDA mix excludes Corporate &amp; Other.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Module share of CFM56 third-party module demand, per management (Q2'26).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Overview – A Price-Taking Aftermarket Entering Its Heaviest Years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22960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aging into heavier visits, with flat demand through 2028 and repair prices compounding ~6% a year. FTAI chose share over margin in 1H26 – a deliberate reset the market reads as structural.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fleet is aging into repeat, heavier visits...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21792" y="1783080"/>
          <a:ext cx="3383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096512" y="18288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22,700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4096512" y="2212848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CFM56-5B/-7B engines in service: the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largest fleet in aviation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096512" y="2743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43%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096512" y="3127248"/>
            <a:ext cx="19202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the fleet on its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third or later visit by 2028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when full restorations dominate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8251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keeping shop-visit demand flat through 2028...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8251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6382512" y="2029968"/>
          <a:ext cx="3520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6949440" y="2084832"/>
            <a:ext cx="1417320" cy="148132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15" name="Text 11"/>
          <p:cNvSpPr txBox="1"/>
          <p:nvPr/>
        </p:nvSpPr>
        <p:spPr>
          <a:xfrm>
            <a:off x="6748272" y="18288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GE: plateau through 2028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9994392" y="1828800"/>
            <a:ext cx="1828800" cy="192024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0040112" y="1874520"/>
            <a:ext cx="173736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running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GE's 2–3% assumption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durability fixes cut over only in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early 2027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GTF groundings persist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2179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while third-party repair prices compound ~6% a year...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179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20" name="Chart 2" descr=""/>
          <p:cNvGraphicFramePr/>
          <p:nvPr/>
        </p:nvGraphicFramePr>
        <p:xfrm>
          <a:off x="621792" y="4251960"/>
          <a:ext cx="3383280" cy="21214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Shape 16"/>
          <p:cNvSpPr/>
          <p:nvPr/>
        </p:nvSpPr>
        <p:spPr>
          <a:xfrm>
            <a:off x="4096512" y="4297680"/>
            <a:ext cx="1965960" cy="20116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Text 17"/>
          <p:cNvSpPr txBox="1"/>
          <p:nvPr/>
        </p:nvSpPr>
        <p:spPr>
          <a:xfrm>
            <a:off x="4142232" y="4343400"/>
            <a:ext cx="18745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3,404 matched repair packages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3,376 rose and only 1 fell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prices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OEM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has not passed through the escalator: headroom we model from FY28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38251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However, FTAI deliberately traded margin for share in 1H26.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38251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382512" y="4261104"/>
            <a:ext cx="5440680" cy="329184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428232" y="4261104"/>
            <a:ext cx="5349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“We're inclined to say yes and take market share.” – FTAI CEO, Q2'26 Earnings Call</a:t>
            </a:r>
            <a:endParaRPr lang="en-US" sz="1150" dirty="0"/>
          </a:p>
        </p:txBody>
      </p:sp>
      <p:graphicFrame>
        <p:nvGraphicFramePr>
          <p:cNvPr id="27" name="Chart 3" descr=""/>
          <p:cNvGraphicFramePr/>
          <p:nvPr/>
        </p:nvGraphicFramePr>
        <p:xfrm>
          <a:off x="63825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8" name="Chart 4" descr=""/>
          <p:cNvGraphicFramePr/>
          <p:nvPr/>
        </p:nvGraphicFramePr>
        <p:xfrm>
          <a:off x="91257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621792" y="647395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GE / Safran shop-visit outlook &amp; cohort data, Aviation Week, SR Technics CFM56 catalogues (2024–26), Company Filings, GPS Model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Story: The Fraud Discount Frames Our Three Bets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Consensus FTAI Story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margins were flattered by the fraud. Now that it is unwinding: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83080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12064" y="1664208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~500 bps reset is the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short thesis unwinding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cheap leasing engines are running out, and heavier workscopes push margin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30%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" y="2999232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512064" y="2880360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is a melting ice cube: the fuel shock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accelerates retirements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FTAI's share gains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stall at ~15%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" y="4215384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12064" y="4096512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press release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one unnamed buyer, no deliveries until 2027 and no proof FTAI can ramp units.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Why consensus misses our points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41655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did the work the market skipped: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416552" y="1783080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306824" y="16642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0682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8970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never sized the claim. We traced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leasing-to-inventory transfers in the 10-Qs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$90M vs. ~$1.4bn of inventory, and the flow now runs the other way.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416552" y="2999232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306824" y="28803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0682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8970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street models retirements off assumptions.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own 2026 data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shows 1.5–2%,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 are moving slots to LEAP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leaving visits to FTAI.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416552" y="4215384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4306824" y="40965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0682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8970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valued off one order. We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built a NERC reserve-shortfall model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screened 24 US AI campuses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for sites at the first buyer's stage.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FTAI Story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21131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reset is a choice to win share in a supply-constrained market.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211312" y="1783080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8101584" y="1664208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0158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8446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~30%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floor, not a waypoint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heavy mix is capped by capacity, PMA enters through SCI, and price pass-through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rebuilds margin to 32.5%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211312" y="2999232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101584" y="2880360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0158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28446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fills the whitespace OEMs leave behind: built capacity and partner shops take it to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~25% of CFM56 module demand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incl. SCI.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11312" y="4215384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8101584" y="4096512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0158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28446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call option: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~10 GW of load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sits at the first buyer's stage without a locked supplier; one more contract is worth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~$35/share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21792" y="5422392"/>
            <a:ext cx="3611880" cy="41148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7512" y="5422392"/>
            <a:ext cx="35204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Thus, consensus prices a </a:t>
            </a:r>
            <a:r>
              <a:rPr lang="en-US" sz="12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discount on a shrinking business</a:t>
            </a: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9.2x FY27E EBITDA.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1655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 10-Q cash-flow footnotes, GE retirement data, SR Technics catalogues, NERC LTRA, site permits.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821131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Catalysts: Q3'26 (late Oct), investor day (10-Dec), Q4'26 print and FY27 guide (Feb-27).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21792" y="5879592"/>
            <a:ext cx="11201400" cy="47548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685800" y="5879592"/>
            <a:ext cx="1106424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Taking the other side of the fraud discount is a highly attractive proposition: two more ~30% prints prove the trough. Our bets playing out yield $309 in a year, 85% upside.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The Unwind Is Done and Heavy Mix Has Peaked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read the 1H26 reset as the fraud unwinding; the 10-Qs show leasing-sourced stock is &lt;8% of inventory.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170432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170432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“AP inventory has been largely comprised of depreciated Leasing Equipment”, producing margins ~10 pts above peers. – Muddy Waters, Jan-25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645920"/>
            <a:ext cx="58064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Small: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leasing-to-inventory transfers were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$89.6M vs. ~$1.4bn of inventory (6.4%)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down from 10.5% a year earlier as purchased feedstock scaled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Reversing: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$169M moved back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inventory to leasing in 1H26 for rebuild and sale – more than came in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Shrinking source: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leasing equipment fell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$2.06bn → $1.53bn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(Dec-25 → Jun-26) as aircraft are sold into SCI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Bought at market: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new feedstock comes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run-outs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 MRE),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WestJet 737-700s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(Sep-26) and AAR used parts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in the bear case: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6.4% × ~40% cost edge × ~55% material ≈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~140 bps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of margin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audit review found the claims without merit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565392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656832" y="201168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$645M | 10.5%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799832" y="142646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$1.4bn | 6.4%</a:t>
            </a:r>
            <a:endParaRPr lang="en-US" sz="95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9244584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6455664" y="1188720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3" name="Text 9"/>
          <p:cNvSpPr txBox="1"/>
          <p:nvPr/>
        </p:nvSpPr>
        <p:spPr>
          <a:xfrm>
            <a:off x="621792" y="352958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the unwind done, the reset is workscope mix – and the shift to heavy work has peaked.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1792" y="3831336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" y="3895344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" y="3895344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~6,000-cycle engine ~40%, ~10,000-cycle ~25%, blend ~30%: “similar dollars per engine, but more investment.” – FTAI CEO, Q2'26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21792" y="4370832"/>
            <a:ext cx="580644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Capacity-capped: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jobs need core disassembly and test cells (~50% of visits open the core); Jakarta's heavy shop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adds capacity from 2027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incentive: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work was the price 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winning airline contracts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United is signed (V2500 exchange, then CFM56-7B MRE), so more heavy jobs add capital, not customers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chooses: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supply-constrained, not demand-constrained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” (Q2'26) – it turns work away; the 2027 plan targets volume (1,700 modules), not heavier jobs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Slow fleet drift: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visits needing broader work rise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48% → 52% by FY30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1H26 step-change was a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one-quarter mix shift</a:t>
            </a:r>
            <a:endParaRPr lang="en-US" sz="1100" dirty="0"/>
          </a:p>
        </p:txBody>
      </p:sp>
      <p:graphicFrame>
        <p:nvGraphicFramePr>
          <p:cNvPr id="18" name="Chart 2" descr=""/>
          <p:cNvGraphicFramePr/>
          <p:nvPr/>
        </p:nvGraphicFramePr>
        <p:xfrm>
          <a:off x="6565392" y="3895344"/>
          <a:ext cx="2578608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9244584" y="3913632"/>
            <a:ext cx="2578608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Mix back to light = margin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44584" y="4206240"/>
          <a:ext cx="2578608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07008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 share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Margin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33% (1H26)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30.0%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31.0%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32.5%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Text 15"/>
          <p:cNvSpPr txBox="1"/>
          <p:nvPr/>
        </p:nvSpPr>
        <p:spPr>
          <a:xfrm>
            <a:off x="9244584" y="5349240"/>
            <a:ext cx="2578608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10 pts of mix back to light adds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~1.5 pts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our base case assumes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none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455664" y="3913632"/>
            <a:ext cx="0" cy="19385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Shape 17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granting the short thesis, it is &lt;8% of the stock – and heavy mix is capacity-capped: ~30% is the floor, not a waypoint.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10-Q disclosures, Muddy Waters, Earnings Calls, In Practise, OEM cohort data, GPS Model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Illustrative: stock share × cost edge vs. market feedstock × material share of revenue. 1H26 transfers per Q2'26 10-Q summary.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Paraphrase of the CEO's cycle/margin example; quoted phrase per call summary.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PMA Through SCI and Two Prints Re-Rate the Trough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prices ~0% PMA and reads 30% as a waypoint; FTAI controls its own PMA channel and only needs 30% to hold.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PMA: at SCI, FTAI is the lessor that says yes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1792" y="1426464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426464"/>
            <a:ext cx="539496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hesitation sits mainly with lessors – conformity, residual values, return conditions – though it is “softening.” – AviTrader, May-26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sponsors SCI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$2.0bn equity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owns the jets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is the lessor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Engine work → FTAI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is servicer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681728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sets parts policy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outside consent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2505456"/>
            <a:ext cx="5486400" cy="1810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 built: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Chromalloy has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 of 5 CFM56 hot-section PMA parts approved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incl. the HPT blade (Oct-25, &gt;7 yrs, &gt;$100M); “80% of the savings come from the first three parts” (Chromalloy CEO)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Captive channel: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 grows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11% to ~40% of FTAI's modules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(130 → 700 aircraft) – ~4x our base-case PMA penetration, no outside lessor needed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Worth: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50% of SCI modules on PMA at $0.4M each =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~$130M of FY28 EBITDA (~2.1 pts of margin, ~$20 / share)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SCI's LP / lender terms on PMA are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 disclosed</a:t>
            </a:r>
            <a:endParaRPr lang="en-US" sz="11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21792" y="4315968"/>
          <a:ext cx="274320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Chart 1" descr=""/>
          <p:cNvGraphicFramePr/>
          <p:nvPr/>
        </p:nvGraphicFramePr>
        <p:xfrm>
          <a:off x="3410712" y="4315968"/>
          <a:ext cx="269748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Shape 18"/>
          <p:cNvSpPr/>
          <p:nvPr/>
        </p:nvSpPr>
        <p:spPr>
          <a:xfrm>
            <a:off x="6227064" y="1170432"/>
            <a:ext cx="0" cy="46817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Text 19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 and PMA rebuild margin; two prints prove the trough</a:t>
            </a:r>
            <a:endParaRPr lang="en-US" sz="1200" dirty="0"/>
          </a:p>
        </p:txBody>
      </p:sp>
      <p:graphicFrame>
        <p:nvGraphicFramePr>
          <p:cNvPr id="24" name="Chart 2" descr=""/>
          <p:cNvGraphicFramePr/>
          <p:nvPr/>
        </p:nvGraphicFramePr>
        <p:xfrm>
          <a:off x="6336792" y="1426464"/>
          <a:ext cx="2377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Text 20"/>
          <p:cNvSpPr txBox="1"/>
          <p:nvPr/>
        </p:nvSpPr>
        <p:spPr>
          <a:xfrm>
            <a:off x="6547104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29.9%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7059168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+1.7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757123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+0.9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807415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32.5%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8759952" y="1426464"/>
            <a:ext cx="306324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repair catalogues rose a median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6.2% / yr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across 3,404 matched packages (3,376 up, 1 down); FTAI priced below OEM to win share – we pass through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half from FY28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Per module: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EBITDA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$913K → $1,139K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(FY27E → FY31E)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mix recovery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 outside-lessor PMA in the base case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Q3'26 | Oct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7571232" y="3273552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3" name="Text 28"/>
          <p:cNvSpPr txBox="1"/>
          <p:nvPr/>
        </p:nvSpPr>
        <p:spPr>
          <a:xfrm>
            <a:off x="7616952" y="3273552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Aerospace margin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≥~30%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modules on track for 1,200, PMA usage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Inv. day | 10-Dec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7571232" y="3703320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7616952" y="3703320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| Feb-27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7571232" y="4133088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41" name="Text 36"/>
          <p:cNvSpPr txBox="1"/>
          <p:nvPr/>
        </p:nvSpPr>
        <p:spPr>
          <a:xfrm>
            <a:off x="7616952" y="4133088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+ FY27 guide: 30% stops reading as a waypoint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6336792" y="4608576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$167 implies for Aerospace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873752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822960"/>
                <a:gridCol w="822960"/>
                <a:gridCol w="82296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EV / NTM EBITDA (Oct-27)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5.3x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 price / share</a:t>
                      </a:r>
                      <a:r>
                        <a:rPr lang="en-US" sz="1050" baseline="30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Upside vs. 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+46%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+66%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4" name="Text 38"/>
          <p:cNvSpPr txBox="1"/>
          <p:nvPr/>
        </p:nvSpPr>
        <p:spPr>
          <a:xfrm>
            <a:off x="6336792" y="5550408"/>
            <a:ext cx="54864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 base earnings, $167 pays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for Aerospace a year out;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turn ≈ $16 / share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45" name="Shape 39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through SCI and price pass-through rebuild margin to 32.5%; two ~30% prints re-rate a business priced at ~5x.</a:t>
            </a:r>
            <a:endParaRPr lang="en-US" sz="1400" dirty="0"/>
          </a:p>
        </p:txBody>
      </p:sp>
      <p:sp>
        <p:nvSpPr>
          <p:cNvPr id="47" name="Text 41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Chromalloy / FAA, Aviation Week, AviTrader, SR Technics catalogues, FTAI filings, GPS Model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1-yr base SOTP (NTM ≈ ¼ FY27E + ¾ FY28E), holding Power 10x, Leasing + SCI 9x and Sep-27 net debt.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CFM56 Life – LEAP Can't Replace It and Fuel Hasn't Moved It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Every tier-1 shop is adding LEAP; OEMs are trimming CFM56, independents are catching it, and Lufthansa now sends its own out.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170432"/>
            <a:ext cx="5806440" cy="2011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57272" y="1170432"/>
            <a:ext cx="0" cy="2011680"/>
          </a:xfrm>
          <a:prstGeom prst="line">
            <a:avLst/>
          </a:prstGeom>
          <a:noFill/>
          <a:ln w="9525">
            <a:solidFill>
              <a:srgbClr val="BFBFB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492752" y="1170432"/>
            <a:ext cx="0" cy="2011680"/>
          </a:xfrm>
          <a:prstGeom prst="line">
            <a:avLst/>
          </a:prstGeom>
          <a:noFill/>
          <a:ln w="9525">
            <a:solidFill>
              <a:srgbClr val="BFBFBF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621792" y="2962656"/>
            <a:ext cx="1935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Pulling back on CFM56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557272" y="2962656"/>
            <a:ext cx="1935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Holding CFM56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492752" y="2962656"/>
            <a:ext cx="1935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Adding CFM56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1188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More LEAP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" y="277977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Less LEAP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60866" y="1389459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BE5D6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43746" y="1362027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 / CFM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53865" y="1559481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BE5D6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36745" y="1532049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Safran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589532" y="1838801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772412" y="1811369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Lufthansa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725864" y="1474470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08744" y="144703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AFI KLM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96346" y="1717357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79226" y="1689925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Delta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196346" y="2105978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379226" y="207854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Iberia (planned)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977235" y="2421731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160115" y="2394299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Turkish (exploring)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77235" y="2664619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160115" y="2637187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Korean Air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48381" y="1401604"/>
            <a:ext cx="201168" cy="146304"/>
          </a:xfrm>
          <a:prstGeom prst="ellipse">
            <a:avLst>
              <a:gd name="adj" fmla="val 18750"/>
            </a:avLst>
          </a:prstGeom>
          <a:solidFill>
            <a:srgbClr val="D5EFE6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986125" y="13741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MTU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350937" y="1632347"/>
            <a:ext cx="201168" cy="146304"/>
          </a:xfrm>
          <a:prstGeom prst="ellipse">
            <a:avLst>
              <a:gd name="adj" fmla="val 18750"/>
            </a:avLst>
          </a:prstGeom>
          <a:solidFill>
            <a:srgbClr val="D5EFE6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88681" y="1604915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StandardAero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2270" y="1863090"/>
            <a:ext cx="201168" cy="146304"/>
          </a:xfrm>
          <a:prstGeom prst="ellipse">
            <a:avLst>
              <a:gd name="adj" fmla="val 18750"/>
            </a:avLst>
          </a:prstGeom>
          <a:solidFill>
            <a:srgbClr val="D5EFE6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260014" y="183565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 Engineering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241381" y="2105978"/>
            <a:ext cx="201168" cy="146304"/>
          </a:xfrm>
          <a:prstGeom prst="ellipse">
            <a:avLst>
              <a:gd name="adj" fmla="val 18750"/>
            </a:avLst>
          </a:prstGeom>
          <a:solidFill>
            <a:srgbClr val="D5EFE6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79125" y="207854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SR Technics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570047" y="2567464"/>
            <a:ext cx="146304" cy="146304"/>
          </a:xfrm>
          <a:prstGeom prst="ellipse">
            <a:avLst>
              <a:gd name="adj" fmla="val 18750"/>
            </a:avLst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752927" y="25400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1792" y="325526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BE5D6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86384" y="321868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1554480" y="3255264"/>
            <a:ext cx="128016" cy="128016"/>
          </a:xfrm>
          <a:prstGeom prst="ellipse">
            <a:avLst>
              <a:gd name="adj" fmla="val 21429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719072" y="321868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Airline-owned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87168" y="3255264"/>
            <a:ext cx="128016" cy="128016"/>
          </a:xfrm>
          <a:prstGeom prst="ellipse">
            <a:avLst>
              <a:gd name="adj" fmla="val 21429"/>
            </a:avLst>
          </a:prstGeom>
          <a:solidFill>
            <a:srgbClr val="D5EFE6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651760" y="321868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Independent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19856" y="3255264"/>
            <a:ext cx="128016" cy="128016"/>
          </a:xfrm>
          <a:prstGeom prst="ellipse">
            <a:avLst>
              <a:gd name="adj" fmla="val 21429"/>
            </a:avLst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584448" y="321868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4233672" y="32186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work flows OEM → independents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55664" y="1188720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65392" y="1170432"/>
          <a:ext cx="52578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77240"/>
                <a:gridCol w="914400"/>
                <a:gridCol w="1188720"/>
                <a:gridCol w="105156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Shops (14)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Reviewed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Add LEAP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Pull back CFM56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Win CFM56 work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Airline-owned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network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Independent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7"/>
          <p:cNvSpPr txBox="1"/>
          <p:nvPr/>
        </p:nvSpPr>
        <p:spPr>
          <a:xfrm>
            <a:off x="6565392" y="2029968"/>
            <a:ext cx="5257800" cy="1463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 new sites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LEAP-only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(Brazil, India, Mexico, Belgium); CFM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gives up Ryanair CFM56 labor from 2029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its largest CFM56 account – keeping only parts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airline flip: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Lufthansa Group sends its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own CFM56 to FL Technics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 as Hamburg turns LEAP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Moving to independents: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EVA Air → MTU (first non-OEM, May-26);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→ FTAI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CFM56-7B MRE (Oct-26)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Counter: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Korean Air keeps CFM56, outsources LEAP; independents add CFM56 too –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overflow is real, but contested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fear the 2026 fuel shock accelerates retirements – the data shows parked CFM56s falling, not rising.</a:t>
            </a:r>
            <a:endParaRPr lang="en-US" sz="1350" dirty="0"/>
          </a:p>
        </p:txBody>
      </p:sp>
      <p:sp>
        <p:nvSpPr>
          <p:cNvPr id="52" name="Shape 49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3" name="Chart 0" descr=""/>
          <p:cNvGraphicFramePr/>
          <p:nvPr/>
        </p:nvGraphicFramePr>
        <p:xfrm>
          <a:off x="621792" y="3877056"/>
          <a:ext cx="283464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4" name="Chart 1" descr=""/>
          <p:cNvGraphicFramePr/>
          <p:nvPr/>
        </p:nvGraphicFramePr>
        <p:xfrm>
          <a:off x="3547872" y="3877056"/>
          <a:ext cx="288036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5" name="Shape 50"/>
          <p:cNvSpPr/>
          <p:nvPr/>
        </p:nvSpPr>
        <p:spPr>
          <a:xfrm>
            <a:off x="6455664" y="3895344"/>
            <a:ext cx="0" cy="196596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56" name="Text 51"/>
          <p:cNvSpPr txBox="1"/>
          <p:nvPr/>
        </p:nvSpPr>
        <p:spPr>
          <a:xfrm>
            <a:off x="6565392" y="3877056"/>
            <a:ext cx="525780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Parked CFM56s down since March: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“no meaningful change in customer behavior” – GE CEO, Jul-26; Safran H1 spares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27.9%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on CFM56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Airlines trimmed growth and hedged, not parked: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United –5%, Delta –3.5% growth; Ryanair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80% hedged at ~$67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Replacing an NG on fuel alone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breaks even only at a sustained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$170–200 / bbl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needs a slot that isn't there</a:t>
            </a:r>
            <a:r>
              <a:rPr lang="en-US" sz="10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History: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2022 fuel +95–150%, retirements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325 vs. 502 in 2019</a:t>
            </a:r>
            <a:endParaRPr lang="en-US" sz="1050" dirty="0"/>
          </a:p>
        </p:txBody>
      </p:sp>
      <p:sp>
        <p:nvSpPr>
          <p:cNvPr id="57" name="Shape 52"/>
          <p:cNvSpPr/>
          <p:nvPr/>
        </p:nvSpPr>
        <p:spPr>
          <a:xfrm>
            <a:off x="6565392" y="5376672"/>
            <a:ext cx="5257800" cy="47548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6601968" y="5376672"/>
            <a:ext cx="5184648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watch: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all-type retirements +15% in 9M26 (low base), Spirit's ~57 A320ceos back to lessors, GE sees ~3% in 2027 – retirements also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 FTAI's feedstock</a:t>
            </a:r>
            <a:endParaRPr lang="en-US" sz="1000" dirty="0"/>
          </a:p>
        </p:txBody>
      </p:sp>
      <p:sp>
        <p:nvSpPr>
          <p:cNvPr id="59" name="Shape 54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can't replace the CFM56 before 2027–28 and fuel hasn't moved retirements: demand holds at ~2,400 visits a year.</a:t>
            </a:r>
            <a:endParaRPr lang="en-US" sz="1400" dirty="0"/>
          </a:p>
        </p:txBody>
      </p:sp>
      <p:sp>
        <p:nvSpPr>
          <p:cNvPr id="61" name="Text 56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GPS CFM56 Outsourcing Flip Tracker (14 tier-1 shops, Oct-26), Company Releases, GE / Safran, IATA / Platts, Aviation Week</a:t>
            </a:r>
            <a:endParaRPr lang="en-US" sz="1100" dirty="0"/>
          </a:p>
        </p:txBody>
      </p:sp>
      <p:sp>
        <p:nvSpPr>
          <p:cNvPr id="62" name="Text 57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Tracker: public releases, filings, trade press; not exhaustive (a floor).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Fuel: IATA / Platts avg.; Jan, 15-Sep USGC.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3.  GPS est.: 15% fuel saving vs. $2–2.6M / yr MAX lease premium.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Share – FTAI Fills the Whitespace With Capacity Already Built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visits the LEAP-focused shops can’t turn fast enough: an engine back in weeks, not months.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178308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496312" y="1152144"/>
            <a:ext cx="361188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Test cells: LEAP now shares CFM56's scarcest slot</a:t>
            </a:r>
            <a:r>
              <a:rPr lang="en-US" sz="10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96312" y="1371600"/>
          <a:ext cx="361188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73152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Engine test cells tracked (18)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Cells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Existing cells adapted to test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...still testing CFM56 (where disclosed)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 of 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...dropped CFM56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New cells built for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New cell built first for CFM56 (Willis + GEM)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496312" y="2487168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</a:t>
            </a:r>
            <a:r>
              <a:rPr lang="en-US" sz="900" u="sng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Ongoing shortage of testing capacity</a:t>
            </a:r>
            <a:r>
              <a:rPr lang="en-US" sz="9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” – Willis Lease; “Europe-wide testing capacity constraints” – SR Technics</a:t>
            </a:r>
            <a:endParaRPr lang="en-US" sz="9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2834640"/>
          <a:ext cx="54864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560320"/>
                <a:gridCol w="205740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Edge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/ large MRO shops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Feedstock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1,000+ owned engines; run-outs; AAR USM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parts at list (+6% / yr)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PMA (3 of 5), USM, in-house repair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HPT blade shortage; OEM parts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Slots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~1,800 spare modules (2026)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Waits +2–6 mo.; capex to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Test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Rome adding a cell; Jakarta, Cairo come with cells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LEAP competes for same cells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6227064" y="1188720"/>
            <a:ext cx="0" cy="2606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1" name="Text 6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share of CFM56 module demand</a:t>
            </a:r>
            <a:endParaRPr lang="en-US" sz="12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336792" y="1371600"/>
          <a:ext cx="329184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9674352" y="1389888"/>
            <a:ext cx="2148840" cy="23957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Proof: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share ~10% → 12%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1H26; Q2 modules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61% y/y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Guide raised twice: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 → 1,050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(2026);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1,700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2027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expanded to a multi-year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CFM56-7B MRE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Bull case: third-party alone reaches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by FY31</a:t>
            </a:r>
            <a:endParaRPr lang="en-US" sz="1050" dirty="0"/>
          </a:p>
        </p:txBody>
      </p:sp>
      <p:sp>
        <p:nvSpPr>
          <p:cNvPr id="14" name="Text 8"/>
          <p:cNvSpPr txBox="1"/>
          <p:nvPr/>
        </p:nvSpPr>
        <p:spPr>
          <a:xfrm>
            <a:off x="621792" y="384048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capex is already spent: 3,000 modules of capacity vs. 1,200 produced, with Jakarta and Cairo adding volume in 2027.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621792" y="4142232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2" descr=""/>
          <p:cNvGraphicFramePr/>
          <p:nvPr/>
        </p:nvGraphicFramePr>
        <p:xfrm>
          <a:off x="621792" y="4206240"/>
          <a:ext cx="2194560" cy="1664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07792" y="4224528"/>
          <a:ext cx="3200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0574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Role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Montreal / Miami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Core module shops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Rome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QuickTurn; adding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Lisbon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+113k sq ft; 300+ modules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Jakarta (GMF)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Heavy repair; 200+ techs; 5-yr deal (Sep-26)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Cairo (EgyptAir)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-7B; ~120 techs;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0"/>
          <p:cNvSpPr/>
          <p:nvPr/>
        </p:nvSpPr>
        <p:spPr>
          <a:xfrm>
            <a:off x="6227064" y="4224528"/>
            <a:ext cx="0" cy="164592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2,386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visits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3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16.8%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3rd-party share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+ 482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= 1,687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FY27E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6336792" y="4846320"/>
            <a:ext cx="548640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Partner-funded growth: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Jakarta and Cairo are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 shops with guaranteed capacity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volume adds need working capital, not new buildings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+1 pt of third-party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≈ 70 modules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$65M EBITDA ≈ $10 /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16x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Downside covered: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independents (StandardAero, ST Eng., SRT, MTU) also chase the overflow; our bear case caps share at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still yields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$173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slots built and partners funding new shops, FTAI reaches ~25% of CFM56 module demand; each point of share is ~$10 / share.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FTAI Calls and Supplement, United / FTAI (Oct-26), GMF / FTAI (Sep-26), Willis Lease, SR Technics, In Practise, GPS Model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GPS Test Cell Tracker (18 cells, Oct-26); no public case of a cell dropping CFM56 for LEAP.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Physical capacity 2,000 (2025) and 3,000 modules (from Q2'26) per management.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The Grid Gap Is Where the First Order Came From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Hyperscaler capex is outrunning contracted power – and NERC reserves go short from 2029.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274320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3410712" y="1170432"/>
          <a:ext cx="269748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21792" y="2770632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Capex and PPAs tracked each other for a decade (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0.89 correlation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); in 2025 capex rose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while PPAs were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flat at ~29.5 GW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build: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$733bn × 65% US × 25% facility ÷ $12M / MW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9.9 GW of shells funded in 2026 alone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6227064" y="1188720"/>
            <a:ext cx="0" cy="22860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9" name="Chart 2" descr=""/>
          <p:cNvGraphicFramePr/>
          <p:nvPr/>
        </p:nvGraphicFramePr>
        <p:xfrm>
          <a:off x="6336792" y="1170432"/>
          <a:ext cx="26517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7635240" y="21031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8.4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8065008" y="17373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8503920" y="137160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47.2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034272" y="1188720"/>
            <a:ext cx="278892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US DC demand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298 → 746 TWh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(2026–31)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ERCOT large-load queue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~475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90% data centers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PJM auctions cleared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~6.8 GW short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(2028/29)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Grid interconnection: median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&gt;5 yrs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 gas-turbine backlog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~220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new slots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6336792" y="3035808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73368" y="3035808"/>
            <a:ext cx="5413248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~57% of hyperscaler power contracted lands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2029 or later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 2–3 year gap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fast, on-site generation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can fill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621792" y="35478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$1.465bn first order came from a site at exactly that stage: built, energized on mobile gas, and out of turbines.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1792" y="38496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3913632"/>
          <a:ext cx="37490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9718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Term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 order (22-Jul-26)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Seller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J&amp;F Power Systems (FTAI × Jereh JV)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Buyer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“Leading international cloud provider” –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reported xAI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Size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$1.465bn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initial PO; 5-yr MSA, re-order w/o renegotiation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~58 Mod-1 units at ~$25M ≈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1.45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Delivery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Batches through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Nov-27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; advance + milestone pay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3"/>
          <p:cNvSpPr txBox="1"/>
          <p:nvPr/>
        </p:nvSpPr>
        <p:spPr>
          <a:xfrm>
            <a:off x="4507992" y="3895344"/>
            <a:ext cx="73152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“the xAI stage” looked like (Colossus 2 / Southaven)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526280" y="4206240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4526280" y="4206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4828032" y="4151376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Shell built, GPUs committed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7296912" y="4151376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 GW live Jan-26; $20bn Southaven DC under way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26280" y="4535424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4526280" y="45354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4828032" y="4480560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grid for the next phase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7296912" y="4480560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MLGW supplies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power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Colossus 2; no TVA allocation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26280" y="4864608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526280" y="4864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4828032" y="4809744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Behind-the-meter gas permitted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7296912" y="4809744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41 turbines (~1.2 GW)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permitted Mar-26; gas lateral in place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526280" y="5193792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4526280" y="51937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4828032" y="5138928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Incumbent supply tapped out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7296912" y="5138928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Solaris ~900 MW fleet committed; OEM aero slots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21792" y="5486400"/>
            <a:ext cx="112014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 flag: FTAI hasn't named the buyer; the xAI link rests on Jereh gensets on the Southaven equipment list (CV Research). </a:t>
            </a:r>
            <a:r>
              <a:rPr lang="en-US" sz="1000" u="sng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order is signed either way</a:t>
            </a: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grid falls 8–47 GW short from 2029; sites at the first buyer's stage need power in 2027–28 that only mobile units can deliver.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(AMZN, GOOGL, META, MSFT), BCSE / BNEF, NERC 2025 LTRA, ERCOT, PJM, FTAI release (22-Jul-26), MDEQ, DCD, SemiAnalysis, GPS Model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GPS regional model: NERC demand vs. anticipated capacity + 67 tracked hyperscaler power agreements.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A Pipeline at the First Buyer's Stage and a Right to Win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screened 24 US AI campuses: 9 meet the first buyer's conditions – ~10 GW of load with no locked bridge supplier.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170432"/>
          <a:ext cx="112014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280160"/>
                <a:gridCol w="1051560"/>
                <a:gridCol w="3474720"/>
                <a:gridCol w="1188720"/>
                <a:gridCol w="868680"/>
                <a:gridCol w="82296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Project (tenant)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Location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Target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Power plan today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Grid timing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Need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win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Amazon “GW Ranch”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Pecos Co., TX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≤7.6 GW gen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Off-grid; 35-turbine permit, mixed sizes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Undefined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Poolside / CoreWeave “Horizon”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Pecos Co., TX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Behind-the-meter; no supplier named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None planned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Project Jade (Tallgrass)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Cheyenne, WY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1.8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CCGT + “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temporary aeroderivatives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”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Off-grid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Google / Crusoe “Goodnight”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Armstrong Co., TX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Multi-100 MW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933 MW aeros, not sourced from GE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Partial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Meta El Paso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El Paso, TX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366 MW utility plant stalled at PUC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2027 if approved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Microsoft / Chevron “Kilby”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Pecos area, TX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2–2.5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Chevron BTM; first power 2028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n/a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Med-High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Cipher “Colchis” / Stargate Milam / Nebius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TX, MO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~3.3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AEP 2028; solar + storage; new plant Oct-27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2027–28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2999232"/>
            <a:ext cx="11201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Screened out: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Stargate Jupiter → Bloom; Frontier → VoltaGrid; Prometheus → Williams; Homer City → GE 7HA. </a:t>
            </a: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Grid-led: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Saline, Lighthouse, Fairwater, Helios, Sweetwater.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One High site ≈ another first order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can roll units faster than the street models – and its units are cheap, available now and mobile.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621792" y="3858768"/>
          <a:ext cx="30175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3685032" y="3858768"/>
            <a:ext cx="274320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in hand: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1,000+ owned CFM56s; no new hot section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100+ units / yr; ~$400M of Power WC built / planned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Packaging outsourced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Jereh (US, Canada, UAE, China)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45 units FY27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&lt; the ~58 implied by the signed order; mgmt's $450M assumes “materially less” than 100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Path: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launch Dec-25 → prototype 1H26 → order Jul-26 → first deliveries 2027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519672" y="3877056"/>
            <a:ext cx="0" cy="198424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3858768"/>
          <a:ext cx="3108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60120"/>
                <a:gridCol w="73152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Supplier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Earliest slot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kW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Mod-1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GE Vernova aeros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$1,400–2,000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MHI / Siemens frames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 / 3+ yrs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~$2,000+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Boom (Crusoe exited)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250 MW 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9765792" y="3858768"/>
            <a:ext cx="205740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Turbines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13% of shell cost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(~2% all-in)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Idle AI site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$1M / MW / month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→ a $1M/MW unit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back in ~1 month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Mobile: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redeploys when the grid arrives</a:t>
            </a:r>
            <a:endParaRPr lang="en-US" sz="95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5102352"/>
          <a:ext cx="5212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31520"/>
                <a:gridCol w="1234440"/>
                <a:gridCol w="164592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FY27E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Units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Power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Value @ 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$52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 contract (~1 GW)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~90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~$750M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+$35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+2 contracts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~$1.05bn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+$70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 ~10 GW sits at the first buyer's stage, and each ~1 GW contract FTAI wins adds ~$35 / share.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releases, TCEQ / MDEQ filings, Cleanview, Epoch AI, DCD, GE Vernova / Siemens Energy / MHI Q2'26, GridLab, JLL, FTAI calls, GPS Model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Win-ability = gas access + BTM permitting + no locked supplier + 2026–28 load date. Value per share at 12x Power EBITDA, 104.0M shares.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Valuation – 1-Year Target of $309 (+85%) With ~5x Reward-to-Risk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475488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millions, except per share)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value FTAI as of Oct-27 on NTM EBITDA (¼ FY27E + ¾ FY28E) and net debt at Sep-27 – a 1-year hold.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case: sum of the parts at Oct-27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868680"/>
                <a:gridCol w="868680"/>
                <a:gridCol w="86868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Segment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NTM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 /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share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Aerospace Products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1,825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25,552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$245.6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788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7,875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$75.7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Aviation Leasing + SCI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3,994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$38.4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Corporate &amp; eliminations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(213)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(2,608)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($25.1)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Enterprise value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2,843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34,813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$334.6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Net debt (Sep-27E)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(2,566)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($24.7)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Preferred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(65)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($0.6)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1-year target (equity / share)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32,183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$309.3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vs. $167.03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" y="3547872"/>
            <a:ext cx="5486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Multiples: Aerospace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(a discount to aftermarket peers), Power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(contract risk), Leasing + SCI 9x; corporate at the blended multiple.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27064" y="1170432"/>
            <a:ext cx="0" cy="28346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0" name="Text 7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/ base / bull</a:t>
            </a:r>
            <a:endParaRPr lang="en-US" sz="11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I. Margins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Short thesis right: stuck at 28.5%, no PMA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~30% is the trough; price + PMA via SCI rebuild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Light-work mix returns; full PMA ramp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II.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Fuel shock bites; share stalls at 15%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Retirements ~2%; FTAI catches OEM overflow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Overflow flows to FTAI; 25%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III.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Ramp slips; half the JV economics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delivered; ramp to 90 units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One more ~1 GW contract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Fraud discount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Persists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Fully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1-yr target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/ probability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–32%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+157%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Probability-weighted: $294 (+76%)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 / risk: +157% / –32% ≈ 4.9x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21792" y="4041648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Today's $167 ≈ the bear case at our multiples ($161) – each thesis then adds value: margins +$22, share +$62, Power +$63.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21792" y="4343400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0" descr=""/>
          <p:cNvGraphicFramePr/>
          <p:nvPr/>
        </p:nvGraphicFramePr>
        <p:xfrm>
          <a:off x="621792" y="4389120"/>
          <a:ext cx="5486400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923544" y="483047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975104" y="47625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+$22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3026664" y="4572305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+$62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07822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+$63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12978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96112" y="5004816"/>
            <a:ext cx="777240" cy="0"/>
          </a:xfrm>
          <a:prstGeom prst="line">
            <a:avLst/>
          </a:prstGeom>
          <a:noFill/>
          <a:ln w="15875">
            <a:solidFill>
              <a:srgbClr val="C00000"/>
            </a:solidFill>
            <a:prstDash val="dash"/>
          </a:ln>
        </p:spPr>
      </p:sp>
      <p:sp>
        <p:nvSpPr>
          <p:cNvPr id="23" name="Text 18"/>
          <p:cNvSpPr txBox="1"/>
          <p:nvPr/>
        </p:nvSpPr>
        <p:spPr>
          <a:xfrm>
            <a:off x="896112" y="462076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 $167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227064" y="4407408"/>
            <a:ext cx="0" cy="1463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5" name="Text 20"/>
          <p:cNvSpPr txBox="1"/>
          <p:nvPr/>
        </p:nvSpPr>
        <p:spPr>
          <a:xfrm>
            <a:off x="6336792" y="4370832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Cross-checks</a:t>
            </a:r>
            <a:endParaRPr lang="en-US" sz="11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608576"/>
          <a:ext cx="2377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DCF rolled 1 yr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Target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 21"/>
          <p:cNvSpPr txBox="1"/>
          <p:nvPr/>
        </p:nvSpPr>
        <p:spPr>
          <a:xfrm>
            <a:off x="6336792" y="5413248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Ex-Power base: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43% upside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6336792" y="5614416"/>
            <a:ext cx="23774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NTM: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10.2x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today →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12.2x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8851392" y="4370832"/>
            <a:ext cx="297180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target: Aero × Power multiple</a:t>
            </a:r>
            <a:endParaRPr lang="en-US" sz="1100" dirty="0"/>
          </a:p>
        </p:txBody>
      </p:sp>
      <p:graphicFrame>
        <p:nvGraphicFramePr>
          <p:cNvPr id="4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51392" y="4608576"/>
          <a:ext cx="29718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548640"/>
                <a:gridCol w="548640"/>
                <a:gridCol w="548640"/>
                <a:gridCol w="54864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\ Power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$263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$281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16x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$342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$356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4"/>
          <p:cNvSpPr txBox="1"/>
          <p:nvPr/>
        </p:nvSpPr>
        <p:spPr>
          <a:xfrm>
            <a:off x="8851392" y="5413248"/>
            <a:ext cx="29718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12x Aero, 6x Power: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$249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49% upside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$309 (+85%) in 12 months; probability-weighted $294 (+76%); bear $114 (–32%) – roughly 5x reward-to-risk.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GPS Model (case toggle, driver-level bear → base switch), FTAI filings; $167.03 (10/2/26); 104.0M shares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NTM ≈ ¼ FY27E + ¾ FY28E. Bridge: each thesis's model drivers switched bear → base in order, at base multiples.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 &amp; Risks – Risks Sit in the Bear Case; Catalysts Land Within the Hold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Risks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Mitigants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1298448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keep falling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Heavier workscopes and a thinning supply of cheap engines take Aerospace margin below 30%, and the market keeps reading every print as the short thesis unwinding.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~$22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I, bear vs. base).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16552" y="1298448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Little cheap stock left to unwind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Leasing-sourced engines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&lt;8% of inventory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flows now run back to leasing. Heavy mix is capacity-capped and United is signed. Our bear case holds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that outcome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$161, about today's price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" y="2560320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overhang never clears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Muddy Waters or a follow-on short revisits inventory accounting; the governance discount persists even if margins hold.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each turn of Aerospace multiple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~$16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16552" y="2560320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Claims reviewed; capital returned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without merit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restatement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Management is buying back stock (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$500M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Sep-26) and the 10-Q transfer disclosures let anyone track the stock.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" y="3822192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retires faster or LEAP catches up (Thesis 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2026 fuel shock or LEAP durability fixes push airlines to park CFM56s; independents (StandardAero, ST Eng., SRT, MTU) take the overflow instead of FTAI.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16552" y="3822192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falling; FTAI's edge is speed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2026 retirements run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an original 3–4% plan; parked CFM56s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 since March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Retired jets become FTAI feedstock (WestJet). A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swap with owned parts beats a 120–180 day shop visit.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" y="5084064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slips or the buyer walks (Thesis III)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Mod-1 deliveries slip past Nov-27, output misses spec, or – like Crusoe with Boom – the customer walks. Jereh's Chinese ownership adds tariff / supply-chain risk.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~$63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III).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16552" y="5084064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2628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Signed, paid for, and not in the price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PO with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advance and milestone payments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output penalty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capped at 10%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Base case uses 45 units vs. ~58 implied by the order. Jereh packages in the US, Canada and UAE. Ex-Power, the target is still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$239, 43% upside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11312" y="1298448"/>
            <a:ext cx="3611880" cy="987552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8302752" y="1298448"/>
            <a:ext cx="34290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clean ~30% prints and a second Power order re-rate the stock within 12 months.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11312" y="2359152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1040" y="2386584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 Q3 call (late Oct-26) | Thesis 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retirement and shop-visit update; confirms the 2,300–2,400 visit plateau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11312" y="3104388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3131820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Q3'26 (late Oct-26)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margin ≥~30%, modules on track for 1,200, PMA usage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11312" y="3849624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21040" y="3877056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Investor day (10-Dec-26) | I, II,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211312" y="4594860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21040" y="4622292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+ FY27 guide (Feb-27)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print: 30% stops reading as a waypoint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11312" y="5340096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321040" y="5367528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deliveries / new order (2027) |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revenue from the $1.465bn order; a second order adds ~$35 / share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and Calls, Muddy Waters, GE Aerospace, J&amp;F order release (Jul-26), TechCrunch (Boom–Crusoe), GPS Model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Value at risk from the valuation bridge (bear → base by thesis). FTAI Q3 date to confirm (26- or 29-Oct).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- Long Recommendation</dc:title>
  <dc:subject>PptxGenJS Presentation</dc:subject>
  <dc:creator>Max Salomon</dc:creator>
  <cp:lastModifiedBy>Max Salomon</cp:lastModifiedBy>
  <cp:revision>1</cp:revision>
  <dcterms:created xsi:type="dcterms:W3CDTF">2026-10-13T01:16:48Z</dcterms:created>
  <dcterms:modified xsi:type="dcterms:W3CDTF">2026-10-13T01:16:48Z</dcterms:modified>
</cp:coreProperties>
</file>