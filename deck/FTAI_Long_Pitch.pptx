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668d57-ea38-9ff6-5948-9668f7db2b63}">
          <p14:sldIdLst>
            <p14:sldId id="256"/>
          </p14:sldIdLst>
        </p14:section>
        <p14:section name="The Opportunity" id="{448ad12a-45af-eccb-d1fa-3b3cf516d122}">
          <p14:sldIdLst>
            <p14:sldId id="257"/>
            <p14:sldId id="258"/>
            <p14:sldId id="259"/>
            <p14:sldId id="260"/>
          </p14:sldIdLst>
        </p14:section>
        <p14:section name="Returns" id="{219786e3-9cae-13d5-0c1c-125a9aee9706}">
          <p14:sldIdLst>
            <p14:sldId id="261"/>
          </p14:sldIdLst>
        </p14:section>
        <p14:section name="Business Overview" id="{522d8589-2ec5-35e2-7449-0c7eab2895fa}">
          <p14:sldIdLst>
            <p14:sldId id="262"/>
            <p14:sldId id="263"/>
          </p14:sldIdLst>
        </p14:section>
        <p14:section name="Thesis 1a" id="{22f8d76a-f30f-c4bf-86f4-420608c15502}">
          <p14:sldIdLst>
            <p14:sldId id="264"/>
            <p14:sldId id="265"/>
            <p14:sldId id="266"/>
            <p14:sldId id="267"/>
          </p14:sldIdLst>
        </p14:section>
        <p14:section name="Thesis 1b" id="{75b95146-14aa-a80a-1418-d84dd841689c}">
          <p14:sldIdLst>
            <p14:sldId id="268"/>
            <p14:sldId id="269"/>
            <p14:sldId id="270"/>
            <p14:sldId id="271"/>
            <p14:sldId id="272"/>
            <p14:sldId id="273"/>
            <p14:sldId id="274"/>
          </p14:sldIdLst>
        </p14:section>
        <p14:section name="Thesis 2" id="{7fe01810-0a30-79e6-b044-06c5de877ae0}">
          <p14:sldIdLst>
            <p14:sldId id="275"/>
            <p14:sldId id="276"/>
            <p14:sldId id="277"/>
            <p14:sldId id="278"/>
          </p14:sldIdLst>
        </p14:section>
        <p14:section name="Valuation" id="{dc1e8914-997e-e500-3f5e-6b5e39d59630}">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Power EBITDA</c:v>
                </c:pt>
              </c:strCache>
            </c:strRef>
          </c:tx>
          <c:spPr>
            <a:solidFill>
              <a:srgbClr val="0A1C58"/>
            </a:solidFill>
            <a:effectLst/>
          </c:spPr>
          <c:invertIfNegative val="0"/>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FY26E</c:v>
                  </c:pt>
                  <c:pt idx="1">
                    <c:v>FY27E</c:v>
                  </c:pt>
                  <c:pt idx="2">
                    <c:v>FY28E</c:v>
                  </c:pt>
                  <c:pt idx="3">
                    <c:v>FY29E</c:v>
                  </c:pt>
                  <c:pt idx="4">
                    <c:v>FY30E</c:v>
                  </c:pt>
                  <c:pt idx="5">
                    <c:v>FY31E</c:v>
                  </c:pt>
                </c:lvl>
              </c:multiLvlStrCache>
            </c:multiLvlStrRef>
          </c:cat>
          <c:val>
            <c:numRef>
              <c:f>Sheet1!$B$2:$B$7</c:f>
              <c:numCache>
                <c:formatCode>General</c:formatCode>
                <c:ptCount val="6"/>
                <c:pt idx="0">
                  <c:v>20</c:v>
                </c:pt>
                <c:pt idx="1">
                  <c:v>450</c:v>
                </c:pt>
                <c:pt idx="2">
                  <c:v>900</c:v>
                </c:pt>
                <c:pt idx="3">
                  <c:v>1100</c:v>
                </c:pt>
                <c:pt idx="4">
                  <c:v>1200</c:v>
                </c:pt>
                <c:pt idx="5">
                  <c:v>1300</c:v>
                </c:pt>
              </c:numCache>
            </c:numRef>
          </c:val>
        </c:ser>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5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Aerospace</c:v>
                  </c:pt>
                  <c:pt idx="1">
                    <c:v>Power</c:v>
                  </c:pt>
                  <c:pt idx="2">
                    <c:v>Leasing</c:v>
                  </c:pt>
                  <c:pt idx="3">
                    <c:v>– Corporate</c:v>
                  </c:pt>
                  <c:pt idx="4">
                    <c:v>– Net debt</c:v>
                  </c:pt>
                  <c:pt idx="5">
                    <c:v>SOTP</c:v>
                  </c:pt>
                  <c:pt idx="6">
                    <c:v>Today</c:v>
                  </c:pt>
                </c:lvl>
              </c:multiLvlStrCache>
            </c:multiLvlStrRef>
          </c:cat>
          <c:val>
            <c:numRef>
              <c:f>Sheet1!$B$2:$B$8</c:f>
              <c:numCache>
                <c:formatCode>General</c:formatCode>
                <c:ptCount val="7"/>
                <c:pt idx="0">
                  <c:v>0</c:v>
                </c:pt>
                <c:pt idx="1">
                  <c:v>236.9</c:v>
                </c:pt>
                <c:pt idx="2">
                  <c:v>288.8</c:v>
                </c:pt>
                <c:pt idx="3">
                  <c:v>300.4</c:v>
                </c:pt>
                <c:pt idx="4">
                  <c:v>276.7</c:v>
                </c:pt>
                <c:pt idx="5">
                  <c:v>0</c:v>
                </c:pt>
                <c:pt idx="6">
                  <c:v>0</c:v>
                </c:pt>
              </c:numCache>
            </c:numRef>
          </c:val>
        </c:ser>
        <c:ser>
          <c:idx val="1"/>
          <c:order val="1"/>
          <c:tx>
            <c:strRef>
              <c:f>Sheet1!$C$1</c:f>
              <c:strCache>
                <c:ptCount val="1"/>
                <c:pt idx="0">
                  <c:v>Adds</c:v>
                </c:pt>
              </c:strCache>
            </c:strRef>
          </c:tx>
          <c:spPr>
            <a:solidFill>
              <a:srgbClr val="0A1C58"/>
            </a:solidFill>
            <a:effectLst/>
          </c:spPr>
          <c:invertIfNegative val="0"/>
          <c:dLbls>
            <c:numFmt formatCode="&quot;$&quot;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Aerospace</c:v>
                  </c:pt>
                  <c:pt idx="1">
                    <c:v>Power</c:v>
                  </c:pt>
                  <c:pt idx="2">
                    <c:v>Leasing</c:v>
                  </c:pt>
                  <c:pt idx="3">
                    <c:v>– Corporate</c:v>
                  </c:pt>
                  <c:pt idx="4">
                    <c:v>– Net debt</c:v>
                  </c:pt>
                  <c:pt idx="5">
                    <c:v>SOTP</c:v>
                  </c:pt>
                  <c:pt idx="6">
                    <c:v>Today</c:v>
                  </c:pt>
                </c:lvl>
              </c:multiLvlStrCache>
            </c:multiLvlStrRef>
          </c:cat>
          <c:val>
            <c:numRef>
              <c:f>Sheet1!$C$2:$C$8</c:f>
              <c:numCache>
                <c:formatCode>General</c:formatCode>
                <c:ptCount val="7"/>
                <c:pt idx="0">
                  <c:v>236.9</c:v>
                </c:pt>
                <c:pt idx="1">
                  <c:v>51.9</c:v>
                </c:pt>
                <c:pt idx="2">
                  <c:v>39.4</c:v>
                </c:pt>
                <c:pt idx="3">
                  <c:v>0</c:v>
                </c:pt>
                <c:pt idx="4">
                  <c:v>0</c:v>
                </c:pt>
                <c:pt idx="5">
                  <c:v>0</c:v>
                </c:pt>
                <c:pt idx="6">
                  <c:v>0</c:v>
                </c:pt>
              </c:numCache>
            </c:numRef>
          </c:val>
        </c:ser>
        <c:ser>
          <c:idx val="2"/>
          <c:order val="2"/>
          <c:tx>
            <c:strRef>
              <c:f>Sheet1!$D$1</c:f>
              <c:strCache>
                <c:ptCount val="1"/>
                <c:pt idx="0">
                  <c:v>Less</c:v>
                </c:pt>
              </c:strCache>
            </c:strRef>
          </c:tx>
          <c:spPr>
            <a:solidFill>
              <a:srgbClr val="847C7A"/>
            </a:solidFill>
            <a:effectLst/>
          </c:spPr>
          <c:invertIfNegative val="0"/>
          <c:dLbls>
            <c:numFmt formatCode="&quot;$&quot;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Aerospace</c:v>
                  </c:pt>
                  <c:pt idx="1">
                    <c:v>Power</c:v>
                  </c:pt>
                  <c:pt idx="2">
                    <c:v>Leasing</c:v>
                  </c:pt>
                  <c:pt idx="3">
                    <c:v>– Corporate</c:v>
                  </c:pt>
                  <c:pt idx="4">
                    <c:v>– Net debt</c:v>
                  </c:pt>
                  <c:pt idx="5">
                    <c:v>SOTP</c:v>
                  </c:pt>
                  <c:pt idx="6">
                    <c:v>Today</c:v>
                  </c:pt>
                </c:lvl>
              </c:multiLvlStrCache>
            </c:multiLvlStrRef>
          </c:cat>
          <c:val>
            <c:numRef>
              <c:f>Sheet1!$D$2:$D$8</c:f>
              <c:numCache>
                <c:formatCode>General</c:formatCode>
                <c:ptCount val="7"/>
                <c:pt idx="0">
                  <c:v>0</c:v>
                </c:pt>
                <c:pt idx="1">
                  <c:v>0</c:v>
                </c:pt>
                <c:pt idx="2">
                  <c:v>0</c:v>
                </c:pt>
                <c:pt idx="3">
                  <c:v>27.8</c:v>
                </c:pt>
                <c:pt idx="4">
                  <c:v>23.8</c:v>
                </c:pt>
                <c:pt idx="5">
                  <c:v>0</c:v>
                </c:pt>
                <c:pt idx="6">
                  <c:v>0</c:v>
                </c:pt>
              </c:numCache>
            </c:numRef>
          </c:val>
        </c:ser>
        <c:ser>
          <c:idx val="3"/>
          <c:order val="3"/>
          <c:tx>
            <c:strRef>
              <c:f>Sheet1!$E$1</c:f>
              <c:strCache>
                <c:ptCount val="1"/>
                <c:pt idx="0">
                  <c:v>Totals</c:v>
                </c:pt>
              </c:strCache>
            </c:strRef>
          </c:tx>
          <c:spPr>
            <a:solidFill>
              <a:srgbClr val="0A1C58"/>
            </a:solidFill>
            <a:effectLst/>
          </c:spPr>
          <c:invertIfNegative val="0"/>
          <c:dLbls>
            <c:numFmt formatCode="&quot;$&quot;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Aerospace</c:v>
                  </c:pt>
                  <c:pt idx="1">
                    <c:v>Power</c:v>
                  </c:pt>
                  <c:pt idx="2">
                    <c:v>Leasing</c:v>
                  </c:pt>
                  <c:pt idx="3">
                    <c:v>– Corporate</c:v>
                  </c:pt>
                  <c:pt idx="4">
                    <c:v>– Net debt</c:v>
                  </c:pt>
                  <c:pt idx="5">
                    <c:v>SOTP</c:v>
                  </c:pt>
                  <c:pt idx="6">
                    <c:v>Today</c:v>
                  </c:pt>
                </c:lvl>
              </c:multiLvlStrCache>
            </c:multiLvlStrRef>
          </c:cat>
          <c:val>
            <c:numRef>
              <c:f>Sheet1!$E$2:$E$8</c:f>
              <c:numCache>
                <c:formatCode>General</c:formatCode>
                <c:ptCount val="7"/>
                <c:pt idx="0">
                  <c:v>0</c:v>
                </c:pt>
                <c:pt idx="1">
                  <c:v>0</c:v>
                </c:pt>
                <c:pt idx="2">
                  <c:v>0</c:v>
                </c:pt>
                <c:pt idx="3">
                  <c:v>0</c:v>
                </c:pt>
                <c:pt idx="4">
                  <c:v>0</c:v>
                </c:pt>
                <c:pt idx="5">
                  <c:v>276.7</c:v>
                </c:pt>
                <c:pt idx="6">
                  <c:v>0</c:v>
                </c:pt>
              </c:numCache>
            </c:numRef>
          </c:val>
        </c:ser>
        <c:ser>
          <c:idx val="4"/>
          <c:order val="4"/>
          <c:tx>
            <c:strRef>
              <c:f>Sheet1!$F$1</c:f>
              <c:strCache>
                <c:ptCount val="1"/>
                <c:pt idx="0">
                  <c:v>Today</c:v>
                </c:pt>
              </c:strCache>
            </c:strRef>
          </c:tx>
          <c:spPr>
            <a:solidFill>
              <a:srgbClr val="847C7A"/>
            </a:solidFill>
            <a:effectLst/>
          </c:spPr>
          <c:invertIfNegative val="0"/>
          <c:dLbls>
            <c:numFmt formatCode="&quot;$&quot;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Aerospace</c:v>
                  </c:pt>
                  <c:pt idx="1">
                    <c:v>Power</c:v>
                  </c:pt>
                  <c:pt idx="2">
                    <c:v>Leasing</c:v>
                  </c:pt>
                  <c:pt idx="3">
                    <c:v>– Corporate</c:v>
                  </c:pt>
                  <c:pt idx="4">
                    <c:v>– Net debt</c:v>
                  </c:pt>
                  <c:pt idx="5">
                    <c:v>SOTP</c:v>
                  </c:pt>
                  <c:pt idx="6">
                    <c:v>Today</c:v>
                  </c:pt>
                </c:lvl>
              </c:multiLvlStrCache>
            </c:multiLvlStrRef>
          </c:cat>
          <c:val>
            <c:numRef>
              <c:f>Sheet1!$F$2:$F$8</c:f>
              <c:numCache>
                <c:formatCode>General</c:formatCode>
                <c:ptCount val="7"/>
                <c:pt idx="0">
                  <c:v>0</c:v>
                </c:pt>
                <c:pt idx="1">
                  <c:v>0</c:v>
                </c:pt>
                <c:pt idx="2">
                  <c:v>0</c:v>
                </c:pt>
                <c:pt idx="3">
                  <c:v>0</c:v>
                </c:pt>
                <c:pt idx="4">
                  <c:v>0</c:v>
                </c:pt>
                <c:pt idx="5">
                  <c:v>0</c:v>
                </c:pt>
                <c:pt idx="6">
                  <c:v>167</c:v>
                </c:pt>
              </c:numCache>
            </c:numRef>
          </c:val>
        </c:ser>
        <c:dLbls>
          <c:numFmt formatCode="&quot;$&quot;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per share: Aerospace $1,541M × 16x = $237; Power $450M × 12x = $52; Leasing + SCI $455M × 9x = $39; corporate ($207M at the blended 14.0x) = −$28; net debt and preferred = −$24; total $277 vs. $167.03 (+66%). Excluding Power: $225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Power ram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Adj. EBITDA ($M)</a:t>
            </a:r>
            <a:endParaRPr lang="en-US" sz="1600" dirty="0"/>
          </a:p>
        </p:txBody>
      </p:sp>
      <p:sp>
        <p:nvSpPr>
          <p:cNvPr id="5" name="Power ramp header rule"/>
          <p:cNvSpPr/>
          <p:nvPr/>
        </p:nvSpPr>
        <p:spPr>
          <a:xfrm>
            <a:off x="320040" y="1975104"/>
            <a:ext cx="5257800" cy="0"/>
          </a:xfrm>
          <a:prstGeom prst="line">
            <a:avLst/>
          </a:prstGeom>
          <a:noFill/>
          <a:ln w="12700">
            <a:solidFill>
              <a:srgbClr val="1A1A1A"/>
            </a:solidFill>
            <a:prstDash val="solid"/>
          </a:ln>
        </p:spPr>
      </p:sp>
      <p:graphicFrame>
        <p:nvGraphicFramePr>
          <p:cNvPr id="6" name="Power ramp chart" descr=""/>
          <p:cNvGraphicFramePr/>
          <p:nvPr/>
        </p:nvGraphicFramePr>
        <p:xfrm>
          <a:off x="320040" y="2103120"/>
          <a:ext cx="5257800" cy="2926080"/>
        </p:xfrm>
        <a:graphic xmlns:a="http://schemas.openxmlformats.org/drawingml/2006/main">
          <a:graphicData uri="http://schemas.openxmlformats.org/drawingml/2006/chart">
            <c:chart xmlns:c="http://schemas.openxmlformats.org/drawingml/2006/chart" r:id="rId1"/>
          </a:graphicData>
        </a:graphic>
      </p:graphicFrame>
      <p:sp>
        <p:nvSpPr>
          <p:cNvPr id="7" name="Market value callout"/>
          <p:cNvSpPr/>
          <p:nvPr/>
        </p:nvSpPr>
        <p:spPr>
          <a:xfrm>
            <a:off x="548640" y="2148840"/>
            <a:ext cx="1051560" cy="1051560"/>
          </a:xfrm>
          <a:prstGeom prst="ellipse">
            <a:avLst/>
          </a:prstGeom>
          <a:solidFill>
            <a:srgbClr val="DCD8D3"/>
          </a:solidFill>
          <a:ln w="25400">
            <a:solidFill>
              <a:srgbClr val="0A1C58"/>
            </a:solidFill>
          </a:ln>
        </p:spPr>
        <p:txBody>
          <a:bodyPr wrap="square" lIns="0" tIns="0" rIns="0" bIns="0" rtlCol="0" anchor="ctr"/>
          <a:lstStyle/>
          <a:p>
            <a:pPr algn="ctr" indent="0" marL="0">
              <a:buNone/>
            </a:pPr>
            <a:r>
              <a:rPr lang="en-US" sz="2200" b="1" dirty="0">
                <a:solidFill>
                  <a:schemeClr val="tx2"/>
                </a:solidFill>
              </a:rPr>
              <a:t>~$0</a:t>
            </a:r>
            <a:endParaRPr lang="en-US" sz="2200" dirty="0"/>
          </a:p>
          <a:p>
            <a:pPr algn="ctr" indent="0" marL="0">
              <a:buNone/>
            </a:pPr>
            <a:r>
              <a:rPr lang="en-US" sz="1000" b="1" dirty="0">
                <a:solidFill>
                  <a:schemeClr val="tx2"/>
                </a:solidFill>
              </a:rPr>
              <a:t>market value</a:t>
            </a:r>
            <a:endParaRPr lang="en-US" sz="2200" dirty="0"/>
          </a:p>
        </p:txBody>
      </p:sp>
      <p:sp>
        <p:nvSpPr>
          <p:cNvPr id="8" name="Power ramp caption"/>
          <p:cNvSpPr txBox="1"/>
          <p:nvPr/>
        </p:nvSpPr>
        <p:spPr>
          <a:xfrm>
            <a:off x="320040" y="5029200"/>
            <a:ext cx="5257800" cy="274320"/>
          </a:xfrm>
          <a:prstGeom prst="rect">
            <a:avLst/>
          </a:prstGeom>
          <a:noFill/>
          <a:ln/>
        </p:spPr>
        <p:txBody>
          <a:bodyPr wrap="square" lIns="0" tIns="0" rIns="0" bIns="0" rtlCol="0" anchor="ctr"/>
          <a:lstStyle/>
          <a:p>
            <a:pPr algn="ctr" indent="0" marL="0">
              <a:buNone/>
            </a:pPr>
            <a:r>
              <a:rPr lang="en-US" sz="1100" i="1" dirty="0">
                <a:solidFill>
                  <a:schemeClr val="accent2"/>
                </a:solidFill>
              </a:rPr>
              <a:t>Our model; the core business alone is worth $225/share vs. $167 today</a:t>
            </a:r>
            <a:endParaRPr lang="en-US" sz="11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(RPM tab Power build;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Every segment at a sober multiple gets to $277, before any new Power contract.</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SOTP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Multiples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Aerospace 16x · Power 12x · Leasing + SCI 9x FY27E EBITDA</a:t>
            </a:r>
            <a:endParaRPr lang="en-US" sz="1000" dirty="0"/>
          </a:p>
        </p:txBody>
      </p:sp>
      <p:sp>
        <p:nvSpPr>
          <p:cNvPr id="8"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9" name="Means header rule"/>
          <p:cNvSpPr/>
          <p:nvPr/>
        </p:nvSpPr>
        <p:spPr>
          <a:xfrm>
            <a:off x="6309360" y="1975104"/>
            <a:ext cx="2514600" cy="0"/>
          </a:xfrm>
          <a:prstGeom prst="line">
            <a:avLst/>
          </a:prstGeom>
          <a:noFill/>
          <a:ln w="12700">
            <a:solidFill>
              <a:srgbClr val="1A1A1A"/>
            </a:solidFill>
            <a:prstDash val="solid"/>
          </a:ln>
        </p:spPr>
      </p:sp>
      <p:sp>
        <p:nvSpPr>
          <p:cNvPr id="10"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target</a:t>
            </a:r>
            <a:endParaRPr lang="en-US" sz="2800" dirty="0"/>
          </a:p>
        </p:txBody>
      </p:sp>
      <p:sp>
        <p:nvSpPr>
          <p:cNvPr id="11"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$225</a:t>
            </a:r>
            <a:endParaRPr lang="en-US" sz="2800" dirty="0"/>
          </a:p>
          <a:p>
            <a:pPr algn="ctr" indent="0" marL="0">
              <a:buNone/>
            </a:pPr>
            <a:r>
              <a:rPr lang="en-US" sz="1200" dirty="0">
                <a:solidFill>
                  <a:srgbClr val="1A1A1A"/>
                </a:solidFill>
              </a:rPr>
              <a:t>core business alone, 35% above today</a:t>
            </a:r>
            <a:endParaRPr lang="en-US" sz="2800" dirty="0"/>
          </a:p>
        </p:txBody>
      </p:sp>
      <p:sp>
        <p:nvSpPr>
          <p:cNvPr id="12"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$52</a:t>
            </a:r>
            <a:endParaRPr lang="en-US" sz="2800" dirty="0"/>
          </a:p>
          <a:p>
            <a:pPr algn="ctr" indent="0" marL="0">
              <a:buNone/>
            </a:pPr>
            <a:r>
              <a:rPr lang="en-US" sz="1200" dirty="0">
                <a:solidFill>
                  <a:srgbClr val="1A1A1A"/>
                </a:solidFill>
              </a:rPr>
              <a:t>for Power, on just the signed order</a:t>
            </a:r>
            <a:endParaRPr lang="en-US" sz="2800" dirty="0"/>
          </a:p>
        </p:txBody>
      </p:sp>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Strip out Power and the core is still worth $225. Power is the free call option on top.</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SOTP: FY27E segment EBITDA, YE27E net debt, 104.0M diluted shares);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2026-10-08T23:52:11Z</dcterms:created>
  <dcterms:modified xsi:type="dcterms:W3CDTF">2026-10-08T23:52:11Z</dcterms:modified>
</cp:coreProperties>
</file>