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9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3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24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25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9708672-4e5b-4fc4-5738-751e3e4d7006}">
          <p14:sldIdLst>
            <p14:sldId id="256"/>
          </p14:sldIdLst>
        </p14:section>
        <p14:section name="Business Overview" id="{26bebacd-532f-4d08-1de6-dabdbaaf04a5}">
          <p14:sldIdLst>
            <p14:sldId id="257"/>
            <p14:sldId id="258"/>
          </p14:sldIdLst>
        </p14:section>
        <p14:section name="The Opportunity" id="{9955a4f0-bcca-b54b-787e-5ec478ff2e40}">
          <p14:sldIdLst>
            <p14:sldId id="259"/>
            <p14:sldId id="260"/>
            <p14:sldId id="261"/>
            <p14:sldId id="262"/>
          </p14:sldIdLst>
        </p14:section>
        <p14:section name="Returns" id="{2dcd7719-3958-75a9-9445-6e32fd32b53b}">
          <p14:sldIdLst>
            <p14:sldId id="263"/>
          </p14:sldIdLst>
        </p14:section>
        <p14:section name="Thesis 1a" id="{86a2423e-8102-889b-f602-d2d31e5cae43}">
          <p14:sldIdLst>
            <p14:sldId id="264"/>
            <p14:sldId id="265"/>
            <p14:sldId id="266"/>
            <p14:sldId id="267"/>
            <p14:sldId id="268"/>
          </p14:sldIdLst>
        </p14:section>
        <p14:section name="Thesis 1b" id="{a693962c-20fa-ae8d-f605-6f9da2941e66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Thesis 2" id="{f712f500-7b20-5484-1312-e30a0f371909}">
          <p14:sldIdLst>
            <p14:sldId id="277"/>
            <p14:sldId id="278"/>
            <p14:sldId id="279"/>
            <p14:sldId id="280"/>
            <p14:sldId id="281"/>
          </p14:sldIdLst>
        </p14:section>
        <p14:section name="Valuation" id="{c3fef688-b2a3-a977-2f13-775ca5485776}">
          <p14:sldIdLst>
            <p14:sldId id="282"/>
            <p14:sldId id="283"/>
          </p14:sldIdLst>
        </p14:section>
        <p14:section name="Catalysts" id="{54958184-5936-1072-fae2-731eb8fdab3e}">
          <p14:sldIdLst>
            <p14:sldId id="284"/>
          </p14:sldIdLst>
        </p14:section>
        <p14:section name="Risks" id="{a0802e2c-d6cd-ee18-41b6-b8ab5e4342a9}">
          <p14:sldIdLst>
            <p14:sldId id="285"/>
          </p14:sldIdLst>
        </p14:section>
        <p14:section name="Q&amp;A" id="{bf49dc82-4910-a396-ae79-23744df91664}">
          <p14:sldIdLst>
            <p14:sldId id="286"/>
          </p14:sldIdLst>
        </p14:section>
        <p14:section name="Appendix" id="{5dffec00-0af0-ef0b-6c2b-cdbeb44e82c8}">
          <p14:sldIdLst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8"/>
          <c:y val="0.05"/>
          <c:w val="0.9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FTAI</c:v>
                </c:pt>
              </c:strCache>
            </c:strRef>
          </c:tx>
          <c:spPr>
            <a:solidFill>
              <a:srgbClr val="0A1C58"/>
            </a:solidFill>
            <a:ln w="254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Sheet1!$A$2:$A$261</c:f>
              <c:multiLvlStrCache>
                <c:ptCount val="260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>2022</c:v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>2023</c:v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>2024</c:v>
                  </c:pt>
                  <c:pt idx="118">
                    <c:v/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>2025</c:v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/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>2026</c:v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/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</c:lvl>
              </c:multiLvlStrCache>
            </c:multiLvlStrRef>
          </c:cat>
          <c:val>
            <c:numRef>
              <c:f>Sheet1!$B$2:$B$261</c:f>
              <c:numCache>
                <c:formatCode>General</c:formatCode>
                <c:ptCount val="260"/>
                <c:pt idx="0">
                  <c:v>19.3</c:v>
                </c:pt>
                <c:pt idx="1">
                  <c:v>19.3</c:v>
                </c:pt>
                <c:pt idx="2">
                  <c:v>21.1</c:v>
                </c:pt>
                <c:pt idx="3">
                  <c:v>21.1</c:v>
                </c:pt>
                <c:pt idx="4">
                  <c:v>21.1</c:v>
                </c:pt>
                <c:pt idx="5">
                  <c:v>19.3</c:v>
                </c:pt>
                <c:pt idx="6">
                  <c:v>19.3</c:v>
                </c:pt>
                <c:pt idx="7">
                  <c:v>17.4</c:v>
                </c:pt>
                <c:pt idx="8">
                  <c:v>17.4</c:v>
                </c:pt>
                <c:pt idx="9">
                  <c:v>18.3</c:v>
                </c:pt>
                <c:pt idx="10">
                  <c:v>21.1</c:v>
                </c:pt>
                <c:pt idx="11">
                  <c:v>22.9</c:v>
                </c:pt>
                <c:pt idx="12">
                  <c:v>21.1</c:v>
                </c:pt>
                <c:pt idx="13">
                  <c:v>22.9</c:v>
                </c:pt>
                <c:pt idx="14">
                  <c:v>22.9</c:v>
                </c:pt>
                <c:pt idx="15">
                  <c:v>21.1</c:v>
                </c:pt>
                <c:pt idx="16">
                  <c:v>21.1</c:v>
                </c:pt>
                <c:pt idx="17">
                  <c:v>21.1</c:v>
                </c:pt>
                <c:pt idx="18">
                  <c:v>21.1</c:v>
                </c:pt>
                <c:pt idx="19">
                  <c:v>21.1</c:v>
                </c:pt>
                <c:pt idx="20">
                  <c:v>19.3</c:v>
                </c:pt>
                <c:pt idx="21">
                  <c:v>17.4</c:v>
                </c:pt>
                <c:pt idx="22">
                  <c:v>17.4</c:v>
                </c:pt>
                <c:pt idx="23">
                  <c:v>19.3</c:v>
                </c:pt>
                <c:pt idx="24">
                  <c:v>19.3</c:v>
                </c:pt>
                <c:pt idx="25">
                  <c:v>19.3</c:v>
                </c:pt>
                <c:pt idx="26">
                  <c:v>19.3</c:v>
                </c:pt>
                <c:pt idx="27">
                  <c:v>18.3</c:v>
                </c:pt>
                <c:pt idx="28">
                  <c:v>17.4</c:v>
                </c:pt>
                <c:pt idx="29">
                  <c:v>15.6</c:v>
                </c:pt>
                <c:pt idx="30">
                  <c:v>13.8</c:v>
                </c:pt>
                <c:pt idx="31">
                  <c:v>13.8</c:v>
                </c:pt>
                <c:pt idx="32">
                  <c:v>13.8</c:v>
                </c:pt>
                <c:pt idx="33">
                  <c:v>14.7</c:v>
                </c:pt>
                <c:pt idx="34">
                  <c:v>15.6</c:v>
                </c:pt>
                <c:pt idx="35">
                  <c:v>13.8</c:v>
                </c:pt>
                <c:pt idx="36">
                  <c:v>13.8</c:v>
                </c:pt>
                <c:pt idx="37">
                  <c:v>13.8</c:v>
                </c:pt>
                <c:pt idx="38">
                  <c:v>14.7</c:v>
                </c:pt>
                <c:pt idx="39">
                  <c:v>14.7</c:v>
                </c:pt>
                <c:pt idx="40">
                  <c:v>14.7</c:v>
                </c:pt>
                <c:pt idx="41">
                  <c:v>15.6</c:v>
                </c:pt>
                <c:pt idx="42">
                  <c:v>17.4</c:v>
                </c:pt>
                <c:pt idx="43">
                  <c:v>16.5</c:v>
                </c:pt>
                <c:pt idx="44">
                  <c:v>16.5</c:v>
                </c:pt>
                <c:pt idx="45">
                  <c:v>15.6</c:v>
                </c:pt>
                <c:pt idx="46">
                  <c:v>15.6</c:v>
                </c:pt>
                <c:pt idx="47">
                  <c:v>15.6</c:v>
                </c:pt>
                <c:pt idx="48">
                  <c:v>16.5</c:v>
                </c:pt>
                <c:pt idx="49">
                  <c:v>15.6</c:v>
                </c:pt>
                <c:pt idx="50">
                  <c:v>13.8</c:v>
                </c:pt>
                <c:pt idx="51">
                  <c:v>13.8</c:v>
                </c:pt>
                <c:pt idx="52">
                  <c:v>13.8</c:v>
                </c:pt>
                <c:pt idx="53">
                  <c:v>13.8</c:v>
                </c:pt>
                <c:pt idx="54">
                  <c:v>13.8</c:v>
                </c:pt>
                <c:pt idx="55">
                  <c:v>15.6</c:v>
                </c:pt>
                <c:pt idx="56">
                  <c:v>15.6</c:v>
                </c:pt>
                <c:pt idx="57">
                  <c:v>15.6</c:v>
                </c:pt>
                <c:pt idx="58">
                  <c:v>15.6</c:v>
                </c:pt>
                <c:pt idx="59">
                  <c:v>14.7</c:v>
                </c:pt>
                <c:pt idx="60">
                  <c:v>15.6</c:v>
                </c:pt>
                <c:pt idx="61">
                  <c:v>15.6</c:v>
                </c:pt>
                <c:pt idx="62">
                  <c:v>15.6</c:v>
                </c:pt>
                <c:pt idx="63">
                  <c:v>15.6</c:v>
                </c:pt>
                <c:pt idx="64">
                  <c:v>16.5</c:v>
                </c:pt>
                <c:pt idx="65">
                  <c:v>19.3</c:v>
                </c:pt>
                <c:pt idx="66">
                  <c:v>21.1</c:v>
                </c:pt>
                <c:pt idx="67">
                  <c:v>20.2</c:v>
                </c:pt>
                <c:pt idx="68">
                  <c:v>21.1</c:v>
                </c:pt>
                <c:pt idx="69">
                  <c:v>21.1</c:v>
                </c:pt>
                <c:pt idx="70">
                  <c:v>22.9</c:v>
                </c:pt>
                <c:pt idx="71">
                  <c:v>21.1</c:v>
                </c:pt>
                <c:pt idx="72">
                  <c:v>23.9</c:v>
                </c:pt>
                <c:pt idx="73">
                  <c:v>24.8</c:v>
                </c:pt>
                <c:pt idx="74">
                  <c:v>22.9</c:v>
                </c:pt>
                <c:pt idx="75">
                  <c:v>22.9</c:v>
                </c:pt>
                <c:pt idx="76">
                  <c:v>22.9</c:v>
                </c:pt>
                <c:pt idx="77">
                  <c:v>25.7</c:v>
                </c:pt>
                <c:pt idx="78">
                  <c:v>25.7</c:v>
                </c:pt>
                <c:pt idx="79">
                  <c:v>25.7</c:v>
                </c:pt>
                <c:pt idx="80">
                  <c:v>24.8</c:v>
                </c:pt>
                <c:pt idx="81">
                  <c:v>26.6</c:v>
                </c:pt>
                <c:pt idx="82">
                  <c:v>26.6</c:v>
                </c:pt>
                <c:pt idx="83">
                  <c:v>26.6</c:v>
                </c:pt>
                <c:pt idx="84">
                  <c:v>26.6</c:v>
                </c:pt>
                <c:pt idx="85">
                  <c:v>26.6</c:v>
                </c:pt>
                <c:pt idx="86">
                  <c:v>26.6</c:v>
                </c:pt>
                <c:pt idx="87">
                  <c:v>27.5</c:v>
                </c:pt>
                <c:pt idx="88">
                  <c:v>27.5</c:v>
                </c:pt>
                <c:pt idx="89">
                  <c:v>26.6</c:v>
                </c:pt>
                <c:pt idx="90">
                  <c:v>29.4</c:v>
                </c:pt>
                <c:pt idx="91">
                  <c:v>30.3</c:v>
                </c:pt>
                <c:pt idx="92">
                  <c:v>31.2</c:v>
                </c:pt>
                <c:pt idx="93">
                  <c:v>31.2</c:v>
                </c:pt>
                <c:pt idx="94">
                  <c:v>30.3</c:v>
                </c:pt>
                <c:pt idx="95">
                  <c:v>33</c:v>
                </c:pt>
                <c:pt idx="96">
                  <c:v>33</c:v>
                </c:pt>
                <c:pt idx="97">
                  <c:v>33.9</c:v>
                </c:pt>
                <c:pt idx="98">
                  <c:v>33.9</c:v>
                </c:pt>
                <c:pt idx="99">
                  <c:v>35.8</c:v>
                </c:pt>
                <c:pt idx="100">
                  <c:v>33.9</c:v>
                </c:pt>
                <c:pt idx="101">
                  <c:v>33.9</c:v>
                </c:pt>
                <c:pt idx="102">
                  <c:v>33</c:v>
                </c:pt>
                <c:pt idx="103">
                  <c:v>32.1</c:v>
                </c:pt>
                <c:pt idx="104">
                  <c:v>32.1</c:v>
                </c:pt>
                <c:pt idx="105">
                  <c:v>32.1</c:v>
                </c:pt>
                <c:pt idx="106">
                  <c:v>31.2</c:v>
                </c:pt>
                <c:pt idx="107">
                  <c:v>35.8</c:v>
                </c:pt>
                <c:pt idx="108">
                  <c:v>37.6</c:v>
                </c:pt>
                <c:pt idx="109">
                  <c:v>39.4</c:v>
                </c:pt>
                <c:pt idx="110">
                  <c:v>39.4</c:v>
                </c:pt>
                <c:pt idx="111">
                  <c:v>39.4</c:v>
                </c:pt>
                <c:pt idx="112">
                  <c:v>40.4</c:v>
                </c:pt>
                <c:pt idx="113">
                  <c:v>42.2</c:v>
                </c:pt>
                <c:pt idx="114">
                  <c:v>43.1</c:v>
                </c:pt>
                <c:pt idx="115">
                  <c:v>45</c:v>
                </c:pt>
                <c:pt idx="116">
                  <c:v>45</c:v>
                </c:pt>
                <c:pt idx="117">
                  <c:v>45</c:v>
                </c:pt>
                <c:pt idx="118">
                  <c:v>46.8</c:v>
                </c:pt>
                <c:pt idx="119">
                  <c:v>49.5</c:v>
                </c:pt>
                <c:pt idx="120">
                  <c:v>52.3</c:v>
                </c:pt>
                <c:pt idx="121">
                  <c:v>54.1</c:v>
                </c:pt>
                <c:pt idx="122">
                  <c:v>51.4</c:v>
                </c:pt>
                <c:pt idx="123">
                  <c:v>51.4</c:v>
                </c:pt>
                <c:pt idx="124">
                  <c:v>54.1</c:v>
                </c:pt>
                <c:pt idx="125">
                  <c:v>56</c:v>
                </c:pt>
                <c:pt idx="126">
                  <c:v>56</c:v>
                </c:pt>
                <c:pt idx="127">
                  <c:v>60.6</c:v>
                </c:pt>
                <c:pt idx="128">
                  <c:v>64.2</c:v>
                </c:pt>
                <c:pt idx="129">
                  <c:v>68.8</c:v>
                </c:pt>
                <c:pt idx="130">
                  <c:v>68.8</c:v>
                </c:pt>
                <c:pt idx="131">
                  <c:v>68.8</c:v>
                </c:pt>
                <c:pt idx="132">
                  <c:v>68.8</c:v>
                </c:pt>
                <c:pt idx="133">
                  <c:v>68.8</c:v>
                </c:pt>
                <c:pt idx="134">
                  <c:v>77.1</c:v>
                </c:pt>
                <c:pt idx="135">
                  <c:v>76.1</c:v>
                </c:pt>
                <c:pt idx="136">
                  <c:v>79.8</c:v>
                </c:pt>
                <c:pt idx="137">
                  <c:v>80.7</c:v>
                </c:pt>
                <c:pt idx="138">
                  <c:v>78.9</c:v>
                </c:pt>
                <c:pt idx="139">
                  <c:v>83.5</c:v>
                </c:pt>
                <c:pt idx="140">
                  <c:v>89.9</c:v>
                </c:pt>
                <c:pt idx="141">
                  <c:v>96.3</c:v>
                </c:pt>
                <c:pt idx="142">
                  <c:v>105.5</c:v>
                </c:pt>
                <c:pt idx="143">
                  <c:v>97.2</c:v>
                </c:pt>
                <c:pt idx="144">
                  <c:v>102.8</c:v>
                </c:pt>
                <c:pt idx="145">
                  <c:v>105.5</c:v>
                </c:pt>
                <c:pt idx="146">
                  <c:v>106.4</c:v>
                </c:pt>
                <c:pt idx="147">
                  <c:v>100</c:v>
                </c:pt>
                <c:pt idx="148">
                  <c:v>105.5</c:v>
                </c:pt>
                <c:pt idx="149">
                  <c:v>113.8</c:v>
                </c:pt>
                <c:pt idx="150">
                  <c:v>122.9</c:v>
                </c:pt>
                <c:pt idx="151">
                  <c:v>116.5</c:v>
                </c:pt>
                <c:pt idx="152">
                  <c:v>115.6</c:v>
                </c:pt>
                <c:pt idx="153">
                  <c:v>124.8</c:v>
                </c:pt>
                <c:pt idx="154">
                  <c:v>125.7</c:v>
                </c:pt>
                <c:pt idx="155">
                  <c:v>133.9</c:v>
                </c:pt>
                <c:pt idx="156">
                  <c:v>145</c:v>
                </c:pt>
                <c:pt idx="157">
                  <c:v>144</c:v>
                </c:pt>
                <c:pt idx="158">
                  <c:v>139.4</c:v>
                </c:pt>
                <c:pt idx="159">
                  <c:v>136.7</c:v>
                </c:pt>
                <c:pt idx="160">
                  <c:v>142.2</c:v>
                </c:pt>
                <c:pt idx="161">
                  <c:v>158.7</c:v>
                </c:pt>
                <c:pt idx="162">
                  <c:v>168.8</c:v>
                </c:pt>
                <c:pt idx="163">
                  <c:v>166.1</c:v>
                </c:pt>
                <c:pt idx="164">
                  <c:v>160.6</c:v>
                </c:pt>
                <c:pt idx="165">
                  <c:v>143.1</c:v>
                </c:pt>
                <c:pt idx="166">
                  <c:v>126.6</c:v>
                </c:pt>
                <c:pt idx="167">
                  <c:v>125.7</c:v>
                </c:pt>
                <c:pt idx="168">
                  <c:v>145</c:v>
                </c:pt>
                <c:pt idx="169">
                  <c:v>163.3</c:v>
                </c:pt>
                <c:pt idx="170">
                  <c:v>126.6</c:v>
                </c:pt>
                <c:pt idx="171">
                  <c:v>89</c:v>
                </c:pt>
                <c:pt idx="172">
                  <c:v>100.9</c:v>
                </c:pt>
                <c:pt idx="173">
                  <c:v>112.8</c:v>
                </c:pt>
                <c:pt idx="174">
                  <c:v>111.9</c:v>
                </c:pt>
                <c:pt idx="175">
                  <c:v>130.3</c:v>
                </c:pt>
                <c:pt idx="176">
                  <c:v>133.9</c:v>
                </c:pt>
                <c:pt idx="177">
                  <c:v>109.2</c:v>
                </c:pt>
                <c:pt idx="178">
                  <c:v>101.8</c:v>
                </c:pt>
                <c:pt idx="179">
                  <c:v>107.3</c:v>
                </c:pt>
                <c:pt idx="180">
                  <c:v>111.9</c:v>
                </c:pt>
                <c:pt idx="181">
                  <c:v>99.1</c:v>
                </c:pt>
                <c:pt idx="182">
                  <c:v>100.9</c:v>
                </c:pt>
                <c:pt idx="183">
                  <c:v>94.5</c:v>
                </c:pt>
                <c:pt idx="184">
                  <c:v>95.4</c:v>
                </c:pt>
                <c:pt idx="185">
                  <c:v>94.5</c:v>
                </c:pt>
                <c:pt idx="186">
                  <c:v>107.3</c:v>
                </c:pt>
                <c:pt idx="187">
                  <c:v>116.5</c:v>
                </c:pt>
                <c:pt idx="188">
                  <c:v>113.8</c:v>
                </c:pt>
                <c:pt idx="189">
                  <c:v>118.3</c:v>
                </c:pt>
                <c:pt idx="190">
                  <c:v>124.8</c:v>
                </c:pt>
                <c:pt idx="191">
                  <c:v>119.3</c:v>
                </c:pt>
                <c:pt idx="192">
                  <c:v>126.6</c:v>
                </c:pt>
                <c:pt idx="193">
                  <c:v>122.9</c:v>
                </c:pt>
                <c:pt idx="194">
                  <c:v>111</c:v>
                </c:pt>
                <c:pt idx="195">
                  <c:v>109.2</c:v>
                </c:pt>
                <c:pt idx="196">
                  <c:v>112.8</c:v>
                </c:pt>
                <c:pt idx="197">
                  <c:v>113.8</c:v>
                </c:pt>
                <c:pt idx="198">
                  <c:v>139.4</c:v>
                </c:pt>
                <c:pt idx="199">
                  <c:v>135.8</c:v>
                </c:pt>
                <c:pt idx="200">
                  <c:v>140.4</c:v>
                </c:pt>
                <c:pt idx="201">
                  <c:v>143.1</c:v>
                </c:pt>
                <c:pt idx="202">
                  <c:v>151.4</c:v>
                </c:pt>
                <c:pt idx="203">
                  <c:v>151.4</c:v>
                </c:pt>
                <c:pt idx="204">
                  <c:v>168.8</c:v>
                </c:pt>
                <c:pt idx="205">
                  <c:v>174.3</c:v>
                </c:pt>
                <c:pt idx="206">
                  <c:v>169.7</c:v>
                </c:pt>
                <c:pt idx="207">
                  <c:v>170.6</c:v>
                </c:pt>
                <c:pt idx="208">
                  <c:v>163.3</c:v>
                </c:pt>
                <c:pt idx="209">
                  <c:v>169.7</c:v>
                </c:pt>
                <c:pt idx="210">
                  <c:v>173.4</c:v>
                </c:pt>
                <c:pt idx="211">
                  <c:v>178</c:v>
                </c:pt>
                <c:pt idx="212">
                  <c:v>158.7</c:v>
                </c:pt>
                <c:pt idx="213">
                  <c:v>153.2</c:v>
                </c:pt>
                <c:pt idx="214">
                  <c:v>159.6</c:v>
                </c:pt>
                <c:pt idx="215">
                  <c:v>167.9</c:v>
                </c:pt>
                <c:pt idx="216">
                  <c:v>172.5</c:v>
                </c:pt>
                <c:pt idx="217">
                  <c:v>178</c:v>
                </c:pt>
                <c:pt idx="218">
                  <c:v>163.3</c:v>
                </c:pt>
                <c:pt idx="219">
                  <c:v>170.6</c:v>
                </c:pt>
                <c:pt idx="220">
                  <c:v>205.5</c:v>
                </c:pt>
                <c:pt idx="221">
                  <c:v>240.4</c:v>
                </c:pt>
                <c:pt idx="222">
                  <c:v>266.1</c:v>
                </c:pt>
                <c:pt idx="223">
                  <c:v>288.1</c:v>
                </c:pt>
                <c:pt idx="224">
                  <c:v>273.4</c:v>
                </c:pt>
                <c:pt idx="225">
                  <c:v>264.2</c:v>
                </c:pt>
                <c:pt idx="226">
                  <c:v>270.6</c:v>
                </c:pt>
                <c:pt idx="227">
                  <c:v>286.2</c:v>
                </c:pt>
                <c:pt idx="228">
                  <c:v>305.5</c:v>
                </c:pt>
                <c:pt idx="229">
                  <c:v>267</c:v>
                </c:pt>
                <c:pt idx="230">
                  <c:v>244</c:v>
                </c:pt>
                <c:pt idx="231">
                  <c:v>232.1</c:v>
                </c:pt>
                <c:pt idx="232">
                  <c:v>238.5</c:v>
                </c:pt>
                <c:pt idx="233">
                  <c:v>242.2</c:v>
                </c:pt>
                <c:pt idx="234">
                  <c:v>253.2</c:v>
                </c:pt>
                <c:pt idx="235">
                  <c:v>258.7</c:v>
                </c:pt>
                <c:pt idx="236">
                  <c:v>232.1</c:v>
                </c:pt>
                <c:pt idx="237">
                  <c:v>236.7</c:v>
                </c:pt>
                <c:pt idx="238">
                  <c:v>273.4</c:v>
                </c:pt>
                <c:pt idx="239">
                  <c:v>250.5</c:v>
                </c:pt>
                <c:pt idx="240">
                  <c:v>247.7</c:v>
                </c:pt>
                <c:pt idx="241">
                  <c:v>256.9</c:v>
                </c:pt>
                <c:pt idx="242">
                  <c:v>233.9</c:v>
                </c:pt>
                <c:pt idx="243">
                  <c:v>237.6</c:v>
                </c:pt>
                <c:pt idx="244">
                  <c:v>273.4</c:v>
                </c:pt>
                <c:pt idx="245">
                  <c:v>264.2</c:v>
                </c:pt>
                <c:pt idx="246">
                  <c:v>253.2</c:v>
                </c:pt>
                <c:pt idx="247">
                  <c:v>221.1</c:v>
                </c:pt>
                <c:pt idx="248">
                  <c:v>206.4</c:v>
                </c:pt>
                <c:pt idx="249">
                  <c:v>214.7</c:v>
                </c:pt>
                <c:pt idx="250">
                  <c:v>201.8</c:v>
                </c:pt>
                <c:pt idx="251">
                  <c:v>217.4</c:v>
                </c:pt>
                <c:pt idx="252">
                  <c:v>217.4</c:v>
                </c:pt>
                <c:pt idx="253">
                  <c:v>201.8</c:v>
                </c:pt>
                <c:pt idx="254">
                  <c:v>192.7</c:v>
                </c:pt>
                <c:pt idx="255">
                  <c:v>191.7</c:v>
                </c:pt>
                <c:pt idx="256">
                  <c:v>180.7</c:v>
                </c:pt>
                <c:pt idx="257">
                  <c:v>189.9</c:v>
                </c:pt>
                <c:pt idx="258">
                  <c:v>171.6</c:v>
                </c:pt>
                <c:pt idx="259">
                  <c:v>167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"/>
          <c:min val="0"/>
        </c:scaling>
        <c:delete val="0"/>
        <c:axPos val="l"/>
        <c:majorGridlines>
          <c:spPr>
            <a:ln w="6350" cap="flat">
              <a:solidFill>
                <a:srgbClr val="E3E0DC"/>
              </a:solidFill>
              <a:prstDash val="solid"/>
              <a:round/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Mgmt. guide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0.3</c:v>
                </c:pt>
                <c:pt idx="7">
                  <c:v>0.3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93A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A1C5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535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Light</c:v>
                  </c:pt>
                  <c:pt idx="1">
                    <c:v>Heavy</c:v>
                  </c:pt>
                  <c:pt idx="2">
                    <c:v>Blended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0.417</c:v>
                </c:pt>
                <c:pt idx="1">
                  <c:v>0.25</c:v>
                </c:pt>
                <c:pt idx="2">
                  <c:v>0.306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 Vernova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116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Siemens Energy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37</c:v>
                </c:pt>
                <c:pt idx="1">
                  <c:v>69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Mitsubishi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</c:v>
                </c:pt>
                <c:pt idx="1">
                  <c:v>35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 inventory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A1C58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DCD8D3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Depreciated leasing stock</c:v>
                </c:pt>
                <c:pt idx="1">
                  <c:v>Everything else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</c:v>
                </c:pt>
                <c:pt idx="1">
                  <c:v>92</c:v>
                </c:pt>
              </c:numCache>
            </c:numRef>
          </c:val>
        </c:ser>
        <c:firstSliceAng val="0"/>
        <c:holeSize val="6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</c:v>
                </c:pt>
                <c:pt idx="1">
                  <c:v>0.299</c:v>
                </c:pt>
                <c:pt idx="2">
                  <c:v>0.285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0.301</c:v>
                </c:pt>
                <c:pt idx="4">
                  <c:v>0.299</c:v>
                </c:pt>
                <c:pt idx="5">
                  <c:v>0.307</c:v>
                </c:pt>
                <c:pt idx="6">
                  <c:v>0.314</c:v>
                </c:pt>
                <c:pt idx="7">
                  <c:v>0.32</c:v>
                </c:pt>
                <c:pt idx="8">
                  <c:v>0.325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OEM list price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107</c:v>
                </c:pt>
                <c:pt idx="2">
                  <c:v>114</c:v>
                </c:pt>
                <c:pt idx="3">
                  <c:v>121.9</c:v>
                </c:pt>
                <c:pt idx="4">
                  <c:v>130.5</c:v>
                </c:pt>
                <c:pt idx="5">
                  <c:v>139.6</c:v>
                </c:pt>
                <c:pt idx="6">
                  <c:v>149.4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FTAI price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100</c:v>
                </c:pt>
                <c:pt idx="2">
                  <c:v>103.3</c:v>
                </c:pt>
                <c:pt idx="3">
                  <c:v>106.9</c:v>
                </c:pt>
                <c:pt idx="4">
                  <c:v>110.6</c:v>
                </c:pt>
                <c:pt idx="5">
                  <c:v>114.5</c:v>
                </c:pt>
                <c:pt idx="6">
                  <c:v>118.5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"/>
          <c:min val="9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Trough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/>
                </c:pt>
                <c:pt idx="1">
                  <c:v>876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 / module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887</c:v>
                </c:pt>
                <c:pt idx="1">
                  <c:v/>
                </c:pt>
                <c:pt idx="2">
                  <c:v>913</c:v>
                </c:pt>
                <c:pt idx="3">
                  <c:v>969</c:v>
                </c:pt>
                <c:pt idx="4">
                  <c:v>1027</c:v>
                </c:pt>
                <c:pt idx="5">
                  <c:v>1084</c:v>
                </c:pt>
                <c:pt idx="6">
                  <c:v>1139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Second visits (heaviest)</c:v>
                </c:pt>
              </c:strCache>
            </c:strRef>
          </c:tx>
          <c:spPr>
            <a:solidFill>
              <a:srgbClr val="0A1C58"/>
            </a:solidFill>
            <a:ln w="4445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842</c:v>
                </c:pt>
                <c:pt idx="1">
                  <c:v>891</c:v>
                </c:pt>
                <c:pt idx="2">
                  <c:v>914</c:v>
                </c:pt>
                <c:pt idx="3">
                  <c:v>908</c:v>
                </c:pt>
                <c:pt idx="4">
                  <c:v>874</c:v>
                </c:pt>
                <c:pt idx="5">
                  <c:v>832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Third+ visits (late life, lighter)</c:v>
                </c:pt>
              </c:strCache>
            </c:strRef>
          </c:tx>
          <c:spPr>
            <a:solidFill>
              <a:srgbClr val="2E93AE"/>
            </a:solidFill>
            <a:ln w="4445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532</c:v>
                </c:pt>
                <c:pt idx="1">
                  <c:v>597</c:v>
                </c:pt>
                <c:pt idx="2">
                  <c:v>641</c:v>
                </c:pt>
                <c:pt idx="3">
                  <c:v>679</c:v>
                </c:pt>
                <c:pt idx="4">
                  <c:v>700</c:v>
                </c:pt>
                <c:pt idx="5">
                  <c:v>720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Second trend</c:v>
                </c:pt>
              </c:strCache>
            </c:strRef>
          </c:tx>
          <c:spPr>
            <a:solidFill>
              <a:srgbClr val="0A1C58"/>
            </a:solidFill>
            <a:ln w="31750" cap="flat">
              <a:solidFill>
                <a:srgbClr val="0A1C5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93AE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832</c:v>
                </c:pt>
                <c:pt idx="6">
                  <c:v>790</c:v>
                </c:pt>
                <c:pt idx="7">
                  <c:v>748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Third+ trend</c:v>
                </c:pt>
              </c:strCache>
            </c:strRef>
          </c:tx>
          <c:spPr>
            <a:solidFill>
              <a:srgbClr val="2E93AE"/>
            </a:solidFill>
            <a:ln w="31750" cap="flat">
              <a:solidFill>
                <a:srgbClr val="2E93AE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720</c:v>
                </c:pt>
                <c:pt idx="6">
                  <c:v>740</c:v>
                </c:pt>
                <c:pt idx="7">
                  <c:v>760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"/>
          <c:min val="4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Blended margin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30%</c:v>
                  </c:pt>
                  <c:pt idx="1">
                    <c:v>40%</c:v>
                  </c:pt>
                  <c:pt idx="2">
                    <c:v>50%</c:v>
                  </c:pt>
                  <c:pt idx="3">
                    <c:v>60%</c:v>
                  </c:pt>
                  <c:pt idx="4">
                    <c:v>70%</c:v>
                  </c:pt>
                  <c:pt idx="5">
                    <c:v>80%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0.279</c:v>
                </c:pt>
                <c:pt idx="1">
                  <c:v>0.292</c:v>
                </c:pt>
                <c:pt idx="2">
                  <c:v>0.306</c:v>
                </c:pt>
                <c:pt idx="3">
                  <c:v>0.321</c:v>
                </c:pt>
                <c:pt idx="4">
                  <c:v>0.34</c:v>
                </c:pt>
                <c:pt idx="5">
                  <c:v>0.361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9"/>
          <c:min val="0.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adoption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847C7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</c:v>
                </c:pt>
                <c:pt idx="1">
                  <c:v>3</c:v>
                </c:pt>
                <c:pt idx="2">
                  <c:v>5</c:v>
                </c:pt>
                <c:pt idx="3">
                  <c:v>7</c:v>
                </c:pt>
                <c:pt idx="4">
                  <c:v>9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1" i="0" strike="noStrike" sz="1100" u="none">
                  <a:solidFill>
                    <a:srgbClr val="847C7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EBITDA uplift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&quot;$&quot;0&quot;M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24</c:v>
                </c:pt>
                <c:pt idx="2">
                  <c:v>42</c:v>
                </c:pt>
                <c:pt idx="3">
                  <c:v>59</c:v>
                </c:pt>
                <c:pt idx="4">
                  <c:v>77</c:v>
                </c:pt>
              </c:numCache>
            </c:numRef>
          </c:val>
        </c:ser>
        <c:dLbls>
          <c:numFmt formatCode="&quot;$&quot;0&quot;M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 EBITDA ($M)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1132</c:v>
                </c:pt>
                <c:pt idx="1">
                  <c:v>1225</c:v>
                </c:pt>
                <c:pt idx="2">
                  <c:v>1318</c:v>
                </c:pt>
                <c:pt idx="3">
                  <c:v>1411</c:v>
                </c:pt>
                <c:pt idx="4">
                  <c:v>1504</c:v>
                </c:pt>
                <c:pt idx="5">
                  <c:v>1597</c:v>
                </c:pt>
              </c:numCache>
            </c:numRef>
          </c:val>
          <c:smooth val="0"/>
        </c:ser>
        <c:dLbls>
          <c:numFmt formatCode="&quot;$&quot;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0"/>
          <c:min val="1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Pre-COVID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</c:v>
                </c:pt>
                <c:pt idx="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 (low)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/>
                </c:pt>
                <c:pt idx="1">
                  <c:v>90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Today (range)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/>
                </c:pt>
                <c:pt idx="1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CFM56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0.68</c:v>
                </c:pt>
                <c:pt idx="1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LEAP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0.32</c:v>
                </c:pt>
                <c:pt idx="1">
                  <c:v>0.51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Output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757</c:v>
                </c:pt>
                <c:pt idx="1">
                  <c:v>1200</c:v>
                </c:pt>
                <c:pt idx="2">
                  <c:v>1700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Unused capacity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/>
                </c:pt>
                <c:pt idx="1">
                  <c:v>1800</c:v>
                </c:pt>
                <c:pt idx="2">
                  <c:v>1300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0.04</c:v>
                </c:pt>
                <c:pt idx="1">
                  <c:v>0.08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>0.124</c:v>
                </c:pt>
                <c:pt idx="3">
                  <c:v>0.168</c:v>
                </c:pt>
                <c:pt idx="4">
                  <c:v>0.19</c:v>
                </c:pt>
                <c:pt idx="5">
                  <c:v>0.195</c:v>
                </c:pt>
                <c:pt idx="6">
                  <c:v>0.2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Third-party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675</c:v>
                </c:pt>
                <c:pt idx="1">
                  <c:v>866</c:v>
                </c:pt>
                <c:pt idx="2">
                  <c:v>1206</c:v>
                </c:pt>
                <c:pt idx="3">
                  <c:v>1321</c:v>
                </c:pt>
                <c:pt idx="4">
                  <c:v>1298</c:v>
                </c:pt>
                <c:pt idx="5">
                  <c:v>1272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SCI (contracted)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82</c:v>
                </c:pt>
                <c:pt idx="1">
                  <c:v>328</c:v>
                </c:pt>
                <c:pt idx="2">
                  <c:v>482</c:v>
                </c:pt>
                <c:pt idx="3">
                  <c:v>660</c:v>
                </c:pt>
                <c:pt idx="4">
                  <c:v>780</c:v>
                </c:pt>
                <c:pt idx="5">
                  <c:v>840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Your 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0.66</c:v>
                </c:pt>
                <c:pt idx="1">
                  <c:v>0.74</c:v>
                </c:pt>
                <c:pt idx="2">
                  <c:v>0.83</c:v>
                </c:pt>
                <c:pt idx="3">
                  <c:v>0.92</c:v>
                </c:pt>
                <c:pt idx="4">
                  <c:v/>
                </c:pt>
                <c:pt idx="5">
                  <c:v>1.09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Matches CFM56 share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1.01</c:v>
                </c:pt>
                <c:pt idx="5">
                  <c:v/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</c:v>
                </c:pt>
                <c:pt idx="1">
                  <c:v>95</c:v>
                </c:pt>
                <c:pt idx="2">
                  <c:v>128</c:v>
                </c:pt>
                <c:pt idx="3">
                  <c:v>151</c:v>
                </c:pt>
                <c:pt idx="4">
                  <c:v>147</c:v>
                </c:pt>
                <c:pt idx="5">
                  <c:v>228</c:v>
                </c:pt>
                <c:pt idx="6">
                  <c:v>376</c:v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Guided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733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Shortfall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;;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8.4</c:v>
                </c:pt>
                <c:pt idx="4">
                  <c:v>27.2</c:v>
                </c:pt>
                <c:pt idx="5">
                  <c:v>47.2</c:v>
                </c:pt>
              </c:numCache>
            </c:numRef>
          </c:val>
        </c:ser>
        <c:dLbls>
          <c:numFmt formatCode="0.0;;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2029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1.8</c:v>
                </c:pt>
                <c:pt idx="1">
                  <c:v>5.7</c:v>
                </c:pt>
                <c:pt idx="2">
                  <c:v>3.3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2029 or later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3.1</c:v>
                </c:pt>
                <c:pt idx="4">
                  <c:v>2.2</c:v>
                </c:pt>
                <c:pt idx="5">
                  <c:v>6.2</c:v>
                </c:pt>
                <c:pt idx="6">
                  <c:v>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0.35</c:v>
                </c:pt>
                <c:pt idx="1">
                  <c:v>0.66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Upside scenarios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0.86</c:v>
                </c:pt>
                <c:pt idx="3">
                  <c:v>1.07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Margins + share only</c:v>
                  </c:pt>
                  <c:pt idx="1">
                    <c:v>Power only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0.33</c:v>
                </c:pt>
                <c:pt idx="1">
                  <c:v>0.36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5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167</c:v>
                </c:pt>
                <c:pt idx="2">
                  <c:v>184.9</c:v>
                </c:pt>
                <c:pt idx="3">
                  <c:v>219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167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Theses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17.8</c:v>
                </c:pt>
                <c:pt idx="2">
                  <c:v>34.2</c:v>
                </c:pt>
                <c:pt idx="3">
                  <c:v>57.6</c:v>
                </c:pt>
                <c:pt idx="4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Base case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276.6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09" y="868680"/>
            <a:ext cx="11338277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9847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4809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 Sub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09" y="868680"/>
            <a:ext cx="11338277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9847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4809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3" Type="http://schemas.openxmlformats.org/officeDocument/2006/relationships/image" Target="../media/image-1-2.jpe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FTAI Aviation</a:t>
            </a:r>
            <a:endParaRPr lang="en-US" sz="3400" dirty="0"/>
          </a:p>
          <a:p>
            <a:pPr indent="0" marL="0">
              <a:buNone/>
            </a:pPr>
            <a:r>
              <a:rPr lang="en-US" sz="3000" dirty="0">
                <a:solidFill>
                  <a:schemeClr val="tx2"/>
                </a:solidFill>
              </a:rPr>
              <a:t>(NASDAQ: FTAI)</a:t>
            </a:r>
            <a:endParaRPr lang="en-US" sz="34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Recommendation"/>
          <p:cNvSpPr txBox="1"/>
          <p:nvPr/>
        </p:nvSpPr>
        <p:spPr>
          <a:xfrm>
            <a:off x="731502" y="1508760"/>
            <a:ext cx="853418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Long Recommendation</a:t>
            </a:r>
            <a:endParaRPr lang="en-US" sz="2800" dirty="0"/>
          </a:p>
        </p:txBody>
      </p:sp>
      <p:graphicFrame>
        <p:nvGraphicFramePr>
          <p:cNvPr id="5" name="Share price chart" descr=""/>
          <p:cNvGraphicFramePr/>
          <p:nvPr/>
        </p:nvGraphicFramePr>
        <p:xfrm>
          <a:off x="731502" y="2011680"/>
          <a:ext cx="7315017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Event 1 dot"/>
          <p:cNvSpPr/>
          <p:nvPr/>
        </p:nvSpPr>
        <p:spPr>
          <a:xfrm>
            <a:off x="5599340" y="3210667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Event 1 label"/>
          <p:cNvSpPr txBox="1"/>
          <p:nvPr/>
        </p:nvSpPr>
        <p:spPr>
          <a:xfrm>
            <a:off x="5748690" y="3366115"/>
            <a:ext cx="13410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Short report</a:t>
            </a:r>
            <a:endParaRPr lang="en-US" sz="1000" dirty="0"/>
          </a:p>
        </p:txBody>
      </p:sp>
      <p:sp>
        <p:nvSpPr>
          <p:cNvPr id="8" name="Event 2 dot"/>
          <p:cNvSpPr/>
          <p:nvPr/>
        </p:nvSpPr>
        <p:spPr>
          <a:xfrm>
            <a:off x="7404088" y="2546292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Event 2 label"/>
          <p:cNvSpPr txBox="1"/>
          <p:nvPr/>
        </p:nvSpPr>
        <p:spPr>
          <a:xfrm>
            <a:off x="6614677" y="1951932"/>
            <a:ext cx="13410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1Q26 reset</a:t>
            </a:r>
            <a:endParaRPr lang="en-US" sz="1000" dirty="0"/>
          </a:p>
        </p:txBody>
      </p:sp>
      <p:sp>
        <p:nvSpPr>
          <p:cNvPr id="10" name="Stat 1 value"/>
          <p:cNvSpPr txBox="1"/>
          <p:nvPr/>
        </p:nvSpPr>
        <p:spPr>
          <a:xfrm>
            <a:off x="8351311" y="2103120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$167</a:t>
            </a:r>
            <a:endParaRPr lang="en-US" sz="3000" dirty="0"/>
          </a:p>
        </p:txBody>
      </p:sp>
      <p:sp>
        <p:nvSpPr>
          <p:cNvPr id="11" name="Stat 1 label"/>
          <p:cNvSpPr txBox="1"/>
          <p:nvPr/>
        </p:nvSpPr>
        <p:spPr>
          <a:xfrm>
            <a:off x="8351311" y="2679192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Current Price</a:t>
            </a:r>
            <a:endParaRPr lang="en-US" sz="1200" dirty="0"/>
          </a:p>
        </p:txBody>
      </p:sp>
      <p:sp>
        <p:nvSpPr>
          <p:cNvPr id="12" name="Stat 2 value"/>
          <p:cNvSpPr txBox="1"/>
          <p:nvPr/>
        </p:nvSpPr>
        <p:spPr>
          <a:xfrm>
            <a:off x="10082532" y="2103120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$277</a:t>
            </a:r>
            <a:endParaRPr lang="en-US" sz="3000" dirty="0"/>
          </a:p>
        </p:txBody>
      </p:sp>
      <p:sp>
        <p:nvSpPr>
          <p:cNvPr id="13" name="Stat 2 label"/>
          <p:cNvSpPr txBox="1"/>
          <p:nvPr/>
        </p:nvSpPr>
        <p:spPr>
          <a:xfrm>
            <a:off x="10082532" y="2679192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Target Price</a:t>
            </a:r>
            <a:endParaRPr lang="en-US" sz="1200" dirty="0"/>
          </a:p>
        </p:txBody>
      </p:sp>
      <p:sp>
        <p:nvSpPr>
          <p:cNvPr id="14" name="Stat 3 value"/>
          <p:cNvSpPr txBox="1"/>
          <p:nvPr/>
        </p:nvSpPr>
        <p:spPr>
          <a:xfrm>
            <a:off x="8351311" y="3090672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66%</a:t>
            </a:r>
            <a:endParaRPr lang="en-US" sz="3000" dirty="0"/>
          </a:p>
        </p:txBody>
      </p:sp>
      <p:sp>
        <p:nvSpPr>
          <p:cNvPr id="15" name="Stat 3 label"/>
          <p:cNvSpPr txBox="1"/>
          <p:nvPr/>
        </p:nvSpPr>
        <p:spPr>
          <a:xfrm>
            <a:off x="8351311" y="3666744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Upside</a:t>
            </a:r>
            <a:endParaRPr lang="en-US" sz="1200" dirty="0"/>
          </a:p>
        </p:txBody>
      </p:sp>
      <p:sp>
        <p:nvSpPr>
          <p:cNvPr id="16" name="Stat 4 value"/>
          <p:cNvSpPr txBox="1"/>
          <p:nvPr/>
        </p:nvSpPr>
        <p:spPr>
          <a:xfrm>
            <a:off x="10082532" y="3090672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2.7x</a:t>
            </a:r>
            <a:endParaRPr lang="en-US" sz="3000" dirty="0"/>
          </a:p>
        </p:txBody>
      </p:sp>
      <p:sp>
        <p:nvSpPr>
          <p:cNvPr id="17" name="Stat 4 label"/>
          <p:cNvSpPr txBox="1"/>
          <p:nvPr/>
        </p:nvSpPr>
        <p:spPr>
          <a:xfrm>
            <a:off x="10082532" y="3666744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Reward / Risk</a:t>
            </a:r>
            <a:endParaRPr lang="en-US" sz="1200" dirty="0"/>
          </a:p>
        </p:txBody>
      </p:sp>
      <p:sp>
        <p:nvSpPr>
          <p:cNvPr id="18" name="Stat divider v"/>
          <p:cNvSpPr/>
          <p:nvPr/>
        </p:nvSpPr>
        <p:spPr>
          <a:xfrm>
            <a:off x="10082532" y="2148840"/>
            <a:ext cx="0" cy="178308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9" name="Stat divider h"/>
          <p:cNvSpPr/>
          <p:nvPr/>
        </p:nvSpPr>
        <p:spPr>
          <a:xfrm>
            <a:off x="8473228" y="3044952"/>
            <a:ext cx="3169841" cy="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20" name="Quote"/>
          <p:cNvSpPr txBox="1"/>
          <p:nvPr/>
        </p:nvSpPr>
        <p:spPr>
          <a:xfrm>
            <a:off x="548626" y="4206240"/>
            <a:ext cx="11094443" cy="73152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“Be fearful when others are greedy and greedy when others are fearful.”</a:t>
            </a:r>
            <a:endParaRPr lang="en-US" sz="1900" dirty="0"/>
          </a:p>
        </p:txBody>
      </p:sp>
      <p:sp>
        <p:nvSpPr>
          <p:cNvPr id="21" name="Quote attribution"/>
          <p:cNvSpPr txBox="1"/>
          <p:nvPr/>
        </p:nvSpPr>
        <p:spPr>
          <a:xfrm>
            <a:off x="548626" y="5029200"/>
            <a:ext cx="11094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A1A1A"/>
                </a:solidFill>
              </a:rPr>
              <a:t>— Warren Buffett</a:t>
            </a:r>
            <a:endParaRPr lang="en-US" sz="1900" dirty="0"/>
          </a:p>
        </p:txBody>
      </p:sp>
      <p:sp>
        <p:nvSpPr>
          <p:cNvPr id="22" name="Pitch details"/>
          <p:cNvSpPr txBox="1"/>
          <p:nvPr/>
        </p:nvSpPr>
        <p:spPr>
          <a:xfrm>
            <a:off x="731502" y="5760720"/>
            <a:ext cx="633968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Date: October 2026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Current Price: $167.03 (10/2/26)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Target Price: $277 (66% upside, 2.7x R/R)</a:t>
            </a:r>
            <a:endParaRPr lang="en-US" sz="1500" dirty="0"/>
          </a:p>
        </p:txBody>
      </p:sp>
      <p:pic>
        <p:nvPicPr>
          <p:cNvPr id="23" name="GPS logo" descr="/home/user/SPOT/deck/gps_logo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24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25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keeps the world's best-selling jet engine flying, and turns old ones into power.</a:t>
            </a:r>
            <a:endParaRPr lang="en-US" sz="1700" dirty="0"/>
          </a:p>
        </p:txBody>
      </p:sp>
      <p:pic>
        <p:nvPicPr>
          <p:cNvPr id="4" name="Aerospace Products illustration" descr="/home/user/SPOT/deck/img/cfm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785" y="1600200"/>
            <a:ext cx="2377440" cy="1344168"/>
          </a:xfrm>
          <a:prstGeom prst="rect">
            <a:avLst/>
          </a:prstGeom>
        </p:spPr>
      </p:pic>
      <p:sp>
        <p:nvSpPr>
          <p:cNvPr id="5" name="Aerospace Products name"/>
          <p:cNvSpPr txBox="1"/>
          <p:nvPr/>
        </p:nvSpPr>
        <p:spPr>
          <a:xfrm>
            <a:off x="426709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Aerospace Products</a:t>
            </a:r>
            <a:endParaRPr lang="en-US" sz="1800" dirty="0"/>
          </a:p>
        </p:txBody>
      </p:sp>
      <p:sp>
        <p:nvSpPr>
          <p:cNvPr id="6" name="Aerospace Products description"/>
          <p:cNvSpPr txBox="1"/>
          <p:nvPr/>
        </p:nvSpPr>
        <p:spPr>
          <a:xfrm>
            <a:off x="426709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Restores and swaps CFM56 engine modules, so airlines get engines back in days, not months.</a:t>
            </a:r>
            <a:endParaRPr lang="en-US" sz="1300" dirty="0"/>
          </a:p>
        </p:txBody>
      </p:sp>
      <p:sp>
        <p:nvSpPr>
          <p:cNvPr id="7" name="Aerospace Products stat"/>
          <p:cNvSpPr txBox="1"/>
          <p:nvPr/>
        </p:nvSpPr>
        <p:spPr>
          <a:xfrm>
            <a:off x="670543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757 → 1,200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Modules, 2025 → 2026E</a:t>
            </a:r>
            <a:endParaRPr lang="en-US" sz="2200" dirty="0"/>
          </a:p>
        </p:txBody>
      </p:sp>
      <p:pic>
        <p:nvPicPr>
          <p:cNvPr id="8" name="FTAI Power illustration" descr="/home/user/SPOT/deck/img/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128" y="1600200"/>
            <a:ext cx="2377440" cy="1344168"/>
          </a:xfrm>
          <a:prstGeom prst="rect">
            <a:avLst/>
          </a:prstGeom>
        </p:spPr>
      </p:pic>
      <p:sp>
        <p:nvSpPr>
          <p:cNvPr id="9" name="FTAI Power name"/>
          <p:cNvSpPr txBox="1"/>
          <p:nvPr/>
        </p:nvSpPr>
        <p:spPr>
          <a:xfrm>
            <a:off x="4328052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FTAI Power</a:t>
            </a:r>
            <a:endParaRPr lang="en-US" sz="1800" dirty="0"/>
          </a:p>
        </p:txBody>
      </p:sp>
      <p:sp>
        <p:nvSpPr>
          <p:cNvPr id="10" name="FTAI Power description"/>
          <p:cNvSpPr txBox="1"/>
          <p:nvPr/>
        </p:nvSpPr>
        <p:spPr>
          <a:xfrm>
            <a:off x="4328052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Converts CFM56 cores into 25 MW mobile gas turbines that power data centers.</a:t>
            </a:r>
            <a:endParaRPr lang="en-US" sz="1300" dirty="0"/>
          </a:p>
        </p:txBody>
      </p:sp>
      <p:sp>
        <p:nvSpPr>
          <p:cNvPr id="11" name="FTAI Power stat"/>
          <p:cNvSpPr txBox="1"/>
          <p:nvPr/>
        </p:nvSpPr>
        <p:spPr>
          <a:xfrm>
            <a:off x="4571886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$450–750M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FY27 EBITDA guide</a:t>
            </a:r>
            <a:endParaRPr lang="en-US" sz="2200" dirty="0"/>
          </a:p>
        </p:txBody>
      </p:sp>
      <p:sp>
        <p:nvSpPr>
          <p:cNvPr id="12" name="Column divider 1"/>
          <p:cNvSpPr/>
          <p:nvPr/>
        </p:nvSpPr>
        <p:spPr>
          <a:xfrm>
            <a:off x="4145176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pic>
        <p:nvPicPr>
          <p:cNvPr id="13" name="Leasing + SCI illustration" descr="/home/user/SPOT/deck/img/aircraf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8470" y="1600200"/>
            <a:ext cx="2377440" cy="1344168"/>
          </a:xfrm>
          <a:prstGeom prst="rect">
            <a:avLst/>
          </a:prstGeom>
        </p:spPr>
      </p:pic>
      <p:sp>
        <p:nvSpPr>
          <p:cNvPr id="14" name="Leasing + SCI name"/>
          <p:cNvSpPr txBox="1"/>
          <p:nvPr/>
        </p:nvSpPr>
        <p:spPr>
          <a:xfrm>
            <a:off x="8229394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Leasing + SCI</a:t>
            </a:r>
            <a:endParaRPr lang="en-US" sz="1800" dirty="0"/>
          </a:p>
        </p:txBody>
      </p:sp>
      <p:sp>
        <p:nvSpPr>
          <p:cNvPr id="15" name="Leasing + SCI description"/>
          <p:cNvSpPr txBox="1"/>
          <p:nvPr/>
        </p:nvSpPr>
        <p:spPr>
          <a:xfrm>
            <a:off x="8229394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Leases jets and engines. The SCI partnership buys mid-life jets and sends all engine work to FTAI.</a:t>
            </a:r>
            <a:endParaRPr lang="en-US" sz="1300" dirty="0"/>
          </a:p>
        </p:txBody>
      </p:sp>
      <p:sp>
        <p:nvSpPr>
          <p:cNvPr id="16" name="Leasing + SCI stat"/>
          <p:cNvSpPr txBox="1"/>
          <p:nvPr/>
        </p:nvSpPr>
        <p:spPr>
          <a:xfrm>
            <a:off x="8473228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316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aircraft, YE26E</a:t>
            </a:r>
            <a:endParaRPr lang="en-US" sz="2200" dirty="0"/>
          </a:p>
        </p:txBody>
      </p:sp>
      <p:sp>
        <p:nvSpPr>
          <p:cNvPr id="17" name="Column divider 2"/>
          <p:cNvSpPr/>
          <p:nvPr/>
        </p:nvSpPr>
        <p:spPr>
          <a:xfrm>
            <a:off x="8046519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One engine, three ways to earn: fix it, power with it, and own the planes it flies 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calls. Illustrations are schematic.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swaps worn modules for restored ones from its own pool, so airlines skip the shop queue.</a:t>
            </a:r>
            <a:endParaRPr lang="en-US" sz="1700" dirty="0"/>
          </a:p>
        </p:txBody>
      </p:sp>
      <p:sp>
        <p:nvSpPr>
          <p:cNvPr id="4" name="Loop header"/>
          <p:cNvSpPr txBox="1"/>
          <p:nvPr/>
        </p:nvSpPr>
        <p:spPr>
          <a:xfrm>
            <a:off x="426709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How an Exchange Works</a:t>
            </a:r>
            <a:endParaRPr lang="en-US" sz="1600" dirty="0"/>
          </a:p>
        </p:txBody>
      </p:sp>
      <p:sp>
        <p:nvSpPr>
          <p:cNvPr id="5" name="Loop header rule"/>
          <p:cNvSpPr/>
          <p:nvPr/>
        </p:nvSpPr>
        <p:spPr>
          <a:xfrm>
            <a:off x="426709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Loop ring"/>
          <p:cNvSpPr/>
          <p:nvPr/>
        </p:nvSpPr>
        <p:spPr>
          <a:xfrm>
            <a:off x="1219170" y="2514600"/>
            <a:ext cx="3657509" cy="2231136"/>
          </a:xfrm>
          <a:prstGeom prst="ellipse">
            <a:avLst/>
          </a:prstGeom>
          <a:ln w="38100">
            <a:solidFill>
              <a:srgbClr val="2E93AE"/>
            </a:solidFill>
            <a:prstDash val="solid"/>
          </a:ln>
        </p:spPr>
      </p:sp>
      <p:sp>
        <p:nvSpPr>
          <p:cNvPr id="7" name="Loop arrow 1"/>
          <p:cNvSpPr/>
          <p:nvPr/>
        </p:nvSpPr>
        <p:spPr>
          <a:xfrm rot="8100000">
            <a:off x="4194748" y="2731614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8" name="Loop arrow 2"/>
          <p:cNvSpPr/>
          <p:nvPr/>
        </p:nvSpPr>
        <p:spPr>
          <a:xfrm rot="13500000">
            <a:off x="4194748" y="4309266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9" name="Loop arrow 3"/>
          <p:cNvSpPr/>
          <p:nvPr/>
        </p:nvSpPr>
        <p:spPr>
          <a:xfrm rot="18900000">
            <a:off x="1608499" y="4309266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0" name="Loop arrow 4"/>
          <p:cNvSpPr/>
          <p:nvPr/>
        </p:nvSpPr>
        <p:spPr>
          <a:xfrm rot="2700000">
            <a:off x="1608499" y="2731614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1" name="Module pool"/>
          <p:cNvSpPr/>
          <p:nvPr/>
        </p:nvSpPr>
        <p:spPr>
          <a:xfrm>
            <a:off x="2545004" y="3127248"/>
            <a:ext cx="1005840" cy="100584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Module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pool</a:t>
            </a:r>
            <a:endParaRPr lang="en-US" sz="1300" dirty="0"/>
          </a:p>
        </p:txBody>
      </p:sp>
      <p:sp>
        <p:nvSpPr>
          <p:cNvPr id="12" name="Loop step 1"/>
          <p:cNvSpPr txBox="1"/>
          <p:nvPr/>
        </p:nvSpPr>
        <p:spPr>
          <a:xfrm>
            <a:off x="2243272" y="2148840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needs a shop visit</a:t>
            </a:r>
            <a:endParaRPr lang="en-US" sz="1200" dirty="0"/>
          </a:p>
        </p:txBody>
      </p:sp>
      <p:sp>
        <p:nvSpPr>
          <p:cNvPr id="13" name="Loop step 1 number"/>
          <p:cNvSpPr/>
          <p:nvPr/>
        </p:nvSpPr>
        <p:spPr>
          <a:xfrm>
            <a:off x="2051249" y="1965960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Loop step 2"/>
          <p:cNvSpPr txBox="1"/>
          <p:nvPr/>
        </p:nvSpPr>
        <p:spPr>
          <a:xfrm>
            <a:off x="4072026" y="3264408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swaps in a restored module</a:t>
            </a:r>
            <a:endParaRPr lang="en-US" sz="1200" dirty="0"/>
          </a:p>
        </p:txBody>
      </p:sp>
      <p:sp>
        <p:nvSpPr>
          <p:cNvPr id="15" name="Loop step 2 number"/>
          <p:cNvSpPr/>
          <p:nvPr/>
        </p:nvSpPr>
        <p:spPr>
          <a:xfrm>
            <a:off x="3880003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Loop step 3"/>
          <p:cNvSpPr txBox="1"/>
          <p:nvPr/>
        </p:nvSpPr>
        <p:spPr>
          <a:xfrm>
            <a:off x="2243272" y="4379976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back in service in days</a:t>
            </a:r>
            <a:endParaRPr lang="en-US" sz="1200" dirty="0"/>
          </a:p>
        </p:txBody>
      </p:sp>
      <p:sp>
        <p:nvSpPr>
          <p:cNvPr id="17" name="Loop step 3 number"/>
          <p:cNvSpPr/>
          <p:nvPr/>
        </p:nvSpPr>
        <p:spPr>
          <a:xfrm>
            <a:off x="2051249" y="4197096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Loop step 4"/>
          <p:cNvSpPr txBox="1"/>
          <p:nvPr/>
        </p:nvSpPr>
        <p:spPr>
          <a:xfrm>
            <a:off x="414518" y="3264408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Worn module restored for the pool</a:t>
            </a:r>
            <a:endParaRPr lang="en-US" sz="1200" dirty="0"/>
          </a:p>
        </p:txBody>
      </p:sp>
      <p:sp>
        <p:nvSpPr>
          <p:cNvPr id="19" name="Loop step 4 number"/>
          <p:cNvSpPr/>
          <p:nvPr/>
        </p:nvSpPr>
        <p:spPr>
          <a:xfrm>
            <a:off x="222495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Factory header"/>
          <p:cNvSpPr txBox="1"/>
          <p:nvPr/>
        </p:nvSpPr>
        <p:spPr>
          <a:xfrm>
            <a:off x="6034889" y="1554480"/>
            <a:ext cx="57300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 Pays: The Module Factory</a:t>
            </a:r>
            <a:endParaRPr lang="en-US" sz="1600" dirty="0"/>
          </a:p>
        </p:txBody>
      </p:sp>
      <p:sp>
        <p:nvSpPr>
          <p:cNvPr id="21" name="Factory header rule"/>
          <p:cNvSpPr/>
          <p:nvPr/>
        </p:nvSpPr>
        <p:spPr>
          <a:xfrm>
            <a:off x="6034889" y="1975104"/>
            <a:ext cx="573009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22" name="Before label"/>
          <p:cNvSpPr txBox="1"/>
          <p:nvPr/>
        </p:nvSpPr>
        <p:spPr>
          <a:xfrm>
            <a:off x="6034889" y="2011680"/>
            <a:ext cx="25358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3 worn engines in</a:t>
            </a:r>
            <a:endParaRPr lang="en-US" sz="1300" dirty="0"/>
          </a:p>
        </p:txBody>
      </p:sp>
      <p:sp>
        <p:nvSpPr>
          <p:cNvPr id="23" name="Before engine 1 value"/>
          <p:cNvSpPr txBox="1"/>
          <p:nvPr/>
        </p:nvSpPr>
        <p:spPr>
          <a:xfrm>
            <a:off x="6034889" y="2395728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24" name="Before engine 1 module 1"/>
          <p:cNvSpPr/>
          <p:nvPr/>
        </p:nvSpPr>
        <p:spPr>
          <a:xfrm>
            <a:off x="6961458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25" name="Before engine 1 module 2"/>
          <p:cNvSpPr/>
          <p:nvPr/>
        </p:nvSpPr>
        <p:spPr>
          <a:xfrm>
            <a:off x="7522276" y="2395728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26" name="Before engine 1 module 3"/>
          <p:cNvSpPr/>
          <p:nvPr/>
        </p:nvSpPr>
        <p:spPr>
          <a:xfrm>
            <a:off x="8083094" y="2395728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7" name="Before engine 2 value"/>
          <p:cNvSpPr txBox="1"/>
          <p:nvPr/>
        </p:nvSpPr>
        <p:spPr>
          <a:xfrm>
            <a:off x="6034889" y="3108960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$2.5M</a:t>
            </a:r>
            <a:endParaRPr lang="en-US" sz="1400" dirty="0"/>
          </a:p>
        </p:txBody>
      </p:sp>
      <p:sp>
        <p:nvSpPr>
          <p:cNvPr id="28" name="Before engine 2 module 1"/>
          <p:cNvSpPr/>
          <p:nvPr/>
        </p:nvSpPr>
        <p:spPr>
          <a:xfrm>
            <a:off x="6961458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9" name="Before engine 2 module 2"/>
          <p:cNvSpPr/>
          <p:nvPr/>
        </p:nvSpPr>
        <p:spPr>
          <a:xfrm>
            <a:off x="7522276" y="3108960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0" name="Before engine 2 module 3"/>
          <p:cNvSpPr/>
          <p:nvPr/>
        </p:nvSpPr>
        <p:spPr>
          <a:xfrm>
            <a:off x="8083094" y="3108960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1" name="Before engine 3 value"/>
          <p:cNvSpPr txBox="1"/>
          <p:nvPr/>
        </p:nvSpPr>
        <p:spPr>
          <a:xfrm>
            <a:off x="6034889" y="3822192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32" name="Before engine 3 module 1"/>
          <p:cNvSpPr/>
          <p:nvPr/>
        </p:nvSpPr>
        <p:spPr>
          <a:xfrm>
            <a:off x="6961458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3" name="Before engine 3 module 2"/>
          <p:cNvSpPr/>
          <p:nvPr/>
        </p:nvSpPr>
        <p:spPr>
          <a:xfrm>
            <a:off x="7522276" y="3822192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34" name="Before engine 3 module 3"/>
          <p:cNvSpPr/>
          <p:nvPr/>
        </p:nvSpPr>
        <p:spPr>
          <a:xfrm>
            <a:off x="8083094" y="3822192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5" name="Before Fan caption"/>
          <p:cNvSpPr txBox="1"/>
          <p:nvPr/>
        </p:nvSpPr>
        <p:spPr>
          <a:xfrm>
            <a:off x="6900499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36" name="Before Core caption"/>
          <p:cNvSpPr txBox="1"/>
          <p:nvPr/>
        </p:nvSpPr>
        <p:spPr>
          <a:xfrm>
            <a:off x="7461317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37" name="Before LPT caption"/>
          <p:cNvSpPr txBox="1"/>
          <p:nvPr/>
        </p:nvSpPr>
        <p:spPr>
          <a:xfrm>
            <a:off x="8022135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38" name="After label"/>
          <p:cNvSpPr txBox="1"/>
          <p:nvPr/>
        </p:nvSpPr>
        <p:spPr>
          <a:xfrm>
            <a:off x="9229113" y="2011680"/>
            <a:ext cx="25358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Engines out</a:t>
            </a:r>
            <a:endParaRPr lang="en-US" sz="1300" dirty="0"/>
          </a:p>
        </p:txBody>
      </p:sp>
      <p:sp>
        <p:nvSpPr>
          <p:cNvPr id="39" name="After engine 1 value"/>
          <p:cNvSpPr txBox="1"/>
          <p:nvPr/>
        </p:nvSpPr>
        <p:spPr>
          <a:xfrm>
            <a:off x="9229113" y="2395728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$8.5M</a:t>
            </a:r>
            <a:endParaRPr lang="en-US" sz="1400" dirty="0"/>
          </a:p>
        </p:txBody>
      </p:sp>
      <p:sp>
        <p:nvSpPr>
          <p:cNvPr id="40" name="After engine 1 module 1"/>
          <p:cNvSpPr/>
          <p:nvPr/>
        </p:nvSpPr>
        <p:spPr>
          <a:xfrm>
            <a:off x="10155682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1" name="After engine 1 module 2"/>
          <p:cNvSpPr/>
          <p:nvPr/>
        </p:nvSpPr>
        <p:spPr>
          <a:xfrm>
            <a:off x="10716500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2" name="After engine 1 module 3"/>
          <p:cNvSpPr/>
          <p:nvPr/>
        </p:nvSpPr>
        <p:spPr>
          <a:xfrm>
            <a:off x="11277318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3" name="After engine 2 value"/>
          <p:cNvSpPr txBox="1"/>
          <p:nvPr/>
        </p:nvSpPr>
        <p:spPr>
          <a:xfrm>
            <a:off x="9229113" y="3108960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$6.0M</a:t>
            </a:r>
            <a:endParaRPr lang="en-US" sz="1400" dirty="0"/>
          </a:p>
        </p:txBody>
      </p:sp>
      <p:sp>
        <p:nvSpPr>
          <p:cNvPr id="44" name="After engine 2 module 1"/>
          <p:cNvSpPr/>
          <p:nvPr/>
        </p:nvSpPr>
        <p:spPr>
          <a:xfrm>
            <a:off x="10155682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5" name="After engine 2 module 2"/>
          <p:cNvSpPr/>
          <p:nvPr/>
        </p:nvSpPr>
        <p:spPr>
          <a:xfrm>
            <a:off x="10716500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6" name="After engine 2 module 3"/>
          <p:cNvSpPr/>
          <p:nvPr/>
        </p:nvSpPr>
        <p:spPr>
          <a:xfrm>
            <a:off x="11277318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7" name="After engine 3 value"/>
          <p:cNvSpPr txBox="1"/>
          <p:nvPr/>
        </p:nvSpPr>
        <p:spPr>
          <a:xfrm>
            <a:off x="9229113" y="3822192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$1.5M</a:t>
            </a:r>
            <a:endParaRPr lang="en-US" sz="1400" dirty="0"/>
          </a:p>
        </p:txBody>
      </p:sp>
      <p:sp>
        <p:nvSpPr>
          <p:cNvPr id="48" name="After engine 3 module 1"/>
          <p:cNvSpPr/>
          <p:nvPr/>
        </p:nvSpPr>
        <p:spPr>
          <a:xfrm>
            <a:off x="10155682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49" name="After engine 3 module 2"/>
          <p:cNvSpPr/>
          <p:nvPr/>
        </p:nvSpPr>
        <p:spPr>
          <a:xfrm>
            <a:off x="10716500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0" name="After engine 3 module 3"/>
          <p:cNvSpPr/>
          <p:nvPr/>
        </p:nvSpPr>
        <p:spPr>
          <a:xfrm>
            <a:off x="11277318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1" name="After Fan caption"/>
          <p:cNvSpPr txBox="1"/>
          <p:nvPr/>
        </p:nvSpPr>
        <p:spPr>
          <a:xfrm>
            <a:off x="10094724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52" name="After Core caption"/>
          <p:cNvSpPr txBox="1"/>
          <p:nvPr/>
        </p:nvSpPr>
        <p:spPr>
          <a:xfrm>
            <a:off x="10655542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53" name="After LPT caption"/>
          <p:cNvSpPr txBox="1"/>
          <p:nvPr/>
        </p:nvSpPr>
        <p:spPr>
          <a:xfrm>
            <a:off x="11216360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54" name="Factory arrow"/>
          <p:cNvSpPr/>
          <p:nvPr/>
        </p:nvSpPr>
        <p:spPr>
          <a:xfrm>
            <a:off x="8656104" y="3108960"/>
            <a:ext cx="487668" cy="329184"/>
          </a:xfrm>
          <a:prstGeom prst="rightArrow">
            <a:avLst/>
          </a:prstGeom>
          <a:solidFill>
            <a:srgbClr val="847C7A"/>
          </a:solidFill>
          <a:ln/>
        </p:spPr>
      </p:sp>
      <p:sp>
        <p:nvSpPr>
          <p:cNvPr id="55" name="Before total"/>
          <p:cNvSpPr txBox="1"/>
          <p:nvPr/>
        </p:nvSpPr>
        <p:spPr>
          <a:xfrm>
            <a:off x="6034889" y="4645152"/>
            <a:ext cx="2535873" cy="65836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$6.5M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engines + $3.5M of work</a:t>
            </a:r>
            <a:endParaRPr lang="en-US" sz="1800" dirty="0"/>
          </a:p>
        </p:txBody>
      </p:sp>
      <p:sp>
        <p:nvSpPr>
          <p:cNvPr id="56" name="After total"/>
          <p:cNvSpPr txBox="1"/>
          <p:nvPr/>
        </p:nvSpPr>
        <p:spPr>
          <a:xfrm>
            <a:off x="9229113" y="4645152"/>
            <a:ext cx="2535873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$16.0M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+$6.0M of value created</a:t>
            </a:r>
            <a:endParaRPr lang="en-US" sz="1800" dirty="0"/>
          </a:p>
        </p:txBody>
      </p:sp>
      <p:sp>
        <p:nvSpPr>
          <p:cNvPr id="5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FTAI sells speed to airlines and harvests cycles from engines no one else can use.</a:t>
            </a:r>
            <a:endParaRPr lang="en-US" sz="1700" dirty="0"/>
          </a:p>
        </p:txBody>
      </p:sp>
      <p:sp>
        <p:nvSpPr>
          <p:cNvPr id="5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investor materials (Module Factory example)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</a:t>
            </a:r>
            <a:endParaRPr lang="en-US" sz="3000" dirty="0"/>
          </a:p>
        </p:txBody>
      </p:sp>
      <p:sp>
        <p:nvSpPr>
          <p:cNvPr id="3" name="Point 1"/>
          <p:cNvSpPr txBox="1"/>
          <p:nvPr/>
        </p:nvSpPr>
        <p:spPr>
          <a:xfrm>
            <a:off x="2133547" y="1188720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1Q26 margins compressed 500 bps, and management guided EBITDA margins down from 40% to 30% for two years.</a:t>
            </a:r>
            <a:endParaRPr lang="en-US" sz="1500" dirty="0"/>
          </a:p>
        </p:txBody>
      </p:sp>
      <p:sp>
        <p:nvSpPr>
          <p:cNvPr id="4" name="Point 1 number"/>
          <p:cNvSpPr/>
          <p:nvPr/>
        </p:nvSpPr>
        <p:spPr>
          <a:xfrm>
            <a:off x="1638248" y="1211580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Point 2"/>
          <p:cNvSpPr txBox="1"/>
          <p:nvPr/>
        </p:nvSpPr>
        <p:spPr>
          <a:xfrm>
            <a:off x="2133547" y="2304288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fraud overhang from the 2025 short report leaves the market doubting this is the bottom: it still sees FTAI as over-earning.</a:t>
            </a:r>
            <a:endParaRPr lang="en-US" sz="1500" dirty="0"/>
          </a:p>
        </p:txBody>
      </p:sp>
      <p:sp>
        <p:nvSpPr>
          <p:cNvPr id="6" name="Point 2 number"/>
          <p:cNvSpPr/>
          <p:nvPr/>
        </p:nvSpPr>
        <p:spPr>
          <a:xfrm>
            <a:off x="1638248" y="2327148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</a:t>
            </a:r>
            <a:endParaRPr lang="en-US" sz="2600" dirty="0"/>
          </a:p>
        </p:txBody>
      </p:sp>
      <p:sp>
        <p:nvSpPr>
          <p:cNvPr id="7" name="Point 3"/>
          <p:cNvSpPr txBox="1"/>
          <p:nvPr/>
        </p:nvSpPr>
        <p:spPr>
          <a:xfrm>
            <a:off x="2133547" y="3419856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 believe FTAI has reached steady state: margins have bottomed and share gains will drive volume growth.</a:t>
            </a:r>
            <a:endParaRPr lang="en-US" sz="1500" dirty="0"/>
          </a:p>
        </p:txBody>
      </p:sp>
      <p:sp>
        <p:nvSpPr>
          <p:cNvPr id="8" name="Point 3 number"/>
          <p:cNvSpPr/>
          <p:nvPr/>
        </p:nvSpPr>
        <p:spPr>
          <a:xfrm>
            <a:off x="1638248" y="3442716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3</a:t>
            </a:r>
            <a:endParaRPr lang="en-US" sz="2600" dirty="0"/>
          </a:p>
        </p:txBody>
      </p:sp>
      <p:sp>
        <p:nvSpPr>
          <p:cNvPr id="9" name="Funnel"/>
          <p:cNvSpPr/>
          <p:nvPr/>
        </p:nvSpPr>
        <p:spPr>
          <a:xfrm flipV="1">
            <a:off x="1584920" y="4553712"/>
            <a:ext cx="9387605" cy="41148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0" name="Conclusion"/>
          <p:cNvSpPr txBox="1"/>
          <p:nvPr/>
        </p:nvSpPr>
        <p:spPr>
          <a:xfrm>
            <a:off x="1584920" y="5120640"/>
            <a:ext cx="9387605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is pricing a trough as a cliff. We see 66% upside, with Power as a free call option.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426709" y="6355080"/>
            <a:ext cx="73150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(1/3)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 one quarter, Aerospace margins fell ~470 bps, and management guided ~30% for two years.</a:t>
            </a:r>
            <a:endParaRPr lang="en-US" sz="1700" dirty="0"/>
          </a:p>
        </p:txBody>
      </p:sp>
      <p:sp>
        <p:nvSpPr>
          <p:cNvPr id="4" name="Margin chart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Aerospace Products Adj. EBITDA Margin</a:t>
            </a:r>
            <a:endParaRPr lang="en-US" sz="1600" dirty="0"/>
          </a:p>
        </p:txBody>
      </p:sp>
      <p:sp>
        <p:nvSpPr>
          <p:cNvPr id="5" name="Margin chart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Margin chart" descr=""/>
          <p:cNvGraphicFramePr/>
          <p:nvPr/>
        </p:nvGraphicFramePr>
        <p:xfrm>
          <a:off x="426709" y="2103120"/>
          <a:ext cx="701022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Guide label"/>
          <p:cNvSpPr txBox="1"/>
          <p:nvPr/>
        </p:nvSpPr>
        <p:spPr>
          <a:xfrm>
            <a:off x="5608180" y="2788920"/>
            <a:ext cx="1767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Mgmt. guide</a:t>
            </a:r>
            <a:endParaRPr lang="en-US" sz="1200" dirty="0"/>
          </a:p>
        </p:txBody>
      </p:sp>
      <p:sp>
        <p:nvSpPr>
          <p:cNvPr id="8" name="Compression callout"/>
          <p:cNvSpPr/>
          <p:nvPr/>
        </p:nvSpPr>
        <p:spPr>
          <a:xfrm>
            <a:off x="3657495" y="2103120"/>
            <a:ext cx="1097280" cy="10972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–470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bps q/q</a:t>
            </a:r>
            <a:endParaRPr lang="en-US" sz="2000" dirty="0"/>
          </a:p>
        </p:txBody>
      </p:sp>
      <p:sp>
        <p:nvSpPr>
          <p:cNvPr id="9" name="Mix chart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Management: “It's Mix”</a:t>
            </a:r>
            <a:endParaRPr lang="en-US" sz="1600" dirty="0"/>
          </a:p>
        </p:txBody>
      </p:sp>
      <p:sp>
        <p:nvSpPr>
          <p:cNvPr id="10" name="Mix chart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Mix chart" descr=""/>
          <p:cNvGraphicFramePr/>
          <p:nvPr/>
        </p:nvGraphicFramePr>
        <p:xfrm>
          <a:off x="7863643" y="2103120"/>
          <a:ext cx="3901342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Mix detail"/>
          <p:cNvSpPr txBox="1"/>
          <p:nvPr/>
        </p:nvSpPr>
        <p:spPr>
          <a:xfrm>
            <a:off x="7863643" y="4370832"/>
            <a:ext cx="39013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Light: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$6M sale, $2.5M profit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Heavy: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$12M sale, $3.0M profit</a:t>
            </a:r>
            <a:endParaRPr lang="en-US" sz="1200" dirty="0"/>
          </a:p>
        </p:txBody>
      </p:sp>
      <p:sp>
        <p:nvSpPr>
          <p:cNvPr id="13" name="Mix kicker"/>
          <p:cNvSpPr txBox="1"/>
          <p:nvPr/>
        </p:nvSpPr>
        <p:spPr>
          <a:xfrm>
            <a:off x="7863643" y="4983480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Lower margin, more dollars per job</a:t>
            </a:r>
            <a:endParaRPr lang="en-US" sz="1300" dirty="0"/>
          </a:p>
        </p:txBody>
      </p:sp>
      <p:sp>
        <p:nvSpPr>
          <p:cNvPr id="14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drop is real. Is ~30% the floor, or just a waypoint?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(2/3)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2025 short report gave the market a darker explanation, and it stuck.</a:t>
            </a:r>
            <a:endParaRPr lang="en-US" sz="1700" dirty="0"/>
          </a:p>
        </p:txBody>
      </p:sp>
      <p:sp>
        <p:nvSpPr>
          <p:cNvPr id="4" name="Fraud quote"/>
          <p:cNvSpPr txBox="1"/>
          <p:nvPr/>
        </p:nvSpPr>
        <p:spPr>
          <a:xfrm>
            <a:off x="426709" y="1481328"/>
            <a:ext cx="11338277" cy="54864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“Why are you looking at FTAI, isn't that a fraud?”</a:t>
            </a:r>
            <a:pPr algn="ctr" indent="0" marL="0">
              <a:buNone/>
            </a:pPr>
            <a:r>
              <a:rPr lang="en-US" sz="1300" i="1" dirty="0">
                <a:solidFill>
                  <a:srgbClr val="1A1A1A"/>
                </a:solidFill>
              </a:rPr>
              <a:t>   — Teddy Wallen, GPS '24</a:t>
            </a:r>
            <a:endParaRPr lang="en-US" sz="1600" dirty="0"/>
          </a:p>
        </p:txBody>
      </p:sp>
      <p:sp>
        <p:nvSpPr>
          <p:cNvPr id="5" name="Short thesis header"/>
          <p:cNvSpPr txBox="1"/>
          <p:nvPr/>
        </p:nvSpPr>
        <p:spPr>
          <a:xfrm>
            <a:off x="426709" y="2121408"/>
            <a:ext cx="6095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Short Thesis (Jan. 2025)</a:t>
            </a:r>
            <a:endParaRPr lang="en-US" sz="1600" dirty="0"/>
          </a:p>
        </p:txBody>
      </p:sp>
      <p:sp>
        <p:nvSpPr>
          <p:cNvPr id="6" name="Short thesis header rule"/>
          <p:cNvSpPr/>
          <p:nvPr/>
        </p:nvSpPr>
        <p:spPr>
          <a:xfrm>
            <a:off x="426709" y="2542032"/>
            <a:ext cx="609584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7" name="Short step 1"/>
          <p:cNvSpPr txBox="1"/>
          <p:nvPr/>
        </p:nvSpPr>
        <p:spPr>
          <a:xfrm>
            <a:off x="731502" y="2724912"/>
            <a:ext cx="5486263" cy="62179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Leasing engines sit on the books at depreciated value</a:t>
            </a:r>
            <a:endParaRPr lang="en-US" sz="1400" dirty="0"/>
          </a:p>
        </p:txBody>
      </p:sp>
      <p:sp>
        <p:nvSpPr>
          <p:cNvPr id="8" name="Short arrow 1"/>
          <p:cNvSpPr/>
          <p:nvPr/>
        </p:nvSpPr>
        <p:spPr>
          <a:xfrm>
            <a:off x="3230799" y="3364992"/>
            <a:ext cx="487668" cy="237744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9" name="Short step 2"/>
          <p:cNvSpPr txBox="1"/>
          <p:nvPr/>
        </p:nvSpPr>
        <p:spPr>
          <a:xfrm>
            <a:off x="731502" y="3621024"/>
            <a:ext cx="5486263" cy="62179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They are moved into Aerospace Products as inventory</a:t>
            </a:r>
            <a:endParaRPr lang="en-US" sz="1400" dirty="0"/>
          </a:p>
        </p:txBody>
      </p:sp>
      <p:sp>
        <p:nvSpPr>
          <p:cNvPr id="10" name="Short arrow 2"/>
          <p:cNvSpPr/>
          <p:nvPr/>
        </p:nvSpPr>
        <p:spPr>
          <a:xfrm>
            <a:off x="3230799" y="4261104"/>
            <a:ext cx="487668" cy="237744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1" name="Short step 3"/>
          <p:cNvSpPr txBox="1"/>
          <p:nvPr/>
        </p:nvSpPr>
        <p:spPr>
          <a:xfrm>
            <a:off x="731502" y="4517136"/>
            <a:ext cx="5486263" cy="62179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Sold at market prices, the low cost basis inflates AP margins</a:t>
            </a:r>
            <a:endParaRPr lang="en-US" sz="1400" dirty="0"/>
          </a:p>
        </p:txBody>
      </p:sp>
      <p:sp>
        <p:nvSpPr>
          <p:cNvPr id="12" name="Readings header"/>
          <p:cNvSpPr txBox="1"/>
          <p:nvPr/>
        </p:nvSpPr>
        <p:spPr>
          <a:xfrm>
            <a:off x="7010225" y="2121408"/>
            <a:ext cx="47547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Two Readings of the Drop</a:t>
            </a:r>
            <a:endParaRPr lang="en-US" sz="1600" dirty="0"/>
          </a:p>
        </p:txBody>
      </p:sp>
      <p:sp>
        <p:nvSpPr>
          <p:cNvPr id="13" name="Readings header rule"/>
          <p:cNvSpPr/>
          <p:nvPr/>
        </p:nvSpPr>
        <p:spPr>
          <a:xfrm>
            <a:off x="7010225" y="2542032"/>
            <a:ext cx="475476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Management reading"/>
          <p:cNvSpPr txBox="1"/>
          <p:nvPr/>
        </p:nvSpPr>
        <p:spPr>
          <a:xfrm>
            <a:off x="7010225" y="2724912"/>
            <a:ext cx="4754761" cy="1133856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38100" rIns="127000" bIns="381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Management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Heavier-scope work, new shops still ramping, and prices held below OEM to win share.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chemeClr val="tx2"/>
                </a:solidFill>
              </a:rPr>
              <a:t>→ Temporary: margins recover</a:t>
            </a:r>
            <a:endParaRPr lang="en-US" sz="1400" dirty="0"/>
          </a:p>
        </p:txBody>
      </p:sp>
      <p:sp>
        <p:nvSpPr>
          <p:cNvPr id="15" name="The Bears reading"/>
          <p:cNvSpPr txBox="1"/>
          <p:nvPr/>
        </p:nvSpPr>
        <p:spPr>
          <a:xfrm>
            <a:off x="7010225" y="4023360"/>
            <a:ext cx="4754761" cy="1133856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38100" rIns="127000" bIns="381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The Bears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The cheap, depreciated leasing engines that flattered margins are running out.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chemeClr val="bg1"/>
                </a:solidFill>
              </a:rPr>
              <a:t>→ Structural: margins keep falling</a:t>
            </a:r>
            <a:endParaRPr lang="en-US" sz="1400" dirty="0"/>
          </a:p>
        </p:txBody>
      </p:sp>
      <p:sp>
        <p:nvSpPr>
          <p:cNvPr id="16" name="Readings vs"/>
          <p:cNvSpPr txBox="1"/>
          <p:nvPr/>
        </p:nvSpPr>
        <p:spPr>
          <a:xfrm>
            <a:off x="8960896" y="3849624"/>
            <a:ext cx="8534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vs.</a:t>
            </a:r>
            <a:endParaRPr lang="en-US" sz="14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reads the margin reset as the short thesis unwinding, and prices FTAI as if it's still over-earning.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Muddy Waters Research (Jan. 2025), 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(3/3)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Turbine makers are sold out for years, yet the market assigns no value to FTAI's Power.</a:t>
            </a:r>
            <a:endParaRPr lang="en-US" sz="1700" dirty="0"/>
          </a:p>
        </p:txBody>
      </p:sp>
      <p:sp>
        <p:nvSpPr>
          <p:cNvPr id="4" name="Backlog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Combined Gas Turbine Backlog (GW)</a:t>
            </a:r>
            <a:endParaRPr lang="en-US" sz="1600" dirty="0"/>
          </a:p>
        </p:txBody>
      </p:sp>
      <p:sp>
        <p:nvSpPr>
          <p:cNvPr id="5" name="Backlog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mbined backlog chart" descr=""/>
          <p:cNvGraphicFramePr/>
          <p:nvPr/>
        </p:nvGraphicFramePr>
        <p:xfrm>
          <a:off x="426709" y="2103120"/>
          <a:ext cx="7010225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otal 2025"/>
          <p:cNvSpPr txBox="1"/>
          <p:nvPr/>
        </p:nvSpPr>
        <p:spPr>
          <a:xfrm>
            <a:off x="1463003" y="3017520"/>
            <a:ext cx="158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115 GW</a:t>
            </a:r>
            <a:endParaRPr lang="en-US" sz="1600" dirty="0"/>
          </a:p>
        </p:txBody>
      </p:sp>
      <p:sp>
        <p:nvSpPr>
          <p:cNvPr id="8" name="Total 2026"/>
          <p:cNvSpPr txBox="1"/>
          <p:nvPr/>
        </p:nvSpPr>
        <p:spPr>
          <a:xfrm>
            <a:off x="4998595" y="2057400"/>
            <a:ext cx="158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220 GW</a:t>
            </a:r>
            <a:endParaRPr lang="en-US" sz="1600" dirty="0"/>
          </a:p>
        </p:txBody>
      </p:sp>
      <p:sp>
        <p:nvSpPr>
          <p:cNvPr id="9" name="Backlog arrow"/>
          <p:cNvSpPr/>
          <p:nvPr/>
        </p:nvSpPr>
        <p:spPr>
          <a:xfrm flipV="1">
            <a:off x="3108882" y="2377440"/>
            <a:ext cx="1828754" cy="777240"/>
          </a:xfrm>
          <a:prstGeom prst="line">
            <a:avLst/>
          </a:prstGeom>
          <a:noFill/>
          <a:ln w="317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0" name="Growth label"/>
          <p:cNvSpPr txBox="1"/>
          <p:nvPr/>
        </p:nvSpPr>
        <p:spPr>
          <a:xfrm>
            <a:off x="2743131" y="2331720"/>
            <a:ext cx="12191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~1.9x</a:t>
            </a:r>
            <a:endParaRPr lang="en-US" sz="1800" dirty="0"/>
          </a:p>
        </p:txBody>
      </p:sp>
      <p:sp>
        <p:nvSpPr>
          <p:cNvPr id="11" name="Backlog legend"/>
          <p:cNvSpPr txBox="1"/>
          <p:nvPr/>
        </p:nvSpPr>
        <p:spPr>
          <a:xfrm>
            <a:off x="426709" y="4754880"/>
            <a:ext cx="70102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  </a:t>
            </a:r>
            <a:pPr algn="ctr" indent="0" marL="0">
              <a:buNone/>
            </a:pPr>
            <a:r>
              <a:rPr lang="en-US" sz="1100" dirty="0">
                <a:solidFill>
                  <a:srgbClr val="3B4C82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Siemens Energy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Mitsubishi</a:t>
            </a:r>
            <a:endParaRPr lang="en-US" sz="1100" dirty="0"/>
          </a:p>
        </p:txBody>
      </p:sp>
      <p:sp>
        <p:nvSpPr>
          <p:cNvPr id="12" name="Power stats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Power at a Glance</a:t>
            </a:r>
            <a:endParaRPr lang="en-US" sz="1600" dirty="0"/>
          </a:p>
        </p:txBody>
      </p:sp>
      <p:sp>
        <p:nvSpPr>
          <p:cNvPr id="13" name="Power stats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Power stat 1"/>
          <p:cNvSpPr txBox="1"/>
          <p:nvPr/>
        </p:nvSpPr>
        <p:spPr>
          <a:xfrm>
            <a:off x="7863643" y="2148840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$1.465B</a:t>
            </a:r>
            <a:endParaRPr lang="en-US" sz="3000" dirty="0"/>
          </a:p>
        </p:txBody>
      </p:sp>
      <p:sp>
        <p:nvSpPr>
          <p:cNvPr id="15" name="Power stat 1 label"/>
          <p:cNvSpPr txBox="1"/>
          <p:nvPr/>
        </p:nvSpPr>
        <p:spPr>
          <a:xfrm>
            <a:off x="7863643" y="2697480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First hyperscaler order, via the J&amp;F JV</a:t>
            </a:r>
            <a:endParaRPr lang="en-US" sz="1300" dirty="0"/>
          </a:p>
        </p:txBody>
      </p:sp>
      <p:sp>
        <p:nvSpPr>
          <p:cNvPr id="16" name="Power stat 2"/>
          <p:cNvSpPr txBox="1"/>
          <p:nvPr/>
        </p:nvSpPr>
        <p:spPr>
          <a:xfrm>
            <a:off x="7863643" y="3227832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$450–750M</a:t>
            </a:r>
            <a:endParaRPr lang="en-US" sz="3000" dirty="0"/>
          </a:p>
        </p:txBody>
      </p:sp>
      <p:sp>
        <p:nvSpPr>
          <p:cNvPr id="17" name="Power stat 2 label"/>
          <p:cNvSpPr txBox="1"/>
          <p:nvPr/>
        </p:nvSpPr>
        <p:spPr>
          <a:xfrm>
            <a:off x="7863643" y="3776472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FY27 Power EBITDA guide</a:t>
            </a:r>
            <a:endParaRPr lang="en-US" sz="1300" dirty="0"/>
          </a:p>
        </p:txBody>
      </p:sp>
      <p:sp>
        <p:nvSpPr>
          <p:cNvPr id="18" name="Power stat 3"/>
          <p:cNvSpPr txBox="1"/>
          <p:nvPr/>
        </p:nvSpPr>
        <p:spPr>
          <a:xfrm>
            <a:off x="7863643" y="4306824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25 MW</a:t>
            </a:r>
            <a:endParaRPr lang="en-US" sz="3000" dirty="0"/>
          </a:p>
        </p:txBody>
      </p:sp>
      <p:sp>
        <p:nvSpPr>
          <p:cNvPr id="19" name="Power stat 3 label"/>
          <p:cNvSpPr txBox="1"/>
          <p:nvPr/>
        </p:nvSpPr>
        <p:spPr>
          <a:xfrm>
            <a:off x="7863643" y="4855464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Per unit, built from CFM56 cores</a:t>
            </a:r>
            <a:endParaRPr lang="en-US" sz="1300" dirty="0"/>
          </a:p>
        </p:txBody>
      </p:sp>
      <p:sp>
        <p:nvSpPr>
          <p:cNvPr id="2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with Power at zero, FTAI is cheap. Power is a free call option on top.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Vernova, Siemens Energy and MHI results, mid-2025 vs. mid-2026 (via Utility Dive, Industrial Info);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Returns Summary</a:t>
            </a:r>
            <a:endParaRPr lang="en-US" sz="3000" dirty="0"/>
          </a:p>
        </p:txBody>
      </p:sp>
      <p:sp>
        <p:nvSpPr>
          <p:cNvPr id="3" name="Headline banner"/>
          <p:cNvSpPr txBox="1"/>
          <p:nvPr/>
        </p:nvSpPr>
        <p:spPr>
          <a:xfrm>
            <a:off x="426709" y="1024128"/>
            <a:ext cx="11338277" cy="512064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At $167, the market prices the bear case. Our three theses add $110 of upside.</a:t>
            </a:r>
            <a:endParaRPr lang="en-US" sz="1700" dirty="0"/>
          </a:p>
        </p:txBody>
      </p:sp>
      <p:sp>
        <p:nvSpPr>
          <p:cNvPr id="4" name="Sub banner"/>
          <p:cNvSpPr txBox="1"/>
          <p:nvPr/>
        </p:nvSpPr>
        <p:spPr>
          <a:xfrm>
            <a:off x="426709" y="1627632"/>
            <a:ext cx="11338277" cy="38404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What Each Thesis Adds to the Target Price</a:t>
            </a:r>
            <a:endParaRPr lang="en-US" sz="1600" dirty="0"/>
          </a:p>
        </p:txBody>
      </p:sp>
      <p:sp>
        <p:nvSpPr>
          <p:cNvPr id="5" name="Thesis 1 box"/>
          <p:cNvSpPr txBox="1"/>
          <p:nvPr/>
        </p:nvSpPr>
        <p:spPr>
          <a:xfrm>
            <a:off x="426709" y="2176272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1a) Margins Have Bottomed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PMA parts, OEM-linked pricing and technician productivity lift Aerospace margins from ~30% to ~32.5% by FY31.</a:t>
            </a:r>
            <a:endParaRPr lang="en-US" sz="1500" dirty="0"/>
          </a:p>
        </p:txBody>
      </p:sp>
      <p:sp>
        <p:nvSpPr>
          <p:cNvPr id="6" name="Thesis 1 contribution"/>
          <p:cNvSpPr txBox="1"/>
          <p:nvPr/>
        </p:nvSpPr>
        <p:spPr>
          <a:xfrm>
            <a:off x="8778021" y="2176272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+$18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+11% upside</a:t>
            </a:r>
            <a:endParaRPr lang="en-US" sz="1300" dirty="0"/>
          </a:p>
        </p:txBody>
      </p:sp>
      <p:sp>
        <p:nvSpPr>
          <p:cNvPr id="7" name="Thesis 2 box"/>
          <p:cNvSpPr txBox="1"/>
          <p:nvPr/>
        </p:nvSpPr>
        <p:spPr>
          <a:xfrm>
            <a:off x="426709" y="3145536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1b) Volume Grows With Share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capacity, OEMs moving to LEAP and faster turnaround lift FTAI's CFM56 module share from ~12% to 20% by FY30.</a:t>
            </a:r>
            <a:endParaRPr lang="en-US" sz="1500" dirty="0"/>
          </a:p>
        </p:txBody>
      </p:sp>
      <p:sp>
        <p:nvSpPr>
          <p:cNvPr id="8" name="Thesis 2 contribution"/>
          <p:cNvSpPr txBox="1"/>
          <p:nvPr/>
        </p:nvSpPr>
        <p:spPr>
          <a:xfrm>
            <a:off x="8778021" y="3145536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+$34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+20% upside</a:t>
            </a:r>
            <a:endParaRPr lang="en-US" sz="1300" dirty="0"/>
          </a:p>
        </p:txBody>
      </p:sp>
      <p:sp>
        <p:nvSpPr>
          <p:cNvPr id="9" name="Thesis 3 box"/>
          <p:cNvSpPr txBox="1"/>
          <p:nvPr/>
        </p:nvSpPr>
        <p:spPr>
          <a:xfrm>
            <a:off x="426709" y="4114800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2) Power Is a Call Option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ramp from 45 units in FY27 to 110 by FY29 at ~40% EBITDA margins.</a:t>
            </a:r>
            <a:endParaRPr lang="en-US" sz="1500" dirty="0"/>
          </a:p>
        </p:txBody>
      </p:sp>
      <p:sp>
        <p:nvSpPr>
          <p:cNvPr id="10" name="Thesis 3 contribution"/>
          <p:cNvSpPr txBox="1"/>
          <p:nvPr/>
        </p:nvSpPr>
        <p:spPr>
          <a:xfrm>
            <a:off x="8778021" y="4114800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+$58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+35% upside</a:t>
            </a:r>
            <a:endParaRPr lang="en-US" sz="1300" dirty="0"/>
          </a:p>
        </p:txBody>
      </p:sp>
      <p:sp>
        <p:nvSpPr>
          <p:cNvPr id="11" name="Chevron"/>
          <p:cNvSpPr/>
          <p:nvPr/>
        </p:nvSpPr>
        <p:spPr>
          <a:xfrm>
            <a:off x="8070902" y="2176272"/>
            <a:ext cx="560818" cy="2798064"/>
          </a:xfrm>
          <a:prstGeom prst="chevron">
            <a:avLst/>
          </a:prstGeom>
          <a:solidFill>
            <a:srgbClr val="2E93AE"/>
          </a:solidFill>
          <a:ln/>
        </p:spPr>
      </p:sp>
      <p:sp>
        <p:nvSpPr>
          <p:cNvPr id="12" name="Baseline note"/>
          <p:cNvSpPr txBox="1"/>
          <p:nvPr/>
        </p:nvSpPr>
        <p:spPr>
          <a:xfrm>
            <a:off x="426709" y="5120640"/>
            <a:ext cx="113382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Today's $167 is roughly our bear case ($172: bear margins and share, no Power).</a:t>
            </a:r>
            <a:endParaRPr lang="en-US" sz="1200" dirty="0"/>
          </a:p>
        </p:txBody>
      </p:sp>
      <p:sp>
        <p:nvSpPr>
          <p:cNvPr id="13" name="Base case bridge"/>
          <p:cNvSpPr txBox="1"/>
          <p:nvPr/>
        </p:nvSpPr>
        <p:spPr>
          <a:xfrm>
            <a:off x="426709" y="5468112"/>
            <a:ext cx="11338277" cy="512064"/>
          </a:xfrm>
          <a:prstGeom prst="rect">
            <a:avLst/>
          </a:prstGeom>
          <a:solidFill>
            <a:srgbClr val="EFEDEA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$167 today + $18 margins + $34 volume + $58 Power = </a:t>
            </a:r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$277 SOTP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 (+66%)</a:t>
            </a:r>
            <a:endParaRPr lang="en-US" sz="1300" dirty="0"/>
          </a:p>
        </p:txBody>
      </p:sp>
      <p:sp>
        <p:nvSpPr>
          <p:cNvPr id="1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filings; base-case FY27E sum of the parts, each thesis switched from bear to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Even if the bears are right, too little cheap inventory is left to push margins lower.</a:t>
            </a:r>
            <a:endParaRPr lang="en-US" sz="1700" dirty="0"/>
          </a:p>
        </p:txBody>
      </p:sp>
      <p:sp>
        <p:nvSpPr>
          <p:cNvPr id="4" name="Donut header"/>
          <p:cNvSpPr txBox="1"/>
          <p:nvPr/>
        </p:nvSpPr>
        <p:spPr>
          <a:xfrm>
            <a:off x="426709" y="1554480"/>
            <a:ext cx="47547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Cheap Stock Left in AP</a:t>
            </a:r>
            <a:endParaRPr lang="en-US" sz="1600" dirty="0"/>
          </a:p>
        </p:txBody>
      </p:sp>
      <p:sp>
        <p:nvSpPr>
          <p:cNvPr id="5" name="Donut header rule"/>
          <p:cNvSpPr/>
          <p:nvPr/>
        </p:nvSpPr>
        <p:spPr>
          <a:xfrm>
            <a:off x="426709" y="1975104"/>
            <a:ext cx="475476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Inventory donut" descr=""/>
          <p:cNvGraphicFramePr/>
          <p:nvPr/>
        </p:nvGraphicFramePr>
        <p:xfrm>
          <a:off x="731502" y="2103120"/>
          <a:ext cx="4145176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Donut center"/>
          <p:cNvSpPr txBox="1"/>
          <p:nvPr/>
        </p:nvSpPr>
        <p:spPr>
          <a:xfrm>
            <a:off x="1584920" y="3063240"/>
            <a:ext cx="24383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&lt;8%</a:t>
            </a:r>
            <a:endParaRPr lang="en-US" sz="3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left to unwind</a:t>
            </a:r>
            <a:endParaRPr lang="en-US" sz="3400" dirty="0"/>
          </a:p>
        </p:txBody>
      </p:sp>
      <p:sp>
        <p:nvSpPr>
          <p:cNvPr id="8" name="Margin path header"/>
          <p:cNvSpPr txBox="1"/>
          <p:nvPr/>
        </p:nvSpPr>
        <p:spPr>
          <a:xfrm>
            <a:off x="5547221" y="1554480"/>
            <a:ext cx="62177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Margin: Trough, Then Rebuild</a:t>
            </a:r>
            <a:endParaRPr lang="en-US" sz="1600" dirty="0"/>
          </a:p>
        </p:txBody>
      </p:sp>
      <p:sp>
        <p:nvSpPr>
          <p:cNvPr id="9" name="Margin path header rule"/>
          <p:cNvSpPr/>
          <p:nvPr/>
        </p:nvSpPr>
        <p:spPr>
          <a:xfrm>
            <a:off x="5547221" y="1975104"/>
            <a:ext cx="621776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0" name="Margin path chart" descr=""/>
          <p:cNvGraphicFramePr/>
          <p:nvPr/>
        </p:nvGraphicFramePr>
        <p:xfrm>
          <a:off x="5547221" y="2103120"/>
          <a:ext cx="621776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Model label"/>
          <p:cNvSpPr txBox="1"/>
          <p:nvPr/>
        </p:nvSpPr>
        <p:spPr>
          <a:xfrm>
            <a:off x="9021854" y="2103120"/>
            <a:ext cx="19506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Our model</a:t>
            </a:r>
            <a:endParaRPr lang="en-US" sz="1200" dirty="0"/>
          </a:p>
        </p:txBody>
      </p:sp>
      <p:sp>
        <p:nvSpPr>
          <p:cNvPr id="12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little cheap stock left, ~30% is the floor, and margins rebuild from here.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held price to win share while OEM list prices rose ~7% a year. It can now catch up.</a:t>
            </a:r>
            <a:endParaRPr lang="en-US" sz="1700" dirty="0"/>
          </a:p>
        </p:txBody>
      </p:sp>
      <p:sp>
        <p:nvSpPr>
          <p:cNvPr id="4" name="Price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Price Index (2025 = 100)</a:t>
            </a:r>
            <a:endParaRPr lang="en-US" sz="1600" dirty="0"/>
          </a:p>
        </p:txBody>
      </p:sp>
      <p:sp>
        <p:nvSpPr>
          <p:cNvPr id="5" name="Price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Price index chart" descr=""/>
          <p:cNvGraphicFramePr/>
          <p:nvPr/>
        </p:nvGraphicFramePr>
        <p:xfrm>
          <a:off x="426709" y="2103120"/>
          <a:ext cx="56081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OEM line label"/>
          <p:cNvSpPr txBox="1"/>
          <p:nvPr/>
        </p:nvSpPr>
        <p:spPr>
          <a:xfrm>
            <a:off x="3596550" y="2148840"/>
            <a:ext cx="2316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OEM list (+7%/yr)</a:t>
            </a:r>
            <a:endParaRPr lang="en-US" sz="1200" dirty="0"/>
          </a:p>
        </p:txBody>
      </p:sp>
      <p:sp>
        <p:nvSpPr>
          <p:cNvPr id="8" name="FTAI line label"/>
          <p:cNvSpPr txBox="1"/>
          <p:nvPr/>
        </p:nvSpPr>
        <p:spPr>
          <a:xfrm>
            <a:off x="3596550" y="3337560"/>
            <a:ext cx="2316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FTAI (half of OEM)</a:t>
            </a:r>
            <a:endParaRPr lang="en-US" sz="1200" dirty="0"/>
          </a:p>
        </p:txBody>
      </p:sp>
      <p:sp>
        <p:nvSpPr>
          <p:cNvPr id="9" name="EPM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EBITDA per Module ($K)</a:t>
            </a:r>
            <a:endParaRPr lang="en-US" sz="1600" dirty="0"/>
          </a:p>
        </p:txBody>
      </p:sp>
      <p:sp>
        <p:nvSpPr>
          <p:cNvPr id="10" name="EPM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EBITDA per module chart" descr=""/>
          <p:cNvGraphicFramePr/>
          <p:nvPr/>
        </p:nvGraphicFramePr>
        <p:xfrm>
          <a:off x="6522557" y="2103120"/>
          <a:ext cx="5242429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Passing through just half of OEM increases, plus PMA, lifts EBITDA per module ~30% by FY31.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 (~7%/yr escalator); 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Heavy second visits peak in 2027 while late-life, lighter visits keep rising, and they cross.</a:t>
            </a:r>
            <a:endParaRPr lang="en-US" sz="1700" dirty="0"/>
          </a:p>
        </p:txBody>
      </p:sp>
      <p:sp>
        <p:nvSpPr>
          <p:cNvPr id="4" name="Cohort header"/>
          <p:cNvSpPr txBox="1"/>
          <p:nvPr/>
        </p:nvSpPr>
        <p:spPr>
          <a:xfrm>
            <a:off x="426709" y="1554480"/>
            <a:ext cx="5791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Heavy vs. Late-Life Shop Visits</a:t>
            </a:r>
            <a:endParaRPr lang="en-US" sz="1600" dirty="0"/>
          </a:p>
        </p:txBody>
      </p:sp>
      <p:sp>
        <p:nvSpPr>
          <p:cNvPr id="5" name="Cohort header rule"/>
          <p:cNvSpPr/>
          <p:nvPr/>
        </p:nvSpPr>
        <p:spPr>
          <a:xfrm>
            <a:off x="426709" y="1975104"/>
            <a:ext cx="579105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hort chart" descr=""/>
          <p:cNvGraphicFramePr/>
          <p:nvPr/>
        </p:nvGraphicFramePr>
        <p:xfrm>
          <a:off x="426709" y="2103120"/>
          <a:ext cx="5791055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eak label"/>
          <p:cNvSpPr txBox="1"/>
          <p:nvPr/>
        </p:nvSpPr>
        <p:spPr>
          <a:xfrm>
            <a:off x="1158211" y="2103120"/>
            <a:ext cx="30479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Heavy 2nd visits peak</a:t>
            </a:r>
            <a:endParaRPr lang="en-US" sz="1200" dirty="0"/>
          </a:p>
        </p:txBody>
      </p:sp>
      <p:sp>
        <p:nvSpPr>
          <p:cNvPr id="8" name="Late-life label"/>
          <p:cNvSpPr txBox="1"/>
          <p:nvPr/>
        </p:nvSpPr>
        <p:spPr>
          <a:xfrm>
            <a:off x="1158211" y="4315968"/>
            <a:ext cx="40232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3AE"/>
                </a:solidFill>
              </a:rPr>
              <a:t>Late-life, lighter visits keep rising</a:t>
            </a:r>
            <a:endParaRPr lang="en-US" sz="1100" dirty="0"/>
          </a:p>
        </p:txBody>
      </p:sp>
      <p:sp>
        <p:nvSpPr>
          <p:cNvPr id="9" name="Crossover dot"/>
          <p:cNvSpPr/>
          <p:nvPr/>
        </p:nvSpPr>
        <p:spPr>
          <a:xfrm>
            <a:off x="5635609" y="3145536"/>
            <a:ext cx="164592" cy="164592"/>
          </a:xfrm>
          <a:prstGeom prst="ellipse">
            <a:avLst/>
          </a:prstGeom>
          <a:solidFill>
            <a:srgbClr val="EE6E2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rossover callout"/>
          <p:cNvSpPr/>
          <p:nvPr/>
        </p:nvSpPr>
        <p:spPr>
          <a:xfrm>
            <a:off x="4328052" y="3520440"/>
            <a:ext cx="1828754" cy="566928"/>
          </a:xfrm>
          <a:prstGeom prst="roundRect">
            <a:avLst>
              <a:gd name="adj" fmla="val 12903"/>
            </a:avLst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Light work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overtakes ~2032</a:t>
            </a:r>
            <a:endParaRPr lang="en-US" sz="1100" dirty="0"/>
          </a:p>
        </p:txBody>
      </p:sp>
      <p:sp>
        <p:nvSpPr>
          <p:cNvPr id="11" name="Cohort caption"/>
          <p:cNvSpPr txBox="1"/>
          <p:nvPr/>
        </p:nvSpPr>
        <p:spPr>
          <a:xfrm>
            <a:off x="426709" y="4956048"/>
            <a:ext cx="579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Model through 2030; dashed = trend</a:t>
            </a:r>
            <a:endParaRPr lang="en-US" sz="1100" dirty="0"/>
          </a:p>
        </p:txBody>
      </p:sp>
      <p:sp>
        <p:nvSpPr>
          <p:cNvPr id="12" name="Mix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 vs. Light-Scope Mix</a:t>
            </a:r>
            <a:endParaRPr lang="en-US" sz="1600" dirty="0"/>
          </a:p>
        </p:txBody>
      </p:sp>
      <p:sp>
        <p:nvSpPr>
          <p:cNvPr id="13" name="Mix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ix margin chart" descr=""/>
          <p:cNvGraphicFramePr/>
          <p:nvPr/>
        </p:nvGraphicFramePr>
        <p:xfrm>
          <a:off x="6522557" y="2103120"/>
          <a:ext cx="524242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odeled point box"/>
          <p:cNvSpPr/>
          <p:nvPr/>
        </p:nvSpPr>
        <p:spPr>
          <a:xfrm>
            <a:off x="9265688" y="2926080"/>
            <a:ext cx="573010" cy="530352"/>
          </a:xfrm>
          <a:prstGeom prst="roundRect">
            <a:avLst>
              <a:gd name="adj" fmla="val 10345"/>
            </a:avLst>
          </a:prstGeom>
          <a:ln w="28575">
            <a:solidFill>
              <a:srgbClr val="EE6E25"/>
            </a:solidFill>
            <a:prstDash val="solid"/>
          </a:ln>
        </p:spPr>
      </p:sp>
      <p:sp>
        <p:nvSpPr>
          <p:cNvPr id="16" name="Mix caption"/>
          <p:cNvSpPr txBox="1"/>
          <p:nvPr/>
        </p:nvSpPr>
        <p:spPr>
          <a:xfrm>
            <a:off x="6522557" y="4892040"/>
            <a:ext cx="52424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Light-scope share of jobs (management's job economics)</a:t>
            </a:r>
            <a:endParaRPr lang="en-US" sz="11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When light work returns, every 10 pts of mix adds ~1.5–2 pts of margin, above today's ~30%.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fleet cohort analysis; FTAI earnings call (light vs. heavy job economics)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Cheaper PMA parts add a new margin lever, and our base case uses it sparingly.</a:t>
            </a:r>
            <a:endParaRPr lang="en-US" sz="1700" dirty="0"/>
          </a:p>
        </p:txBody>
      </p:sp>
      <p:sp>
        <p:nvSpPr>
          <p:cNvPr id="4" name="PMA ramp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PMA Ramp in Our Model</a:t>
            </a:r>
            <a:endParaRPr lang="en-US" sz="1600" dirty="0"/>
          </a:p>
        </p:txBody>
      </p:sp>
      <p:sp>
        <p:nvSpPr>
          <p:cNvPr id="5" name="PMA ramp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Adoption label"/>
          <p:cNvSpPr txBox="1"/>
          <p:nvPr/>
        </p:nvSpPr>
        <p:spPr>
          <a:xfrm>
            <a:off x="426709" y="2084832"/>
            <a:ext cx="5608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Adoption (% of modules)</a:t>
            </a:r>
            <a:endParaRPr lang="en-US" sz="1100" dirty="0"/>
          </a:p>
        </p:txBody>
      </p:sp>
      <p:graphicFrame>
        <p:nvGraphicFramePr>
          <p:cNvPr id="7" name="PMA adoption chart" descr=""/>
          <p:cNvGraphicFramePr/>
          <p:nvPr/>
        </p:nvGraphicFramePr>
        <p:xfrm>
          <a:off x="426709" y="2240280"/>
          <a:ext cx="5608180" cy="960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Uplift label"/>
          <p:cNvSpPr txBox="1"/>
          <p:nvPr/>
        </p:nvSpPr>
        <p:spPr>
          <a:xfrm>
            <a:off x="426709" y="3200400"/>
            <a:ext cx="5608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EBITDA uplift ($M)</a:t>
            </a:r>
            <a:endParaRPr lang="en-US" sz="1100" dirty="0"/>
          </a:p>
        </p:txBody>
      </p:sp>
      <p:graphicFrame>
        <p:nvGraphicFramePr>
          <p:cNvPr id="9" name="PMA uplift chart" descr=""/>
          <p:cNvGraphicFramePr/>
          <p:nvPr/>
        </p:nvGraphicFramePr>
        <p:xfrm>
          <a:off x="426709" y="3383280"/>
          <a:ext cx="560818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ensitivity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Upside If Adoption Runs Faster</a:t>
            </a:r>
            <a:endParaRPr lang="en-US" sz="1600" dirty="0"/>
          </a:p>
        </p:txBody>
      </p:sp>
      <p:sp>
        <p:nvSpPr>
          <p:cNvPr id="11" name="Sensitivity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2" name="PMA sensitivity chart" descr=""/>
          <p:cNvGraphicFramePr/>
          <p:nvPr/>
        </p:nvGraphicFramePr>
        <p:xfrm>
          <a:off x="6522557" y="2103120"/>
          <a:ext cx="524242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Sensitivity caption"/>
          <p:cNvSpPr txBox="1"/>
          <p:nvPr/>
        </p:nvSpPr>
        <p:spPr>
          <a:xfrm>
            <a:off x="6522557" y="4892040"/>
            <a:ext cx="52424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FY26E Aerospace EBITDA ($M) at 1,200 modules vs. PMA adoption (Jefferies)</a:t>
            </a:r>
            <a:endParaRPr lang="en-US" sz="1100" dirty="0"/>
          </a:p>
        </p:txBody>
      </p:sp>
      <p:sp>
        <p:nvSpPr>
          <p:cNvPr id="14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of 5 Chromalloy parts are approved, and every 5 pts of adoption adds ~$43M of EBITDA.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Jefferies estimates; FAA PMA data;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Margins have found their floor and rebuild from here.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bear case is nearly spent: under 8% of cheap leasing stock is left, so ~30% is the floor.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Price catch-up, PMA parts and a late-cycle return of light work rebuild margins over time.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~30% → 32.5%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Aerospace margin, FY27E → FY31E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$876K → $1.14M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EBITDA per module, FY26E → FY31E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+$18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+11%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Margins don't need to recover to the old 35%+ for this thesis to pay.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(1/5)</a:t>
            </a:r>
            <a:endParaRPr lang="en-US" sz="3000" dirty="0"/>
          </a:p>
        </p:txBody>
      </p:sp>
      <p:sp>
        <p:nvSpPr>
          <p:cNvPr id="3" name="Reason 1"/>
          <p:cNvSpPr txBox="1"/>
          <p:nvPr/>
        </p:nvSpPr>
        <p:spPr>
          <a:xfrm>
            <a:off x="2133547" y="10972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shops are moving their capacity to LEAP, leaving CFM56 work behind.</a:t>
            </a:r>
            <a:endParaRPr lang="en-US" sz="1500" dirty="0"/>
          </a:p>
        </p:txBody>
      </p:sp>
      <p:sp>
        <p:nvSpPr>
          <p:cNvPr id="4" name="Reason 1 number"/>
          <p:cNvSpPr/>
          <p:nvPr/>
        </p:nvSpPr>
        <p:spPr>
          <a:xfrm>
            <a:off x="1679396" y="10607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Reason 2"/>
          <p:cNvSpPr txBox="1"/>
          <p:nvPr/>
        </p:nvSpPr>
        <p:spPr>
          <a:xfrm>
            <a:off x="2133547" y="20116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Independent MROs are clogged: CFM56 overhauls now take 90–120 days.</a:t>
            </a:r>
            <a:endParaRPr lang="en-US" sz="1500" dirty="0"/>
          </a:p>
        </p:txBody>
      </p:sp>
      <p:sp>
        <p:nvSpPr>
          <p:cNvPr id="6" name="Reason 2 number"/>
          <p:cNvSpPr/>
          <p:nvPr/>
        </p:nvSpPr>
        <p:spPr>
          <a:xfrm>
            <a:off x="1679396" y="19751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</a:t>
            </a:r>
            <a:endParaRPr lang="en-US" sz="2400" dirty="0"/>
          </a:p>
        </p:txBody>
      </p:sp>
      <p:sp>
        <p:nvSpPr>
          <p:cNvPr id="7" name="Reason 3"/>
          <p:cNvSpPr txBox="1"/>
          <p:nvPr/>
        </p:nvSpPr>
        <p:spPr>
          <a:xfrm>
            <a:off x="2133547" y="29260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FTAI's module swap returns an engine in 5–25 days, not months.</a:t>
            </a:r>
            <a:endParaRPr lang="en-US" sz="1500" dirty="0"/>
          </a:p>
        </p:txBody>
      </p:sp>
      <p:sp>
        <p:nvSpPr>
          <p:cNvPr id="8" name="Reason 3 number"/>
          <p:cNvSpPr/>
          <p:nvPr/>
        </p:nvSpPr>
        <p:spPr>
          <a:xfrm>
            <a:off x="1679396" y="28895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</a:t>
            </a:r>
            <a:endParaRPr lang="en-US" sz="2400" dirty="0"/>
          </a:p>
        </p:txBody>
      </p:sp>
      <p:sp>
        <p:nvSpPr>
          <p:cNvPr id="9" name="Reason 4"/>
          <p:cNvSpPr txBox="1"/>
          <p:nvPr/>
        </p:nvSpPr>
        <p:spPr>
          <a:xfrm>
            <a:off x="2133547" y="38404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sites in Jakarta, Cairo and Lisbon lift capacity to 3,000 modules.</a:t>
            </a:r>
            <a:endParaRPr lang="en-US" sz="1500" dirty="0"/>
          </a:p>
        </p:txBody>
      </p:sp>
      <p:sp>
        <p:nvSpPr>
          <p:cNvPr id="10" name="Reason 4 number"/>
          <p:cNvSpPr/>
          <p:nvPr/>
        </p:nvSpPr>
        <p:spPr>
          <a:xfrm>
            <a:off x="1679396" y="38039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</a:t>
            </a:r>
            <a:endParaRPr lang="en-US" sz="2400" dirty="0"/>
          </a:p>
        </p:txBody>
      </p:sp>
      <p:sp>
        <p:nvSpPr>
          <p:cNvPr id="11" name="Funnel"/>
          <p:cNvSpPr/>
          <p:nvPr/>
        </p:nvSpPr>
        <p:spPr>
          <a:xfrm flipV="1">
            <a:off x="1584920" y="4709160"/>
            <a:ext cx="9387605" cy="36576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2" name="Conclusion"/>
          <p:cNvSpPr txBox="1"/>
          <p:nvPr/>
        </p:nvSpPr>
        <p:spPr>
          <a:xfrm>
            <a:off x="1584920" y="5193792"/>
            <a:ext cx="9387605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FTAI's share of CFM56 module work rises from ~12% to 20% by FY30, with every SCI aircraft as a contracted floor.</a:t>
            </a:r>
            <a:endParaRPr lang="en-US" sz="16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earnings calls (2026), Aviation Business News (2025), FTAI Q2'24 call and Q2'26 supplement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(2/5)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Independent shops are clogged, and OEMs are pouring new capacity into LEAP, not CFM56.</a:t>
            </a:r>
            <a:endParaRPr lang="en-US" sz="1700" dirty="0"/>
          </a:p>
        </p:txBody>
      </p:sp>
      <p:sp>
        <p:nvSpPr>
          <p:cNvPr id="4" name="MRO header"/>
          <p:cNvSpPr txBox="1"/>
          <p:nvPr/>
        </p:nvSpPr>
        <p:spPr>
          <a:xfrm>
            <a:off x="426709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Independent Shops Are Clogged…</a:t>
            </a:r>
            <a:endParaRPr lang="en-US" sz="1600" dirty="0"/>
          </a:p>
        </p:txBody>
      </p:sp>
      <p:sp>
        <p:nvSpPr>
          <p:cNvPr id="5" name="MRO header rule"/>
          <p:cNvSpPr/>
          <p:nvPr/>
        </p:nvSpPr>
        <p:spPr>
          <a:xfrm>
            <a:off x="426709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Overhaul days chart" descr=""/>
          <p:cNvGraphicFramePr/>
          <p:nvPr/>
        </p:nvGraphicFramePr>
        <p:xfrm>
          <a:off x="731502" y="2240280"/>
          <a:ext cx="3047924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re-COVID days"/>
          <p:cNvSpPr txBox="1"/>
          <p:nvPr/>
        </p:nvSpPr>
        <p:spPr>
          <a:xfrm>
            <a:off x="914377" y="2926080"/>
            <a:ext cx="12191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~60</a:t>
            </a:r>
            <a:endParaRPr lang="en-US" sz="1500" dirty="0"/>
          </a:p>
        </p:txBody>
      </p:sp>
      <p:sp>
        <p:nvSpPr>
          <p:cNvPr id="8" name="Today days"/>
          <p:cNvSpPr txBox="1"/>
          <p:nvPr/>
        </p:nvSpPr>
        <p:spPr>
          <a:xfrm>
            <a:off x="2316422" y="2103120"/>
            <a:ext cx="13410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90–120</a:t>
            </a:r>
            <a:endParaRPr lang="en-US" sz="1500" dirty="0"/>
          </a:p>
        </p:txBody>
      </p:sp>
      <p:sp>
        <p:nvSpPr>
          <p:cNvPr id="9" name="Days caption"/>
          <p:cNvSpPr txBox="1"/>
          <p:nvPr/>
        </p:nvSpPr>
        <p:spPr>
          <a:xfrm>
            <a:off x="731502" y="4133088"/>
            <a:ext cx="30479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CFM56 overhaul, days</a:t>
            </a:r>
            <a:endParaRPr lang="en-US" sz="1100" dirty="0"/>
          </a:p>
        </p:txBody>
      </p:sp>
      <p:sp>
        <p:nvSpPr>
          <p:cNvPr id="10" name="Slot wait stat"/>
          <p:cNvSpPr txBox="1"/>
          <p:nvPr/>
        </p:nvSpPr>
        <p:spPr>
          <a:xfrm>
            <a:off x="3840384" y="2514600"/>
            <a:ext cx="1950671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+2–6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months just to get a shop slot</a:t>
            </a:r>
            <a:endParaRPr lang="en-US" sz="2400" dirty="0"/>
          </a:p>
        </p:txBody>
      </p:sp>
      <p:sp>
        <p:nvSpPr>
          <p:cNvPr id="11" name="OEM header"/>
          <p:cNvSpPr txBox="1"/>
          <p:nvPr/>
        </p:nvSpPr>
        <p:spPr>
          <a:xfrm>
            <a:off x="6400640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…While OEMs Pivot to LEAP</a:t>
            </a:r>
            <a:endParaRPr lang="en-US" sz="1600" dirty="0"/>
          </a:p>
        </p:txBody>
      </p:sp>
      <p:sp>
        <p:nvSpPr>
          <p:cNvPr id="12" name="OEM header rule"/>
          <p:cNvSpPr/>
          <p:nvPr/>
        </p:nvSpPr>
        <p:spPr>
          <a:xfrm>
            <a:off x="6400640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3" name="Shop visit mix chart" descr=""/>
          <p:cNvGraphicFramePr/>
          <p:nvPr/>
        </p:nvGraphicFramePr>
        <p:xfrm>
          <a:off x="6522557" y="2240280"/>
          <a:ext cx="2986965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Mix legend"/>
          <p:cNvSpPr txBox="1"/>
          <p:nvPr/>
        </p:nvSpPr>
        <p:spPr>
          <a:xfrm>
            <a:off x="6522557" y="4133088"/>
            <a:ext cx="29869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 </a:t>
            </a:r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</a:t>
            </a:r>
            <a:endParaRPr lang="en-US" sz="1100" dirty="0"/>
          </a:p>
        </p:txBody>
      </p:sp>
      <p:sp>
        <p:nvSpPr>
          <p:cNvPr id="15" name="LEAP stat 1"/>
          <p:cNvSpPr txBox="1"/>
          <p:nvPr/>
        </p:nvSpPr>
        <p:spPr>
          <a:xfrm>
            <a:off x="9570481" y="2240280"/>
            <a:ext cx="21945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~1/2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of GE's $1B+ MRO spend goes to LEAP</a:t>
            </a:r>
            <a:endParaRPr lang="en-US" sz="2200" dirty="0"/>
          </a:p>
        </p:txBody>
      </p:sp>
      <p:sp>
        <p:nvSpPr>
          <p:cNvPr id="16" name="LEAP stat 2"/>
          <p:cNvSpPr txBox="1"/>
          <p:nvPr/>
        </p:nvSpPr>
        <p:spPr>
          <a:xfrm>
            <a:off x="9570481" y="3246120"/>
            <a:ext cx="21945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+50%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 shop visits, y/y (GE, 2026)</a:t>
            </a:r>
            <a:endParaRPr lang="en-US" sz="2200" dirty="0"/>
          </a:p>
        </p:txBody>
      </p:sp>
      <p:sp>
        <p:nvSpPr>
          <p:cNvPr id="17" name="Expert quote"/>
          <p:cNvSpPr txBox="1"/>
          <p:nvPr/>
        </p:nvSpPr>
        <p:spPr>
          <a:xfrm>
            <a:off x="426709" y="4526280"/>
            <a:ext cx="11338277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52400" tIns="50800" rIns="1524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“The variability in capital investment required to capture the LEAP is extremely low versus what it took them to capture the CFM.”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OEM slots shift to LEAP as independent shops clog. CFM56 owners need a faster option.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Aviation Business News (2025); Bain (2024); GE Q4'25–Q2'26 calls; CFM LEAP forecast;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(3/5)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shop visit grounds an engine for months. FTAI's module swap gets it flying in weeks.</a:t>
            </a:r>
            <a:endParaRPr lang="en-US" sz="1700" dirty="0"/>
          </a:p>
        </p:txBody>
      </p:sp>
      <p:sp>
        <p:nvSpPr>
          <p:cNvPr id="4" name="Timeline label"/>
          <p:cNvSpPr txBox="1"/>
          <p:nvPr/>
        </p:nvSpPr>
        <p:spPr>
          <a:xfrm>
            <a:off x="2865048" y="1536192"/>
            <a:ext cx="85341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Days off wing</a:t>
            </a:r>
            <a:endParaRPr lang="en-US" sz="1100" dirty="0"/>
          </a:p>
        </p:txBody>
      </p:sp>
      <p:sp>
        <p:nvSpPr>
          <p:cNvPr id="5" name="Grid 0"/>
          <p:cNvSpPr/>
          <p:nvPr/>
        </p:nvSpPr>
        <p:spPr>
          <a:xfrm>
            <a:off x="2865048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6" name="Tick 0"/>
          <p:cNvSpPr txBox="1"/>
          <p:nvPr/>
        </p:nvSpPr>
        <p:spPr>
          <a:xfrm>
            <a:off x="2499298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0</a:t>
            </a:r>
            <a:endParaRPr lang="en-US" sz="1000" dirty="0"/>
          </a:p>
        </p:txBody>
      </p:sp>
      <p:sp>
        <p:nvSpPr>
          <p:cNvPr id="7" name="Grid 30"/>
          <p:cNvSpPr/>
          <p:nvPr/>
        </p:nvSpPr>
        <p:spPr>
          <a:xfrm>
            <a:off x="4287413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8" name="Tick 30"/>
          <p:cNvSpPr txBox="1"/>
          <p:nvPr/>
        </p:nvSpPr>
        <p:spPr>
          <a:xfrm>
            <a:off x="3921662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30</a:t>
            </a:r>
            <a:endParaRPr lang="en-US" sz="1000" dirty="0"/>
          </a:p>
        </p:txBody>
      </p:sp>
      <p:sp>
        <p:nvSpPr>
          <p:cNvPr id="9" name="Grid 60"/>
          <p:cNvSpPr/>
          <p:nvPr/>
        </p:nvSpPr>
        <p:spPr>
          <a:xfrm>
            <a:off x="5709777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0" name="Tick 60"/>
          <p:cNvSpPr txBox="1"/>
          <p:nvPr/>
        </p:nvSpPr>
        <p:spPr>
          <a:xfrm>
            <a:off x="5344026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60</a:t>
            </a:r>
            <a:endParaRPr lang="en-US" sz="1000" dirty="0"/>
          </a:p>
        </p:txBody>
      </p:sp>
      <p:sp>
        <p:nvSpPr>
          <p:cNvPr id="11" name="Grid 90"/>
          <p:cNvSpPr/>
          <p:nvPr/>
        </p:nvSpPr>
        <p:spPr>
          <a:xfrm>
            <a:off x="7132142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2" name="Tick 90"/>
          <p:cNvSpPr txBox="1"/>
          <p:nvPr/>
        </p:nvSpPr>
        <p:spPr>
          <a:xfrm>
            <a:off x="6766391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90</a:t>
            </a:r>
            <a:endParaRPr lang="en-US" sz="1000" dirty="0"/>
          </a:p>
        </p:txBody>
      </p:sp>
      <p:sp>
        <p:nvSpPr>
          <p:cNvPr id="13" name="Grid 120"/>
          <p:cNvSpPr/>
          <p:nvPr/>
        </p:nvSpPr>
        <p:spPr>
          <a:xfrm>
            <a:off x="8554506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4" name="Tick 120"/>
          <p:cNvSpPr txBox="1"/>
          <p:nvPr/>
        </p:nvSpPr>
        <p:spPr>
          <a:xfrm>
            <a:off x="8188755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120</a:t>
            </a:r>
            <a:endParaRPr lang="en-US" sz="1000" dirty="0"/>
          </a:p>
        </p:txBody>
      </p:sp>
      <p:sp>
        <p:nvSpPr>
          <p:cNvPr id="15" name="Grid 150"/>
          <p:cNvSpPr/>
          <p:nvPr/>
        </p:nvSpPr>
        <p:spPr>
          <a:xfrm>
            <a:off x="9976871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Tick 150"/>
          <p:cNvSpPr txBox="1"/>
          <p:nvPr/>
        </p:nvSpPr>
        <p:spPr>
          <a:xfrm>
            <a:off x="9611120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150</a:t>
            </a:r>
            <a:endParaRPr lang="en-US" sz="1000" dirty="0"/>
          </a:p>
        </p:txBody>
      </p:sp>
      <p:sp>
        <p:nvSpPr>
          <p:cNvPr id="17" name="Grid 180"/>
          <p:cNvSpPr/>
          <p:nvPr/>
        </p:nvSpPr>
        <p:spPr>
          <a:xfrm>
            <a:off x="11399235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Tick 180"/>
          <p:cNvSpPr txBox="1"/>
          <p:nvPr/>
        </p:nvSpPr>
        <p:spPr>
          <a:xfrm>
            <a:off x="11033484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180</a:t>
            </a:r>
            <a:endParaRPr lang="en-US" sz="1000" dirty="0"/>
          </a:p>
        </p:txBody>
      </p:sp>
      <p:sp>
        <p:nvSpPr>
          <p:cNvPr id="19" name="Shop visit label"/>
          <p:cNvSpPr txBox="1"/>
          <p:nvPr/>
        </p:nvSpPr>
        <p:spPr>
          <a:xfrm>
            <a:off x="426709" y="1828800"/>
            <a:ext cx="23164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Typical shop visit</a:t>
            </a:r>
            <a:endParaRPr lang="en-US" sz="14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120–180 days, then test</a:t>
            </a:r>
            <a:endParaRPr lang="en-US" sz="1400" dirty="0"/>
          </a:p>
        </p:txBody>
      </p:sp>
      <p:sp>
        <p:nvSpPr>
          <p:cNvPr id="20" name="Shop step 1"/>
          <p:cNvSpPr/>
          <p:nvPr/>
        </p:nvSpPr>
        <p:spPr>
          <a:xfrm>
            <a:off x="2865048" y="1856232"/>
            <a:ext cx="2042786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slot</a:t>
            </a:r>
            <a:endParaRPr lang="en-US" sz="900" dirty="0"/>
          </a:p>
        </p:txBody>
      </p:sp>
      <p:sp>
        <p:nvSpPr>
          <p:cNvPr id="21" name="Shop step 2"/>
          <p:cNvSpPr/>
          <p:nvPr/>
        </p:nvSpPr>
        <p:spPr>
          <a:xfrm>
            <a:off x="4761534" y="1856232"/>
            <a:ext cx="1473840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Strip</a:t>
            </a:r>
            <a:endParaRPr lang="en-US" sz="900" dirty="0"/>
          </a:p>
        </p:txBody>
      </p:sp>
      <p:sp>
        <p:nvSpPr>
          <p:cNvPr id="22" name="Shop step 3"/>
          <p:cNvSpPr/>
          <p:nvPr/>
        </p:nvSpPr>
        <p:spPr>
          <a:xfrm>
            <a:off x="6089074" y="1856232"/>
            <a:ext cx="2042786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parts</a:t>
            </a:r>
            <a:endParaRPr lang="en-US" sz="900" dirty="0"/>
          </a:p>
        </p:txBody>
      </p:sp>
      <p:sp>
        <p:nvSpPr>
          <p:cNvPr id="23" name="Shop step 4"/>
          <p:cNvSpPr/>
          <p:nvPr/>
        </p:nvSpPr>
        <p:spPr>
          <a:xfrm>
            <a:off x="7985560" y="1856232"/>
            <a:ext cx="1663489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Repair</a:t>
            </a:r>
            <a:endParaRPr lang="en-US" sz="900" dirty="0"/>
          </a:p>
        </p:txBody>
      </p:sp>
      <p:sp>
        <p:nvSpPr>
          <p:cNvPr id="24" name="Shop step 5"/>
          <p:cNvSpPr/>
          <p:nvPr/>
        </p:nvSpPr>
        <p:spPr>
          <a:xfrm>
            <a:off x="9502749" y="1856232"/>
            <a:ext cx="620422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25" name="Shop visit range"/>
          <p:cNvSpPr/>
          <p:nvPr/>
        </p:nvSpPr>
        <p:spPr>
          <a:xfrm>
            <a:off x="9976871" y="1929384"/>
            <a:ext cx="1422364" cy="356616"/>
          </a:xfrm>
          <a:prstGeom prst="rect">
            <a:avLst/>
          </a:prstGeom>
          <a:ln w="15875">
            <a:solidFill>
              <a:srgbClr val="2E93AE"/>
            </a:solidFill>
            <a:prstDash val="dash"/>
          </a:ln>
        </p:spPr>
      </p:sp>
      <p:sp>
        <p:nvSpPr>
          <p:cNvPr id="26" name="Swap label"/>
          <p:cNvSpPr txBox="1"/>
          <p:nvPr/>
        </p:nvSpPr>
        <p:spPr>
          <a:xfrm>
            <a:off x="304792" y="256032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FTAI module swap</a:t>
            </a:r>
            <a:endParaRPr lang="en-US" sz="1300" dirty="0"/>
          </a:p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5–25 days</a:t>
            </a:r>
            <a:endParaRPr lang="en-US" sz="1300" dirty="0"/>
          </a:p>
        </p:txBody>
      </p:sp>
      <p:sp>
        <p:nvSpPr>
          <p:cNvPr id="27" name="Swap bar"/>
          <p:cNvSpPr/>
          <p:nvPr/>
        </p:nvSpPr>
        <p:spPr>
          <a:xfrm>
            <a:off x="2865048" y="2587752"/>
            <a:ext cx="1331604" cy="502920"/>
          </a:xfrm>
          <a:prstGeom prst="chevron">
            <a:avLst/>
          </a:prstGeom>
          <a:solidFill>
            <a:srgbClr val="0A1C58"/>
          </a:solidFill>
          <a:ln/>
        </p:spPr>
      </p:sp>
      <p:sp>
        <p:nvSpPr>
          <p:cNvPr id="28" name="Swap description"/>
          <p:cNvSpPr txBox="1"/>
          <p:nvPr/>
        </p:nvSpPr>
        <p:spPr>
          <a:xfrm>
            <a:off x="4355144" y="2587752"/>
            <a:ext cx="43890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Swap a restored module from FTAI's pool, test, fly</a:t>
            </a:r>
            <a:endParaRPr lang="en-US" sz="1200" dirty="0"/>
          </a:p>
        </p:txBody>
      </p:sp>
      <p:sp>
        <p:nvSpPr>
          <p:cNvPr id="29" name="Speed callout"/>
          <p:cNvSpPr/>
          <p:nvPr/>
        </p:nvSpPr>
        <p:spPr>
          <a:xfrm>
            <a:off x="10119107" y="2423160"/>
            <a:ext cx="1402045" cy="8686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~7x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faster</a:t>
            </a:r>
            <a:endParaRPr lang="en-US" sz="2200" dirty="0"/>
          </a:p>
        </p:txBody>
      </p:sp>
      <p:sp>
        <p:nvSpPr>
          <p:cNvPr id="30" name="Cost header"/>
          <p:cNvSpPr txBox="1"/>
          <p:nvPr/>
        </p:nvSpPr>
        <p:spPr>
          <a:xfrm>
            <a:off x="426709" y="3584448"/>
            <a:ext cx="55472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Lease Cost While Grounded</a:t>
            </a:r>
            <a:endParaRPr lang="en-US" sz="1600" dirty="0"/>
          </a:p>
        </p:txBody>
      </p:sp>
      <p:sp>
        <p:nvSpPr>
          <p:cNvPr id="31" name="Cost header rule"/>
          <p:cNvSpPr/>
          <p:nvPr/>
        </p:nvSpPr>
        <p:spPr>
          <a:xfrm>
            <a:off x="426709" y="4005072"/>
            <a:ext cx="554722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32" name="Cost label 1"/>
          <p:cNvSpPr txBox="1"/>
          <p:nvPr/>
        </p:nvSpPr>
        <p:spPr>
          <a:xfrm>
            <a:off x="426709" y="4160520"/>
            <a:ext cx="22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Shop visit, ~150 days</a:t>
            </a:r>
            <a:endParaRPr lang="en-US" sz="1100" dirty="0"/>
          </a:p>
        </p:txBody>
      </p:sp>
      <p:sp>
        <p:nvSpPr>
          <p:cNvPr id="33" name="Cost bar 1"/>
          <p:cNvSpPr/>
          <p:nvPr/>
        </p:nvSpPr>
        <p:spPr>
          <a:xfrm>
            <a:off x="2804090" y="4160520"/>
            <a:ext cx="2316422" cy="347472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34" name="Cost value 1"/>
          <p:cNvSpPr txBox="1"/>
          <p:nvPr/>
        </p:nvSpPr>
        <p:spPr>
          <a:xfrm>
            <a:off x="5218046" y="4160520"/>
            <a:ext cx="975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$493K</a:t>
            </a:r>
            <a:endParaRPr lang="en-US" sz="1300" dirty="0"/>
          </a:p>
        </p:txBody>
      </p:sp>
      <p:sp>
        <p:nvSpPr>
          <p:cNvPr id="35" name="Cost label 2"/>
          <p:cNvSpPr txBox="1"/>
          <p:nvPr/>
        </p:nvSpPr>
        <p:spPr>
          <a:xfrm>
            <a:off x="426709" y="4636008"/>
            <a:ext cx="22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swap, ~20 days</a:t>
            </a:r>
            <a:endParaRPr lang="en-US" sz="1100" dirty="0"/>
          </a:p>
        </p:txBody>
      </p:sp>
      <p:sp>
        <p:nvSpPr>
          <p:cNvPr id="36" name="Cost bar 2"/>
          <p:cNvSpPr/>
          <p:nvPr/>
        </p:nvSpPr>
        <p:spPr>
          <a:xfrm>
            <a:off x="2804090" y="4636008"/>
            <a:ext cx="310109" cy="347472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37" name="Cost value 2"/>
          <p:cNvSpPr txBox="1"/>
          <p:nvPr/>
        </p:nvSpPr>
        <p:spPr>
          <a:xfrm>
            <a:off x="3211733" y="4636008"/>
            <a:ext cx="975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$66K</a:t>
            </a:r>
            <a:endParaRPr lang="en-US" sz="1300" dirty="0"/>
          </a:p>
        </p:txBody>
      </p:sp>
      <p:sp>
        <p:nvSpPr>
          <p:cNvPr id="38" name="Turnaround expert quote"/>
          <p:cNvSpPr txBox="1"/>
          <p:nvPr/>
        </p:nvSpPr>
        <p:spPr>
          <a:xfrm>
            <a:off x="6278723" y="3657600"/>
            <a:ext cx="5486263" cy="173736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76200" rIns="177800" bIns="762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A1A1A"/>
                </a:solidFill>
              </a:rPr>
              <a:t>“FTAI's advantage is basically turnaround time and cheaper sourcing.”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1A1A1A"/>
                </a:solidFill>
              </a:rPr>
              <a:t>— Industry expert</a:t>
            </a:r>
            <a:endParaRPr lang="en-US" sz="1600" dirty="0"/>
          </a:p>
        </p:txBody>
      </p:sp>
      <p:sp>
        <p:nvSpPr>
          <p:cNvPr id="39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day an engine is off wing costs the airline a jet. FTAI sells that time back.</a:t>
            </a:r>
            <a:endParaRPr lang="en-US" sz="1700" dirty="0"/>
          </a:p>
        </p:txBody>
      </p:sp>
      <p:sp>
        <p:nvSpPr>
          <p:cNvPr id="40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Q2'24 call via third-party analysis; IBA (2024) lease rates; expert call; step lengths illustrative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(4/5)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built capacity ahead of demand. New sites leave room to keep taking share.</a:t>
            </a:r>
            <a:endParaRPr lang="en-US" sz="1700" dirty="0"/>
          </a:p>
        </p:txBody>
      </p:sp>
      <p:sp>
        <p:nvSpPr>
          <p:cNvPr id="4" name="Capacity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Output vs. Capacity (Modules)</a:t>
            </a:r>
            <a:endParaRPr lang="en-US" sz="1600" dirty="0"/>
          </a:p>
        </p:txBody>
      </p:sp>
      <p:sp>
        <p:nvSpPr>
          <p:cNvPr id="5" name="Capacity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acity chart" descr=""/>
          <p:cNvGraphicFramePr/>
          <p:nvPr/>
        </p:nvGraphicFramePr>
        <p:xfrm>
          <a:off x="426709" y="2103120"/>
          <a:ext cx="56081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apacity label"/>
          <p:cNvSpPr txBox="1"/>
          <p:nvPr/>
        </p:nvSpPr>
        <p:spPr>
          <a:xfrm>
            <a:off x="2438339" y="2103120"/>
            <a:ext cx="3535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3,000 capacity</a:t>
            </a:r>
            <a:endParaRPr lang="en-US" sz="1200" dirty="0"/>
          </a:p>
        </p:txBody>
      </p:sp>
      <p:sp>
        <p:nvSpPr>
          <p:cNvPr id="8" name="Capacity legend"/>
          <p:cNvSpPr txBox="1"/>
          <p:nvPr/>
        </p:nvSpPr>
        <p:spPr>
          <a:xfrm>
            <a:off x="426709" y="5047488"/>
            <a:ext cx="56081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Output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Unused capacity</a:t>
            </a:r>
            <a:endParaRPr lang="en-US" sz="1100" dirty="0"/>
          </a:p>
        </p:txBody>
      </p:sp>
      <p:sp>
        <p:nvSpPr>
          <p:cNvPr id="9" name="Network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Network</a:t>
            </a:r>
            <a:endParaRPr lang="en-US" sz="1600" dirty="0"/>
          </a:p>
        </p:txBody>
      </p:sp>
      <p:sp>
        <p:nvSpPr>
          <p:cNvPr id="10" name="Network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1" name="Site Montreal"/>
          <p:cNvSpPr txBox="1"/>
          <p:nvPr/>
        </p:nvSpPr>
        <p:spPr>
          <a:xfrm>
            <a:off x="6522557" y="2103120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Montreal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Flagship, up to 900</a:t>
            </a:r>
            <a:endParaRPr lang="en-US" sz="1500" dirty="0"/>
          </a:p>
        </p:txBody>
      </p:sp>
      <p:sp>
        <p:nvSpPr>
          <p:cNvPr id="12" name="Site Miami"/>
          <p:cNvSpPr txBox="1"/>
          <p:nvPr/>
        </p:nvSpPr>
        <p:spPr>
          <a:xfrm>
            <a:off x="9204730" y="2103120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Miami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~475 in 2026E</a:t>
            </a:r>
            <a:endParaRPr lang="en-US" sz="1500" dirty="0"/>
          </a:p>
        </p:txBody>
      </p:sp>
      <p:sp>
        <p:nvSpPr>
          <p:cNvPr id="13" name="Site Rome"/>
          <p:cNvSpPr txBox="1"/>
          <p:nvPr/>
        </p:nvSpPr>
        <p:spPr>
          <a:xfrm>
            <a:off x="6522557" y="3090672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Rome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Ramping</a:t>
            </a:r>
            <a:endParaRPr lang="en-US" sz="1500" dirty="0"/>
          </a:p>
        </p:txBody>
      </p:sp>
      <p:sp>
        <p:nvSpPr>
          <p:cNvPr id="14" name="Site Lisbon"/>
          <p:cNvSpPr txBox="1"/>
          <p:nvPr/>
        </p:nvSpPr>
        <p:spPr>
          <a:xfrm>
            <a:off x="9204730" y="3090672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Lisbon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Heading to 300+</a:t>
            </a:r>
            <a:endParaRPr lang="en-US" sz="1500" dirty="0"/>
          </a:p>
        </p:txBody>
      </p:sp>
      <p:sp>
        <p:nvSpPr>
          <p:cNvPr id="15" name="Site Jakarta"/>
          <p:cNvSpPr txBox="1"/>
          <p:nvPr/>
        </p:nvSpPr>
        <p:spPr>
          <a:xfrm>
            <a:off x="6522557" y="4078224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Jakarta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Heavy work, 300–450 (E)</a:t>
            </a:r>
            <a:endParaRPr lang="en-US" sz="1500" dirty="0"/>
          </a:p>
        </p:txBody>
      </p:sp>
      <p:sp>
        <p:nvSpPr>
          <p:cNvPr id="16" name="Site Cairo"/>
          <p:cNvSpPr txBox="1"/>
          <p:nvPr/>
        </p:nvSpPr>
        <p:spPr>
          <a:xfrm>
            <a:off x="9204730" y="4078224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Cairo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Light work, 150–180 (E)</a:t>
            </a:r>
            <a:endParaRPr lang="en-US" sz="1500" dirty="0"/>
          </a:p>
        </p:txBody>
      </p:sp>
      <p:sp>
        <p:nvSpPr>
          <p:cNvPr id="17" name="Network legend"/>
          <p:cNvSpPr txBox="1"/>
          <p:nvPr/>
        </p:nvSpPr>
        <p:spPr>
          <a:xfrm>
            <a:off x="6522557" y="5047488"/>
            <a:ext cx="52424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New sites   </a:t>
            </a:r>
            <a:pPr algn="ctr" indent="0" marL="0">
              <a:buNone/>
            </a:pPr>
            <a:r>
              <a:rPr lang="en-US" sz="1100" dirty="0">
                <a:solidFill>
                  <a:srgbClr val="DCD8D3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Existing (modules / yr)</a:t>
            </a:r>
            <a:endParaRPr lang="en-US" sz="11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3,000 modules of capacity against 1,700 planned, FTAI can absorb share gains.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Q1/Q2'26 earnings supplements; GMF and EgyptAir reports; (E) = estimate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(5/5)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Share gains plus the SCI floor take FTAI to ~1,700 modules in FY27, in line with its target.</a:t>
            </a:r>
            <a:endParaRPr lang="en-US" sz="1700" dirty="0"/>
          </a:p>
        </p:txBody>
      </p:sp>
      <p:sp>
        <p:nvSpPr>
          <p:cNvPr id="4" name="Volume tile 1"/>
          <p:cNvSpPr txBox="1"/>
          <p:nvPr/>
        </p:nvSpPr>
        <p:spPr>
          <a:xfrm>
            <a:off x="426709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2,386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CFM56 shop visits</a:t>
            </a:r>
            <a:endParaRPr lang="en-US" sz="2000" dirty="0"/>
          </a:p>
        </p:txBody>
      </p:sp>
      <p:sp>
        <p:nvSpPr>
          <p:cNvPr id="5" name="Volume tile 2"/>
          <p:cNvSpPr txBox="1"/>
          <p:nvPr/>
        </p:nvSpPr>
        <p:spPr>
          <a:xfrm>
            <a:off x="2730940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3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modules each</a:t>
            </a:r>
            <a:endParaRPr lang="en-US" sz="2000" dirty="0"/>
          </a:p>
        </p:txBody>
      </p:sp>
      <p:sp>
        <p:nvSpPr>
          <p:cNvPr id="6" name="Volume tile 3"/>
          <p:cNvSpPr txBox="1"/>
          <p:nvPr/>
        </p:nvSpPr>
        <p:spPr>
          <a:xfrm>
            <a:off x="5035170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16.8%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FTAI share</a:t>
            </a:r>
            <a:endParaRPr lang="en-US" sz="2000" dirty="0"/>
          </a:p>
        </p:txBody>
      </p:sp>
      <p:sp>
        <p:nvSpPr>
          <p:cNvPr id="7" name="Volume tile 4"/>
          <p:cNvSpPr txBox="1"/>
          <p:nvPr/>
        </p:nvSpPr>
        <p:spPr>
          <a:xfrm>
            <a:off x="7339401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+ 482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SCI modules</a:t>
            </a:r>
            <a:endParaRPr lang="en-US" sz="2000" dirty="0"/>
          </a:p>
        </p:txBody>
      </p:sp>
      <p:sp>
        <p:nvSpPr>
          <p:cNvPr id="8" name="Volume tile 5"/>
          <p:cNvSpPr txBox="1"/>
          <p:nvPr/>
        </p:nvSpPr>
        <p:spPr>
          <a:xfrm>
            <a:off x="9643631" y="1600200"/>
            <a:ext cx="2096972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= 1,687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FY27E modules</a:t>
            </a:r>
            <a:endParaRPr lang="en-US" sz="2000" dirty="0"/>
          </a:p>
        </p:txBody>
      </p:sp>
      <p:sp>
        <p:nvSpPr>
          <p:cNvPr id="9" name="Share header"/>
          <p:cNvSpPr txBox="1"/>
          <p:nvPr/>
        </p:nvSpPr>
        <p:spPr>
          <a:xfrm>
            <a:off x="426709" y="260604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Share of CFM56 Module Work</a:t>
            </a:r>
            <a:endParaRPr lang="en-US" sz="1600" dirty="0"/>
          </a:p>
        </p:txBody>
      </p:sp>
      <p:sp>
        <p:nvSpPr>
          <p:cNvPr id="10" name="Share header rule"/>
          <p:cNvSpPr/>
          <p:nvPr/>
        </p:nvSpPr>
        <p:spPr>
          <a:xfrm>
            <a:off x="426709" y="302666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Share chart" descr=""/>
          <p:cNvGraphicFramePr/>
          <p:nvPr/>
        </p:nvGraphicFramePr>
        <p:xfrm>
          <a:off x="426709" y="3108960"/>
          <a:ext cx="560818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Modules header"/>
          <p:cNvSpPr txBox="1"/>
          <p:nvPr/>
        </p:nvSpPr>
        <p:spPr>
          <a:xfrm>
            <a:off x="6522557" y="260604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Modules Produced</a:t>
            </a:r>
            <a:endParaRPr lang="en-US" sz="1600" dirty="0"/>
          </a:p>
        </p:txBody>
      </p:sp>
      <p:sp>
        <p:nvSpPr>
          <p:cNvPr id="13" name="Modules header rule"/>
          <p:cNvSpPr/>
          <p:nvPr/>
        </p:nvSpPr>
        <p:spPr>
          <a:xfrm>
            <a:off x="6522557" y="302666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odules chart" descr=""/>
          <p:cNvGraphicFramePr/>
          <p:nvPr/>
        </p:nvGraphicFramePr>
        <p:xfrm>
          <a:off x="6522557" y="3108960"/>
          <a:ext cx="5242429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odules legend"/>
          <p:cNvSpPr txBox="1"/>
          <p:nvPr/>
        </p:nvSpPr>
        <p:spPr>
          <a:xfrm>
            <a:off x="6522557" y="5120640"/>
            <a:ext cx="52424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Third-party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SCI floor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if share stalls, SCI's contracted fleet keeps adding volume: a floor under the thesis.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Q2'26 supplement (1,700-module 2027 target);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engines need more maintenance, and OEM contracts start rolling off after 2030.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426709" y="1783080"/>
            <a:ext cx="11338277" cy="457200"/>
          </a:xfrm>
          <a:prstGeom prst="rightArrow">
            <a:avLst/>
          </a:prstGeom>
          <a:solidFill>
            <a:srgbClr val="0A1C58"/>
          </a:solidFill>
          <a:ln/>
        </p:spPr>
      </p:sp>
      <p:sp>
        <p:nvSpPr>
          <p:cNvPr id="5" name="Stop 1"/>
          <p:cNvSpPr txBox="1"/>
          <p:nvPr/>
        </p:nvSpPr>
        <p:spPr>
          <a:xfrm>
            <a:off x="914377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Today</a:t>
            </a:r>
            <a:endParaRPr lang="en-US" sz="2200" dirty="0"/>
          </a:p>
        </p:txBody>
      </p:sp>
      <p:sp>
        <p:nvSpPr>
          <p:cNvPr id="6" name="Stop 1 detail"/>
          <p:cNvSpPr txBox="1"/>
          <p:nvPr/>
        </p:nvSpPr>
        <p:spPr>
          <a:xfrm>
            <a:off x="609585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~50% of LEAPs on OEM deals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vs. ~15% of CFM56s</a:t>
            </a:r>
            <a:endParaRPr lang="en-US" sz="1400" dirty="0"/>
          </a:p>
        </p:txBody>
      </p:sp>
      <p:sp>
        <p:nvSpPr>
          <p:cNvPr id="7" name="Stop 2"/>
          <p:cNvSpPr txBox="1"/>
          <p:nvPr/>
        </p:nvSpPr>
        <p:spPr>
          <a:xfrm>
            <a:off x="4693803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</a:t>
            </a:r>
            <a:endParaRPr lang="en-US" sz="2200" dirty="0"/>
          </a:p>
        </p:txBody>
      </p:sp>
      <p:sp>
        <p:nvSpPr>
          <p:cNvPr id="8" name="Stop 2 detail"/>
          <p:cNvSpPr txBox="1"/>
          <p:nvPr/>
        </p:nvSpPr>
        <p:spPr>
          <a:xfrm>
            <a:off x="4389010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~2,000 LEAP visits a year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OEM coverage peaks near 70%</a:t>
            </a:r>
            <a:endParaRPr lang="en-US" sz="1400" dirty="0"/>
          </a:p>
        </p:txBody>
      </p:sp>
      <p:sp>
        <p:nvSpPr>
          <p:cNvPr id="9" name="Stop 3"/>
          <p:cNvSpPr txBox="1"/>
          <p:nvPr/>
        </p:nvSpPr>
        <p:spPr>
          <a:xfrm>
            <a:off x="8473228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2030+</a:t>
            </a:r>
            <a:endParaRPr lang="en-US" sz="2200" dirty="0"/>
          </a:p>
        </p:txBody>
      </p:sp>
      <p:sp>
        <p:nvSpPr>
          <p:cNvPr id="10" name="Stop 3 detail"/>
          <p:cNvSpPr txBox="1"/>
          <p:nvPr/>
        </p:nvSpPr>
        <p:spPr>
          <a:xfrm>
            <a:off x="8168436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Contracts roll off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Work opens to independents</a:t>
            </a:r>
            <a:endParaRPr lang="en-US" sz="1400" dirty="0"/>
          </a:p>
        </p:txBody>
      </p:sp>
      <p:sp>
        <p:nvSpPr>
          <p:cNvPr id="11" name="Card 1"/>
          <p:cNvSpPr/>
          <p:nvPr/>
        </p:nvSpPr>
        <p:spPr>
          <a:xfrm>
            <a:off x="426709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2" name="Card 1 stat"/>
          <p:cNvSpPr/>
          <p:nvPr/>
        </p:nvSpPr>
        <p:spPr>
          <a:xfrm>
            <a:off x="739107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2.5x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sooner</a:t>
            </a:r>
            <a:endParaRPr lang="en-US" sz="2000" dirty="0"/>
          </a:p>
        </p:txBody>
      </p:sp>
      <p:sp>
        <p:nvSpPr>
          <p:cNvPr id="13" name="Card 1 head"/>
          <p:cNvSpPr txBox="1"/>
          <p:nvPr/>
        </p:nvSpPr>
        <p:spPr>
          <a:xfrm>
            <a:off x="2157930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More shop visits</a:t>
            </a:r>
            <a:endParaRPr lang="en-US" sz="1500" dirty="0"/>
          </a:p>
        </p:txBody>
      </p:sp>
      <p:sp>
        <p:nvSpPr>
          <p:cNvPr id="14" name="Card 1 body"/>
          <p:cNvSpPr txBox="1"/>
          <p:nvPr/>
        </p:nvSpPr>
        <p:spPr>
          <a:xfrm>
            <a:off x="609585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First LEAP visits at ~4,000 cycles vs. the 10,000+ originally planned.</a:t>
            </a:r>
            <a:endParaRPr lang="en-US" sz="1200" dirty="0"/>
          </a:p>
        </p:txBody>
      </p:sp>
      <p:sp>
        <p:nvSpPr>
          <p:cNvPr id="15" name="Card 2"/>
          <p:cNvSpPr/>
          <p:nvPr/>
        </p:nvSpPr>
        <p:spPr>
          <a:xfrm>
            <a:off x="4291477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6" name="Card 2 stat"/>
          <p:cNvSpPr/>
          <p:nvPr/>
        </p:nvSpPr>
        <p:spPr>
          <a:xfrm>
            <a:off x="4603875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$2–4.5M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per visit</a:t>
            </a:r>
            <a:endParaRPr lang="en-US" sz="1400" dirty="0"/>
          </a:p>
        </p:txBody>
      </p:sp>
      <p:sp>
        <p:nvSpPr>
          <p:cNvPr id="17" name="Card 2 head"/>
          <p:cNvSpPr txBox="1"/>
          <p:nvPr/>
        </p:nvSpPr>
        <p:spPr>
          <a:xfrm>
            <a:off x="6022697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Costlier visits</a:t>
            </a:r>
            <a:endParaRPr lang="en-US" sz="1500" dirty="0"/>
          </a:p>
        </p:txBody>
      </p:sp>
      <p:sp>
        <p:nvSpPr>
          <p:cNvPr id="18" name="Card 2 body"/>
          <p:cNvSpPr txBox="1"/>
          <p:nvPr/>
        </p:nvSpPr>
        <p:spPr>
          <a:xfrm>
            <a:off x="4474352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LEAP overhauls cost far more than the same work on a CFM56.</a:t>
            </a:r>
            <a:endParaRPr lang="en-US" sz="1200" dirty="0"/>
          </a:p>
        </p:txBody>
      </p:sp>
      <p:sp>
        <p:nvSpPr>
          <p:cNvPr id="19" name="Card 3"/>
          <p:cNvSpPr/>
          <p:nvPr/>
        </p:nvSpPr>
        <p:spPr>
          <a:xfrm>
            <a:off x="8156244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20" name="Card 3 stat"/>
          <p:cNvSpPr/>
          <p:nvPr/>
        </p:nvSpPr>
        <p:spPr>
          <a:xfrm>
            <a:off x="8468642" y="3401568"/>
            <a:ext cx="1143000" cy="1143000"/>
          </a:xfrm>
          <a:prstGeom prst="ellipse">
            <a:avLst/>
          </a:prstGeom>
          <a:solidFill>
            <a:srgbClr val="EE6E25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Same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tooling</a:t>
            </a:r>
            <a:endParaRPr lang="en-US" sz="2000" dirty="0"/>
          </a:p>
        </p:txBody>
      </p:sp>
      <p:sp>
        <p:nvSpPr>
          <p:cNvPr id="21" name="Card 3 head"/>
          <p:cNvSpPr txBox="1"/>
          <p:nvPr/>
        </p:nvSpPr>
        <p:spPr>
          <a:xfrm>
            <a:off x="9887465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 can pivot fast</a:t>
            </a:r>
            <a:endParaRPr lang="en-US" sz="1500" dirty="0"/>
          </a:p>
        </p:txBody>
      </p:sp>
      <p:sp>
        <p:nvSpPr>
          <p:cNvPr id="22" name="Card 3 body"/>
          <p:cNvSpPr txBox="1"/>
          <p:nvPr/>
        </p:nvSpPr>
        <p:spPr>
          <a:xfrm>
            <a:off x="8339120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 CFM56/LEAP test cell is coming to Rome, and CFM56 tools and techs carry over.</a:t>
            </a:r>
            <a:endParaRPr lang="en-US" sz="1200" dirty="0"/>
          </a:p>
        </p:txBody>
      </p:sp>
      <p:sp>
        <p:nvSpPr>
          <p:cNvPr id="23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As OEM contracts roll off, LEAP becomes FTAI's next CFM56, with costlier, more frequent visits.</a:t>
            </a:r>
            <a:endParaRPr lang="en-US" sz="1700" dirty="0"/>
          </a:p>
        </p:txBody>
      </p:sp>
      <p:sp>
        <p:nvSpPr>
          <p:cNvPr id="2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Safran via Aviation Week; Visual Approach; The Air Current; Safe Fly Aviation; FTAI Q2'26 call;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isn't in our target. Matching FTAI's CFM56 share takes your return past 100%.</a:t>
            </a:r>
            <a:endParaRPr lang="en-US" sz="1700" dirty="0"/>
          </a:p>
        </p:txBody>
      </p:sp>
      <p:sp>
        <p:nvSpPr>
          <p:cNvPr id="4" name="LEAP quote"/>
          <p:cNvSpPr txBox="1"/>
          <p:nvPr/>
        </p:nvSpPr>
        <p:spPr>
          <a:xfrm>
            <a:off x="1097253" y="1627632"/>
            <a:ext cx="999719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50800" rIns="177800" bIns="508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“It will happen. The reason why it will happen is because they have set their CFM line up to have a measurable amount of shared services in that line.”</a:t>
            </a:r>
            <a:endParaRPr lang="en-US" sz="1600" dirty="0"/>
          </a:p>
        </p:txBody>
      </p:sp>
      <p:sp>
        <p:nvSpPr>
          <p:cNvPr id="5" name="LEAP quote attribution"/>
          <p:cNvSpPr txBox="1"/>
          <p:nvPr/>
        </p:nvSpPr>
        <p:spPr>
          <a:xfrm>
            <a:off x="5608180" y="2542032"/>
            <a:ext cx="54862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graphicFrame>
        <p:nvGraphicFramePr>
          <p:cNvPr id="6" name="LEAP return chart" descr=""/>
          <p:cNvGraphicFramePr/>
          <p:nvPr/>
        </p:nvGraphicFramePr>
        <p:xfrm>
          <a:off x="1280128" y="2926080"/>
          <a:ext cx="10241024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Y label"/>
          <p:cNvSpPr txBox="1"/>
          <p:nvPr/>
        </p:nvSpPr>
        <p:spPr>
          <a:xfrm rot="16200000">
            <a:off x="0" y="3703320"/>
            <a:ext cx="18287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Your return</a:t>
            </a:r>
            <a:endParaRPr lang="en-US" sz="1200" dirty="0"/>
          </a:p>
        </p:txBody>
      </p:sp>
      <p:sp>
        <p:nvSpPr>
          <p:cNvPr id="8" name="X label"/>
          <p:cNvSpPr txBox="1"/>
          <p:nvPr/>
        </p:nvSpPr>
        <p:spPr>
          <a:xfrm>
            <a:off x="1280128" y="5102352"/>
            <a:ext cx="10241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FTAI share of off-contract LEAP shop visits</a:t>
            </a:r>
            <a:endParaRPr lang="en-US" sz="1200" dirty="0"/>
          </a:p>
        </p:txBody>
      </p:sp>
      <p:sp>
        <p:nvSpPr>
          <p:cNvPr id="9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5 pts of off-contract LEAP share adds ~9 pts to your return on top of our base case.</a:t>
            </a:r>
            <a:endParaRPr lang="en-US" sz="1700" dirty="0"/>
          </a:p>
        </p:txBody>
      </p:sp>
      <p:sp>
        <p:nvSpPr>
          <p:cNvPr id="10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Aviation Week; assumes 2,000 LEAP visits/yr, 50% off contract, 3 modules/visit, FY27E EBITDA/module, 16x, discounted 4 yrs at 9.5%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Speed and capacity win share, with SCI as a contracted floor.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 wins on turnaround (5–25 days vs. 120–180) as OEMs pivot to LEAP and independents clog.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Share rises from ~12% to 20% by FY30, half its historical pace, using ~70% of announced capacity.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1,193 → 1,687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Modules, FY26E → FY27E (target: 1,700)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~12% → 20%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CFM56 module share, FY26E → FY30E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+$34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+20%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LEAP isn't in our target. Matching CFM56 share on LEAP adds ~35 points of return.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Q2'26 supplement;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AI spending is exploding, and our model shows the grid falling short from 2029.</a:t>
            </a:r>
            <a:endParaRPr lang="en-US" sz="1700" dirty="0"/>
          </a:p>
        </p:txBody>
      </p:sp>
      <p:sp>
        <p:nvSpPr>
          <p:cNvPr id="4" name="Capex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Big Four Hyperscaler Capex ($B)</a:t>
            </a:r>
            <a:endParaRPr lang="en-US" sz="1600" dirty="0"/>
          </a:p>
        </p:txBody>
      </p:sp>
      <p:sp>
        <p:nvSpPr>
          <p:cNvPr id="5" name="Capex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ex chart" descr=""/>
          <p:cNvGraphicFramePr/>
          <p:nvPr/>
        </p:nvGraphicFramePr>
        <p:xfrm>
          <a:off x="426709" y="2103120"/>
          <a:ext cx="56081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ortfall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U.S. Power Reserve Shortfall (GW)</a:t>
            </a:r>
            <a:endParaRPr lang="en-US" sz="1600" dirty="0"/>
          </a:p>
        </p:txBody>
      </p:sp>
      <p:sp>
        <p:nvSpPr>
          <p:cNvPr id="8" name="Shortfall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9" name="Shortfall chart" descr=""/>
          <p:cNvGraphicFramePr/>
          <p:nvPr/>
        </p:nvGraphicFramePr>
        <p:xfrm>
          <a:off x="6522557" y="2103120"/>
          <a:ext cx="5242429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Hyperscalers will spend ~$730B this year, but there won't be enough power to run it.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 and 2026 guidance (Amazon, Alphabet, Meta, Microsoft);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Most new power hyperscalers have contracted isn't fully online until 2029 or later.</a:t>
            </a:r>
            <a:endParaRPr lang="en-US" sz="1700" dirty="0"/>
          </a:p>
        </p:txBody>
      </p:sp>
      <p:sp>
        <p:nvSpPr>
          <p:cNvPr id="4" name="COD header"/>
          <p:cNvSpPr txBox="1"/>
          <p:nvPr/>
        </p:nvSpPr>
        <p:spPr>
          <a:xfrm>
            <a:off x="426709" y="1554480"/>
            <a:ext cx="6095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New Capacity by Online Date (GW)</a:t>
            </a:r>
            <a:endParaRPr lang="en-US" sz="1600" dirty="0"/>
          </a:p>
        </p:txBody>
      </p:sp>
      <p:sp>
        <p:nvSpPr>
          <p:cNvPr id="5" name="COD header rule"/>
          <p:cNvSpPr/>
          <p:nvPr/>
        </p:nvSpPr>
        <p:spPr>
          <a:xfrm>
            <a:off x="426709" y="1975104"/>
            <a:ext cx="609584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D chart" descr=""/>
          <p:cNvGraphicFramePr/>
          <p:nvPr/>
        </p:nvGraphicFramePr>
        <p:xfrm>
          <a:off x="426709" y="2103120"/>
          <a:ext cx="6095848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Late share callout"/>
          <p:cNvSpPr/>
          <p:nvPr/>
        </p:nvSpPr>
        <p:spPr>
          <a:xfrm>
            <a:off x="3268886" y="2103120"/>
            <a:ext cx="960120" cy="96012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57%</a:t>
            </a:r>
            <a:endParaRPr lang="en-US" sz="2200" dirty="0"/>
          </a:p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2029 or later</a:t>
            </a:r>
            <a:endParaRPr lang="en-US" sz="2200" dirty="0"/>
          </a:p>
        </p:txBody>
      </p:sp>
      <p:sp>
        <p:nvSpPr>
          <p:cNvPr id="8" name="Bridge header"/>
          <p:cNvSpPr txBox="1"/>
          <p:nvPr/>
        </p:nvSpPr>
        <p:spPr>
          <a:xfrm>
            <a:off x="6949266" y="1554480"/>
            <a:ext cx="481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Bridge</a:t>
            </a:r>
            <a:endParaRPr lang="en-US" sz="1600" dirty="0"/>
          </a:p>
        </p:txBody>
      </p:sp>
      <p:sp>
        <p:nvSpPr>
          <p:cNvPr id="9" name="Bridge header rule"/>
          <p:cNvSpPr/>
          <p:nvPr/>
        </p:nvSpPr>
        <p:spPr>
          <a:xfrm>
            <a:off x="6949266" y="1975104"/>
            <a:ext cx="48157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Bridge step 1"/>
          <p:cNvSpPr txBox="1"/>
          <p:nvPr/>
        </p:nvSpPr>
        <p:spPr>
          <a:xfrm>
            <a:off x="6949266" y="2148840"/>
            <a:ext cx="481572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Today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GPUs bought, data center shells built</a:t>
            </a:r>
            <a:endParaRPr lang="en-US" sz="1600" dirty="0"/>
          </a:p>
        </p:txBody>
      </p:sp>
      <p:sp>
        <p:nvSpPr>
          <p:cNvPr id="11" name="Bridge arrow 1"/>
          <p:cNvSpPr/>
          <p:nvPr/>
        </p:nvSpPr>
        <p:spPr>
          <a:xfrm>
            <a:off x="9107196" y="2971800"/>
            <a:ext cx="487668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2" name="Bridge step 2"/>
          <p:cNvSpPr txBox="1"/>
          <p:nvPr/>
        </p:nvSpPr>
        <p:spPr>
          <a:xfrm>
            <a:off x="6949266" y="3172968"/>
            <a:ext cx="4815720" cy="80467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2026–2029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FTAI's mobile turbines power the site</a:t>
            </a:r>
            <a:endParaRPr lang="en-US" sz="1600" dirty="0"/>
          </a:p>
        </p:txBody>
      </p:sp>
      <p:sp>
        <p:nvSpPr>
          <p:cNvPr id="13" name="Bridge arrow 2"/>
          <p:cNvSpPr/>
          <p:nvPr/>
        </p:nvSpPr>
        <p:spPr>
          <a:xfrm>
            <a:off x="9107196" y="3995928"/>
            <a:ext cx="487668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4" name="Bridge step 3"/>
          <p:cNvSpPr txBox="1"/>
          <p:nvPr/>
        </p:nvSpPr>
        <p:spPr>
          <a:xfrm>
            <a:off x="6949266" y="4197096"/>
            <a:ext cx="481572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2029+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Grid connections and new plants arrive</a:t>
            </a:r>
            <a:endParaRPr lang="en-US" sz="1600" dirty="0"/>
          </a:p>
        </p:txBody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Data centers built today need power now. Transitory units like FTAI's fill the gap.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announcements (45 hyperscaler power deals, new and restarted capacity)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Power is a small slice of a data center's cost, and new turbines are sold out. FTAI has pricing power.</a:t>
            </a:r>
            <a:endParaRPr lang="en-US" sz="1700" dirty="0"/>
          </a:p>
        </p:txBody>
      </p:sp>
      <p:sp>
        <p:nvSpPr>
          <p:cNvPr id="4" name="Cost header"/>
          <p:cNvSpPr txBox="1"/>
          <p:nvPr/>
        </p:nvSpPr>
        <p:spPr>
          <a:xfrm>
            <a:off x="426709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Cost to Build 100 MW ($M)</a:t>
            </a:r>
            <a:endParaRPr lang="en-US" sz="1600" dirty="0"/>
          </a:p>
        </p:txBody>
      </p:sp>
      <p:sp>
        <p:nvSpPr>
          <p:cNvPr id="5" name="Cost header rule"/>
          <p:cNvSpPr/>
          <p:nvPr/>
        </p:nvSpPr>
        <p:spPr>
          <a:xfrm>
            <a:off x="426709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Build cost label 1"/>
          <p:cNvSpPr txBox="1"/>
          <p:nvPr/>
        </p:nvSpPr>
        <p:spPr>
          <a:xfrm>
            <a:off x="426709" y="224028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Data center facility</a:t>
            </a:r>
            <a:endParaRPr lang="en-US" sz="1200" dirty="0"/>
          </a:p>
        </p:txBody>
      </p:sp>
      <p:sp>
        <p:nvSpPr>
          <p:cNvPr id="7" name="Build cost bar 1"/>
          <p:cNvSpPr/>
          <p:nvPr/>
        </p:nvSpPr>
        <p:spPr>
          <a:xfrm>
            <a:off x="2986965" y="2240280"/>
            <a:ext cx="1828754" cy="548640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8" name="Build cost value 1"/>
          <p:cNvSpPr txBox="1"/>
          <p:nvPr/>
        </p:nvSpPr>
        <p:spPr>
          <a:xfrm>
            <a:off x="4913253" y="2240280"/>
            <a:ext cx="10972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$1,200M</a:t>
            </a:r>
            <a:endParaRPr lang="en-US" sz="1300" dirty="0"/>
          </a:p>
        </p:txBody>
      </p:sp>
      <p:sp>
        <p:nvSpPr>
          <p:cNvPr id="9" name="Build cost label 2"/>
          <p:cNvSpPr txBox="1"/>
          <p:nvPr/>
        </p:nvSpPr>
        <p:spPr>
          <a:xfrm>
            <a:off x="426709" y="301752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FTAI turbines (6 units)</a:t>
            </a:r>
            <a:endParaRPr lang="en-US" sz="1200" dirty="0"/>
          </a:p>
        </p:txBody>
      </p:sp>
      <p:sp>
        <p:nvSpPr>
          <p:cNvPr id="10" name="Build cost bar 2"/>
          <p:cNvSpPr/>
          <p:nvPr/>
        </p:nvSpPr>
        <p:spPr>
          <a:xfrm>
            <a:off x="2986965" y="3017520"/>
            <a:ext cx="228594" cy="548640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11" name="Build cost value 2"/>
          <p:cNvSpPr txBox="1"/>
          <p:nvPr/>
        </p:nvSpPr>
        <p:spPr>
          <a:xfrm>
            <a:off x="3313093" y="3017520"/>
            <a:ext cx="10972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$150M</a:t>
            </a:r>
            <a:endParaRPr lang="en-US" sz="1300" dirty="0"/>
          </a:p>
        </p:txBody>
      </p:sp>
      <p:sp>
        <p:nvSpPr>
          <p:cNvPr id="12" name="Cost takeaway"/>
          <p:cNvSpPr txBox="1"/>
          <p:nvPr/>
        </p:nvSpPr>
        <p:spPr>
          <a:xfrm>
            <a:off x="426709" y="3931920"/>
            <a:ext cx="5242429" cy="13258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~13%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of the build cost, with 50% spare units for reliability, before counting the GPUs inside.</a:t>
            </a:r>
            <a:endParaRPr lang="en-US" sz="2600" dirty="0"/>
          </a:p>
        </p:txBody>
      </p:sp>
      <p:sp>
        <p:nvSpPr>
          <p:cNvPr id="13" name="Lead time header"/>
          <p:cNvSpPr txBox="1"/>
          <p:nvPr/>
        </p:nvSpPr>
        <p:spPr>
          <a:xfrm>
            <a:off x="6095848" y="1554480"/>
            <a:ext cx="5669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When New Turbines Can Arrive</a:t>
            </a:r>
            <a:endParaRPr lang="en-US" sz="1600" dirty="0"/>
          </a:p>
        </p:txBody>
      </p:sp>
      <p:sp>
        <p:nvSpPr>
          <p:cNvPr id="14" name="Lead time header rule"/>
          <p:cNvSpPr/>
          <p:nvPr/>
        </p:nvSpPr>
        <p:spPr>
          <a:xfrm>
            <a:off x="6095848" y="1975104"/>
            <a:ext cx="566913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5" name="Year grid 2026"/>
          <p:cNvSpPr/>
          <p:nvPr/>
        </p:nvSpPr>
        <p:spPr>
          <a:xfrm>
            <a:off x="8229394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Year tick 2026"/>
          <p:cNvSpPr txBox="1"/>
          <p:nvPr/>
        </p:nvSpPr>
        <p:spPr>
          <a:xfrm>
            <a:off x="7863643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2026</a:t>
            </a:r>
            <a:endParaRPr lang="en-US" sz="1000" dirty="0"/>
          </a:p>
        </p:txBody>
      </p:sp>
      <p:sp>
        <p:nvSpPr>
          <p:cNvPr id="17" name="Year grid 2028"/>
          <p:cNvSpPr/>
          <p:nvPr/>
        </p:nvSpPr>
        <p:spPr>
          <a:xfrm>
            <a:off x="9619248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Year tick 2028"/>
          <p:cNvSpPr txBox="1"/>
          <p:nvPr/>
        </p:nvSpPr>
        <p:spPr>
          <a:xfrm>
            <a:off x="9253497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2028</a:t>
            </a:r>
            <a:endParaRPr lang="en-US" sz="1000" dirty="0"/>
          </a:p>
        </p:txBody>
      </p:sp>
      <p:sp>
        <p:nvSpPr>
          <p:cNvPr id="19" name="Year grid 2030"/>
          <p:cNvSpPr/>
          <p:nvPr/>
        </p:nvSpPr>
        <p:spPr>
          <a:xfrm>
            <a:off x="11009101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20" name="Year tick 2030"/>
          <p:cNvSpPr txBox="1"/>
          <p:nvPr/>
        </p:nvSpPr>
        <p:spPr>
          <a:xfrm>
            <a:off x="10643350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2030</a:t>
            </a:r>
            <a:endParaRPr lang="en-US" sz="1000" dirty="0"/>
          </a:p>
        </p:txBody>
      </p:sp>
      <p:sp>
        <p:nvSpPr>
          <p:cNvPr id="21" name="Lane 1 label"/>
          <p:cNvSpPr txBox="1"/>
          <p:nvPr/>
        </p:nvSpPr>
        <p:spPr>
          <a:xfrm>
            <a:off x="6095848" y="228600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Mod-1</a:t>
            </a:r>
            <a:endParaRPr lang="en-US" sz="1200" dirty="0"/>
          </a:p>
        </p:txBody>
      </p:sp>
      <p:sp>
        <p:nvSpPr>
          <p:cNvPr id="22" name="Lane 1 bar"/>
          <p:cNvSpPr/>
          <p:nvPr/>
        </p:nvSpPr>
        <p:spPr>
          <a:xfrm>
            <a:off x="8785336" y="2359152"/>
            <a:ext cx="833912" cy="365760"/>
          </a:xfrm>
          <a:prstGeom prst="roundRect">
            <a:avLst>
              <a:gd name="adj" fmla="val 20000"/>
            </a:avLst>
          </a:prstGeom>
          <a:solidFill>
            <a:srgbClr val="0A1C58"/>
          </a:solidFill>
          <a:ln/>
        </p:spPr>
      </p:sp>
      <p:sp>
        <p:nvSpPr>
          <p:cNvPr id="23" name="Lane 2 label"/>
          <p:cNvSpPr txBox="1"/>
          <p:nvPr/>
        </p:nvSpPr>
        <p:spPr>
          <a:xfrm>
            <a:off x="6095848" y="306324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aero orders</a:t>
            </a:r>
            <a:endParaRPr lang="en-US" sz="1200" dirty="0"/>
          </a:p>
        </p:txBody>
      </p:sp>
      <p:sp>
        <p:nvSpPr>
          <p:cNvPr id="24" name="Lane 2 bar"/>
          <p:cNvSpPr/>
          <p:nvPr/>
        </p:nvSpPr>
        <p:spPr>
          <a:xfrm>
            <a:off x="9619248" y="3136392"/>
            <a:ext cx="2015287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5" name="Lane 3 label"/>
          <p:cNvSpPr txBox="1"/>
          <p:nvPr/>
        </p:nvSpPr>
        <p:spPr>
          <a:xfrm>
            <a:off x="6095848" y="384048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large turbines</a:t>
            </a:r>
            <a:endParaRPr lang="en-US" sz="1200" dirty="0"/>
          </a:p>
        </p:txBody>
      </p:sp>
      <p:sp>
        <p:nvSpPr>
          <p:cNvPr id="26" name="Lane 3 bar"/>
          <p:cNvSpPr/>
          <p:nvPr/>
        </p:nvSpPr>
        <p:spPr>
          <a:xfrm>
            <a:off x="10314174" y="3913632"/>
            <a:ext cx="1389853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Idle data centers cost far more than power. FTAI delivers years before the competition.</a:t>
            </a:r>
            <a:endParaRPr lang="en-US" sz="1700" dirty="0"/>
          </a:p>
        </p:txBody>
      </p:sp>
      <p:sp>
        <p:nvSpPr>
          <p:cNvPr id="2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CNBC (Jun-26); Tom's Hardware (Oct-25);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Each new contract the size of FTAI's first adds ~20 points to your return.</a:t>
            </a:r>
            <a:endParaRPr lang="en-US" sz="1700" dirty="0"/>
          </a:p>
        </p:txBody>
      </p:sp>
      <p:sp>
        <p:nvSpPr>
          <p:cNvPr id="4" name="Scenario header"/>
          <p:cNvSpPr txBox="1"/>
          <p:nvPr/>
        </p:nvSpPr>
        <p:spPr>
          <a:xfrm>
            <a:off x="426709" y="1554480"/>
            <a:ext cx="45718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Scenario Build (FY27E)</a:t>
            </a:r>
            <a:endParaRPr lang="en-US" sz="1600" dirty="0"/>
          </a:p>
        </p:txBody>
      </p:sp>
      <p:sp>
        <p:nvSpPr>
          <p:cNvPr id="5" name="Scenario header rule"/>
          <p:cNvSpPr/>
          <p:nvPr/>
        </p:nvSpPr>
        <p:spPr>
          <a:xfrm>
            <a:off x="426709" y="1975104"/>
            <a:ext cx="457188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Units col"/>
          <p:cNvSpPr txBox="1"/>
          <p:nvPr/>
        </p:nvSpPr>
        <p:spPr>
          <a:xfrm>
            <a:off x="2255464" y="2029968"/>
            <a:ext cx="12191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Units</a:t>
            </a:r>
            <a:endParaRPr lang="en-US" sz="1100" dirty="0"/>
          </a:p>
        </p:txBody>
      </p:sp>
      <p:sp>
        <p:nvSpPr>
          <p:cNvPr id="7" name="EBITDA col"/>
          <p:cNvSpPr txBox="1"/>
          <p:nvPr/>
        </p:nvSpPr>
        <p:spPr>
          <a:xfrm>
            <a:off x="3596550" y="2029968"/>
            <a:ext cx="1402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EBITDA</a:t>
            </a:r>
            <a:endParaRPr lang="en-US" sz="1100" dirty="0"/>
          </a:p>
        </p:txBody>
      </p:sp>
      <p:sp>
        <p:nvSpPr>
          <p:cNvPr id="8" name="Scenario 1 name"/>
          <p:cNvSpPr txBox="1"/>
          <p:nvPr/>
        </p:nvSpPr>
        <p:spPr>
          <a:xfrm>
            <a:off x="426709" y="2304288"/>
            <a:ext cx="1767796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Signed order</a:t>
            </a:r>
            <a:endParaRPr lang="en-US" sz="1400" dirty="0"/>
          </a:p>
        </p:txBody>
      </p:sp>
      <p:sp>
        <p:nvSpPr>
          <p:cNvPr id="9" name="Scenario 1 units"/>
          <p:cNvSpPr txBox="1"/>
          <p:nvPr/>
        </p:nvSpPr>
        <p:spPr>
          <a:xfrm>
            <a:off x="2255464" y="230428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</a:t>
            </a:r>
            <a:endParaRPr lang="en-US" sz="1400" dirty="0"/>
          </a:p>
        </p:txBody>
      </p:sp>
      <p:sp>
        <p:nvSpPr>
          <p:cNvPr id="10" name="Scenario 1 EBITDA"/>
          <p:cNvSpPr txBox="1"/>
          <p:nvPr/>
        </p:nvSpPr>
        <p:spPr>
          <a:xfrm>
            <a:off x="3596550" y="230428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$450M</a:t>
            </a:r>
            <a:endParaRPr lang="en-US" sz="1600" dirty="0"/>
          </a:p>
        </p:txBody>
      </p:sp>
      <p:sp>
        <p:nvSpPr>
          <p:cNvPr id="11" name="Scenario 2 name"/>
          <p:cNvSpPr txBox="1"/>
          <p:nvPr/>
        </p:nvSpPr>
        <p:spPr>
          <a:xfrm>
            <a:off x="426709" y="3172968"/>
            <a:ext cx="1767796" cy="713232"/>
          </a:xfrm>
          <a:prstGeom prst="rect">
            <a:avLst/>
          </a:prstGeom>
          <a:solidFill>
            <a:srgbClr val="2E93A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+1 contract</a:t>
            </a:r>
            <a:endParaRPr lang="en-US" sz="1400" dirty="0"/>
          </a:p>
        </p:txBody>
      </p:sp>
      <p:sp>
        <p:nvSpPr>
          <p:cNvPr id="12" name="Scenario 2 units"/>
          <p:cNvSpPr txBox="1"/>
          <p:nvPr/>
        </p:nvSpPr>
        <p:spPr>
          <a:xfrm>
            <a:off x="2255464" y="317296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~90</a:t>
            </a:r>
            <a:endParaRPr lang="en-US" sz="1400" dirty="0"/>
          </a:p>
        </p:txBody>
      </p:sp>
      <p:sp>
        <p:nvSpPr>
          <p:cNvPr id="13" name="Scenario 2 EBITDA"/>
          <p:cNvSpPr txBox="1"/>
          <p:nvPr/>
        </p:nvSpPr>
        <p:spPr>
          <a:xfrm>
            <a:off x="3596550" y="317296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$750M</a:t>
            </a:r>
            <a:endParaRPr lang="en-US" sz="1600" dirty="0"/>
          </a:p>
        </p:txBody>
      </p:sp>
      <p:sp>
        <p:nvSpPr>
          <p:cNvPr id="14" name="Scenario 3 name"/>
          <p:cNvSpPr txBox="1"/>
          <p:nvPr/>
        </p:nvSpPr>
        <p:spPr>
          <a:xfrm>
            <a:off x="426709" y="4041648"/>
            <a:ext cx="1767796" cy="71323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+2 contracts</a:t>
            </a:r>
            <a:endParaRPr lang="en-US" sz="1400" dirty="0"/>
          </a:p>
        </p:txBody>
      </p:sp>
      <p:sp>
        <p:nvSpPr>
          <p:cNvPr id="15" name="Scenario 3 units"/>
          <p:cNvSpPr txBox="1"/>
          <p:nvPr/>
        </p:nvSpPr>
        <p:spPr>
          <a:xfrm>
            <a:off x="2255464" y="404164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~130</a:t>
            </a:r>
            <a:endParaRPr lang="en-US" sz="1400" dirty="0"/>
          </a:p>
        </p:txBody>
      </p:sp>
      <p:sp>
        <p:nvSpPr>
          <p:cNvPr id="16" name="Scenario 3 EBITDA"/>
          <p:cNvSpPr txBox="1"/>
          <p:nvPr/>
        </p:nvSpPr>
        <p:spPr>
          <a:xfrm>
            <a:off x="3596550" y="404164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$1,050M</a:t>
            </a:r>
            <a:endParaRPr lang="en-US" sz="1600" dirty="0"/>
          </a:p>
        </p:txBody>
      </p:sp>
      <p:sp>
        <p:nvSpPr>
          <p:cNvPr id="17" name="Return header"/>
          <p:cNvSpPr txBox="1"/>
          <p:nvPr/>
        </p:nvSpPr>
        <p:spPr>
          <a:xfrm>
            <a:off x="5425304" y="1554480"/>
            <a:ext cx="6339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Your Return</a:t>
            </a:r>
            <a:endParaRPr lang="en-US" sz="1600" dirty="0"/>
          </a:p>
        </p:txBody>
      </p:sp>
      <p:sp>
        <p:nvSpPr>
          <p:cNvPr id="18" name="Return header rule"/>
          <p:cNvSpPr/>
          <p:nvPr/>
        </p:nvSpPr>
        <p:spPr>
          <a:xfrm>
            <a:off x="5425304" y="1975104"/>
            <a:ext cx="633968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9" name="Contract return chart" descr=""/>
          <p:cNvGraphicFramePr/>
          <p:nvPr/>
        </p:nvGraphicFramePr>
        <p:xfrm>
          <a:off x="5425304" y="2103120"/>
          <a:ext cx="6339682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Our base case needs no new contracts. Every one FTAI signs is upside the market isn't paying for.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($450–750M FY27 guide)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Power is a bridge the market isn't paying for.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grid falls short from 2029 and new turbines are sold out, so mobile units bridge the gap.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signed $1.465B order already covers the $450M low end of FY27 guidance.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$450M → $1.3B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Power EBITDA, FY27E → FY31E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12x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FY27E multiple, below Aerospace's 16x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+$58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+35%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 new contracts needed for our target. Each one FTAI signs adds ~20 points of return.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($450–750M FY27 guide);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You Need to Believe</a:t>
            </a:r>
            <a:endParaRPr lang="en-US" sz="3000" dirty="0"/>
          </a:p>
        </p:txBody>
      </p:sp>
      <p:sp>
        <p:nvSpPr>
          <p:cNvPr id="3" name="Belief 1 number"/>
          <p:cNvSpPr/>
          <p:nvPr/>
        </p:nvSpPr>
        <p:spPr>
          <a:xfrm>
            <a:off x="1478237" y="1170432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Belief 1"/>
          <p:cNvSpPr txBox="1"/>
          <p:nvPr/>
        </p:nvSpPr>
        <p:spPr>
          <a:xfrm>
            <a:off x="2255464" y="1097280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Margins: ~30% is the floor, and PMA parts, OEM-linked pricing and returning light work rebuild them.</a:t>
            </a:r>
            <a:endParaRPr lang="en-US" sz="1600" dirty="0"/>
          </a:p>
        </p:txBody>
      </p:sp>
      <p:sp>
        <p:nvSpPr>
          <p:cNvPr id="5" name="Belief 2 number"/>
          <p:cNvSpPr/>
          <p:nvPr/>
        </p:nvSpPr>
        <p:spPr>
          <a:xfrm>
            <a:off x="1478237" y="1883664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6" name="Belief 2"/>
          <p:cNvSpPr txBox="1"/>
          <p:nvPr/>
        </p:nvSpPr>
        <p:spPr>
          <a:xfrm>
            <a:off x="2255464" y="1810512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Share: FTAI reaches 20% of CFM56 work by FY30, at half the ~4 pts a year it has already been growing.</a:t>
            </a:r>
            <a:endParaRPr lang="en-US" sz="1600" dirty="0"/>
          </a:p>
        </p:txBody>
      </p:sp>
      <p:sp>
        <p:nvSpPr>
          <p:cNvPr id="7" name="Belief 3 number"/>
          <p:cNvSpPr/>
          <p:nvPr/>
        </p:nvSpPr>
        <p:spPr>
          <a:xfrm>
            <a:off x="1478237" y="2596896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8" name="Belief 3"/>
          <p:cNvSpPr txBox="1"/>
          <p:nvPr/>
        </p:nvSpPr>
        <p:spPr>
          <a:xfrm>
            <a:off x="2255464" y="2523744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Power: FTAI delivers the order it has already signed.</a:t>
            </a:r>
            <a:endParaRPr lang="en-US" sz="1600" dirty="0"/>
          </a:p>
        </p:txBody>
      </p:sp>
      <p:sp>
        <p:nvSpPr>
          <p:cNvPr id="9" name="Pick one"/>
          <p:cNvSpPr txBox="1"/>
          <p:nvPr/>
        </p:nvSpPr>
        <p:spPr>
          <a:xfrm>
            <a:off x="426709" y="3310128"/>
            <a:ext cx="113382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Or… just pick one:</a:t>
            </a:r>
            <a:endParaRPr lang="en-US" sz="2000" dirty="0"/>
          </a:p>
        </p:txBody>
      </p:sp>
      <p:graphicFrame>
        <p:nvGraphicFramePr>
          <p:cNvPr id="10" name="Pick one chart" descr=""/>
          <p:cNvGraphicFramePr/>
          <p:nvPr/>
        </p:nvGraphicFramePr>
        <p:xfrm>
          <a:off x="3108882" y="3703320"/>
          <a:ext cx="5973931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Left assumption box"/>
          <p:cNvSpPr txBox="1"/>
          <p:nvPr/>
        </p:nvSpPr>
        <p:spPr>
          <a:xfrm>
            <a:off x="426709" y="4251960"/>
            <a:ext cx="2438339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Each bar holds the other side at our bear case</a:t>
            </a:r>
            <a:endParaRPr lang="en-US" sz="1200" dirty="0"/>
          </a:p>
        </p:txBody>
      </p:sp>
      <p:sp>
        <p:nvSpPr>
          <p:cNvPr id="12" name="Right assumption box"/>
          <p:cNvSpPr txBox="1"/>
          <p:nvPr/>
        </p:nvSpPr>
        <p:spPr>
          <a:xfrm>
            <a:off x="9326647" y="4251960"/>
            <a:ext cx="2438339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All three:</a:t>
            </a:r>
            <a:endParaRPr lang="en-US" sz="13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+66%</a:t>
            </a:r>
            <a:endParaRPr lang="en-US" sz="13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at base multiples;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Valuation: Sum of the Parts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 $167 the market prices our bear case. Each thesis builds from there to $277.</a:t>
            </a:r>
            <a:endParaRPr lang="en-US" sz="1700" dirty="0"/>
          </a:p>
        </p:txBody>
      </p:sp>
      <p:sp>
        <p:nvSpPr>
          <p:cNvPr id="4" name="Waterfall header"/>
          <p:cNvSpPr txBox="1"/>
          <p:nvPr/>
        </p:nvSpPr>
        <p:spPr>
          <a:xfrm>
            <a:off x="426709" y="1554480"/>
            <a:ext cx="76198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From Today to Our Base Case ($ / Share)</a:t>
            </a:r>
            <a:endParaRPr lang="en-US" sz="1600" dirty="0"/>
          </a:p>
        </p:txBody>
      </p:sp>
      <p:sp>
        <p:nvSpPr>
          <p:cNvPr id="5" name="Waterfall header rule"/>
          <p:cNvSpPr/>
          <p:nvPr/>
        </p:nvSpPr>
        <p:spPr>
          <a:xfrm>
            <a:off x="426709" y="1975104"/>
            <a:ext cx="761980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Thesis waterfall" descr=""/>
          <p:cNvGraphicFramePr/>
          <p:nvPr/>
        </p:nvGraphicFramePr>
        <p:xfrm>
          <a:off x="426709" y="2103120"/>
          <a:ext cx="7619809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Waterfall label 1"/>
          <p:cNvSpPr txBox="1"/>
          <p:nvPr/>
        </p:nvSpPr>
        <p:spPr>
          <a:xfrm>
            <a:off x="755885" y="2956932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$167</a:t>
            </a:r>
            <a:endParaRPr lang="en-US" sz="1300" dirty="0"/>
          </a:p>
        </p:txBody>
      </p:sp>
      <p:sp>
        <p:nvSpPr>
          <p:cNvPr id="8" name="Waterfall label 2"/>
          <p:cNvSpPr txBox="1"/>
          <p:nvPr/>
        </p:nvSpPr>
        <p:spPr>
          <a:xfrm>
            <a:off x="2218889" y="2813223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+$18</a:t>
            </a:r>
            <a:endParaRPr lang="en-US" sz="1300" dirty="0"/>
          </a:p>
        </p:txBody>
      </p:sp>
      <p:sp>
        <p:nvSpPr>
          <p:cNvPr id="9" name="Waterfall label 3"/>
          <p:cNvSpPr txBox="1"/>
          <p:nvPr/>
        </p:nvSpPr>
        <p:spPr>
          <a:xfrm>
            <a:off x="3681892" y="2539453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+$34</a:t>
            </a:r>
            <a:endParaRPr lang="en-US" sz="1300" dirty="0"/>
          </a:p>
        </p:txBody>
      </p:sp>
      <p:sp>
        <p:nvSpPr>
          <p:cNvPr id="10" name="Waterfall label 4"/>
          <p:cNvSpPr txBox="1"/>
          <p:nvPr/>
        </p:nvSpPr>
        <p:spPr>
          <a:xfrm>
            <a:off x="5144895" y="2077016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+$58</a:t>
            </a:r>
            <a:endParaRPr lang="en-US" sz="1300" dirty="0"/>
          </a:p>
        </p:txBody>
      </p:sp>
      <p:sp>
        <p:nvSpPr>
          <p:cNvPr id="11" name="Waterfall label 5"/>
          <p:cNvSpPr txBox="1"/>
          <p:nvPr/>
        </p:nvSpPr>
        <p:spPr>
          <a:xfrm>
            <a:off x="6607899" y="2077016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E6E25"/>
                </a:solidFill>
              </a:rPr>
              <a:t>$277</a:t>
            </a:r>
            <a:endParaRPr lang="en-US" sz="1300" dirty="0"/>
          </a:p>
        </p:txBody>
      </p:sp>
      <p:sp>
        <p:nvSpPr>
          <p:cNvPr id="12" name="Means header"/>
          <p:cNvSpPr txBox="1"/>
          <p:nvPr/>
        </p:nvSpPr>
        <p:spPr>
          <a:xfrm>
            <a:off x="8412270" y="1554480"/>
            <a:ext cx="33527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</a:t>
            </a:r>
            <a:endParaRPr lang="en-US" sz="1600" dirty="0"/>
          </a:p>
        </p:txBody>
      </p:sp>
      <p:sp>
        <p:nvSpPr>
          <p:cNvPr id="13" name="Means header rule"/>
          <p:cNvSpPr/>
          <p:nvPr/>
        </p:nvSpPr>
        <p:spPr>
          <a:xfrm>
            <a:off x="8412270" y="1975104"/>
            <a:ext cx="335271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Means stat 1"/>
          <p:cNvSpPr txBox="1"/>
          <p:nvPr/>
        </p:nvSpPr>
        <p:spPr>
          <a:xfrm>
            <a:off x="8412270" y="210312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+66%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upside to our $277 base case</a:t>
            </a:r>
            <a:endParaRPr lang="en-US" sz="2800" dirty="0"/>
          </a:p>
        </p:txBody>
      </p:sp>
      <p:sp>
        <p:nvSpPr>
          <p:cNvPr id="15" name="Means stat 2"/>
          <p:cNvSpPr txBox="1"/>
          <p:nvPr/>
        </p:nvSpPr>
        <p:spPr>
          <a:xfrm>
            <a:off x="8412270" y="310896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$52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the aviation theses: margins and share</a:t>
            </a:r>
            <a:endParaRPr lang="en-US" sz="2800" dirty="0"/>
          </a:p>
        </p:txBody>
      </p:sp>
      <p:sp>
        <p:nvSpPr>
          <p:cNvPr id="16" name="Means stat 3"/>
          <p:cNvSpPr txBox="1"/>
          <p:nvPr/>
        </p:nvSpPr>
        <p:spPr>
          <a:xfrm>
            <a:off x="8412270" y="411480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$58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Power, on just the signed order</a:t>
            </a:r>
            <a:endParaRPr lang="en-US" sz="28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aviation theses alone add $52 a share. Power on just the signed order takes it to 66%.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(Aerospace 16x, Power 12x, Leasing + SCI 9x); price $167.03 (10/2/26)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Catalysts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Three catalysts over the next 12–15 months, one for each thesis.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5754480" y="1554480"/>
            <a:ext cx="682735" cy="3840480"/>
          </a:xfrm>
          <a:prstGeom prst="downArrow">
            <a:avLst/>
          </a:prstGeom>
          <a:solidFill>
            <a:srgbClr val="0A1C58"/>
          </a:solidFill>
          <a:ln/>
        </p:spPr>
      </p:sp>
      <p:sp>
        <p:nvSpPr>
          <p:cNvPr id="5" name="Catalyst 1 band"/>
          <p:cNvSpPr/>
          <p:nvPr/>
        </p:nvSpPr>
        <p:spPr>
          <a:xfrm>
            <a:off x="426709" y="1691640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6" name="Catalyst 1 head"/>
          <p:cNvSpPr txBox="1"/>
          <p:nvPr/>
        </p:nvSpPr>
        <p:spPr>
          <a:xfrm>
            <a:off x="609585" y="1691640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Two quarters of stable margins</a:t>
            </a:r>
            <a:endParaRPr lang="en-US" sz="1500" dirty="0"/>
          </a:p>
        </p:txBody>
      </p:sp>
      <p:sp>
        <p:nvSpPr>
          <p:cNvPr id="7" name="Catalyst 1 date"/>
          <p:cNvSpPr txBox="1"/>
          <p:nvPr/>
        </p:nvSpPr>
        <p:spPr>
          <a:xfrm>
            <a:off x="5059554" y="1865376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Q3 &amp; Q4 '26 prints</a:t>
            </a:r>
            <a:endParaRPr lang="en-US" sz="1500" dirty="0"/>
          </a:p>
        </p:txBody>
      </p:sp>
      <p:sp>
        <p:nvSpPr>
          <p:cNvPr id="8" name="Catalyst 1 watch"/>
          <p:cNvSpPr txBox="1"/>
          <p:nvPr/>
        </p:nvSpPr>
        <p:spPr>
          <a:xfrm>
            <a:off x="7315017" y="1691640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Aerospace margins hold at ~30% or better, plus early PMA usage commentary on the Q3 call (late Oct.)</a:t>
            </a:r>
            <a:endParaRPr lang="en-US" sz="1200" dirty="0"/>
          </a:p>
        </p:txBody>
      </p:sp>
      <p:sp>
        <p:nvSpPr>
          <p:cNvPr id="9" name="Catalyst 2 band"/>
          <p:cNvSpPr/>
          <p:nvPr/>
        </p:nvSpPr>
        <p:spPr>
          <a:xfrm>
            <a:off x="426709" y="2907792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0" name="Catalyst 2 head"/>
          <p:cNvSpPr txBox="1"/>
          <p:nvPr/>
        </p:nvSpPr>
        <p:spPr>
          <a:xfrm>
            <a:off x="609585" y="2907792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facilities ramp up</a:t>
            </a:r>
            <a:endParaRPr lang="en-US" sz="1500" dirty="0"/>
          </a:p>
        </p:txBody>
      </p:sp>
      <p:sp>
        <p:nvSpPr>
          <p:cNvPr id="11" name="Catalyst 2 date"/>
          <p:cNvSpPr txBox="1"/>
          <p:nvPr/>
        </p:nvSpPr>
        <p:spPr>
          <a:xfrm>
            <a:off x="5059554" y="3081528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1H '27</a:t>
            </a:r>
            <a:endParaRPr lang="en-US" sz="1500" dirty="0"/>
          </a:p>
        </p:txBody>
      </p:sp>
      <p:sp>
        <p:nvSpPr>
          <p:cNvPr id="12" name="Catalyst 2 watch"/>
          <p:cNvSpPr txBox="1"/>
          <p:nvPr/>
        </p:nvSpPr>
        <p:spPr>
          <a:xfrm>
            <a:off x="7315017" y="2907792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Jakarta, Cairo and Lisbon come online, putting FTAI on track for its 1,700-module target</a:t>
            </a:r>
            <a:endParaRPr lang="en-US" sz="1200" dirty="0"/>
          </a:p>
        </p:txBody>
      </p:sp>
      <p:sp>
        <p:nvSpPr>
          <p:cNvPr id="13" name="Catalyst 3 band"/>
          <p:cNvSpPr/>
          <p:nvPr/>
        </p:nvSpPr>
        <p:spPr>
          <a:xfrm>
            <a:off x="426709" y="4123944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4" name="Catalyst 3 head"/>
          <p:cNvSpPr txBox="1"/>
          <p:nvPr/>
        </p:nvSpPr>
        <p:spPr>
          <a:xfrm>
            <a:off x="609585" y="4123944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Power units deliver, or a new contract</a:t>
            </a:r>
            <a:endParaRPr lang="en-US" sz="1500" dirty="0"/>
          </a:p>
        </p:txBody>
      </p:sp>
      <p:sp>
        <p:nvSpPr>
          <p:cNvPr id="15" name="Catalyst 3 date"/>
          <p:cNvSpPr txBox="1"/>
          <p:nvPr/>
        </p:nvSpPr>
        <p:spPr>
          <a:xfrm>
            <a:off x="5059554" y="4297680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2H '27</a:t>
            </a:r>
            <a:endParaRPr lang="en-US" sz="1500" dirty="0"/>
          </a:p>
        </p:txBody>
      </p:sp>
      <p:sp>
        <p:nvSpPr>
          <p:cNvPr id="16" name="Catalyst 3 watch"/>
          <p:cNvSpPr txBox="1"/>
          <p:nvPr/>
        </p:nvSpPr>
        <p:spPr>
          <a:xfrm>
            <a:off x="7315017" y="4123944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on schedule, or a follow-on order that pushes FY27 Power EBITDA toward $750M</a:t>
            </a:r>
            <a:endParaRPr lang="en-US" sz="12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Each catalyst tests one thesis directly, and all three land by the end of 2027.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and Q2'26 supplement (1,700-module 2027 target; FY27 Power guide $450–750M)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Risks / Mitigants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risks are real, but each is either priced in or being closed.</a:t>
            </a:r>
            <a:endParaRPr lang="en-US" sz="1700" dirty="0"/>
          </a:p>
        </p:txBody>
      </p:sp>
      <p:sp>
        <p:nvSpPr>
          <p:cNvPr id="4" name="Risk 1 number"/>
          <p:cNvSpPr/>
          <p:nvPr/>
        </p:nvSpPr>
        <p:spPr>
          <a:xfrm>
            <a:off x="515092" y="1527048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Risk 1 head"/>
          <p:cNvSpPr txBox="1"/>
          <p:nvPr/>
        </p:nvSpPr>
        <p:spPr>
          <a:xfrm>
            <a:off x="1158211" y="1600200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Locked Out of LEAP</a:t>
            </a:r>
            <a:endParaRPr lang="en-US" sz="1500" dirty="0"/>
          </a:p>
        </p:txBody>
      </p:sp>
      <p:sp>
        <p:nvSpPr>
          <p:cNvPr id="6" name="Risk 1 detail"/>
          <p:cNvSpPr txBox="1"/>
          <p:nvPr/>
        </p:nvSpPr>
        <p:spPr>
          <a:xfrm>
            <a:off x="1158211" y="1984248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CFM keeps LEAP work in-house through service contracts and licenses.</a:t>
            </a:r>
            <a:endParaRPr lang="en-US" sz="1200" dirty="0"/>
          </a:p>
        </p:txBody>
      </p:sp>
      <p:sp>
        <p:nvSpPr>
          <p:cNvPr id="7" name="Risk 1 mitigants"/>
          <p:cNvSpPr/>
          <p:nvPr/>
        </p:nvSpPr>
        <p:spPr>
          <a:xfrm flipH="1">
            <a:off x="5608180" y="1554480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LEAP visits ~3x by 2030; 5,000+ a year by 2040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GE is doubling LEAP capacity, yet IATA says it won't be enough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Third parties: 10% → ~30% of LEAP visits by 2030</a:t>
            </a:r>
            <a:endParaRPr lang="en-US" sz="1100" dirty="0"/>
          </a:p>
        </p:txBody>
      </p:sp>
      <p:sp>
        <p:nvSpPr>
          <p:cNvPr id="8" name="Risk 2 number"/>
          <p:cNvSpPr/>
          <p:nvPr/>
        </p:nvSpPr>
        <p:spPr>
          <a:xfrm>
            <a:off x="515092" y="2825496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Risk 2 head"/>
          <p:cNvSpPr txBox="1"/>
          <p:nvPr/>
        </p:nvSpPr>
        <p:spPr>
          <a:xfrm>
            <a:off x="1158211" y="2898648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Short-Report Overhang</a:t>
            </a:r>
            <a:endParaRPr lang="en-US" sz="1500" dirty="0"/>
          </a:p>
        </p:txBody>
      </p:sp>
      <p:sp>
        <p:nvSpPr>
          <p:cNvPr id="10" name="Risk 2 detail"/>
          <p:cNvSpPr txBox="1"/>
          <p:nvPr/>
        </p:nvSpPr>
        <p:spPr>
          <a:xfrm>
            <a:off x="1158211" y="3282696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The market keeps a fraud discount on FTAI's multiple.</a:t>
            </a:r>
            <a:endParaRPr lang="en-US" sz="1200" dirty="0"/>
          </a:p>
        </p:txBody>
      </p:sp>
      <p:sp>
        <p:nvSpPr>
          <p:cNvPr id="11" name="Risk 2 mitigants"/>
          <p:cNvSpPr/>
          <p:nvPr/>
        </p:nvSpPr>
        <p:spPr>
          <a:xfrm flipH="1">
            <a:off x="5608180" y="2852928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Priced in: at $167 the market pays our bear case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&lt;8% cheap stock left: margins now show the core business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Each clean print (Q3 &amp; Q4 '26) shrinks the discount</a:t>
            </a:r>
            <a:endParaRPr lang="en-US" sz="1100" dirty="0"/>
          </a:p>
        </p:txBody>
      </p:sp>
      <p:sp>
        <p:nvSpPr>
          <p:cNvPr id="12" name="Risk 3 number"/>
          <p:cNvSpPr/>
          <p:nvPr/>
        </p:nvSpPr>
        <p:spPr>
          <a:xfrm>
            <a:off x="515092" y="4123944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Risk 3 head"/>
          <p:cNvSpPr txBox="1"/>
          <p:nvPr/>
        </p:nvSpPr>
        <p:spPr>
          <a:xfrm>
            <a:off x="1158211" y="4197096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Technician Shortage</a:t>
            </a:r>
            <a:endParaRPr lang="en-US" sz="1500" dirty="0"/>
          </a:p>
        </p:txBody>
      </p:sp>
      <p:sp>
        <p:nvSpPr>
          <p:cNvPr id="14" name="Risk 3 detail"/>
          <p:cNvSpPr txBox="1"/>
          <p:nvPr/>
        </p:nvSpPr>
        <p:spPr>
          <a:xfrm>
            <a:off x="1158211" y="4581144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Too few skilled techs caps how many modules FTAI can turn.</a:t>
            </a:r>
            <a:endParaRPr lang="en-US" sz="1200" dirty="0"/>
          </a:p>
        </p:txBody>
      </p:sp>
      <p:sp>
        <p:nvSpPr>
          <p:cNvPr id="15" name="Risk 3 mitigants"/>
          <p:cNvSpPr/>
          <p:nvPr/>
        </p:nvSpPr>
        <p:spPr>
          <a:xfrm flipH="1">
            <a:off x="5608180" y="4151376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FTAI's academy trains its own techs (trainers in Montreal, Miami)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Partners add ~320 techs in Jakarta and Cairo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New hires speed up with experience and Palantir tools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None of these risks is new to the market. The bear case is already in the price.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Q2'26 call; CFM via StandardAero; IATA (Jun-26); FTAI Q2'26 supplement; FTAI job postings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731502" y="2926080"/>
            <a:ext cx="10728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Q&amp;A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731502" y="2926080"/>
            <a:ext cx="10728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Appendix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(1/2)</a:t>
            </a:r>
            <a:endParaRPr lang="en-US" sz="3000" dirty="0"/>
          </a:p>
        </p:txBody>
      </p:sp>
      <p:pic>
        <p:nvPicPr>
          <p:cNvPr id="3" name="PV bridge" descr="/home/user/SPOT/deck/img/app_p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482" y="1188720"/>
            <a:ext cx="10596732" cy="2377440"/>
          </a:xfrm>
          <a:prstGeom prst="rect">
            <a:avLst/>
          </a:prstGeom>
        </p:spPr>
      </p:pic>
      <p:pic>
        <p:nvPicPr>
          <p:cNvPr id="4" name="Blended valuation" descr="/home/user/SPOT/deck/img/app_bl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62" y="3657600"/>
            <a:ext cx="9143771" cy="1871911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(2/2)</a:t>
            </a:r>
            <a:endParaRPr lang="en-US" sz="3000" dirty="0"/>
          </a:p>
        </p:txBody>
      </p:sp>
      <p:pic>
        <p:nvPicPr>
          <p:cNvPr id="3" name="Valuation methods" descr="/home/user/SPOT/deck/img/app_metho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143000"/>
            <a:ext cx="11338277" cy="501360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Sensitivities</a:t>
            </a:r>
            <a:endParaRPr lang="en-US" sz="3000" dirty="0"/>
          </a:p>
        </p:txBody>
      </p:sp>
      <p:pic>
        <p:nvPicPr>
          <p:cNvPr id="3" name="Sensitivity tables" descr="/home/user/SPOT/deck/img/app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5489" y="1097280"/>
            <a:ext cx="8320717" cy="507492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Implied share price by WACC, terminal growth and exit multiple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Sum of the Parts</a:t>
            </a:r>
            <a:endParaRPr lang="en-US" sz="3000" dirty="0"/>
          </a:p>
        </p:txBody>
      </p:sp>
      <p:pic>
        <p:nvPicPr>
          <p:cNvPr id="3" name="SOTP table" descr="/home/user/SPOT/deck/img/app_sot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188720"/>
            <a:ext cx="11338277" cy="350310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Power Model</a:t>
            </a:r>
            <a:endParaRPr lang="en-US" sz="3000" dirty="0"/>
          </a:p>
        </p:txBody>
      </p:sp>
      <p:pic>
        <p:nvPicPr>
          <p:cNvPr id="3" name="Mod-1 build" descr="/home/user/SPOT/deck/img/app_pow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5592" y="1097280"/>
            <a:ext cx="9060511" cy="1965960"/>
          </a:xfrm>
          <a:prstGeom prst="rect">
            <a:avLst/>
          </a:prstGeom>
        </p:spPr>
      </p:pic>
      <p:pic>
        <p:nvPicPr>
          <p:cNvPr id="4" name="Power shortfall" descr="/home/user/SPOT/deck/img/app_shortf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671" y="3246120"/>
            <a:ext cx="8290353" cy="2095508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Mod-1 build;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Gas Turbine Pricing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New gas capacity costs ~3x what it did in 2022, and the OEMs are still raising prices.</a:t>
            </a:r>
            <a:endParaRPr lang="en-US" sz="1700" dirty="0"/>
          </a:p>
        </p:txBody>
      </p:sp>
      <p:sp>
        <p:nvSpPr>
          <p:cNvPr id="4" name="Build cost header"/>
          <p:cNvSpPr txBox="1"/>
          <p:nvPr/>
        </p:nvSpPr>
        <p:spPr>
          <a:xfrm>
            <a:off x="426709" y="1554480"/>
            <a:ext cx="64615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New Combined-Cycle Build Cost ($/kW)</a:t>
            </a:r>
            <a:endParaRPr lang="en-US" sz="1600" dirty="0"/>
          </a:p>
        </p:txBody>
      </p:sp>
      <p:sp>
        <p:nvSpPr>
          <p:cNvPr id="5" name="Build cost header rule"/>
          <p:cNvSpPr/>
          <p:nvPr/>
        </p:nvSpPr>
        <p:spPr>
          <a:xfrm>
            <a:off x="426709" y="1975104"/>
            <a:ext cx="646159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Cost bar 1"/>
          <p:cNvSpPr/>
          <p:nvPr/>
        </p:nvSpPr>
        <p:spPr>
          <a:xfrm>
            <a:off x="755885" y="3717798"/>
            <a:ext cx="950952" cy="598170"/>
          </a:xfrm>
          <a:prstGeom prst="rect">
            <a:avLst/>
          </a:prstGeom>
          <a:solidFill>
            <a:srgbClr val="847C7A"/>
          </a:solidFill>
          <a:ln w="12700">
            <a:solidFill>
              <a:srgbClr val="847C7A"/>
            </a:solidFill>
            <a:prstDash val="solid"/>
          </a:ln>
        </p:spPr>
      </p:sp>
      <p:sp>
        <p:nvSpPr>
          <p:cNvPr id="7" name="Cost label 1"/>
          <p:cNvSpPr txBox="1"/>
          <p:nvPr/>
        </p:nvSpPr>
        <p:spPr>
          <a:xfrm>
            <a:off x="451093" y="3406902"/>
            <a:ext cx="1560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$785</a:t>
            </a:r>
            <a:endParaRPr lang="en-US" sz="1400" dirty="0"/>
          </a:p>
        </p:txBody>
      </p:sp>
      <p:sp>
        <p:nvSpPr>
          <p:cNvPr id="8" name="Cost cat 1"/>
          <p:cNvSpPr txBox="1"/>
          <p:nvPr/>
        </p:nvSpPr>
        <p:spPr>
          <a:xfrm>
            <a:off x="451093" y="4361688"/>
            <a:ext cx="15605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2022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NextEra, last plant</a:t>
            </a:r>
            <a:endParaRPr lang="en-US" sz="1300" dirty="0"/>
          </a:p>
        </p:txBody>
      </p:sp>
      <p:sp>
        <p:nvSpPr>
          <p:cNvPr id="9" name="Cost bar 2"/>
          <p:cNvSpPr/>
          <p:nvPr/>
        </p:nvSpPr>
        <p:spPr>
          <a:xfrm>
            <a:off x="2304230" y="3172968"/>
            <a:ext cx="950952" cy="1143000"/>
          </a:xfrm>
          <a:prstGeom prst="rect">
            <a:avLst/>
          </a:prstGeom>
          <a:solidFill>
            <a:srgbClr val="847C7A"/>
          </a:solidFill>
          <a:ln w="12700">
            <a:solidFill>
              <a:srgbClr val="847C7A"/>
            </a:solidFill>
            <a:prstDash val="solid"/>
          </a:ln>
        </p:spPr>
      </p:sp>
      <p:sp>
        <p:nvSpPr>
          <p:cNvPr id="10" name="Cost label 2"/>
          <p:cNvSpPr txBox="1"/>
          <p:nvPr/>
        </p:nvSpPr>
        <p:spPr>
          <a:xfrm>
            <a:off x="1999438" y="2862072"/>
            <a:ext cx="1560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~$1,500</a:t>
            </a:r>
            <a:endParaRPr lang="en-US" sz="1400" dirty="0"/>
          </a:p>
        </p:txBody>
      </p:sp>
      <p:sp>
        <p:nvSpPr>
          <p:cNvPr id="11" name="Cost cat 2"/>
          <p:cNvSpPr txBox="1"/>
          <p:nvPr/>
        </p:nvSpPr>
        <p:spPr>
          <a:xfrm>
            <a:off x="1999438" y="4361688"/>
            <a:ext cx="15605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2023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BNEF avg.</a:t>
            </a:r>
            <a:endParaRPr lang="en-US" sz="1300" dirty="0"/>
          </a:p>
        </p:txBody>
      </p:sp>
      <p:sp>
        <p:nvSpPr>
          <p:cNvPr id="12" name="Cost bar 3"/>
          <p:cNvSpPr/>
          <p:nvPr/>
        </p:nvSpPr>
        <p:spPr>
          <a:xfrm>
            <a:off x="3852576" y="2672334"/>
            <a:ext cx="950952" cy="1643634"/>
          </a:xfrm>
          <a:prstGeom prst="rect">
            <a:avLst/>
          </a:prstGeom>
          <a:solidFill>
            <a:srgbClr val="0A1C58"/>
          </a:solidFill>
          <a:ln w="12700">
            <a:solidFill>
              <a:srgbClr val="0A1C58"/>
            </a:solidFill>
            <a:prstDash val="solid"/>
          </a:ln>
        </p:spPr>
      </p:sp>
      <p:sp>
        <p:nvSpPr>
          <p:cNvPr id="13" name="Cost label 3"/>
          <p:cNvSpPr txBox="1"/>
          <p:nvPr/>
        </p:nvSpPr>
        <p:spPr>
          <a:xfrm>
            <a:off x="3547783" y="2361438"/>
            <a:ext cx="1560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$2,157</a:t>
            </a:r>
            <a:endParaRPr lang="en-US" sz="1400" dirty="0"/>
          </a:p>
        </p:txBody>
      </p:sp>
      <p:sp>
        <p:nvSpPr>
          <p:cNvPr id="14" name="Cost cat 3"/>
          <p:cNvSpPr txBox="1"/>
          <p:nvPr/>
        </p:nvSpPr>
        <p:spPr>
          <a:xfrm>
            <a:off x="3547783" y="4361688"/>
            <a:ext cx="15605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2025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BNEF avg.</a:t>
            </a:r>
            <a:endParaRPr lang="en-US" sz="1300" dirty="0"/>
          </a:p>
        </p:txBody>
      </p:sp>
      <p:sp>
        <p:nvSpPr>
          <p:cNvPr id="15" name="Cost bar 4"/>
          <p:cNvSpPr/>
          <p:nvPr/>
        </p:nvSpPr>
        <p:spPr>
          <a:xfrm>
            <a:off x="5400921" y="2487168"/>
            <a:ext cx="950952" cy="1828800"/>
          </a:xfrm>
          <a:prstGeom prst="rect">
            <a:avLst/>
          </a:prstGeom>
          <a:solidFill>
            <a:srgbClr val="EE6E25"/>
          </a:solidFill>
          <a:ln w="12700">
            <a:solidFill>
              <a:srgbClr val="EE6E25"/>
            </a:solidFill>
            <a:prstDash val="solid"/>
          </a:ln>
        </p:spPr>
      </p:sp>
      <p:sp>
        <p:nvSpPr>
          <p:cNvPr id="16" name="Cost label 4"/>
          <p:cNvSpPr txBox="1"/>
          <p:nvPr/>
        </p:nvSpPr>
        <p:spPr>
          <a:xfrm>
            <a:off x="5096129" y="2176272"/>
            <a:ext cx="1560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E6E25"/>
                </a:solidFill>
              </a:rPr>
              <a:t>$2,400</a:t>
            </a:r>
            <a:endParaRPr lang="en-US" sz="1400" dirty="0"/>
          </a:p>
        </p:txBody>
      </p:sp>
      <p:sp>
        <p:nvSpPr>
          <p:cNvPr id="17" name="Cost cat 4"/>
          <p:cNvSpPr txBox="1"/>
          <p:nvPr/>
        </p:nvSpPr>
        <p:spPr>
          <a:xfrm>
            <a:off x="5096129" y="4361688"/>
            <a:ext cx="15605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2025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NextEra, same plant</a:t>
            </a:r>
            <a:endParaRPr lang="en-US" sz="1300" dirty="0"/>
          </a:p>
        </p:txBody>
      </p:sp>
      <p:sp>
        <p:nvSpPr>
          <p:cNvPr id="18" name="Cost baseline"/>
          <p:cNvSpPr/>
          <p:nvPr/>
        </p:nvSpPr>
        <p:spPr>
          <a:xfrm>
            <a:off x="548626" y="4315968"/>
            <a:ext cx="6217765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19" name="Cost multiple"/>
          <p:cNvSpPr txBox="1"/>
          <p:nvPr/>
        </p:nvSpPr>
        <p:spPr>
          <a:xfrm>
            <a:off x="1036294" y="2103120"/>
            <a:ext cx="12191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~3x</a:t>
            </a:r>
            <a:endParaRPr lang="en-US" sz="1800" dirty="0"/>
          </a:p>
        </p:txBody>
      </p:sp>
      <p:sp>
        <p:nvSpPr>
          <p:cNvPr id="20" name="Cost arrow"/>
          <p:cNvSpPr/>
          <p:nvPr/>
        </p:nvSpPr>
        <p:spPr>
          <a:xfrm flipV="1">
            <a:off x="1341086" y="2194560"/>
            <a:ext cx="2133547" cy="502920"/>
          </a:xfrm>
          <a:prstGeom prst="line">
            <a:avLst/>
          </a:prstGeom>
          <a:noFill/>
          <a:ln w="2540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21" name="Equipment callout"/>
          <p:cNvSpPr txBox="1"/>
          <p:nvPr/>
        </p:nvSpPr>
        <p:spPr>
          <a:xfrm>
            <a:off x="426709" y="4919472"/>
            <a:ext cx="6461598" cy="420624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Turbine equipment alone: 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~$200/kW (2019) → $600/kW (2027E), +195%</a:t>
            </a:r>
            <a:endParaRPr lang="en-US" sz="1300" dirty="0"/>
          </a:p>
        </p:txBody>
      </p:sp>
      <p:sp>
        <p:nvSpPr>
          <p:cNvPr id="22" name="OEM header"/>
          <p:cNvSpPr txBox="1"/>
          <p:nvPr/>
        </p:nvSpPr>
        <p:spPr>
          <a:xfrm>
            <a:off x="7254059" y="1554480"/>
            <a:ext cx="45109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the OEMs Are Saying</a:t>
            </a:r>
            <a:endParaRPr lang="en-US" sz="1600" dirty="0"/>
          </a:p>
        </p:txBody>
      </p:sp>
      <p:sp>
        <p:nvSpPr>
          <p:cNvPr id="23" name="OEM header rule"/>
          <p:cNvSpPr/>
          <p:nvPr/>
        </p:nvSpPr>
        <p:spPr>
          <a:xfrm>
            <a:off x="7254059" y="1975104"/>
            <a:ext cx="451092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24" name="GE Vernova accent"/>
          <p:cNvSpPr/>
          <p:nvPr/>
        </p:nvSpPr>
        <p:spPr>
          <a:xfrm>
            <a:off x="7254059" y="2103120"/>
            <a:ext cx="85342" cy="950976"/>
          </a:xfrm>
          <a:prstGeom prst="rect">
            <a:avLst/>
          </a:prstGeom>
          <a:solidFill>
            <a:srgbClr val="EE6E25"/>
          </a:solidFill>
          <a:ln w="12700">
            <a:solidFill>
              <a:srgbClr val="EE6E25"/>
            </a:solidFill>
            <a:prstDash val="solid"/>
          </a:ln>
        </p:spPr>
      </p:sp>
      <p:sp>
        <p:nvSpPr>
          <p:cNvPr id="25" name="GE Vernova card"/>
          <p:cNvSpPr txBox="1"/>
          <p:nvPr/>
        </p:nvSpPr>
        <p:spPr>
          <a:xfrm>
            <a:off x="7436934" y="2103120"/>
            <a:ext cx="4328052" cy="950976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01600" tIns="38100" rIns="76200" bIns="381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GE Vernova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</a:rPr>
              <a:t>1H26 orders priced 10–20 pts higher per kW than 4Q25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2"/>
                </a:solidFill>
              </a:rPr>
              <a:t>Slots sold into 2031; reservation fees up to $25M</a:t>
            </a:r>
            <a:endParaRPr lang="en-US" sz="1400" dirty="0"/>
          </a:p>
        </p:txBody>
      </p:sp>
      <p:sp>
        <p:nvSpPr>
          <p:cNvPr id="26" name="Siemens Energy accent"/>
          <p:cNvSpPr/>
          <p:nvPr/>
        </p:nvSpPr>
        <p:spPr>
          <a:xfrm>
            <a:off x="7254059" y="3182112"/>
            <a:ext cx="85342" cy="950976"/>
          </a:xfrm>
          <a:prstGeom prst="rect">
            <a:avLst/>
          </a:prstGeom>
          <a:solidFill>
            <a:srgbClr val="2E93AE"/>
          </a:solidFill>
          <a:ln w="12700">
            <a:solidFill>
              <a:srgbClr val="2E93AE"/>
            </a:solidFill>
            <a:prstDash val="solid"/>
          </a:ln>
        </p:spPr>
      </p:sp>
      <p:sp>
        <p:nvSpPr>
          <p:cNvPr id="27" name="Siemens Energy card"/>
          <p:cNvSpPr txBox="1"/>
          <p:nvPr/>
        </p:nvSpPr>
        <p:spPr>
          <a:xfrm>
            <a:off x="7436934" y="3182112"/>
            <a:ext cx="4328052" cy="950976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01600" tIns="38100" rIns="76200" bIns="381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Siemens Energy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</a:rPr>
              <a:t>New-unit margins “improved significantly” vs. backlog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2"/>
                </a:solidFill>
              </a:rPr>
              <a:t>69 GW gas backlog; 3+ year lead times</a:t>
            </a:r>
            <a:endParaRPr lang="en-US" sz="1400" dirty="0"/>
          </a:p>
        </p:txBody>
      </p:sp>
      <p:sp>
        <p:nvSpPr>
          <p:cNvPr id="28" name="Mitsubishi accent"/>
          <p:cNvSpPr/>
          <p:nvPr/>
        </p:nvSpPr>
        <p:spPr>
          <a:xfrm>
            <a:off x="7254059" y="4261104"/>
            <a:ext cx="85342" cy="950976"/>
          </a:xfrm>
          <a:prstGeom prst="rect">
            <a:avLst/>
          </a:prstGeom>
          <a:solidFill>
            <a:srgbClr val="2E93AE"/>
          </a:solidFill>
          <a:ln w="12700">
            <a:solidFill>
              <a:srgbClr val="2E93AE"/>
            </a:solidFill>
            <a:prstDash val="solid"/>
          </a:ln>
        </p:spPr>
      </p:sp>
      <p:sp>
        <p:nvSpPr>
          <p:cNvPr id="29" name="Mitsubishi card"/>
          <p:cNvSpPr txBox="1"/>
          <p:nvPr/>
        </p:nvSpPr>
        <p:spPr>
          <a:xfrm>
            <a:off x="7436934" y="4261104"/>
            <a:ext cx="4328052" cy="950976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01600" tIns="38100" rIns="76200" bIns="381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Mitsubishi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</a:rPr>
              <a:t>“Improving profitability on new orders”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2"/>
                </a:solidFill>
              </a:rPr>
              <a:t>Large-frame backlog 23 → 35 GW in a year</a:t>
            </a:r>
            <a:endParaRPr lang="en-US" sz="1400" dirty="0"/>
          </a:p>
        </p:txBody>
      </p:sp>
      <p:sp>
        <p:nvSpPr>
          <p:cNvPr id="3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New turbine capacity is scarce and getting pricier. That's the market FTAI Power sells into.</a:t>
            </a:r>
            <a:endParaRPr lang="en-US" sz="1700" dirty="0"/>
          </a:p>
        </p:txBody>
      </p:sp>
      <p:sp>
        <p:nvSpPr>
          <p:cNvPr id="3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Wood Mackenzie; BNEF; NextEra (CERAWeek '25); GE Vernova Q1'26; Siemens Energy Q2–Q3 FY26; MHI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Repair Pricing</a:t>
            </a:r>
            <a:endParaRPr lang="en-US" sz="3000" dirty="0"/>
          </a:p>
        </p:txBody>
      </p:sp>
      <p:pic>
        <p:nvPicPr>
          <p:cNvPr id="3" name="Pricing summary" descr="/home/user/SPOT/deck/img/app_pric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8097" y="1097280"/>
            <a:ext cx="9295501" cy="3063240"/>
          </a:xfrm>
          <a:prstGeom prst="rect">
            <a:avLst/>
          </a:prstGeom>
        </p:spPr>
      </p:pic>
      <p:sp>
        <p:nvSpPr>
          <p:cNvPr id="4" name="Pricing takeaway"/>
          <p:cNvSpPr txBox="1"/>
          <p:nvPr/>
        </p:nvSpPr>
        <p:spPr>
          <a:xfrm>
            <a:off x="426709" y="4343400"/>
            <a:ext cx="11338277" cy="54864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list prices rose a median ~6% a year across ~3,400 matched parts, with almost none falling.</a:t>
            </a:r>
            <a:endParaRPr lang="en-US" sz="1500" dirty="0"/>
          </a:p>
        </p:txBody>
      </p:sp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pricing, matched parts, CFM56-5B and -7B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bal Platinum Securities">
  <a:themeElements>
    <a:clrScheme name="Global Platinum Securities">
      <a:dk1>
        <a:srgbClr val="1A1A1A"/>
      </a:dk1>
      <a:lt1>
        <a:srgbClr val="FFFFFF"/>
      </a:lt1>
      <a:dk2>
        <a:srgbClr val="0A1C58"/>
      </a:dk2>
      <a:lt2>
        <a:srgbClr val="EFEDEA"/>
      </a:lt2>
      <a:accent1>
        <a:srgbClr val="0A1C58"/>
      </a:accent1>
      <a:accent2>
        <a:srgbClr val="847C7A"/>
      </a:accent2>
      <a:accent3>
        <a:srgbClr val="DCD8D3"/>
      </a:accent3>
      <a:accent4>
        <a:srgbClr val="3B4C82"/>
      </a:accent4>
      <a:accent5>
        <a:srgbClr val="2E93AE"/>
      </a:accent5>
      <a:accent6>
        <a:srgbClr val="EE6E25"/>
      </a:accent6>
      <a:hlink>
        <a:srgbClr val="0A1C58"/>
      </a:hlink>
      <a:folHlink>
        <a:srgbClr val="847C7A"/>
      </a:folHlink>
    </a:clrScheme>
    <a:fontScheme name="Global Platinum Securities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Global Platinum Securities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— Long Recommendation</dc:title>
  <dc:subject>PptxGenJS Presentation</dc:subject>
  <dc:creator>PptxGenJS</dc:creator>
  <cp:lastModifiedBy>PptxGenJS</cp:lastModifiedBy>
  <cp:revision>1</cp:revision>
  <dcterms:created xsi:type="dcterms:W3CDTF">2026-10-09T05:22:55Z</dcterms:created>
  <dcterms:modified xsi:type="dcterms:W3CDTF">2026-10-09T05:22:55Z</dcterms:modified>
</cp:coreProperties>
</file>