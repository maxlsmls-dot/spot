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charts/chart10.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9.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2.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3.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5.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bd1b647-8fc2-43f8-187c-e6d23179b69c}">
          <p14:sldIdLst>
            <p14:sldId id="256"/>
          </p14:sldIdLst>
        </p14:section>
        <p14:section name="The Opportunity" id="{0340df21-6af7-3373-47a9-b13fe25c27b7}">
          <p14:sldIdLst>
            <p14:sldId id="257"/>
            <p14:sldId id="258"/>
            <p14:sldId id="259"/>
            <p14:sldId id="260"/>
          </p14:sldIdLst>
        </p14:section>
        <p14:section name="Returns" id="{b9434526-3fd1-2fb0-c69c-a9bb251e1863}">
          <p14:sldIdLst>
            <p14:sldId id="261"/>
          </p14:sldIdLst>
        </p14:section>
        <p14:section name="Business Overview" id="{3969bcb2-a390-addc-b72e-b9a5d1fb5e49}">
          <p14:sldIdLst>
            <p14:sldId id="262"/>
            <p14:sldId id="263"/>
          </p14:sldIdLst>
        </p14:section>
        <p14:section name="Thesis 1a" id="{a04eac98-e860-3a26-efef-4d1f7e950ea7}">
          <p14:sldIdLst>
            <p14:sldId id="264"/>
            <p14:sldId id="265"/>
            <p14:sldId id="266"/>
            <p14:sldId id="267"/>
          </p14:sldIdLst>
        </p14:section>
        <p14:section name="Thesis 1b" id="{1641fbb4-d69f-3d35-9621-a926ea6d94ef}">
          <p14:sldIdLst>
            <p14:sldId id="268"/>
            <p14:sldId id="269"/>
            <p14:sldId id="270"/>
            <p14:sldId id="271"/>
            <p14:sldId id="272"/>
            <p14:sldId id="273"/>
            <p14:sldId id="274"/>
          </p14:sldIdLst>
        </p14:section>
        <p14:section name="Thesis 2" id="{4e9849ca-2d28-7bff-9fe9-fc0d1005ec46}">
          <p14:sldIdLst>
            <p14:sldId id="275"/>
            <p14:sldId id="276"/>
            <p14:sldId id="277"/>
            <p14:sldId id="278"/>
          </p14:sldIdLst>
        </p14:section>
        <p14:section name="Valuation" id="{b27e1f41-9e37-8097-823b-d83ef41953f9}">
          <p14:sldIdLst>
            <p14:sldId id="279"/>
            <p14:sldId id="280"/>
          </p14:sldIdLst>
        </p14:section>
        <p14:section name="Catalysts" id="{853848da-130c-2b44-5821-675aaf2cb1d9}">
          <p14:sldIdLst>
            <p14:sldId id="281"/>
          </p14:sldIdLst>
        </p14:section>
        <p14:section name="Risks" id="{b6f33023-213f-4ace-03c5-8f130aec804c}">
          <p14:sldIdLst>
            <p14:sldId id="282"/>
          </p14:sldIdLst>
        </p14:section>
        <p14:section name="Q&amp;A" id="{d461bf47-1c0b-17ab-a25a-4e916fa36dec}">
          <p14:sldIdLst>
            <p14:sldId id="283"/>
          </p14:sldIdLst>
        </p14:section>
        <p14:section name="Appendix" id="{035ffbc0-65d3-5d62-35e2-c4d9a2aadb3b}">
          <p14:sldIdLst>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8"/>
          <c:y val="0.05"/>
          <c:w val="0.9"/>
          <c:h val="0.78"/>
        </c:manualLayout>
      </c:layout>
      <c:lineChart>
        <c:varyColors val="0"/>
        <c:ser>
          <c:idx val="0"/>
          <c:order val="0"/>
          <c:tx>
            <c:strRef>
              <c:f>Sheet1!$B$1</c:f>
              <c:strCache>
                <c:ptCount val="1"/>
                <c:pt idx="0">
                  <c:v>FTAI</c:v>
                </c:pt>
              </c:strCache>
            </c:strRef>
          </c:tx>
          <c:spPr>
            <a:solidFill>
              <a:srgbClr val="0A1C58"/>
            </a:solidFill>
            <a:ln w="2540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Sheet1!$A$2:$A$261</c:f>
              <c:multiLvlStrCache>
                <c:ptCount val="260"/>
                <c:lvl>
                  <c:pt idx="0">
                    <c:v/>
                  </c:pt>
                  <c:pt idx="1">
                    <c:v/>
                  </c:pt>
                  <c:pt idx="2">
                    <c:v/>
                  </c:pt>
                  <c:pt idx="3">
                    <c:v/>
                  </c:pt>
                  <c:pt idx="4">
                    <c:v/>
                  </c:pt>
                  <c:pt idx="5">
                    <c:v/>
                  </c:pt>
                  <c:pt idx="6">
                    <c:v/>
                  </c:pt>
                  <c:pt idx="7">
                    <c:v/>
                  </c:pt>
                  <c:pt idx="8">
                    <c:v/>
                  </c:pt>
                  <c:pt idx="9">
                    <c:v/>
                  </c:pt>
                  <c:pt idx="10">
                    <c:v/>
                  </c:pt>
                  <c:pt idx="11">
                    <c:v/>
                  </c:pt>
                  <c:pt idx="12">
                    <c:v/>
                  </c:pt>
                  <c:pt idx="13">
                    <c:v>2022</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2023</c:v>
                  </c:pt>
                  <c:pt idx="66">
                    <c:v/>
                  </c:pt>
                  <c:pt idx="67">
                    <c:v/>
                  </c:pt>
                  <c:pt idx="68">
                    <c:v/>
                  </c:pt>
                  <c:pt idx="69">
                    <c:v/>
                  </c:pt>
                  <c:pt idx="70">
                    <c:v/>
                  </c:pt>
                  <c:pt idx="71">
                    <c:v/>
                  </c:pt>
                  <c:pt idx="72">
                    <c:v/>
                  </c:pt>
                  <c:pt idx="73">
                    <c:v/>
                  </c:pt>
                  <c:pt idx="74">
                    <c:v/>
                  </c:pt>
                  <c:pt idx="75">
                    <c:v/>
                  </c:pt>
                  <c:pt idx="76">
                    <c:v/>
                  </c:pt>
                  <c:pt idx="77">
                    <c:v/>
                  </c:pt>
                  <c:pt idx="78">
                    <c:v/>
                  </c:pt>
                  <c:pt idx="79">
                    <c:v/>
                  </c:pt>
                  <c:pt idx="80">
                    <c:v/>
                  </c:pt>
                  <c:pt idx="81">
                    <c:v/>
                  </c:pt>
                  <c:pt idx="82">
                    <c:v/>
                  </c:pt>
                  <c:pt idx="83">
                    <c:v/>
                  </c:pt>
                  <c:pt idx="84">
                    <c:v/>
                  </c:pt>
                  <c:pt idx="85">
                    <c:v/>
                  </c:pt>
                  <c:pt idx="86">
                    <c:v/>
                  </c:pt>
                  <c:pt idx="87">
                    <c:v/>
                  </c:pt>
                  <c:pt idx="88">
                    <c:v/>
                  </c:pt>
                  <c:pt idx="89">
                    <c:v/>
                  </c:pt>
                  <c:pt idx="90">
                    <c:v/>
                  </c:pt>
                  <c:pt idx="91">
                    <c:v/>
                  </c:pt>
                  <c:pt idx="92">
                    <c:v/>
                  </c:pt>
                  <c:pt idx="93">
                    <c:v/>
                  </c:pt>
                  <c:pt idx="94">
                    <c:v/>
                  </c:pt>
                  <c:pt idx="95">
                    <c:v/>
                  </c:pt>
                  <c:pt idx="96">
                    <c:v/>
                  </c:pt>
                  <c:pt idx="97">
                    <c:v/>
                  </c:pt>
                  <c:pt idx="98">
                    <c:v/>
                  </c:pt>
                  <c:pt idx="99">
                    <c:v/>
                  </c:pt>
                  <c:pt idx="100">
                    <c:v/>
                  </c:pt>
                  <c:pt idx="101">
                    <c:v/>
                  </c:pt>
                  <c:pt idx="102">
                    <c:v/>
                  </c:pt>
                  <c:pt idx="103">
                    <c:v/>
                  </c:pt>
                  <c:pt idx="104">
                    <c:v/>
                  </c:pt>
                  <c:pt idx="105">
                    <c:v/>
                  </c:pt>
                  <c:pt idx="106">
                    <c:v/>
                  </c:pt>
                  <c:pt idx="107">
                    <c:v/>
                  </c:pt>
                  <c:pt idx="108">
                    <c:v/>
                  </c:pt>
                  <c:pt idx="109">
                    <c:v/>
                  </c:pt>
                  <c:pt idx="110">
                    <c:v/>
                  </c:pt>
                  <c:pt idx="111">
                    <c:v/>
                  </c:pt>
                  <c:pt idx="112">
                    <c:v/>
                  </c:pt>
                  <c:pt idx="113">
                    <c:v/>
                  </c:pt>
                  <c:pt idx="114">
                    <c:v/>
                  </c:pt>
                  <c:pt idx="115">
                    <c:v/>
                  </c:pt>
                  <c:pt idx="116">
                    <c:v/>
                  </c:pt>
                  <c:pt idx="117">
                    <c:v>2024</c:v>
                  </c:pt>
                  <c:pt idx="118">
                    <c:v/>
                  </c:pt>
                  <c:pt idx="119">
                    <c:v/>
                  </c:pt>
                  <c:pt idx="120">
                    <c:v/>
                  </c:pt>
                  <c:pt idx="121">
                    <c:v/>
                  </c:pt>
                  <c:pt idx="122">
                    <c:v/>
                  </c:pt>
                  <c:pt idx="123">
                    <c:v/>
                  </c:pt>
                  <c:pt idx="124">
                    <c:v/>
                  </c:pt>
                  <c:pt idx="125">
                    <c:v/>
                  </c:pt>
                  <c:pt idx="126">
                    <c:v/>
                  </c:pt>
                  <c:pt idx="127">
                    <c:v/>
                  </c:pt>
                  <c:pt idx="128">
                    <c:v/>
                  </c:pt>
                  <c:pt idx="129">
                    <c:v/>
                  </c:pt>
                  <c:pt idx="130">
                    <c:v/>
                  </c:pt>
                  <c:pt idx="131">
                    <c:v/>
                  </c:pt>
                  <c:pt idx="132">
                    <c:v/>
                  </c:pt>
                  <c:pt idx="133">
                    <c:v/>
                  </c:pt>
                  <c:pt idx="134">
                    <c:v/>
                  </c:pt>
                  <c:pt idx="135">
                    <c:v/>
                  </c:pt>
                  <c:pt idx="136">
                    <c:v/>
                  </c:pt>
                  <c:pt idx="137">
                    <c:v/>
                  </c:pt>
                  <c:pt idx="138">
                    <c:v/>
                  </c:pt>
                  <c:pt idx="139">
                    <c:v/>
                  </c:pt>
                  <c:pt idx="140">
                    <c:v/>
                  </c:pt>
                  <c:pt idx="141">
                    <c:v/>
                  </c:pt>
                  <c:pt idx="142">
                    <c:v/>
                  </c:pt>
                  <c:pt idx="143">
                    <c:v/>
                  </c:pt>
                  <c:pt idx="144">
                    <c:v/>
                  </c:pt>
                  <c:pt idx="145">
                    <c:v/>
                  </c:pt>
                  <c:pt idx="146">
                    <c:v/>
                  </c:pt>
                  <c:pt idx="147">
                    <c:v/>
                  </c:pt>
                  <c:pt idx="148">
                    <c:v/>
                  </c:pt>
                  <c:pt idx="149">
                    <c:v/>
                  </c:pt>
                  <c:pt idx="150">
                    <c:v/>
                  </c:pt>
                  <c:pt idx="151">
                    <c:v/>
                  </c:pt>
                  <c:pt idx="152">
                    <c:v/>
                  </c:pt>
                  <c:pt idx="153">
                    <c:v/>
                  </c:pt>
                  <c:pt idx="154">
                    <c:v/>
                  </c:pt>
                  <c:pt idx="155">
                    <c:v/>
                  </c:pt>
                  <c:pt idx="156">
                    <c:v/>
                  </c:pt>
                  <c:pt idx="157">
                    <c:v/>
                  </c:pt>
                  <c:pt idx="158">
                    <c:v/>
                  </c:pt>
                  <c:pt idx="159">
                    <c:v/>
                  </c:pt>
                  <c:pt idx="160">
                    <c:v/>
                  </c:pt>
                  <c:pt idx="161">
                    <c:v/>
                  </c:pt>
                  <c:pt idx="162">
                    <c:v/>
                  </c:pt>
                  <c:pt idx="163">
                    <c:v/>
                  </c:pt>
                  <c:pt idx="164">
                    <c:v/>
                  </c:pt>
                  <c:pt idx="165">
                    <c:v/>
                  </c:pt>
                  <c:pt idx="166">
                    <c:v/>
                  </c:pt>
                  <c:pt idx="167">
                    <c:v/>
                  </c:pt>
                  <c:pt idx="168">
                    <c:v/>
                  </c:pt>
                  <c:pt idx="169">
                    <c:v>2025</c:v>
                  </c:pt>
                  <c:pt idx="170">
                    <c:v/>
                  </c:pt>
                  <c:pt idx="171">
                    <c:v/>
                  </c:pt>
                  <c:pt idx="172">
                    <c:v/>
                  </c:pt>
                  <c:pt idx="173">
                    <c:v/>
                  </c:pt>
                  <c:pt idx="174">
                    <c:v/>
                  </c:pt>
                  <c:pt idx="175">
                    <c:v/>
                  </c:pt>
                  <c:pt idx="176">
                    <c:v/>
                  </c:pt>
                  <c:pt idx="177">
                    <c:v/>
                  </c:pt>
                  <c:pt idx="178">
                    <c:v/>
                  </c:pt>
                  <c:pt idx="179">
                    <c:v/>
                  </c:pt>
                  <c:pt idx="180">
                    <c:v/>
                  </c:pt>
                  <c:pt idx="181">
                    <c:v/>
                  </c:pt>
                  <c:pt idx="182">
                    <c:v/>
                  </c:pt>
                  <c:pt idx="183">
                    <c:v/>
                  </c:pt>
                  <c:pt idx="184">
                    <c:v/>
                  </c:pt>
                  <c:pt idx="185">
                    <c:v/>
                  </c:pt>
                  <c:pt idx="186">
                    <c:v/>
                  </c:pt>
                  <c:pt idx="187">
                    <c:v/>
                  </c:pt>
                  <c:pt idx="188">
                    <c:v/>
                  </c:pt>
                  <c:pt idx="189">
                    <c:v/>
                  </c:pt>
                  <c:pt idx="190">
                    <c:v/>
                  </c:pt>
                  <c:pt idx="191">
                    <c:v/>
                  </c:pt>
                  <c:pt idx="192">
                    <c:v/>
                  </c:pt>
                  <c:pt idx="193">
                    <c:v/>
                  </c:pt>
                  <c:pt idx="194">
                    <c:v/>
                  </c:pt>
                  <c:pt idx="195">
                    <c:v/>
                  </c:pt>
                  <c:pt idx="196">
                    <c:v/>
                  </c:pt>
                  <c:pt idx="197">
                    <c:v/>
                  </c:pt>
                  <c:pt idx="198">
                    <c:v/>
                  </c:pt>
                  <c:pt idx="199">
                    <c:v/>
                  </c:pt>
                  <c:pt idx="200">
                    <c:v/>
                  </c:pt>
                  <c:pt idx="201">
                    <c:v/>
                  </c:pt>
                  <c:pt idx="202">
                    <c:v/>
                  </c:pt>
                  <c:pt idx="203">
                    <c:v/>
                  </c:pt>
                  <c:pt idx="204">
                    <c:v/>
                  </c:pt>
                  <c:pt idx="205">
                    <c:v/>
                  </c:pt>
                  <c:pt idx="206">
                    <c:v/>
                  </c:pt>
                  <c:pt idx="207">
                    <c:v/>
                  </c:pt>
                  <c:pt idx="208">
                    <c:v/>
                  </c:pt>
                  <c:pt idx="209">
                    <c:v/>
                  </c:pt>
                  <c:pt idx="210">
                    <c:v/>
                  </c:pt>
                  <c:pt idx="211">
                    <c:v/>
                  </c:pt>
                  <c:pt idx="212">
                    <c:v/>
                  </c:pt>
                  <c:pt idx="213">
                    <c:v/>
                  </c:pt>
                  <c:pt idx="214">
                    <c:v/>
                  </c:pt>
                  <c:pt idx="215">
                    <c:v/>
                  </c:pt>
                  <c:pt idx="216">
                    <c:v/>
                  </c:pt>
                  <c:pt idx="217">
                    <c:v/>
                  </c:pt>
                  <c:pt idx="218">
                    <c:v/>
                  </c:pt>
                  <c:pt idx="219">
                    <c:v/>
                  </c:pt>
                  <c:pt idx="220">
                    <c:v/>
                  </c:pt>
                  <c:pt idx="221">
                    <c:v>2026</c:v>
                  </c:pt>
                  <c:pt idx="222">
                    <c:v/>
                  </c:pt>
                  <c:pt idx="223">
                    <c:v/>
                  </c:pt>
                  <c:pt idx="224">
                    <c:v/>
                  </c:pt>
                  <c:pt idx="225">
                    <c:v/>
                  </c:pt>
                  <c:pt idx="226">
                    <c:v/>
                  </c:pt>
                  <c:pt idx="227">
                    <c:v/>
                  </c:pt>
                  <c:pt idx="228">
                    <c:v/>
                  </c:pt>
                  <c:pt idx="229">
                    <c:v/>
                  </c:pt>
                  <c:pt idx="230">
                    <c:v/>
                  </c:pt>
                  <c:pt idx="231">
                    <c:v/>
                  </c:pt>
                  <c:pt idx="232">
                    <c:v/>
                  </c:pt>
                  <c:pt idx="233">
                    <c:v/>
                  </c:pt>
                  <c:pt idx="234">
                    <c:v/>
                  </c:pt>
                  <c:pt idx="235">
                    <c:v/>
                  </c:pt>
                  <c:pt idx="236">
                    <c:v/>
                  </c:pt>
                  <c:pt idx="237">
                    <c:v/>
                  </c:pt>
                  <c:pt idx="238">
                    <c:v/>
                  </c:pt>
                  <c:pt idx="239">
                    <c:v/>
                  </c:pt>
                  <c:pt idx="240">
                    <c:v/>
                  </c:pt>
                  <c:pt idx="241">
                    <c:v/>
                  </c:pt>
                  <c:pt idx="242">
                    <c:v/>
                  </c:pt>
                  <c:pt idx="243">
                    <c:v/>
                  </c:pt>
                  <c:pt idx="244">
                    <c:v/>
                  </c:pt>
                  <c:pt idx="245">
                    <c:v/>
                  </c:pt>
                  <c:pt idx="246">
                    <c:v/>
                  </c:pt>
                  <c:pt idx="247">
                    <c:v/>
                  </c:pt>
                  <c:pt idx="248">
                    <c:v/>
                  </c:pt>
                  <c:pt idx="249">
                    <c:v/>
                  </c:pt>
                  <c:pt idx="250">
                    <c:v/>
                  </c:pt>
                  <c:pt idx="251">
                    <c:v/>
                  </c:pt>
                  <c:pt idx="252">
                    <c:v/>
                  </c:pt>
                  <c:pt idx="253">
                    <c:v/>
                  </c:pt>
                  <c:pt idx="254">
                    <c:v/>
                  </c:pt>
                  <c:pt idx="255">
                    <c:v/>
                  </c:pt>
                  <c:pt idx="256">
                    <c:v/>
                  </c:pt>
                  <c:pt idx="257">
                    <c:v/>
                  </c:pt>
                  <c:pt idx="258">
                    <c:v/>
                  </c:pt>
                  <c:pt idx="259">
                    <c:v/>
                  </c:pt>
                </c:lvl>
              </c:multiLvlStrCache>
            </c:multiLvlStrRef>
          </c:cat>
          <c:val>
            <c:numRef>
              <c:f>Sheet1!$B$2:$B$261</c:f>
              <c:numCache>
                <c:formatCode>General</c:formatCode>
                <c:ptCount val="260"/>
                <c:pt idx="0">
                  <c:v>19.3</c:v>
                </c:pt>
                <c:pt idx="1">
                  <c:v>19.3</c:v>
                </c:pt>
                <c:pt idx="2">
                  <c:v>21.1</c:v>
                </c:pt>
                <c:pt idx="3">
                  <c:v>21.1</c:v>
                </c:pt>
                <c:pt idx="4">
                  <c:v>21.1</c:v>
                </c:pt>
                <c:pt idx="5">
                  <c:v>19.3</c:v>
                </c:pt>
                <c:pt idx="6">
                  <c:v>19.3</c:v>
                </c:pt>
                <c:pt idx="7">
                  <c:v>17.4</c:v>
                </c:pt>
                <c:pt idx="8">
                  <c:v>17.4</c:v>
                </c:pt>
                <c:pt idx="9">
                  <c:v>18.3</c:v>
                </c:pt>
                <c:pt idx="10">
                  <c:v>21.1</c:v>
                </c:pt>
                <c:pt idx="11">
                  <c:v>22.9</c:v>
                </c:pt>
                <c:pt idx="12">
                  <c:v>21.1</c:v>
                </c:pt>
                <c:pt idx="13">
                  <c:v>22.9</c:v>
                </c:pt>
                <c:pt idx="14">
                  <c:v>22.9</c:v>
                </c:pt>
                <c:pt idx="15">
                  <c:v>21.1</c:v>
                </c:pt>
                <c:pt idx="16">
                  <c:v>21.1</c:v>
                </c:pt>
                <c:pt idx="17">
                  <c:v>21.1</c:v>
                </c:pt>
                <c:pt idx="18">
                  <c:v>21.1</c:v>
                </c:pt>
                <c:pt idx="19">
                  <c:v>21.1</c:v>
                </c:pt>
                <c:pt idx="20">
                  <c:v>19.3</c:v>
                </c:pt>
                <c:pt idx="21">
                  <c:v>17.4</c:v>
                </c:pt>
                <c:pt idx="22">
                  <c:v>17.4</c:v>
                </c:pt>
                <c:pt idx="23">
                  <c:v>19.3</c:v>
                </c:pt>
                <c:pt idx="24">
                  <c:v>19.3</c:v>
                </c:pt>
                <c:pt idx="25">
                  <c:v>19.3</c:v>
                </c:pt>
                <c:pt idx="26">
                  <c:v>19.3</c:v>
                </c:pt>
                <c:pt idx="27">
                  <c:v>18.3</c:v>
                </c:pt>
                <c:pt idx="28">
                  <c:v>17.4</c:v>
                </c:pt>
                <c:pt idx="29">
                  <c:v>15.6</c:v>
                </c:pt>
                <c:pt idx="30">
                  <c:v>13.8</c:v>
                </c:pt>
                <c:pt idx="31">
                  <c:v>13.8</c:v>
                </c:pt>
                <c:pt idx="32">
                  <c:v>13.8</c:v>
                </c:pt>
                <c:pt idx="33">
                  <c:v>14.7</c:v>
                </c:pt>
                <c:pt idx="34">
                  <c:v>15.6</c:v>
                </c:pt>
                <c:pt idx="35">
                  <c:v>13.8</c:v>
                </c:pt>
                <c:pt idx="36">
                  <c:v>13.8</c:v>
                </c:pt>
                <c:pt idx="37">
                  <c:v>13.8</c:v>
                </c:pt>
                <c:pt idx="38">
                  <c:v>14.7</c:v>
                </c:pt>
                <c:pt idx="39">
                  <c:v>14.7</c:v>
                </c:pt>
                <c:pt idx="40">
                  <c:v>14.7</c:v>
                </c:pt>
                <c:pt idx="41">
                  <c:v>15.6</c:v>
                </c:pt>
                <c:pt idx="42">
                  <c:v>17.4</c:v>
                </c:pt>
                <c:pt idx="43">
                  <c:v>16.5</c:v>
                </c:pt>
                <c:pt idx="44">
                  <c:v>16.5</c:v>
                </c:pt>
                <c:pt idx="45">
                  <c:v>15.6</c:v>
                </c:pt>
                <c:pt idx="46">
                  <c:v>15.6</c:v>
                </c:pt>
                <c:pt idx="47">
                  <c:v>15.6</c:v>
                </c:pt>
                <c:pt idx="48">
                  <c:v>16.5</c:v>
                </c:pt>
                <c:pt idx="49">
                  <c:v>15.6</c:v>
                </c:pt>
                <c:pt idx="50">
                  <c:v>13.8</c:v>
                </c:pt>
                <c:pt idx="51">
                  <c:v>13.8</c:v>
                </c:pt>
                <c:pt idx="52">
                  <c:v>13.8</c:v>
                </c:pt>
                <c:pt idx="53">
                  <c:v>13.8</c:v>
                </c:pt>
                <c:pt idx="54">
                  <c:v>13.8</c:v>
                </c:pt>
                <c:pt idx="55">
                  <c:v>15.6</c:v>
                </c:pt>
                <c:pt idx="56">
                  <c:v>15.6</c:v>
                </c:pt>
                <c:pt idx="57">
                  <c:v>15.6</c:v>
                </c:pt>
                <c:pt idx="58">
                  <c:v>15.6</c:v>
                </c:pt>
                <c:pt idx="59">
                  <c:v>14.7</c:v>
                </c:pt>
                <c:pt idx="60">
                  <c:v>15.6</c:v>
                </c:pt>
                <c:pt idx="61">
                  <c:v>15.6</c:v>
                </c:pt>
                <c:pt idx="62">
                  <c:v>15.6</c:v>
                </c:pt>
                <c:pt idx="63">
                  <c:v>15.6</c:v>
                </c:pt>
                <c:pt idx="64">
                  <c:v>16.5</c:v>
                </c:pt>
                <c:pt idx="65">
                  <c:v>19.3</c:v>
                </c:pt>
                <c:pt idx="66">
                  <c:v>21.1</c:v>
                </c:pt>
                <c:pt idx="67">
                  <c:v>20.2</c:v>
                </c:pt>
                <c:pt idx="68">
                  <c:v>21.1</c:v>
                </c:pt>
                <c:pt idx="69">
                  <c:v>21.1</c:v>
                </c:pt>
                <c:pt idx="70">
                  <c:v>22.9</c:v>
                </c:pt>
                <c:pt idx="71">
                  <c:v>21.1</c:v>
                </c:pt>
                <c:pt idx="72">
                  <c:v>23.9</c:v>
                </c:pt>
                <c:pt idx="73">
                  <c:v>24.8</c:v>
                </c:pt>
                <c:pt idx="74">
                  <c:v>22.9</c:v>
                </c:pt>
                <c:pt idx="75">
                  <c:v>22.9</c:v>
                </c:pt>
                <c:pt idx="76">
                  <c:v>22.9</c:v>
                </c:pt>
                <c:pt idx="77">
                  <c:v>25.7</c:v>
                </c:pt>
                <c:pt idx="78">
                  <c:v>25.7</c:v>
                </c:pt>
                <c:pt idx="79">
                  <c:v>25.7</c:v>
                </c:pt>
                <c:pt idx="80">
                  <c:v>24.8</c:v>
                </c:pt>
                <c:pt idx="81">
                  <c:v>26.6</c:v>
                </c:pt>
                <c:pt idx="82">
                  <c:v>26.6</c:v>
                </c:pt>
                <c:pt idx="83">
                  <c:v>26.6</c:v>
                </c:pt>
                <c:pt idx="84">
                  <c:v>26.6</c:v>
                </c:pt>
                <c:pt idx="85">
                  <c:v>26.6</c:v>
                </c:pt>
                <c:pt idx="86">
                  <c:v>26.6</c:v>
                </c:pt>
                <c:pt idx="87">
                  <c:v>27.5</c:v>
                </c:pt>
                <c:pt idx="88">
                  <c:v>27.5</c:v>
                </c:pt>
                <c:pt idx="89">
                  <c:v>26.6</c:v>
                </c:pt>
                <c:pt idx="90">
                  <c:v>29.4</c:v>
                </c:pt>
                <c:pt idx="91">
                  <c:v>30.3</c:v>
                </c:pt>
                <c:pt idx="92">
                  <c:v>31.2</c:v>
                </c:pt>
                <c:pt idx="93">
                  <c:v>31.2</c:v>
                </c:pt>
                <c:pt idx="94">
                  <c:v>30.3</c:v>
                </c:pt>
                <c:pt idx="95">
                  <c:v>33</c:v>
                </c:pt>
                <c:pt idx="96">
                  <c:v>33</c:v>
                </c:pt>
                <c:pt idx="97">
                  <c:v>33.9</c:v>
                </c:pt>
                <c:pt idx="98">
                  <c:v>33.9</c:v>
                </c:pt>
                <c:pt idx="99">
                  <c:v>35.8</c:v>
                </c:pt>
                <c:pt idx="100">
                  <c:v>33.9</c:v>
                </c:pt>
                <c:pt idx="101">
                  <c:v>33.9</c:v>
                </c:pt>
                <c:pt idx="102">
                  <c:v>33</c:v>
                </c:pt>
                <c:pt idx="103">
                  <c:v>32.1</c:v>
                </c:pt>
                <c:pt idx="104">
                  <c:v>32.1</c:v>
                </c:pt>
                <c:pt idx="105">
                  <c:v>32.1</c:v>
                </c:pt>
                <c:pt idx="106">
                  <c:v>31.2</c:v>
                </c:pt>
                <c:pt idx="107">
                  <c:v>35.8</c:v>
                </c:pt>
                <c:pt idx="108">
                  <c:v>37.6</c:v>
                </c:pt>
                <c:pt idx="109">
                  <c:v>39.4</c:v>
                </c:pt>
                <c:pt idx="110">
                  <c:v>39.4</c:v>
                </c:pt>
                <c:pt idx="111">
                  <c:v>39.4</c:v>
                </c:pt>
                <c:pt idx="112">
                  <c:v>40.4</c:v>
                </c:pt>
                <c:pt idx="113">
                  <c:v>42.2</c:v>
                </c:pt>
                <c:pt idx="114">
                  <c:v>43.1</c:v>
                </c:pt>
                <c:pt idx="115">
                  <c:v>45</c:v>
                </c:pt>
                <c:pt idx="116">
                  <c:v>45</c:v>
                </c:pt>
                <c:pt idx="117">
                  <c:v>45</c:v>
                </c:pt>
                <c:pt idx="118">
                  <c:v>46.8</c:v>
                </c:pt>
                <c:pt idx="119">
                  <c:v>49.5</c:v>
                </c:pt>
                <c:pt idx="120">
                  <c:v>52.3</c:v>
                </c:pt>
                <c:pt idx="121">
                  <c:v>54.1</c:v>
                </c:pt>
                <c:pt idx="122">
                  <c:v>51.4</c:v>
                </c:pt>
                <c:pt idx="123">
                  <c:v>51.4</c:v>
                </c:pt>
                <c:pt idx="124">
                  <c:v>54.1</c:v>
                </c:pt>
                <c:pt idx="125">
                  <c:v>56</c:v>
                </c:pt>
                <c:pt idx="126">
                  <c:v>56</c:v>
                </c:pt>
                <c:pt idx="127">
                  <c:v>60.6</c:v>
                </c:pt>
                <c:pt idx="128">
                  <c:v>64.2</c:v>
                </c:pt>
                <c:pt idx="129">
                  <c:v>68.8</c:v>
                </c:pt>
                <c:pt idx="130">
                  <c:v>68.8</c:v>
                </c:pt>
                <c:pt idx="131">
                  <c:v>68.8</c:v>
                </c:pt>
                <c:pt idx="132">
                  <c:v>68.8</c:v>
                </c:pt>
                <c:pt idx="133">
                  <c:v>68.8</c:v>
                </c:pt>
                <c:pt idx="134">
                  <c:v>77.1</c:v>
                </c:pt>
                <c:pt idx="135">
                  <c:v>76.1</c:v>
                </c:pt>
                <c:pt idx="136">
                  <c:v>79.8</c:v>
                </c:pt>
                <c:pt idx="137">
                  <c:v>80.7</c:v>
                </c:pt>
                <c:pt idx="138">
                  <c:v>78.9</c:v>
                </c:pt>
                <c:pt idx="139">
                  <c:v>83.5</c:v>
                </c:pt>
                <c:pt idx="140">
                  <c:v>89.9</c:v>
                </c:pt>
                <c:pt idx="141">
                  <c:v>96.3</c:v>
                </c:pt>
                <c:pt idx="142">
                  <c:v>105.5</c:v>
                </c:pt>
                <c:pt idx="143">
                  <c:v>97.2</c:v>
                </c:pt>
                <c:pt idx="144">
                  <c:v>102.8</c:v>
                </c:pt>
                <c:pt idx="145">
                  <c:v>105.5</c:v>
                </c:pt>
                <c:pt idx="146">
                  <c:v>106.4</c:v>
                </c:pt>
                <c:pt idx="147">
                  <c:v>100</c:v>
                </c:pt>
                <c:pt idx="148">
                  <c:v>105.5</c:v>
                </c:pt>
                <c:pt idx="149">
                  <c:v>113.8</c:v>
                </c:pt>
                <c:pt idx="150">
                  <c:v>122.9</c:v>
                </c:pt>
                <c:pt idx="151">
                  <c:v>116.5</c:v>
                </c:pt>
                <c:pt idx="152">
                  <c:v>115.6</c:v>
                </c:pt>
                <c:pt idx="153">
                  <c:v>124.8</c:v>
                </c:pt>
                <c:pt idx="154">
                  <c:v>125.7</c:v>
                </c:pt>
                <c:pt idx="155">
                  <c:v>133.9</c:v>
                </c:pt>
                <c:pt idx="156">
                  <c:v>145</c:v>
                </c:pt>
                <c:pt idx="157">
                  <c:v>144</c:v>
                </c:pt>
                <c:pt idx="158">
                  <c:v>139.4</c:v>
                </c:pt>
                <c:pt idx="159">
                  <c:v>136.7</c:v>
                </c:pt>
                <c:pt idx="160">
                  <c:v>142.2</c:v>
                </c:pt>
                <c:pt idx="161">
                  <c:v>158.7</c:v>
                </c:pt>
                <c:pt idx="162">
                  <c:v>168.8</c:v>
                </c:pt>
                <c:pt idx="163">
                  <c:v>166.1</c:v>
                </c:pt>
                <c:pt idx="164">
                  <c:v>160.6</c:v>
                </c:pt>
                <c:pt idx="165">
                  <c:v>143.1</c:v>
                </c:pt>
                <c:pt idx="166">
                  <c:v>126.6</c:v>
                </c:pt>
                <c:pt idx="167">
                  <c:v>125.7</c:v>
                </c:pt>
                <c:pt idx="168">
                  <c:v>145</c:v>
                </c:pt>
                <c:pt idx="169">
                  <c:v>163.3</c:v>
                </c:pt>
                <c:pt idx="170">
                  <c:v>126.6</c:v>
                </c:pt>
                <c:pt idx="171">
                  <c:v>89</c:v>
                </c:pt>
                <c:pt idx="172">
                  <c:v>100.9</c:v>
                </c:pt>
                <c:pt idx="173">
                  <c:v>112.8</c:v>
                </c:pt>
                <c:pt idx="174">
                  <c:v>111.9</c:v>
                </c:pt>
                <c:pt idx="175">
                  <c:v>130.3</c:v>
                </c:pt>
                <c:pt idx="176">
                  <c:v>133.9</c:v>
                </c:pt>
                <c:pt idx="177">
                  <c:v>109.2</c:v>
                </c:pt>
                <c:pt idx="178">
                  <c:v>101.8</c:v>
                </c:pt>
                <c:pt idx="179">
                  <c:v>107.3</c:v>
                </c:pt>
                <c:pt idx="180">
                  <c:v>111.9</c:v>
                </c:pt>
                <c:pt idx="181">
                  <c:v>99.1</c:v>
                </c:pt>
                <c:pt idx="182">
                  <c:v>100.9</c:v>
                </c:pt>
                <c:pt idx="183">
                  <c:v>94.5</c:v>
                </c:pt>
                <c:pt idx="184">
                  <c:v>95.4</c:v>
                </c:pt>
                <c:pt idx="185">
                  <c:v>94.5</c:v>
                </c:pt>
                <c:pt idx="186">
                  <c:v>107.3</c:v>
                </c:pt>
                <c:pt idx="187">
                  <c:v>116.5</c:v>
                </c:pt>
                <c:pt idx="188">
                  <c:v>113.8</c:v>
                </c:pt>
                <c:pt idx="189">
                  <c:v>118.3</c:v>
                </c:pt>
                <c:pt idx="190">
                  <c:v>124.8</c:v>
                </c:pt>
                <c:pt idx="191">
                  <c:v>119.3</c:v>
                </c:pt>
                <c:pt idx="192">
                  <c:v>126.6</c:v>
                </c:pt>
                <c:pt idx="193">
                  <c:v>122.9</c:v>
                </c:pt>
                <c:pt idx="194">
                  <c:v>111</c:v>
                </c:pt>
                <c:pt idx="195">
                  <c:v>109.2</c:v>
                </c:pt>
                <c:pt idx="196">
                  <c:v>112.8</c:v>
                </c:pt>
                <c:pt idx="197">
                  <c:v>113.8</c:v>
                </c:pt>
                <c:pt idx="198">
                  <c:v>139.4</c:v>
                </c:pt>
                <c:pt idx="199">
                  <c:v>135.8</c:v>
                </c:pt>
                <c:pt idx="200">
                  <c:v>140.4</c:v>
                </c:pt>
                <c:pt idx="201">
                  <c:v>143.1</c:v>
                </c:pt>
                <c:pt idx="202">
                  <c:v>151.4</c:v>
                </c:pt>
                <c:pt idx="203">
                  <c:v>151.4</c:v>
                </c:pt>
                <c:pt idx="204">
                  <c:v>168.8</c:v>
                </c:pt>
                <c:pt idx="205">
                  <c:v>174.3</c:v>
                </c:pt>
                <c:pt idx="206">
                  <c:v>169.7</c:v>
                </c:pt>
                <c:pt idx="207">
                  <c:v>170.6</c:v>
                </c:pt>
                <c:pt idx="208">
                  <c:v>163.3</c:v>
                </c:pt>
                <c:pt idx="209">
                  <c:v>169.7</c:v>
                </c:pt>
                <c:pt idx="210">
                  <c:v>173.4</c:v>
                </c:pt>
                <c:pt idx="211">
                  <c:v>178</c:v>
                </c:pt>
                <c:pt idx="212">
                  <c:v>158.7</c:v>
                </c:pt>
                <c:pt idx="213">
                  <c:v>153.2</c:v>
                </c:pt>
                <c:pt idx="214">
                  <c:v>159.6</c:v>
                </c:pt>
                <c:pt idx="215">
                  <c:v>167.9</c:v>
                </c:pt>
                <c:pt idx="216">
                  <c:v>172.5</c:v>
                </c:pt>
                <c:pt idx="217">
                  <c:v>178</c:v>
                </c:pt>
                <c:pt idx="218">
                  <c:v>163.3</c:v>
                </c:pt>
                <c:pt idx="219">
                  <c:v>170.6</c:v>
                </c:pt>
                <c:pt idx="220">
                  <c:v>205.5</c:v>
                </c:pt>
                <c:pt idx="221">
                  <c:v>240.4</c:v>
                </c:pt>
                <c:pt idx="222">
                  <c:v>266.1</c:v>
                </c:pt>
                <c:pt idx="223">
                  <c:v>288.1</c:v>
                </c:pt>
                <c:pt idx="224">
                  <c:v>273.4</c:v>
                </c:pt>
                <c:pt idx="225">
                  <c:v>264.2</c:v>
                </c:pt>
                <c:pt idx="226">
                  <c:v>270.6</c:v>
                </c:pt>
                <c:pt idx="227">
                  <c:v>286.2</c:v>
                </c:pt>
                <c:pt idx="228">
                  <c:v>305.5</c:v>
                </c:pt>
                <c:pt idx="229">
                  <c:v>267</c:v>
                </c:pt>
                <c:pt idx="230">
                  <c:v>244</c:v>
                </c:pt>
                <c:pt idx="231">
                  <c:v>232.1</c:v>
                </c:pt>
                <c:pt idx="232">
                  <c:v>238.5</c:v>
                </c:pt>
                <c:pt idx="233">
                  <c:v>242.2</c:v>
                </c:pt>
                <c:pt idx="234">
                  <c:v>253.2</c:v>
                </c:pt>
                <c:pt idx="235">
                  <c:v>258.7</c:v>
                </c:pt>
                <c:pt idx="236">
                  <c:v>232.1</c:v>
                </c:pt>
                <c:pt idx="237">
                  <c:v>236.7</c:v>
                </c:pt>
                <c:pt idx="238">
                  <c:v>273.4</c:v>
                </c:pt>
                <c:pt idx="239">
                  <c:v>250.5</c:v>
                </c:pt>
                <c:pt idx="240">
                  <c:v>247.7</c:v>
                </c:pt>
                <c:pt idx="241">
                  <c:v>256.9</c:v>
                </c:pt>
                <c:pt idx="242">
                  <c:v>233.9</c:v>
                </c:pt>
                <c:pt idx="243">
                  <c:v>237.6</c:v>
                </c:pt>
                <c:pt idx="244">
                  <c:v>273.4</c:v>
                </c:pt>
                <c:pt idx="245">
                  <c:v>264.2</c:v>
                </c:pt>
                <c:pt idx="246">
                  <c:v>253.2</c:v>
                </c:pt>
                <c:pt idx="247">
                  <c:v>221.1</c:v>
                </c:pt>
                <c:pt idx="248">
                  <c:v>206.4</c:v>
                </c:pt>
                <c:pt idx="249">
                  <c:v>214.7</c:v>
                </c:pt>
                <c:pt idx="250">
                  <c:v>201.8</c:v>
                </c:pt>
                <c:pt idx="251">
                  <c:v>217.4</c:v>
                </c:pt>
                <c:pt idx="252">
                  <c:v>217.4</c:v>
                </c:pt>
                <c:pt idx="253">
                  <c:v>201.8</c:v>
                </c:pt>
                <c:pt idx="254">
                  <c:v>192.7</c:v>
                </c:pt>
                <c:pt idx="255">
                  <c:v>191.7</c:v>
                </c:pt>
                <c:pt idx="256">
                  <c:v>180.7</c:v>
                </c:pt>
                <c:pt idx="257">
                  <c:v>189.9</c:v>
                </c:pt>
                <c:pt idx="258">
                  <c:v>171.6</c:v>
                </c:pt>
                <c:pt idx="259">
                  <c:v>167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BFBFBF"/>
            </a:solidFill>
            <a:prstDash val="solid"/>
            <a:round/>
          </a:ln>
        </c:spPr>
        <c:txPr>
          <a:bodyPr/>
          <a:lstStyle/>
          <a:p>
            <a:pPr>
              <a:defRPr sz="900" b="0" i="0" u="none" strike="noStrike">
                <a:solidFill>
                  <a:schemeClr val="accent2"/>
                </a:solidFill>
                <a:latin typeface="+mn-lt"/>
              </a:defRPr>
            </a:pPr>
            <a:endParaRPr lang="en-US"/>
          </a:p>
        </c:txPr>
        <c:crossAx val="2094734552"/>
        <c:crosses val="autoZero"/>
        <c:auto val="1"/>
        <c:lblAlgn val="ctr"/>
        <c:noMultiLvlLbl val="1"/>
      </c:catAx>
      <c:valAx>
        <c:axId val="2094734552"/>
        <c:scaling>
          <c:orientation val="minMax"/>
          <c:max val="350"/>
          <c:min val="0"/>
        </c:scaling>
        <c:delete val="0"/>
        <c:axPos val="l"/>
        <c:majorGridlines>
          <c:spPr>
            <a:ln w="6350" cap="flat">
              <a:solidFill>
                <a:srgbClr val="E3E0DC"/>
              </a:solidFill>
              <a:prstDash val="solid"/>
              <a:round/>
            </a:ln>
          </c:spPr>
        </c:majorGridlines>
        <c:numFmt formatCode="&quot;$&quot;0" sourceLinked="0"/>
        <c:majorTickMark val="none"/>
        <c:minorTickMark val="none"/>
        <c:tickLblPos val="nextTo"/>
        <c:spPr>
          <a:ln w="12700" cap="flat">
            <a:noFill/>
            <a:prstDash val="solid"/>
            <a:round/>
          </a:ln>
        </c:spPr>
        <c:txPr>
          <a:bodyPr/>
          <a:lstStyle/>
          <a:p>
            <a:pPr>
              <a:defRPr sz="900" b="0" i="0" u="none" strike="noStrike">
                <a:solidFill>
                  <a:schemeClr val="accent2"/>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2E93AE"/>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2E93AE"/>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GE Vernova</c:v>
                </c:pt>
              </c:strCache>
            </c:strRef>
          </c:tx>
          <c:spPr>
            <a:solidFill>
              <a:srgbClr val="0A1C58"/>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Sheet1!$B$2:$B$3</c:f>
              <c:numCache>
                <c:formatCode>General</c:formatCode>
                <c:ptCount val="2"/>
                <c:pt idx="0">
                  <c:v>55</c:v>
                </c:pt>
                <c:pt idx="1">
                  <c:v>116</c:v>
                </c:pt>
              </c:numCache>
            </c:numRef>
          </c:val>
        </c:ser>
        <c:ser>
          <c:idx val="1"/>
          <c:order val="1"/>
          <c:tx>
            <c:strRef>
              <c:f>Sheet1!$C$1</c:f>
              <c:strCache>
                <c:ptCount val="1"/>
                <c:pt idx="0">
                  <c:v>Siemens Energy</c:v>
                </c:pt>
              </c:strCache>
            </c:strRef>
          </c:tx>
          <c:spPr>
            <a:solidFill>
              <a:srgbClr val="3B4C82"/>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Sheet1!$C$2:$C$3</c:f>
              <c:numCache>
                <c:formatCode>General</c:formatCode>
                <c:ptCount val="2"/>
                <c:pt idx="0">
                  <c:v>37</c:v>
                </c:pt>
                <c:pt idx="1">
                  <c:v>69</c:v>
                </c:pt>
              </c:numCache>
            </c:numRef>
          </c:val>
        </c:ser>
        <c:ser>
          <c:idx val="2"/>
          <c:order val="2"/>
          <c:tx>
            <c:strRef>
              <c:f>Sheet1!$D$1</c:f>
              <c:strCache>
                <c:ptCount val="1"/>
                <c:pt idx="0">
                  <c:v>Mitsubishi</c:v>
                </c:pt>
              </c:strCache>
            </c:strRef>
          </c:tx>
          <c:spPr>
            <a:solidFill>
              <a:srgbClr val="2E93AE"/>
            </a:solidFill>
            <a:effectLst/>
          </c:spPr>
          <c:invertIfNegative val="0"/>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Mid-2025</c:v>
                  </c:pt>
                  <c:pt idx="1">
                    <c:v>Mid-2026</c:v>
                  </c:pt>
                </c:lvl>
              </c:multiLvlStrCache>
            </c:multiLvlStrRef>
          </c:cat>
          <c:val>
            <c:numRef>
              <c:f>Sheet1!$D$2:$D$3</c:f>
              <c:numCache>
                <c:formatCode>General</c:formatCode>
                <c:ptCount val="2"/>
                <c:pt idx="0">
                  <c:v>23</c:v>
                </c:pt>
                <c:pt idx="1">
                  <c:v>35</c:v>
                </c:pt>
              </c:numCache>
            </c:numRef>
          </c:val>
        </c:ser>
        <c:dLbls>
          <c:numFmt formatCode="0" sourceLinked="0"/>
          <c:txPr>
            <a:bodyPr/>
            <a:lstStyle/>
            <a:p>
              <a:pPr>
                <a:defRPr b="1" i="0" strike="noStrike" sz="1200" u="none">
                  <a:solidFill>
                    <a:srgbClr val="FFFFFF"/>
                  </a:solidFill>
                  <a:latin typeface="+mn-lt"/>
                </a:defRPr>
              </a:pPr>
            </a:p>
          </c:txPr>
          <c:dLblPos val="ctr"/>
          <c:showLegendKey val="0"/>
          <c:showVal val="1"/>
          <c:showCatName val="0"/>
          <c:showSerName val="0"/>
          <c:showPercent val="0"/>
          <c:showBubbleSize val="0"/>
          <c:showLeaderLines val="0"/>
        </c:dLbls>
        <c:gapWidth val="11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5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2E93AE"/>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2E93AE"/>
            </a:solidFill>
            <a:ln w="38100" cap="flat">
              <a:solidFill>
                <a:srgbClr val="2E93AE"/>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2E93AE"/>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Second visits (heaviest)</c:v>
                </c:pt>
              </c:strCache>
            </c:strRef>
          </c:tx>
          <c:spPr>
            <a:solidFill>
              <a:srgbClr val="0A1C58"/>
            </a:solidFill>
            <a:ln w="44450" cap="flat">
              <a:solidFill>
                <a:srgbClr val="0A1C5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Sheet1!$B$2:$B$9</c:f>
              <c:numCache>
                <c:formatCode>General</c:formatCode>
                <c:ptCount val="8"/>
                <c:pt idx="0">
                  <c:v>842</c:v>
                </c:pt>
                <c:pt idx="1">
                  <c:v>891</c:v>
                </c:pt>
                <c:pt idx="2">
                  <c:v>914</c:v>
                </c:pt>
                <c:pt idx="3">
                  <c:v>908</c:v>
                </c:pt>
                <c:pt idx="4">
                  <c:v>874</c:v>
                </c:pt>
                <c:pt idx="5">
                  <c:v>832</c:v>
                </c:pt>
                <c:pt idx="6">
                  <c:v/>
                </c:pt>
                <c:pt idx="7">
                  <c:v/>
                </c:pt>
              </c:numCache>
            </c:numRef>
          </c:val>
          <c:smooth val="0"/>
        </c:ser>
        <c:ser>
          <c:idx val="1"/>
          <c:order val="1"/>
          <c:tx>
            <c:strRef>
              <c:f>Sheet1!$C$1</c:f>
              <c:strCache>
                <c:ptCount val="1"/>
                <c:pt idx="0">
                  <c:v>Third+ visits (late life, lighter)</c:v>
                </c:pt>
              </c:strCache>
            </c:strRef>
          </c:tx>
          <c:spPr>
            <a:solidFill>
              <a:srgbClr val="2E93AE"/>
            </a:solidFill>
            <a:ln w="44450" cap="flat">
              <a:solidFill>
                <a:srgbClr val="2E93A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Sheet1!$C$2:$C$9</c:f>
              <c:numCache>
                <c:formatCode>General</c:formatCode>
                <c:ptCount val="8"/>
                <c:pt idx="0">
                  <c:v>532</c:v>
                </c:pt>
                <c:pt idx="1">
                  <c:v>597</c:v>
                </c:pt>
                <c:pt idx="2">
                  <c:v>641</c:v>
                </c:pt>
                <c:pt idx="3">
                  <c:v>679</c:v>
                </c:pt>
                <c:pt idx="4">
                  <c:v>700</c:v>
                </c:pt>
                <c:pt idx="5">
                  <c:v>720</c:v>
                </c:pt>
                <c:pt idx="6">
                  <c:v/>
                </c:pt>
                <c:pt idx="7">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Second trend</c:v>
                </c:pt>
              </c:strCache>
            </c:strRef>
          </c:tx>
          <c:spPr>
            <a:solidFill>
              <a:srgbClr val="0A1C58"/>
            </a:solidFill>
            <a:ln w="31750" cap="flat">
              <a:solidFill>
                <a:srgbClr val="0A1C58"/>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A1C58"/>
              </a:solidFill>
              <a:ln w="9525" cap="flat">
                <a:solidFill>
                  <a:srgbClr val="0A1C58"/>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Sheet1!$D$2:$D$9</c:f>
              <c:numCache>
                <c:formatCode>General</c:formatCode>
                <c:ptCount val="8"/>
                <c:pt idx="0">
                  <c:v/>
                </c:pt>
                <c:pt idx="1">
                  <c:v/>
                </c:pt>
                <c:pt idx="2">
                  <c:v/>
                </c:pt>
                <c:pt idx="3">
                  <c:v/>
                </c:pt>
                <c:pt idx="4">
                  <c:v/>
                </c:pt>
                <c:pt idx="5">
                  <c:v>832</c:v>
                </c:pt>
                <c:pt idx="6">
                  <c:v>790</c:v>
                </c:pt>
                <c:pt idx="7">
                  <c:v>748</c:v>
                </c:pt>
              </c:numCache>
            </c:numRef>
          </c:val>
          <c:smooth val="0"/>
        </c:ser>
        <c:ser>
          <c:idx val="3"/>
          <c:order val="3"/>
          <c:tx>
            <c:strRef>
              <c:f>Sheet1!$E$1</c:f>
              <c:strCache>
                <c:ptCount val="1"/>
                <c:pt idx="0">
                  <c:v>Third+ trend</c:v>
                </c:pt>
              </c:strCache>
            </c:strRef>
          </c:tx>
          <c:spPr>
            <a:solidFill>
              <a:srgbClr val="2E93AE"/>
            </a:solidFill>
            <a:ln w="31750" cap="flat">
              <a:solidFill>
                <a:srgbClr val="2E93AE"/>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93AE"/>
              </a:solidFill>
              <a:ln w="9525" cap="flat">
                <a:solidFill>
                  <a:srgbClr val="2E93AE"/>
                </a:solidFill>
                <a:prstDash val="solid"/>
                <a:round/>
              </a:ln>
              <a:effectLst/>
            </c:spPr>
          </c:marker>
          <c:cat>
            <c:multiLvlStrRef>
              <c:f>Sheet1!$A$2:$A$9</c:f>
              <c:multiLvlStrCache>
                <c:ptCount val="8"/>
                <c:lvl>
                  <c:pt idx="0">
                    <c:v>2025</c:v>
                  </c:pt>
                  <c:pt idx="1">
                    <c:v>2026</c:v>
                  </c:pt>
                  <c:pt idx="2">
                    <c:v>2027</c:v>
                  </c:pt>
                  <c:pt idx="3">
                    <c:v>2028</c:v>
                  </c:pt>
                  <c:pt idx="4">
                    <c:v>2029</c:v>
                  </c:pt>
                  <c:pt idx="5">
                    <c:v>2030</c:v>
                  </c:pt>
                  <c:pt idx="6">
                    <c:v>2031</c:v>
                  </c:pt>
                  <c:pt idx="7">
                    <c:v>2032</c:v>
                  </c:pt>
                </c:lvl>
              </c:multiLvlStrCache>
            </c:multiLvlStrRef>
          </c:cat>
          <c:val>
            <c:numRef>
              <c:f>Sheet1!$E$2:$E$9</c:f>
              <c:numCache>
                <c:formatCode>General</c:formatCode>
                <c:ptCount val="8"/>
                <c:pt idx="0">
                  <c:v/>
                </c:pt>
                <c:pt idx="1">
                  <c:v/>
                </c:pt>
                <c:pt idx="2">
                  <c:v/>
                </c:pt>
                <c:pt idx="3">
                  <c:v/>
                </c:pt>
                <c:pt idx="4">
                  <c:v/>
                </c:pt>
                <c:pt idx="5">
                  <c:v>720</c:v>
                </c:pt>
                <c:pt idx="6">
                  <c:v>740</c:v>
                </c:pt>
                <c:pt idx="7">
                  <c:v>760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000"/>
          <c:min val="45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2E93AE"/>
            </a:solidFill>
            <a:ln w="38100" cap="flat">
              <a:solidFill>
                <a:srgbClr val="2E93AE"/>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2E93AE"/>
              </a:solidFill>
              <a:ln w="9525" cap="flat">
                <a:solidFill>
                  <a:srgbClr val="2E93AE"/>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Pre-COVID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Sheet1!$B$2:$B$3</c:f>
              <c:numCache>
                <c:formatCode>General</c:formatCode>
                <c:ptCount val="2"/>
                <c:pt idx="0">
                  <c:v>60</c:v>
                </c:pt>
                <c:pt idx="1">
                  <c:v/>
                </c:pt>
              </c:numCache>
            </c:numRef>
          </c:val>
        </c:ser>
        <c:ser>
          <c:idx val="1"/>
          <c:order val="1"/>
          <c:tx>
            <c:strRef>
              <c:f>Sheet1!$C$1</c:f>
              <c:strCache>
                <c:ptCount val="1"/>
                <c:pt idx="0">
                  <c:v>Today (low)</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Sheet1!$C$2:$C$3</c:f>
              <c:numCache>
                <c:formatCode>General</c:formatCode>
                <c:ptCount val="2"/>
                <c:pt idx="0">
                  <c:v/>
                </c:pt>
                <c:pt idx="1">
                  <c:v>90</c:v>
                </c:pt>
              </c:numCache>
            </c:numRef>
          </c:val>
        </c:ser>
        <c:ser>
          <c:idx val="2"/>
          <c:order val="2"/>
          <c:tx>
            <c:strRef>
              <c:f>Sheet1!$D$1</c:f>
              <c:strCache>
                <c:ptCount val="1"/>
                <c:pt idx="0">
                  <c:v>Today (range)</c:v>
                </c:pt>
              </c:strCache>
            </c:strRef>
          </c:tx>
          <c:spPr>
            <a:solidFill>
              <a:srgbClr val="3B4C82"/>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Sheet1!$A$2:$A$3</c:f>
              <c:multiLvlStrCache>
                <c:ptCount val="2"/>
                <c:lvl>
                  <c:pt idx="0">
                    <c:v>Pre-COVID</c:v>
                  </c:pt>
                  <c:pt idx="1">
                    <c:v>Today</c:v>
                  </c:pt>
                </c:lvl>
              </c:multiLvlStrCache>
            </c:multiLvlStrRef>
          </c:cat>
          <c:val>
            <c:numRef>
              <c:f>Sheet1!$D$2:$D$3</c:f>
              <c:numCache>
                <c:formatCode>General</c:formatCode>
                <c:ptCount val="2"/>
                <c:pt idx="0">
                  <c:v/>
                </c:pt>
                <c:pt idx="1">
                  <c:v>30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CFM56</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Sheet1!$B$2:$B$3</c:f>
              <c:numCache>
                <c:formatCode>General</c:formatCode>
                <c:ptCount val="2"/>
                <c:pt idx="0">
                  <c:v>0.68</c:v>
                </c:pt>
                <c:pt idx="1">
                  <c:v>0.49</c:v>
                </c:pt>
              </c:numCache>
            </c:numRef>
          </c:val>
        </c:ser>
        <c:ser>
          <c:idx val="1"/>
          <c:order val="1"/>
          <c:tx>
            <c:strRef>
              <c:f>Sheet1!$C$1</c:f>
              <c:strCache>
                <c:ptCount val="1"/>
                <c:pt idx="0">
                  <c:v>LEAP</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cat>
            <c:multiLvlStrRef>
              <c:f>Sheet1!$A$2:$A$3</c:f>
              <c:multiLvlStrCache>
                <c:ptCount val="2"/>
                <c:lvl>
                  <c:pt idx="0">
                    <c:v>2025</c:v>
                  </c:pt>
                  <c:pt idx="1">
                    <c:v>2030E</c:v>
                  </c:pt>
                </c:lvl>
              </c:multiLvlStrCache>
            </c:multiLvlStrRef>
          </c:cat>
          <c:val>
            <c:numRef>
              <c:f>Sheet1!$C$2:$C$3</c:f>
              <c:numCache>
                <c:formatCode>General</c:formatCode>
                <c:ptCount val="2"/>
                <c:pt idx="0">
                  <c:v>0.32</c:v>
                </c:pt>
                <c:pt idx="1">
                  <c:v>0.51</c:v>
                </c:pt>
              </c:numCache>
            </c:numRef>
          </c:val>
        </c:ser>
        <c:dLbls>
          <c:numFmt formatCode="0%" sourceLinked="0"/>
          <c:txPr>
            <a:bodyPr/>
            <a:lstStyle/>
            <a:p>
              <a:pPr>
                <a:defRPr b="1" i="0" strike="noStrike" sz="1300" u="none">
                  <a:solidFill>
                    <a:srgbClr val="FFFFFF"/>
                  </a:solidFill>
                  <a:latin typeface="+mn-lt"/>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Output</c:v>
                </c:pt>
              </c:strCache>
            </c:strRef>
          </c:tx>
          <c:spPr>
            <a:solidFill>
              <a:srgbClr val="0A1C58"/>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Sheet1!$B$2:$B$4</c:f>
              <c:numCache>
                <c:formatCode>General</c:formatCode>
                <c:ptCount val="3"/>
                <c:pt idx="0">
                  <c:v>757</c:v>
                </c:pt>
                <c:pt idx="1">
                  <c:v>1200</c:v>
                </c:pt>
                <c:pt idx="2">
                  <c:v>1700</c:v>
                </c:pt>
              </c:numCache>
            </c:numRef>
          </c:val>
        </c:ser>
        <c:ser>
          <c:idx val="1"/>
          <c:order val="1"/>
          <c:tx>
            <c:strRef>
              <c:f>Sheet1!$C$1</c:f>
              <c:strCache>
                <c:ptCount val="1"/>
                <c:pt idx="0">
                  <c:v>Unused capacity</c:v>
                </c:pt>
              </c:strCache>
            </c:strRef>
          </c:tx>
          <c:spPr>
            <a:solidFill>
              <a:srgbClr val="2E93AE"/>
            </a:solidFill>
            <a:effectLst/>
          </c:spPr>
          <c:invertIfNegative val="0"/>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Sheet1!$A$2:$A$4</c:f>
              <c:multiLvlStrCache>
                <c:ptCount val="3"/>
                <c:lvl>
                  <c:pt idx="0">
                    <c:v>2025</c:v>
                  </c:pt>
                  <c:pt idx="1">
                    <c:v>2026E</c:v>
                  </c:pt>
                  <c:pt idx="2">
                    <c:v>2027E</c:v>
                  </c:pt>
                </c:lvl>
              </c:multiLvlStrCache>
            </c:multiLvlStrRef>
          </c:cat>
          <c:val>
            <c:numRef>
              <c:f>Sheet1!$C$2:$C$4</c:f>
              <c:numCache>
                <c:formatCode>General</c:formatCode>
                <c:ptCount val="3"/>
                <c:pt idx="0">
                  <c:v/>
                </c:pt>
                <c:pt idx="1">
                  <c:v>1800</c:v>
                </c:pt>
                <c:pt idx="2">
                  <c:v>1300</c:v>
                </c:pt>
              </c:numCache>
            </c:numRef>
          </c:val>
        </c:ser>
        <c:dLbls>
          <c:numFmt formatCode="#,##0;;;" sourceLinked="0"/>
          <c:txPr>
            <a:bodyPr/>
            <a:lstStyle/>
            <a:p>
              <a:pPr>
                <a:defRPr b="1" i="0" strike="noStrike" sz="1300" u="none">
                  <a:solidFill>
                    <a:srgbClr val="FFFFFF"/>
                  </a:solidFill>
                  <a:latin typeface="+mn-lt"/>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Sheet1!$B$2:$B$8</c:f>
              <c:numCache>
                <c:formatCode>General</c:formatCode>
                <c:ptCount val="7"/>
                <c:pt idx="0">
                  <c:v>0.04</c:v>
                </c:pt>
                <c:pt idx="1">
                  <c:v>0.08</c:v>
                </c:pt>
                <c:pt idx="2">
                  <c:v/>
                </c:pt>
                <c:pt idx="3">
                  <c:v/>
                </c:pt>
                <c:pt idx="4">
                  <c:v/>
                </c:pt>
                <c:pt idx="5">
                  <c:v/>
                </c:pt>
                <c:pt idx="6">
                  <c:v/>
                </c:pt>
              </c:numCache>
            </c:numRef>
          </c:val>
        </c:ser>
        <c:ser>
          <c:idx val="1"/>
          <c:order val="1"/>
          <c:tx>
            <c:strRef>
              <c:f>Sheet1!$C$1</c:f>
              <c:strCache>
                <c:ptCount val="1"/>
                <c:pt idx="0">
                  <c:v>GPS model</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2024</c:v>
                  </c:pt>
                  <c:pt idx="1">
                    <c:v>2025</c:v>
                  </c:pt>
                  <c:pt idx="2">
                    <c:v>2026E</c:v>
                  </c:pt>
                  <c:pt idx="3">
                    <c:v>2027E</c:v>
                  </c:pt>
                  <c:pt idx="4">
                    <c:v>2028E</c:v>
                  </c:pt>
                  <c:pt idx="5">
                    <c:v>2029E</c:v>
                  </c:pt>
                  <c:pt idx="6">
                    <c:v>2030E</c:v>
                  </c:pt>
                </c:lvl>
              </c:multiLvlStrCache>
            </c:multiLvlStrRef>
          </c:cat>
          <c:val>
            <c:numRef>
              <c:f>Sheet1!$C$2:$C$8</c:f>
              <c:numCache>
                <c:formatCode>General</c:formatCode>
                <c:ptCount val="7"/>
                <c:pt idx="0">
                  <c:v/>
                </c:pt>
                <c:pt idx="1">
                  <c:v/>
                </c:pt>
                <c:pt idx="2">
                  <c:v>0.124</c:v>
                </c:pt>
                <c:pt idx="3">
                  <c:v>0.168</c:v>
                </c:pt>
                <c:pt idx="4">
                  <c:v>0.19</c:v>
                </c:pt>
                <c:pt idx="5">
                  <c:v>0.195</c:v>
                </c:pt>
                <c:pt idx="6">
                  <c:v>0.2</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Third-party</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Sheet1!$B$2:$B$7</c:f>
              <c:numCache>
                <c:formatCode>General</c:formatCode>
                <c:ptCount val="6"/>
                <c:pt idx="0">
                  <c:v>675</c:v>
                </c:pt>
                <c:pt idx="1">
                  <c:v>866</c:v>
                </c:pt>
                <c:pt idx="2">
                  <c:v>1206</c:v>
                </c:pt>
                <c:pt idx="3">
                  <c:v>1321</c:v>
                </c:pt>
                <c:pt idx="4">
                  <c:v>1298</c:v>
                </c:pt>
                <c:pt idx="5">
                  <c:v>1272</c:v>
                </c:pt>
              </c:numCache>
            </c:numRef>
          </c:val>
        </c:ser>
        <c:ser>
          <c:idx val="1"/>
          <c:order val="1"/>
          <c:tx>
            <c:strRef>
              <c:f>Sheet1!$C$1</c:f>
              <c:strCache>
                <c:ptCount val="1"/>
                <c:pt idx="0">
                  <c:v>SCI (contracted)</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2026E</c:v>
                  </c:pt>
                  <c:pt idx="2">
                    <c:v>2027E</c:v>
                  </c:pt>
                  <c:pt idx="3">
                    <c:v>2028E</c:v>
                  </c:pt>
                  <c:pt idx="4">
                    <c:v>2029E</c:v>
                  </c:pt>
                  <c:pt idx="5">
                    <c:v>2030E</c:v>
                  </c:pt>
                </c:lvl>
              </c:multiLvlStrCache>
            </c:multiLvlStrRef>
          </c:cat>
          <c:val>
            <c:numRef>
              <c:f>Sheet1!$C$2:$C$7</c:f>
              <c:numCache>
                <c:formatCode>General</c:formatCode>
                <c:ptCount val="6"/>
                <c:pt idx="0">
                  <c:v>82</c:v>
                </c:pt>
                <c:pt idx="1">
                  <c:v>328</c:v>
                </c:pt>
                <c:pt idx="2">
                  <c:v>482</c:v>
                </c:pt>
                <c:pt idx="3">
                  <c:v>660</c:v>
                </c:pt>
                <c:pt idx="4">
                  <c:v>780</c:v>
                </c:pt>
                <c:pt idx="5">
                  <c:v>840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Your 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Sheet1!$B$2:$B$7</c:f>
              <c:numCache>
                <c:formatCode>General</c:formatCode>
                <c:ptCount val="6"/>
                <c:pt idx="0">
                  <c:v>0.66</c:v>
                </c:pt>
                <c:pt idx="1">
                  <c:v>0.74</c:v>
                </c:pt>
                <c:pt idx="2">
                  <c:v>0.83</c:v>
                </c:pt>
                <c:pt idx="3">
                  <c:v>0.92</c:v>
                </c:pt>
                <c:pt idx="4">
                  <c:v/>
                </c:pt>
                <c:pt idx="5">
                  <c:v>1.09</c:v>
                </c:pt>
              </c:numCache>
            </c:numRef>
          </c:val>
        </c:ser>
        <c:ser>
          <c:idx val="1"/>
          <c:order val="1"/>
          <c:tx>
            <c:strRef>
              <c:f>Sheet1!$C$1</c:f>
              <c:strCache>
                <c:ptCount val="1"/>
                <c:pt idx="0">
                  <c:v>Matches CFM56 share</c:v>
                </c:pt>
              </c:strCache>
            </c:strRef>
          </c:tx>
          <c:spPr>
            <a:solidFill>
              <a:srgbClr val="EE6E25"/>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0% (base)</c:v>
                  </c:pt>
                  <c:pt idx="1">
                    <c:v>5%</c:v>
                  </c:pt>
                  <c:pt idx="2">
                    <c:v>10%</c:v>
                  </c:pt>
                  <c:pt idx="3">
                    <c:v>15%</c:v>
                  </c:pt>
                  <c:pt idx="4">
                    <c:v>20% (CFM56)</c:v>
                  </c:pt>
                  <c:pt idx="5">
                    <c:v>25%</c:v>
                  </c:pt>
                </c:lvl>
              </c:multiLvlStrCache>
            </c:multiLvlStrRef>
          </c:cat>
          <c:val>
            <c:numRef>
              <c:f>Sheet1!$C$2:$C$7</c:f>
              <c:numCache>
                <c:formatCode>General</c:formatCode>
                <c:ptCount val="6"/>
                <c:pt idx="0">
                  <c:v/>
                </c:pt>
                <c:pt idx="1">
                  <c:v/>
                </c:pt>
                <c:pt idx="2">
                  <c:v/>
                </c:pt>
                <c:pt idx="3">
                  <c:v/>
                </c:pt>
                <c:pt idx="4">
                  <c:v>1.01</c:v>
                </c:pt>
                <c:pt idx="5">
                  <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2E93AE"/>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Sheet1!$B$2:$B$9</c:f>
              <c:numCache>
                <c:formatCode>General</c:formatCode>
                <c:ptCount val="8"/>
                <c:pt idx="0">
                  <c:v>69</c:v>
                </c:pt>
                <c:pt idx="1">
                  <c:v>95</c:v>
                </c:pt>
                <c:pt idx="2">
                  <c:v>128</c:v>
                </c:pt>
                <c:pt idx="3">
                  <c:v>151</c:v>
                </c:pt>
                <c:pt idx="4">
                  <c:v>147</c:v>
                </c:pt>
                <c:pt idx="5">
                  <c:v>228</c:v>
                </c:pt>
                <c:pt idx="6">
                  <c:v>376</c:v>
                </c:pt>
                <c:pt idx="7">
                  <c:v/>
                </c:pt>
              </c:numCache>
            </c:numRef>
          </c:val>
        </c:ser>
        <c:ser>
          <c:idx val="1"/>
          <c:order val="1"/>
          <c:tx>
            <c:strRef>
              <c:f>Sheet1!$C$1</c:f>
              <c:strCache>
                <c:ptCount val="1"/>
                <c:pt idx="0">
                  <c:v>Guided</c:v>
                </c:pt>
              </c:strCache>
            </c:strRef>
          </c:tx>
          <c:spPr>
            <a:solidFill>
              <a:srgbClr val="0A1C58"/>
            </a:solidFill>
            <a:effectLst/>
          </c:spPr>
          <c:invertIfNegative val="0"/>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Sheet1!$A$2:$A$9</c:f>
              <c:multiLvlStrCache>
                <c:ptCount val="8"/>
                <c:lvl>
                  <c:pt idx="0">
                    <c:v>2019</c:v>
                  </c:pt>
                  <c:pt idx="1">
                    <c:v>2020</c:v>
                  </c:pt>
                  <c:pt idx="2">
                    <c:v>2021</c:v>
                  </c:pt>
                  <c:pt idx="3">
                    <c:v>2022</c:v>
                  </c:pt>
                  <c:pt idx="4">
                    <c:v>2023</c:v>
                  </c:pt>
                  <c:pt idx="5">
                    <c:v>2024</c:v>
                  </c:pt>
                  <c:pt idx="6">
                    <c:v>2025</c:v>
                  </c:pt>
                  <c:pt idx="7">
                    <c:v>2026E</c:v>
                  </c:pt>
                </c:lvl>
              </c:multiLvlStrCache>
            </c:multiLvlStrRef>
          </c:cat>
          <c:val>
            <c:numRef>
              <c:f>Sheet1!$C$2:$C$9</c:f>
              <c:numCache>
                <c:formatCode>General</c:formatCode>
                <c:ptCount val="8"/>
                <c:pt idx="0">
                  <c:v/>
                </c:pt>
                <c:pt idx="1">
                  <c:v/>
                </c:pt>
                <c:pt idx="2">
                  <c:v/>
                </c:pt>
                <c:pt idx="3">
                  <c:v/>
                </c:pt>
                <c:pt idx="4">
                  <c:v/>
                </c:pt>
                <c:pt idx="5">
                  <c:v/>
                </c:pt>
                <c:pt idx="6">
                  <c:v/>
                </c:pt>
                <c:pt idx="7">
                  <c:v>733</c:v>
                </c:pt>
              </c:numCache>
            </c:numRef>
          </c:val>
        </c:ser>
        <c:dLbls>
          <c:numFmt formatCode="#,##0"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8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Shortfall</c:v>
                </c:pt>
              </c:strCache>
            </c:strRef>
          </c:tx>
          <c:spPr>
            <a:solidFill>
              <a:srgbClr val="0A1C58"/>
            </a:solidFill>
            <a:effectLst/>
          </c:spPr>
          <c:invertIfNegative val="0"/>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0</c:v>
                </c:pt>
                <c:pt idx="1">
                  <c:v>0</c:v>
                </c:pt>
                <c:pt idx="2">
                  <c:v>0</c:v>
                </c:pt>
                <c:pt idx="3">
                  <c:v>8.4</c:v>
                </c:pt>
                <c:pt idx="4">
                  <c:v>27.2</c:v>
                </c:pt>
                <c:pt idx="5">
                  <c:v>47.2</c:v>
                </c:pt>
              </c:numCache>
            </c:numRef>
          </c:val>
        </c:ser>
        <c:dLbls>
          <c:numFmt formatCode="0.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2029</c:v>
                </c:pt>
              </c:strCache>
            </c:strRef>
          </c:tx>
          <c:spPr>
            <a:solidFill>
              <a:srgbClr val="2E93AE"/>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Sheet1!$B$2:$B$8</c:f>
              <c:numCache>
                <c:formatCode>General</c:formatCode>
                <c:ptCount val="7"/>
                <c:pt idx="0">
                  <c:v>1.8</c:v>
                </c:pt>
                <c:pt idx="1">
                  <c:v>5.7</c:v>
                </c:pt>
                <c:pt idx="2">
                  <c:v>3.3</c:v>
                </c:pt>
                <c:pt idx="3">
                  <c:v/>
                </c:pt>
                <c:pt idx="4">
                  <c:v/>
                </c:pt>
                <c:pt idx="5">
                  <c:v/>
                </c:pt>
                <c:pt idx="6">
                  <c:v/>
                </c:pt>
              </c:numCache>
            </c:numRef>
          </c:val>
        </c:ser>
        <c:ser>
          <c:idx val="1"/>
          <c:order val="1"/>
          <c:tx>
            <c:strRef>
              <c:f>Sheet1!$C$1</c:f>
              <c:strCache>
                <c:ptCount val="1"/>
                <c:pt idx="0">
                  <c:v>2029 or later</c:v>
                </c:pt>
              </c:strCache>
            </c:strRef>
          </c:tx>
          <c:spPr>
            <a:solidFill>
              <a:srgbClr val="0A1C58"/>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Sheet1!$A$2:$A$8</c:f>
              <c:multiLvlStrCache>
                <c:ptCount val="7"/>
                <c:lvl>
                  <c:pt idx="0">
                    <c:v>≤2026</c:v>
                  </c:pt>
                  <c:pt idx="1">
                    <c:v>2027</c:v>
                  </c:pt>
                  <c:pt idx="2">
                    <c:v>2028</c:v>
                  </c:pt>
                  <c:pt idx="3">
                    <c:v>2029</c:v>
                  </c:pt>
                  <c:pt idx="4">
                    <c:v>2030</c:v>
                  </c:pt>
                  <c:pt idx="5">
                    <c:v>2031</c:v>
                  </c:pt>
                  <c:pt idx="6">
                    <c:v>2032+</c:v>
                  </c:pt>
                </c:lvl>
              </c:multiLvlStrCache>
            </c:multiLvlStrRef>
          </c:cat>
          <c:val>
            <c:numRef>
              <c:f>Sheet1!$C$2:$C$8</c:f>
              <c:numCache>
                <c:formatCode>General</c:formatCode>
                <c:ptCount val="7"/>
                <c:pt idx="0">
                  <c:v/>
                </c:pt>
                <c:pt idx="1">
                  <c:v/>
                </c:pt>
                <c:pt idx="2">
                  <c:v/>
                </c:pt>
                <c:pt idx="3">
                  <c:v>3.1</c:v>
                </c:pt>
                <c:pt idx="4">
                  <c:v>2.2</c:v>
                </c:pt>
                <c:pt idx="5">
                  <c:v>6.2</c:v>
                </c:pt>
                <c:pt idx="6">
                  <c:v>3</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7.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2E93AE"/>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Sheet1!$B$2:$B$5</c:f>
              <c:numCache>
                <c:formatCode>General</c:formatCode>
                <c:ptCount val="4"/>
                <c:pt idx="0">
                  <c:v>0.35</c:v>
                </c:pt>
                <c:pt idx="1">
                  <c:v>0.66</c:v>
                </c:pt>
                <c:pt idx="2">
                  <c:v/>
                </c:pt>
                <c:pt idx="3">
                  <c:v/>
                </c:pt>
              </c:numCache>
            </c:numRef>
          </c:val>
        </c:ser>
        <c:ser>
          <c:idx val="1"/>
          <c:order val="1"/>
          <c:tx>
            <c:strRef>
              <c:f>Sheet1!$C$1</c:f>
              <c:strCache>
                <c:ptCount val="1"/>
                <c:pt idx="0">
                  <c:v>Upside scenarios</c:v>
                </c:pt>
              </c:strCache>
            </c:strRef>
          </c:tx>
          <c:spPr>
            <a:solidFill>
              <a:srgbClr val="0A1C58"/>
            </a:solidFill>
            <a:effectLst/>
          </c:spPr>
          <c:invertIfNegative val="0"/>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cat>
            <c:multiLvlStrRef>
              <c:f>Sheet1!$A$2:$A$5</c:f>
              <c:multiLvlStrCache>
                <c:ptCount val="4"/>
                <c:lvl>
                  <c:pt idx="0">
                    <c:v>No Power</c:v>
                  </c:pt>
                  <c:pt idx="1">
                    <c:v>Signed order</c:v>
                  </c:pt>
                  <c:pt idx="2">
                    <c:v>+1 contract</c:v>
                  </c:pt>
                  <c:pt idx="3">
                    <c:v>+2 contracts</c:v>
                  </c:pt>
                </c:lvl>
              </c:multiLvlStrCache>
            </c:multiLvlStrRef>
          </c:cat>
          <c:val>
            <c:numRef>
              <c:f>Sheet1!$C$2:$C$5</c:f>
              <c:numCache>
                <c:formatCode>General</c:formatCode>
                <c:ptCount val="4"/>
                <c:pt idx="0">
                  <c:v/>
                </c:pt>
                <c:pt idx="1">
                  <c:v/>
                </c:pt>
                <c:pt idx="2">
                  <c:v>0.86</c:v>
                </c:pt>
                <c:pt idx="3">
                  <c:v>1.07</c:v>
                </c:pt>
              </c:numCache>
            </c:numRef>
          </c:val>
        </c:ser>
        <c:dLbls>
          <c:numFmt formatCode="0%" sourceLinked="0"/>
          <c:txPr>
            <a:bodyPr/>
            <a:lstStyle/>
            <a:p>
              <a:pPr>
                <a:defRPr b="1" i="0" strike="noStrike" sz="1400" u="none">
                  <a:solidFill>
                    <a:srgbClr val="1A1A1A"/>
                  </a:solidFill>
                  <a:latin typeface="+mn-lt"/>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0A1C58"/>
                </a:solidFill>
                <a:latin typeface="+mn-lt"/>
              </a:defRPr>
            </a:pPr>
            <a:endParaRPr lang="en-US"/>
          </a:p>
        </c:txPr>
        <c:crossAx val="2094734552"/>
        <c:crosses val="autoZero"/>
        <c:auto val="1"/>
        <c:lblAlgn val="ctr"/>
        <c:noMultiLvlLbl val="1"/>
      </c:catAx>
      <c:valAx>
        <c:axId val="2094734552"/>
        <c:scaling>
          <c:orientation val="minMax"/>
          <c:max val="1.2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Return</c:v>
                </c:pt>
              </c:strCache>
            </c:strRef>
          </c:tx>
          <c:spPr>
            <a:solidFill>
              <a:srgbClr val="0A1C58"/>
            </a:solidFill>
            <a:effectLst/>
          </c:spPr>
          <c:invertIfNegative val="0"/>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Margins + share only</c:v>
                  </c:pt>
                  <c:pt idx="1">
                    <c:v>Power only</c:v>
                  </c:pt>
                </c:lvl>
              </c:multiLvlStrCache>
            </c:multiLvlStrRef>
          </c:cat>
          <c:val>
            <c:numRef>
              <c:f>Sheet1!$B$2:$B$3</c:f>
              <c:numCache>
                <c:formatCode>General</c:formatCode>
                <c:ptCount val="2"/>
                <c:pt idx="0">
                  <c:v>0.33</c:v>
                </c:pt>
                <c:pt idx="1">
                  <c:v>0.36</c:v>
                </c:pt>
              </c:numCache>
            </c:numRef>
          </c:val>
        </c:ser>
        <c:dLbls>
          <c:numFmt formatCode="0%" sourceLinked="0"/>
          <c:txPr>
            <a:bodyPr/>
            <a:lstStyle/>
            <a:p>
              <a:pPr>
                <a:defRPr b="1" i="0" strike="noStrike" sz="1500" u="none">
                  <a:solidFill>
                    <a:srgbClr val="1A1A1A"/>
                  </a:solidFill>
                  <a:latin typeface="+mn-lt"/>
                </a:defRPr>
              </a:pPr>
            </a:p>
          </c:txPr>
          <c:showLegendKey val="0"/>
          <c:showVal val="1"/>
          <c:showCatName val="0"/>
          <c:showSerName val="0"/>
          <c:showPercent val="0"/>
          <c:showBubbleSize val="0"/>
          <c:showLeaderLines val="0"/>
        </c:dLbls>
        <c:gapWidth val="11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3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Sheet1!$B$2:$B$7</c:f>
              <c:numCache>
                <c:formatCode>General</c:formatCode>
                <c:ptCount val="6"/>
                <c:pt idx="0">
                  <c:v>0</c:v>
                </c:pt>
                <c:pt idx="1">
                  <c:v>167</c:v>
                </c:pt>
                <c:pt idx="2">
                  <c:v>171.9</c:v>
                </c:pt>
                <c:pt idx="3">
                  <c:v>188.9</c:v>
                </c:pt>
                <c:pt idx="4">
                  <c:v>221.6</c:v>
                </c:pt>
                <c:pt idx="5">
                  <c:v>0</c:v>
                </c:pt>
              </c:numCache>
            </c:numRef>
          </c:val>
        </c:ser>
        <c:ser>
          <c:idx val="1"/>
          <c:order val="1"/>
          <c:tx>
            <c:strRef>
              <c:f>Sheet1!$C$1</c:f>
              <c:strCache>
                <c:ptCount val="1"/>
                <c:pt idx="0">
                  <c:v>Today</c:v>
                </c:pt>
              </c:strCache>
            </c:strRef>
          </c:tx>
          <c:spPr>
            <a:solidFill>
              <a:srgbClr val="2E93AE"/>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Sheet1!$C$2:$C$7</c:f>
              <c:numCache>
                <c:formatCode>General</c:formatCode>
                <c:ptCount val="6"/>
                <c:pt idx="0">
                  <c:v>167</c:v>
                </c:pt>
                <c:pt idx="1">
                  <c:v>0</c:v>
                </c:pt>
                <c:pt idx="2">
                  <c:v>0</c:v>
                </c:pt>
                <c:pt idx="3">
                  <c:v>0</c:v>
                </c:pt>
                <c:pt idx="4">
                  <c:v>0</c:v>
                </c:pt>
                <c:pt idx="5">
                  <c:v>0</c:v>
                </c:pt>
              </c:numCache>
            </c:numRef>
          </c:val>
        </c:ser>
        <c:ser>
          <c:idx val="2"/>
          <c:order val="2"/>
          <c:tx>
            <c:strRef>
              <c:f>Sheet1!$D$1</c:f>
              <c:strCache>
                <c:ptCount val="1"/>
                <c:pt idx="0">
                  <c:v>Theses</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Sheet1!$D$2:$D$7</c:f>
              <c:numCache>
                <c:formatCode>General</c:formatCode>
                <c:ptCount val="6"/>
                <c:pt idx="0">
                  <c:v>0</c:v>
                </c:pt>
                <c:pt idx="1">
                  <c:v>4.8</c:v>
                </c:pt>
                <c:pt idx="2">
                  <c:v>17</c:v>
                </c:pt>
                <c:pt idx="3">
                  <c:v>32.7</c:v>
                </c:pt>
                <c:pt idx="4">
                  <c:v>55.1</c:v>
                </c:pt>
                <c:pt idx="5">
                  <c:v>0</c:v>
                </c:pt>
              </c:numCache>
            </c:numRef>
          </c:val>
        </c:ser>
        <c:ser>
          <c:idx val="3"/>
          <c:order val="3"/>
          <c:tx>
            <c:strRef>
              <c:f>Sheet1!$E$1</c:f>
              <c:strCache>
                <c:ptCount val="1"/>
                <c:pt idx="0">
                  <c:v>Base case</c:v>
                </c:pt>
              </c:strCache>
            </c:strRef>
          </c:tx>
          <c:spPr>
            <a:solidFill>
              <a:srgbClr val="EE6E25"/>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Today</c:v>
                  </c:pt>
                  <c:pt idx="1">
                    <c:v>To bear case</c:v>
                  </c:pt>
                  <c:pt idx="2">
                    <c:v>Margins</c:v>
                  </c:pt>
                  <c:pt idx="3">
                    <c:v>Share</c:v>
                  </c:pt>
                  <c:pt idx="4">
                    <c:v>Power</c:v>
                  </c:pt>
                  <c:pt idx="5">
                    <c:v>Base case</c:v>
                  </c:pt>
                </c:lvl>
              </c:multiLvlStrCache>
            </c:multiLvlStrRef>
          </c:cat>
          <c:val>
            <c:numRef>
              <c:f>Sheet1!$E$2:$E$7</c:f>
              <c:numCache>
                <c:formatCode>General</c:formatCode>
                <c:ptCount val="6"/>
                <c:pt idx="0">
                  <c:v>0</c:v>
                </c:pt>
                <c:pt idx="1">
                  <c:v>0</c:v>
                </c:pt>
                <c:pt idx="2">
                  <c:v>0</c:v>
                </c:pt>
                <c:pt idx="3">
                  <c:v>0</c:v>
                </c:pt>
                <c:pt idx="4">
                  <c:v>0</c:v>
                </c:pt>
                <c:pt idx="5">
                  <c:v>276.6</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1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Combined backlog: GE Vernova gas backlog + slot reservations 55 GW (Q2'25) → 116 GW (Q2'26; ≥125 GW guided for YE26); Siemens Energy firm gas turbine backlog 37 GW (Q3 FY25) → 69 GW (Q3 FY26); Mitsubishi large-frame backlog 23 GW → 35 GW. Definitions differ (GEV includes reservations; Siemens firm only; MHI large-frame only), so treat the total as indicative. End-2024 GW figures were not disclosed.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Dashed lines extend the 2029–30 slopes (-42/yr and +20/yr), which cross around 2032.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CFM56 full overhaul ~60 days pre-pandemic vs. 90–120 days now (Aviation Business News, 2025; secondary source). Slot waits up 2–6 months (Bain, 2024; 2025 market summaries). GE: LEAP shop visits up &gt;50% in Q1 and Q2 2026; LEAP installed base to roughly triple 2024–2030; ~$500M of &gt;$1B MRO investment to LEAP, roughly doubling internal LEAP capacity. Shop-visit mix: CFM56 2,350 (2025) and 2,150 (2030E) from GPS model; LEAP ~1,100 (2025) and ~2,200 (2030E) per CFM forecast that LEAP visits exceed CFM56 by 2030. No source found showing OEMs cutting CFM56 capacity outright; the shift is in where new OEM capacity goes. Former MRO executive: 'the variability in capital investment required to capture the LEAP is extremely low versus what it took them to capture the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FTAI (Q2'24 call, as reported by third parties): average CFM56 engine turnaround ~120–180 days vs. 5–25 days for a module swap. Midpoints 150 vs. ~20 days = ~7x. Step lengths within the shop visit are illustrative; slot waits of 2–6 months and HPT blade shortages drive most of the delay. Caveat: the fastest swaps apply where the core does not need to be opened; roughly half of shop visits require core disassembly. Cost chart: IBA puts CFM56-7B spare-engine lease rates at ~$100K/month in 2024 (up from ~$75K in 2019), ~$3.3K/day. 150 days = ~$493K vs. 20 days = ~$66K. Lease cost only; lost flying revenue on a grounded jet (often $10K+ per day) would widen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output 757 modules in 2025, 1,200 guided for 2026 (Montreal 450, Miami 475, Europe 275) and 1,700 targeted for 2027 including GMF and EgyptAir. Network capacity raised from 2,000 to 3,000 modules in 2026. Montreal capacity up to 900 (377 output in 2025). Jakarta 300–450 and Cairo 150–180 are GPS estimates; partners are ~7–18% of 2027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math (FY27E, GPS model): 2,386 CFM56 shop visits × 3 modules = 7,159 modules of demand × 16.8% FTAI share = 1,206 third-party modules, plus 482 SCI modules (450 aircraft × 2 engines × 20% shop-visit rate × 3 modules, approx.) = 1,687, vs. FTAI's 1,700 target. Share path 12.4% FY26E → 20% by FY30E. 2025 split approximates SCI at 82 modules and the remainder third-party.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LTSA coverage: Safran estimates ~50% of ~5,500 in-service LEAPs are on long-term agreements vs. ~15% of CFM56s, peaking near 70% in 2030 before shifting back to time-and-materials (Aviation Week). LEAP overhauls ~2,000 a year by 2030, roughly matching CFM56 (Aviation Week). First LEAP shop visits clustering at 2,000–6,000 cycles with ~4,000 as a planning base, vs. 10,000+ originally expected (Visual Approach). LEAP-1A/1B shop visit $2.0–4.5M+ before LLPs (Safe Fly, unsourced benchmark); The Air Current: the overhaul far eclipses the cost of the same work on a CFM56. FTAI: CFM56/LEAP test cell planned at Rome as its entry into next-generation engine maintenance (Q2'26 call coverage). No public LEAP repair licence found; confirm before presenting. Former MRO executive: the machines and capital equipment for LEAP are 'very near that for CFM'.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 (base-case SOTP $276.65 + LEAP value per share) / $167.03 − 1. LEAP value: 2,000 LEAP shop visits a year (Aviation Week, ~2030) × 50% off OEM contracts (coverage falling back from the ~70% 2030 peak) × FTAI share × 3 modules per visit × $0.913M EBITDA per module (FY27E CFM56 level; LEAP visits cost more, so conservative) × 16x Aerospace multiple, discounted four years at the 9.5% WACC. Each point of share ≈ $2.93/share. 20% share (FTAI's FY28E+ CFM56 share) ≈ $548M EBITDA and +$59/share → 101%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Four cash capex: $69B (2019) → $376B (2025); 2026 guidance midpoints sum to ~$733B. Reserve shortfall = required capacity (NERC demand × reserve margin) minus anticipated capacity and contracted additions, summed across NERC regions: 8.4 GW in 2029 (PJM), 27.2 GW in 2030 (PJM, MISO), 47.2 GW in 2031. US data center energy demand rises from ~298 TWh (2026) to ~649 TWh (2030).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agreements tab: 45 included hyperscaler deals with ~25.3 GW of new or restarted capacity. By full commercial operation date: ≤2026 1.8 GW, 2027 5.7 GW, 2028 3.3 GW, 2029 3.1 GW, 2030 2.2 GW, 2031 6.2 GW, 2032+ 3.0 GW. 57% is fully online in 2029 or later (38% by first COD). Existing-plant offtake deals (no new MW) are excluded. TV risk: a bridge business ends when the grid catches up. Mitigants: the modeled shortfall still widens to 47 GW by 2031; turbines can remain as on-site backup/peaking capacity; the SOTP applies 12x to Power vs. 16x for Aerospace, pricing in a shorter life. The DCF does carry Power growth to FY31, so judges may push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cost: GPS model assumes ~$12M per MW of data center facility spend, so 100 MW ≈ $1.2B before GPUs; FTAI's contract implies ~$1M per MW; 100 MW of load needs ~150 MW of turbines with the model's 50% redundancy allowance, so six 25 MW Mod-1 units ≈ $150M (~13%). Hot-weather derating could add a unit. Lead times: GE Vernova's large gas turbine order book is full until 2029 with orders out to 2031 (CNBC, Jun-26); new aeroderivative orders are being slotted for 2028–2030 (Tom's Hardware, Oct-25). FTAI guided first Mod-1 deliveries to Q4'26, later saying it is prudent to expect deliveries in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Scenarios on FTAI's FY27 Power guide: the signed $1.465B J&amp;F order (est. 40–60 units, ~1.0–1.5 GW) underpins the $450M low end; reaching $750M needs ~$1B of new orders (follow-ons under the hyperscaler master agreement or a second customer). A second ~$1B contract is extrapolated at the same ~$300M step to ~$1,050M. Units ≈ $1B / ($1M/MW × 25 MW) ≈ 40 per contract. Returns: SOTP ex-Power $224.75 + Power EBITDA × 12 / 104.0M shares, vs. $167.03: no Power 35%, signed order 66% (base case), +1 contract 86%, +2 contracts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Bars = base-case SOTP with one thesis on and the others off (bear-case margins/share rows, Power units = 0), at base multiples, vs. $167.03: margins + share only (no Power) $222 (+33%); Power (signed order) only, with bear-case margins and share, $227 (+36%). All three = $277 (+66%). Share path: ~4% (2024) → ~8% (2025) → ~12% (2026E), i.e. ~4 pts a year; the model reaches 20% by FY30, ~2 pts a year. With all three off, the SOTP is $172, about today's price: the market is pricing the bear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Waterfall: today $167.03; bear case (bear margins and share, no Power) SOTP $171.86 (+$4.83); Shapley contributions on the SOTP: margins +$17.04, share +$32.66, Power +$55.08 = $276.65 (+66%). Base-case SOTP build: Aerospace $1,541M × 16x = $237; Power $450M × 12x = $52; Leasing + SCI $455M × 9x = $39; corporate −$28; net debt and preferred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Q3'26 (late Oct. 2026) and Q4'26 (~Feb. 2027) prints: Aerospace Adj. EBITDA margin holding at ~30% confirms the floor; watch PMA usage and parts 4/5 approval commentary. 2) Capacity (1H'27) and 3) Power (2H'27), reordered. Power: management moved first Mod-1 deliveries from Q4'26 to 'prudent to expect deliveries in 2027'; delivery cadence or a follow-on order (Jereh must disclose large contracts) moves Power toward the top of the $450–750M FY27 guide. 3) Capacity: partner sites in Jakarta (GMF) and Cairo (EgyptAir) plus Lisbon ramp in 2027; network capacity 3,000 modules vs. a 1,700-module 2027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LEAP: GE says the LEAP installed base more than doubles 2025–2030 and LEAP shop visits grow ~25% a year; CFM expects LEAP visits to triple by 2030; IATA sees 600–800 visits in 2025 rising to 5,000+ by 2040 and says capacity alone will not be enough. GE is spending ~$500M to roughly double internal LEAP capacity, and third-party shops' share of LEAP visits rises from 10% (2024) to ~15% today and ~30% by 2030. 2) Short-report discount: the bear-case SOTP ($172) is roughly today's price; with &lt;8% of depreciated leasing inventory left in Aerospace Products, margins now reflect the core business; Q3/Q4 '26 prints are the test. 3) Technicians: no public description of an FTAI academy was found; job postings show dedicated engine-module technical trainers in Montreal and Miami. Partners: GMF ~200 and EgyptAir ~120 technicians. FTAI cited Palantir workflow tools and a productivity lag from rapid hiring. Confirm academy details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value bridge (mid-year convention, 0.5 stub for FY26) and both terminal-value methods: perpetuity growth at 3.0% ($281) and 13.0x exit multiple ($335), both at a 9.5% WACC.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Supports the OEM escalator assumption on Thesis 1a (2/4): matched catalogue parts rose a median 6.1–6.2% per year (2024–25 and 2025–26), with only 1 of ~3,400 matched parts falling.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pic>
        <p:nvPicPr>
          <p:cNvPr id="4" name="Image 1" descr="/home/user/SPOT/deck/img/ftai_logo.png">    </p:cNvPr>
          <p:cNvPicPr>
            <a:picLocks noChangeAspect="1"/>
          </p:cNvPicPr>
          <p:nvPr/>
        </p:nvPicPr>
        <p:blipFill>
          <a:blip r:embed="rId2"/>
          <a:stretch>
            <a:fillRect/>
          </a:stretch>
        </p:blipFill>
        <p:spPr>
          <a:xfrm>
            <a:off x="7452360" y="246888"/>
            <a:ext cx="1371600" cy="522923"/>
          </a:xfrm>
          <a:prstGeom prst="rect">
            <a:avLst/>
          </a:prstGeom>
        </p:spPr>
      </p:pic>
      <p:sp>
        <p:nvSpPr>
          <p:cNvPr id="5" name="Text 1"/>
          <p:cNvSpPr/>
          <p:nvPr>
            <p:ph idx="103" type="title" hasCustomPrompt="1"/>
          </p:nvPr>
        </p:nvSpPr>
        <p:spPr>
          <a:xfrm>
            <a:off x="320040" y="182880"/>
            <a:ext cx="704088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6" name="Text 1"/>
          <p:cNvSpPr/>
          <p:nvPr>
            <p:ph idx="104"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1.png"/><Relationship Id="rId3" Type="http://schemas.openxmlformats.org/officeDocument/2006/relationships/image" Target="../media/image-1-2.jpe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chart" Target="/ppt/charts/chart10.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jpe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jpe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3.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3.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3.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3.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rgbClr val="EE6E25"/>
                </a:solidFill>
              </a:rPr>
              <a:t>Long Recommendation</a:t>
            </a:r>
            <a:endParaRPr lang="en-US" sz="2800" dirty="0"/>
          </a:p>
        </p:txBody>
      </p:sp>
      <p:graphicFrame>
        <p:nvGraphicFramePr>
          <p:cNvPr id="5" name="Share price chart" descr=""/>
          <p:cNvGraphicFramePr/>
          <p:nvPr/>
        </p:nvGraphicFramePr>
        <p:xfrm>
          <a:off x="548640" y="2011680"/>
          <a:ext cx="5486400" cy="2057400"/>
        </p:xfrm>
        <a:graphic xmlns:a="http://schemas.openxmlformats.org/drawingml/2006/main">
          <a:graphicData uri="http://schemas.openxmlformats.org/drawingml/2006/chart">
            <c:chart xmlns:c="http://schemas.openxmlformats.org/drawingml/2006/chart" r:id="rId2"/>
          </a:graphicData>
        </a:graphic>
      </p:graphicFrame>
      <p:sp>
        <p:nvSpPr>
          <p:cNvPr id="6" name="Event 1 dot"/>
          <p:cNvSpPr/>
          <p:nvPr/>
        </p:nvSpPr>
        <p:spPr>
          <a:xfrm>
            <a:off x="4183609" y="3210667"/>
            <a:ext cx="128016" cy="128016"/>
          </a:xfrm>
          <a:prstGeom prst="ellipse">
            <a:avLst/>
          </a:prstGeom>
          <a:solidFill>
            <a:srgbClr val="EE6E25"/>
          </a:solidFill>
          <a:ln w="12700">
            <a:solidFill>
              <a:srgbClr val="FFFFFF"/>
            </a:solidFill>
            <a:prstDash val="solid"/>
          </a:ln>
        </p:spPr>
      </p:sp>
      <p:sp>
        <p:nvSpPr>
          <p:cNvPr id="7" name="Event 1 label"/>
          <p:cNvSpPr txBox="1"/>
          <p:nvPr/>
        </p:nvSpPr>
        <p:spPr>
          <a:xfrm>
            <a:off x="4311625" y="3366115"/>
            <a:ext cx="1005840" cy="219456"/>
          </a:xfrm>
          <a:prstGeom prst="rect">
            <a:avLst/>
          </a:prstGeom>
          <a:noFill/>
          <a:ln/>
        </p:spPr>
        <p:txBody>
          <a:bodyPr wrap="square" lIns="0" tIns="0" rIns="0" bIns="0" rtlCol="0" anchor="ctr"/>
          <a:lstStyle/>
          <a:p>
            <a:pPr algn="ctr" indent="0" marL="0">
              <a:buNone/>
            </a:pPr>
            <a:r>
              <a:rPr lang="en-US" sz="1000" b="1" dirty="0">
                <a:solidFill>
                  <a:srgbClr val="EE6E25"/>
                </a:solidFill>
              </a:rPr>
              <a:t>Short report</a:t>
            </a:r>
            <a:endParaRPr lang="en-US" sz="1000" dirty="0"/>
          </a:p>
        </p:txBody>
      </p:sp>
      <p:sp>
        <p:nvSpPr>
          <p:cNvPr id="8" name="Event 2 dot"/>
          <p:cNvSpPr/>
          <p:nvPr/>
        </p:nvSpPr>
        <p:spPr>
          <a:xfrm>
            <a:off x="5537204" y="2546292"/>
            <a:ext cx="128016" cy="128016"/>
          </a:xfrm>
          <a:prstGeom prst="ellipse">
            <a:avLst/>
          </a:prstGeom>
          <a:solidFill>
            <a:srgbClr val="EE6E25"/>
          </a:solidFill>
          <a:ln w="12700">
            <a:solidFill>
              <a:srgbClr val="FFFFFF"/>
            </a:solidFill>
            <a:prstDash val="solid"/>
          </a:ln>
        </p:spPr>
      </p:sp>
      <p:sp>
        <p:nvSpPr>
          <p:cNvPr id="9" name="Event 2 label"/>
          <p:cNvSpPr txBox="1"/>
          <p:nvPr/>
        </p:nvSpPr>
        <p:spPr>
          <a:xfrm>
            <a:off x="4961132" y="1951932"/>
            <a:ext cx="1005840" cy="219456"/>
          </a:xfrm>
          <a:prstGeom prst="rect">
            <a:avLst/>
          </a:prstGeom>
          <a:noFill/>
          <a:ln/>
        </p:spPr>
        <p:txBody>
          <a:bodyPr wrap="square" lIns="0" tIns="0" rIns="0" bIns="0" rtlCol="0" anchor="ctr"/>
          <a:lstStyle/>
          <a:p>
            <a:pPr algn="ctr" indent="0" marL="0">
              <a:buNone/>
            </a:pPr>
            <a:r>
              <a:rPr lang="en-US" sz="1000" b="1" dirty="0">
                <a:solidFill>
                  <a:srgbClr val="EE6E25"/>
                </a:solidFill>
              </a:rPr>
              <a:t>1Q26 reset</a:t>
            </a:r>
            <a:endParaRPr lang="en-US" sz="1000" dirty="0"/>
          </a:p>
        </p:txBody>
      </p:sp>
      <p:sp>
        <p:nvSpPr>
          <p:cNvPr id="10" name="Chart caption"/>
          <p:cNvSpPr txBox="1"/>
          <p:nvPr/>
        </p:nvSpPr>
        <p:spPr>
          <a:xfrm>
            <a:off x="548640" y="4050792"/>
            <a:ext cx="5486400" cy="201168"/>
          </a:xfrm>
          <a:prstGeom prst="rect">
            <a:avLst/>
          </a:prstGeom>
          <a:noFill/>
          <a:ln/>
        </p:spPr>
        <p:txBody>
          <a:bodyPr wrap="square" lIns="0" tIns="0" rIns="0" bIns="0" rtlCol="0" anchor="ctr"/>
          <a:lstStyle/>
          <a:p>
            <a:pPr algn="ctr" indent="0" marL="0">
              <a:buNone/>
            </a:pPr>
            <a:r>
              <a:rPr lang="en-US" sz="900" i="1" dirty="0">
                <a:solidFill>
                  <a:schemeClr val="accent2"/>
                </a:solidFill>
              </a:rPr>
              <a:t>FTAI share price, last 5 years</a:t>
            </a:r>
            <a:endParaRPr lang="en-US" sz="900" dirty="0"/>
          </a:p>
        </p:txBody>
      </p:sp>
      <p:sp>
        <p:nvSpPr>
          <p:cNvPr id="11" name="Stat 1 value"/>
          <p:cNvSpPr txBox="1"/>
          <p:nvPr/>
        </p:nvSpPr>
        <p:spPr>
          <a:xfrm>
            <a:off x="6263640" y="2103120"/>
            <a:ext cx="1261872" cy="566928"/>
          </a:xfrm>
          <a:prstGeom prst="rect">
            <a:avLst/>
          </a:prstGeom>
          <a:noFill/>
          <a:ln/>
        </p:spPr>
        <p:txBody>
          <a:bodyPr wrap="square" lIns="0" tIns="0" rIns="0" bIns="0" rtlCol="0" anchor="b"/>
          <a:lstStyle/>
          <a:p>
            <a:pPr algn="ctr" indent="0" marL="0">
              <a:buNone/>
            </a:pPr>
            <a:r>
              <a:rPr lang="en-US" sz="3000" b="1" dirty="0">
                <a:solidFill>
                  <a:schemeClr val="tx2"/>
                </a:solidFill>
              </a:rPr>
              <a:t>$167</a:t>
            </a:r>
            <a:endParaRPr lang="en-US" sz="3000" dirty="0"/>
          </a:p>
        </p:txBody>
      </p:sp>
      <p:sp>
        <p:nvSpPr>
          <p:cNvPr id="12" name="Stat 1 label"/>
          <p:cNvSpPr txBox="1"/>
          <p:nvPr/>
        </p:nvSpPr>
        <p:spPr>
          <a:xfrm>
            <a:off x="6263640" y="2679192"/>
            <a:ext cx="1261872" cy="274320"/>
          </a:xfrm>
          <a:prstGeom prst="rect">
            <a:avLst/>
          </a:prstGeom>
          <a:noFill/>
          <a:ln/>
        </p:spPr>
        <p:txBody>
          <a:bodyPr wrap="square" lIns="0" tIns="0" rIns="0" bIns="0" rtlCol="0" anchor="t"/>
          <a:lstStyle/>
          <a:p>
            <a:pPr algn="ctr" indent="0" marL="0">
              <a:buNone/>
            </a:pPr>
            <a:r>
              <a:rPr lang="en-US" sz="1200" dirty="0">
                <a:solidFill>
                  <a:schemeClr val="accent2"/>
                </a:solidFill>
              </a:rPr>
              <a:t>Current Price</a:t>
            </a:r>
            <a:endParaRPr lang="en-US" sz="1200" dirty="0"/>
          </a:p>
        </p:txBody>
      </p:sp>
      <p:sp>
        <p:nvSpPr>
          <p:cNvPr id="13" name="Stat 2 value"/>
          <p:cNvSpPr txBox="1"/>
          <p:nvPr/>
        </p:nvSpPr>
        <p:spPr>
          <a:xfrm>
            <a:off x="7562088" y="2103120"/>
            <a:ext cx="1261872" cy="566928"/>
          </a:xfrm>
          <a:prstGeom prst="rect">
            <a:avLst/>
          </a:prstGeom>
          <a:noFill/>
          <a:ln/>
        </p:spPr>
        <p:txBody>
          <a:bodyPr wrap="square" lIns="0" tIns="0" rIns="0" bIns="0" rtlCol="0" anchor="b"/>
          <a:lstStyle/>
          <a:p>
            <a:pPr algn="ctr" indent="0" marL="0">
              <a:buNone/>
            </a:pPr>
            <a:r>
              <a:rPr lang="en-US" sz="3000" b="1" dirty="0">
                <a:solidFill>
                  <a:schemeClr val="tx2"/>
                </a:solidFill>
              </a:rPr>
              <a:t>$308</a:t>
            </a:r>
            <a:endParaRPr lang="en-US" sz="3000" dirty="0"/>
          </a:p>
        </p:txBody>
      </p:sp>
      <p:sp>
        <p:nvSpPr>
          <p:cNvPr id="14" name="Stat 2 label"/>
          <p:cNvSpPr txBox="1"/>
          <p:nvPr/>
        </p:nvSpPr>
        <p:spPr>
          <a:xfrm>
            <a:off x="7562088" y="2679192"/>
            <a:ext cx="1261872" cy="274320"/>
          </a:xfrm>
          <a:prstGeom prst="rect">
            <a:avLst/>
          </a:prstGeom>
          <a:noFill/>
          <a:ln/>
        </p:spPr>
        <p:txBody>
          <a:bodyPr wrap="square" lIns="0" tIns="0" rIns="0" bIns="0" rtlCol="0" anchor="t"/>
          <a:lstStyle/>
          <a:p>
            <a:pPr algn="ctr" indent="0" marL="0">
              <a:buNone/>
            </a:pPr>
            <a:r>
              <a:rPr lang="en-US" sz="1200" dirty="0">
                <a:solidFill>
                  <a:schemeClr val="accent2"/>
                </a:solidFill>
              </a:rPr>
              <a:t>Target Price</a:t>
            </a:r>
            <a:endParaRPr lang="en-US" sz="1200" dirty="0"/>
          </a:p>
        </p:txBody>
      </p:sp>
      <p:sp>
        <p:nvSpPr>
          <p:cNvPr id="15" name="Stat 3 value"/>
          <p:cNvSpPr txBox="1"/>
          <p:nvPr/>
        </p:nvSpPr>
        <p:spPr>
          <a:xfrm>
            <a:off x="6263640" y="3090672"/>
            <a:ext cx="1261872" cy="566928"/>
          </a:xfrm>
          <a:prstGeom prst="rect">
            <a:avLst/>
          </a:prstGeom>
          <a:noFill/>
          <a:ln/>
        </p:spPr>
        <p:txBody>
          <a:bodyPr wrap="square" lIns="0" tIns="0" rIns="0" bIns="0" rtlCol="0" anchor="b"/>
          <a:lstStyle/>
          <a:p>
            <a:pPr algn="ctr" indent="0" marL="0">
              <a:buNone/>
            </a:pPr>
            <a:r>
              <a:rPr lang="en-US" sz="3000" b="1" dirty="0">
                <a:solidFill>
                  <a:srgbClr val="EE6E25"/>
                </a:solidFill>
              </a:rPr>
              <a:t>84%</a:t>
            </a:r>
            <a:endParaRPr lang="en-US" sz="3000" dirty="0"/>
          </a:p>
        </p:txBody>
      </p:sp>
      <p:sp>
        <p:nvSpPr>
          <p:cNvPr id="16" name="Stat 3 label"/>
          <p:cNvSpPr txBox="1"/>
          <p:nvPr/>
        </p:nvSpPr>
        <p:spPr>
          <a:xfrm>
            <a:off x="6263640" y="3666744"/>
            <a:ext cx="1261872" cy="274320"/>
          </a:xfrm>
          <a:prstGeom prst="rect">
            <a:avLst/>
          </a:prstGeom>
          <a:noFill/>
          <a:ln/>
        </p:spPr>
        <p:txBody>
          <a:bodyPr wrap="square" lIns="0" tIns="0" rIns="0" bIns="0" rtlCol="0" anchor="t"/>
          <a:lstStyle/>
          <a:p>
            <a:pPr algn="ctr" indent="0" marL="0">
              <a:buNone/>
            </a:pPr>
            <a:r>
              <a:rPr lang="en-US" sz="1200" dirty="0">
                <a:solidFill>
                  <a:schemeClr val="accent2"/>
                </a:solidFill>
              </a:rPr>
              <a:t>Upside</a:t>
            </a:r>
            <a:endParaRPr lang="en-US" sz="1200" dirty="0"/>
          </a:p>
        </p:txBody>
      </p:sp>
      <p:sp>
        <p:nvSpPr>
          <p:cNvPr id="17" name="Stat 4 value"/>
          <p:cNvSpPr txBox="1"/>
          <p:nvPr/>
        </p:nvSpPr>
        <p:spPr>
          <a:xfrm>
            <a:off x="7562088" y="3090672"/>
            <a:ext cx="1261872" cy="566928"/>
          </a:xfrm>
          <a:prstGeom prst="rect">
            <a:avLst/>
          </a:prstGeom>
          <a:noFill/>
          <a:ln/>
        </p:spPr>
        <p:txBody>
          <a:bodyPr wrap="square" lIns="0" tIns="0" rIns="0" bIns="0" rtlCol="0" anchor="b"/>
          <a:lstStyle/>
          <a:p>
            <a:pPr algn="ctr" indent="0" marL="0">
              <a:buNone/>
            </a:pPr>
            <a:r>
              <a:rPr lang="en-US" sz="3000" b="1" dirty="0">
                <a:solidFill>
                  <a:srgbClr val="EE6E25"/>
                </a:solidFill>
              </a:rPr>
              <a:t>3.4x</a:t>
            </a:r>
            <a:endParaRPr lang="en-US" sz="3000" dirty="0"/>
          </a:p>
        </p:txBody>
      </p:sp>
      <p:sp>
        <p:nvSpPr>
          <p:cNvPr id="18" name="Stat 4 label"/>
          <p:cNvSpPr txBox="1"/>
          <p:nvPr/>
        </p:nvSpPr>
        <p:spPr>
          <a:xfrm>
            <a:off x="7562088" y="3666744"/>
            <a:ext cx="1261872" cy="274320"/>
          </a:xfrm>
          <a:prstGeom prst="rect">
            <a:avLst/>
          </a:prstGeom>
          <a:noFill/>
          <a:ln/>
        </p:spPr>
        <p:txBody>
          <a:bodyPr wrap="square" lIns="0" tIns="0" rIns="0" bIns="0" rtlCol="0" anchor="t"/>
          <a:lstStyle/>
          <a:p>
            <a:pPr algn="ctr" indent="0" marL="0">
              <a:buNone/>
            </a:pPr>
            <a:r>
              <a:rPr lang="en-US" sz="1200" dirty="0">
                <a:solidFill>
                  <a:schemeClr val="accent2"/>
                </a:solidFill>
              </a:rPr>
              <a:t>Reward / Risk</a:t>
            </a:r>
            <a:endParaRPr lang="en-US" sz="1200" dirty="0"/>
          </a:p>
        </p:txBody>
      </p:sp>
      <p:sp>
        <p:nvSpPr>
          <p:cNvPr id="19" name="Stat divider v"/>
          <p:cNvSpPr/>
          <p:nvPr/>
        </p:nvSpPr>
        <p:spPr>
          <a:xfrm>
            <a:off x="7562088" y="2148840"/>
            <a:ext cx="0" cy="1783080"/>
          </a:xfrm>
          <a:prstGeom prst="line">
            <a:avLst/>
          </a:prstGeom>
          <a:noFill/>
          <a:ln w="12700">
            <a:solidFill>
              <a:srgbClr val="DCD8D3"/>
            </a:solidFill>
            <a:prstDash val="solid"/>
          </a:ln>
        </p:spPr>
      </p:sp>
      <p:sp>
        <p:nvSpPr>
          <p:cNvPr id="20" name="Stat divider h"/>
          <p:cNvSpPr/>
          <p:nvPr/>
        </p:nvSpPr>
        <p:spPr>
          <a:xfrm>
            <a:off x="6355080" y="3044952"/>
            <a:ext cx="2377440" cy="0"/>
          </a:xfrm>
          <a:prstGeom prst="line">
            <a:avLst/>
          </a:prstGeom>
          <a:noFill/>
          <a:ln w="12700">
            <a:solidFill>
              <a:srgbClr val="DCD8D3"/>
            </a:solidFill>
            <a:prstDash val="solid"/>
          </a:ln>
        </p:spPr>
      </p:sp>
      <p:sp>
        <p:nvSpPr>
          <p:cNvPr id="21"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22"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23"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24" name="GPS logo" descr="/home/user/SPOT/deck/gps_logo.jpeg">    </p:cNvPr>
          <p:cNvPicPr>
            <a:picLocks noChangeAspect="1"/>
          </p:cNvPicPr>
          <p:nvPr/>
        </p:nvPicPr>
        <p:blipFill>
          <a:blip r:embed="rId3"/>
          <a:stretch>
            <a:fillRect/>
          </a:stretch>
        </p:blipFill>
        <p:spPr>
          <a:xfrm>
            <a:off x="5897880" y="5532120"/>
            <a:ext cx="1234440" cy="1133856"/>
          </a:xfrm>
          <a:prstGeom prst="rect">
            <a:avLst/>
          </a:prstGeom>
        </p:spPr>
      </p:pic>
      <p:sp>
        <p:nvSpPr>
          <p:cNvPr id="25" name="Logo divider"/>
          <p:cNvSpPr/>
          <p:nvPr/>
        </p:nvSpPr>
        <p:spPr>
          <a:xfrm>
            <a:off x="7360920" y="5577840"/>
            <a:ext cx="0" cy="1097280"/>
          </a:xfrm>
          <a:prstGeom prst="line">
            <a:avLst/>
          </a:prstGeom>
          <a:noFill/>
          <a:ln w="12700">
            <a:solidFill>
              <a:srgbClr val="847C7A"/>
            </a:solidFill>
            <a:prstDash val="solid"/>
          </a:ln>
        </p:spPr>
      </p:sp>
      <p:sp>
        <p:nvSpPr>
          <p:cNvPr id="26"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a:t>
            </a:r>
            <a:endParaRPr lang="en-US" sz="30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(1/3)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9050">
            <a:solidFill>
              <a:srgbClr val="2E93AE"/>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9050">
            <a:solidFill>
              <a:srgbClr val="2E93AE"/>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(2/3)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9050">
            <a:solidFill>
              <a:srgbClr val="2E93AE"/>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9050">
            <a:solidFill>
              <a:srgbClr val="2E93AE"/>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 Opportunity (3/3)</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Turbine makers are sold out for years, yet the market assigns no value to FTAI's Power.</a:t>
            </a:r>
            <a:endParaRPr lang="en-US" sz="1700" dirty="0"/>
          </a:p>
        </p:txBody>
      </p:sp>
      <p:sp>
        <p:nvSpPr>
          <p:cNvPr id="4" name="Backlog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Combined Gas Turbine Backlog (GW)</a:t>
            </a:r>
            <a:endParaRPr lang="en-US" sz="1600" dirty="0"/>
          </a:p>
        </p:txBody>
      </p:sp>
      <p:sp>
        <p:nvSpPr>
          <p:cNvPr id="5" name="Backlog header rule"/>
          <p:cNvSpPr/>
          <p:nvPr/>
        </p:nvSpPr>
        <p:spPr>
          <a:xfrm>
            <a:off x="320040" y="1975104"/>
            <a:ext cx="5257800" cy="0"/>
          </a:xfrm>
          <a:prstGeom prst="line">
            <a:avLst/>
          </a:prstGeom>
          <a:noFill/>
          <a:ln w="19050">
            <a:solidFill>
              <a:srgbClr val="2E93AE"/>
            </a:solidFill>
            <a:prstDash val="solid"/>
          </a:ln>
        </p:spPr>
      </p:sp>
      <p:graphicFrame>
        <p:nvGraphicFramePr>
          <p:cNvPr id="6" name="Combined backlog chart" descr=""/>
          <p:cNvGraphicFramePr/>
          <p:nvPr/>
        </p:nvGraphicFramePr>
        <p:xfrm>
          <a:off x="320040" y="2103120"/>
          <a:ext cx="5257800" cy="2651760"/>
        </p:xfrm>
        <a:graphic xmlns:a="http://schemas.openxmlformats.org/drawingml/2006/main">
          <a:graphicData uri="http://schemas.openxmlformats.org/drawingml/2006/chart">
            <c:chart xmlns:c="http://schemas.openxmlformats.org/drawingml/2006/chart" r:id="rId1"/>
          </a:graphicData>
        </a:graphic>
      </p:graphicFrame>
      <p:sp>
        <p:nvSpPr>
          <p:cNvPr id="7" name="Total 2025"/>
          <p:cNvSpPr txBox="1"/>
          <p:nvPr/>
        </p:nvSpPr>
        <p:spPr>
          <a:xfrm>
            <a:off x="1097280" y="301752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115 GW</a:t>
            </a:r>
            <a:endParaRPr lang="en-US" sz="1600" dirty="0"/>
          </a:p>
        </p:txBody>
      </p:sp>
      <p:sp>
        <p:nvSpPr>
          <p:cNvPr id="8" name="Total 2026"/>
          <p:cNvSpPr txBox="1"/>
          <p:nvPr/>
        </p:nvSpPr>
        <p:spPr>
          <a:xfrm>
            <a:off x="3749040" y="2057400"/>
            <a:ext cx="1188720" cy="292608"/>
          </a:xfrm>
          <a:prstGeom prst="rect">
            <a:avLst/>
          </a:prstGeom>
          <a:noFill/>
          <a:ln/>
        </p:spPr>
        <p:txBody>
          <a:bodyPr wrap="square" lIns="0" tIns="0" rIns="0" bIns="0" rtlCol="0" anchor="ctr"/>
          <a:lstStyle/>
          <a:p>
            <a:pPr algn="ctr" indent="0" marL="0">
              <a:buNone/>
            </a:pPr>
            <a:r>
              <a:rPr lang="en-US" sz="1600" b="1" dirty="0">
                <a:solidFill>
                  <a:schemeClr val="tx2"/>
                </a:solidFill>
              </a:rPr>
              <a:t>220 GW</a:t>
            </a:r>
            <a:endParaRPr lang="en-US" sz="1600" dirty="0"/>
          </a:p>
        </p:txBody>
      </p:sp>
      <p:sp>
        <p:nvSpPr>
          <p:cNvPr id="9" name="Backlog arrow"/>
          <p:cNvSpPr/>
          <p:nvPr/>
        </p:nvSpPr>
        <p:spPr>
          <a:xfrm flipV="1">
            <a:off x="2331720" y="2377440"/>
            <a:ext cx="1371600" cy="777240"/>
          </a:xfrm>
          <a:prstGeom prst="line">
            <a:avLst/>
          </a:prstGeom>
          <a:noFill/>
          <a:ln w="31750">
            <a:solidFill>
              <a:srgbClr val="0A1C58"/>
            </a:solidFill>
            <a:prstDash val="solid"/>
            <a:tailEnd type="triangle"/>
          </a:ln>
        </p:spPr>
      </p:sp>
      <p:sp>
        <p:nvSpPr>
          <p:cNvPr id="10" name="Growth label"/>
          <p:cNvSpPr txBox="1"/>
          <p:nvPr/>
        </p:nvSpPr>
        <p:spPr>
          <a:xfrm>
            <a:off x="2057400" y="2331720"/>
            <a:ext cx="914400" cy="310896"/>
          </a:xfrm>
          <a:prstGeom prst="rect">
            <a:avLst/>
          </a:prstGeom>
          <a:noFill/>
          <a:ln/>
        </p:spPr>
        <p:txBody>
          <a:bodyPr wrap="square" lIns="0" tIns="0" rIns="0" bIns="0" rtlCol="0" anchor="ctr"/>
          <a:lstStyle/>
          <a:p>
            <a:pPr algn="ctr" indent="0" marL="0">
              <a:buNone/>
            </a:pPr>
            <a:r>
              <a:rPr lang="en-US" sz="1800" b="1" dirty="0">
                <a:solidFill>
                  <a:schemeClr val="tx2"/>
                </a:solidFill>
              </a:rPr>
              <a:t>~1.9x</a:t>
            </a:r>
            <a:endParaRPr lang="en-US" sz="1800" dirty="0"/>
          </a:p>
        </p:txBody>
      </p:sp>
      <p:sp>
        <p:nvSpPr>
          <p:cNvPr id="11" name="Backlog legend"/>
          <p:cNvSpPr txBox="1"/>
          <p:nvPr/>
        </p:nvSpPr>
        <p:spPr>
          <a:xfrm>
            <a:off x="320040" y="4754880"/>
            <a:ext cx="5257800" cy="237744"/>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GE Vernova  </a:t>
            </a:r>
            <a:pPr algn="ctr" indent="0" marL="0">
              <a:buNone/>
            </a:pPr>
            <a:r>
              <a:rPr lang="en-US" sz="1100" dirty="0">
                <a:solidFill>
                  <a:srgbClr val="3B4C82"/>
                </a:solidFill>
              </a:rPr>
              <a:t>■ </a:t>
            </a:r>
            <a:pPr algn="ctr" indent="0" marL="0">
              <a:buNone/>
            </a:pPr>
            <a:r>
              <a:rPr lang="en-US" sz="1100" dirty="0">
                <a:solidFill>
                  <a:srgbClr val="1A1A1A"/>
                </a:solidFill>
              </a:rPr>
              <a:t>Siemens Energy  </a:t>
            </a:r>
            <a:pPr algn="ctr" indent="0" marL="0">
              <a:buNone/>
            </a:pPr>
            <a:r>
              <a:rPr lang="en-US" sz="1100" dirty="0">
                <a:solidFill>
                  <a:srgbClr val="2E93AE"/>
                </a:solidFill>
              </a:rPr>
              <a:t>■ </a:t>
            </a:r>
            <a:pPr algn="ctr" indent="0" marL="0">
              <a:buNone/>
            </a:pPr>
            <a:r>
              <a:rPr lang="en-US" sz="1100" dirty="0">
                <a:solidFill>
                  <a:srgbClr val="1A1A1A"/>
                </a:solidFill>
              </a:rPr>
              <a:t>Mitsubishi</a:t>
            </a:r>
            <a:endParaRPr lang="en-US" sz="1100" dirty="0"/>
          </a:p>
        </p:txBody>
      </p:sp>
      <p:sp>
        <p:nvSpPr>
          <p:cNvPr id="12" name="Backlog caption"/>
          <p:cNvSpPr txBox="1"/>
          <p:nvPr/>
        </p:nvSpPr>
        <p:spPr>
          <a:xfrm>
            <a:off x="320040" y="5010912"/>
            <a:ext cx="5257800" cy="274320"/>
          </a:xfrm>
          <a:prstGeom prst="rect">
            <a:avLst/>
          </a:prstGeom>
          <a:noFill/>
          <a:ln/>
        </p:spPr>
        <p:txBody>
          <a:bodyPr wrap="square" lIns="0" tIns="0" rIns="0" bIns="0" rtlCol="0" anchor="ctr"/>
          <a:lstStyle/>
          <a:p>
            <a:pPr algn="ctr" indent="0" marL="0">
              <a:buNone/>
            </a:pPr>
            <a:r>
              <a:rPr lang="en-US" sz="1000" i="1" dirty="0">
                <a:solidFill>
                  <a:schemeClr val="accent2"/>
                </a:solidFill>
              </a:rPr>
              <a:t>GE Vernova booking out to 2031; Siemens lead times 3+ years</a:t>
            </a:r>
            <a:endParaRPr lang="en-US" sz="1000" dirty="0"/>
          </a:p>
        </p:txBody>
      </p:sp>
      <p:sp>
        <p:nvSpPr>
          <p:cNvPr id="13"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4" name="Power stats header rule"/>
          <p:cNvSpPr/>
          <p:nvPr/>
        </p:nvSpPr>
        <p:spPr>
          <a:xfrm>
            <a:off x="5897880" y="1975104"/>
            <a:ext cx="2926080" cy="0"/>
          </a:xfrm>
          <a:prstGeom prst="line">
            <a:avLst/>
          </a:prstGeom>
          <a:noFill/>
          <a:ln w="19050">
            <a:solidFill>
              <a:srgbClr val="2E93AE"/>
            </a:solidFill>
            <a:prstDash val="solid"/>
          </a:ln>
        </p:spPr>
      </p:sp>
      <p:sp>
        <p:nvSpPr>
          <p:cNvPr id="15"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$1.465B</a:t>
            </a:r>
            <a:endParaRPr lang="en-US" sz="3000" dirty="0"/>
          </a:p>
        </p:txBody>
      </p:sp>
      <p:sp>
        <p:nvSpPr>
          <p:cNvPr id="16"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7"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$450–750M</a:t>
            </a:r>
            <a:endParaRPr lang="en-US" sz="3000" dirty="0"/>
          </a:p>
        </p:txBody>
      </p:sp>
      <p:sp>
        <p:nvSpPr>
          <p:cNvPr id="18"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9"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rgbClr val="EE6E25"/>
                </a:solidFill>
              </a:rPr>
              <a:t>25 MW</a:t>
            </a:r>
            <a:endParaRPr lang="en-US" sz="3000" dirty="0"/>
          </a:p>
        </p:txBody>
      </p:sp>
      <p:sp>
        <p:nvSpPr>
          <p:cNvPr id="20"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2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2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Vernova, Siemens Energy and MHI results, mid-2025 vs. mid-2026 (via Utility Dive, Industrial Info); FTAI filings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Returns Summary</a:t>
            </a:r>
            <a:endParaRPr lang="en-US" sz="30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rgbClr val="EE6E25"/>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2E93AE"/>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rgbClr val="EE6E25"/>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Business Overview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9050">
            <a:solidFill>
              <a:srgbClr val="2E93AE"/>
            </a:solidFill>
            <a:prstDash val="solid"/>
          </a:ln>
        </p:spPr>
      </p:sp>
      <p:sp>
        <p:nvSpPr>
          <p:cNvPr id="6" name="Loop ring"/>
          <p:cNvSpPr/>
          <p:nvPr/>
        </p:nvSpPr>
        <p:spPr>
          <a:xfrm>
            <a:off x="914400" y="2514600"/>
            <a:ext cx="2743200" cy="2231136"/>
          </a:xfrm>
          <a:prstGeom prst="ellipse">
            <a:avLst/>
          </a:prstGeom>
          <a:ln w="38100">
            <a:solidFill>
              <a:srgbClr val="2E93AE"/>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9050">
            <a:solidFill>
              <a:srgbClr val="2E93AE"/>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5" name="After engine 2 module 2"/>
          <p:cNvSpPr/>
          <p:nvPr/>
        </p:nvSpPr>
        <p:spPr>
          <a:xfrm>
            <a:off x="8037576"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6" name="After engine 2 module 3"/>
          <p:cNvSpPr/>
          <p:nvPr/>
        </p:nvSpPr>
        <p:spPr>
          <a:xfrm>
            <a:off x="8458200" y="3108960"/>
            <a:ext cx="365760" cy="365760"/>
          </a:xfrm>
          <a:prstGeom prst="rect">
            <a:avLst/>
          </a:prstGeom>
          <a:solidFill>
            <a:srgbClr val="2E93AE"/>
          </a:solidFill>
          <a:ln w="15875">
            <a:solidFill>
              <a:srgbClr val="2E93AE"/>
            </a:solidFill>
          </a:ln>
        </p:spPr>
        <p:txBody>
          <a:bodyPr wrap="square" lIns="0" tIns="0" rIns="0" bIns="0" rtlCol="0" anchor="ctr"/>
          <a:lstStyle/>
          <a:p>
            <a:pPr algn="ctr" indent="0" marL="0">
              <a:buNone/>
            </a:pPr>
            <a:r>
              <a:rPr lang="en-US" sz="1100" b="1" dirty="0">
                <a:solidFill>
                  <a:srgbClr val="FFFFFF"/>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2E93AE"/>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9050">
            <a:solidFill>
              <a:srgbClr val="2E93AE"/>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9050">
            <a:solidFill>
              <a:srgbClr val="2E93AE"/>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9050">
            <a:solidFill>
              <a:srgbClr val="2E93AE"/>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9050">
            <a:solidFill>
              <a:srgbClr val="2E93AE"/>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Heavy second visits peak in 2027 while late-life, lighter visits keep rising, and they cross.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Heavy vs. Late-Life Shop Visits</a:t>
            </a:r>
            <a:endParaRPr lang="en-US" sz="1600" dirty="0"/>
          </a:p>
        </p:txBody>
      </p:sp>
      <p:sp>
        <p:nvSpPr>
          <p:cNvPr id="5" name="Cohort header rule"/>
          <p:cNvSpPr/>
          <p:nvPr/>
        </p:nvSpPr>
        <p:spPr>
          <a:xfrm>
            <a:off x="320040" y="1975104"/>
            <a:ext cx="4343400" cy="0"/>
          </a:xfrm>
          <a:prstGeom prst="line">
            <a:avLst/>
          </a:prstGeom>
          <a:noFill/>
          <a:ln w="19050">
            <a:solidFill>
              <a:srgbClr val="2E93AE"/>
            </a:solidFill>
            <a:prstDash val="solid"/>
          </a:ln>
        </p:spPr>
      </p:sp>
      <p:graphicFrame>
        <p:nvGraphicFramePr>
          <p:cNvPr id="6" name="Cohort chart" descr=""/>
          <p:cNvGraphicFramePr/>
          <p:nvPr/>
        </p:nvGraphicFramePr>
        <p:xfrm>
          <a:off x="320040" y="2103120"/>
          <a:ext cx="4343400" cy="283464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868680" y="2103120"/>
            <a:ext cx="2286000" cy="256032"/>
          </a:xfrm>
          <a:prstGeom prst="rect">
            <a:avLst/>
          </a:prstGeom>
          <a:noFill/>
          <a:ln/>
        </p:spPr>
        <p:txBody>
          <a:bodyPr wrap="square" lIns="0" tIns="0" rIns="0" bIns="0" rtlCol="0" anchor="ctr"/>
          <a:lstStyle/>
          <a:p>
            <a:pPr algn="ctr" indent="0" marL="0">
              <a:buNone/>
            </a:pPr>
            <a:r>
              <a:rPr lang="en-US" sz="1200" b="1" dirty="0">
                <a:solidFill>
                  <a:schemeClr val="tx2"/>
                </a:solidFill>
              </a:rPr>
              <a:t>Heavy 2nd visits peak</a:t>
            </a:r>
            <a:endParaRPr lang="en-US" sz="1200" dirty="0"/>
          </a:p>
        </p:txBody>
      </p:sp>
      <p:sp>
        <p:nvSpPr>
          <p:cNvPr id="8" name="Late-life label"/>
          <p:cNvSpPr txBox="1"/>
          <p:nvPr/>
        </p:nvSpPr>
        <p:spPr>
          <a:xfrm>
            <a:off x="868680" y="4315968"/>
            <a:ext cx="3017520" cy="256032"/>
          </a:xfrm>
          <a:prstGeom prst="rect">
            <a:avLst/>
          </a:prstGeom>
          <a:noFill/>
          <a:ln/>
        </p:spPr>
        <p:txBody>
          <a:bodyPr wrap="square" lIns="0" tIns="0" rIns="0" bIns="0" rtlCol="0" anchor="ctr"/>
          <a:lstStyle/>
          <a:p>
            <a:pPr algn="l" indent="0" marL="0">
              <a:buNone/>
            </a:pPr>
            <a:r>
              <a:rPr lang="en-US" sz="1100" b="1" dirty="0">
                <a:solidFill>
                  <a:srgbClr val="2E93AE"/>
                </a:solidFill>
              </a:rPr>
              <a:t>Late-life, lighter visits keep rising</a:t>
            </a:r>
            <a:endParaRPr lang="en-US" sz="1100" dirty="0"/>
          </a:p>
        </p:txBody>
      </p:sp>
      <p:sp>
        <p:nvSpPr>
          <p:cNvPr id="9" name="Crossover dot"/>
          <p:cNvSpPr/>
          <p:nvPr/>
        </p:nvSpPr>
        <p:spPr>
          <a:xfrm>
            <a:off x="4206240" y="3145536"/>
            <a:ext cx="164592" cy="164592"/>
          </a:xfrm>
          <a:prstGeom prst="ellipse">
            <a:avLst/>
          </a:prstGeom>
          <a:solidFill>
            <a:srgbClr val="EE6E25"/>
          </a:solidFill>
          <a:ln w="19050">
            <a:solidFill>
              <a:srgbClr val="FFFFFF"/>
            </a:solidFill>
            <a:prstDash val="solid"/>
          </a:ln>
        </p:spPr>
      </p:sp>
      <p:sp>
        <p:nvSpPr>
          <p:cNvPr id="10" name="Crossover callout"/>
          <p:cNvSpPr/>
          <p:nvPr/>
        </p:nvSpPr>
        <p:spPr>
          <a:xfrm>
            <a:off x="3246120" y="3520440"/>
            <a:ext cx="1371600" cy="566928"/>
          </a:xfrm>
          <a:prstGeom prst="roundRect">
            <a:avLst>
              <a:gd name="adj" fmla="val 12903"/>
            </a:avLst>
          </a:prstGeom>
          <a:solidFill>
            <a:srgbClr val="EE6E25"/>
          </a:solidFill>
          <a:ln>
            <a:solidFill>
              <a:srgbClr val="EE6E25"/>
            </a:solidFill>
          </a:ln>
        </p:spPr>
        <p:txBody>
          <a:bodyPr wrap="square" lIns="0" tIns="0" rIns="0" bIns="0" rtlCol="0" anchor="ctr"/>
          <a:lstStyle/>
          <a:p>
            <a:pPr algn="ctr" indent="0" marL="0">
              <a:buNone/>
            </a:pPr>
            <a:r>
              <a:rPr lang="en-US" sz="1100" b="1" dirty="0">
                <a:solidFill>
                  <a:schemeClr val="bg1"/>
                </a:solidFill>
              </a:rPr>
              <a:t>Light work</a:t>
            </a:r>
            <a:endParaRPr lang="en-US" sz="1100" dirty="0"/>
          </a:p>
          <a:p>
            <a:pPr algn="ctr" indent="0" marL="0">
              <a:buNone/>
            </a:pPr>
            <a:r>
              <a:rPr lang="en-US" sz="1100" b="1" dirty="0">
                <a:solidFill>
                  <a:schemeClr val="bg1"/>
                </a:solidFill>
              </a:rPr>
              <a:t>overtakes ~2032</a:t>
            </a:r>
            <a:endParaRPr lang="en-US" sz="1100" dirty="0"/>
          </a:p>
        </p:txBody>
      </p:sp>
      <p:sp>
        <p:nvSpPr>
          <p:cNvPr id="11" name="Cohort caption"/>
          <p:cNvSpPr txBox="1"/>
          <p:nvPr/>
        </p:nvSpPr>
        <p:spPr>
          <a:xfrm>
            <a:off x="320040" y="4956048"/>
            <a:ext cx="4343400" cy="274320"/>
          </a:xfrm>
          <a:prstGeom prst="rect">
            <a:avLst/>
          </a:prstGeom>
          <a:noFill/>
          <a:ln/>
        </p:spPr>
        <p:txBody>
          <a:bodyPr wrap="square" lIns="0" tIns="0" rIns="0" bIns="0" rtlCol="0" anchor="ctr"/>
          <a:lstStyle/>
          <a:p>
            <a:pPr algn="ctr" indent="0" marL="0">
              <a:buNone/>
            </a:pPr>
            <a:r>
              <a:rPr lang="en-US" sz="1100" i="1" dirty="0">
                <a:solidFill>
                  <a:schemeClr val="accent2"/>
                </a:solidFill>
              </a:rPr>
              <a:t>Model through 2030; dashed = trend</a:t>
            </a:r>
            <a:endParaRPr lang="en-US" sz="1100" dirty="0"/>
          </a:p>
        </p:txBody>
      </p:sp>
      <p:sp>
        <p:nvSpPr>
          <p:cNvPr id="12"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13" name="Mix header rule"/>
          <p:cNvSpPr/>
          <p:nvPr/>
        </p:nvSpPr>
        <p:spPr>
          <a:xfrm>
            <a:off x="4892040" y="1975104"/>
            <a:ext cx="3931920" cy="0"/>
          </a:xfrm>
          <a:prstGeom prst="line">
            <a:avLst/>
          </a:prstGeom>
          <a:noFill/>
          <a:ln w="19050">
            <a:solidFill>
              <a:srgbClr val="2E93AE"/>
            </a:solidFill>
            <a:prstDash val="solid"/>
          </a:ln>
        </p:spPr>
      </p:sp>
      <p:graphicFrame>
        <p:nvGraphicFramePr>
          <p:cNvPr id="14"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5"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1a: Margin Floor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9050">
            <a:solidFill>
              <a:srgbClr val="2E93AE"/>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9050">
            <a:solidFill>
              <a:srgbClr val="2E93AE"/>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(1/5)</a:t>
            </a:r>
            <a:endParaRPr lang="en-US" sz="3000" dirty="0"/>
          </a:p>
        </p:txBody>
      </p:sp>
      <p:sp>
        <p:nvSpPr>
          <p:cNvPr id="3" name="Reason 1"/>
          <p:cNvSpPr txBox="1"/>
          <p:nvPr/>
        </p:nvSpPr>
        <p:spPr>
          <a:xfrm>
            <a:off x="1600200" y="10972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OEM shops are moving their capacity to LEAP, leaving CFM56 work behind.</a:t>
            </a:r>
            <a:endParaRPr lang="en-US" sz="1500" dirty="0"/>
          </a:p>
        </p:txBody>
      </p:sp>
      <p:sp>
        <p:nvSpPr>
          <p:cNvPr id="4" name="Reason 1 number"/>
          <p:cNvSpPr/>
          <p:nvPr/>
        </p:nvSpPr>
        <p:spPr>
          <a:xfrm>
            <a:off x="1161288" y="10607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1</a:t>
            </a:r>
            <a:endParaRPr lang="en-US" sz="2400" dirty="0"/>
          </a:p>
        </p:txBody>
      </p:sp>
      <p:sp>
        <p:nvSpPr>
          <p:cNvPr id="5" name="Reason 2"/>
          <p:cNvSpPr txBox="1"/>
          <p:nvPr/>
        </p:nvSpPr>
        <p:spPr>
          <a:xfrm>
            <a:off x="1600200" y="20116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Independent MROs are clogged: CFM56 overhauls now take 90–120 days.</a:t>
            </a:r>
            <a:endParaRPr lang="en-US" sz="1500" dirty="0"/>
          </a:p>
        </p:txBody>
      </p:sp>
      <p:sp>
        <p:nvSpPr>
          <p:cNvPr id="6" name="Reason 2 number"/>
          <p:cNvSpPr/>
          <p:nvPr/>
        </p:nvSpPr>
        <p:spPr>
          <a:xfrm>
            <a:off x="1161288" y="19751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2</a:t>
            </a:r>
            <a:endParaRPr lang="en-US" sz="2400" dirty="0"/>
          </a:p>
        </p:txBody>
      </p:sp>
      <p:sp>
        <p:nvSpPr>
          <p:cNvPr id="7" name="Reason 3"/>
          <p:cNvSpPr txBox="1"/>
          <p:nvPr/>
        </p:nvSpPr>
        <p:spPr>
          <a:xfrm>
            <a:off x="1600200" y="29260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FTAI's module swap returns an engine in 5–25 days, not months.</a:t>
            </a:r>
            <a:endParaRPr lang="en-US" sz="1500" dirty="0"/>
          </a:p>
        </p:txBody>
      </p:sp>
      <p:sp>
        <p:nvSpPr>
          <p:cNvPr id="8" name="Reason 3 number"/>
          <p:cNvSpPr/>
          <p:nvPr/>
        </p:nvSpPr>
        <p:spPr>
          <a:xfrm>
            <a:off x="1161288" y="28895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3</a:t>
            </a:r>
            <a:endParaRPr lang="en-US" sz="2400" dirty="0"/>
          </a:p>
        </p:txBody>
      </p:sp>
      <p:sp>
        <p:nvSpPr>
          <p:cNvPr id="9" name="Reason 4"/>
          <p:cNvSpPr txBox="1"/>
          <p:nvPr/>
        </p:nvSpPr>
        <p:spPr>
          <a:xfrm>
            <a:off x="1600200" y="3840480"/>
            <a:ext cx="6629400" cy="713232"/>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New sites in Jakarta, Cairo and Lisbon lift capacity to 3,000 modules.</a:t>
            </a:r>
            <a:endParaRPr lang="en-US" sz="1500" dirty="0"/>
          </a:p>
        </p:txBody>
      </p:sp>
      <p:sp>
        <p:nvSpPr>
          <p:cNvPr id="10" name="Reason 4 number"/>
          <p:cNvSpPr/>
          <p:nvPr/>
        </p:nvSpPr>
        <p:spPr>
          <a:xfrm>
            <a:off x="1161288" y="3803904"/>
            <a:ext cx="786384" cy="786384"/>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400" b="1" dirty="0">
                <a:solidFill>
                  <a:schemeClr val="tx2"/>
                </a:solidFill>
              </a:rPr>
              <a:t>4</a:t>
            </a:r>
            <a:endParaRPr lang="en-US" sz="2400" dirty="0"/>
          </a:p>
        </p:txBody>
      </p:sp>
      <p:sp>
        <p:nvSpPr>
          <p:cNvPr id="11" name="Funnel"/>
          <p:cNvSpPr/>
          <p:nvPr/>
        </p:nvSpPr>
        <p:spPr>
          <a:xfrm flipV="1">
            <a:off x="1188720" y="4709160"/>
            <a:ext cx="7040880" cy="365760"/>
          </a:xfrm>
          <a:prstGeom prst="triangle">
            <a:avLst/>
          </a:prstGeom>
          <a:solidFill>
            <a:srgbClr val="DCD8D3"/>
          </a:solidFill>
          <a:ln/>
        </p:spPr>
      </p:sp>
      <p:sp>
        <p:nvSpPr>
          <p:cNvPr id="12" name="Conclusion"/>
          <p:cNvSpPr txBox="1"/>
          <p:nvPr/>
        </p:nvSpPr>
        <p:spPr>
          <a:xfrm>
            <a:off x="1188720" y="5193792"/>
            <a:ext cx="7040880" cy="777240"/>
          </a:xfrm>
          <a:prstGeom prst="rect">
            <a:avLst/>
          </a:prstGeom>
          <a:solidFill>
            <a:srgbClr val="0A1C58"/>
          </a:solidFill>
          <a:ln/>
        </p:spPr>
        <p:txBody>
          <a:bodyPr wrap="square" lIns="127000" tIns="25400" rIns="127000" bIns="25400" rtlCol="0" anchor="ctr"/>
          <a:lstStyle/>
          <a:p>
            <a:pPr algn="ctr" indent="0" marL="0">
              <a:buNone/>
            </a:pPr>
            <a:r>
              <a:rPr lang="en-US" sz="1600" b="1" dirty="0">
                <a:solidFill>
                  <a:schemeClr val="bg1"/>
                </a:solidFill>
              </a:rPr>
              <a:t>FTAI's share of CFM56 module work rises from ~12% to 20% by FY30, with every SCI aircraft as a contracted floor.</a:t>
            </a:r>
            <a:endParaRPr lang="en-US" sz="16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earnings calls (2026), Aviation Business News (2025), FTAI Q2'24 call and Q2'26 supplement,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(2/5)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Independent shops are clogged, and OEMs are pouring new capacity into LEAP, not CFM56.</a:t>
            </a:r>
            <a:endParaRPr lang="en-US" sz="1700" dirty="0"/>
          </a:p>
        </p:txBody>
      </p:sp>
      <p:sp>
        <p:nvSpPr>
          <p:cNvPr id="4" name="MRO header"/>
          <p:cNvSpPr txBox="1"/>
          <p:nvPr/>
        </p:nvSpPr>
        <p:spPr>
          <a:xfrm>
            <a:off x="32004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Independent Shops Are Clogged…</a:t>
            </a:r>
            <a:endParaRPr lang="en-US" sz="1600" dirty="0"/>
          </a:p>
        </p:txBody>
      </p:sp>
      <p:sp>
        <p:nvSpPr>
          <p:cNvPr id="5" name="MRO header rule"/>
          <p:cNvSpPr/>
          <p:nvPr/>
        </p:nvSpPr>
        <p:spPr>
          <a:xfrm>
            <a:off x="320040" y="1975104"/>
            <a:ext cx="4023360" cy="0"/>
          </a:xfrm>
          <a:prstGeom prst="line">
            <a:avLst/>
          </a:prstGeom>
          <a:noFill/>
          <a:ln w="19050">
            <a:solidFill>
              <a:srgbClr val="2E93AE"/>
            </a:solidFill>
            <a:prstDash val="solid"/>
          </a:ln>
        </p:spPr>
      </p:sp>
      <p:graphicFrame>
        <p:nvGraphicFramePr>
          <p:cNvPr id="6" name="Overhaul days chart" descr=""/>
          <p:cNvGraphicFramePr/>
          <p:nvPr/>
        </p:nvGraphicFramePr>
        <p:xfrm>
          <a:off x="548640" y="2240280"/>
          <a:ext cx="2286000" cy="1874520"/>
        </p:xfrm>
        <a:graphic xmlns:a="http://schemas.openxmlformats.org/drawingml/2006/main">
          <a:graphicData uri="http://schemas.openxmlformats.org/drawingml/2006/chart">
            <c:chart xmlns:c="http://schemas.openxmlformats.org/drawingml/2006/chart" r:id="rId1"/>
          </a:graphicData>
        </a:graphic>
      </p:graphicFrame>
      <p:sp>
        <p:nvSpPr>
          <p:cNvPr id="7" name="Pre-COVID days"/>
          <p:cNvSpPr txBox="1"/>
          <p:nvPr/>
        </p:nvSpPr>
        <p:spPr>
          <a:xfrm>
            <a:off x="685800" y="2926080"/>
            <a:ext cx="914400" cy="274320"/>
          </a:xfrm>
          <a:prstGeom prst="rect">
            <a:avLst/>
          </a:prstGeom>
          <a:noFill/>
          <a:ln/>
        </p:spPr>
        <p:txBody>
          <a:bodyPr wrap="square" lIns="0" tIns="0" rIns="0" bIns="0" rtlCol="0" anchor="ctr"/>
          <a:lstStyle/>
          <a:p>
            <a:pPr algn="ctr" indent="0" marL="0">
              <a:buNone/>
            </a:pPr>
            <a:r>
              <a:rPr lang="en-US" sz="1500" b="1" dirty="0">
                <a:solidFill>
                  <a:srgbClr val="1A1A1A"/>
                </a:solidFill>
              </a:rPr>
              <a:t>~60</a:t>
            </a:r>
            <a:endParaRPr lang="en-US" sz="1500" dirty="0"/>
          </a:p>
        </p:txBody>
      </p:sp>
      <p:sp>
        <p:nvSpPr>
          <p:cNvPr id="8" name="Today days"/>
          <p:cNvSpPr txBox="1"/>
          <p:nvPr/>
        </p:nvSpPr>
        <p:spPr>
          <a:xfrm>
            <a:off x="1737360" y="2103120"/>
            <a:ext cx="1005840" cy="274320"/>
          </a:xfrm>
          <a:prstGeom prst="rect">
            <a:avLst/>
          </a:prstGeom>
          <a:noFill/>
          <a:ln/>
        </p:spPr>
        <p:txBody>
          <a:bodyPr wrap="square" lIns="0" tIns="0" rIns="0" bIns="0" rtlCol="0" anchor="ctr"/>
          <a:lstStyle/>
          <a:p>
            <a:pPr algn="ctr" indent="0" marL="0">
              <a:buNone/>
            </a:pPr>
            <a:r>
              <a:rPr lang="en-US" sz="1500" b="1" dirty="0">
                <a:solidFill>
                  <a:schemeClr val="tx2"/>
                </a:solidFill>
              </a:rPr>
              <a:t>90–120</a:t>
            </a:r>
            <a:endParaRPr lang="en-US" sz="1500" dirty="0"/>
          </a:p>
        </p:txBody>
      </p:sp>
      <p:sp>
        <p:nvSpPr>
          <p:cNvPr id="9" name="Days caption"/>
          <p:cNvSpPr txBox="1"/>
          <p:nvPr/>
        </p:nvSpPr>
        <p:spPr>
          <a:xfrm>
            <a:off x="548640" y="4133088"/>
            <a:ext cx="2286000" cy="237744"/>
          </a:xfrm>
          <a:prstGeom prst="rect">
            <a:avLst/>
          </a:prstGeom>
          <a:noFill/>
          <a:ln/>
        </p:spPr>
        <p:txBody>
          <a:bodyPr wrap="square" lIns="0" tIns="0" rIns="0" bIns="0" rtlCol="0" anchor="ctr"/>
          <a:lstStyle/>
          <a:p>
            <a:pPr algn="ctr" indent="0" marL="0">
              <a:buNone/>
            </a:pPr>
            <a:r>
              <a:rPr lang="en-US" sz="1100" i="1" dirty="0">
                <a:solidFill>
                  <a:schemeClr val="accent2"/>
                </a:solidFill>
              </a:rPr>
              <a:t>CFM56 overhaul, days</a:t>
            </a:r>
            <a:endParaRPr lang="en-US" sz="1100" dirty="0"/>
          </a:p>
        </p:txBody>
      </p:sp>
      <p:sp>
        <p:nvSpPr>
          <p:cNvPr id="10" name="Slot wait stat"/>
          <p:cNvSpPr txBox="1"/>
          <p:nvPr/>
        </p:nvSpPr>
        <p:spPr>
          <a:xfrm>
            <a:off x="2880360" y="2514600"/>
            <a:ext cx="1463040" cy="1188720"/>
          </a:xfrm>
          <a:prstGeom prst="rect">
            <a:avLst/>
          </a:prstGeom>
          <a:noFill/>
          <a:ln/>
        </p:spPr>
        <p:txBody>
          <a:bodyPr wrap="square" lIns="0" tIns="0" rIns="0" bIns="0" rtlCol="0" anchor="ctr"/>
          <a:lstStyle/>
          <a:p>
            <a:pPr algn="ctr" indent="0" marL="0">
              <a:buNone/>
            </a:pPr>
            <a:r>
              <a:rPr lang="en-US" sz="2400" b="1" dirty="0">
                <a:solidFill>
                  <a:schemeClr val="tx2"/>
                </a:solidFill>
              </a:rPr>
              <a:t>+2–6</a:t>
            </a:r>
            <a:endParaRPr lang="en-US" sz="2400" dirty="0"/>
          </a:p>
          <a:p>
            <a:pPr algn="ctr" indent="0" marL="0">
              <a:buNone/>
            </a:pPr>
            <a:r>
              <a:rPr lang="en-US" sz="1100" dirty="0">
                <a:solidFill>
                  <a:srgbClr val="1A1A1A"/>
                </a:solidFill>
              </a:rPr>
              <a:t>months just to get a shop slot</a:t>
            </a:r>
            <a:endParaRPr lang="en-US" sz="2400" dirty="0"/>
          </a:p>
        </p:txBody>
      </p:sp>
      <p:sp>
        <p:nvSpPr>
          <p:cNvPr id="11" name="OEM header"/>
          <p:cNvSpPr txBox="1"/>
          <p:nvPr/>
        </p:nvSpPr>
        <p:spPr>
          <a:xfrm>
            <a:off x="4800600" y="1554480"/>
            <a:ext cx="4023360" cy="365760"/>
          </a:xfrm>
          <a:prstGeom prst="rect">
            <a:avLst/>
          </a:prstGeom>
          <a:noFill/>
          <a:ln/>
        </p:spPr>
        <p:txBody>
          <a:bodyPr wrap="square" lIns="0" tIns="0" rIns="0" bIns="0" rtlCol="0" anchor="b"/>
          <a:lstStyle/>
          <a:p>
            <a:pPr algn="ctr" indent="0" marL="0">
              <a:buNone/>
            </a:pPr>
            <a:r>
              <a:rPr lang="en-US" sz="1600" b="1" dirty="0">
                <a:solidFill>
                  <a:srgbClr val="1A1A1A"/>
                </a:solidFill>
              </a:rPr>
              <a:t>…While OEMs Pivot to LEAP</a:t>
            </a:r>
            <a:endParaRPr lang="en-US" sz="1600" dirty="0"/>
          </a:p>
        </p:txBody>
      </p:sp>
      <p:sp>
        <p:nvSpPr>
          <p:cNvPr id="12" name="OEM header rule"/>
          <p:cNvSpPr/>
          <p:nvPr/>
        </p:nvSpPr>
        <p:spPr>
          <a:xfrm>
            <a:off x="4800600" y="1975104"/>
            <a:ext cx="4023360" cy="0"/>
          </a:xfrm>
          <a:prstGeom prst="line">
            <a:avLst/>
          </a:prstGeom>
          <a:noFill/>
          <a:ln w="19050">
            <a:solidFill>
              <a:srgbClr val="2E93AE"/>
            </a:solidFill>
            <a:prstDash val="solid"/>
          </a:ln>
        </p:spPr>
      </p:sp>
      <p:graphicFrame>
        <p:nvGraphicFramePr>
          <p:cNvPr id="13" name="Shop visit mix chart" descr=""/>
          <p:cNvGraphicFramePr/>
          <p:nvPr/>
        </p:nvGraphicFramePr>
        <p:xfrm>
          <a:off x="4892040" y="2240280"/>
          <a:ext cx="2240280" cy="1874520"/>
        </p:xfrm>
        <a:graphic xmlns:a="http://schemas.openxmlformats.org/drawingml/2006/main">
          <a:graphicData uri="http://schemas.openxmlformats.org/drawingml/2006/chart">
            <c:chart xmlns:c="http://schemas.openxmlformats.org/drawingml/2006/chart" r:id="rId2"/>
          </a:graphicData>
        </a:graphic>
      </p:graphicFrame>
      <p:sp>
        <p:nvSpPr>
          <p:cNvPr id="14" name="Mix legend"/>
          <p:cNvSpPr txBox="1"/>
          <p:nvPr/>
        </p:nvSpPr>
        <p:spPr>
          <a:xfrm>
            <a:off x="4892040" y="4133088"/>
            <a:ext cx="2240280" cy="237744"/>
          </a:xfrm>
          <a:prstGeom prst="rect">
            <a:avLst/>
          </a:prstGeom>
          <a:noFill/>
          <a:ln/>
        </p:spPr>
        <p:txBody>
          <a:bodyPr wrap="square" lIns="0" tIns="0" rIns="0" bIns="0" rtlCol="0" anchor="ctr"/>
          <a:lstStyle/>
          <a:p>
            <a:pPr algn="ctr" indent="0" marL="0">
              <a:buNone/>
            </a:pPr>
            <a:r>
              <a:rPr lang="en-US" sz="1100" dirty="0">
                <a:solidFill>
                  <a:srgbClr val="2E93AE"/>
                </a:solidFill>
              </a:rPr>
              <a:t>■ </a:t>
            </a:r>
            <a:pPr algn="ctr" indent="0" marL="0">
              <a:buNone/>
            </a:pPr>
            <a:r>
              <a:rPr lang="en-US" sz="1100" dirty="0">
                <a:solidFill>
                  <a:srgbClr val="1A1A1A"/>
                </a:solidFill>
              </a:rPr>
              <a:t>CFM56  </a:t>
            </a:r>
            <a:pPr algn="ctr" indent="0" marL="0">
              <a:buNone/>
            </a:pPr>
            <a:r>
              <a:rPr lang="en-US" sz="1100" dirty="0">
                <a:solidFill>
                  <a:srgbClr val="0A1C58"/>
                </a:solidFill>
              </a:rPr>
              <a:t>■ </a:t>
            </a:r>
            <a:pPr algn="ctr" indent="0" marL="0">
              <a:buNone/>
            </a:pPr>
            <a:r>
              <a:rPr lang="en-US" sz="1100" dirty="0">
                <a:solidFill>
                  <a:srgbClr val="1A1A1A"/>
                </a:solidFill>
              </a:rPr>
              <a:t>LEAP</a:t>
            </a:r>
            <a:endParaRPr lang="en-US" sz="1100" dirty="0"/>
          </a:p>
        </p:txBody>
      </p:sp>
      <p:sp>
        <p:nvSpPr>
          <p:cNvPr id="15" name="LEAP stat 1"/>
          <p:cNvSpPr txBox="1"/>
          <p:nvPr/>
        </p:nvSpPr>
        <p:spPr>
          <a:xfrm>
            <a:off x="7178040" y="224028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~1/2</a:t>
            </a:r>
            <a:endParaRPr lang="en-US" sz="2200" dirty="0"/>
          </a:p>
          <a:p>
            <a:pPr algn="ctr" indent="0" marL="0">
              <a:buNone/>
            </a:pPr>
            <a:r>
              <a:rPr lang="en-US" sz="1100" dirty="0">
                <a:solidFill>
                  <a:srgbClr val="1A1A1A"/>
                </a:solidFill>
              </a:rPr>
              <a:t>of GE's $1B+ MRO spend goes to LEAP</a:t>
            </a:r>
            <a:endParaRPr lang="en-US" sz="2200" dirty="0"/>
          </a:p>
        </p:txBody>
      </p:sp>
      <p:sp>
        <p:nvSpPr>
          <p:cNvPr id="16" name="LEAP stat 2"/>
          <p:cNvSpPr txBox="1"/>
          <p:nvPr/>
        </p:nvSpPr>
        <p:spPr>
          <a:xfrm>
            <a:off x="7178040" y="3246120"/>
            <a:ext cx="1645920" cy="914400"/>
          </a:xfrm>
          <a:prstGeom prst="rect">
            <a:avLst/>
          </a:prstGeom>
          <a:noFill/>
          <a:ln/>
        </p:spPr>
        <p:txBody>
          <a:bodyPr wrap="square" lIns="0" tIns="0" rIns="0" bIns="0" rtlCol="0" anchor="ctr"/>
          <a:lstStyle/>
          <a:p>
            <a:pPr algn="ctr" indent="0" marL="0">
              <a:buNone/>
            </a:pPr>
            <a:r>
              <a:rPr lang="en-US" sz="2200" b="1" dirty="0">
                <a:solidFill>
                  <a:srgbClr val="EE6E25"/>
                </a:solidFill>
              </a:rPr>
              <a:t>+50%</a:t>
            </a:r>
            <a:endParaRPr lang="en-US" sz="2200" dirty="0"/>
          </a:p>
          <a:p>
            <a:pPr algn="ctr" indent="0" marL="0">
              <a:buNone/>
            </a:pPr>
            <a:r>
              <a:rPr lang="en-US" sz="1100" dirty="0">
                <a:solidFill>
                  <a:srgbClr val="1A1A1A"/>
                </a:solidFill>
              </a:rPr>
              <a:t>LEAP shop visits, y/y (GE, 2026)</a:t>
            </a:r>
            <a:endParaRPr lang="en-US" sz="2200" dirty="0"/>
          </a:p>
        </p:txBody>
      </p:sp>
      <p:sp>
        <p:nvSpPr>
          <p:cNvPr id="17" name="Expert quote"/>
          <p:cNvSpPr txBox="1"/>
          <p:nvPr/>
        </p:nvSpPr>
        <p:spPr>
          <a:xfrm>
            <a:off x="320040" y="4526280"/>
            <a:ext cx="8503920" cy="868680"/>
          </a:xfrm>
          <a:prstGeom prst="rect">
            <a:avLst/>
          </a:prstGeom>
          <a:solidFill>
            <a:srgbClr val="EFEDEA"/>
          </a:solidFill>
          <a:ln/>
        </p:spPr>
        <p:txBody>
          <a:bodyPr wrap="square" lIns="152400" tIns="50800" rIns="152400" bIns="50800" rtlCol="0" anchor="ctr"/>
          <a:lstStyle/>
          <a:p>
            <a:pPr algn="ctr" indent="0" marL="0">
              <a:buNone/>
            </a:pPr>
            <a:r>
              <a:rPr lang="en-US" sz="1400" b="1" dirty="0">
                <a:solidFill>
                  <a:srgbClr val="1A1A1A"/>
                </a:solidFill>
              </a:rPr>
              <a:t>“The variability in capital investment required to capture the LEAP is extremely low versus what it took them to capture the CFM.”</a:t>
            </a:r>
            <a:endParaRPr lang="en-US" sz="1400" dirty="0"/>
          </a:p>
          <a:p>
            <a:pPr algn="ctr" indent="0" marL="0">
              <a:buNone/>
            </a:pPr>
            <a:r>
              <a:rPr lang="en-US" sz="1200" i="1" dirty="0">
                <a:solidFill>
                  <a:srgbClr val="1A1A1A"/>
                </a:solidFill>
              </a:rPr>
              <a:t>— Former executive, engine MRO shop</a:t>
            </a:r>
            <a:endParaRPr lang="en-US" sz="14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OEM slots shift to LEAP as independent shops clog. CFM56 owners need a faster option.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Aviation Business News (2025); Bain (2024); GE Q4'25–Q2'26 calls; CFM LEAP forecast; GPS model;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(3/5)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shop visit grounds an engine for months. FTAI's module swap gets it flying in weeks.</a:t>
            </a:r>
            <a:endParaRPr lang="en-US" sz="1700" dirty="0"/>
          </a:p>
        </p:txBody>
      </p:sp>
      <p:sp>
        <p:nvSpPr>
          <p:cNvPr id="4" name="Timeline label"/>
          <p:cNvSpPr txBox="1"/>
          <p:nvPr/>
        </p:nvSpPr>
        <p:spPr>
          <a:xfrm>
            <a:off x="2148840" y="1536192"/>
            <a:ext cx="6400800" cy="237744"/>
          </a:xfrm>
          <a:prstGeom prst="rect">
            <a:avLst/>
          </a:prstGeom>
          <a:noFill/>
          <a:ln/>
        </p:spPr>
        <p:txBody>
          <a:bodyPr wrap="square" lIns="0" tIns="0" rIns="0" bIns="0" rtlCol="0" anchor="ctr"/>
          <a:lstStyle/>
          <a:p>
            <a:pPr algn="l" indent="0" marL="0">
              <a:buNone/>
            </a:pPr>
            <a:r>
              <a:rPr lang="en-US" sz="1100" i="1" dirty="0">
                <a:solidFill>
                  <a:schemeClr val="accent2"/>
                </a:solidFill>
              </a:rPr>
              <a:t>Days off wing</a:t>
            </a:r>
            <a:endParaRPr lang="en-US" sz="1100" dirty="0"/>
          </a:p>
        </p:txBody>
      </p:sp>
      <p:sp>
        <p:nvSpPr>
          <p:cNvPr id="5" name="Grid 0"/>
          <p:cNvSpPr/>
          <p:nvPr/>
        </p:nvSpPr>
        <p:spPr>
          <a:xfrm>
            <a:off x="2148840" y="1783080"/>
            <a:ext cx="0" cy="1508760"/>
          </a:xfrm>
          <a:prstGeom prst="line">
            <a:avLst/>
          </a:prstGeom>
          <a:noFill/>
          <a:ln w="9525">
            <a:solidFill>
              <a:srgbClr val="E3E0DC"/>
            </a:solidFill>
            <a:prstDash val="solid"/>
          </a:ln>
        </p:spPr>
      </p:sp>
      <p:sp>
        <p:nvSpPr>
          <p:cNvPr id="6" name="Tick 0"/>
          <p:cNvSpPr txBox="1"/>
          <p:nvPr/>
        </p:nvSpPr>
        <p:spPr>
          <a:xfrm>
            <a:off x="1874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0</a:t>
            </a:r>
            <a:endParaRPr lang="en-US" sz="1000" dirty="0"/>
          </a:p>
        </p:txBody>
      </p:sp>
      <p:sp>
        <p:nvSpPr>
          <p:cNvPr id="7" name="Grid 30"/>
          <p:cNvSpPr/>
          <p:nvPr/>
        </p:nvSpPr>
        <p:spPr>
          <a:xfrm>
            <a:off x="3215640" y="1783080"/>
            <a:ext cx="0" cy="1508760"/>
          </a:xfrm>
          <a:prstGeom prst="line">
            <a:avLst/>
          </a:prstGeom>
          <a:noFill/>
          <a:ln w="9525">
            <a:solidFill>
              <a:srgbClr val="E3E0DC"/>
            </a:solidFill>
            <a:prstDash val="solid"/>
          </a:ln>
        </p:spPr>
      </p:sp>
      <p:sp>
        <p:nvSpPr>
          <p:cNvPr id="8" name="Tick 30"/>
          <p:cNvSpPr txBox="1"/>
          <p:nvPr/>
        </p:nvSpPr>
        <p:spPr>
          <a:xfrm>
            <a:off x="2941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30</a:t>
            </a:r>
            <a:endParaRPr lang="en-US" sz="1000" dirty="0"/>
          </a:p>
        </p:txBody>
      </p:sp>
      <p:sp>
        <p:nvSpPr>
          <p:cNvPr id="9" name="Grid 60"/>
          <p:cNvSpPr/>
          <p:nvPr/>
        </p:nvSpPr>
        <p:spPr>
          <a:xfrm>
            <a:off x="4282440" y="1783080"/>
            <a:ext cx="0" cy="1508760"/>
          </a:xfrm>
          <a:prstGeom prst="line">
            <a:avLst/>
          </a:prstGeom>
          <a:noFill/>
          <a:ln w="9525">
            <a:solidFill>
              <a:srgbClr val="E3E0DC"/>
            </a:solidFill>
            <a:prstDash val="solid"/>
          </a:ln>
        </p:spPr>
      </p:sp>
      <p:sp>
        <p:nvSpPr>
          <p:cNvPr id="10" name="Tick 60"/>
          <p:cNvSpPr txBox="1"/>
          <p:nvPr/>
        </p:nvSpPr>
        <p:spPr>
          <a:xfrm>
            <a:off x="40081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60</a:t>
            </a:r>
            <a:endParaRPr lang="en-US" sz="1000" dirty="0"/>
          </a:p>
        </p:txBody>
      </p:sp>
      <p:sp>
        <p:nvSpPr>
          <p:cNvPr id="11" name="Grid 90"/>
          <p:cNvSpPr/>
          <p:nvPr/>
        </p:nvSpPr>
        <p:spPr>
          <a:xfrm>
            <a:off x="5349240" y="1783080"/>
            <a:ext cx="0" cy="1508760"/>
          </a:xfrm>
          <a:prstGeom prst="line">
            <a:avLst/>
          </a:prstGeom>
          <a:noFill/>
          <a:ln w="9525">
            <a:solidFill>
              <a:srgbClr val="E3E0DC"/>
            </a:solidFill>
            <a:prstDash val="solid"/>
          </a:ln>
        </p:spPr>
      </p:sp>
      <p:sp>
        <p:nvSpPr>
          <p:cNvPr id="12" name="Tick 90"/>
          <p:cNvSpPr txBox="1"/>
          <p:nvPr/>
        </p:nvSpPr>
        <p:spPr>
          <a:xfrm>
            <a:off x="50749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90</a:t>
            </a:r>
            <a:endParaRPr lang="en-US" sz="1000" dirty="0"/>
          </a:p>
        </p:txBody>
      </p:sp>
      <p:sp>
        <p:nvSpPr>
          <p:cNvPr id="13" name="Grid 120"/>
          <p:cNvSpPr/>
          <p:nvPr/>
        </p:nvSpPr>
        <p:spPr>
          <a:xfrm>
            <a:off x="6416040" y="1783080"/>
            <a:ext cx="0" cy="1508760"/>
          </a:xfrm>
          <a:prstGeom prst="line">
            <a:avLst/>
          </a:prstGeom>
          <a:noFill/>
          <a:ln w="9525">
            <a:solidFill>
              <a:srgbClr val="E3E0DC"/>
            </a:solidFill>
            <a:prstDash val="solid"/>
          </a:ln>
        </p:spPr>
      </p:sp>
      <p:sp>
        <p:nvSpPr>
          <p:cNvPr id="14" name="Tick 120"/>
          <p:cNvSpPr txBox="1"/>
          <p:nvPr/>
        </p:nvSpPr>
        <p:spPr>
          <a:xfrm>
            <a:off x="61417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120</a:t>
            </a:r>
            <a:endParaRPr lang="en-US" sz="1000" dirty="0"/>
          </a:p>
        </p:txBody>
      </p:sp>
      <p:sp>
        <p:nvSpPr>
          <p:cNvPr id="15" name="Grid 150"/>
          <p:cNvSpPr/>
          <p:nvPr/>
        </p:nvSpPr>
        <p:spPr>
          <a:xfrm>
            <a:off x="7482840" y="1783080"/>
            <a:ext cx="0" cy="1508760"/>
          </a:xfrm>
          <a:prstGeom prst="line">
            <a:avLst/>
          </a:prstGeom>
          <a:noFill/>
          <a:ln w="9525">
            <a:solidFill>
              <a:srgbClr val="E3E0DC"/>
            </a:solidFill>
            <a:prstDash val="solid"/>
          </a:ln>
        </p:spPr>
      </p:sp>
      <p:sp>
        <p:nvSpPr>
          <p:cNvPr id="16" name="Tick 150"/>
          <p:cNvSpPr txBox="1"/>
          <p:nvPr/>
        </p:nvSpPr>
        <p:spPr>
          <a:xfrm>
            <a:off x="72085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150</a:t>
            </a:r>
            <a:endParaRPr lang="en-US" sz="1000" dirty="0"/>
          </a:p>
        </p:txBody>
      </p:sp>
      <p:sp>
        <p:nvSpPr>
          <p:cNvPr id="17" name="Grid 180"/>
          <p:cNvSpPr/>
          <p:nvPr/>
        </p:nvSpPr>
        <p:spPr>
          <a:xfrm>
            <a:off x="8549640" y="1783080"/>
            <a:ext cx="0" cy="1508760"/>
          </a:xfrm>
          <a:prstGeom prst="line">
            <a:avLst/>
          </a:prstGeom>
          <a:noFill/>
          <a:ln w="9525">
            <a:solidFill>
              <a:srgbClr val="E3E0DC"/>
            </a:solidFill>
            <a:prstDash val="solid"/>
          </a:ln>
        </p:spPr>
      </p:sp>
      <p:sp>
        <p:nvSpPr>
          <p:cNvPr id="18" name="Tick 180"/>
          <p:cNvSpPr txBox="1"/>
          <p:nvPr/>
        </p:nvSpPr>
        <p:spPr>
          <a:xfrm>
            <a:off x="8275320" y="3291840"/>
            <a:ext cx="548640" cy="201168"/>
          </a:xfrm>
          <a:prstGeom prst="rect">
            <a:avLst/>
          </a:prstGeom>
          <a:noFill/>
          <a:ln/>
        </p:spPr>
        <p:txBody>
          <a:bodyPr wrap="square" lIns="0" tIns="0" rIns="0" bIns="0" rtlCol="0" anchor="ctr"/>
          <a:lstStyle/>
          <a:p>
            <a:pPr algn="ctr" indent="0" marL="0">
              <a:buNone/>
            </a:pPr>
            <a:r>
              <a:rPr lang="en-US" sz="1000" dirty="0">
                <a:solidFill>
                  <a:schemeClr val="accent2"/>
                </a:solidFill>
              </a:rPr>
              <a:t>180</a:t>
            </a:r>
            <a:endParaRPr lang="en-US" sz="1000" dirty="0"/>
          </a:p>
        </p:txBody>
      </p:sp>
      <p:sp>
        <p:nvSpPr>
          <p:cNvPr id="19" name="Shop visit label"/>
          <p:cNvSpPr txBox="1"/>
          <p:nvPr/>
        </p:nvSpPr>
        <p:spPr>
          <a:xfrm>
            <a:off x="320040" y="1828800"/>
            <a:ext cx="1737360" cy="548640"/>
          </a:xfrm>
          <a:prstGeom prst="rect">
            <a:avLst/>
          </a:prstGeom>
          <a:noFill/>
          <a:ln/>
        </p:spPr>
        <p:txBody>
          <a:bodyPr wrap="square" lIns="0" tIns="0" rIns="0" bIns="0" rtlCol="0" anchor="ctr"/>
          <a:lstStyle/>
          <a:p>
            <a:pPr algn="r" indent="0" marL="0">
              <a:buNone/>
            </a:pPr>
            <a:r>
              <a:rPr lang="en-US" sz="1400" b="1" dirty="0">
                <a:solidFill>
                  <a:srgbClr val="1A1A1A"/>
                </a:solidFill>
              </a:rPr>
              <a:t>Typical shop visit</a:t>
            </a:r>
            <a:endParaRPr lang="en-US" sz="1400" dirty="0"/>
          </a:p>
          <a:p>
            <a:pPr algn="r" indent="0" marL="0">
              <a:buNone/>
            </a:pPr>
            <a:r>
              <a:rPr lang="en-US" sz="1200" dirty="0">
                <a:solidFill>
                  <a:srgbClr val="1A1A1A"/>
                </a:solidFill>
              </a:rPr>
              <a:t>120–180 days</a:t>
            </a:r>
            <a:endParaRPr lang="en-US" sz="1400" dirty="0"/>
          </a:p>
        </p:txBody>
      </p:sp>
      <p:sp>
        <p:nvSpPr>
          <p:cNvPr id="20" name="Shop step 1"/>
          <p:cNvSpPr/>
          <p:nvPr/>
        </p:nvSpPr>
        <p:spPr>
          <a:xfrm>
            <a:off x="214884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slot</a:t>
            </a:r>
            <a:endParaRPr lang="en-US" sz="900" dirty="0"/>
          </a:p>
        </p:txBody>
      </p:sp>
      <p:sp>
        <p:nvSpPr>
          <p:cNvPr id="21" name="Shop step 2"/>
          <p:cNvSpPr/>
          <p:nvPr/>
        </p:nvSpPr>
        <p:spPr>
          <a:xfrm>
            <a:off x="3571240" y="1856232"/>
            <a:ext cx="110540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Strip</a:t>
            </a:r>
            <a:endParaRPr lang="en-US" sz="900" dirty="0"/>
          </a:p>
        </p:txBody>
      </p:sp>
      <p:sp>
        <p:nvSpPr>
          <p:cNvPr id="22" name="Shop step 3"/>
          <p:cNvSpPr/>
          <p:nvPr/>
        </p:nvSpPr>
        <p:spPr>
          <a:xfrm>
            <a:off x="4566920" y="1856232"/>
            <a:ext cx="15321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Wait for parts</a:t>
            </a:r>
            <a:endParaRPr lang="en-US" sz="900" dirty="0"/>
          </a:p>
        </p:txBody>
      </p:sp>
      <p:sp>
        <p:nvSpPr>
          <p:cNvPr id="23" name="Shop step 4"/>
          <p:cNvSpPr/>
          <p:nvPr/>
        </p:nvSpPr>
        <p:spPr>
          <a:xfrm>
            <a:off x="5989320" y="1856232"/>
            <a:ext cx="1247648" cy="502920"/>
          </a:xfrm>
          <a:prstGeom prst="chevron">
            <a:avLst/>
          </a:prstGeom>
          <a:solidFill>
            <a:srgbClr val="2E93AE"/>
          </a:solidFill>
          <a:ln/>
        </p:spPr>
        <p:txBody>
          <a:bodyPr wrap="square" lIns="0" tIns="0" rIns="0" bIns="0" rtlCol="0" anchor="ctr"/>
          <a:lstStyle/>
          <a:p>
            <a:pPr algn="ctr" indent="0" marL="0">
              <a:buNone/>
            </a:pPr>
            <a:r>
              <a:rPr lang="en-US" sz="900" b="1" dirty="0">
                <a:solidFill>
                  <a:schemeClr val="bg1"/>
                </a:solidFill>
              </a:rPr>
              <a:t>Repair</a:t>
            </a:r>
            <a:endParaRPr lang="en-US" sz="900" dirty="0"/>
          </a:p>
        </p:txBody>
      </p:sp>
      <p:sp>
        <p:nvSpPr>
          <p:cNvPr id="24" name="Shop step 5"/>
          <p:cNvSpPr/>
          <p:nvPr/>
        </p:nvSpPr>
        <p:spPr>
          <a:xfrm>
            <a:off x="7127240" y="1856232"/>
            <a:ext cx="465328" cy="502920"/>
          </a:xfrm>
          <a:prstGeom prst="chevron">
            <a:avLst/>
          </a:prstGeom>
          <a:solidFill>
            <a:srgbClr val="DCD8D3"/>
          </a:solidFill>
          <a:ln/>
        </p:spPr>
        <p:txBody>
          <a:bodyPr wrap="square" lIns="0" tIns="0" rIns="0" bIns="0" rtlCol="0" anchor="ctr"/>
          <a:lstStyle/>
          <a:p>
            <a:pPr algn="ctr" indent="0" marL="0">
              <a:buNone/>
            </a:pPr>
            <a:r>
              <a:rPr lang="en-US" sz="900" b="1" dirty="0">
                <a:solidFill>
                  <a:schemeClr val="tx2"/>
                </a:solidFill>
              </a:rPr>
              <a:t>Test</a:t>
            </a:r>
            <a:endParaRPr lang="en-US" sz="900" dirty="0"/>
          </a:p>
        </p:txBody>
      </p:sp>
      <p:sp>
        <p:nvSpPr>
          <p:cNvPr id="25" name="Shop visit range"/>
          <p:cNvSpPr/>
          <p:nvPr/>
        </p:nvSpPr>
        <p:spPr>
          <a:xfrm>
            <a:off x="7482840" y="1929384"/>
            <a:ext cx="1066800" cy="356616"/>
          </a:xfrm>
          <a:prstGeom prst="rect">
            <a:avLst/>
          </a:prstGeom>
          <a:ln w="15875">
            <a:solidFill>
              <a:srgbClr val="2E93AE"/>
            </a:solidFill>
            <a:prstDash val="dash"/>
          </a:ln>
        </p:spPr>
      </p:sp>
      <p:sp>
        <p:nvSpPr>
          <p:cNvPr id="26" name="Swap label"/>
          <p:cNvSpPr txBox="1"/>
          <p:nvPr/>
        </p:nvSpPr>
        <p:spPr>
          <a:xfrm>
            <a:off x="228600" y="2560320"/>
            <a:ext cx="1828800" cy="548640"/>
          </a:xfrm>
          <a:prstGeom prst="rect">
            <a:avLst/>
          </a:prstGeom>
          <a:noFill/>
          <a:ln/>
        </p:spPr>
        <p:txBody>
          <a:bodyPr wrap="square" lIns="0" tIns="0" rIns="0" bIns="0" rtlCol="0" anchor="ctr"/>
          <a:lstStyle/>
          <a:p>
            <a:pPr algn="r" indent="0" marL="0">
              <a:buNone/>
            </a:pPr>
            <a:r>
              <a:rPr lang="en-US" sz="1300" b="1" dirty="0">
                <a:solidFill>
                  <a:schemeClr val="tx2"/>
                </a:solidFill>
              </a:rPr>
              <a:t>FTAI module swap</a:t>
            </a:r>
            <a:endParaRPr lang="en-US" sz="1300" dirty="0"/>
          </a:p>
          <a:p>
            <a:pPr algn="r" indent="0" marL="0">
              <a:buNone/>
            </a:pPr>
            <a:r>
              <a:rPr lang="en-US" sz="1200" dirty="0">
                <a:solidFill>
                  <a:schemeClr val="tx2"/>
                </a:solidFill>
              </a:rPr>
              <a:t>5–25 days</a:t>
            </a:r>
            <a:endParaRPr lang="en-US" sz="1300" dirty="0"/>
          </a:p>
        </p:txBody>
      </p:sp>
      <p:sp>
        <p:nvSpPr>
          <p:cNvPr id="27" name="Swap bar"/>
          <p:cNvSpPr/>
          <p:nvPr/>
        </p:nvSpPr>
        <p:spPr>
          <a:xfrm>
            <a:off x="2148840" y="2587752"/>
            <a:ext cx="998728" cy="502920"/>
          </a:xfrm>
          <a:prstGeom prst="chevron">
            <a:avLst/>
          </a:prstGeom>
          <a:solidFill>
            <a:srgbClr val="0A1C58"/>
          </a:solidFill>
          <a:ln/>
        </p:spPr>
      </p:sp>
      <p:sp>
        <p:nvSpPr>
          <p:cNvPr id="28" name="Swap description"/>
          <p:cNvSpPr txBox="1"/>
          <p:nvPr/>
        </p:nvSpPr>
        <p:spPr>
          <a:xfrm>
            <a:off x="3266440" y="2587752"/>
            <a:ext cx="3291840" cy="502920"/>
          </a:xfrm>
          <a:prstGeom prst="rect">
            <a:avLst/>
          </a:prstGeom>
          <a:noFill/>
          <a:ln/>
        </p:spPr>
        <p:txBody>
          <a:bodyPr wrap="square" lIns="0" tIns="0" rIns="0" bIns="0" rtlCol="0" anchor="ctr"/>
          <a:lstStyle/>
          <a:p>
            <a:pPr algn="l" indent="0" marL="0">
              <a:buNone/>
            </a:pPr>
            <a:r>
              <a:rPr lang="en-US" sz="1200" b="1" dirty="0">
                <a:solidFill>
                  <a:schemeClr val="tx2"/>
                </a:solidFill>
              </a:rPr>
              <a:t>Swap a restored module from FTAI's pool, test, fly</a:t>
            </a:r>
            <a:endParaRPr lang="en-US" sz="1200" dirty="0"/>
          </a:p>
        </p:txBody>
      </p:sp>
      <p:sp>
        <p:nvSpPr>
          <p:cNvPr id="29" name="Speed callout"/>
          <p:cNvSpPr/>
          <p:nvPr/>
        </p:nvSpPr>
        <p:spPr>
          <a:xfrm>
            <a:off x="7589520" y="2423160"/>
            <a:ext cx="1051560" cy="86868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~7x</a:t>
            </a:r>
            <a:endParaRPr lang="en-US" sz="2200" dirty="0"/>
          </a:p>
          <a:p>
            <a:pPr algn="ctr" indent="0" marL="0">
              <a:buNone/>
            </a:pPr>
            <a:r>
              <a:rPr lang="en-US" sz="1100" b="1" dirty="0">
                <a:solidFill>
                  <a:schemeClr val="bg1"/>
                </a:solidFill>
              </a:rPr>
              <a:t>faster</a:t>
            </a:r>
            <a:endParaRPr lang="en-US" sz="2200" dirty="0"/>
          </a:p>
        </p:txBody>
      </p:sp>
      <p:sp>
        <p:nvSpPr>
          <p:cNvPr id="30" name="Cost header"/>
          <p:cNvSpPr txBox="1"/>
          <p:nvPr/>
        </p:nvSpPr>
        <p:spPr>
          <a:xfrm>
            <a:off x="320040" y="3584448"/>
            <a:ext cx="4160520" cy="365760"/>
          </a:xfrm>
          <a:prstGeom prst="rect">
            <a:avLst/>
          </a:prstGeom>
          <a:noFill/>
          <a:ln/>
        </p:spPr>
        <p:txBody>
          <a:bodyPr wrap="square" lIns="0" tIns="0" rIns="0" bIns="0" rtlCol="0" anchor="b"/>
          <a:lstStyle/>
          <a:p>
            <a:pPr algn="ctr" indent="0" marL="0">
              <a:buNone/>
            </a:pPr>
            <a:r>
              <a:rPr lang="en-US" sz="1600" b="1" dirty="0">
                <a:solidFill>
                  <a:srgbClr val="1A1A1A"/>
                </a:solidFill>
              </a:rPr>
              <a:t>Lease Cost While Grounded</a:t>
            </a:r>
            <a:endParaRPr lang="en-US" sz="1600" dirty="0"/>
          </a:p>
        </p:txBody>
      </p:sp>
      <p:sp>
        <p:nvSpPr>
          <p:cNvPr id="31" name="Cost header rule"/>
          <p:cNvSpPr/>
          <p:nvPr/>
        </p:nvSpPr>
        <p:spPr>
          <a:xfrm>
            <a:off x="320040" y="4005072"/>
            <a:ext cx="4160520" cy="0"/>
          </a:xfrm>
          <a:prstGeom prst="line">
            <a:avLst/>
          </a:prstGeom>
          <a:noFill/>
          <a:ln w="19050">
            <a:solidFill>
              <a:srgbClr val="2E93AE"/>
            </a:solidFill>
            <a:prstDash val="solid"/>
          </a:ln>
        </p:spPr>
      </p:sp>
      <p:sp>
        <p:nvSpPr>
          <p:cNvPr id="32" name="Cost label 1"/>
          <p:cNvSpPr txBox="1"/>
          <p:nvPr/>
        </p:nvSpPr>
        <p:spPr>
          <a:xfrm>
            <a:off x="320040" y="4160520"/>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Shop visit, ~150 days</a:t>
            </a:r>
            <a:endParaRPr lang="en-US" sz="1100" dirty="0"/>
          </a:p>
        </p:txBody>
      </p:sp>
      <p:sp>
        <p:nvSpPr>
          <p:cNvPr id="33" name="Cost bar 1"/>
          <p:cNvSpPr/>
          <p:nvPr/>
        </p:nvSpPr>
        <p:spPr>
          <a:xfrm>
            <a:off x="2103120" y="4160520"/>
            <a:ext cx="1737360" cy="347472"/>
          </a:xfrm>
          <a:prstGeom prst="rect">
            <a:avLst/>
          </a:prstGeom>
          <a:solidFill>
            <a:srgbClr val="0A1C58"/>
          </a:solidFill>
          <a:ln/>
        </p:spPr>
      </p:sp>
      <p:sp>
        <p:nvSpPr>
          <p:cNvPr id="34" name="Cost value 1"/>
          <p:cNvSpPr txBox="1"/>
          <p:nvPr/>
        </p:nvSpPr>
        <p:spPr>
          <a:xfrm>
            <a:off x="3913632" y="4160520"/>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$493K</a:t>
            </a:r>
            <a:endParaRPr lang="en-US" sz="1300" dirty="0"/>
          </a:p>
        </p:txBody>
      </p:sp>
      <p:sp>
        <p:nvSpPr>
          <p:cNvPr id="35" name="Cost label 2"/>
          <p:cNvSpPr txBox="1"/>
          <p:nvPr/>
        </p:nvSpPr>
        <p:spPr>
          <a:xfrm>
            <a:off x="320040" y="4636008"/>
            <a:ext cx="1691640" cy="347472"/>
          </a:xfrm>
          <a:prstGeom prst="rect">
            <a:avLst/>
          </a:prstGeom>
          <a:noFill/>
          <a:ln/>
        </p:spPr>
        <p:txBody>
          <a:bodyPr wrap="square" lIns="0" tIns="0" rIns="0" bIns="0" rtlCol="0" anchor="ctr"/>
          <a:lstStyle/>
          <a:p>
            <a:pPr algn="r" indent="0" marL="0">
              <a:buNone/>
            </a:pPr>
            <a:r>
              <a:rPr lang="en-US" sz="1100" dirty="0">
                <a:solidFill>
                  <a:srgbClr val="1A1A1A"/>
                </a:solidFill>
              </a:rPr>
              <a:t>FTAI swap, ~20 days</a:t>
            </a:r>
            <a:endParaRPr lang="en-US" sz="1100" dirty="0"/>
          </a:p>
        </p:txBody>
      </p:sp>
      <p:sp>
        <p:nvSpPr>
          <p:cNvPr id="36" name="Cost bar 2"/>
          <p:cNvSpPr/>
          <p:nvPr/>
        </p:nvSpPr>
        <p:spPr>
          <a:xfrm>
            <a:off x="2103120" y="4636008"/>
            <a:ext cx="232588" cy="347472"/>
          </a:xfrm>
          <a:prstGeom prst="rect">
            <a:avLst/>
          </a:prstGeom>
          <a:solidFill>
            <a:srgbClr val="2E93AE"/>
          </a:solidFill>
          <a:ln/>
        </p:spPr>
      </p:sp>
      <p:sp>
        <p:nvSpPr>
          <p:cNvPr id="37" name="Cost value 2"/>
          <p:cNvSpPr txBox="1"/>
          <p:nvPr/>
        </p:nvSpPr>
        <p:spPr>
          <a:xfrm>
            <a:off x="2408860" y="4636008"/>
            <a:ext cx="731520" cy="347472"/>
          </a:xfrm>
          <a:prstGeom prst="rect">
            <a:avLst/>
          </a:prstGeom>
          <a:noFill/>
          <a:ln/>
        </p:spPr>
        <p:txBody>
          <a:bodyPr wrap="square" lIns="0" tIns="0" rIns="0" bIns="0" rtlCol="0" anchor="ctr"/>
          <a:lstStyle/>
          <a:p>
            <a:pPr algn="l" indent="0" marL="0">
              <a:buNone/>
            </a:pPr>
            <a:r>
              <a:rPr lang="en-US" sz="1300" b="1" dirty="0">
                <a:solidFill>
                  <a:schemeClr val="tx2"/>
                </a:solidFill>
              </a:rPr>
              <a:t>$66K</a:t>
            </a:r>
            <a:endParaRPr lang="en-US" sz="1300" dirty="0"/>
          </a:p>
        </p:txBody>
      </p:sp>
      <p:sp>
        <p:nvSpPr>
          <p:cNvPr id="38" name="Cost caption"/>
          <p:cNvSpPr txBox="1"/>
          <p:nvPr/>
        </p:nvSpPr>
        <p:spPr>
          <a:xfrm>
            <a:off x="320040" y="5138928"/>
            <a:ext cx="4160520" cy="256032"/>
          </a:xfrm>
          <a:prstGeom prst="rect">
            <a:avLst/>
          </a:prstGeom>
          <a:noFill/>
          <a:ln/>
        </p:spPr>
        <p:txBody>
          <a:bodyPr wrap="square" lIns="0" tIns="0" rIns="0" bIns="0" rtlCol="0" anchor="ctr"/>
          <a:lstStyle/>
          <a:p>
            <a:pPr algn="ctr" indent="0" marL="0">
              <a:buNone/>
            </a:pPr>
            <a:r>
              <a:rPr lang="en-US" sz="1100" i="1" dirty="0">
                <a:solidFill>
                  <a:schemeClr val="accent2"/>
                </a:solidFill>
              </a:rPr>
              <a:t>~$430K saved per visit (IBA lease rate, ~$100K/mo)</a:t>
            </a:r>
            <a:endParaRPr lang="en-US" sz="1100" dirty="0"/>
          </a:p>
        </p:txBody>
      </p:sp>
      <p:sp>
        <p:nvSpPr>
          <p:cNvPr id="39" name="Turnaround expert quote"/>
          <p:cNvSpPr txBox="1"/>
          <p:nvPr/>
        </p:nvSpPr>
        <p:spPr>
          <a:xfrm>
            <a:off x="4709160" y="3657600"/>
            <a:ext cx="4114800" cy="1737360"/>
          </a:xfrm>
          <a:prstGeom prst="rect">
            <a:avLst/>
          </a:prstGeom>
          <a:solidFill>
            <a:srgbClr val="EFEDEA"/>
          </a:solidFill>
          <a:ln/>
        </p:spPr>
        <p:txBody>
          <a:bodyPr wrap="square" lIns="177800" tIns="76200" rIns="177800" bIns="76200" rtlCol="0" anchor="ctr"/>
          <a:lstStyle/>
          <a:p>
            <a:pPr algn="ctr" indent="0" marL="0">
              <a:spcAft>
                <a:spcPts val="600"/>
              </a:spcAft>
              <a:buNone/>
            </a:pPr>
            <a:r>
              <a:rPr lang="en-US" sz="1600" b="1" dirty="0">
                <a:solidFill>
                  <a:srgbClr val="1A1A1A"/>
                </a:solidFill>
              </a:rPr>
              <a:t>“FTAI's advantage is basically turnaround time and cheaper sourcing.”</a:t>
            </a:r>
            <a:endParaRPr lang="en-US" sz="1600" dirty="0"/>
          </a:p>
          <a:p>
            <a:pPr algn="ctr" indent="0" marL="0">
              <a:spcAft>
                <a:spcPts val="600"/>
              </a:spcAft>
              <a:buNone/>
            </a:pPr>
            <a:r>
              <a:rPr lang="en-US" sz="1200" i="1" dirty="0">
                <a:solidFill>
                  <a:srgbClr val="1A1A1A"/>
                </a:solidFill>
              </a:rPr>
              <a:t>— Industry expert, GPS expert call</a:t>
            </a:r>
            <a:endParaRPr lang="en-US" sz="1600" dirty="0"/>
          </a:p>
        </p:txBody>
      </p:sp>
      <p:sp>
        <p:nvSpPr>
          <p:cNvPr id="40"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day an engine is off wing costs the airline a jet. FTAI sells that time back.</a:t>
            </a:r>
            <a:endParaRPr lang="en-US" sz="1700" dirty="0"/>
          </a:p>
        </p:txBody>
      </p:sp>
      <p:sp>
        <p:nvSpPr>
          <p:cNvPr id="41"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Q2'24 call via third-party analysis; IBA (2024) lease rates; GPS expert call; step lengths illustrative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(4/5)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built capacity ahead of demand. New sites leave room to keep taking share.</a:t>
            </a:r>
            <a:endParaRPr lang="en-US" sz="1700" dirty="0"/>
          </a:p>
        </p:txBody>
      </p:sp>
      <p:sp>
        <p:nvSpPr>
          <p:cNvPr id="4" name="Capacity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Output vs. Capacity (Modules)</a:t>
            </a:r>
            <a:endParaRPr lang="en-US" sz="1600" dirty="0"/>
          </a:p>
        </p:txBody>
      </p:sp>
      <p:sp>
        <p:nvSpPr>
          <p:cNvPr id="5" name="Capacity header rule"/>
          <p:cNvSpPr/>
          <p:nvPr/>
        </p:nvSpPr>
        <p:spPr>
          <a:xfrm>
            <a:off x="320040" y="1975104"/>
            <a:ext cx="4206240" cy="0"/>
          </a:xfrm>
          <a:prstGeom prst="line">
            <a:avLst/>
          </a:prstGeom>
          <a:noFill/>
          <a:ln w="19050">
            <a:solidFill>
              <a:srgbClr val="2E93AE"/>
            </a:solidFill>
            <a:prstDash val="solid"/>
          </a:ln>
        </p:spPr>
      </p:sp>
      <p:graphicFrame>
        <p:nvGraphicFramePr>
          <p:cNvPr id="6" name="Capacity chart" descr=""/>
          <p:cNvGraphicFramePr/>
          <p:nvPr/>
        </p:nvGraphicFramePr>
        <p:xfrm>
          <a:off x="320040" y="2103120"/>
          <a:ext cx="4206240" cy="2926080"/>
        </p:xfrm>
        <a:graphic xmlns:a="http://schemas.openxmlformats.org/drawingml/2006/main">
          <a:graphicData uri="http://schemas.openxmlformats.org/drawingml/2006/chart">
            <c:chart xmlns:c="http://schemas.openxmlformats.org/drawingml/2006/chart" r:id="rId1"/>
          </a:graphicData>
        </a:graphic>
      </p:graphicFrame>
      <p:sp>
        <p:nvSpPr>
          <p:cNvPr id="7" name="Capacity label"/>
          <p:cNvSpPr txBox="1"/>
          <p:nvPr/>
        </p:nvSpPr>
        <p:spPr>
          <a:xfrm>
            <a:off x="1828800" y="2103120"/>
            <a:ext cx="265176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3,000 capacity</a:t>
            </a:r>
            <a:endParaRPr lang="en-US" sz="1200" dirty="0"/>
          </a:p>
        </p:txBody>
      </p:sp>
      <p:sp>
        <p:nvSpPr>
          <p:cNvPr id="8" name="Capacity legend"/>
          <p:cNvSpPr txBox="1"/>
          <p:nvPr/>
        </p:nvSpPr>
        <p:spPr>
          <a:xfrm>
            <a:off x="320040" y="5047488"/>
            <a:ext cx="420624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Output   </a:t>
            </a:r>
            <a:pPr algn="ctr" indent="0" marL="0">
              <a:buNone/>
            </a:pPr>
            <a:r>
              <a:rPr lang="en-US" sz="1100" dirty="0">
                <a:solidFill>
                  <a:srgbClr val="2E93AE"/>
                </a:solidFill>
              </a:rPr>
              <a:t>■ </a:t>
            </a:r>
            <a:pPr algn="ctr" indent="0" marL="0">
              <a:buNone/>
            </a:pPr>
            <a:r>
              <a:rPr lang="en-US" sz="1100" dirty="0">
                <a:solidFill>
                  <a:srgbClr val="1A1A1A"/>
                </a:solidFill>
              </a:rPr>
              <a:t>Unused capacity</a:t>
            </a:r>
            <a:endParaRPr lang="en-US" sz="1100" dirty="0"/>
          </a:p>
        </p:txBody>
      </p:sp>
      <p:sp>
        <p:nvSpPr>
          <p:cNvPr id="9" name="Network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The Network</a:t>
            </a:r>
            <a:endParaRPr lang="en-US" sz="1600" dirty="0"/>
          </a:p>
        </p:txBody>
      </p:sp>
      <p:sp>
        <p:nvSpPr>
          <p:cNvPr id="10" name="Network header rule"/>
          <p:cNvSpPr/>
          <p:nvPr/>
        </p:nvSpPr>
        <p:spPr>
          <a:xfrm>
            <a:off x="4892040" y="1975104"/>
            <a:ext cx="3931920" cy="0"/>
          </a:xfrm>
          <a:prstGeom prst="line">
            <a:avLst/>
          </a:prstGeom>
          <a:noFill/>
          <a:ln w="19050">
            <a:solidFill>
              <a:srgbClr val="2E93AE"/>
            </a:solidFill>
            <a:prstDash val="solid"/>
          </a:ln>
        </p:spPr>
      </p:sp>
      <p:sp>
        <p:nvSpPr>
          <p:cNvPr id="11" name="Site Montreal"/>
          <p:cNvSpPr txBox="1"/>
          <p:nvPr/>
        </p:nvSpPr>
        <p:spPr>
          <a:xfrm>
            <a:off x="489204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Montreal</a:t>
            </a:r>
            <a:endParaRPr lang="en-US" sz="1500" dirty="0"/>
          </a:p>
          <a:p>
            <a:pPr algn="ctr" indent="0" marL="0">
              <a:buNone/>
            </a:pPr>
            <a:r>
              <a:rPr lang="en-US" sz="1100" dirty="0">
                <a:solidFill>
                  <a:schemeClr val="tx2"/>
                </a:solidFill>
              </a:rPr>
              <a:t>Flagship, up to 900</a:t>
            </a:r>
            <a:endParaRPr lang="en-US" sz="1500" dirty="0"/>
          </a:p>
        </p:txBody>
      </p:sp>
      <p:sp>
        <p:nvSpPr>
          <p:cNvPr id="12" name="Site Miami"/>
          <p:cNvSpPr txBox="1"/>
          <p:nvPr/>
        </p:nvSpPr>
        <p:spPr>
          <a:xfrm>
            <a:off x="6903720" y="2103120"/>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Miami</a:t>
            </a:r>
            <a:endParaRPr lang="en-US" sz="1500" dirty="0"/>
          </a:p>
          <a:p>
            <a:pPr algn="ctr" indent="0" marL="0">
              <a:buNone/>
            </a:pPr>
            <a:r>
              <a:rPr lang="en-US" sz="1100" dirty="0">
                <a:solidFill>
                  <a:schemeClr val="tx2"/>
                </a:solidFill>
              </a:rPr>
              <a:t>~475 in 2026E</a:t>
            </a:r>
            <a:endParaRPr lang="en-US" sz="1500" dirty="0"/>
          </a:p>
        </p:txBody>
      </p:sp>
      <p:sp>
        <p:nvSpPr>
          <p:cNvPr id="13" name="Site Rome"/>
          <p:cNvSpPr txBox="1"/>
          <p:nvPr/>
        </p:nvSpPr>
        <p:spPr>
          <a:xfrm>
            <a:off x="4892040" y="3090672"/>
            <a:ext cx="1920240" cy="868680"/>
          </a:xfrm>
          <a:prstGeom prst="rect">
            <a:avLst/>
          </a:prstGeom>
          <a:solidFill>
            <a:srgbClr val="DCD8D3"/>
          </a:solidFill>
          <a:ln/>
        </p:spPr>
        <p:txBody>
          <a:bodyPr wrap="square" lIns="50800" tIns="50800" rIns="50800" bIns="50800" rtlCol="0" anchor="ctr"/>
          <a:lstStyle/>
          <a:p>
            <a:pPr algn="ctr" indent="0" marL="0">
              <a:buNone/>
            </a:pPr>
            <a:r>
              <a:rPr lang="en-US" sz="1500" b="1" dirty="0">
                <a:solidFill>
                  <a:schemeClr val="tx2"/>
                </a:solidFill>
              </a:rPr>
              <a:t>Rome</a:t>
            </a:r>
            <a:endParaRPr lang="en-US" sz="1500" dirty="0"/>
          </a:p>
          <a:p>
            <a:pPr algn="ctr" indent="0" marL="0">
              <a:buNone/>
            </a:pPr>
            <a:r>
              <a:rPr lang="en-US" sz="1100" dirty="0">
                <a:solidFill>
                  <a:schemeClr val="tx2"/>
                </a:solidFill>
              </a:rPr>
              <a:t>Ramping</a:t>
            </a:r>
            <a:endParaRPr lang="en-US" sz="1500" dirty="0"/>
          </a:p>
        </p:txBody>
      </p:sp>
      <p:sp>
        <p:nvSpPr>
          <p:cNvPr id="14" name="Site Lisbon"/>
          <p:cNvSpPr txBox="1"/>
          <p:nvPr/>
        </p:nvSpPr>
        <p:spPr>
          <a:xfrm>
            <a:off x="6903720" y="3090672"/>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Lisbon</a:t>
            </a:r>
            <a:endParaRPr lang="en-US" sz="1500" dirty="0"/>
          </a:p>
          <a:p>
            <a:pPr algn="ctr" indent="0" marL="0">
              <a:buNone/>
            </a:pPr>
            <a:r>
              <a:rPr lang="en-US" sz="1100" dirty="0">
                <a:solidFill>
                  <a:schemeClr val="bg1"/>
                </a:solidFill>
              </a:rPr>
              <a:t>Heading to 300+</a:t>
            </a:r>
            <a:endParaRPr lang="en-US" sz="1500" dirty="0"/>
          </a:p>
        </p:txBody>
      </p:sp>
      <p:sp>
        <p:nvSpPr>
          <p:cNvPr id="15" name="Site Jakarta"/>
          <p:cNvSpPr txBox="1"/>
          <p:nvPr/>
        </p:nvSpPr>
        <p:spPr>
          <a:xfrm>
            <a:off x="489204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Jakarta</a:t>
            </a:r>
            <a:endParaRPr lang="en-US" sz="1500" dirty="0"/>
          </a:p>
          <a:p>
            <a:pPr algn="ctr" indent="0" marL="0">
              <a:buNone/>
            </a:pPr>
            <a:r>
              <a:rPr lang="en-US" sz="1100" dirty="0">
                <a:solidFill>
                  <a:schemeClr val="bg1"/>
                </a:solidFill>
              </a:rPr>
              <a:t>Heavy work, 300–450 (E)</a:t>
            </a:r>
            <a:endParaRPr lang="en-US" sz="1500" dirty="0"/>
          </a:p>
        </p:txBody>
      </p:sp>
      <p:sp>
        <p:nvSpPr>
          <p:cNvPr id="16" name="Site Cairo"/>
          <p:cNvSpPr txBox="1"/>
          <p:nvPr/>
        </p:nvSpPr>
        <p:spPr>
          <a:xfrm>
            <a:off x="6903720" y="4078224"/>
            <a:ext cx="1920240" cy="868680"/>
          </a:xfrm>
          <a:prstGeom prst="rect">
            <a:avLst/>
          </a:prstGeom>
          <a:solidFill>
            <a:srgbClr val="0A1C58"/>
          </a:solidFill>
          <a:ln/>
        </p:spPr>
        <p:txBody>
          <a:bodyPr wrap="square" lIns="50800" tIns="50800" rIns="50800" bIns="50800" rtlCol="0" anchor="ctr"/>
          <a:lstStyle/>
          <a:p>
            <a:pPr algn="ctr" indent="0" marL="0">
              <a:buNone/>
            </a:pPr>
            <a:r>
              <a:rPr lang="en-US" sz="1500" b="1" dirty="0">
                <a:solidFill>
                  <a:schemeClr val="bg1"/>
                </a:solidFill>
              </a:rPr>
              <a:t>Cairo</a:t>
            </a:r>
            <a:endParaRPr lang="en-US" sz="1500" dirty="0"/>
          </a:p>
          <a:p>
            <a:pPr algn="ctr" indent="0" marL="0">
              <a:buNone/>
            </a:pPr>
            <a:r>
              <a:rPr lang="en-US" sz="1100" dirty="0">
                <a:solidFill>
                  <a:schemeClr val="bg1"/>
                </a:solidFill>
              </a:rPr>
              <a:t>Light work, 150–180 (E)</a:t>
            </a:r>
            <a:endParaRPr lang="en-US" sz="1500" dirty="0"/>
          </a:p>
        </p:txBody>
      </p:sp>
      <p:sp>
        <p:nvSpPr>
          <p:cNvPr id="17" name="Network legend"/>
          <p:cNvSpPr txBox="1"/>
          <p:nvPr/>
        </p:nvSpPr>
        <p:spPr>
          <a:xfrm>
            <a:off x="4892040" y="5047488"/>
            <a:ext cx="3931920" cy="256032"/>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New sites   </a:t>
            </a:r>
            <a:pPr algn="ctr" indent="0" marL="0">
              <a:buNone/>
            </a:pPr>
            <a:r>
              <a:rPr lang="en-US" sz="1100" dirty="0">
                <a:solidFill>
                  <a:srgbClr val="DCD8D3"/>
                </a:solidFill>
              </a:rPr>
              <a:t>■ </a:t>
            </a:r>
            <a:pPr algn="ctr" indent="0" marL="0">
              <a:buNone/>
            </a:pPr>
            <a:r>
              <a:rPr lang="en-US" sz="1100" dirty="0">
                <a:solidFill>
                  <a:srgbClr val="1A1A1A"/>
                </a:solidFill>
              </a:rPr>
              <a:t>Existing (modules / yr)</a:t>
            </a:r>
            <a:endParaRPr lang="en-US" sz="1100" dirty="0"/>
          </a:p>
        </p:txBody>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3,000 modules of capacity against 1,700 planned, FTAI can absorb share gains.</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Q1/Q2'26 earnings supplements; GMF and EgyptAir reports; GPS estimates (E)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Share Gains (5/5)</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Share gains plus the SCI floor take FTAI to ~1,700 modules in FY27, in line with its target.</a:t>
            </a:r>
            <a:endParaRPr lang="en-US" sz="1700" dirty="0"/>
          </a:p>
        </p:txBody>
      </p:sp>
      <p:sp>
        <p:nvSpPr>
          <p:cNvPr id="4" name="Volume tile 1"/>
          <p:cNvSpPr txBox="1"/>
          <p:nvPr/>
        </p:nvSpPr>
        <p:spPr>
          <a:xfrm>
            <a:off x="320040"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2,386</a:t>
            </a:r>
            <a:endParaRPr lang="en-US" sz="2000" dirty="0"/>
          </a:p>
          <a:p>
            <a:pPr algn="ctr" indent="0" marL="0">
              <a:buNone/>
            </a:pPr>
            <a:r>
              <a:rPr lang="en-US" sz="1100" dirty="0">
                <a:solidFill>
                  <a:schemeClr val="tx2"/>
                </a:solidFill>
              </a:rPr>
              <a:t>CFM56 shop visits</a:t>
            </a:r>
            <a:endParaRPr lang="en-US" sz="2000" dirty="0"/>
          </a:p>
        </p:txBody>
      </p:sp>
      <p:sp>
        <p:nvSpPr>
          <p:cNvPr id="5" name="Volume tile 2"/>
          <p:cNvSpPr txBox="1"/>
          <p:nvPr/>
        </p:nvSpPr>
        <p:spPr>
          <a:xfrm>
            <a:off x="2048256"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3</a:t>
            </a:r>
            <a:endParaRPr lang="en-US" sz="2000" dirty="0"/>
          </a:p>
          <a:p>
            <a:pPr algn="ctr" indent="0" marL="0">
              <a:buNone/>
            </a:pPr>
            <a:r>
              <a:rPr lang="en-US" sz="1100" dirty="0">
                <a:solidFill>
                  <a:schemeClr val="tx2"/>
                </a:solidFill>
              </a:rPr>
              <a:t>modules each</a:t>
            </a:r>
            <a:endParaRPr lang="en-US" sz="2000" dirty="0"/>
          </a:p>
        </p:txBody>
      </p:sp>
      <p:sp>
        <p:nvSpPr>
          <p:cNvPr id="6" name="Volume tile 3"/>
          <p:cNvSpPr txBox="1"/>
          <p:nvPr/>
        </p:nvSpPr>
        <p:spPr>
          <a:xfrm>
            <a:off x="3776472"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16.8%</a:t>
            </a:r>
            <a:endParaRPr lang="en-US" sz="2000" dirty="0"/>
          </a:p>
          <a:p>
            <a:pPr algn="ctr" indent="0" marL="0">
              <a:buNone/>
            </a:pPr>
            <a:r>
              <a:rPr lang="en-US" sz="1100" dirty="0">
                <a:solidFill>
                  <a:schemeClr val="tx2"/>
                </a:solidFill>
              </a:rPr>
              <a:t>FTAI share</a:t>
            </a:r>
            <a:endParaRPr lang="en-US" sz="2000" dirty="0"/>
          </a:p>
        </p:txBody>
      </p:sp>
      <p:sp>
        <p:nvSpPr>
          <p:cNvPr id="7" name="Volume tile 4"/>
          <p:cNvSpPr txBox="1"/>
          <p:nvPr/>
        </p:nvSpPr>
        <p:spPr>
          <a:xfrm>
            <a:off x="5504688" y="1600200"/>
            <a:ext cx="1572768" cy="868680"/>
          </a:xfrm>
          <a:prstGeom prst="rect">
            <a:avLst/>
          </a:prstGeom>
          <a:solidFill>
            <a:srgbClr val="DCD8D3"/>
          </a:solidFill>
          <a:ln/>
        </p:spPr>
        <p:txBody>
          <a:bodyPr wrap="square" lIns="25400" tIns="25400" rIns="25400" bIns="25400" rtlCol="0" anchor="ctr"/>
          <a:lstStyle/>
          <a:p>
            <a:pPr algn="ctr" indent="0" marL="0">
              <a:buNone/>
            </a:pPr>
            <a:r>
              <a:rPr lang="en-US" sz="2000" b="1" dirty="0">
                <a:solidFill>
                  <a:schemeClr val="tx2"/>
                </a:solidFill>
              </a:rPr>
              <a:t>+ 482</a:t>
            </a:r>
            <a:endParaRPr lang="en-US" sz="2000" dirty="0"/>
          </a:p>
          <a:p>
            <a:pPr algn="ctr" indent="0" marL="0">
              <a:buNone/>
            </a:pPr>
            <a:r>
              <a:rPr lang="en-US" sz="1100" dirty="0">
                <a:solidFill>
                  <a:schemeClr val="tx2"/>
                </a:solidFill>
              </a:rPr>
              <a:t>SCI modules</a:t>
            </a:r>
            <a:endParaRPr lang="en-US" sz="2000" dirty="0"/>
          </a:p>
        </p:txBody>
      </p:sp>
      <p:sp>
        <p:nvSpPr>
          <p:cNvPr id="8" name="Volume tile 5"/>
          <p:cNvSpPr txBox="1"/>
          <p:nvPr/>
        </p:nvSpPr>
        <p:spPr>
          <a:xfrm>
            <a:off x="7232904" y="1600200"/>
            <a:ext cx="1572768" cy="868680"/>
          </a:xfrm>
          <a:prstGeom prst="rect">
            <a:avLst/>
          </a:prstGeom>
          <a:solidFill>
            <a:srgbClr val="0A1C58"/>
          </a:solidFill>
          <a:ln/>
        </p:spPr>
        <p:txBody>
          <a:bodyPr wrap="square" lIns="25400" tIns="25400" rIns="25400" bIns="25400" rtlCol="0" anchor="ctr"/>
          <a:lstStyle/>
          <a:p>
            <a:pPr algn="ctr" indent="0" marL="0">
              <a:buNone/>
            </a:pPr>
            <a:r>
              <a:rPr lang="en-US" sz="2000" b="1" dirty="0">
                <a:solidFill>
                  <a:schemeClr val="bg1"/>
                </a:solidFill>
              </a:rPr>
              <a:t>= 1,687</a:t>
            </a:r>
            <a:endParaRPr lang="en-US" sz="2000" dirty="0"/>
          </a:p>
          <a:p>
            <a:pPr algn="ctr" indent="0" marL="0">
              <a:buNone/>
            </a:pPr>
            <a:r>
              <a:rPr lang="en-US" sz="1100" dirty="0">
                <a:solidFill>
                  <a:schemeClr val="bg1"/>
                </a:solidFill>
              </a:rPr>
              <a:t>FY27E modules</a:t>
            </a:r>
            <a:endParaRPr lang="en-US" sz="2000" dirty="0"/>
          </a:p>
        </p:txBody>
      </p:sp>
      <p:sp>
        <p:nvSpPr>
          <p:cNvPr id="9" name="Share header"/>
          <p:cNvSpPr txBox="1"/>
          <p:nvPr/>
        </p:nvSpPr>
        <p:spPr>
          <a:xfrm>
            <a:off x="320040" y="260604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FTAI Share of CFM56 Module Work</a:t>
            </a:r>
            <a:endParaRPr lang="en-US" sz="1600" dirty="0"/>
          </a:p>
        </p:txBody>
      </p:sp>
      <p:sp>
        <p:nvSpPr>
          <p:cNvPr id="10" name="Share header rule"/>
          <p:cNvSpPr/>
          <p:nvPr/>
        </p:nvSpPr>
        <p:spPr>
          <a:xfrm>
            <a:off x="320040" y="3026664"/>
            <a:ext cx="4206240" cy="0"/>
          </a:xfrm>
          <a:prstGeom prst="line">
            <a:avLst/>
          </a:prstGeom>
          <a:noFill/>
          <a:ln w="19050">
            <a:solidFill>
              <a:srgbClr val="2E93AE"/>
            </a:solidFill>
            <a:prstDash val="solid"/>
          </a:ln>
        </p:spPr>
      </p:sp>
      <p:graphicFrame>
        <p:nvGraphicFramePr>
          <p:cNvPr id="11" name="Share chart" descr=""/>
          <p:cNvGraphicFramePr/>
          <p:nvPr/>
        </p:nvGraphicFramePr>
        <p:xfrm>
          <a:off x="320040" y="3108960"/>
          <a:ext cx="4206240" cy="2240280"/>
        </p:xfrm>
        <a:graphic xmlns:a="http://schemas.openxmlformats.org/drawingml/2006/main">
          <a:graphicData uri="http://schemas.openxmlformats.org/drawingml/2006/chart">
            <c:chart xmlns:c="http://schemas.openxmlformats.org/drawingml/2006/chart" r:id="rId1"/>
          </a:graphicData>
        </a:graphic>
      </p:graphicFrame>
      <p:sp>
        <p:nvSpPr>
          <p:cNvPr id="12" name="Modules header"/>
          <p:cNvSpPr txBox="1"/>
          <p:nvPr/>
        </p:nvSpPr>
        <p:spPr>
          <a:xfrm>
            <a:off x="4892040" y="260604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FTAI Modules Produced</a:t>
            </a:r>
            <a:endParaRPr lang="en-US" sz="1600" dirty="0"/>
          </a:p>
        </p:txBody>
      </p:sp>
      <p:sp>
        <p:nvSpPr>
          <p:cNvPr id="13" name="Modules header rule"/>
          <p:cNvSpPr/>
          <p:nvPr/>
        </p:nvSpPr>
        <p:spPr>
          <a:xfrm>
            <a:off x="4892040" y="3026664"/>
            <a:ext cx="3931920" cy="0"/>
          </a:xfrm>
          <a:prstGeom prst="line">
            <a:avLst/>
          </a:prstGeom>
          <a:noFill/>
          <a:ln w="19050">
            <a:solidFill>
              <a:srgbClr val="2E93AE"/>
            </a:solidFill>
            <a:prstDash val="solid"/>
          </a:ln>
        </p:spPr>
      </p:sp>
      <p:graphicFrame>
        <p:nvGraphicFramePr>
          <p:cNvPr id="14" name="Modules chart" descr=""/>
          <p:cNvGraphicFramePr/>
          <p:nvPr/>
        </p:nvGraphicFramePr>
        <p:xfrm>
          <a:off x="4892040" y="3108960"/>
          <a:ext cx="3931920" cy="2011680"/>
        </p:xfrm>
        <a:graphic xmlns:a="http://schemas.openxmlformats.org/drawingml/2006/main">
          <a:graphicData uri="http://schemas.openxmlformats.org/drawingml/2006/chart">
            <c:chart xmlns:c="http://schemas.openxmlformats.org/drawingml/2006/chart" r:id="rId2"/>
          </a:graphicData>
        </a:graphic>
      </p:graphicFrame>
      <p:sp>
        <p:nvSpPr>
          <p:cNvPr id="15" name="Modules legend"/>
          <p:cNvSpPr txBox="1"/>
          <p:nvPr/>
        </p:nvSpPr>
        <p:spPr>
          <a:xfrm>
            <a:off x="4892040" y="5120640"/>
            <a:ext cx="3931920" cy="228600"/>
          </a:xfrm>
          <a:prstGeom prst="rect">
            <a:avLst/>
          </a:prstGeom>
          <a:noFill/>
          <a:ln/>
        </p:spPr>
        <p:txBody>
          <a:bodyPr wrap="square" lIns="0" tIns="0" rIns="0" bIns="0" rtlCol="0" anchor="ctr"/>
          <a:lstStyle/>
          <a:p>
            <a:pPr algn="ctr" indent="0" marL="0">
              <a:buNone/>
            </a:pPr>
            <a:r>
              <a:rPr lang="en-US" sz="1100" dirty="0">
                <a:solidFill>
                  <a:srgbClr val="0A1C58"/>
                </a:solidFill>
              </a:rPr>
              <a:t>■ </a:t>
            </a:r>
            <a:pPr algn="ctr" indent="0" marL="0">
              <a:buNone/>
            </a:pPr>
            <a:r>
              <a:rPr lang="en-US" sz="1100" dirty="0">
                <a:solidFill>
                  <a:srgbClr val="1A1A1A"/>
                </a:solidFill>
              </a:rPr>
              <a:t>Third-party   </a:t>
            </a:r>
            <a:pPr algn="ctr" indent="0" marL="0">
              <a:buNone/>
            </a:pPr>
            <a:r>
              <a:rPr lang="en-US" sz="1100" dirty="0">
                <a:solidFill>
                  <a:srgbClr val="2E93AE"/>
                </a:solidFill>
              </a:rPr>
              <a:t>■ </a:t>
            </a:r>
            <a:pPr algn="ctr" indent="0" marL="0">
              <a:buNone/>
            </a:pPr>
            <a:r>
              <a:rPr lang="en-US" sz="1100" dirty="0">
                <a:solidFill>
                  <a:srgbClr val="1A1A1A"/>
                </a:solidFill>
              </a:rPr>
              <a:t>SCI floor</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if share stalls, SCI's contracted fleet keeps adding volume: a floor under the thesis.</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2024–25 share per GPS analysis; FTAI 2027 target of 1,700 modules (Q2'26 supplement)</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(1/2)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engines need more maintenance, and OEM contracts start rolling off after 2030.</a:t>
            </a:r>
            <a:endParaRPr lang="en-US" sz="1700" dirty="0"/>
          </a:p>
        </p:txBody>
      </p:sp>
      <p:sp>
        <p:nvSpPr>
          <p:cNvPr id="4" name="Timeline arrow"/>
          <p:cNvSpPr/>
          <p:nvPr/>
        </p:nvSpPr>
        <p:spPr>
          <a:xfrm>
            <a:off x="320040" y="1783080"/>
            <a:ext cx="8503920" cy="457200"/>
          </a:xfrm>
          <a:prstGeom prst="rightArrow">
            <a:avLst/>
          </a:prstGeom>
          <a:solidFill>
            <a:srgbClr val="0A1C58"/>
          </a:solidFill>
          <a:ln/>
        </p:spPr>
      </p:sp>
      <p:sp>
        <p:nvSpPr>
          <p:cNvPr id="5" name="Stop 1"/>
          <p:cNvSpPr txBox="1"/>
          <p:nvPr/>
        </p:nvSpPr>
        <p:spPr>
          <a:xfrm>
            <a:off x="68580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Today</a:t>
            </a:r>
            <a:endParaRPr lang="en-US" sz="2200" dirty="0"/>
          </a:p>
        </p:txBody>
      </p:sp>
      <p:sp>
        <p:nvSpPr>
          <p:cNvPr id="6" name="Stop 1 detail"/>
          <p:cNvSpPr txBox="1"/>
          <p:nvPr/>
        </p:nvSpPr>
        <p:spPr>
          <a:xfrm>
            <a:off x="45720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~50% of LEAPs on OEM deals</a:t>
            </a:r>
            <a:endParaRPr lang="en-US" sz="1400" dirty="0"/>
          </a:p>
          <a:p>
            <a:pPr algn="ctr" indent="0" marL="0">
              <a:buNone/>
            </a:pPr>
            <a:r>
              <a:rPr lang="en-US" sz="1200" dirty="0">
                <a:solidFill>
                  <a:srgbClr val="1A1A1A"/>
                </a:solidFill>
              </a:rPr>
              <a:t>vs. ~15% of CFM56s</a:t>
            </a:r>
            <a:endParaRPr lang="en-US" sz="1400" dirty="0"/>
          </a:p>
        </p:txBody>
      </p:sp>
      <p:sp>
        <p:nvSpPr>
          <p:cNvPr id="7" name="Stop 2"/>
          <p:cNvSpPr txBox="1"/>
          <p:nvPr/>
        </p:nvSpPr>
        <p:spPr>
          <a:xfrm>
            <a:off x="352044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8" name="Stop 2 detail"/>
          <p:cNvSpPr txBox="1"/>
          <p:nvPr/>
        </p:nvSpPr>
        <p:spPr>
          <a:xfrm>
            <a:off x="329184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~2,000 LEAP visits a year</a:t>
            </a:r>
            <a:endParaRPr lang="en-US" sz="1400" dirty="0"/>
          </a:p>
          <a:p>
            <a:pPr algn="ctr" indent="0" marL="0">
              <a:buNone/>
            </a:pPr>
            <a:r>
              <a:rPr lang="en-US" sz="1200" dirty="0">
                <a:solidFill>
                  <a:srgbClr val="1A1A1A"/>
                </a:solidFill>
              </a:rPr>
              <a:t>OEM coverage peaks near 70%</a:t>
            </a:r>
            <a:endParaRPr lang="en-US" sz="1400" dirty="0"/>
          </a:p>
        </p:txBody>
      </p:sp>
      <p:sp>
        <p:nvSpPr>
          <p:cNvPr id="9" name="Stop 3"/>
          <p:cNvSpPr txBox="1"/>
          <p:nvPr/>
        </p:nvSpPr>
        <p:spPr>
          <a:xfrm>
            <a:off x="6355080" y="1627632"/>
            <a:ext cx="2103120" cy="768096"/>
          </a:xfrm>
          <a:prstGeom prst="rect">
            <a:avLst/>
          </a:prstGeom>
          <a:solidFill>
            <a:srgbClr val="FFFFFF"/>
          </a:solidFill>
          <a:ln w="25400">
            <a:solidFill>
              <a:srgbClr val="0A1C58"/>
            </a:solidFill>
          </a:ln>
        </p:spPr>
        <p:txBody>
          <a:bodyPr wrap="square" lIns="0" tIns="0" rIns="0" bIns="0" rtlCol="0" anchor="ctr"/>
          <a:lstStyle/>
          <a:p>
            <a:pPr algn="ctr" indent="0" marL="0">
              <a:buNone/>
            </a:pPr>
            <a:r>
              <a:rPr lang="en-US" sz="2200" b="1" dirty="0">
                <a:solidFill>
                  <a:schemeClr val="tx2"/>
                </a:solidFill>
              </a:rPr>
              <a:t>2030+</a:t>
            </a:r>
            <a:endParaRPr lang="en-US" sz="2200" dirty="0"/>
          </a:p>
        </p:txBody>
      </p:sp>
      <p:sp>
        <p:nvSpPr>
          <p:cNvPr id="10" name="Stop 3 detail"/>
          <p:cNvSpPr txBox="1"/>
          <p:nvPr/>
        </p:nvSpPr>
        <p:spPr>
          <a:xfrm>
            <a:off x="6126480" y="2487168"/>
            <a:ext cx="2560320" cy="640080"/>
          </a:xfrm>
          <a:prstGeom prst="rect">
            <a:avLst/>
          </a:prstGeom>
          <a:noFill/>
          <a:ln/>
        </p:spPr>
        <p:txBody>
          <a:bodyPr wrap="square" lIns="0" tIns="0" rIns="0" bIns="0" rtlCol="0" anchor="t"/>
          <a:lstStyle/>
          <a:p>
            <a:pPr algn="ctr" indent="0" marL="0">
              <a:buNone/>
            </a:pPr>
            <a:r>
              <a:rPr lang="en-US" sz="1400" b="1" dirty="0">
                <a:solidFill>
                  <a:schemeClr val="tx2"/>
                </a:solidFill>
              </a:rPr>
              <a:t>Contracts roll off</a:t>
            </a:r>
            <a:endParaRPr lang="en-US" sz="1400" dirty="0"/>
          </a:p>
          <a:p>
            <a:pPr algn="ctr" indent="0" marL="0">
              <a:buNone/>
            </a:pPr>
            <a:r>
              <a:rPr lang="en-US" sz="1200" dirty="0">
                <a:solidFill>
                  <a:srgbClr val="1A1A1A"/>
                </a:solidFill>
              </a:rPr>
              <a:t>Work opens to independents</a:t>
            </a:r>
            <a:endParaRPr lang="en-US" sz="1400" dirty="0"/>
          </a:p>
        </p:txBody>
      </p:sp>
      <p:sp>
        <p:nvSpPr>
          <p:cNvPr id="11" name="Card 1"/>
          <p:cNvSpPr/>
          <p:nvPr/>
        </p:nvSpPr>
        <p:spPr>
          <a:xfrm>
            <a:off x="320040" y="3291840"/>
            <a:ext cx="2706624" cy="2057400"/>
          </a:xfrm>
          <a:prstGeom prst="rect">
            <a:avLst/>
          </a:prstGeom>
          <a:solidFill>
            <a:srgbClr val="EFEDEA"/>
          </a:solidFill>
          <a:ln/>
        </p:spPr>
      </p:sp>
      <p:sp>
        <p:nvSpPr>
          <p:cNvPr id="12" name="Card 1 stat"/>
          <p:cNvSpPr/>
          <p:nvPr/>
        </p:nvSpPr>
        <p:spPr>
          <a:xfrm>
            <a:off x="411480"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2000" b="1" dirty="0">
                <a:solidFill>
                  <a:schemeClr val="tx2"/>
                </a:solidFill>
              </a:rPr>
              <a:t>2.5x</a:t>
            </a:r>
            <a:endParaRPr lang="en-US" sz="2000" dirty="0"/>
          </a:p>
          <a:p>
            <a:pPr algn="ctr" indent="0" marL="0">
              <a:buNone/>
            </a:pPr>
            <a:r>
              <a:rPr lang="en-US" sz="1000" dirty="0">
                <a:solidFill>
                  <a:schemeClr val="tx2"/>
                </a:solidFill>
              </a:rPr>
              <a:t>sooner</a:t>
            </a:r>
            <a:endParaRPr lang="en-US" sz="2000" dirty="0"/>
          </a:p>
        </p:txBody>
      </p:sp>
      <p:sp>
        <p:nvSpPr>
          <p:cNvPr id="13" name="Card 1 head"/>
          <p:cNvSpPr txBox="1"/>
          <p:nvPr/>
        </p:nvSpPr>
        <p:spPr>
          <a:xfrm>
            <a:off x="1618488"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More shop visits</a:t>
            </a:r>
            <a:endParaRPr lang="en-US" sz="1500" dirty="0"/>
          </a:p>
        </p:txBody>
      </p:sp>
      <p:sp>
        <p:nvSpPr>
          <p:cNvPr id="14" name="Card 1 body"/>
          <p:cNvSpPr txBox="1"/>
          <p:nvPr/>
        </p:nvSpPr>
        <p:spPr>
          <a:xfrm>
            <a:off x="457200"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First LEAP visits at ~4,000 cycles vs. the 10,000+ originally planned.</a:t>
            </a:r>
            <a:endParaRPr lang="en-US" sz="1200" dirty="0"/>
          </a:p>
        </p:txBody>
      </p:sp>
      <p:sp>
        <p:nvSpPr>
          <p:cNvPr id="15" name="Card 2"/>
          <p:cNvSpPr/>
          <p:nvPr/>
        </p:nvSpPr>
        <p:spPr>
          <a:xfrm>
            <a:off x="3218688" y="3291840"/>
            <a:ext cx="2706624" cy="2057400"/>
          </a:xfrm>
          <a:prstGeom prst="rect">
            <a:avLst/>
          </a:prstGeom>
          <a:solidFill>
            <a:srgbClr val="EFEDEA"/>
          </a:solidFill>
          <a:ln/>
        </p:spPr>
      </p:sp>
      <p:sp>
        <p:nvSpPr>
          <p:cNvPr id="16" name="Card 2 stat"/>
          <p:cNvSpPr/>
          <p:nvPr/>
        </p:nvSpPr>
        <p:spPr>
          <a:xfrm>
            <a:off x="3310128" y="3401568"/>
            <a:ext cx="1143000" cy="1143000"/>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400" b="1" dirty="0">
                <a:solidFill>
                  <a:schemeClr val="tx2"/>
                </a:solidFill>
              </a:rPr>
              <a:t>$2–4.5M</a:t>
            </a:r>
            <a:endParaRPr lang="en-US" sz="1400" dirty="0"/>
          </a:p>
          <a:p>
            <a:pPr algn="ctr" indent="0" marL="0">
              <a:buNone/>
            </a:pPr>
            <a:r>
              <a:rPr lang="en-US" sz="1000" dirty="0">
                <a:solidFill>
                  <a:schemeClr val="tx2"/>
                </a:solidFill>
              </a:rPr>
              <a:t>per visit</a:t>
            </a:r>
            <a:endParaRPr lang="en-US" sz="1400" dirty="0"/>
          </a:p>
        </p:txBody>
      </p:sp>
      <p:sp>
        <p:nvSpPr>
          <p:cNvPr id="17" name="Card 2 head"/>
          <p:cNvSpPr txBox="1"/>
          <p:nvPr/>
        </p:nvSpPr>
        <p:spPr>
          <a:xfrm>
            <a:off x="4517136"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Costlier visits</a:t>
            </a:r>
            <a:endParaRPr lang="en-US" sz="1500" dirty="0"/>
          </a:p>
        </p:txBody>
      </p:sp>
      <p:sp>
        <p:nvSpPr>
          <p:cNvPr id="18" name="Card 2 body"/>
          <p:cNvSpPr txBox="1"/>
          <p:nvPr/>
        </p:nvSpPr>
        <p:spPr>
          <a:xfrm>
            <a:off x="3355848"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LEAP overhauls cost far more than the same work on a CFM56.</a:t>
            </a:r>
            <a:endParaRPr lang="en-US" sz="1200" dirty="0"/>
          </a:p>
        </p:txBody>
      </p:sp>
      <p:sp>
        <p:nvSpPr>
          <p:cNvPr id="19" name="Card 3"/>
          <p:cNvSpPr/>
          <p:nvPr/>
        </p:nvSpPr>
        <p:spPr>
          <a:xfrm>
            <a:off x="6117336" y="3291840"/>
            <a:ext cx="2706624" cy="2057400"/>
          </a:xfrm>
          <a:prstGeom prst="rect">
            <a:avLst/>
          </a:prstGeom>
          <a:solidFill>
            <a:srgbClr val="EFEDEA"/>
          </a:solidFill>
          <a:ln/>
        </p:spPr>
      </p:sp>
      <p:sp>
        <p:nvSpPr>
          <p:cNvPr id="20" name="Card 3 stat"/>
          <p:cNvSpPr/>
          <p:nvPr/>
        </p:nvSpPr>
        <p:spPr>
          <a:xfrm>
            <a:off x="6208776" y="3401568"/>
            <a:ext cx="1143000" cy="1143000"/>
          </a:xfrm>
          <a:prstGeom prst="ellipse">
            <a:avLst/>
          </a:prstGeom>
          <a:solidFill>
            <a:srgbClr val="EE6E25"/>
          </a:solidFill>
          <a:ln w="31750">
            <a:solidFill>
              <a:srgbClr val="EE6E25"/>
            </a:solidFill>
          </a:ln>
        </p:spPr>
        <p:txBody>
          <a:bodyPr wrap="square" lIns="0" tIns="0" rIns="0" bIns="0" rtlCol="0" anchor="ctr"/>
          <a:lstStyle/>
          <a:p>
            <a:pPr algn="ctr" indent="0" marL="0">
              <a:buNone/>
            </a:pPr>
            <a:r>
              <a:rPr lang="en-US" sz="2000" b="1" dirty="0">
                <a:solidFill>
                  <a:schemeClr val="bg1"/>
                </a:solidFill>
              </a:rPr>
              <a:t>Same</a:t>
            </a:r>
            <a:endParaRPr lang="en-US" sz="2000" dirty="0"/>
          </a:p>
          <a:p>
            <a:pPr algn="ctr" indent="0" marL="0">
              <a:buNone/>
            </a:pPr>
            <a:r>
              <a:rPr lang="en-US" sz="1000" dirty="0">
                <a:solidFill>
                  <a:schemeClr val="bg1"/>
                </a:solidFill>
              </a:rPr>
              <a:t>tooling</a:t>
            </a:r>
            <a:endParaRPr lang="en-US" sz="2000" dirty="0"/>
          </a:p>
        </p:txBody>
      </p:sp>
      <p:sp>
        <p:nvSpPr>
          <p:cNvPr id="21" name="Card 3 head"/>
          <p:cNvSpPr txBox="1"/>
          <p:nvPr/>
        </p:nvSpPr>
        <p:spPr>
          <a:xfrm>
            <a:off x="7415784" y="3520440"/>
            <a:ext cx="1371600" cy="868680"/>
          </a:xfrm>
          <a:prstGeom prst="rect">
            <a:avLst/>
          </a:prstGeom>
          <a:noFill/>
          <a:ln/>
        </p:spPr>
        <p:txBody>
          <a:bodyPr wrap="square" lIns="0" tIns="0" rIns="0" bIns="0" rtlCol="0" anchor="ctr"/>
          <a:lstStyle/>
          <a:p>
            <a:pPr algn="l" indent="0" marL="0">
              <a:buNone/>
            </a:pPr>
            <a:r>
              <a:rPr lang="en-US" sz="1500" b="1" dirty="0">
                <a:solidFill>
                  <a:schemeClr val="tx2"/>
                </a:solidFill>
              </a:rPr>
              <a:t>FTAI can pivot fast</a:t>
            </a:r>
            <a:endParaRPr lang="en-US" sz="1500" dirty="0"/>
          </a:p>
        </p:txBody>
      </p:sp>
      <p:sp>
        <p:nvSpPr>
          <p:cNvPr id="22" name="Card 3 body"/>
          <p:cNvSpPr txBox="1"/>
          <p:nvPr/>
        </p:nvSpPr>
        <p:spPr>
          <a:xfrm>
            <a:off x="6254496" y="4572000"/>
            <a:ext cx="2432304" cy="731520"/>
          </a:xfrm>
          <a:prstGeom prst="rect">
            <a:avLst/>
          </a:prstGeom>
          <a:noFill/>
          <a:ln/>
        </p:spPr>
        <p:txBody>
          <a:bodyPr wrap="square" lIns="0" tIns="0" rIns="0" bIns="0" rtlCol="0" anchor="t"/>
          <a:lstStyle/>
          <a:p>
            <a:pPr algn="l" indent="0" marL="0">
              <a:buNone/>
            </a:pPr>
            <a:r>
              <a:rPr lang="en-US" sz="1200" dirty="0">
                <a:solidFill>
                  <a:srgbClr val="1A1A1A"/>
                </a:solidFill>
              </a:rPr>
              <a:t>A CFM56/LEAP test cell is coming to Rome, and CFM56 tools and techs carry over.</a:t>
            </a:r>
            <a:endParaRPr lang="en-US" sz="1200" dirty="0"/>
          </a:p>
        </p:txBody>
      </p:sp>
      <p:sp>
        <p:nvSpPr>
          <p:cNvPr id="2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As OEM contracts roll off, LEAP becomes FTAI's next CFM56, with costlier, more frequent visits.</a:t>
            </a:r>
            <a:endParaRPr lang="en-US" sz="1700" dirty="0"/>
          </a:p>
        </p:txBody>
      </p:sp>
      <p:sp>
        <p:nvSpPr>
          <p:cNvPr id="2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Safran via Aviation Week; Visual Approach; The Air Current; Safe Fly Aviation; FTAI Q2'26 call; GPS expert call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1b: LEAP Upside (2/2)</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LEAP isn't in our target. Matching FTAI's CFM56 share takes your return past 100%.</a:t>
            </a:r>
            <a:endParaRPr lang="en-US" sz="1700" dirty="0"/>
          </a:p>
        </p:txBody>
      </p:sp>
      <p:sp>
        <p:nvSpPr>
          <p:cNvPr id="4" name="LEAP quote"/>
          <p:cNvSpPr txBox="1"/>
          <p:nvPr/>
        </p:nvSpPr>
        <p:spPr>
          <a:xfrm>
            <a:off x="822960" y="1627632"/>
            <a:ext cx="7498080" cy="868680"/>
          </a:xfrm>
          <a:prstGeom prst="rect">
            <a:avLst/>
          </a:prstGeom>
          <a:solidFill>
            <a:srgbClr val="EFEDEA"/>
          </a:solidFill>
          <a:ln/>
        </p:spPr>
        <p:txBody>
          <a:bodyPr wrap="square" lIns="177800" tIns="50800" rIns="177800" bIns="50800" rtlCol="0" anchor="ctr"/>
          <a:lstStyle/>
          <a:p>
            <a:pPr algn="l" indent="0" marL="0">
              <a:buNone/>
            </a:pPr>
            <a:r>
              <a:rPr lang="en-US" sz="1600" b="1" dirty="0">
                <a:solidFill>
                  <a:srgbClr val="1A1A1A"/>
                </a:solidFill>
              </a:rPr>
              <a:t>“It will happen. The reason why it will happen is because they have set their CFM line up to have a measurable amount of shared services in that line.”</a:t>
            </a:r>
            <a:endParaRPr lang="en-US" sz="1600" dirty="0"/>
          </a:p>
        </p:txBody>
      </p:sp>
      <p:sp>
        <p:nvSpPr>
          <p:cNvPr id="5" name="LEAP quote attribution"/>
          <p:cNvSpPr txBox="1"/>
          <p:nvPr/>
        </p:nvSpPr>
        <p:spPr>
          <a:xfrm>
            <a:off x="4206240" y="2542032"/>
            <a:ext cx="4114800" cy="274320"/>
          </a:xfrm>
          <a:prstGeom prst="rect">
            <a:avLst/>
          </a:prstGeom>
          <a:noFill/>
          <a:ln/>
        </p:spPr>
        <p:txBody>
          <a:bodyPr wrap="square" lIns="0" tIns="0" rIns="0" bIns="0" rtlCol="0" anchor="ctr"/>
          <a:lstStyle/>
          <a:p>
            <a:pPr algn="r" indent="0" marL="0">
              <a:buNone/>
            </a:pPr>
            <a:r>
              <a:rPr lang="en-US" sz="1400" b="1" i="1" dirty="0">
                <a:solidFill>
                  <a:srgbClr val="1A1A1A"/>
                </a:solidFill>
              </a:rPr>
              <a:t>— Former executive, engine MRO shop</a:t>
            </a:r>
            <a:endParaRPr lang="en-US" sz="1400" dirty="0"/>
          </a:p>
        </p:txBody>
      </p:sp>
      <p:graphicFrame>
        <p:nvGraphicFramePr>
          <p:cNvPr id="6" name="LEAP return chart" descr=""/>
          <p:cNvGraphicFramePr/>
          <p:nvPr/>
        </p:nvGraphicFramePr>
        <p:xfrm>
          <a:off x="960120" y="2926080"/>
          <a:ext cx="7680960" cy="2148840"/>
        </p:xfrm>
        <a:graphic xmlns:a="http://schemas.openxmlformats.org/drawingml/2006/main">
          <a:graphicData uri="http://schemas.openxmlformats.org/drawingml/2006/chart">
            <c:chart xmlns:c="http://schemas.openxmlformats.org/drawingml/2006/chart" r:id="rId1"/>
          </a:graphicData>
        </a:graphic>
      </p:graphicFrame>
      <p:sp>
        <p:nvSpPr>
          <p:cNvPr id="7" name="Y label"/>
          <p:cNvSpPr txBox="1"/>
          <p:nvPr/>
        </p:nvSpPr>
        <p:spPr>
          <a:xfrm rot="16200000">
            <a:off x="0" y="3703320"/>
            <a:ext cx="1371600" cy="320040"/>
          </a:xfrm>
          <a:prstGeom prst="rect">
            <a:avLst/>
          </a:prstGeom>
          <a:noFill/>
          <a:ln/>
        </p:spPr>
        <p:txBody>
          <a:bodyPr wrap="square" lIns="0" tIns="0" rIns="0" bIns="0" rtlCol="0" anchor="ctr"/>
          <a:lstStyle/>
          <a:p>
            <a:pPr algn="ctr" indent="0" marL="0">
              <a:buNone/>
            </a:pPr>
            <a:r>
              <a:rPr lang="en-US" sz="1200" b="1" dirty="0">
                <a:solidFill>
                  <a:srgbClr val="1A1A1A"/>
                </a:solidFill>
              </a:rPr>
              <a:t>Your return</a:t>
            </a:r>
            <a:endParaRPr lang="en-US" sz="1200" dirty="0"/>
          </a:p>
        </p:txBody>
      </p:sp>
      <p:sp>
        <p:nvSpPr>
          <p:cNvPr id="8" name="X label"/>
          <p:cNvSpPr txBox="1"/>
          <p:nvPr/>
        </p:nvSpPr>
        <p:spPr>
          <a:xfrm>
            <a:off x="960120" y="5102352"/>
            <a:ext cx="7680960" cy="256032"/>
          </a:xfrm>
          <a:prstGeom prst="rect">
            <a:avLst/>
          </a:prstGeom>
          <a:noFill/>
          <a:ln/>
        </p:spPr>
        <p:txBody>
          <a:bodyPr wrap="square" lIns="0" tIns="0" rIns="0" bIns="0" rtlCol="0" anchor="ctr"/>
          <a:lstStyle/>
          <a:p>
            <a:pPr algn="ctr" indent="0" marL="0">
              <a:buNone/>
            </a:pPr>
            <a:r>
              <a:rPr lang="en-US" sz="1200" b="1" dirty="0">
                <a:solidFill>
                  <a:srgbClr val="1A1A1A"/>
                </a:solidFill>
              </a:rPr>
              <a:t>FTAI share of off-contract LEAP shop visits</a:t>
            </a:r>
            <a:endParaRPr lang="en-US" sz="1200" dirty="0"/>
          </a:p>
        </p:txBody>
      </p:sp>
      <p:sp>
        <p:nvSpPr>
          <p:cNvPr id="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Every 5 pts of off-contract LEAP share adds ~9 pts to your return on top of our base case.</a:t>
            </a:r>
            <a:endParaRPr lang="en-US" sz="1700" dirty="0"/>
          </a:p>
        </p:txBody>
      </p:sp>
      <p:sp>
        <p:nvSpPr>
          <p:cNvPr id="1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analysis: 2,000 LEAP visits/yr, 50% off contract, 3 modules/visit, FY27E EBITDA/module, 16x, discounted 4 yrs at 9.5%</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(1/4)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AI spending is exploding, and our model shows the grid falling short from 2029.</a:t>
            </a:r>
            <a:endParaRPr lang="en-US" sz="1700" dirty="0"/>
          </a:p>
        </p:txBody>
      </p:sp>
      <p:sp>
        <p:nvSpPr>
          <p:cNvPr id="4" name="Capex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Big Four Hyperscaler Capex ($B)</a:t>
            </a:r>
            <a:endParaRPr lang="en-US" sz="1600" dirty="0"/>
          </a:p>
        </p:txBody>
      </p:sp>
      <p:sp>
        <p:nvSpPr>
          <p:cNvPr id="5" name="Capex header rule"/>
          <p:cNvSpPr/>
          <p:nvPr/>
        </p:nvSpPr>
        <p:spPr>
          <a:xfrm>
            <a:off x="320040" y="1975104"/>
            <a:ext cx="4206240" cy="0"/>
          </a:xfrm>
          <a:prstGeom prst="line">
            <a:avLst/>
          </a:prstGeom>
          <a:noFill/>
          <a:ln w="19050">
            <a:solidFill>
              <a:srgbClr val="2E93AE"/>
            </a:solidFill>
            <a:prstDash val="solid"/>
          </a:ln>
        </p:spPr>
      </p:sp>
      <p:graphicFrame>
        <p:nvGraphicFramePr>
          <p:cNvPr id="6" name="Capex chart" descr=""/>
          <p:cNvGraphicFramePr/>
          <p:nvPr/>
        </p:nvGraphicFramePr>
        <p:xfrm>
          <a:off x="320040" y="2103120"/>
          <a:ext cx="4206240" cy="3200400"/>
        </p:xfrm>
        <a:graphic xmlns:a="http://schemas.openxmlformats.org/drawingml/2006/main">
          <a:graphicData uri="http://schemas.openxmlformats.org/drawingml/2006/chart">
            <c:chart xmlns:c="http://schemas.openxmlformats.org/drawingml/2006/chart" r:id="rId1"/>
          </a:graphicData>
        </a:graphic>
      </p:graphicFrame>
      <p:sp>
        <p:nvSpPr>
          <p:cNvPr id="7" name="Shortfall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U.S. Power Reserve Shortfall (GW)</a:t>
            </a:r>
            <a:endParaRPr lang="en-US" sz="1600" dirty="0"/>
          </a:p>
        </p:txBody>
      </p:sp>
      <p:sp>
        <p:nvSpPr>
          <p:cNvPr id="8" name="Shortfall header rule"/>
          <p:cNvSpPr/>
          <p:nvPr/>
        </p:nvSpPr>
        <p:spPr>
          <a:xfrm>
            <a:off x="4892040" y="1975104"/>
            <a:ext cx="3931920" cy="0"/>
          </a:xfrm>
          <a:prstGeom prst="line">
            <a:avLst/>
          </a:prstGeom>
          <a:noFill/>
          <a:ln w="19050">
            <a:solidFill>
              <a:srgbClr val="2E93AE"/>
            </a:solidFill>
            <a:prstDash val="solid"/>
          </a:ln>
        </p:spPr>
      </p:sp>
      <p:graphicFrame>
        <p:nvGraphicFramePr>
          <p:cNvPr id="9" name="Shortfall chart" descr=""/>
          <p:cNvGraphicFramePr/>
          <p:nvPr/>
        </p:nvGraphicFramePr>
        <p:xfrm>
          <a:off x="4892040" y="2103120"/>
          <a:ext cx="3931920" cy="2926080"/>
        </p:xfrm>
        <a:graphic xmlns:a="http://schemas.openxmlformats.org/drawingml/2006/main">
          <a:graphicData uri="http://schemas.openxmlformats.org/drawingml/2006/chart">
            <c:chart xmlns:c="http://schemas.openxmlformats.org/drawingml/2006/chart" r:id="rId2"/>
          </a:graphicData>
        </a:graphic>
      </p:graphicFrame>
      <p:sp>
        <p:nvSpPr>
          <p:cNvPr id="10" name="Shortfall caption"/>
          <p:cNvSpPr txBox="1"/>
          <p:nvPr/>
        </p:nvSpPr>
        <p:spPr>
          <a:xfrm>
            <a:off x="4892040" y="5029200"/>
            <a:ext cx="3931920" cy="274320"/>
          </a:xfrm>
          <a:prstGeom prst="rect">
            <a:avLst/>
          </a:prstGeom>
          <a:noFill/>
          <a:ln/>
        </p:spPr>
        <p:txBody>
          <a:bodyPr wrap="square" lIns="0" tIns="0" rIns="0" bIns="0" rtlCol="0" anchor="ctr"/>
          <a:lstStyle/>
          <a:p>
            <a:pPr algn="ctr" indent="0" marL="0">
              <a:buNone/>
            </a:pPr>
            <a:r>
              <a:rPr lang="en-US" sz="1000" i="1" dirty="0">
                <a:solidFill>
                  <a:schemeClr val="accent2"/>
                </a:solidFill>
              </a:rPr>
              <a:t>Capacity below required reserve margin, NERC regions (GPS model)</a:t>
            </a:r>
            <a:endParaRPr lang="en-US" sz="1000" dirty="0"/>
          </a:p>
        </p:txBody>
      </p:sp>
      <p:sp>
        <p:nvSpPr>
          <p:cNvPr id="11"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Hyperscalers will spend ~$730B this year, but there won't be enough power to run it.</a:t>
            </a:r>
            <a:endParaRPr lang="en-US" sz="1700" dirty="0"/>
          </a:p>
        </p:txBody>
      </p:sp>
      <p:sp>
        <p:nvSpPr>
          <p:cNvPr id="12"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and 2026 guidance (Amazon, Alphabet, Meta, Microsoft); NERC; GPS model (Power outlook, Regional model tabs)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(2/4)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Most new power hyperscalers have contracted isn't fully online until 2029 or later.</a:t>
            </a:r>
            <a:endParaRPr lang="en-US" sz="1700" dirty="0"/>
          </a:p>
        </p:txBody>
      </p:sp>
      <p:sp>
        <p:nvSpPr>
          <p:cNvPr id="4" name="COD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New Capacity by Online Date (GW)</a:t>
            </a:r>
            <a:endParaRPr lang="en-US" sz="1600" dirty="0"/>
          </a:p>
        </p:txBody>
      </p:sp>
      <p:sp>
        <p:nvSpPr>
          <p:cNvPr id="5" name="COD header rule"/>
          <p:cNvSpPr/>
          <p:nvPr/>
        </p:nvSpPr>
        <p:spPr>
          <a:xfrm>
            <a:off x="320040" y="1975104"/>
            <a:ext cx="4572000" cy="0"/>
          </a:xfrm>
          <a:prstGeom prst="line">
            <a:avLst/>
          </a:prstGeom>
          <a:noFill/>
          <a:ln w="19050">
            <a:solidFill>
              <a:srgbClr val="2E93AE"/>
            </a:solidFill>
            <a:prstDash val="solid"/>
          </a:ln>
        </p:spPr>
      </p:sp>
      <p:graphicFrame>
        <p:nvGraphicFramePr>
          <p:cNvPr id="6" name="COD chart" descr=""/>
          <p:cNvGraphicFramePr/>
          <p:nvPr/>
        </p:nvGraphicFramePr>
        <p:xfrm>
          <a:off x="320040" y="2103120"/>
          <a:ext cx="4572000" cy="2926080"/>
        </p:xfrm>
        <a:graphic xmlns:a="http://schemas.openxmlformats.org/drawingml/2006/main">
          <a:graphicData uri="http://schemas.openxmlformats.org/drawingml/2006/chart">
            <c:chart xmlns:c="http://schemas.openxmlformats.org/drawingml/2006/chart" r:id="rId1"/>
          </a:graphicData>
        </a:graphic>
      </p:graphicFrame>
      <p:sp>
        <p:nvSpPr>
          <p:cNvPr id="7" name="Late share callout"/>
          <p:cNvSpPr/>
          <p:nvPr/>
        </p:nvSpPr>
        <p:spPr>
          <a:xfrm>
            <a:off x="2331720" y="2103120"/>
            <a:ext cx="960120" cy="96012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2200" b="1" dirty="0">
                <a:solidFill>
                  <a:schemeClr val="bg1"/>
                </a:solidFill>
              </a:rPr>
              <a:t>57%</a:t>
            </a:r>
            <a:endParaRPr lang="en-US" sz="2200" dirty="0"/>
          </a:p>
          <a:p>
            <a:pPr algn="ctr" indent="0" marL="0">
              <a:buNone/>
            </a:pPr>
            <a:r>
              <a:rPr lang="en-US" sz="1000" b="1" dirty="0">
                <a:solidFill>
                  <a:schemeClr val="bg1"/>
                </a:solidFill>
              </a:rPr>
              <a:t>2029 or later</a:t>
            </a:r>
            <a:endParaRPr lang="en-US" sz="2200" dirty="0"/>
          </a:p>
        </p:txBody>
      </p:sp>
      <p:sp>
        <p:nvSpPr>
          <p:cNvPr id="8" name="COD caption"/>
          <p:cNvSpPr txBox="1"/>
          <p:nvPr/>
        </p:nvSpPr>
        <p:spPr>
          <a:xfrm>
            <a:off x="320040" y="5029200"/>
            <a:ext cx="4572000" cy="274320"/>
          </a:xfrm>
          <a:prstGeom prst="rect">
            <a:avLst/>
          </a:prstGeom>
          <a:noFill/>
          <a:ln/>
        </p:spPr>
        <p:txBody>
          <a:bodyPr wrap="square" lIns="0" tIns="0" rIns="0" bIns="0" rtlCol="0" anchor="ctr"/>
          <a:lstStyle/>
          <a:p>
            <a:pPr algn="ctr" indent="0" marL="0">
              <a:buNone/>
            </a:pPr>
            <a:r>
              <a:rPr lang="en-US" sz="1000" i="1" dirty="0">
                <a:solidFill>
                  <a:schemeClr val="accent2"/>
                </a:solidFill>
              </a:rPr>
              <a:t>25 GW of new and restarted capacity across 45 tracked hyperscaler power deals</a:t>
            </a:r>
            <a:endParaRPr lang="en-US" sz="1000" dirty="0"/>
          </a:p>
        </p:txBody>
      </p:sp>
      <p:sp>
        <p:nvSpPr>
          <p:cNvPr id="9" name="Bridge header"/>
          <p:cNvSpPr txBox="1"/>
          <p:nvPr/>
        </p:nvSpPr>
        <p:spPr>
          <a:xfrm>
            <a:off x="5212080" y="1554480"/>
            <a:ext cx="3611880" cy="365760"/>
          </a:xfrm>
          <a:prstGeom prst="rect">
            <a:avLst/>
          </a:prstGeom>
          <a:noFill/>
          <a:ln/>
        </p:spPr>
        <p:txBody>
          <a:bodyPr wrap="square" lIns="0" tIns="0" rIns="0" bIns="0" rtlCol="0" anchor="b"/>
          <a:lstStyle/>
          <a:p>
            <a:pPr algn="ctr" indent="0" marL="0">
              <a:buNone/>
            </a:pPr>
            <a:r>
              <a:rPr lang="en-US" sz="1600" b="1" dirty="0">
                <a:solidFill>
                  <a:srgbClr val="1A1A1A"/>
                </a:solidFill>
              </a:rPr>
              <a:t>The Bridge</a:t>
            </a:r>
            <a:endParaRPr lang="en-US" sz="1600" dirty="0"/>
          </a:p>
        </p:txBody>
      </p:sp>
      <p:sp>
        <p:nvSpPr>
          <p:cNvPr id="10" name="Bridge header rule"/>
          <p:cNvSpPr/>
          <p:nvPr/>
        </p:nvSpPr>
        <p:spPr>
          <a:xfrm>
            <a:off x="5212080" y="1975104"/>
            <a:ext cx="3611880" cy="0"/>
          </a:xfrm>
          <a:prstGeom prst="line">
            <a:avLst/>
          </a:prstGeom>
          <a:noFill/>
          <a:ln w="19050">
            <a:solidFill>
              <a:srgbClr val="2E93AE"/>
            </a:solidFill>
            <a:prstDash val="solid"/>
          </a:ln>
        </p:spPr>
      </p:sp>
      <p:sp>
        <p:nvSpPr>
          <p:cNvPr id="11" name="Bridge step 1"/>
          <p:cNvSpPr txBox="1"/>
          <p:nvPr/>
        </p:nvSpPr>
        <p:spPr>
          <a:xfrm>
            <a:off x="5212080" y="2148840"/>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Today</a:t>
            </a:r>
            <a:endParaRPr lang="en-US" sz="1600" dirty="0"/>
          </a:p>
          <a:p>
            <a:pPr algn="ctr" indent="0" marL="0">
              <a:buNone/>
            </a:pPr>
            <a:r>
              <a:rPr lang="en-US" sz="1200" dirty="0">
                <a:solidFill>
                  <a:schemeClr val="tx2"/>
                </a:solidFill>
              </a:rPr>
              <a:t>GPUs bought, data center shells built</a:t>
            </a:r>
            <a:endParaRPr lang="en-US" sz="1600" dirty="0"/>
          </a:p>
        </p:txBody>
      </p:sp>
      <p:sp>
        <p:nvSpPr>
          <p:cNvPr id="12" name="Bridge arrow 1"/>
          <p:cNvSpPr/>
          <p:nvPr/>
        </p:nvSpPr>
        <p:spPr>
          <a:xfrm>
            <a:off x="6830568" y="2971800"/>
            <a:ext cx="365760" cy="182880"/>
          </a:xfrm>
          <a:prstGeom prst="downArrow">
            <a:avLst/>
          </a:prstGeom>
          <a:solidFill>
            <a:srgbClr val="847C7A"/>
          </a:solidFill>
          <a:ln/>
        </p:spPr>
      </p:sp>
      <p:sp>
        <p:nvSpPr>
          <p:cNvPr id="13" name="Bridge step 2"/>
          <p:cNvSpPr txBox="1"/>
          <p:nvPr/>
        </p:nvSpPr>
        <p:spPr>
          <a:xfrm>
            <a:off x="5212080" y="3172968"/>
            <a:ext cx="3611880" cy="804672"/>
          </a:xfrm>
          <a:prstGeom prst="rect">
            <a:avLst/>
          </a:prstGeom>
          <a:solidFill>
            <a:srgbClr val="0A1C58"/>
          </a:solidFill>
          <a:ln/>
        </p:spPr>
        <p:txBody>
          <a:bodyPr wrap="square" lIns="76200" tIns="76200" rIns="76200" bIns="76200" rtlCol="0" anchor="ctr"/>
          <a:lstStyle/>
          <a:p>
            <a:pPr algn="ctr" indent="0" marL="0">
              <a:buNone/>
            </a:pPr>
            <a:r>
              <a:rPr lang="en-US" sz="1600" b="1" dirty="0">
                <a:solidFill>
                  <a:schemeClr val="bg1"/>
                </a:solidFill>
              </a:rPr>
              <a:t>2026–2029</a:t>
            </a:r>
            <a:endParaRPr lang="en-US" sz="1600" dirty="0"/>
          </a:p>
          <a:p>
            <a:pPr algn="ctr" indent="0" marL="0">
              <a:buNone/>
            </a:pPr>
            <a:r>
              <a:rPr lang="en-US" sz="1200" dirty="0">
                <a:solidFill>
                  <a:schemeClr val="bg1"/>
                </a:solidFill>
              </a:rPr>
              <a:t>FTAI's mobile turbines power the site</a:t>
            </a:r>
            <a:endParaRPr lang="en-US" sz="1600" dirty="0"/>
          </a:p>
        </p:txBody>
      </p:sp>
      <p:sp>
        <p:nvSpPr>
          <p:cNvPr id="14" name="Bridge arrow 2"/>
          <p:cNvSpPr/>
          <p:nvPr/>
        </p:nvSpPr>
        <p:spPr>
          <a:xfrm>
            <a:off x="6830568" y="3995928"/>
            <a:ext cx="365760" cy="182880"/>
          </a:xfrm>
          <a:prstGeom prst="downArrow">
            <a:avLst/>
          </a:prstGeom>
          <a:solidFill>
            <a:srgbClr val="847C7A"/>
          </a:solidFill>
          <a:ln/>
        </p:spPr>
      </p:sp>
      <p:sp>
        <p:nvSpPr>
          <p:cNvPr id="15" name="Bridge step 3"/>
          <p:cNvSpPr txBox="1"/>
          <p:nvPr/>
        </p:nvSpPr>
        <p:spPr>
          <a:xfrm>
            <a:off x="5212080" y="4197096"/>
            <a:ext cx="3611880" cy="804672"/>
          </a:xfrm>
          <a:prstGeom prst="rect">
            <a:avLst/>
          </a:prstGeom>
          <a:solidFill>
            <a:srgbClr val="DCD8D3"/>
          </a:solidFill>
          <a:ln/>
        </p:spPr>
        <p:txBody>
          <a:bodyPr wrap="square" lIns="76200" tIns="76200" rIns="76200" bIns="76200" rtlCol="0" anchor="ctr"/>
          <a:lstStyle/>
          <a:p>
            <a:pPr algn="ctr" indent="0" marL="0">
              <a:buNone/>
            </a:pPr>
            <a:r>
              <a:rPr lang="en-US" sz="1600" b="1" dirty="0">
                <a:solidFill>
                  <a:schemeClr val="tx2"/>
                </a:solidFill>
              </a:rPr>
              <a:t>2029+</a:t>
            </a:r>
            <a:endParaRPr lang="en-US" sz="1600" dirty="0"/>
          </a:p>
          <a:p>
            <a:pPr algn="ctr" indent="0" marL="0">
              <a:buNone/>
            </a:pPr>
            <a:r>
              <a:rPr lang="en-US" sz="1200" dirty="0">
                <a:solidFill>
                  <a:schemeClr val="tx2"/>
                </a:solidFill>
              </a:rPr>
              <a:t>Grid connections and new plants arrive</a:t>
            </a:r>
            <a:endParaRPr lang="en-US" sz="16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Data centers built today need power now. Transitory units like FTAI's fill the gap.</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(Power agreements tab: 45 hyperscaler deals, new/restart MW by full COD); company announcements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(3/4)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Power is a small slice of a data center's cost, and new turbines are sold out. FTAI has pricing power.</a:t>
            </a:r>
            <a:endParaRPr lang="en-US" sz="1700" dirty="0"/>
          </a:p>
        </p:txBody>
      </p:sp>
      <p:sp>
        <p:nvSpPr>
          <p:cNvPr id="4" name="Cost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Cost to Build 100 MW ($M)</a:t>
            </a:r>
            <a:endParaRPr lang="en-US" sz="1600" dirty="0"/>
          </a:p>
        </p:txBody>
      </p:sp>
      <p:sp>
        <p:nvSpPr>
          <p:cNvPr id="5" name="Cost header rule"/>
          <p:cNvSpPr/>
          <p:nvPr/>
        </p:nvSpPr>
        <p:spPr>
          <a:xfrm>
            <a:off x="320040" y="1975104"/>
            <a:ext cx="3931920" cy="0"/>
          </a:xfrm>
          <a:prstGeom prst="line">
            <a:avLst/>
          </a:prstGeom>
          <a:noFill/>
          <a:ln w="19050">
            <a:solidFill>
              <a:srgbClr val="2E93AE"/>
            </a:solidFill>
            <a:prstDash val="solid"/>
          </a:ln>
        </p:spPr>
      </p:sp>
      <p:sp>
        <p:nvSpPr>
          <p:cNvPr id="6" name="Build cost label 1"/>
          <p:cNvSpPr txBox="1"/>
          <p:nvPr/>
        </p:nvSpPr>
        <p:spPr>
          <a:xfrm>
            <a:off x="320040" y="224028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Data center facility</a:t>
            </a:r>
            <a:endParaRPr lang="en-US" sz="1200" dirty="0"/>
          </a:p>
        </p:txBody>
      </p:sp>
      <p:sp>
        <p:nvSpPr>
          <p:cNvPr id="7" name="Build cost bar 1"/>
          <p:cNvSpPr/>
          <p:nvPr/>
        </p:nvSpPr>
        <p:spPr>
          <a:xfrm>
            <a:off x="2240280" y="2240280"/>
            <a:ext cx="1371600" cy="548640"/>
          </a:xfrm>
          <a:prstGeom prst="rect">
            <a:avLst/>
          </a:prstGeom>
          <a:solidFill>
            <a:srgbClr val="2E93AE"/>
          </a:solidFill>
          <a:ln/>
        </p:spPr>
      </p:sp>
      <p:sp>
        <p:nvSpPr>
          <p:cNvPr id="8" name="Build cost value 1"/>
          <p:cNvSpPr txBox="1"/>
          <p:nvPr/>
        </p:nvSpPr>
        <p:spPr>
          <a:xfrm>
            <a:off x="3685032" y="224028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$1,200M</a:t>
            </a:r>
            <a:endParaRPr lang="en-US" sz="1300" dirty="0"/>
          </a:p>
        </p:txBody>
      </p:sp>
      <p:sp>
        <p:nvSpPr>
          <p:cNvPr id="9" name="Build cost label 2"/>
          <p:cNvSpPr txBox="1"/>
          <p:nvPr/>
        </p:nvSpPr>
        <p:spPr>
          <a:xfrm>
            <a:off x="320040" y="3017520"/>
            <a:ext cx="1828800" cy="548640"/>
          </a:xfrm>
          <a:prstGeom prst="rect">
            <a:avLst/>
          </a:prstGeom>
          <a:noFill/>
          <a:ln/>
        </p:spPr>
        <p:txBody>
          <a:bodyPr wrap="square" lIns="0" tIns="0" rIns="0" bIns="0" rtlCol="0" anchor="ctr"/>
          <a:lstStyle/>
          <a:p>
            <a:pPr algn="r" indent="0" marL="0">
              <a:buNone/>
            </a:pPr>
            <a:r>
              <a:rPr lang="en-US" sz="1200" dirty="0">
                <a:solidFill>
                  <a:srgbClr val="1A1A1A"/>
                </a:solidFill>
              </a:rPr>
              <a:t>FTAI turbines (6 units)</a:t>
            </a:r>
            <a:endParaRPr lang="en-US" sz="1200" dirty="0"/>
          </a:p>
        </p:txBody>
      </p:sp>
      <p:sp>
        <p:nvSpPr>
          <p:cNvPr id="10" name="Build cost bar 2"/>
          <p:cNvSpPr/>
          <p:nvPr/>
        </p:nvSpPr>
        <p:spPr>
          <a:xfrm>
            <a:off x="2240280" y="3017520"/>
            <a:ext cx="171450" cy="548640"/>
          </a:xfrm>
          <a:prstGeom prst="rect">
            <a:avLst/>
          </a:prstGeom>
          <a:solidFill>
            <a:srgbClr val="0A1C58"/>
          </a:solidFill>
          <a:ln/>
        </p:spPr>
      </p:sp>
      <p:sp>
        <p:nvSpPr>
          <p:cNvPr id="11" name="Build cost value 2"/>
          <p:cNvSpPr txBox="1"/>
          <p:nvPr/>
        </p:nvSpPr>
        <p:spPr>
          <a:xfrm>
            <a:off x="2484882" y="3017520"/>
            <a:ext cx="822960" cy="548640"/>
          </a:xfrm>
          <a:prstGeom prst="rect">
            <a:avLst/>
          </a:prstGeom>
          <a:noFill/>
          <a:ln/>
        </p:spPr>
        <p:txBody>
          <a:bodyPr wrap="square" lIns="0" tIns="0" rIns="0" bIns="0" rtlCol="0" anchor="ctr"/>
          <a:lstStyle/>
          <a:p>
            <a:pPr algn="l" indent="0" marL="0">
              <a:buNone/>
            </a:pPr>
            <a:r>
              <a:rPr lang="en-US" sz="1300" b="1" dirty="0">
                <a:solidFill>
                  <a:schemeClr val="tx2"/>
                </a:solidFill>
              </a:rPr>
              <a:t>$150M</a:t>
            </a:r>
            <a:endParaRPr lang="en-US" sz="1300" dirty="0"/>
          </a:p>
        </p:txBody>
      </p:sp>
      <p:sp>
        <p:nvSpPr>
          <p:cNvPr id="12" name="Cost takeaway"/>
          <p:cNvSpPr txBox="1"/>
          <p:nvPr/>
        </p:nvSpPr>
        <p:spPr>
          <a:xfrm>
            <a:off x="320040" y="3931920"/>
            <a:ext cx="3931920" cy="1325880"/>
          </a:xfrm>
          <a:prstGeom prst="rect">
            <a:avLst/>
          </a:prstGeom>
          <a:solidFill>
            <a:srgbClr val="EFEDEA"/>
          </a:solidFill>
          <a:ln/>
        </p:spPr>
        <p:txBody>
          <a:bodyPr wrap="square" lIns="127000" tIns="127000" rIns="127000" bIns="127000" rtlCol="0" anchor="ctr"/>
          <a:lstStyle/>
          <a:p>
            <a:pPr algn="ctr" indent="0" marL="0">
              <a:buNone/>
            </a:pPr>
            <a:r>
              <a:rPr lang="en-US" sz="2600" b="1" dirty="0">
                <a:solidFill>
                  <a:schemeClr val="tx2"/>
                </a:solidFill>
              </a:rPr>
              <a:t>~13%</a:t>
            </a:r>
            <a:endParaRPr lang="en-US" sz="2600" dirty="0"/>
          </a:p>
          <a:p>
            <a:pPr algn="ctr" indent="0" marL="0">
              <a:buNone/>
            </a:pPr>
            <a:r>
              <a:rPr lang="en-US" sz="1200" dirty="0">
                <a:solidFill>
                  <a:srgbClr val="1A1A1A"/>
                </a:solidFill>
              </a:rPr>
              <a:t>of the build cost, with 50% spare units for reliability, before counting the GPUs inside.</a:t>
            </a:r>
            <a:endParaRPr lang="en-US" sz="2600" dirty="0"/>
          </a:p>
        </p:txBody>
      </p:sp>
      <p:sp>
        <p:nvSpPr>
          <p:cNvPr id="13" name="Lead time header"/>
          <p:cNvSpPr txBox="1"/>
          <p:nvPr/>
        </p:nvSpPr>
        <p:spPr>
          <a:xfrm>
            <a:off x="4572000" y="1554480"/>
            <a:ext cx="4251960" cy="365760"/>
          </a:xfrm>
          <a:prstGeom prst="rect">
            <a:avLst/>
          </a:prstGeom>
          <a:noFill/>
          <a:ln/>
        </p:spPr>
        <p:txBody>
          <a:bodyPr wrap="square" lIns="0" tIns="0" rIns="0" bIns="0" rtlCol="0" anchor="b"/>
          <a:lstStyle/>
          <a:p>
            <a:pPr algn="ctr" indent="0" marL="0">
              <a:buNone/>
            </a:pPr>
            <a:r>
              <a:rPr lang="en-US" sz="1600" b="1" dirty="0">
                <a:solidFill>
                  <a:srgbClr val="1A1A1A"/>
                </a:solidFill>
              </a:rPr>
              <a:t>When New Turbines Can Arrive</a:t>
            </a:r>
            <a:endParaRPr lang="en-US" sz="1600" dirty="0"/>
          </a:p>
        </p:txBody>
      </p:sp>
      <p:sp>
        <p:nvSpPr>
          <p:cNvPr id="14" name="Lead time header rule"/>
          <p:cNvSpPr/>
          <p:nvPr/>
        </p:nvSpPr>
        <p:spPr>
          <a:xfrm>
            <a:off x="4572000" y="1975104"/>
            <a:ext cx="4251960" cy="0"/>
          </a:xfrm>
          <a:prstGeom prst="line">
            <a:avLst/>
          </a:prstGeom>
          <a:noFill/>
          <a:ln w="19050">
            <a:solidFill>
              <a:srgbClr val="2E93AE"/>
            </a:solidFill>
            <a:prstDash val="solid"/>
          </a:ln>
        </p:spPr>
      </p:sp>
      <p:sp>
        <p:nvSpPr>
          <p:cNvPr id="15" name="Year grid 2026"/>
          <p:cNvSpPr/>
          <p:nvPr/>
        </p:nvSpPr>
        <p:spPr>
          <a:xfrm>
            <a:off x="6172200" y="2103120"/>
            <a:ext cx="0" cy="2514600"/>
          </a:xfrm>
          <a:prstGeom prst="line">
            <a:avLst/>
          </a:prstGeom>
          <a:noFill/>
          <a:ln w="9525">
            <a:solidFill>
              <a:srgbClr val="E3E0DC"/>
            </a:solidFill>
            <a:prstDash val="solid"/>
          </a:ln>
        </p:spPr>
      </p:sp>
      <p:sp>
        <p:nvSpPr>
          <p:cNvPr id="16" name="Year tick 2026"/>
          <p:cNvSpPr txBox="1"/>
          <p:nvPr/>
        </p:nvSpPr>
        <p:spPr>
          <a:xfrm>
            <a:off x="5897880"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2026</a:t>
            </a:r>
            <a:endParaRPr lang="en-US" sz="1000" dirty="0"/>
          </a:p>
        </p:txBody>
      </p:sp>
      <p:sp>
        <p:nvSpPr>
          <p:cNvPr id="17" name="Year grid 2028"/>
          <p:cNvSpPr/>
          <p:nvPr/>
        </p:nvSpPr>
        <p:spPr>
          <a:xfrm>
            <a:off x="7214616" y="2103120"/>
            <a:ext cx="0" cy="2514600"/>
          </a:xfrm>
          <a:prstGeom prst="line">
            <a:avLst/>
          </a:prstGeom>
          <a:noFill/>
          <a:ln w="9525">
            <a:solidFill>
              <a:srgbClr val="E3E0DC"/>
            </a:solidFill>
            <a:prstDash val="solid"/>
          </a:ln>
        </p:spPr>
      </p:sp>
      <p:sp>
        <p:nvSpPr>
          <p:cNvPr id="18" name="Year tick 2028"/>
          <p:cNvSpPr txBox="1"/>
          <p:nvPr/>
        </p:nvSpPr>
        <p:spPr>
          <a:xfrm>
            <a:off x="6940296"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2028</a:t>
            </a:r>
            <a:endParaRPr lang="en-US" sz="1000" dirty="0"/>
          </a:p>
        </p:txBody>
      </p:sp>
      <p:sp>
        <p:nvSpPr>
          <p:cNvPr id="19" name="Year grid 2030"/>
          <p:cNvSpPr/>
          <p:nvPr/>
        </p:nvSpPr>
        <p:spPr>
          <a:xfrm>
            <a:off x="8257032" y="2103120"/>
            <a:ext cx="0" cy="2514600"/>
          </a:xfrm>
          <a:prstGeom prst="line">
            <a:avLst/>
          </a:prstGeom>
          <a:noFill/>
          <a:ln w="9525">
            <a:solidFill>
              <a:srgbClr val="E3E0DC"/>
            </a:solidFill>
            <a:prstDash val="solid"/>
          </a:ln>
        </p:spPr>
      </p:sp>
      <p:sp>
        <p:nvSpPr>
          <p:cNvPr id="20" name="Year tick 2030"/>
          <p:cNvSpPr txBox="1"/>
          <p:nvPr/>
        </p:nvSpPr>
        <p:spPr>
          <a:xfrm>
            <a:off x="7982712" y="4617720"/>
            <a:ext cx="548640" cy="228600"/>
          </a:xfrm>
          <a:prstGeom prst="rect">
            <a:avLst/>
          </a:prstGeom>
          <a:noFill/>
          <a:ln/>
        </p:spPr>
        <p:txBody>
          <a:bodyPr wrap="square" lIns="0" tIns="0" rIns="0" bIns="0" rtlCol="0" anchor="ctr"/>
          <a:lstStyle/>
          <a:p>
            <a:pPr algn="ctr" indent="0" marL="0">
              <a:buNone/>
            </a:pPr>
            <a:r>
              <a:rPr lang="en-US" sz="1000" dirty="0">
                <a:solidFill>
                  <a:schemeClr val="accent2"/>
                </a:solidFill>
              </a:rPr>
              <a:t>2030</a:t>
            </a:r>
            <a:endParaRPr lang="en-US" sz="1000" dirty="0"/>
          </a:p>
        </p:txBody>
      </p:sp>
      <p:sp>
        <p:nvSpPr>
          <p:cNvPr id="21" name="Lane 1 label"/>
          <p:cNvSpPr txBox="1"/>
          <p:nvPr/>
        </p:nvSpPr>
        <p:spPr>
          <a:xfrm>
            <a:off x="4572000" y="2286000"/>
            <a:ext cx="1508760" cy="502920"/>
          </a:xfrm>
          <a:prstGeom prst="rect">
            <a:avLst/>
          </a:prstGeom>
          <a:noFill/>
          <a:ln/>
        </p:spPr>
        <p:txBody>
          <a:bodyPr wrap="square" lIns="0" tIns="0" rIns="0" bIns="0" rtlCol="0" anchor="ctr"/>
          <a:lstStyle/>
          <a:p>
            <a:pPr algn="r" indent="0" marL="0">
              <a:buNone/>
            </a:pPr>
            <a:r>
              <a:rPr lang="en-US" sz="1200" b="1" dirty="0">
                <a:solidFill>
                  <a:schemeClr val="tx2"/>
                </a:solidFill>
              </a:rPr>
              <a:t>FTAI Mod-1</a:t>
            </a:r>
            <a:endParaRPr lang="en-US" sz="1200" dirty="0"/>
          </a:p>
        </p:txBody>
      </p:sp>
      <p:sp>
        <p:nvSpPr>
          <p:cNvPr id="22" name="Lane 1 bar"/>
          <p:cNvSpPr/>
          <p:nvPr/>
        </p:nvSpPr>
        <p:spPr>
          <a:xfrm>
            <a:off x="6589166" y="2359152"/>
            <a:ext cx="625450" cy="365760"/>
          </a:xfrm>
          <a:prstGeom prst="roundRect">
            <a:avLst>
              <a:gd name="adj" fmla="val 20000"/>
            </a:avLst>
          </a:prstGeom>
          <a:solidFill>
            <a:srgbClr val="0A1C58"/>
          </a:solidFill>
          <a:ln/>
        </p:spPr>
      </p:sp>
      <p:sp>
        <p:nvSpPr>
          <p:cNvPr id="23" name="Lane 2 label"/>
          <p:cNvSpPr txBox="1"/>
          <p:nvPr/>
        </p:nvSpPr>
        <p:spPr>
          <a:xfrm>
            <a:off x="4572000" y="306324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aero orders</a:t>
            </a:r>
            <a:endParaRPr lang="en-US" sz="1200" dirty="0"/>
          </a:p>
        </p:txBody>
      </p:sp>
      <p:sp>
        <p:nvSpPr>
          <p:cNvPr id="24" name="Lane 2 bar"/>
          <p:cNvSpPr/>
          <p:nvPr/>
        </p:nvSpPr>
        <p:spPr>
          <a:xfrm>
            <a:off x="7214616" y="3136392"/>
            <a:ext cx="1511503" cy="365760"/>
          </a:xfrm>
          <a:prstGeom prst="roundRect">
            <a:avLst>
              <a:gd name="adj" fmla="val 20000"/>
            </a:avLst>
          </a:prstGeom>
          <a:solidFill>
            <a:srgbClr val="2E93AE"/>
          </a:solidFill>
          <a:ln/>
        </p:spPr>
      </p:sp>
      <p:sp>
        <p:nvSpPr>
          <p:cNvPr id="25" name="Lane 3 label"/>
          <p:cNvSpPr txBox="1"/>
          <p:nvPr/>
        </p:nvSpPr>
        <p:spPr>
          <a:xfrm>
            <a:off x="4572000" y="3840480"/>
            <a:ext cx="1508760" cy="502920"/>
          </a:xfrm>
          <a:prstGeom prst="rect">
            <a:avLst/>
          </a:prstGeom>
          <a:noFill/>
          <a:ln/>
        </p:spPr>
        <p:txBody>
          <a:bodyPr wrap="square" lIns="0" tIns="0" rIns="0" bIns="0" rtlCol="0" anchor="ctr"/>
          <a:lstStyle/>
          <a:p>
            <a:pPr algn="r" indent="0" marL="0">
              <a:buNone/>
            </a:pPr>
            <a:r>
              <a:rPr lang="en-US" sz="1200" dirty="0">
                <a:solidFill>
                  <a:srgbClr val="1A1A1A"/>
                </a:solidFill>
              </a:rPr>
              <a:t>New large turbines</a:t>
            </a:r>
            <a:endParaRPr lang="en-US" sz="1200" dirty="0"/>
          </a:p>
        </p:txBody>
      </p:sp>
      <p:sp>
        <p:nvSpPr>
          <p:cNvPr id="26" name="Lane 3 bar"/>
          <p:cNvSpPr/>
          <p:nvPr/>
        </p:nvSpPr>
        <p:spPr>
          <a:xfrm>
            <a:off x="7735824" y="3913632"/>
            <a:ext cx="1042416" cy="365760"/>
          </a:xfrm>
          <a:prstGeom prst="roundRect">
            <a:avLst>
              <a:gd name="adj" fmla="val 20000"/>
            </a:avLst>
          </a:prstGeom>
          <a:solidFill>
            <a:srgbClr val="2E93AE"/>
          </a:solidFill>
          <a:ln/>
        </p:spPr>
      </p:sp>
      <p:sp>
        <p:nvSpPr>
          <p:cNvPr id="27" name="Lead time caption"/>
          <p:cNvSpPr txBox="1"/>
          <p:nvPr/>
        </p:nvSpPr>
        <p:spPr>
          <a:xfrm>
            <a:off x="4572000" y="4937760"/>
            <a:ext cx="4251960" cy="274320"/>
          </a:xfrm>
          <a:prstGeom prst="rect">
            <a:avLst/>
          </a:prstGeom>
          <a:noFill/>
          <a:ln/>
        </p:spPr>
        <p:txBody>
          <a:bodyPr wrap="square" lIns="0" tIns="0" rIns="0" bIns="0" rtlCol="0" anchor="ctr"/>
          <a:lstStyle/>
          <a:p>
            <a:pPr algn="ctr" indent="0" marL="0">
              <a:buNone/>
            </a:pPr>
            <a:r>
              <a:rPr lang="en-US" sz="1000" i="1" dirty="0">
                <a:solidFill>
                  <a:schemeClr val="accent2"/>
                </a:solidFill>
              </a:rPr>
              <a:t>Delivery windows; large-turbine order books full to 2029</a:t>
            </a:r>
            <a:endParaRPr lang="en-US" sz="1000" dirty="0"/>
          </a:p>
        </p:txBody>
      </p:sp>
      <p:sp>
        <p:nvSpPr>
          <p:cNvPr id="2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Idle data centers cost far more than power. FTAI delivers years before the competition.</a:t>
            </a:r>
            <a:endParaRPr lang="en-US" sz="1700" dirty="0"/>
          </a:p>
        </p:txBody>
      </p:sp>
      <p:sp>
        <p:nvSpPr>
          <p:cNvPr id="2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($12M/MW facility; ~$1M/MW, 25 MW units, 50% redundancy); CNBC (Jun-26); Tom's Hardware (Oct-25); FTAI calls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Thesis 2: Power (4/4)</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Each new contract the size of FTAI's first adds ~20 points to your return.</a:t>
            </a:r>
            <a:endParaRPr lang="en-US" sz="1700" dirty="0"/>
          </a:p>
        </p:txBody>
      </p:sp>
      <p:sp>
        <p:nvSpPr>
          <p:cNvPr id="4" name="Scenario header"/>
          <p:cNvSpPr txBox="1"/>
          <p:nvPr/>
        </p:nvSpPr>
        <p:spPr>
          <a:xfrm>
            <a:off x="320040" y="1554480"/>
            <a:ext cx="3429000" cy="365760"/>
          </a:xfrm>
          <a:prstGeom prst="rect">
            <a:avLst/>
          </a:prstGeom>
          <a:noFill/>
          <a:ln/>
        </p:spPr>
        <p:txBody>
          <a:bodyPr wrap="square" lIns="0" tIns="0" rIns="0" bIns="0" rtlCol="0" anchor="b"/>
          <a:lstStyle/>
          <a:p>
            <a:pPr algn="ctr" indent="0" marL="0">
              <a:buNone/>
            </a:pPr>
            <a:r>
              <a:rPr lang="en-US" sz="1600" b="1" dirty="0">
                <a:solidFill>
                  <a:srgbClr val="1A1A1A"/>
                </a:solidFill>
              </a:rPr>
              <a:t>Scenario Build (FY27E)</a:t>
            </a:r>
            <a:endParaRPr lang="en-US" sz="1600" dirty="0"/>
          </a:p>
        </p:txBody>
      </p:sp>
      <p:sp>
        <p:nvSpPr>
          <p:cNvPr id="5" name="Scenario header rule"/>
          <p:cNvSpPr/>
          <p:nvPr/>
        </p:nvSpPr>
        <p:spPr>
          <a:xfrm>
            <a:off x="320040" y="1975104"/>
            <a:ext cx="3429000" cy="0"/>
          </a:xfrm>
          <a:prstGeom prst="line">
            <a:avLst/>
          </a:prstGeom>
          <a:noFill/>
          <a:ln w="19050">
            <a:solidFill>
              <a:srgbClr val="2E93AE"/>
            </a:solidFill>
            <a:prstDash val="solid"/>
          </a:ln>
        </p:spPr>
      </p:sp>
      <p:sp>
        <p:nvSpPr>
          <p:cNvPr id="6" name="Units col"/>
          <p:cNvSpPr txBox="1"/>
          <p:nvPr/>
        </p:nvSpPr>
        <p:spPr>
          <a:xfrm>
            <a:off x="1691640" y="2029968"/>
            <a:ext cx="914400" cy="228600"/>
          </a:xfrm>
          <a:prstGeom prst="rect">
            <a:avLst/>
          </a:prstGeom>
          <a:noFill/>
          <a:ln/>
        </p:spPr>
        <p:txBody>
          <a:bodyPr wrap="square" lIns="0" tIns="0" rIns="0" bIns="0" rtlCol="0" anchor="ctr"/>
          <a:lstStyle/>
          <a:p>
            <a:pPr algn="ctr" indent="0" marL="0">
              <a:buNone/>
            </a:pPr>
            <a:r>
              <a:rPr lang="en-US" sz="1100" i="1" dirty="0">
                <a:solidFill>
                  <a:schemeClr val="accent2"/>
                </a:solidFill>
              </a:rPr>
              <a:t>Units</a:t>
            </a:r>
            <a:endParaRPr lang="en-US" sz="1100" dirty="0"/>
          </a:p>
        </p:txBody>
      </p:sp>
      <p:sp>
        <p:nvSpPr>
          <p:cNvPr id="7" name="EBITDA col"/>
          <p:cNvSpPr txBox="1"/>
          <p:nvPr/>
        </p:nvSpPr>
        <p:spPr>
          <a:xfrm>
            <a:off x="2697480" y="2029968"/>
            <a:ext cx="1051560" cy="228600"/>
          </a:xfrm>
          <a:prstGeom prst="rect">
            <a:avLst/>
          </a:prstGeom>
          <a:noFill/>
          <a:ln/>
        </p:spPr>
        <p:txBody>
          <a:bodyPr wrap="square" lIns="0" tIns="0" rIns="0" bIns="0" rtlCol="0" anchor="ctr"/>
          <a:lstStyle/>
          <a:p>
            <a:pPr algn="ctr" indent="0" marL="0">
              <a:buNone/>
            </a:pPr>
            <a:r>
              <a:rPr lang="en-US" sz="1100" i="1" dirty="0">
                <a:solidFill>
                  <a:schemeClr val="accent2"/>
                </a:solidFill>
              </a:rPr>
              <a:t>EBITDA</a:t>
            </a:r>
            <a:endParaRPr lang="en-US" sz="1100" dirty="0"/>
          </a:p>
        </p:txBody>
      </p:sp>
      <p:sp>
        <p:nvSpPr>
          <p:cNvPr id="8" name="Scenario 1 name"/>
          <p:cNvSpPr txBox="1"/>
          <p:nvPr/>
        </p:nvSpPr>
        <p:spPr>
          <a:xfrm>
            <a:off x="320040" y="2304288"/>
            <a:ext cx="1325880" cy="713232"/>
          </a:xfrm>
          <a:prstGeom prst="rect">
            <a:avLst/>
          </a:prstGeom>
          <a:solidFill>
            <a:srgbClr val="DCD8D3"/>
          </a:solidFill>
          <a:ln/>
        </p:spPr>
        <p:txBody>
          <a:bodyPr wrap="square" lIns="25400" tIns="25400" rIns="25400" bIns="25400" rtlCol="0" anchor="ctr"/>
          <a:lstStyle/>
          <a:p>
            <a:pPr algn="ctr" indent="0" marL="0">
              <a:buNone/>
            </a:pPr>
            <a:r>
              <a:rPr lang="en-US" sz="1400" b="1" dirty="0">
                <a:solidFill>
                  <a:schemeClr val="tx2"/>
                </a:solidFill>
              </a:rPr>
              <a:t>Signed order</a:t>
            </a:r>
            <a:endParaRPr lang="en-US" sz="1400" dirty="0"/>
          </a:p>
        </p:txBody>
      </p:sp>
      <p:sp>
        <p:nvSpPr>
          <p:cNvPr id="9" name="Scenario 1 units"/>
          <p:cNvSpPr txBox="1"/>
          <p:nvPr/>
        </p:nvSpPr>
        <p:spPr>
          <a:xfrm>
            <a:off x="1691640" y="230428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~50</a:t>
            </a:r>
            <a:endParaRPr lang="en-US" sz="1400" dirty="0"/>
          </a:p>
        </p:txBody>
      </p:sp>
      <p:sp>
        <p:nvSpPr>
          <p:cNvPr id="10" name="Scenario 1 EBITDA"/>
          <p:cNvSpPr txBox="1"/>
          <p:nvPr/>
        </p:nvSpPr>
        <p:spPr>
          <a:xfrm>
            <a:off x="2697480" y="230428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$450M</a:t>
            </a:r>
            <a:endParaRPr lang="en-US" sz="1600" dirty="0"/>
          </a:p>
        </p:txBody>
      </p:sp>
      <p:sp>
        <p:nvSpPr>
          <p:cNvPr id="11" name="Scenario 2 name"/>
          <p:cNvSpPr txBox="1"/>
          <p:nvPr/>
        </p:nvSpPr>
        <p:spPr>
          <a:xfrm>
            <a:off x="320040" y="3172968"/>
            <a:ext cx="1325880" cy="713232"/>
          </a:xfrm>
          <a:prstGeom prst="rect">
            <a:avLst/>
          </a:prstGeom>
          <a:solidFill>
            <a:srgbClr val="2E93AE"/>
          </a:solidFill>
          <a:ln/>
        </p:spPr>
        <p:txBody>
          <a:bodyPr wrap="square" lIns="25400" tIns="25400" rIns="25400" bIns="25400" rtlCol="0" anchor="ctr"/>
          <a:lstStyle/>
          <a:p>
            <a:pPr algn="ctr" indent="0" marL="0">
              <a:buNone/>
            </a:pPr>
            <a:r>
              <a:rPr lang="en-US" sz="1400" b="1" dirty="0">
                <a:solidFill>
                  <a:schemeClr val="bg1"/>
                </a:solidFill>
              </a:rPr>
              <a:t>+1 contract</a:t>
            </a:r>
            <a:endParaRPr lang="en-US" sz="1400" dirty="0"/>
          </a:p>
        </p:txBody>
      </p:sp>
      <p:sp>
        <p:nvSpPr>
          <p:cNvPr id="12" name="Scenario 2 units"/>
          <p:cNvSpPr txBox="1"/>
          <p:nvPr/>
        </p:nvSpPr>
        <p:spPr>
          <a:xfrm>
            <a:off x="1691640" y="317296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~90</a:t>
            </a:r>
            <a:endParaRPr lang="en-US" sz="1400" dirty="0"/>
          </a:p>
        </p:txBody>
      </p:sp>
      <p:sp>
        <p:nvSpPr>
          <p:cNvPr id="13" name="Scenario 2 EBITDA"/>
          <p:cNvSpPr txBox="1"/>
          <p:nvPr/>
        </p:nvSpPr>
        <p:spPr>
          <a:xfrm>
            <a:off x="2697480" y="317296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$750M</a:t>
            </a:r>
            <a:endParaRPr lang="en-US" sz="1600" dirty="0"/>
          </a:p>
        </p:txBody>
      </p:sp>
      <p:sp>
        <p:nvSpPr>
          <p:cNvPr id="14" name="Scenario 3 name"/>
          <p:cNvSpPr txBox="1"/>
          <p:nvPr/>
        </p:nvSpPr>
        <p:spPr>
          <a:xfrm>
            <a:off x="320040" y="4041648"/>
            <a:ext cx="1325880" cy="713232"/>
          </a:xfrm>
          <a:prstGeom prst="rect">
            <a:avLst/>
          </a:prstGeom>
          <a:solidFill>
            <a:srgbClr val="0A1C58"/>
          </a:solidFill>
          <a:ln/>
        </p:spPr>
        <p:txBody>
          <a:bodyPr wrap="square" lIns="25400" tIns="25400" rIns="25400" bIns="25400" rtlCol="0" anchor="ctr"/>
          <a:lstStyle/>
          <a:p>
            <a:pPr algn="ctr" indent="0" marL="0">
              <a:buNone/>
            </a:pPr>
            <a:r>
              <a:rPr lang="en-US" sz="1400" b="1" dirty="0">
                <a:solidFill>
                  <a:schemeClr val="bg1"/>
                </a:solidFill>
              </a:rPr>
              <a:t>+2 contracts</a:t>
            </a:r>
            <a:endParaRPr lang="en-US" sz="1400" dirty="0"/>
          </a:p>
        </p:txBody>
      </p:sp>
      <p:sp>
        <p:nvSpPr>
          <p:cNvPr id="15" name="Scenario 3 units"/>
          <p:cNvSpPr txBox="1"/>
          <p:nvPr/>
        </p:nvSpPr>
        <p:spPr>
          <a:xfrm>
            <a:off x="1691640" y="4041648"/>
            <a:ext cx="914400" cy="713232"/>
          </a:xfrm>
          <a:prstGeom prst="rect">
            <a:avLst/>
          </a:prstGeom>
          <a:noFill/>
          <a:ln/>
        </p:spPr>
        <p:txBody>
          <a:bodyPr wrap="square" lIns="0" tIns="0" rIns="0" bIns="0" rtlCol="0" anchor="ctr"/>
          <a:lstStyle/>
          <a:p>
            <a:pPr algn="ctr" indent="0" marL="0">
              <a:buNone/>
            </a:pPr>
            <a:r>
              <a:rPr lang="en-US" sz="1400" b="1" dirty="0">
                <a:solidFill>
                  <a:schemeClr val="tx2"/>
                </a:solidFill>
              </a:rPr>
              <a:t>~130</a:t>
            </a:r>
            <a:endParaRPr lang="en-US" sz="1400" dirty="0"/>
          </a:p>
        </p:txBody>
      </p:sp>
      <p:sp>
        <p:nvSpPr>
          <p:cNvPr id="16" name="Scenario 3 EBITDA"/>
          <p:cNvSpPr txBox="1"/>
          <p:nvPr/>
        </p:nvSpPr>
        <p:spPr>
          <a:xfrm>
            <a:off x="2697480" y="4041648"/>
            <a:ext cx="1051560" cy="713232"/>
          </a:xfrm>
          <a:prstGeom prst="rect">
            <a:avLst/>
          </a:prstGeom>
          <a:noFill/>
          <a:ln/>
        </p:spPr>
        <p:txBody>
          <a:bodyPr wrap="square" lIns="0" tIns="0" rIns="0" bIns="0" rtlCol="0" anchor="ctr"/>
          <a:lstStyle/>
          <a:p>
            <a:pPr algn="ctr" indent="0" marL="0">
              <a:buNone/>
            </a:pPr>
            <a:r>
              <a:rPr lang="en-US" sz="1600" b="1" dirty="0">
                <a:solidFill>
                  <a:schemeClr val="tx2"/>
                </a:solidFill>
              </a:rPr>
              <a:t>$1,050M</a:t>
            </a:r>
            <a:endParaRPr lang="en-US" sz="1600" dirty="0"/>
          </a:p>
        </p:txBody>
      </p:sp>
      <p:sp>
        <p:nvSpPr>
          <p:cNvPr id="17" name="Scenario caption"/>
          <p:cNvSpPr txBox="1"/>
          <p:nvPr/>
        </p:nvSpPr>
        <p:spPr>
          <a:xfrm>
            <a:off x="320040" y="4937760"/>
            <a:ext cx="3429000" cy="365760"/>
          </a:xfrm>
          <a:prstGeom prst="rect">
            <a:avLst/>
          </a:prstGeom>
          <a:noFill/>
          <a:ln/>
        </p:spPr>
        <p:txBody>
          <a:bodyPr wrap="square" lIns="0" tIns="0" rIns="0" bIns="0" rtlCol="0" anchor="ctr"/>
          <a:lstStyle/>
          <a:p>
            <a:pPr algn="ctr" indent="0" marL="0">
              <a:buNone/>
            </a:pPr>
            <a:r>
              <a:rPr lang="en-US" sz="1100" i="1" dirty="0">
                <a:solidFill>
                  <a:schemeClr val="accent2"/>
                </a:solidFill>
              </a:rPr>
              <a:t>Each new ~$1B order ≈ 40 more units and ~$300M of EBITDA</a:t>
            </a:r>
            <a:endParaRPr lang="en-US" sz="1100" dirty="0"/>
          </a:p>
        </p:txBody>
      </p:sp>
      <p:sp>
        <p:nvSpPr>
          <p:cNvPr id="18" name="Return header"/>
          <p:cNvSpPr txBox="1"/>
          <p:nvPr/>
        </p:nvSpPr>
        <p:spPr>
          <a:xfrm>
            <a:off x="4069080" y="1554480"/>
            <a:ext cx="4754880" cy="365760"/>
          </a:xfrm>
          <a:prstGeom prst="rect">
            <a:avLst/>
          </a:prstGeom>
          <a:noFill/>
          <a:ln/>
        </p:spPr>
        <p:txBody>
          <a:bodyPr wrap="square" lIns="0" tIns="0" rIns="0" bIns="0" rtlCol="0" anchor="b"/>
          <a:lstStyle/>
          <a:p>
            <a:pPr algn="ctr" indent="0" marL="0">
              <a:buNone/>
            </a:pPr>
            <a:r>
              <a:rPr lang="en-US" sz="1600" b="1" dirty="0">
                <a:solidFill>
                  <a:srgbClr val="1A1A1A"/>
                </a:solidFill>
              </a:rPr>
              <a:t>Your Return</a:t>
            </a:r>
            <a:endParaRPr lang="en-US" sz="1600" dirty="0"/>
          </a:p>
        </p:txBody>
      </p:sp>
      <p:sp>
        <p:nvSpPr>
          <p:cNvPr id="19" name="Return header rule"/>
          <p:cNvSpPr/>
          <p:nvPr/>
        </p:nvSpPr>
        <p:spPr>
          <a:xfrm>
            <a:off x="4069080" y="1975104"/>
            <a:ext cx="4754880" cy="0"/>
          </a:xfrm>
          <a:prstGeom prst="line">
            <a:avLst/>
          </a:prstGeom>
          <a:noFill/>
          <a:ln w="19050">
            <a:solidFill>
              <a:srgbClr val="2E93AE"/>
            </a:solidFill>
            <a:prstDash val="solid"/>
          </a:ln>
        </p:spPr>
      </p:sp>
      <p:graphicFrame>
        <p:nvGraphicFramePr>
          <p:cNvPr id="20" name="Contract return chart" descr=""/>
          <p:cNvGraphicFramePr/>
          <p:nvPr/>
        </p:nvGraphicFramePr>
        <p:xfrm>
          <a:off x="4069080" y="2103120"/>
          <a:ext cx="4754880" cy="2880360"/>
        </p:xfrm>
        <a:graphic xmlns:a="http://schemas.openxmlformats.org/drawingml/2006/main">
          <a:graphicData uri="http://schemas.openxmlformats.org/drawingml/2006/chart">
            <c:chart xmlns:c="http://schemas.openxmlformats.org/drawingml/2006/chart" r:id="rId1"/>
          </a:graphicData>
        </a:graphic>
      </p:graphicFrame>
      <p:sp>
        <p:nvSpPr>
          <p:cNvPr id="21" name="Return caption"/>
          <p:cNvSpPr txBox="1"/>
          <p:nvPr/>
        </p:nvSpPr>
        <p:spPr>
          <a:xfrm>
            <a:off x="4069080" y="4983480"/>
            <a:ext cx="4754880" cy="274320"/>
          </a:xfrm>
          <a:prstGeom prst="rect">
            <a:avLst/>
          </a:prstGeom>
          <a:noFill/>
          <a:ln/>
        </p:spPr>
        <p:txBody>
          <a:bodyPr wrap="square" lIns="0" tIns="0" rIns="0" bIns="0" rtlCol="0" anchor="ctr"/>
          <a:lstStyle/>
          <a:p>
            <a:pPr algn="ctr" indent="0" marL="0">
              <a:buNone/>
            </a:pPr>
            <a:r>
              <a:rPr lang="en-US" sz="1000" i="1" dirty="0">
                <a:solidFill>
                  <a:schemeClr val="accent2"/>
                </a:solidFill>
              </a:rPr>
              <a:t>Base case = signed order only; returns on the FY27E SOTP vs. $167 today</a:t>
            </a:r>
            <a:endParaRPr lang="en-US" sz="1000" dirty="0"/>
          </a:p>
        </p:txBody>
      </p:sp>
      <p:sp>
        <p:nvSpPr>
          <p:cNvPr id="2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Our base case needs no new contracts. Every one FTAI signs is upside the market isn't paying for.</a:t>
            </a:r>
            <a:endParaRPr lang="en-US" sz="1700" dirty="0"/>
          </a:p>
        </p:txBody>
      </p:sp>
      <p:sp>
        <p:nvSpPr>
          <p:cNvPr id="2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($450–750M FY27 guide; 'materially fewer than 100 units'); GPS estimates; GPS model (SOTP, Power at 12x)</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What You Need to Believe</a:t>
            </a:r>
            <a:endParaRPr lang="en-US" sz="3000" dirty="0"/>
          </a:p>
        </p:txBody>
      </p:sp>
      <p:sp>
        <p:nvSpPr>
          <p:cNvPr id="3" name="Belief 1 number"/>
          <p:cNvSpPr/>
          <p:nvPr/>
        </p:nvSpPr>
        <p:spPr>
          <a:xfrm>
            <a:off x="1051560" y="1170432"/>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4" name="Belief 1"/>
          <p:cNvSpPr txBox="1"/>
          <p:nvPr/>
        </p:nvSpPr>
        <p:spPr>
          <a:xfrm>
            <a:off x="1691640" y="1097280"/>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Margins: ~30% is the floor, and PMA parts, OEM-linked pricing and returning light work rebuild them.</a:t>
            </a:r>
            <a:endParaRPr lang="en-US" sz="1600" dirty="0"/>
          </a:p>
        </p:txBody>
      </p:sp>
      <p:sp>
        <p:nvSpPr>
          <p:cNvPr id="5" name="Belief 2 number"/>
          <p:cNvSpPr/>
          <p:nvPr/>
        </p:nvSpPr>
        <p:spPr>
          <a:xfrm>
            <a:off x="1051560" y="1883664"/>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6" name="Belief 2"/>
          <p:cNvSpPr txBox="1"/>
          <p:nvPr/>
        </p:nvSpPr>
        <p:spPr>
          <a:xfrm>
            <a:off x="1691640" y="1810512"/>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Share: FTAI reaches 20% of CFM56 work by FY30, at half the ~4 pts a year it has already been growing.</a:t>
            </a:r>
            <a:endParaRPr lang="en-US" sz="1600" dirty="0"/>
          </a:p>
        </p:txBody>
      </p:sp>
      <p:sp>
        <p:nvSpPr>
          <p:cNvPr id="7" name="Belief 3 number"/>
          <p:cNvSpPr/>
          <p:nvPr/>
        </p:nvSpPr>
        <p:spPr>
          <a:xfrm>
            <a:off x="1051560" y="2596896"/>
            <a:ext cx="457200" cy="457200"/>
          </a:xfrm>
          <a:prstGeom prst="ellipse">
            <a:avLst/>
          </a:prstGeom>
          <a:solidFill>
            <a:srgbClr val="EE6E25"/>
          </a:solidFill>
          <a:ln>
            <a:solidFill>
              <a:srgbClr val="EE6E25"/>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8" name="Belief 3"/>
          <p:cNvSpPr txBox="1"/>
          <p:nvPr/>
        </p:nvSpPr>
        <p:spPr>
          <a:xfrm>
            <a:off x="1691640" y="2523744"/>
            <a:ext cx="6583680" cy="603504"/>
          </a:xfrm>
          <a:prstGeom prst="rect">
            <a:avLst/>
          </a:prstGeom>
          <a:noFill/>
          <a:ln/>
        </p:spPr>
        <p:txBody>
          <a:bodyPr wrap="square" lIns="0" tIns="0" rIns="0" bIns="0" rtlCol="0" anchor="ctr"/>
          <a:lstStyle/>
          <a:p>
            <a:pPr algn="l" indent="0" marL="0">
              <a:buNone/>
            </a:pPr>
            <a:r>
              <a:rPr lang="en-US" sz="1600" b="1" dirty="0">
                <a:solidFill>
                  <a:schemeClr val="tx2"/>
                </a:solidFill>
              </a:rPr>
              <a:t>Power: FTAI delivers the order it has already signed.</a:t>
            </a:r>
            <a:endParaRPr lang="en-US" sz="1600" dirty="0"/>
          </a:p>
        </p:txBody>
      </p:sp>
      <p:sp>
        <p:nvSpPr>
          <p:cNvPr id="9" name="Pick one"/>
          <p:cNvSpPr txBox="1"/>
          <p:nvPr/>
        </p:nvSpPr>
        <p:spPr>
          <a:xfrm>
            <a:off x="320040" y="3310128"/>
            <a:ext cx="8503920" cy="384048"/>
          </a:xfrm>
          <a:prstGeom prst="rect">
            <a:avLst/>
          </a:prstGeom>
          <a:noFill/>
          <a:ln/>
        </p:spPr>
        <p:txBody>
          <a:bodyPr wrap="square" lIns="0" tIns="0" rIns="0" bIns="0" rtlCol="0" anchor="ctr"/>
          <a:lstStyle/>
          <a:p>
            <a:pPr algn="ctr" indent="0" marL="0">
              <a:buNone/>
            </a:pPr>
            <a:r>
              <a:rPr lang="en-US" sz="2000" b="1" dirty="0">
                <a:solidFill>
                  <a:srgbClr val="1A1A1A"/>
                </a:solidFill>
              </a:rPr>
              <a:t>Or… just pick one:</a:t>
            </a:r>
            <a:endParaRPr lang="en-US" sz="2000" dirty="0"/>
          </a:p>
        </p:txBody>
      </p:sp>
      <p:graphicFrame>
        <p:nvGraphicFramePr>
          <p:cNvPr id="10" name="Pick one chart" descr=""/>
          <p:cNvGraphicFramePr/>
          <p:nvPr/>
        </p:nvGraphicFramePr>
        <p:xfrm>
          <a:off x="2331720" y="3703320"/>
          <a:ext cx="4480560" cy="2057400"/>
        </p:xfrm>
        <a:graphic xmlns:a="http://schemas.openxmlformats.org/drawingml/2006/main">
          <a:graphicData uri="http://schemas.openxmlformats.org/drawingml/2006/chart">
            <c:chart xmlns:c="http://schemas.openxmlformats.org/drawingml/2006/chart" r:id="rId1"/>
          </a:graphicData>
        </a:graphic>
      </p:graphicFrame>
      <p:sp>
        <p:nvSpPr>
          <p:cNvPr id="11" name="Pick one caption"/>
          <p:cNvSpPr txBox="1"/>
          <p:nvPr/>
        </p:nvSpPr>
        <p:spPr>
          <a:xfrm>
            <a:off x="2331720" y="5760720"/>
            <a:ext cx="4480560" cy="256032"/>
          </a:xfrm>
          <a:prstGeom prst="rect">
            <a:avLst/>
          </a:prstGeom>
          <a:noFill/>
          <a:ln/>
        </p:spPr>
        <p:txBody>
          <a:bodyPr wrap="square" lIns="0" tIns="0" rIns="0" bIns="0" rtlCol="0" anchor="ctr"/>
          <a:lstStyle/>
          <a:p>
            <a:pPr algn="ctr" indent="0" marL="0">
              <a:buNone/>
            </a:pPr>
            <a:r>
              <a:rPr lang="en-US" sz="1100" i="1" dirty="0">
                <a:solidFill>
                  <a:schemeClr val="accent2"/>
                </a:solidFill>
              </a:rPr>
              <a:t>Your return if only one comes true</a:t>
            </a:r>
            <a:endParaRPr lang="en-US" sz="1100" dirty="0"/>
          </a:p>
        </p:txBody>
      </p:sp>
      <p:sp>
        <p:nvSpPr>
          <p:cNvPr id="12" name="Left assumption box"/>
          <p:cNvSpPr txBox="1"/>
          <p:nvPr/>
        </p:nvSpPr>
        <p:spPr>
          <a:xfrm>
            <a:off x="32004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200" b="1" dirty="0">
                <a:solidFill>
                  <a:schemeClr val="tx2"/>
                </a:solidFill>
              </a:rPr>
              <a:t>Each bar holds the other side at our bear case</a:t>
            </a:r>
            <a:endParaRPr lang="en-US" sz="1200" dirty="0"/>
          </a:p>
        </p:txBody>
      </p:sp>
      <p:sp>
        <p:nvSpPr>
          <p:cNvPr id="13" name="Right assumption box"/>
          <p:cNvSpPr txBox="1"/>
          <p:nvPr/>
        </p:nvSpPr>
        <p:spPr>
          <a:xfrm>
            <a:off x="6995160" y="4251960"/>
            <a:ext cx="1828800" cy="960120"/>
          </a:xfrm>
          <a:prstGeom prst="rect">
            <a:avLst/>
          </a:prstGeom>
          <a:noFill/>
          <a:ln w="12700">
            <a:solidFill>
              <a:srgbClr val="1A1A1A"/>
            </a:solidFill>
            <a:prstDash val="dash"/>
          </a:ln>
        </p:spPr>
        <p:txBody>
          <a:bodyPr wrap="square" lIns="50800" tIns="50800" rIns="50800" bIns="50800" rtlCol="0" anchor="ctr"/>
          <a:lstStyle/>
          <a:p>
            <a:pPr algn="ctr" indent="0" marL="0">
              <a:buNone/>
            </a:pPr>
            <a:r>
              <a:rPr lang="en-US" sz="1300" b="1" dirty="0">
                <a:solidFill>
                  <a:schemeClr val="tx2"/>
                </a:solidFill>
              </a:rPr>
              <a:t>All three:</a:t>
            </a:r>
            <a:endParaRPr lang="en-US" sz="1300" dirty="0"/>
          </a:p>
          <a:p>
            <a:pPr algn="ctr" indent="0" marL="0">
              <a:buNone/>
            </a:pPr>
            <a:r>
              <a:rPr lang="en-US" sz="2000" b="1" dirty="0">
                <a:solidFill>
                  <a:schemeClr val="tx2"/>
                </a:solidFill>
              </a:rPr>
              <a:t>+66%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(FY27E EBITDA, base multiples), aviation theses vs. Power switched on separately; share history per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Valuation: Sum of the Parts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At $167 the market prices our bear case. Each thesis builds from there to $277.</a:t>
            </a:r>
            <a:endParaRPr lang="en-US" sz="1700" dirty="0"/>
          </a:p>
        </p:txBody>
      </p:sp>
      <p:sp>
        <p:nvSpPr>
          <p:cNvPr id="4" name="Waterfall header"/>
          <p:cNvSpPr txBox="1"/>
          <p:nvPr/>
        </p:nvSpPr>
        <p:spPr>
          <a:xfrm>
            <a:off x="320040" y="1554480"/>
            <a:ext cx="5715000" cy="365760"/>
          </a:xfrm>
          <a:prstGeom prst="rect">
            <a:avLst/>
          </a:prstGeom>
          <a:noFill/>
          <a:ln/>
        </p:spPr>
        <p:txBody>
          <a:bodyPr wrap="square" lIns="0" tIns="0" rIns="0" bIns="0" rtlCol="0" anchor="b"/>
          <a:lstStyle/>
          <a:p>
            <a:pPr algn="ctr" indent="0" marL="0">
              <a:buNone/>
            </a:pPr>
            <a:r>
              <a:rPr lang="en-US" sz="1600" b="1" dirty="0">
                <a:solidFill>
                  <a:srgbClr val="1A1A1A"/>
                </a:solidFill>
              </a:rPr>
              <a:t>From Today to Our Base Case ($ / Share)</a:t>
            </a:r>
            <a:endParaRPr lang="en-US" sz="1600" dirty="0"/>
          </a:p>
        </p:txBody>
      </p:sp>
      <p:sp>
        <p:nvSpPr>
          <p:cNvPr id="5" name="Waterfall header rule"/>
          <p:cNvSpPr/>
          <p:nvPr/>
        </p:nvSpPr>
        <p:spPr>
          <a:xfrm>
            <a:off x="320040" y="1975104"/>
            <a:ext cx="5715000" cy="0"/>
          </a:xfrm>
          <a:prstGeom prst="line">
            <a:avLst/>
          </a:prstGeom>
          <a:noFill/>
          <a:ln w="19050">
            <a:solidFill>
              <a:srgbClr val="2E93AE"/>
            </a:solidFill>
            <a:prstDash val="solid"/>
          </a:ln>
        </p:spPr>
      </p:sp>
      <p:graphicFrame>
        <p:nvGraphicFramePr>
          <p:cNvPr id="6" name="Thesis waterfall" descr=""/>
          <p:cNvGraphicFramePr/>
          <p:nvPr/>
        </p:nvGraphicFramePr>
        <p:xfrm>
          <a:off x="320040" y="2103120"/>
          <a:ext cx="5715000" cy="2971800"/>
        </p:xfrm>
        <a:graphic xmlns:a="http://schemas.openxmlformats.org/drawingml/2006/main">
          <a:graphicData uri="http://schemas.openxmlformats.org/drawingml/2006/chart">
            <c:chart xmlns:c="http://schemas.openxmlformats.org/drawingml/2006/chart" r:id="rId1"/>
          </a:graphicData>
        </a:graphic>
      </p:graphicFrame>
      <p:sp>
        <p:nvSpPr>
          <p:cNvPr id="7" name="Waterfall label 1"/>
          <p:cNvSpPr txBox="1"/>
          <p:nvPr/>
        </p:nvSpPr>
        <p:spPr>
          <a:xfrm>
            <a:off x="475488" y="2956932"/>
            <a:ext cx="822960" cy="237744"/>
          </a:xfrm>
          <a:prstGeom prst="rect">
            <a:avLst/>
          </a:prstGeom>
          <a:noFill/>
          <a:ln/>
        </p:spPr>
        <p:txBody>
          <a:bodyPr wrap="square" lIns="0" tIns="0" rIns="0" bIns="0" rtlCol="0" anchor="b"/>
          <a:lstStyle/>
          <a:p>
            <a:pPr algn="ctr" indent="0" marL="0">
              <a:buNone/>
            </a:pPr>
            <a:r>
              <a:rPr lang="en-US" sz="1300" b="1" dirty="0">
                <a:solidFill>
                  <a:srgbClr val="1A1A1A"/>
                </a:solidFill>
              </a:rPr>
              <a:t>$167</a:t>
            </a:r>
            <a:endParaRPr lang="en-US" sz="1300" dirty="0"/>
          </a:p>
        </p:txBody>
      </p:sp>
      <p:sp>
        <p:nvSpPr>
          <p:cNvPr id="8" name="Waterfall label 2"/>
          <p:cNvSpPr txBox="1"/>
          <p:nvPr/>
        </p:nvSpPr>
        <p:spPr>
          <a:xfrm>
            <a:off x="1389888" y="291759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a:t>
            </a:r>
            <a:endParaRPr lang="en-US" sz="1300" dirty="0"/>
          </a:p>
        </p:txBody>
      </p:sp>
      <p:sp>
        <p:nvSpPr>
          <p:cNvPr id="9" name="Waterfall label 3"/>
          <p:cNvSpPr txBox="1"/>
          <p:nvPr/>
        </p:nvSpPr>
        <p:spPr>
          <a:xfrm>
            <a:off x="2304288" y="278110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+$17</a:t>
            </a:r>
            <a:endParaRPr lang="en-US" sz="1300" dirty="0"/>
          </a:p>
        </p:txBody>
      </p:sp>
      <p:sp>
        <p:nvSpPr>
          <p:cNvPr id="10" name="Waterfall label 4"/>
          <p:cNvSpPr txBox="1"/>
          <p:nvPr/>
        </p:nvSpPr>
        <p:spPr>
          <a:xfrm>
            <a:off x="3218688" y="2518579"/>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+$33</a:t>
            </a:r>
            <a:endParaRPr lang="en-US" sz="1300" dirty="0"/>
          </a:p>
        </p:txBody>
      </p:sp>
      <p:sp>
        <p:nvSpPr>
          <p:cNvPr id="11" name="Waterfall label 5"/>
          <p:cNvSpPr txBox="1"/>
          <p:nvPr/>
        </p:nvSpPr>
        <p:spPr>
          <a:xfrm>
            <a:off x="4133088" y="2076213"/>
            <a:ext cx="822960" cy="237744"/>
          </a:xfrm>
          <a:prstGeom prst="rect">
            <a:avLst/>
          </a:prstGeom>
          <a:noFill/>
          <a:ln/>
        </p:spPr>
        <p:txBody>
          <a:bodyPr wrap="square" lIns="0" tIns="0" rIns="0" bIns="0" rtlCol="0" anchor="b"/>
          <a:lstStyle/>
          <a:p>
            <a:pPr algn="ctr" indent="0" marL="0">
              <a:buNone/>
            </a:pPr>
            <a:r>
              <a:rPr lang="en-US" sz="1300" b="1" dirty="0">
                <a:solidFill>
                  <a:schemeClr val="tx2"/>
                </a:solidFill>
              </a:rPr>
              <a:t>+$55</a:t>
            </a:r>
            <a:endParaRPr lang="en-US" sz="1300" dirty="0"/>
          </a:p>
        </p:txBody>
      </p:sp>
      <p:sp>
        <p:nvSpPr>
          <p:cNvPr id="12" name="Waterfall label 6"/>
          <p:cNvSpPr txBox="1"/>
          <p:nvPr/>
        </p:nvSpPr>
        <p:spPr>
          <a:xfrm>
            <a:off x="5047488" y="2077016"/>
            <a:ext cx="822960" cy="237744"/>
          </a:xfrm>
          <a:prstGeom prst="rect">
            <a:avLst/>
          </a:prstGeom>
          <a:noFill/>
          <a:ln/>
        </p:spPr>
        <p:txBody>
          <a:bodyPr wrap="square" lIns="0" tIns="0" rIns="0" bIns="0" rtlCol="0" anchor="b"/>
          <a:lstStyle/>
          <a:p>
            <a:pPr algn="ctr" indent="0" marL="0">
              <a:buNone/>
            </a:pPr>
            <a:r>
              <a:rPr lang="en-US" sz="1300" b="1" dirty="0">
                <a:solidFill>
                  <a:srgbClr val="EE6E25"/>
                </a:solidFill>
              </a:rPr>
              <a:t>$277</a:t>
            </a:r>
            <a:endParaRPr lang="en-US" sz="1300" dirty="0"/>
          </a:p>
        </p:txBody>
      </p:sp>
      <p:sp>
        <p:nvSpPr>
          <p:cNvPr id="13" name="Waterfall caption"/>
          <p:cNvSpPr txBox="1"/>
          <p:nvPr/>
        </p:nvSpPr>
        <p:spPr>
          <a:xfrm>
            <a:off x="320040" y="5074920"/>
            <a:ext cx="5715000" cy="256032"/>
          </a:xfrm>
          <a:prstGeom prst="rect">
            <a:avLst/>
          </a:prstGeom>
          <a:noFill/>
          <a:ln/>
        </p:spPr>
        <p:txBody>
          <a:bodyPr wrap="square" lIns="0" tIns="0" rIns="0" bIns="0" rtlCol="0" anchor="ctr"/>
          <a:lstStyle/>
          <a:p>
            <a:pPr algn="ctr" indent="0" marL="0">
              <a:buNone/>
            </a:pPr>
            <a:r>
              <a:rPr lang="en-US" sz="1000" i="1" dirty="0">
                <a:solidFill>
                  <a:schemeClr val="accent2"/>
                </a:solidFill>
              </a:rPr>
              <a:t>FY27E SOTP; each thesis switched from our bear case to base (Shapley average)</a:t>
            </a:r>
            <a:endParaRPr lang="en-US" sz="1000" dirty="0"/>
          </a:p>
        </p:txBody>
      </p:sp>
      <p:sp>
        <p:nvSpPr>
          <p:cNvPr id="14" name="Means header"/>
          <p:cNvSpPr txBox="1"/>
          <p:nvPr/>
        </p:nvSpPr>
        <p:spPr>
          <a:xfrm>
            <a:off x="6309360" y="1554480"/>
            <a:ext cx="2514600" cy="365760"/>
          </a:xfrm>
          <a:prstGeom prst="rect">
            <a:avLst/>
          </a:prstGeom>
          <a:noFill/>
          <a:ln/>
        </p:spPr>
        <p:txBody>
          <a:bodyPr wrap="square" lIns="0" tIns="0" rIns="0" bIns="0" rtlCol="0" anchor="b"/>
          <a:lstStyle/>
          <a:p>
            <a:pPr algn="ctr" indent="0" marL="0">
              <a:buNone/>
            </a:pPr>
            <a:r>
              <a:rPr lang="en-US" sz="1600" b="1" dirty="0">
                <a:solidFill>
                  <a:srgbClr val="1A1A1A"/>
                </a:solidFill>
              </a:rPr>
              <a:t>What It Means</a:t>
            </a:r>
            <a:endParaRPr lang="en-US" sz="1600" dirty="0"/>
          </a:p>
        </p:txBody>
      </p:sp>
      <p:sp>
        <p:nvSpPr>
          <p:cNvPr id="15" name="Means header rule"/>
          <p:cNvSpPr/>
          <p:nvPr/>
        </p:nvSpPr>
        <p:spPr>
          <a:xfrm>
            <a:off x="6309360" y="1975104"/>
            <a:ext cx="2514600" cy="0"/>
          </a:xfrm>
          <a:prstGeom prst="line">
            <a:avLst/>
          </a:prstGeom>
          <a:noFill/>
          <a:ln w="19050">
            <a:solidFill>
              <a:srgbClr val="2E93AE"/>
            </a:solidFill>
            <a:prstDash val="solid"/>
          </a:ln>
        </p:spPr>
      </p:sp>
      <p:sp>
        <p:nvSpPr>
          <p:cNvPr id="16" name="Means stat 1"/>
          <p:cNvSpPr txBox="1"/>
          <p:nvPr/>
        </p:nvSpPr>
        <p:spPr>
          <a:xfrm>
            <a:off x="6309360" y="210312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+66%</a:t>
            </a:r>
            <a:endParaRPr lang="en-US" sz="2800" dirty="0"/>
          </a:p>
          <a:p>
            <a:pPr algn="ctr" indent="0" marL="0">
              <a:buNone/>
            </a:pPr>
            <a:r>
              <a:rPr lang="en-US" sz="1200" dirty="0">
                <a:solidFill>
                  <a:srgbClr val="1A1A1A"/>
                </a:solidFill>
              </a:rPr>
              <a:t>upside to our $277 base case</a:t>
            </a:r>
            <a:endParaRPr lang="en-US" sz="2800" dirty="0"/>
          </a:p>
        </p:txBody>
      </p:sp>
      <p:sp>
        <p:nvSpPr>
          <p:cNvPr id="17" name="Means stat 2"/>
          <p:cNvSpPr txBox="1"/>
          <p:nvPr/>
        </p:nvSpPr>
        <p:spPr>
          <a:xfrm>
            <a:off x="6309360" y="310896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$50</a:t>
            </a:r>
            <a:endParaRPr lang="en-US" sz="2800" dirty="0"/>
          </a:p>
          <a:p>
            <a:pPr algn="ctr" indent="0" marL="0">
              <a:buNone/>
            </a:pPr>
            <a:r>
              <a:rPr lang="en-US" sz="1200" dirty="0">
                <a:solidFill>
                  <a:srgbClr val="1A1A1A"/>
                </a:solidFill>
              </a:rPr>
              <a:t>from the aviation theses: margins and share</a:t>
            </a:r>
            <a:endParaRPr lang="en-US" sz="2800" dirty="0"/>
          </a:p>
        </p:txBody>
      </p:sp>
      <p:sp>
        <p:nvSpPr>
          <p:cNvPr id="18" name="Means stat 3"/>
          <p:cNvSpPr txBox="1"/>
          <p:nvPr/>
        </p:nvSpPr>
        <p:spPr>
          <a:xfrm>
            <a:off x="6309360" y="4114800"/>
            <a:ext cx="2514600" cy="914400"/>
          </a:xfrm>
          <a:prstGeom prst="rect">
            <a:avLst/>
          </a:prstGeom>
          <a:noFill/>
          <a:ln/>
        </p:spPr>
        <p:txBody>
          <a:bodyPr wrap="square" lIns="0" tIns="0" rIns="0" bIns="0" rtlCol="0" anchor="ctr"/>
          <a:lstStyle/>
          <a:p>
            <a:pPr algn="ctr" indent="0" marL="0">
              <a:buNone/>
            </a:pPr>
            <a:r>
              <a:rPr lang="en-US" sz="2800" b="1" dirty="0">
                <a:solidFill>
                  <a:srgbClr val="EE6E25"/>
                </a:solidFill>
              </a:rPr>
              <a:t>$55</a:t>
            </a:r>
            <a:endParaRPr lang="en-US" sz="2800" dirty="0"/>
          </a:p>
          <a:p>
            <a:pPr algn="ctr" indent="0" marL="0">
              <a:buNone/>
            </a:pPr>
            <a:r>
              <a:rPr lang="en-US" sz="1200" dirty="0">
                <a:solidFill>
                  <a:srgbClr val="1A1A1A"/>
                </a:solidFill>
              </a:rPr>
              <a:t>from Power, on just the signed order</a:t>
            </a:r>
            <a:endParaRPr lang="en-US" sz="2800" dirty="0"/>
          </a:p>
        </p:txBody>
      </p:sp>
      <p:sp>
        <p:nvSpPr>
          <p:cNvPr id="19"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Get the aviation theses right and you make 33%. Power on just the signed order takes it to 66%.</a:t>
            </a:r>
            <a:endParaRPr lang="en-US" sz="1700" dirty="0"/>
          </a:p>
        </p:txBody>
      </p:sp>
      <p:sp>
        <p:nvSpPr>
          <p:cNvPr id="20"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(SOTP: Aerospace 16x, Power 12x, Leasing + SCI 9x FY27E EBITDA); thesis attribution re-runs; price $167.03 (10/2/26)</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Catalysts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Three catalysts over the next 12–15 months, one for each thesis.</a:t>
            </a:r>
            <a:endParaRPr lang="en-US" sz="1700" dirty="0"/>
          </a:p>
        </p:txBody>
      </p:sp>
      <p:sp>
        <p:nvSpPr>
          <p:cNvPr id="4" name="Timeline arrow"/>
          <p:cNvSpPr/>
          <p:nvPr/>
        </p:nvSpPr>
        <p:spPr>
          <a:xfrm>
            <a:off x="4315968" y="1554480"/>
            <a:ext cx="512064" cy="3840480"/>
          </a:xfrm>
          <a:prstGeom prst="downArrow">
            <a:avLst/>
          </a:prstGeom>
          <a:solidFill>
            <a:srgbClr val="0A1C58"/>
          </a:solidFill>
          <a:ln/>
        </p:spPr>
      </p:sp>
      <p:sp>
        <p:nvSpPr>
          <p:cNvPr id="5" name="Catalyst 1 band"/>
          <p:cNvSpPr/>
          <p:nvPr/>
        </p:nvSpPr>
        <p:spPr>
          <a:xfrm>
            <a:off x="320040" y="1691640"/>
            <a:ext cx="8503920" cy="987552"/>
          </a:xfrm>
          <a:prstGeom prst="rect">
            <a:avLst/>
          </a:prstGeom>
          <a:solidFill>
            <a:srgbClr val="EFEDEA"/>
          </a:solidFill>
          <a:ln/>
        </p:spPr>
      </p:sp>
      <p:sp>
        <p:nvSpPr>
          <p:cNvPr id="6" name="Catalyst 1 head"/>
          <p:cNvSpPr txBox="1"/>
          <p:nvPr/>
        </p:nvSpPr>
        <p:spPr>
          <a:xfrm>
            <a:off x="457200" y="1691640"/>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Two quarters of stable margins</a:t>
            </a:r>
            <a:endParaRPr lang="en-US" sz="1500" dirty="0"/>
          </a:p>
        </p:txBody>
      </p:sp>
      <p:sp>
        <p:nvSpPr>
          <p:cNvPr id="7" name="Catalyst 1 date"/>
          <p:cNvSpPr txBox="1"/>
          <p:nvPr/>
        </p:nvSpPr>
        <p:spPr>
          <a:xfrm>
            <a:off x="3794760" y="1865376"/>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Q3 &amp; Q4 '26 prints</a:t>
            </a:r>
            <a:endParaRPr lang="en-US" sz="1500" dirty="0"/>
          </a:p>
        </p:txBody>
      </p:sp>
      <p:sp>
        <p:nvSpPr>
          <p:cNvPr id="8" name="Catalyst 1 watch"/>
          <p:cNvSpPr txBox="1"/>
          <p:nvPr/>
        </p:nvSpPr>
        <p:spPr>
          <a:xfrm>
            <a:off x="5486400" y="1691640"/>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Aerospace margins hold at ~30% or better, plus early PMA usage commentary on the Q3 call (late Oct.)</a:t>
            </a:r>
            <a:endParaRPr lang="en-US" sz="1200" dirty="0"/>
          </a:p>
        </p:txBody>
      </p:sp>
      <p:sp>
        <p:nvSpPr>
          <p:cNvPr id="9" name="Catalyst 2 band"/>
          <p:cNvSpPr/>
          <p:nvPr/>
        </p:nvSpPr>
        <p:spPr>
          <a:xfrm>
            <a:off x="320040" y="2907792"/>
            <a:ext cx="8503920" cy="987552"/>
          </a:xfrm>
          <a:prstGeom prst="rect">
            <a:avLst/>
          </a:prstGeom>
          <a:solidFill>
            <a:srgbClr val="EFEDEA"/>
          </a:solidFill>
          <a:ln/>
        </p:spPr>
      </p:sp>
      <p:sp>
        <p:nvSpPr>
          <p:cNvPr id="10" name="Catalyst 2 head"/>
          <p:cNvSpPr txBox="1"/>
          <p:nvPr/>
        </p:nvSpPr>
        <p:spPr>
          <a:xfrm>
            <a:off x="457200" y="2907792"/>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New facilities ramp up</a:t>
            </a:r>
            <a:endParaRPr lang="en-US" sz="1500" dirty="0"/>
          </a:p>
        </p:txBody>
      </p:sp>
      <p:sp>
        <p:nvSpPr>
          <p:cNvPr id="11" name="Catalyst 2 date"/>
          <p:cNvSpPr txBox="1"/>
          <p:nvPr/>
        </p:nvSpPr>
        <p:spPr>
          <a:xfrm>
            <a:off x="3794760" y="3081528"/>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1H '27</a:t>
            </a:r>
            <a:endParaRPr lang="en-US" sz="1500" dirty="0"/>
          </a:p>
        </p:txBody>
      </p:sp>
      <p:sp>
        <p:nvSpPr>
          <p:cNvPr id="12" name="Catalyst 2 watch"/>
          <p:cNvSpPr txBox="1"/>
          <p:nvPr/>
        </p:nvSpPr>
        <p:spPr>
          <a:xfrm>
            <a:off x="5486400" y="2907792"/>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Jakarta, Cairo and Lisbon come online, putting FTAI on track for its 1,700-module target</a:t>
            </a:r>
            <a:endParaRPr lang="en-US" sz="1200" dirty="0"/>
          </a:p>
        </p:txBody>
      </p:sp>
      <p:sp>
        <p:nvSpPr>
          <p:cNvPr id="13" name="Catalyst 3 band"/>
          <p:cNvSpPr/>
          <p:nvPr/>
        </p:nvSpPr>
        <p:spPr>
          <a:xfrm>
            <a:off x="320040" y="4123944"/>
            <a:ext cx="8503920" cy="987552"/>
          </a:xfrm>
          <a:prstGeom prst="rect">
            <a:avLst/>
          </a:prstGeom>
          <a:solidFill>
            <a:srgbClr val="EFEDEA"/>
          </a:solidFill>
          <a:ln/>
        </p:spPr>
      </p:sp>
      <p:sp>
        <p:nvSpPr>
          <p:cNvPr id="14" name="Catalyst 3 head"/>
          <p:cNvSpPr txBox="1"/>
          <p:nvPr/>
        </p:nvSpPr>
        <p:spPr>
          <a:xfrm>
            <a:off x="457200" y="4123944"/>
            <a:ext cx="3200400" cy="987552"/>
          </a:xfrm>
          <a:prstGeom prst="rect">
            <a:avLst/>
          </a:prstGeom>
          <a:noFill/>
          <a:ln/>
        </p:spPr>
        <p:txBody>
          <a:bodyPr wrap="square" lIns="0" tIns="0" rIns="0" bIns="0" rtlCol="0" anchor="ctr"/>
          <a:lstStyle/>
          <a:p>
            <a:pPr algn="l" indent="0" marL="0">
              <a:buNone/>
            </a:pPr>
            <a:r>
              <a:rPr lang="en-US" sz="1500" b="1" dirty="0">
                <a:solidFill>
                  <a:schemeClr val="tx2"/>
                </a:solidFill>
              </a:rPr>
              <a:t>Power units deliver, or a new contract</a:t>
            </a:r>
            <a:endParaRPr lang="en-US" sz="1500" dirty="0"/>
          </a:p>
        </p:txBody>
      </p:sp>
      <p:sp>
        <p:nvSpPr>
          <p:cNvPr id="15" name="Catalyst 3 date"/>
          <p:cNvSpPr txBox="1"/>
          <p:nvPr/>
        </p:nvSpPr>
        <p:spPr>
          <a:xfrm>
            <a:off x="3794760" y="4297680"/>
            <a:ext cx="1554480" cy="640080"/>
          </a:xfrm>
          <a:prstGeom prst="rect">
            <a:avLst/>
          </a:prstGeom>
          <a:solidFill>
            <a:srgbClr val="FFFFFF"/>
          </a:solidFill>
          <a:ln w="31750">
            <a:solidFill>
              <a:srgbClr val="EE6E25"/>
            </a:solidFill>
          </a:ln>
        </p:spPr>
        <p:txBody>
          <a:bodyPr wrap="square" lIns="0" tIns="0" rIns="0" bIns="0" rtlCol="0" anchor="ctr"/>
          <a:lstStyle/>
          <a:p>
            <a:pPr algn="ctr" indent="0" marL="0">
              <a:buNone/>
            </a:pPr>
            <a:r>
              <a:rPr lang="en-US" sz="1500" b="1" dirty="0">
                <a:solidFill>
                  <a:schemeClr val="tx2"/>
                </a:solidFill>
              </a:rPr>
              <a:t>2H '27</a:t>
            </a:r>
            <a:endParaRPr lang="en-US" sz="1500" dirty="0"/>
          </a:p>
        </p:txBody>
      </p:sp>
      <p:sp>
        <p:nvSpPr>
          <p:cNvPr id="16" name="Catalyst 3 watch"/>
          <p:cNvSpPr txBox="1"/>
          <p:nvPr/>
        </p:nvSpPr>
        <p:spPr>
          <a:xfrm>
            <a:off x="5486400" y="4123944"/>
            <a:ext cx="3200400" cy="987552"/>
          </a:xfrm>
          <a:prstGeom prst="rect">
            <a:avLst/>
          </a:prstGeom>
          <a:noFill/>
          <a:ln/>
        </p:spPr>
        <p:txBody>
          <a:bodyPr wrap="square" lIns="0" tIns="0" rIns="0" bIns="0" rtlCol="0" anchor="ctr"/>
          <a:lstStyle/>
          <a:p>
            <a:pPr algn="l" indent="0" marL="0">
              <a:buNone/>
            </a:pPr>
            <a:r>
              <a:rPr lang="en-US" sz="1200" dirty="0">
                <a:solidFill>
                  <a:srgbClr val="1A1A1A"/>
                </a:solidFill>
              </a:rPr>
              <a:t>Mod-1 deliveries on schedule, or a follow-on order that pushes FY27 Power EBITDA toward $750M</a:t>
            </a:r>
            <a:endParaRPr lang="en-US" sz="12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Each catalyst tests one thesis directly, and all three land by the end of 2027.</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earnings calls and Q2'26 supplement (1,700-module 2027 target; FY27 Power guide $450–750M);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Risks / Mitigants</a:t>
            </a:r>
            <a:endParaRPr lang="en-US" sz="3000" dirty="0"/>
          </a:p>
        </p:txBody>
      </p:sp>
      <p:sp>
        <p:nvSpPr>
          <p:cNvPr id="3" name="Text 1"/>
          <p:cNvSpPr/>
          <p:nvPr>
            <p:ph idx="104"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risks are real, but each is either priced in or being closed.</a:t>
            </a:r>
            <a:endParaRPr lang="en-US" sz="1700" dirty="0"/>
          </a:p>
        </p:txBody>
      </p:sp>
      <p:sp>
        <p:nvSpPr>
          <p:cNvPr id="4" name="Risk 1 number"/>
          <p:cNvSpPr/>
          <p:nvPr/>
        </p:nvSpPr>
        <p:spPr>
          <a:xfrm>
            <a:off x="320040" y="1527048"/>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1</a:t>
            </a:r>
            <a:endParaRPr lang="en-US" sz="1800" dirty="0"/>
          </a:p>
        </p:txBody>
      </p:sp>
      <p:sp>
        <p:nvSpPr>
          <p:cNvPr id="5" name="Risk 1 head"/>
          <p:cNvSpPr txBox="1"/>
          <p:nvPr/>
        </p:nvSpPr>
        <p:spPr>
          <a:xfrm>
            <a:off x="868680" y="1600200"/>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Locked Out of LEAP</a:t>
            </a:r>
            <a:endParaRPr lang="en-US" sz="1500" dirty="0"/>
          </a:p>
        </p:txBody>
      </p:sp>
      <p:sp>
        <p:nvSpPr>
          <p:cNvPr id="6" name="Risk 1 detail"/>
          <p:cNvSpPr txBox="1"/>
          <p:nvPr/>
        </p:nvSpPr>
        <p:spPr>
          <a:xfrm>
            <a:off x="868680" y="1984248"/>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CFM keeps LEAP work in-house through service contracts and licenses.</a:t>
            </a:r>
            <a:endParaRPr lang="en-US" sz="1200" dirty="0"/>
          </a:p>
        </p:txBody>
      </p:sp>
      <p:sp>
        <p:nvSpPr>
          <p:cNvPr id="7" name="Risk 1 mitigants"/>
          <p:cNvSpPr/>
          <p:nvPr/>
        </p:nvSpPr>
        <p:spPr>
          <a:xfrm flipH="1">
            <a:off x="4206240" y="1554480"/>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LEAP visits ~3x by 2030; 5,000+ a year by 2040</a:t>
            </a:r>
            <a:endParaRPr lang="en-US" sz="1100" dirty="0"/>
          </a:p>
          <a:p>
            <a:pPr algn="l" marL="152400" indent="-152400">
              <a:spcAft>
                <a:spcPts val="300"/>
              </a:spcAft>
              <a:buSzPct val="100000"/>
              <a:buChar char="•"/>
            </a:pPr>
            <a:r>
              <a:rPr lang="en-US" sz="1100" dirty="0">
                <a:solidFill>
                  <a:srgbClr val="1A1A1A"/>
                </a:solidFill>
              </a:rPr>
              <a:t>GE is doubling LEAP capacity, yet IATA says it won't be enough</a:t>
            </a:r>
            <a:endParaRPr lang="en-US" sz="1100" dirty="0"/>
          </a:p>
          <a:p>
            <a:pPr algn="l" marL="152400" indent="-152400">
              <a:spcAft>
                <a:spcPts val="300"/>
              </a:spcAft>
              <a:buSzPct val="100000"/>
              <a:buChar char="•"/>
            </a:pPr>
            <a:r>
              <a:rPr lang="en-US" sz="1100" dirty="0">
                <a:solidFill>
                  <a:srgbClr val="1A1A1A"/>
                </a:solidFill>
              </a:rPr>
              <a:t>Third parties: 10% → ~30% of LEAP visits by 2030</a:t>
            </a:r>
            <a:endParaRPr lang="en-US" sz="1100" dirty="0"/>
          </a:p>
        </p:txBody>
      </p:sp>
      <p:sp>
        <p:nvSpPr>
          <p:cNvPr id="8" name="Risk 2 number"/>
          <p:cNvSpPr/>
          <p:nvPr/>
        </p:nvSpPr>
        <p:spPr>
          <a:xfrm>
            <a:off x="320040" y="2825496"/>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2</a:t>
            </a:r>
            <a:endParaRPr lang="en-US" sz="1800" dirty="0"/>
          </a:p>
        </p:txBody>
      </p:sp>
      <p:sp>
        <p:nvSpPr>
          <p:cNvPr id="9" name="Risk 2 head"/>
          <p:cNvSpPr txBox="1"/>
          <p:nvPr/>
        </p:nvSpPr>
        <p:spPr>
          <a:xfrm>
            <a:off x="868680" y="2898648"/>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Short-Report Overhang</a:t>
            </a:r>
            <a:endParaRPr lang="en-US" sz="1500" dirty="0"/>
          </a:p>
        </p:txBody>
      </p:sp>
      <p:sp>
        <p:nvSpPr>
          <p:cNvPr id="10" name="Risk 2 detail"/>
          <p:cNvSpPr txBox="1"/>
          <p:nvPr/>
        </p:nvSpPr>
        <p:spPr>
          <a:xfrm>
            <a:off x="868680" y="3282696"/>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The market keeps a fraud discount on FTAI's multiple.</a:t>
            </a:r>
            <a:endParaRPr lang="en-US" sz="1200" dirty="0"/>
          </a:p>
        </p:txBody>
      </p:sp>
      <p:sp>
        <p:nvSpPr>
          <p:cNvPr id="11" name="Risk 2 mitigants"/>
          <p:cNvSpPr/>
          <p:nvPr/>
        </p:nvSpPr>
        <p:spPr>
          <a:xfrm flipH="1">
            <a:off x="4206240" y="2852928"/>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Priced in: at $167 the market pays our bear case</a:t>
            </a:r>
            <a:endParaRPr lang="en-US" sz="1100" dirty="0"/>
          </a:p>
          <a:p>
            <a:pPr algn="l" marL="152400" indent="-152400">
              <a:spcAft>
                <a:spcPts val="300"/>
              </a:spcAft>
              <a:buSzPct val="100000"/>
              <a:buChar char="•"/>
            </a:pPr>
            <a:r>
              <a:rPr lang="en-US" sz="1100" dirty="0">
                <a:solidFill>
                  <a:srgbClr val="1A1A1A"/>
                </a:solidFill>
              </a:rPr>
              <a:t>&lt;8% cheap stock left: margins now show the core business</a:t>
            </a:r>
            <a:endParaRPr lang="en-US" sz="1100" dirty="0"/>
          </a:p>
          <a:p>
            <a:pPr algn="l" marL="152400" indent="-152400">
              <a:spcAft>
                <a:spcPts val="300"/>
              </a:spcAft>
              <a:buSzPct val="100000"/>
              <a:buChar char="•"/>
            </a:pPr>
            <a:r>
              <a:rPr lang="en-US" sz="1100" dirty="0">
                <a:solidFill>
                  <a:srgbClr val="1A1A1A"/>
                </a:solidFill>
              </a:rPr>
              <a:t>Each clean print (Q3 &amp; Q4 '26) shrinks the discount</a:t>
            </a:r>
            <a:endParaRPr lang="en-US" sz="1100" dirty="0"/>
          </a:p>
        </p:txBody>
      </p:sp>
      <p:sp>
        <p:nvSpPr>
          <p:cNvPr id="12" name="Risk 3 number"/>
          <p:cNvSpPr/>
          <p:nvPr/>
        </p:nvSpPr>
        <p:spPr>
          <a:xfrm>
            <a:off x="320040" y="4123944"/>
            <a:ext cx="530352" cy="530352"/>
          </a:xfrm>
          <a:prstGeom prst="ellipse">
            <a:avLst/>
          </a:prstGeom>
          <a:solidFill>
            <a:srgbClr val="FFFFFF"/>
          </a:solidFill>
          <a:ln w="31750">
            <a:solidFill>
              <a:srgbClr val="EE6E25"/>
            </a:solidFill>
          </a:ln>
        </p:spPr>
        <p:txBody>
          <a:bodyPr wrap="square" lIns="0" tIns="0" rIns="0" bIns="0" rtlCol="0" anchor="ctr"/>
          <a:lstStyle/>
          <a:p>
            <a:pPr algn="ctr" indent="0" marL="0">
              <a:buNone/>
            </a:pPr>
            <a:r>
              <a:rPr lang="en-US" sz="1800" b="1" dirty="0">
                <a:solidFill>
                  <a:schemeClr val="tx2"/>
                </a:solidFill>
              </a:rPr>
              <a:t>3</a:t>
            </a:r>
            <a:endParaRPr lang="en-US" sz="1800" dirty="0"/>
          </a:p>
        </p:txBody>
      </p:sp>
      <p:sp>
        <p:nvSpPr>
          <p:cNvPr id="13" name="Risk 3 head"/>
          <p:cNvSpPr txBox="1"/>
          <p:nvPr/>
        </p:nvSpPr>
        <p:spPr>
          <a:xfrm>
            <a:off x="868680" y="4197096"/>
            <a:ext cx="3154680" cy="384048"/>
          </a:xfrm>
          <a:prstGeom prst="rect">
            <a:avLst/>
          </a:prstGeom>
          <a:noFill/>
          <a:ln w="15875">
            <a:solidFill>
              <a:srgbClr val="1A1A1A"/>
            </a:solidFill>
          </a:ln>
        </p:spPr>
        <p:txBody>
          <a:bodyPr wrap="square" lIns="0" tIns="0" rIns="0" bIns="0" rtlCol="0" anchor="ctr"/>
          <a:lstStyle/>
          <a:p>
            <a:pPr algn="ctr" indent="0" marL="0">
              <a:buNone/>
            </a:pPr>
            <a:r>
              <a:rPr lang="en-US" sz="1500" b="1" dirty="0">
                <a:solidFill>
                  <a:schemeClr val="tx2"/>
                </a:solidFill>
              </a:rPr>
              <a:t>Technician Shortage</a:t>
            </a:r>
            <a:endParaRPr lang="en-US" sz="1500" dirty="0"/>
          </a:p>
        </p:txBody>
      </p:sp>
      <p:sp>
        <p:nvSpPr>
          <p:cNvPr id="14" name="Risk 3 detail"/>
          <p:cNvSpPr txBox="1"/>
          <p:nvPr/>
        </p:nvSpPr>
        <p:spPr>
          <a:xfrm>
            <a:off x="868680" y="4581144"/>
            <a:ext cx="3154680" cy="658368"/>
          </a:xfrm>
          <a:prstGeom prst="rect">
            <a:avLst/>
          </a:prstGeom>
          <a:noFill/>
          <a:ln w="12700">
            <a:solidFill>
              <a:srgbClr val="1A1A1A"/>
            </a:solidFill>
            <a:prstDash val="dash"/>
          </a:ln>
        </p:spPr>
        <p:txBody>
          <a:bodyPr wrap="square" lIns="76200" tIns="76200" rIns="76200" bIns="76200" rtlCol="0" anchor="ctr"/>
          <a:lstStyle/>
          <a:p>
            <a:pPr algn="ctr" indent="0" marL="0">
              <a:buNone/>
            </a:pPr>
            <a:r>
              <a:rPr lang="en-US" sz="1200" b="1" dirty="0">
                <a:solidFill>
                  <a:srgbClr val="1A1A1A"/>
                </a:solidFill>
              </a:rPr>
              <a:t>Too few skilled techs caps how many modules FTAI can turn.</a:t>
            </a:r>
            <a:endParaRPr lang="en-US" sz="1200" dirty="0"/>
          </a:p>
        </p:txBody>
      </p:sp>
      <p:sp>
        <p:nvSpPr>
          <p:cNvPr id="15" name="Risk 3 mitigants"/>
          <p:cNvSpPr/>
          <p:nvPr/>
        </p:nvSpPr>
        <p:spPr>
          <a:xfrm flipH="1">
            <a:off x="4206240" y="4151376"/>
            <a:ext cx="4617720" cy="1143000"/>
          </a:xfrm>
          <a:prstGeom prst="homePlate">
            <a:avLst/>
          </a:prstGeom>
          <a:solidFill>
            <a:srgbClr val="DCD8D3"/>
          </a:solidFill>
          <a:ln/>
        </p:spPr>
        <p:txBody>
          <a:bodyPr wrap="square" lIns="533400" tIns="25400" rIns="101600" bIns="25400" rtlCol="0" anchor="ctr"/>
          <a:lstStyle/>
          <a:p>
            <a:pPr algn="l" marL="152400" indent="-152400">
              <a:spcAft>
                <a:spcPts val="300"/>
              </a:spcAft>
              <a:buSzPct val="100000"/>
              <a:buChar char="•"/>
            </a:pPr>
            <a:r>
              <a:rPr lang="en-US" sz="1100" dirty="0">
                <a:solidFill>
                  <a:srgbClr val="1A1A1A"/>
                </a:solidFill>
              </a:rPr>
              <a:t>FTAI's academy trains its own techs (trainers in Montreal, Miami)</a:t>
            </a:r>
            <a:endParaRPr lang="en-US" sz="1100" dirty="0"/>
          </a:p>
          <a:p>
            <a:pPr algn="l" marL="152400" indent="-152400">
              <a:spcAft>
                <a:spcPts val="300"/>
              </a:spcAft>
              <a:buSzPct val="100000"/>
              <a:buChar char="•"/>
            </a:pPr>
            <a:r>
              <a:rPr lang="en-US" sz="1100" dirty="0">
                <a:solidFill>
                  <a:srgbClr val="1A1A1A"/>
                </a:solidFill>
              </a:rPr>
              <a:t>Partners add ~320 techs in Jakarta and Cairo</a:t>
            </a:r>
            <a:endParaRPr lang="en-US" sz="1100" dirty="0"/>
          </a:p>
          <a:p>
            <a:pPr algn="l" marL="152400" indent="-152400">
              <a:spcAft>
                <a:spcPts val="300"/>
              </a:spcAft>
              <a:buSzPct val="100000"/>
              <a:buChar char="•"/>
            </a:pPr>
            <a:r>
              <a:rPr lang="en-US" sz="1100" dirty="0">
                <a:solidFill>
                  <a:srgbClr val="1A1A1A"/>
                </a:solidFill>
              </a:rPr>
              <a:t>New hires speed up with experience and Palantir tools</a:t>
            </a:r>
            <a:endParaRPr lang="en-US" sz="11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None of these risks is new to the market. The bear case is already in the price.</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GE Aerospace Q2'26 call; CFM via StandardAero; IATA (Jun-26); GPS model; FTAI Q2'26 supplement; FTAI job postings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Q&amp;A</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Company name"/>
          <p:cNvSpPr txBox="1"/>
          <p:nvPr/>
        </p:nvSpPr>
        <p:spPr>
          <a:xfrm>
            <a:off x="548640" y="320040"/>
            <a:ext cx="6400800" cy="1051560"/>
          </a:xfrm>
          <a:prstGeom prst="rect">
            <a:avLst/>
          </a:prstGeom>
          <a:noFill/>
          <a:ln/>
        </p:spPr>
        <p:txBody>
          <a:bodyPr wrap="square" lIns="0" tIns="0" rIns="0" bIns="0" rtlCol="0" anchor="t"/>
          <a:lstStyle/>
          <a:p>
            <a:pPr indent="0" marL="0">
              <a:buNone/>
            </a:pPr>
            <a:r>
              <a:rPr lang="en-US" sz="3000" b="1" dirty="0">
                <a:solidFill>
                  <a:schemeClr val="tx2"/>
                </a:solidFill>
              </a:rPr>
              <a:t>FTAI Aviation</a:t>
            </a:r>
            <a:endParaRPr lang="en-US" sz="3000" dirty="0"/>
          </a:p>
          <a:p>
            <a:pPr indent="0" marL="0">
              <a:buNone/>
            </a:pPr>
            <a:r>
              <a:rPr lang="en-US" sz="2600" dirty="0">
                <a:solidFill>
                  <a:schemeClr val="tx2"/>
                </a:solidFill>
              </a:rPr>
              <a:t>(NASDAQ: FTAI)</a:t>
            </a:r>
            <a:endParaRPr lang="en-US" sz="3000" dirty="0"/>
          </a:p>
        </p:txBody>
      </p:sp>
      <p:pic>
        <p:nvPicPr>
          <p:cNvPr id="3" name="FTAI logo" descr="/home/user/SPOT/deck/img/ftai_logo.png">    </p:cNvPr>
          <p:cNvPicPr>
            <a:picLocks noChangeAspect="1"/>
          </p:cNvPicPr>
          <p:nvPr/>
        </p:nvPicPr>
        <p:blipFill>
          <a:blip r:embed="rId1"/>
          <a:stretch>
            <a:fillRect/>
          </a:stretch>
        </p:blipFill>
        <p:spPr>
          <a:xfrm>
            <a:off x="6766560" y="365760"/>
            <a:ext cx="2011680" cy="766953"/>
          </a:xfrm>
          <a:prstGeom prst="rect">
            <a:avLst/>
          </a:prstGeom>
        </p:spPr>
      </p:pic>
      <p:sp>
        <p:nvSpPr>
          <p:cNvPr id="4" name="Cover label"/>
          <p:cNvSpPr txBox="1"/>
          <p:nvPr/>
        </p:nvSpPr>
        <p:spPr>
          <a:xfrm>
            <a:off x="548640" y="2926080"/>
            <a:ext cx="8046720" cy="822960"/>
          </a:xfrm>
          <a:prstGeom prst="rect">
            <a:avLst/>
          </a:prstGeom>
          <a:noFill/>
          <a:ln/>
        </p:spPr>
        <p:txBody>
          <a:bodyPr wrap="square" lIns="0" tIns="0" rIns="0" bIns="0" rtlCol="0" anchor="ctr"/>
          <a:lstStyle/>
          <a:p>
            <a:pPr algn="ctr" indent="0" marL="0">
              <a:buNone/>
            </a:pPr>
            <a:r>
              <a:rPr lang="en-US" sz="4400" b="1" dirty="0">
                <a:solidFill>
                  <a:schemeClr val="tx2"/>
                </a:solidFill>
              </a:rPr>
              <a:t>Appendix</a:t>
            </a:r>
            <a:endParaRPr lang="en-US" sz="4400" dirty="0"/>
          </a:p>
        </p:txBody>
      </p:sp>
      <p:pic>
        <p:nvPicPr>
          <p:cNvPr id="5" name="GPS logo" descr="/home/user/SPOT/deck/gps_logo.jpeg">    </p:cNvPr>
          <p:cNvPicPr>
            <a:picLocks noChangeAspect="1"/>
          </p:cNvPicPr>
          <p:nvPr/>
        </p:nvPicPr>
        <p:blipFill>
          <a:blip r:embed="rId2"/>
          <a:stretch>
            <a:fillRect/>
          </a:stretch>
        </p:blipFill>
        <p:spPr>
          <a:xfrm>
            <a:off x="5897880" y="5532120"/>
            <a:ext cx="1234440" cy="1133856"/>
          </a:xfrm>
          <a:prstGeom prst="rect">
            <a:avLst/>
          </a:prstGeom>
        </p:spPr>
      </p:pic>
      <p:sp>
        <p:nvSpPr>
          <p:cNvPr id="6" name="Logo divider"/>
          <p:cNvSpPr/>
          <p:nvPr/>
        </p:nvSpPr>
        <p:spPr>
          <a:xfrm>
            <a:off x="7360920" y="5577840"/>
            <a:ext cx="0" cy="1097280"/>
          </a:xfrm>
          <a:prstGeom prst="line">
            <a:avLst/>
          </a:prstGeom>
          <a:noFill/>
          <a:ln w="12700">
            <a:solidFill>
              <a:srgbClr val="847C7A"/>
            </a:solidFill>
            <a:prstDash val="solid"/>
          </a:ln>
        </p:spPr>
      </p:sp>
      <p:sp>
        <p:nvSpPr>
          <p:cNvPr id="7"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Max</a:t>
            </a:r>
            <a:endParaRPr lang="en-US" sz="1800" dirty="0"/>
          </a:p>
          <a:p>
            <a:pPr algn="ctr" indent="0" marL="0">
              <a:buNone/>
            </a:pPr>
            <a:r>
              <a:rPr lang="en-US" sz="1800" b="1" dirty="0">
                <a:solidFill>
                  <a:schemeClr val="accent2"/>
                </a:solidFill>
              </a:rPr>
              <a:t>Salomon</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(1/2)</a:t>
            </a:r>
            <a:endParaRPr lang="en-US" sz="3000" dirty="0"/>
          </a:p>
        </p:txBody>
      </p:sp>
      <p:pic>
        <p:nvPicPr>
          <p:cNvPr id="3" name="PV bridge" descr="/home/user/SPOT/deck/img/app_pv.png">    </p:cNvPr>
          <p:cNvPicPr>
            <a:picLocks noChangeAspect="1"/>
          </p:cNvPicPr>
          <p:nvPr/>
        </p:nvPicPr>
        <p:blipFill>
          <a:blip r:embed="rId1"/>
          <a:stretch>
            <a:fillRect/>
          </a:stretch>
        </p:blipFill>
        <p:spPr>
          <a:xfrm>
            <a:off x="320040" y="1188720"/>
            <a:ext cx="8503920" cy="1907905"/>
          </a:xfrm>
          <a:prstGeom prst="rect">
            <a:avLst/>
          </a:prstGeom>
        </p:spPr>
      </p:pic>
      <p:pic>
        <p:nvPicPr>
          <p:cNvPr id="4" name="Blended valuation" descr="/home/user/SPOT/deck/img/app_blend.png">    </p:cNvPr>
          <p:cNvPicPr>
            <a:picLocks noChangeAspect="1"/>
          </p:cNvPicPr>
          <p:nvPr/>
        </p:nvPicPr>
        <p:blipFill>
          <a:blip r:embed="rId2"/>
          <a:stretch>
            <a:fillRect/>
          </a:stretch>
        </p:blipFill>
        <p:spPr>
          <a:xfrm>
            <a:off x="1143000" y="3657600"/>
            <a:ext cx="6858000" cy="1403968"/>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(2/2)</a:t>
            </a:r>
            <a:endParaRPr lang="en-US" sz="3000" dirty="0"/>
          </a:p>
        </p:txBody>
      </p:sp>
      <p:pic>
        <p:nvPicPr>
          <p:cNvPr id="3" name="Valuation methods" descr="/home/user/SPOT/deck/img/app_methods.png">    </p:cNvPr>
          <p:cNvPicPr>
            <a:picLocks noChangeAspect="1"/>
          </p:cNvPicPr>
          <p:nvPr/>
        </p:nvPicPr>
        <p:blipFill>
          <a:blip r:embed="rId1"/>
          <a:stretch>
            <a:fillRect/>
          </a:stretch>
        </p:blipFill>
        <p:spPr>
          <a:xfrm>
            <a:off x="320040" y="1143000"/>
            <a:ext cx="8503920" cy="3760294"/>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base case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DCF Sensitivities</a:t>
            </a:r>
            <a:endParaRPr lang="en-US" sz="3000" dirty="0"/>
          </a:p>
        </p:txBody>
      </p:sp>
      <p:pic>
        <p:nvPicPr>
          <p:cNvPr id="3" name="Sensitivity tables" descr="/home/user/SPOT/deck/img/app_sens.png">    </p:cNvPr>
          <p:cNvPicPr>
            <a:picLocks noChangeAspect="1"/>
          </p:cNvPicPr>
          <p:nvPr/>
        </p:nvPicPr>
        <p:blipFill>
          <a:blip r:embed="rId1"/>
          <a:stretch>
            <a:fillRect/>
          </a:stretch>
        </p:blipFill>
        <p:spPr>
          <a:xfrm>
            <a:off x="1188720" y="1097280"/>
            <a:ext cx="6766560" cy="4127018"/>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implied share price by WACC, terminal growth and exit multiple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Sum of the Parts</a:t>
            </a:r>
            <a:endParaRPr lang="en-US" sz="3000" dirty="0"/>
          </a:p>
        </p:txBody>
      </p:sp>
      <p:pic>
        <p:nvPicPr>
          <p:cNvPr id="3" name="SOTP table" descr="/home/user/SPOT/deck/img/app_sotp.png">    </p:cNvPr>
          <p:cNvPicPr>
            <a:picLocks noChangeAspect="1"/>
          </p:cNvPicPr>
          <p:nvPr/>
        </p:nvPicPr>
        <p:blipFill>
          <a:blip r:embed="rId1"/>
          <a:stretch>
            <a:fillRect/>
          </a:stretch>
        </p:blipFill>
        <p:spPr>
          <a:xfrm>
            <a:off x="320040" y="1188720"/>
            <a:ext cx="8503920" cy="2627390"/>
          </a:xfrm>
          <a:prstGeom prst="rect">
            <a:avLst/>
          </a:prstGeom>
        </p:spPr>
      </p:pic>
      <p:sp>
        <p:nvSpPr>
          <p:cNvPr id="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(DCF tab): FY27E SOTP</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Power Model</a:t>
            </a:r>
            <a:endParaRPr lang="en-US" sz="3000" dirty="0"/>
          </a:p>
        </p:txBody>
      </p:sp>
      <p:pic>
        <p:nvPicPr>
          <p:cNvPr id="3" name="Mod-1 build" descr="/home/user/SPOT/deck/img/app_power.png">    </p:cNvPr>
          <p:cNvPicPr>
            <a:picLocks noChangeAspect="1"/>
          </p:cNvPicPr>
          <p:nvPr/>
        </p:nvPicPr>
        <p:blipFill>
          <a:blip r:embed="rId1"/>
          <a:stretch>
            <a:fillRect/>
          </a:stretch>
        </p:blipFill>
        <p:spPr>
          <a:xfrm>
            <a:off x="320040" y="1097280"/>
            <a:ext cx="8503920" cy="1845190"/>
          </a:xfrm>
          <a:prstGeom prst="rect">
            <a:avLst/>
          </a:prstGeom>
        </p:spPr>
      </p:pic>
      <p:pic>
        <p:nvPicPr>
          <p:cNvPr id="4" name="Power shortfall" descr="/home/user/SPOT/deck/img/app_shortfall.png">    </p:cNvPr>
          <p:cNvPicPr>
            <a:picLocks noChangeAspect="1"/>
          </p:cNvPicPr>
          <p:nvPr/>
        </p:nvPicPr>
        <p:blipFill>
          <a:blip r:embed="rId2"/>
          <a:stretch>
            <a:fillRect/>
          </a:stretch>
        </p:blipFill>
        <p:spPr>
          <a:xfrm>
            <a:off x="1463040" y="3246120"/>
            <a:ext cx="6217920" cy="1571670"/>
          </a:xfrm>
          <a:prstGeom prst="rect">
            <a:avLst/>
          </a:prstGeom>
        </p:spPr>
      </p:pic>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Mod-1 build; Power outlook tab, NERC 2025 LTRA inputs)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3" type="title" hasCustomPrompt="1"/>
          </p:nvPr>
        </p:nvSpPr>
        <p:spPr>
          <a:xfrm>
            <a:off x="320040" y="182880"/>
            <a:ext cx="7040880" cy="640080"/>
          </a:xfrm>
          <a:prstGeom prst="rect">
            <a:avLst/>
          </a:prstGeom>
          <a:noFill/>
          <a:ln/>
        </p:spPr>
        <p:txBody>
          <a:bodyPr wrap="square" lIns="0" tIns="0" rIns="0" bIns="0" rtlCol="0" anchor="ctr"/>
          <a:lstStyle/>
          <a:p>
            <a:pPr algn="l" indent="0" marL="0">
              <a:buNone/>
            </a:pPr>
            <a:r>
              <a:rPr lang="en-US" sz="3000" b="1" dirty="0">
                <a:solidFill>
                  <a:schemeClr val="tx2"/>
                </a:solidFill>
              </a:rPr>
              <a:t>Appendix: Repair Pricing</a:t>
            </a:r>
            <a:endParaRPr lang="en-US" sz="3000" dirty="0"/>
          </a:p>
        </p:txBody>
      </p:sp>
      <p:pic>
        <p:nvPicPr>
          <p:cNvPr id="3" name="Pricing summary" descr="/home/user/SPOT/deck/img/app_pricing.png">    </p:cNvPr>
          <p:cNvPicPr>
            <a:picLocks noChangeAspect="1"/>
          </p:cNvPicPr>
          <p:nvPr/>
        </p:nvPicPr>
        <p:blipFill>
          <a:blip r:embed="rId1"/>
          <a:stretch>
            <a:fillRect/>
          </a:stretch>
        </p:blipFill>
        <p:spPr>
          <a:xfrm>
            <a:off x="320040" y="1097280"/>
            <a:ext cx="8503920" cy="2802382"/>
          </a:xfrm>
          <a:prstGeom prst="rect">
            <a:avLst/>
          </a:prstGeom>
        </p:spPr>
      </p:pic>
      <p:sp>
        <p:nvSpPr>
          <p:cNvPr id="4" name="Pricing takeaway"/>
          <p:cNvSpPr txBox="1"/>
          <p:nvPr/>
        </p:nvSpPr>
        <p:spPr>
          <a:xfrm>
            <a:off x="320040" y="4343400"/>
            <a:ext cx="8503920" cy="548640"/>
          </a:xfrm>
          <a:prstGeom prst="rect">
            <a:avLst/>
          </a:prstGeom>
          <a:solidFill>
            <a:srgbClr val="EFEDEA"/>
          </a:solidFill>
          <a:ln w="19050">
            <a:solidFill>
              <a:srgbClr val="EE6E25"/>
            </a:solidFill>
          </a:ln>
        </p:spPr>
        <p:txBody>
          <a:bodyPr wrap="square" lIns="0" tIns="0" rIns="0" bIns="0" rtlCol="0" anchor="ctr"/>
          <a:lstStyle/>
          <a:p>
            <a:pPr algn="ctr" indent="0" marL="0">
              <a:buNone/>
            </a:pPr>
            <a:r>
              <a:rPr lang="en-US" sz="1500" b="1" dirty="0">
                <a:solidFill>
                  <a:schemeClr val="tx2"/>
                </a:solidFill>
              </a:rPr>
              <a:t>OEM list prices rose a median ~6% a year across ~3,400 matched parts, with almost none falling.</a:t>
            </a:r>
            <a:endParaRPr lang="en-US" sz="1500" dirty="0"/>
          </a:p>
        </p:txBody>
      </p:sp>
      <p:sp>
        <p:nvSpPr>
          <p:cNvPr id="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(Pricing Data tab): matched OEM catalogue parts, CFM56-5B and -7B</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35</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2E93AE"/>
      </a:accent5>
      <a:accent6>
        <a:srgbClr val="EE6E25"/>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2026-10-09T00:41:33Z</dcterms:created>
  <dcterms:modified xsi:type="dcterms:W3CDTF">2026-10-09T00:41:33Z</dcterms:modified>
</cp:coreProperties>
</file>