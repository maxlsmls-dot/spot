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a5fd3e3-830a-3cb4-fa00-dfcb0e690e8e}">
          <p14:sldIdLst>
            <p14:sldId id="256"/>
          </p14:sldIdLst>
        </p14:section>
        <p14:section name="The Opportunity" id="{76ce88c0-3f97-710f-b110-9180d81a326d}">
          <p14:sldIdLst>
            <p14:sldId id="257"/>
            <p14:sldId id="258"/>
            <p14:sldId id="259"/>
            <p14:sldId id="260"/>
          </p14:sldIdLst>
        </p14:section>
        <p14:section name="Returns" id="{1f95a548-60d9-4158-b20e-0fa250019a29}">
          <p14:sldIdLst>
            <p14:sldId id="261"/>
          </p14:sldIdLst>
        </p14:section>
        <p14:section name="Business Overview" id="{ae4f367c-f94c-d35c-a2c3-241f919a117a}">
          <p14:sldIdLst>
            <p14:sldId id="262"/>
            <p14:sldId id="263"/>
          </p14:sldIdLst>
        </p14:section>
        <p14:section name="Thesis 1a" id="{7a629b77-dd95-51cf-d17e-31a132ce0c71}">
          <p14:sldIdLst>
            <p14:sldId id="264"/>
            <p14:sldId id="265"/>
            <p14:sldId id="266"/>
            <p14:sldId id="267"/>
          </p14:sldIdLst>
        </p14:section>
        <p14:section name="Thesis 1b" id="{372875a0-a372-a0b0-372f-019eff236620}">
          <p14:sldIdLst>
            <p14:sldId id="268"/>
            <p14:sldId id="269"/>
            <p14:sldId id="270"/>
            <p14:sldId id="271"/>
            <p14:sldId id="272"/>
            <p14:sldId id="273"/>
            <p14:sldId id="274"/>
          </p14:sldIdLst>
        </p14:section>
        <p14:section name="Thesis 2" id="{a99988b5-cadc-c71b-d2fa-8f0ab752d5b2}">
          <p14:sldIdLst>
            <p14:sldId id="275"/>
            <p14:sldId id="276"/>
            <p14:sldId id="277"/>
            <p14:sldId id="278"/>
          </p14:sldIdLst>
        </p14:section>
        <p14:section name="Valuation" id="{1fd9627b-771b-8c53-17f1-5e75d4676611}">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Sheet1!$A$2:$A$4</c:f>
              <c:multiLvlStrCache>
                <c:ptCount val="3"/>
                <c:lvl>
                  <c:pt idx="0">
                    <c:v>Margins only</c:v>
                  </c:pt>
                  <c:pt idx="1">
                    <c:v>Share only</c:v>
                  </c:pt>
                  <c:pt idx="2">
                    <c:v>Power only</c:v>
                  </c:pt>
                </c:lvl>
              </c:multiLvlStrCache>
            </c:multiLvlStrRef>
          </c:cat>
          <c:val>
            <c:numRef>
              <c:f>Sheet1!$B$2:$B$4</c:f>
              <c:numCache>
                <c:formatCode>General</c:formatCode>
                <c:ptCount val="3"/>
                <c:pt idx="0">
                  <c:v>0.12</c:v>
                </c:pt>
                <c:pt idx="1">
                  <c:v>0.22</c:v>
                </c:pt>
                <c:pt idx="2">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only $187 (+12%), share only $203 (+22%), Power (signed order) only $227 (+36%). All three = $277 (+66%).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FTAI's speed and new capacity take it to 20% of CFM56 module work.</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two at our bear case, with no Power</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with each thesis switched on alone vs. bear-case margins and share and no Power</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2026-10-08T23:38:07Z</dcterms:created>
  <dcterms:modified xsi:type="dcterms:W3CDTF">2026-10-08T23:38:07Z</dcterms:modified>
</cp:coreProperties>
</file>