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6f02f5a6-dc43-1ee2-9535-a9708f533475}">
          <p14:sldIdLst>
            <p14:sldId id="256"/>
          </p14:sldIdLst>
        </p14:section>
        <p14:section name="The Opportunity" id="{9ae56ad3-5f16-ec52-07f1-37933beff07f}">
          <p14:sldIdLst>
            <p14:sldId id="257"/>
            <p14:sldId id="258"/>
            <p14:sldId id="259"/>
            <p14:sldId id="260"/>
          </p14:sldIdLst>
        </p14:section>
        <p14:section name="Business Overview" id="{77b7aa6d-0535-624e-8eed-9755271bbafa}">
          <p14:sldIdLst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  <c:pt idx="6">
                    <c:v>FY26E</c:v>
                  </c:pt>
                  <c:pt idx="7">
                    <c:v>FY27E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0.359</c:v>
                </c:pt>
                <c:pt idx="1">
                  <c:v>0.336</c:v>
                </c:pt>
                <c:pt idx="2">
                  <c:v>0.348</c:v>
                </c:pt>
                <c:pt idx="3">
                  <c:v>0.346</c:v>
                </c:pt>
                <c:pt idx="4">
                  <c:v>0.299</c:v>
                </c:pt>
                <c:pt idx="5">
                  <c:v>0.285</c:v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Mgmt. guide</c:v>
                </c:pt>
              </c:strCache>
            </c:strRef>
          </c:tx>
          <c:spPr>
            <a:solidFill>
              <a:srgbClr val="B5AEA9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  <c:pt idx="6">
                    <c:v>FY26E</c:v>
                  </c:pt>
                  <c:pt idx="7">
                    <c:v>FY27E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0.3</c:v>
                </c:pt>
                <c:pt idx="7">
                  <c:v>0.3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</c:v>
                </c:pt>
              </c:strCache>
            </c:strRef>
          </c:tx>
          <c:spPr>
            <a:solidFill>
              <a:srgbClr val="B5AEA9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5AEA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A1C5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5350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Light</c:v>
                  </c:pt>
                  <c:pt idx="1">
                    <c:v>Heavy</c:v>
                  </c:pt>
                  <c:pt idx="2">
                    <c:v>Blended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0.417</c:v>
                </c:pt>
                <c:pt idx="1">
                  <c:v>0.25</c:v>
                </c:pt>
                <c:pt idx="2">
                  <c:v>0.306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EV / EBITDA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&quot;x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15.9</c:v>
                </c:pt>
                <c:pt idx="1">
                  <c:v>9.8</c:v>
                </c:pt>
                <c:pt idx="2">
                  <c:v>6.8</c:v>
                </c:pt>
              </c:numCache>
            </c:numRef>
          </c:val>
        </c:ser>
        <c:dLbls>
          <c:numFmt formatCode="0.0&quot;x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&quot;$&quot;0;;;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Current Price</c:v>
                  </c:pt>
                  <c:pt idx="1">
                    <c:v>Core ex-Power</c:v>
                  </c:pt>
                  <c:pt idx="2">
                    <c:v>Power</c:v>
                  </c:pt>
                  <c:pt idx="3">
                    <c:v>SOTP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224.75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&quot;$&quot;0;;;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Current Price</c:v>
                  </c:pt>
                  <c:pt idx="1">
                    <c:v>Core ex-Power</c:v>
                  </c:pt>
                  <c:pt idx="2">
                    <c:v>Power</c:v>
                  </c:pt>
                  <c:pt idx="3">
                    <c:v>SOTP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167.03</c:v>
                </c:pt>
                <c:pt idx="1">
                  <c:v>224.75</c:v>
                </c:pt>
                <c:pt idx="2">
                  <c:v>0</c:v>
                </c:pt>
                <c:pt idx="3">
                  <c:v>276.65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Power</c:v>
                </c:pt>
              </c:strCache>
            </c:strRef>
          </c:tx>
          <c:spPr>
            <a:solidFill>
              <a:srgbClr val="847C7A"/>
            </a:solidFill>
            <a:effectLst/>
          </c:spPr>
          <c:invertIfNegative val="0"/>
          <c:dLbls>
            <c:numFmt formatCode="&quot;$&quot;0;;;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Current Price</c:v>
                  </c:pt>
                  <c:pt idx="1">
                    <c:v>Core ex-Power</c:v>
                  </c:pt>
                  <c:pt idx="2">
                    <c:v>Power</c:v>
                  </c:pt>
                  <c:pt idx="3">
                    <c:v>SOTP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51.9</c:v>
                </c:pt>
                <c:pt idx="3">
                  <c:v>0</c:v>
                </c:pt>
              </c:numCache>
            </c:numRef>
          </c:val>
        </c:ser>
        <c:dLbls>
          <c:numFmt formatCode="&quot;$&quot;0;;;" sourceLinked="0"/>
          <c:txPr>
            <a:bodyPr/>
            <a:lstStyle/>
            <a:p>
              <a:pPr>
                <a:defRPr b="1" i="0" strike="noStrike" sz="15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Price as of 10/2/26. Target is the base-case blended DCF: 50% perpetuity growth ($281) and 50% exit multiple ($335). R/R = 132% bull blended upside vs. 39% bear blended downside.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Reported quarterly Aerospace Products Adj. EBITDA margins from the RPM tab. Q4'25 34.6% to Q1'26 29.9% = -470 bps. Mix example is management's: a 6,000-cycle engine sold for ~$6M earns ~$2.5M; a 10,000-cycle engine sold for ~$12M earns ~$3M; one of each blends to ~30%.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 of $20.56B at $167.03 (10/2/26) over Jefferies Adj. EBITDA of $1,289M (FY26E), $2,099M (FY27E) and $3,023M (FY28E).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SOTP on FY27E EBITDA: Aerospace Products $1,541M at 16x ($237/sh), Power $450M at 12x ($52/sh, low end of guide), Aviation Leasing + SCI $455M at 9x ($39/sh), less corporate (-$28/sh), net debt (-$23/sh) and preferred (-$1/sh) = $277/sh. Ex-Power = $225/sh vs. $167.03 current (10/2/26), a 26% discount.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868680"/>
            <a:ext cx="8503920" cy="0"/>
          </a:xfrm>
          <a:prstGeom prst="line">
            <a:avLst/>
          </a:prstGeom>
          <a:noFill/>
          <a:ln w="15875">
            <a:solidFill>
              <a:srgbClr val="0A1C58"/>
            </a:solidFill>
            <a:prstDash val="solid"/>
          </a:ln>
        </p:spPr>
      </p:sp>
      <p:pic>
        <p:nvPicPr>
          <p:cNvPr id="3" name="Image 0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9872" y="6144768"/>
            <a:ext cx="621792" cy="566928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320040" y="18288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Content Sub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868680"/>
            <a:ext cx="8503920" cy="0"/>
          </a:xfrm>
          <a:prstGeom prst="line">
            <a:avLst/>
          </a:prstGeom>
          <a:noFill/>
          <a:ln w="15875">
            <a:solidFill>
              <a:srgbClr val="0A1C58"/>
            </a:solidFill>
            <a:prstDash val="solid"/>
          </a:ln>
        </p:spPr>
      </p:sp>
      <p:pic>
        <p:nvPicPr>
          <p:cNvPr id="3" name="Image 0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9872" y="6144768"/>
            <a:ext cx="621792" cy="566928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320040" y="18288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548640" y="320040"/>
            <a:ext cx="6400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FTAI Aviation</a:t>
            </a:r>
            <a:endParaRPr lang="en-US" sz="3400" dirty="0"/>
          </a:p>
          <a:p>
            <a:pPr indent="0" marL="0">
              <a:buNone/>
            </a:pPr>
            <a:r>
              <a:rPr lang="en-US" sz="3000" dirty="0">
                <a:solidFill>
                  <a:schemeClr val="tx2"/>
                </a:solidFill>
              </a:rPr>
              <a:t>(NASDAQ: FTAI)</a:t>
            </a:r>
            <a:endParaRPr lang="en-US" sz="3400" dirty="0"/>
          </a:p>
        </p:txBody>
      </p:sp>
      <p:sp>
        <p:nvSpPr>
          <p:cNvPr id="3" name="Recommendation"/>
          <p:cNvSpPr txBox="1"/>
          <p:nvPr/>
        </p:nvSpPr>
        <p:spPr>
          <a:xfrm>
            <a:off x="548640" y="15087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Long Recommendation</a:t>
            </a:r>
            <a:endParaRPr lang="en-US" sz="2800" dirty="0"/>
          </a:p>
        </p:txBody>
      </p:sp>
      <p:sp>
        <p:nvSpPr>
          <p:cNvPr id="4" name="Stat 1 value"/>
          <p:cNvSpPr txBox="1"/>
          <p:nvPr/>
        </p:nvSpPr>
        <p:spPr>
          <a:xfrm>
            <a:off x="548640" y="25146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$167</a:t>
            </a:r>
            <a:endParaRPr lang="en-US" sz="4800" dirty="0"/>
          </a:p>
        </p:txBody>
      </p:sp>
      <p:sp>
        <p:nvSpPr>
          <p:cNvPr id="5" name="Stat 1 label"/>
          <p:cNvSpPr txBox="1"/>
          <p:nvPr/>
        </p:nvSpPr>
        <p:spPr>
          <a:xfrm>
            <a:off x="548640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Current Price</a:t>
            </a:r>
            <a:endParaRPr lang="en-US" sz="1600" dirty="0"/>
          </a:p>
        </p:txBody>
      </p:sp>
      <p:sp>
        <p:nvSpPr>
          <p:cNvPr id="6" name="Stat 2 value"/>
          <p:cNvSpPr txBox="1"/>
          <p:nvPr/>
        </p:nvSpPr>
        <p:spPr>
          <a:xfrm>
            <a:off x="2560320" y="25146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$308</a:t>
            </a:r>
            <a:endParaRPr lang="en-US" sz="4800" dirty="0"/>
          </a:p>
        </p:txBody>
      </p:sp>
      <p:sp>
        <p:nvSpPr>
          <p:cNvPr id="7" name="Stat 2 label"/>
          <p:cNvSpPr txBox="1"/>
          <p:nvPr/>
        </p:nvSpPr>
        <p:spPr>
          <a:xfrm>
            <a:off x="2560320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Target Price</a:t>
            </a:r>
            <a:endParaRPr lang="en-US" sz="1600" dirty="0"/>
          </a:p>
        </p:txBody>
      </p:sp>
      <p:sp>
        <p:nvSpPr>
          <p:cNvPr id="8" name="Stat divider 1"/>
          <p:cNvSpPr/>
          <p:nvPr/>
        </p:nvSpPr>
        <p:spPr>
          <a:xfrm>
            <a:off x="2560320" y="2697480"/>
            <a:ext cx="0" cy="10515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9" name="Stat 3 value"/>
          <p:cNvSpPr txBox="1"/>
          <p:nvPr/>
        </p:nvSpPr>
        <p:spPr>
          <a:xfrm>
            <a:off x="4572000" y="25146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84%</a:t>
            </a:r>
            <a:endParaRPr lang="en-US" sz="4800" dirty="0"/>
          </a:p>
        </p:txBody>
      </p:sp>
      <p:sp>
        <p:nvSpPr>
          <p:cNvPr id="10" name="Stat 3 label"/>
          <p:cNvSpPr txBox="1"/>
          <p:nvPr/>
        </p:nvSpPr>
        <p:spPr>
          <a:xfrm>
            <a:off x="4572000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Upside</a:t>
            </a:r>
            <a:endParaRPr lang="en-US" sz="1600" dirty="0"/>
          </a:p>
        </p:txBody>
      </p:sp>
      <p:sp>
        <p:nvSpPr>
          <p:cNvPr id="11" name="Stat divider 2"/>
          <p:cNvSpPr/>
          <p:nvPr/>
        </p:nvSpPr>
        <p:spPr>
          <a:xfrm>
            <a:off x="4572000" y="2697480"/>
            <a:ext cx="0" cy="10515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2" name="Stat 4 value"/>
          <p:cNvSpPr txBox="1"/>
          <p:nvPr/>
        </p:nvSpPr>
        <p:spPr>
          <a:xfrm>
            <a:off x="6583680" y="25146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3.4x</a:t>
            </a:r>
            <a:endParaRPr lang="en-US" sz="4800" dirty="0"/>
          </a:p>
        </p:txBody>
      </p:sp>
      <p:sp>
        <p:nvSpPr>
          <p:cNvPr id="13" name="Stat 4 label"/>
          <p:cNvSpPr txBox="1"/>
          <p:nvPr/>
        </p:nvSpPr>
        <p:spPr>
          <a:xfrm>
            <a:off x="6583680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Reward / Risk</a:t>
            </a:r>
            <a:endParaRPr lang="en-US" sz="1600" dirty="0"/>
          </a:p>
        </p:txBody>
      </p:sp>
      <p:sp>
        <p:nvSpPr>
          <p:cNvPr id="14" name="Stat divider 3"/>
          <p:cNvSpPr/>
          <p:nvPr/>
        </p:nvSpPr>
        <p:spPr>
          <a:xfrm>
            <a:off x="6583680" y="2697480"/>
            <a:ext cx="0" cy="10515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5" name="Quote"/>
          <p:cNvSpPr txBox="1"/>
          <p:nvPr/>
        </p:nvSpPr>
        <p:spPr>
          <a:xfrm>
            <a:off x="411480" y="4206240"/>
            <a:ext cx="8321040" cy="73152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27000" tIns="50800" rIns="127000" bIns="5080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A1A"/>
                </a:solidFill>
              </a:rPr>
              <a:t>“Be fearful when others are greedy and greedy when others are fearful.”</a:t>
            </a:r>
            <a:endParaRPr lang="en-US" sz="1900" dirty="0"/>
          </a:p>
        </p:txBody>
      </p:sp>
      <p:sp>
        <p:nvSpPr>
          <p:cNvPr id="16" name="Quote attribution"/>
          <p:cNvSpPr txBox="1"/>
          <p:nvPr/>
        </p:nvSpPr>
        <p:spPr>
          <a:xfrm>
            <a:off x="411480" y="502920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rgbClr val="1A1A1A"/>
                </a:solidFill>
              </a:rPr>
              <a:t>— Warren Buffett</a:t>
            </a:r>
            <a:endParaRPr lang="en-US" sz="1900" dirty="0"/>
          </a:p>
        </p:txBody>
      </p:sp>
      <p:sp>
        <p:nvSpPr>
          <p:cNvPr id="17" name="Pitch details"/>
          <p:cNvSpPr txBox="1"/>
          <p:nvPr/>
        </p:nvSpPr>
        <p:spPr>
          <a:xfrm>
            <a:off x="548640" y="576072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Date: October 2026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Current Price: $167.03 (10/2/26)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Target Price: $308.03 (84% upside, 3.4x R/R)</a:t>
            </a:r>
            <a:endParaRPr lang="en-US" sz="1500" dirty="0"/>
          </a:p>
        </p:txBody>
      </p:sp>
      <p:pic>
        <p:nvPicPr>
          <p:cNvPr id="18" name="GPS logo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5532120"/>
            <a:ext cx="1234440" cy="1133856"/>
          </a:xfrm>
          <a:prstGeom prst="rect">
            <a:avLst/>
          </a:prstGeom>
        </p:spPr>
      </p:pic>
      <p:sp>
        <p:nvSpPr>
          <p:cNvPr id="19" name="Logo divider"/>
          <p:cNvSpPr/>
          <p:nvPr/>
        </p:nvSpPr>
        <p:spPr>
          <a:xfrm>
            <a:off x="7360920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20" name="Presenter"/>
          <p:cNvSpPr txBox="1"/>
          <p:nvPr/>
        </p:nvSpPr>
        <p:spPr>
          <a:xfrm>
            <a:off x="7452360" y="5669280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Presenter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Name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320040" y="18288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Opportunity</a:t>
            </a:r>
            <a:endParaRPr lang="en-US" sz="3200" dirty="0"/>
          </a:p>
        </p:txBody>
      </p:sp>
      <p:sp>
        <p:nvSpPr>
          <p:cNvPr id="3" name="Point 1"/>
          <p:cNvSpPr txBox="1"/>
          <p:nvPr/>
        </p:nvSpPr>
        <p:spPr>
          <a:xfrm>
            <a:off x="1600200" y="1188720"/>
            <a:ext cx="6629400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1Q26 margins compressed 500 bps, and management guided EBITDA margins down from 40% to 30% for two years.</a:t>
            </a:r>
            <a:endParaRPr lang="en-US" sz="1500" dirty="0"/>
          </a:p>
        </p:txBody>
      </p:sp>
      <p:sp>
        <p:nvSpPr>
          <p:cNvPr id="4" name="Point 1 number"/>
          <p:cNvSpPr/>
          <p:nvPr/>
        </p:nvSpPr>
        <p:spPr>
          <a:xfrm>
            <a:off x="1120140" y="121158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1</a:t>
            </a:r>
            <a:endParaRPr lang="en-US" sz="2600" dirty="0"/>
          </a:p>
        </p:txBody>
      </p:sp>
      <p:sp>
        <p:nvSpPr>
          <p:cNvPr id="5" name="Point 2"/>
          <p:cNvSpPr txBox="1"/>
          <p:nvPr/>
        </p:nvSpPr>
        <p:spPr>
          <a:xfrm>
            <a:off x="1600200" y="2304288"/>
            <a:ext cx="6629400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 fraud overhang from the 2025 short report leaves the market doubting this is the bottom: it still sees FTAI as over-earning.</a:t>
            </a:r>
            <a:endParaRPr lang="en-US" sz="1500" dirty="0"/>
          </a:p>
        </p:txBody>
      </p:sp>
      <p:sp>
        <p:nvSpPr>
          <p:cNvPr id="6" name="Point 2 number"/>
          <p:cNvSpPr/>
          <p:nvPr/>
        </p:nvSpPr>
        <p:spPr>
          <a:xfrm>
            <a:off x="1120140" y="2327148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2</a:t>
            </a:r>
            <a:endParaRPr lang="en-US" sz="2600" dirty="0"/>
          </a:p>
        </p:txBody>
      </p:sp>
      <p:sp>
        <p:nvSpPr>
          <p:cNvPr id="7" name="Point 3"/>
          <p:cNvSpPr txBox="1"/>
          <p:nvPr/>
        </p:nvSpPr>
        <p:spPr>
          <a:xfrm>
            <a:off x="1600200" y="3419856"/>
            <a:ext cx="6629400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We believe FTAI has reached steady state: margins have bottomed and share gains will drive volume growth.</a:t>
            </a:r>
            <a:endParaRPr lang="en-US" sz="1500" dirty="0"/>
          </a:p>
        </p:txBody>
      </p:sp>
      <p:sp>
        <p:nvSpPr>
          <p:cNvPr id="8" name="Point 3 number"/>
          <p:cNvSpPr/>
          <p:nvPr/>
        </p:nvSpPr>
        <p:spPr>
          <a:xfrm>
            <a:off x="1120140" y="3442716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3</a:t>
            </a:r>
            <a:endParaRPr lang="en-US" sz="2600" dirty="0"/>
          </a:p>
        </p:txBody>
      </p:sp>
      <p:sp>
        <p:nvSpPr>
          <p:cNvPr id="9" name="Funnel"/>
          <p:cNvSpPr/>
          <p:nvPr/>
        </p:nvSpPr>
        <p:spPr>
          <a:xfrm flipV="1">
            <a:off x="1188720" y="4553712"/>
            <a:ext cx="7040880" cy="411480"/>
          </a:xfrm>
          <a:prstGeom prst="triangle">
            <a:avLst/>
          </a:prstGeom>
          <a:solidFill>
            <a:srgbClr val="DCD8D3"/>
          </a:solidFill>
          <a:ln/>
        </p:spPr>
      </p:sp>
      <p:sp>
        <p:nvSpPr>
          <p:cNvPr id="10" name="Conclusion"/>
          <p:cNvSpPr txBox="1"/>
          <p:nvPr/>
        </p:nvSpPr>
        <p:spPr>
          <a:xfrm>
            <a:off x="1188720" y="5120640"/>
            <a:ext cx="7040880" cy="77724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market is pricing a trough as a cliff. We see 84% upside, with Power as a free call option.</a:t>
            </a:r>
            <a:endParaRPr lang="en-US" sz="1700" dirty="0"/>
          </a:p>
        </p:txBody>
      </p:sp>
      <p:sp>
        <p:nvSpPr>
          <p:cNvPr id="11" name="Source"/>
          <p:cNvSpPr txBox="1"/>
          <p:nvPr/>
        </p:nvSpPr>
        <p:spPr>
          <a:xfrm>
            <a:off x="3200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filings, earnings calls, GPS estimates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320040" y="18288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Opportunity (1/3)</a:t>
            </a:r>
            <a:endParaRPr lang="en-US" sz="32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 one quarter, Aerospace margins fell ~470 bps, and management guided ~30% for two years.</a:t>
            </a:r>
            <a:endParaRPr lang="en-US" sz="1700" dirty="0"/>
          </a:p>
        </p:txBody>
      </p:sp>
      <p:sp>
        <p:nvSpPr>
          <p:cNvPr id="4" name="Margin chart header"/>
          <p:cNvSpPr txBox="1"/>
          <p:nvPr/>
        </p:nvSpPr>
        <p:spPr>
          <a:xfrm>
            <a:off x="320040" y="155448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Aerospace Products Adj. EBITDA Margin</a:t>
            </a:r>
            <a:endParaRPr lang="en-US" sz="1600" dirty="0"/>
          </a:p>
        </p:txBody>
      </p:sp>
      <p:sp>
        <p:nvSpPr>
          <p:cNvPr id="5" name="Margin chart header rule"/>
          <p:cNvSpPr/>
          <p:nvPr/>
        </p:nvSpPr>
        <p:spPr>
          <a:xfrm>
            <a:off x="320040" y="1975104"/>
            <a:ext cx="525780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graphicFrame>
        <p:nvGraphicFramePr>
          <p:cNvPr id="6" name="Margin chart" descr=""/>
          <p:cNvGraphicFramePr/>
          <p:nvPr/>
        </p:nvGraphicFramePr>
        <p:xfrm>
          <a:off x="320040" y="2103120"/>
          <a:ext cx="52578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Guide label"/>
          <p:cNvSpPr txBox="1"/>
          <p:nvPr/>
        </p:nvSpPr>
        <p:spPr>
          <a:xfrm>
            <a:off x="4206240" y="27889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Mgmt. guide</a:t>
            </a:r>
            <a:endParaRPr lang="en-US" sz="1200" dirty="0"/>
          </a:p>
        </p:txBody>
      </p:sp>
      <p:sp>
        <p:nvSpPr>
          <p:cNvPr id="8" name="Compression callout"/>
          <p:cNvSpPr/>
          <p:nvPr/>
        </p:nvSpPr>
        <p:spPr>
          <a:xfrm>
            <a:off x="2606040" y="2103120"/>
            <a:ext cx="1097280" cy="1097280"/>
          </a:xfrm>
          <a:prstGeom prst="ellipse">
            <a:avLst/>
          </a:prstGeom>
          <a:solidFill>
            <a:srgbClr val="0A1C58"/>
          </a:solidFill>
          <a:ln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–470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bps q/q</a:t>
            </a:r>
            <a:endParaRPr lang="en-US" sz="2000" dirty="0"/>
          </a:p>
        </p:txBody>
      </p:sp>
      <p:sp>
        <p:nvSpPr>
          <p:cNvPr id="9" name="Mix chart header"/>
          <p:cNvSpPr txBox="1"/>
          <p:nvPr/>
        </p:nvSpPr>
        <p:spPr>
          <a:xfrm>
            <a:off x="5897880" y="1554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Management: “It's Mix”</a:t>
            </a:r>
            <a:endParaRPr lang="en-US" sz="1600" dirty="0"/>
          </a:p>
        </p:txBody>
      </p:sp>
      <p:sp>
        <p:nvSpPr>
          <p:cNvPr id="10" name="Mix chart header rule"/>
          <p:cNvSpPr/>
          <p:nvPr/>
        </p:nvSpPr>
        <p:spPr>
          <a:xfrm>
            <a:off x="5897880" y="1975104"/>
            <a:ext cx="292608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graphicFrame>
        <p:nvGraphicFramePr>
          <p:cNvPr id="11" name="Mix chart" descr=""/>
          <p:cNvGraphicFramePr/>
          <p:nvPr/>
        </p:nvGraphicFramePr>
        <p:xfrm>
          <a:off x="5897880" y="2103120"/>
          <a:ext cx="29260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Mix detail"/>
          <p:cNvSpPr txBox="1"/>
          <p:nvPr/>
        </p:nvSpPr>
        <p:spPr>
          <a:xfrm>
            <a:off x="5897880" y="4370832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Light: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$6M sale, $2.5M profit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Heavy: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$12M sale, $3.0M profit</a:t>
            </a:r>
            <a:endParaRPr lang="en-US" sz="1200" dirty="0"/>
          </a:p>
        </p:txBody>
      </p:sp>
      <p:sp>
        <p:nvSpPr>
          <p:cNvPr id="13" name="Mix kicker"/>
          <p:cNvSpPr txBox="1"/>
          <p:nvPr/>
        </p:nvSpPr>
        <p:spPr>
          <a:xfrm>
            <a:off x="5897880" y="49834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chemeClr val="tx2"/>
                </a:solidFill>
              </a:rPr>
              <a:t>Lower margin, more dollars per job</a:t>
            </a:r>
            <a:endParaRPr lang="en-US" sz="1300" dirty="0"/>
          </a:p>
        </p:txBody>
      </p:sp>
      <p:sp>
        <p:nvSpPr>
          <p:cNvPr id="14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drop is real. Is ~30% the floor, or just a waypoint?</a:t>
            </a:r>
            <a:endParaRPr lang="en-US" sz="1700" dirty="0"/>
          </a:p>
        </p:txBody>
      </p:sp>
      <p:sp>
        <p:nvSpPr>
          <p:cNvPr id="15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calls, GPS model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320040" y="18288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Opportunity (2/3)</a:t>
            </a:r>
            <a:endParaRPr lang="en-US" sz="32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 2025 short report gave the market a darker explanation, and it stuck.</a:t>
            </a:r>
            <a:endParaRPr lang="en-US" sz="1700" dirty="0"/>
          </a:p>
        </p:txBody>
      </p:sp>
      <p:sp>
        <p:nvSpPr>
          <p:cNvPr id="4" name="Short thesis header"/>
          <p:cNvSpPr txBox="1"/>
          <p:nvPr/>
        </p:nvSpPr>
        <p:spPr>
          <a:xfrm>
            <a:off x="320040" y="1554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Short Thesis (Jan. 2025)</a:t>
            </a:r>
            <a:endParaRPr lang="en-US" sz="1600" dirty="0"/>
          </a:p>
        </p:txBody>
      </p:sp>
      <p:sp>
        <p:nvSpPr>
          <p:cNvPr id="5" name="Short thesis header rule"/>
          <p:cNvSpPr/>
          <p:nvPr/>
        </p:nvSpPr>
        <p:spPr>
          <a:xfrm>
            <a:off x="320040" y="1975104"/>
            <a:ext cx="457200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6" name="Short step 1"/>
          <p:cNvSpPr txBox="1"/>
          <p:nvPr/>
        </p:nvSpPr>
        <p:spPr>
          <a:xfrm>
            <a:off x="548640" y="2148840"/>
            <a:ext cx="4114800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Leasing engines sit on the books at depreciated value</a:t>
            </a:r>
            <a:endParaRPr lang="en-US" sz="1500" dirty="0"/>
          </a:p>
        </p:txBody>
      </p:sp>
      <p:sp>
        <p:nvSpPr>
          <p:cNvPr id="7" name="Short arrow 1"/>
          <p:cNvSpPr/>
          <p:nvPr/>
        </p:nvSpPr>
        <p:spPr>
          <a:xfrm>
            <a:off x="2395728" y="2907792"/>
            <a:ext cx="420624" cy="292608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8" name="Short step 2"/>
          <p:cNvSpPr txBox="1"/>
          <p:nvPr/>
        </p:nvSpPr>
        <p:spPr>
          <a:xfrm>
            <a:off x="548640" y="3227832"/>
            <a:ext cx="4114800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They are moved into Aerospace Products as inventory</a:t>
            </a:r>
            <a:endParaRPr lang="en-US" sz="1500" dirty="0"/>
          </a:p>
        </p:txBody>
      </p:sp>
      <p:sp>
        <p:nvSpPr>
          <p:cNvPr id="9" name="Short arrow 2"/>
          <p:cNvSpPr/>
          <p:nvPr/>
        </p:nvSpPr>
        <p:spPr>
          <a:xfrm>
            <a:off x="2395728" y="3986784"/>
            <a:ext cx="420624" cy="292608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0" name="Short step 3"/>
          <p:cNvSpPr txBox="1"/>
          <p:nvPr/>
        </p:nvSpPr>
        <p:spPr>
          <a:xfrm>
            <a:off x="548640" y="4306824"/>
            <a:ext cx="4114800" cy="73152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Sold at market prices, the low cost basis inflates AP margins</a:t>
            </a:r>
            <a:endParaRPr lang="en-US" sz="1500" dirty="0"/>
          </a:p>
        </p:txBody>
      </p:sp>
      <p:sp>
        <p:nvSpPr>
          <p:cNvPr id="11" name="Multiple header"/>
          <p:cNvSpPr txBox="1"/>
          <p:nvPr/>
        </p:nvSpPr>
        <p:spPr>
          <a:xfrm>
            <a:off x="5257800" y="15544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…So the Market Won't Pay Up</a:t>
            </a:r>
            <a:endParaRPr lang="en-US" sz="1600" dirty="0"/>
          </a:p>
        </p:txBody>
      </p:sp>
      <p:sp>
        <p:nvSpPr>
          <p:cNvPr id="12" name="Multiple header rule"/>
          <p:cNvSpPr/>
          <p:nvPr/>
        </p:nvSpPr>
        <p:spPr>
          <a:xfrm>
            <a:off x="5257800" y="1975104"/>
            <a:ext cx="356616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graphicFrame>
        <p:nvGraphicFramePr>
          <p:cNvPr id="13" name="Multiple chart" descr=""/>
          <p:cNvGraphicFramePr/>
          <p:nvPr/>
        </p:nvGraphicFramePr>
        <p:xfrm>
          <a:off x="5257800" y="2103120"/>
          <a:ext cx="35661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FY28 highlight"/>
          <p:cNvSpPr/>
          <p:nvPr/>
        </p:nvSpPr>
        <p:spPr>
          <a:xfrm>
            <a:off x="7644384" y="3383280"/>
            <a:ext cx="1024128" cy="1481328"/>
          </a:xfrm>
          <a:prstGeom prst="rect">
            <a:avLst/>
          </a:prstGeom>
          <a:ln w="25400">
            <a:solidFill>
              <a:schemeClr val="accent2"/>
            </a:solidFill>
            <a:prstDash val="dash"/>
          </a:ln>
        </p:spPr>
      </p:sp>
      <p:sp>
        <p:nvSpPr>
          <p:cNvPr id="15" name="Multiple caption"/>
          <p:cNvSpPr txBox="1"/>
          <p:nvPr/>
        </p:nvSpPr>
        <p:spPr>
          <a:xfrm>
            <a:off x="5257800" y="510235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2"/>
                </a:solidFill>
              </a:rPr>
              <a:t>EV / Adj. EBITDA (Jefferies estimates)</a:t>
            </a:r>
            <a:endParaRPr lang="en-US" sz="1200" dirty="0"/>
          </a:p>
        </p:txBody>
      </p:sp>
      <p:sp>
        <p:nvSpPr>
          <p:cNvPr id="16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market reads the margin reset as the short thesis unwinding, and prices FTAI as if it's still over-earning.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Muddy Waters Research (Jan. 2025), Jefferies (8/2/26), FTAI filings, GPS analysis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320040" y="18288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Opportunity (3/3)</a:t>
            </a:r>
            <a:endParaRPr lang="en-US" sz="32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The market assigns no value to Power: the stock trades below the core business alone.</a:t>
            </a:r>
            <a:endParaRPr lang="en-US" sz="1700" dirty="0"/>
          </a:p>
        </p:txBody>
      </p:sp>
      <p:sp>
        <p:nvSpPr>
          <p:cNvPr id="4" name="SOTP header"/>
          <p:cNvSpPr txBox="1"/>
          <p:nvPr/>
        </p:nvSpPr>
        <p:spPr>
          <a:xfrm>
            <a:off x="320040" y="155448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FY27E Sum of the Parts ($ / Share)</a:t>
            </a:r>
            <a:endParaRPr lang="en-US" sz="1600" dirty="0"/>
          </a:p>
        </p:txBody>
      </p:sp>
      <p:sp>
        <p:nvSpPr>
          <p:cNvPr id="5" name="SOTP header rule"/>
          <p:cNvSpPr/>
          <p:nvPr/>
        </p:nvSpPr>
        <p:spPr>
          <a:xfrm>
            <a:off x="320040" y="1975104"/>
            <a:ext cx="525780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graphicFrame>
        <p:nvGraphicFramePr>
          <p:cNvPr id="6" name="SOTP chart" descr=""/>
          <p:cNvGraphicFramePr/>
          <p:nvPr/>
        </p:nvGraphicFramePr>
        <p:xfrm>
          <a:off x="320040" y="2103120"/>
          <a:ext cx="52578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Discount callout"/>
          <p:cNvSpPr/>
          <p:nvPr/>
        </p:nvSpPr>
        <p:spPr>
          <a:xfrm>
            <a:off x="548640" y="2148840"/>
            <a:ext cx="1051560" cy="1051560"/>
          </a:xfrm>
          <a:prstGeom prst="ellipse">
            <a:avLst/>
          </a:prstGeom>
          <a:solidFill>
            <a:srgbClr val="0A1C58"/>
          </a:solidFill>
          <a:ln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26%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below core</a:t>
            </a:r>
            <a:endParaRPr lang="en-US" sz="2000" dirty="0"/>
          </a:p>
        </p:txBody>
      </p:sp>
      <p:sp>
        <p:nvSpPr>
          <p:cNvPr id="8" name="Power label"/>
          <p:cNvSpPr txBox="1"/>
          <p:nvPr/>
        </p:nvSpPr>
        <p:spPr>
          <a:xfrm>
            <a:off x="2971800" y="22860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Free call option</a:t>
            </a:r>
            <a:endParaRPr lang="en-US" sz="1200" dirty="0"/>
          </a:p>
        </p:txBody>
      </p:sp>
      <p:sp>
        <p:nvSpPr>
          <p:cNvPr id="9" name="Power stats header"/>
          <p:cNvSpPr txBox="1"/>
          <p:nvPr/>
        </p:nvSpPr>
        <p:spPr>
          <a:xfrm>
            <a:off x="5897880" y="1554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Power at a Glance</a:t>
            </a:r>
            <a:endParaRPr lang="en-US" sz="1600" dirty="0"/>
          </a:p>
        </p:txBody>
      </p:sp>
      <p:sp>
        <p:nvSpPr>
          <p:cNvPr id="10" name="Power stats header rule"/>
          <p:cNvSpPr/>
          <p:nvPr/>
        </p:nvSpPr>
        <p:spPr>
          <a:xfrm>
            <a:off x="5897880" y="1975104"/>
            <a:ext cx="292608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11" name="Power stat 1"/>
          <p:cNvSpPr txBox="1"/>
          <p:nvPr/>
        </p:nvSpPr>
        <p:spPr>
          <a:xfrm>
            <a:off x="5897880" y="2148840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$1.465B</a:t>
            </a:r>
            <a:endParaRPr lang="en-US" sz="3000" dirty="0"/>
          </a:p>
        </p:txBody>
      </p:sp>
      <p:sp>
        <p:nvSpPr>
          <p:cNvPr id="12" name="Power stat 1 label"/>
          <p:cNvSpPr txBox="1"/>
          <p:nvPr/>
        </p:nvSpPr>
        <p:spPr>
          <a:xfrm>
            <a:off x="5897880" y="26974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First hyperscaler order, via the J&amp;F JV</a:t>
            </a:r>
            <a:endParaRPr lang="en-US" sz="1300" dirty="0"/>
          </a:p>
        </p:txBody>
      </p:sp>
      <p:sp>
        <p:nvSpPr>
          <p:cNvPr id="13" name="Power stat 2"/>
          <p:cNvSpPr txBox="1"/>
          <p:nvPr/>
        </p:nvSpPr>
        <p:spPr>
          <a:xfrm>
            <a:off x="5897880" y="3227832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$450–750M</a:t>
            </a:r>
            <a:endParaRPr lang="en-US" sz="3000" dirty="0"/>
          </a:p>
        </p:txBody>
      </p:sp>
      <p:sp>
        <p:nvSpPr>
          <p:cNvPr id="14" name="Power stat 2 label"/>
          <p:cNvSpPr txBox="1"/>
          <p:nvPr/>
        </p:nvSpPr>
        <p:spPr>
          <a:xfrm>
            <a:off x="5897880" y="377647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FY27 Power EBITDA guide</a:t>
            </a:r>
            <a:endParaRPr lang="en-US" sz="1300" dirty="0"/>
          </a:p>
        </p:txBody>
      </p:sp>
      <p:sp>
        <p:nvSpPr>
          <p:cNvPr id="15" name="Power stat 3"/>
          <p:cNvSpPr txBox="1"/>
          <p:nvPr/>
        </p:nvSpPr>
        <p:spPr>
          <a:xfrm>
            <a:off x="5897880" y="4306824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25 MW</a:t>
            </a:r>
            <a:endParaRPr lang="en-US" sz="3000" dirty="0"/>
          </a:p>
        </p:txBody>
      </p:sp>
      <p:sp>
        <p:nvSpPr>
          <p:cNvPr id="16" name="Power stat 3 label"/>
          <p:cNvSpPr txBox="1"/>
          <p:nvPr/>
        </p:nvSpPr>
        <p:spPr>
          <a:xfrm>
            <a:off x="5897880" y="485546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Per unit, built from CFM56 cores</a:t>
            </a:r>
            <a:endParaRPr lang="en-US" sz="1300" dirty="0"/>
          </a:p>
        </p:txBody>
      </p:sp>
      <p:sp>
        <p:nvSpPr>
          <p:cNvPr id="17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 with Power at zero, FTAI is cheap. Power is a free call option on top.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calls, GPS SOTP (FY27E EBITDA × segment multiples)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320040" y="18288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Business Overview</a:t>
            </a:r>
            <a:endParaRPr lang="en-US" sz="32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keeps the world's best-selling jet engine flying, and turns old ones into power.</a:t>
            </a:r>
            <a:endParaRPr lang="en-US" sz="1700" dirty="0"/>
          </a:p>
        </p:txBody>
      </p:sp>
      <p:pic>
        <p:nvPicPr>
          <p:cNvPr id="4" name="Aerospace Products illustration" descr="/home/user/SPOT/deck/img/cfm5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00200"/>
            <a:ext cx="2377440" cy="1344168"/>
          </a:xfrm>
          <a:prstGeom prst="rect">
            <a:avLst/>
          </a:prstGeom>
        </p:spPr>
      </p:pic>
      <p:sp>
        <p:nvSpPr>
          <p:cNvPr id="5" name="Aerospace Products name"/>
          <p:cNvSpPr txBox="1"/>
          <p:nvPr/>
        </p:nvSpPr>
        <p:spPr>
          <a:xfrm>
            <a:off x="320040" y="303580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Aerospace Products</a:t>
            </a:r>
            <a:endParaRPr lang="en-US" sz="1800" dirty="0"/>
          </a:p>
        </p:txBody>
      </p:sp>
      <p:sp>
        <p:nvSpPr>
          <p:cNvPr id="6" name="Aerospace Products description"/>
          <p:cNvSpPr txBox="1"/>
          <p:nvPr/>
        </p:nvSpPr>
        <p:spPr>
          <a:xfrm>
            <a:off x="320040" y="342900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Restores and swaps CFM56 engine modules, so airlines get engines back in days, not months.</a:t>
            </a:r>
            <a:endParaRPr lang="en-US" sz="1300" dirty="0"/>
          </a:p>
        </p:txBody>
      </p:sp>
      <p:sp>
        <p:nvSpPr>
          <p:cNvPr id="7" name="Aerospace Products stat"/>
          <p:cNvSpPr txBox="1"/>
          <p:nvPr/>
        </p:nvSpPr>
        <p:spPr>
          <a:xfrm>
            <a:off x="502920" y="4434840"/>
            <a:ext cx="2286000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757 → 1,200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Modules, 2025 → 2026E</a:t>
            </a:r>
            <a:endParaRPr lang="en-US" sz="2200" dirty="0"/>
          </a:p>
        </p:txBody>
      </p:sp>
      <p:pic>
        <p:nvPicPr>
          <p:cNvPr id="8" name="FTAI Power illustration" descr="/home/user/SPOT/deck/img/pow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600200"/>
            <a:ext cx="2377440" cy="1344168"/>
          </a:xfrm>
          <a:prstGeom prst="rect">
            <a:avLst/>
          </a:prstGeom>
        </p:spPr>
      </p:pic>
      <p:sp>
        <p:nvSpPr>
          <p:cNvPr id="9" name="FTAI Power name"/>
          <p:cNvSpPr txBox="1"/>
          <p:nvPr/>
        </p:nvSpPr>
        <p:spPr>
          <a:xfrm>
            <a:off x="3246120" y="303580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FTAI Power</a:t>
            </a:r>
            <a:endParaRPr lang="en-US" sz="1800" dirty="0"/>
          </a:p>
        </p:txBody>
      </p:sp>
      <p:sp>
        <p:nvSpPr>
          <p:cNvPr id="10" name="FTAI Power description"/>
          <p:cNvSpPr txBox="1"/>
          <p:nvPr/>
        </p:nvSpPr>
        <p:spPr>
          <a:xfrm>
            <a:off x="3246120" y="342900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Converts CFM56 cores into 25 MW mobile gas turbines that power data centers.</a:t>
            </a:r>
            <a:endParaRPr lang="en-US" sz="1300" dirty="0"/>
          </a:p>
        </p:txBody>
      </p:sp>
      <p:sp>
        <p:nvSpPr>
          <p:cNvPr id="11" name="FTAI Power stat"/>
          <p:cNvSpPr txBox="1"/>
          <p:nvPr/>
        </p:nvSpPr>
        <p:spPr>
          <a:xfrm>
            <a:off x="3429000" y="4434840"/>
            <a:ext cx="2286000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$450–750M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FY27 EBITDA guide</a:t>
            </a:r>
            <a:endParaRPr lang="en-US" sz="2200" dirty="0"/>
          </a:p>
        </p:txBody>
      </p:sp>
      <p:sp>
        <p:nvSpPr>
          <p:cNvPr id="12" name="Column divider 1"/>
          <p:cNvSpPr/>
          <p:nvPr/>
        </p:nvSpPr>
        <p:spPr>
          <a:xfrm>
            <a:off x="3108960" y="1691640"/>
            <a:ext cx="0" cy="35661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pic>
        <p:nvPicPr>
          <p:cNvPr id="13" name="Leasing + SCI illustration" descr="/home/user/SPOT/deck/img/aircraf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2377440" cy="1344168"/>
          </a:xfrm>
          <a:prstGeom prst="rect">
            <a:avLst/>
          </a:prstGeom>
        </p:spPr>
      </p:pic>
      <p:sp>
        <p:nvSpPr>
          <p:cNvPr id="14" name="Leasing + SCI name"/>
          <p:cNvSpPr txBox="1"/>
          <p:nvPr/>
        </p:nvSpPr>
        <p:spPr>
          <a:xfrm>
            <a:off x="6172200" y="303580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Leasing + SCI</a:t>
            </a:r>
            <a:endParaRPr lang="en-US" sz="1800" dirty="0"/>
          </a:p>
        </p:txBody>
      </p:sp>
      <p:sp>
        <p:nvSpPr>
          <p:cNvPr id="15" name="Leasing + SCI description"/>
          <p:cNvSpPr txBox="1"/>
          <p:nvPr/>
        </p:nvSpPr>
        <p:spPr>
          <a:xfrm>
            <a:off x="6172200" y="342900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Leases jets and engines. The SCI partnership buys mid-life jets and sends all engine work to FTAI.</a:t>
            </a:r>
            <a:endParaRPr lang="en-US" sz="1300" dirty="0"/>
          </a:p>
        </p:txBody>
      </p:sp>
      <p:sp>
        <p:nvSpPr>
          <p:cNvPr id="16" name="Leasing + SCI stat"/>
          <p:cNvSpPr txBox="1"/>
          <p:nvPr/>
        </p:nvSpPr>
        <p:spPr>
          <a:xfrm>
            <a:off x="6355080" y="4434840"/>
            <a:ext cx="2286000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316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SCI aircraft, YE26E</a:t>
            </a:r>
            <a:endParaRPr lang="en-US" sz="2200" dirty="0"/>
          </a:p>
        </p:txBody>
      </p:sp>
      <p:sp>
        <p:nvSpPr>
          <p:cNvPr id="17" name="Column divider 2"/>
          <p:cNvSpPr/>
          <p:nvPr/>
        </p:nvSpPr>
        <p:spPr>
          <a:xfrm>
            <a:off x="6035040" y="1691640"/>
            <a:ext cx="0" cy="35661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8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One engine, three ways to earn: fix it, power with it, and own the planes it flies on.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calls, GPS model. Illustrations are schematic.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lobal Platinum Securities">
  <a:themeElements>
    <a:clrScheme name="Global Platinum Securities">
      <a:dk1>
        <a:srgbClr val="1A1A1A"/>
      </a:dk1>
      <a:lt1>
        <a:srgbClr val="FFFFFF"/>
      </a:lt1>
      <a:dk2>
        <a:srgbClr val="0A1C58"/>
      </a:dk2>
      <a:lt2>
        <a:srgbClr val="EFEDEA"/>
      </a:lt2>
      <a:accent1>
        <a:srgbClr val="0A1C58"/>
      </a:accent1>
      <a:accent2>
        <a:srgbClr val="847C7A"/>
      </a:accent2>
      <a:accent3>
        <a:srgbClr val="DCD8D3"/>
      </a:accent3>
      <a:accent4>
        <a:srgbClr val="3B4C82"/>
      </a:accent4>
      <a:accent5>
        <a:srgbClr val="B5AEA9"/>
      </a:accent5>
      <a:accent6>
        <a:srgbClr val="5A5350"/>
      </a:accent6>
      <a:hlink>
        <a:srgbClr val="0A1C58"/>
      </a:hlink>
      <a:folHlink>
        <a:srgbClr val="847C7A"/>
      </a:folHlink>
    </a:clrScheme>
    <a:fontScheme name="Global Platinum Securities">
      <a:majorFont>
        <a:latin typeface="Garamo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aramon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Global Platinum Securities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FTAI Aviation — Long Recommendation</dc:title>
  <dc:subject>PptxGenJS Presentation</dc:subject>
  <dc:creator>PptxGenJS</dc:creator>
  <cp:lastModifiedBy>PptxGenJS</cp:lastModifiedBy>
  <cp:revision>1</cp:revision>
  <dcterms:created xsi:type="dcterms:W3CDTF">2026-10-08T21:52:42Z</dcterms:created>
  <dcterms:modified xsi:type="dcterms:W3CDTF">2026-10-08T21:52:42Z</dcterms:modified>
</cp:coreProperties>
</file>