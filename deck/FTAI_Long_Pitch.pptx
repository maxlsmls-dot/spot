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6.xml" ContentType="application/vnd.openxmlformats-officedocument.drawingml.chart+xml"/>
  <Override PartName="/ppt/charts/chart1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8.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036d61-8c60-c0ea-442e-fab968f8f89a}">
          <p14:sldIdLst>
            <p14:sldId id="256"/>
          </p14:sldIdLst>
        </p14:section>
        <p14:section name="The Opportunity" id="{fd76983d-50b8-7dba-fa25-e6fb68381f6b}">
          <p14:sldIdLst>
            <p14:sldId id="257"/>
            <p14:sldId id="258"/>
            <p14:sldId id="259"/>
            <p14:sldId id="260"/>
          </p14:sldIdLst>
        </p14:section>
        <p14:section name="Returns" id="{57e9fab5-3aa7-495f-80bf-a0dbacf6476b}">
          <p14:sldIdLst>
            <p14:sldId id="261"/>
          </p14:sldIdLst>
        </p14:section>
        <p14:section name="Business Overview" id="{050fa2d8-18da-0730-51e0-3fe4f3b85263}">
          <p14:sldIdLst>
            <p14:sldId id="262"/>
            <p14:sldId id="263"/>
          </p14:sldIdLst>
        </p14:section>
        <p14:section name="Thesis 1a" id="{b52b2ad4-c953-18e6-0c2e-ba286a8d927c}">
          <p14:sldIdLst>
            <p14:sldId id="264"/>
            <p14:sldId id="265"/>
            <p14:sldId id="266"/>
            <p14:sldId id="267"/>
          </p14:sldIdLst>
        </p14:section>
        <p14:section name="Thesis 1b" id="{e912e89a-876a-2b56-ca97-9aea1387facb}">
          <p14:sldIdLst>
            <p14:sldId id="268"/>
            <p14:sldId id="269"/>
            <p14:sldId id="270"/>
            <p14:sldId id="271"/>
            <p14:sldId id="272"/>
            <p14:sldId id="273"/>
            <p14:sldId id="274"/>
          </p14:sldIdLst>
        </p14:section>
        <p14:section name="Thesis 2" id="{23705684-76f5-12e9-b695-c9db5d890dca}">
          <p14:sldIdLst>
            <p14:sldId id="275"/>
            <p14:sldId id="276"/>
            <p14:sldId id="277"/>
            <p14:sldId id="278"/>
          </p14:sldIdLst>
        </p14:section>
        <p14:section name="Valuation" id="{aba92cc1-f196-dcb4-de03-16e0185513ae}">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Reported</c:v>
                </c:pt>
              </c:strCache>
            </c:strRef>
          </c:tx>
          <c:spPr>
            <a:solidFill>
              <a:srgbClr val="0A1C58"/>
            </a:solidFill>
            <a:effectLst/>
          </c:spPr>
          <c:invertIfNegative val="0"/>
          <c:dLbls>
            <c:numFmt formatCode="0.0%" sourceLinked="0"/>
            <c:txPr>
              <a:bodyPr/>
              <a:lstStyle/>
              <a:p>
                <a:pPr>
                  <a:defRPr b="1"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Q1'25</c:v>
                  </c:pt>
                  <c:pt idx="1">
                    <c:v>Q2'25</c:v>
                  </c:pt>
                  <c:pt idx="2">
                    <c:v>Q3'25</c:v>
                  </c:pt>
                  <c:pt idx="3">
                    <c:v>Q4'25</c:v>
                  </c:pt>
                  <c:pt idx="4">
                    <c:v>Q1'26</c:v>
                  </c:pt>
                  <c:pt idx="5">
                    <c:v>Q2'26</c:v>
                  </c:pt>
                  <c:pt idx="6">
                    <c:v>FY26E</c:v>
                  </c:pt>
                  <c:pt idx="7">
                    <c:v>FY27E</c:v>
                  </c:pt>
                </c:lvl>
              </c:multiLvlStrCache>
            </c:multiLvlStrRef>
          </c:cat>
          <c:val>
            <c:numRef>
              <c:f>Sheet1!$B$2:$B$9</c:f>
              <c:numCache>
                <c:formatCode>General</c:formatCode>
                <c:ptCount val="8"/>
                <c:pt idx="0">
                  <c:v>0.359</c:v>
                </c:pt>
                <c:pt idx="1">
                  <c:v>0.336</c:v>
                </c:pt>
                <c:pt idx="2">
                  <c:v>0.348</c:v>
                </c:pt>
                <c:pt idx="3">
                  <c:v>0.346</c:v>
                </c:pt>
                <c:pt idx="4">
                  <c:v>0.299</c:v>
                </c:pt>
                <c:pt idx="5">
                  <c:v>0.285</c:v>
                </c:pt>
                <c:pt idx="6">
                  <c:v/>
                </c:pt>
                <c:pt idx="7">
                  <c:v/>
                </c:pt>
              </c:numCache>
            </c:numRef>
          </c:val>
        </c:ser>
        <c:ser>
          <c:idx val="1"/>
          <c:order val="1"/>
          <c:tx>
            <c:strRef>
              <c:f>Sheet1!$C$1</c:f>
              <c:strCache>
                <c:ptCount val="1"/>
                <c:pt idx="0">
                  <c:v>Mgmt. guide</c:v>
                </c:pt>
              </c:strCache>
            </c:strRef>
          </c:tx>
          <c:spPr>
            <a:solidFill>
              <a:srgbClr val="B5AEA9"/>
            </a:solidFill>
            <a:effectLst/>
          </c:spPr>
          <c:invertIfNegative val="0"/>
          <c:dLbls>
            <c:numFmt formatCode="0.0%" sourceLinked="0"/>
            <c:txPr>
              <a:bodyPr/>
              <a:lstStyle/>
              <a:p>
                <a:pPr>
                  <a:defRPr b="1"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Q1'25</c:v>
                  </c:pt>
                  <c:pt idx="1">
                    <c:v>Q2'25</c:v>
                  </c:pt>
                  <c:pt idx="2">
                    <c:v>Q3'25</c:v>
                  </c:pt>
                  <c:pt idx="3">
                    <c:v>Q4'25</c:v>
                  </c:pt>
                  <c:pt idx="4">
                    <c:v>Q1'26</c:v>
                  </c:pt>
                  <c:pt idx="5">
                    <c:v>Q2'26</c:v>
                  </c:pt>
                  <c:pt idx="6">
                    <c:v>FY26E</c:v>
                  </c:pt>
                  <c:pt idx="7">
                    <c:v>FY27E</c:v>
                  </c:pt>
                </c:lvl>
              </c:multiLvlStrCache>
            </c:multiLvlStrRef>
          </c:cat>
          <c:val>
            <c:numRef>
              <c:f>Sheet1!$C$2:$C$9</c:f>
              <c:numCache>
                <c:formatCode>General</c:formatCode>
                <c:ptCount val="8"/>
                <c:pt idx="0">
                  <c:v/>
                </c:pt>
                <c:pt idx="1">
                  <c:v/>
                </c:pt>
                <c:pt idx="2">
                  <c:v/>
                </c:pt>
                <c:pt idx="3">
                  <c:v/>
                </c:pt>
                <c:pt idx="4">
                  <c:v/>
                </c:pt>
                <c:pt idx="5">
                  <c:v/>
                </c:pt>
                <c:pt idx="6">
                  <c:v>0.3</c:v>
                </c:pt>
                <c:pt idx="7">
                  <c:v>0.3</c:v>
                </c:pt>
              </c:numCache>
            </c:numRef>
          </c:val>
        </c:ser>
        <c:dLbls>
          <c:numFmt formatCode="0.0%" sourceLinked="0"/>
          <c:txPr>
            <a:bodyPr/>
            <a:lstStyle/>
            <a:p>
              <a:pPr>
                <a:defRPr b="1"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0.5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Margin</c:v>
                </c:pt>
              </c:strCache>
            </c:strRef>
          </c:tx>
          <c:spPr>
            <a:solidFill>
              <a:srgbClr val="B5AEA9"/>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B5AEA9"/>
              </a:solidFill>
              <a:effectLst/>
            </c:spPr>
          </c:dPt>
          <c:dPt>
            <c:idx val="1"/>
            <c:invertIfNegative val="0"/>
            <c:bubble3D val="0"/>
            <c:spPr>
              <a:solidFill>
                <a:srgbClr val="0A1C58"/>
              </a:solidFill>
              <a:effectLst/>
            </c:spPr>
          </c:dPt>
          <c:dPt>
            <c:idx val="2"/>
            <c:invertIfNegative val="0"/>
            <c:bubble3D val="0"/>
            <c:spPr>
              <a:solidFill>
                <a:srgbClr val="5A5350"/>
              </a:solidFill>
              <a:effectLst/>
            </c:spPr>
          </c:dPt>
          <c:cat>
            <c:multiLvlStrRef>
              <c:f>Sheet1!$A$2:$A$4</c:f>
              <c:multiLvlStrCache>
                <c:ptCount val="3"/>
                <c:lvl>
                  <c:pt idx="0">
                    <c:v>Light</c:v>
                  </c:pt>
                  <c:pt idx="1">
                    <c:v>Heavy</c:v>
                  </c:pt>
                  <c:pt idx="2">
                    <c:v>Blended</c:v>
                  </c:pt>
                </c:lvl>
              </c:multiLvlStrCache>
            </c:multiLvlStrRef>
          </c:cat>
          <c:val>
            <c:numRef>
              <c:f>Sheet1!$B$2:$B$4</c:f>
              <c:numCache>
                <c:formatCode>General</c:formatCode>
                <c:ptCount val="3"/>
                <c:pt idx="0">
                  <c:v>0.417</c:v>
                </c:pt>
                <c:pt idx="1">
                  <c:v>0.25</c:v>
                </c:pt>
                <c:pt idx="2">
                  <c:v>0.306</c:v>
                </c:pt>
              </c:numCache>
            </c:numRef>
          </c:val>
        </c:ser>
        <c:dLbls>
          <c:numFmt formatCode="0%" sourceLinked="0"/>
          <c:txPr>
            <a:bodyPr/>
            <a:lstStyle/>
            <a:p>
              <a:pPr>
                <a:defRPr b="1" i="0" strike="noStrike" sz="13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GE Vernova</c:v>
                </c:pt>
              </c:strCache>
            </c:strRef>
          </c:tx>
          <c:spPr>
            <a:solidFill>
              <a:srgbClr val="0A1C58"/>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Mid-2025</c:v>
                  </c:pt>
                  <c:pt idx="1">
                    <c:v>Mid-2026</c:v>
                  </c:pt>
                </c:lvl>
              </c:multiLvlStrCache>
            </c:multiLvlStrRef>
          </c:cat>
          <c:val>
            <c:numRef>
              <c:f>Sheet1!$B$2:$B$3</c:f>
              <c:numCache>
                <c:formatCode>General</c:formatCode>
                <c:ptCount val="2"/>
                <c:pt idx="0">
                  <c:v>55</c:v>
                </c:pt>
                <c:pt idx="1">
                  <c:v>116</c:v>
                </c:pt>
              </c:numCache>
            </c:numRef>
          </c:val>
        </c:ser>
        <c:ser>
          <c:idx val="1"/>
          <c:order val="1"/>
          <c:tx>
            <c:strRef>
              <c:f>Sheet1!$C$1</c:f>
              <c:strCache>
                <c:ptCount val="1"/>
                <c:pt idx="0">
                  <c:v>Siemens Energy</c:v>
                </c:pt>
              </c:strCache>
            </c:strRef>
          </c:tx>
          <c:spPr>
            <a:solidFill>
              <a:srgbClr val="3B4C82"/>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Mid-2025</c:v>
                  </c:pt>
                  <c:pt idx="1">
                    <c:v>Mid-2026</c:v>
                  </c:pt>
                </c:lvl>
              </c:multiLvlStrCache>
            </c:multiLvlStrRef>
          </c:cat>
          <c:val>
            <c:numRef>
              <c:f>Sheet1!$C$2:$C$3</c:f>
              <c:numCache>
                <c:formatCode>General</c:formatCode>
                <c:ptCount val="2"/>
                <c:pt idx="0">
                  <c:v>37</c:v>
                </c:pt>
                <c:pt idx="1">
                  <c:v>69</c:v>
                </c:pt>
              </c:numCache>
            </c:numRef>
          </c:val>
        </c:ser>
        <c:ser>
          <c:idx val="2"/>
          <c:order val="2"/>
          <c:tx>
            <c:strRef>
              <c:f>Sheet1!$D$1</c:f>
              <c:strCache>
                <c:ptCount val="1"/>
                <c:pt idx="0">
                  <c:v>Mitsubishi</c:v>
                </c:pt>
              </c:strCache>
            </c:strRef>
          </c:tx>
          <c:spPr>
            <a:solidFill>
              <a:srgbClr val="B5AEA9"/>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Mid-2025</c:v>
                  </c:pt>
                  <c:pt idx="1">
                    <c:v>Mid-2026</c:v>
                  </c:pt>
                </c:lvl>
              </c:multiLvlStrCache>
            </c:multiLvlStrRef>
          </c:cat>
          <c:val>
            <c:numRef>
              <c:f>Sheet1!$D$2:$D$3</c:f>
              <c:numCache>
                <c:formatCode>General</c:formatCode>
                <c:ptCount val="2"/>
                <c:pt idx="0">
                  <c:v>23</c:v>
                </c:pt>
                <c:pt idx="1">
                  <c:v>35</c:v>
                </c:pt>
              </c:numCache>
            </c:numRef>
          </c:val>
        </c:ser>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11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3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2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AP inventory</c:v>
                </c:pt>
              </c:strCache>
            </c:strRef>
          </c:tx>
          <c:spPr>
            <a:solidFill>
              <a:schemeClr val="accent1"/>
            </a:solidFill>
            <a:ln w="9525" cap="flat">
              <a:solidFill>
                <a:srgbClr val="F9F9F9"/>
              </a:solidFill>
              <a:prstDash val="solid"/>
              <a:round/>
            </a:ln>
            <a:effectLst/>
          </c:spPr>
          <c:dPt>
            <c:idx val="0"/>
            <c:bubble3D val="0"/>
            <c:spPr>
              <a:solidFill>
                <a:srgbClr val="0A1C58"/>
              </a:solidFill>
              <a:ln w="12700" cap="flat">
                <a:solidFill>
                  <a:srgbClr val="FFFFFF"/>
                </a:solidFill>
                <a:prstDash val="solid"/>
                <a:round/>
              </a:ln>
              <a:effectLst/>
            </c:spPr>
          </c:dPt>
          <c:dPt>
            <c:idx val="1"/>
            <c:bubble3D val="0"/>
            <c:spPr>
              <a:solidFill>
                <a:srgbClr val="DCD8D3"/>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Depreciated leasing stock</c:v>
                </c:pt>
                <c:pt idx="1">
                  <c:v>Everything else</c:v>
                </c:pt>
              </c:strCache>
            </c:strRef>
          </c:cat>
          <c:val>
            <c:numRef>
              <c:f>Sheet1!$B$2:$B$3</c:f>
              <c:numCache>
                <c:ptCount val="2"/>
                <c:pt idx="0">
                  <c:v>8</c:v>
                </c:pt>
                <c:pt idx="1">
                  <c:v>92</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Reported</c:v>
                </c:pt>
              </c:strCache>
            </c:strRef>
          </c:tx>
          <c:spPr>
            <a:solidFill>
              <a:srgbClr val="0A1C58"/>
            </a:solidFill>
            <a:effectLst/>
          </c:spPr>
          <c:invertIfNegative val="0"/>
          <c:dLbls>
            <c:numFmt formatCode="0.0%" sourceLinked="0"/>
            <c:txPr>
              <a:bodyPr/>
              <a:lstStyle/>
              <a:p>
                <a:pPr>
                  <a:defRPr b="1"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Sheet1!$A$2:$A$10</c:f>
              <c:multiLvlStrCache>
                <c:ptCount val="9"/>
                <c:lvl>
                  <c:pt idx="0">
                    <c:v>FY25</c:v>
                  </c:pt>
                  <c:pt idx="1">
                    <c:v>Q1'26</c:v>
                  </c:pt>
                  <c:pt idx="2">
                    <c:v>Q2'26</c:v>
                  </c:pt>
                  <c:pt idx="3">
                    <c:v>FY26E</c:v>
                  </c:pt>
                  <c:pt idx="4">
                    <c:v>FY27E</c:v>
                  </c:pt>
                  <c:pt idx="5">
                    <c:v>FY28E</c:v>
                  </c:pt>
                  <c:pt idx="6">
                    <c:v>FY29E</c:v>
                  </c:pt>
                  <c:pt idx="7">
                    <c:v>FY30E</c:v>
                  </c:pt>
                  <c:pt idx="8">
                    <c:v>FY31E</c:v>
                  </c:pt>
                </c:lvl>
              </c:multiLvlStrCache>
            </c:multiLvlStrRef>
          </c:cat>
          <c:val>
            <c:numRef>
              <c:f>Sheet1!$B$2:$B$10</c:f>
              <c:numCache>
                <c:formatCode>General</c:formatCode>
                <c:ptCount val="9"/>
                <c:pt idx="0">
                  <c:v>0.347</c:v>
                </c:pt>
                <c:pt idx="1">
                  <c:v>0.299</c:v>
                </c:pt>
                <c:pt idx="2">
                  <c:v>0.285</c:v>
                </c:pt>
                <c:pt idx="3">
                  <c:v/>
                </c:pt>
                <c:pt idx="4">
                  <c:v/>
                </c:pt>
                <c:pt idx="5">
                  <c:v/>
                </c:pt>
                <c:pt idx="6">
                  <c:v/>
                </c:pt>
                <c:pt idx="7">
                  <c:v/>
                </c:pt>
                <c:pt idx="8">
                  <c:v/>
                </c:pt>
              </c:numCache>
            </c:numRef>
          </c:val>
        </c:ser>
        <c:ser>
          <c:idx val="1"/>
          <c:order val="1"/>
          <c:tx>
            <c:strRef>
              <c:f>Sheet1!$C$1</c:f>
              <c:strCache>
                <c:ptCount val="1"/>
                <c:pt idx="0">
                  <c:v>GPS model</c:v>
                </c:pt>
              </c:strCache>
            </c:strRef>
          </c:tx>
          <c:spPr>
            <a:solidFill>
              <a:srgbClr val="B5AEA9"/>
            </a:solidFill>
            <a:effectLst/>
          </c:spPr>
          <c:invertIfNegative val="0"/>
          <c:dLbls>
            <c:numFmt formatCode="0.0%" sourceLinked="0"/>
            <c:txPr>
              <a:bodyPr/>
              <a:lstStyle/>
              <a:p>
                <a:pPr>
                  <a:defRPr b="1"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Sheet1!$A$2:$A$10</c:f>
              <c:multiLvlStrCache>
                <c:ptCount val="9"/>
                <c:lvl>
                  <c:pt idx="0">
                    <c:v>FY25</c:v>
                  </c:pt>
                  <c:pt idx="1">
                    <c:v>Q1'26</c:v>
                  </c:pt>
                  <c:pt idx="2">
                    <c:v>Q2'26</c:v>
                  </c:pt>
                  <c:pt idx="3">
                    <c:v>FY26E</c:v>
                  </c:pt>
                  <c:pt idx="4">
                    <c:v>FY27E</c:v>
                  </c:pt>
                  <c:pt idx="5">
                    <c:v>FY28E</c:v>
                  </c:pt>
                  <c:pt idx="6">
                    <c:v>FY29E</c:v>
                  </c:pt>
                  <c:pt idx="7">
                    <c:v>FY30E</c:v>
                  </c:pt>
                  <c:pt idx="8">
                    <c:v>FY31E</c:v>
                  </c:pt>
                </c:lvl>
              </c:multiLvlStrCache>
            </c:multiLvlStrRef>
          </c:cat>
          <c:val>
            <c:numRef>
              <c:f>Sheet1!$C$2:$C$10</c:f>
              <c:numCache>
                <c:formatCode>General</c:formatCode>
                <c:ptCount val="9"/>
                <c:pt idx="0">
                  <c:v/>
                </c:pt>
                <c:pt idx="1">
                  <c:v/>
                </c:pt>
                <c:pt idx="2">
                  <c:v/>
                </c:pt>
                <c:pt idx="3">
                  <c:v>0.301</c:v>
                </c:pt>
                <c:pt idx="4">
                  <c:v>0.299</c:v>
                </c:pt>
                <c:pt idx="5">
                  <c:v>0.307</c:v>
                </c:pt>
                <c:pt idx="6">
                  <c:v>0.314</c:v>
                </c:pt>
                <c:pt idx="7">
                  <c:v>0.32</c:v>
                </c:pt>
                <c:pt idx="8">
                  <c:v>0.325</c:v>
                </c:pt>
              </c:numCache>
            </c:numRef>
          </c:val>
        </c:ser>
        <c:dLbls>
          <c:numFmt formatCode="0.0%" sourceLinked="0"/>
          <c:txPr>
            <a:bodyPr/>
            <a:lstStyle/>
            <a:p>
              <a:pPr>
                <a:defRPr b="1" i="0" strike="noStrike" sz="1000" u="none">
                  <a:solidFill>
                    <a:srgbClr val="1A1A1A"/>
                  </a:solidFill>
                  <a:latin typeface="+mn-lt"/>
                </a:defRPr>
              </a:pPr>
            </a:p>
          </c:txP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0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0.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OEM list price</c:v>
                </c:pt>
              </c:strCache>
            </c:strRef>
          </c:tx>
          <c:spPr>
            <a:solidFill>
              <a:srgbClr val="0A1C58"/>
            </a:solidFill>
            <a:ln w="38100" cap="flat">
              <a:solidFill>
                <a:srgbClr val="0A1C58"/>
              </a:solidFill>
              <a:prstDash val="solid"/>
              <a:round/>
            </a:ln>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marker>
            <c:symbol val="circle"/>
            <c:size val="7"/>
            <c:spPr>
              <a:solidFill>
                <a:srgbClr val="0A1C58"/>
              </a:solidFill>
              <a:ln w="9525" cap="flat">
                <a:solidFill>
                  <a:srgbClr val="0A1C58"/>
                </a:solidFill>
                <a:prstDash val="solid"/>
                <a:round/>
              </a:ln>
              <a:effectLst/>
            </c:spPr>
          </c:marker>
          <c:cat>
            <c:multiLvlStrRef>
              <c:f>Sheet1!$A$2:$A$8</c:f>
              <c:multiLvlStrCache>
                <c:ptCount val="7"/>
                <c:lvl>
                  <c:pt idx="0">
                    <c:v>2025</c:v>
                  </c:pt>
                  <c:pt idx="1">
                    <c:v>2026</c:v>
                  </c:pt>
                  <c:pt idx="2">
                    <c:v>2027</c:v>
                  </c:pt>
                  <c:pt idx="3">
                    <c:v>2028</c:v>
                  </c:pt>
                  <c:pt idx="4">
                    <c:v>2029</c:v>
                  </c:pt>
                  <c:pt idx="5">
                    <c:v>2030</c:v>
                  </c:pt>
                  <c:pt idx="6">
                    <c:v>2031</c:v>
                  </c:pt>
                </c:lvl>
              </c:multiLvlStrCache>
            </c:multiLvlStrRef>
          </c:cat>
          <c:val>
            <c:numRef>
              <c:f>Sheet1!$B$2:$B$8</c:f>
              <c:numCache>
                <c:formatCode>General</c:formatCode>
                <c:ptCount val="7"/>
                <c:pt idx="0">
                  <c:v>100</c:v>
                </c:pt>
                <c:pt idx="1">
                  <c:v>107</c:v>
                </c:pt>
                <c:pt idx="2">
                  <c:v>114</c:v>
                </c:pt>
                <c:pt idx="3">
                  <c:v>121.9</c:v>
                </c:pt>
                <c:pt idx="4">
                  <c:v>130.5</c:v>
                </c:pt>
                <c:pt idx="5">
                  <c:v>139.6</c:v>
                </c:pt>
                <c:pt idx="6">
                  <c:v>149.4</c:v>
                </c:pt>
              </c:numCache>
            </c:numRef>
          </c:val>
          <c:smooth val="0"/>
        </c:ser>
        <c:ser>
          <c:idx val="1"/>
          <c:order val="1"/>
          <c:tx>
            <c:strRef>
              <c:f>Sheet1!$C$1</c:f>
              <c:strCache>
                <c:ptCount val="1"/>
                <c:pt idx="0">
                  <c:v>FTAI price</c:v>
                </c:pt>
              </c:strCache>
            </c:strRef>
          </c:tx>
          <c:spPr>
            <a:solidFill>
              <a:srgbClr val="B5AEA9"/>
            </a:solidFill>
            <a:ln w="38100" cap="flat">
              <a:solidFill>
                <a:srgbClr val="B5AEA9"/>
              </a:solidFill>
              <a:prstDash val="solid"/>
              <a:round/>
            </a:ln>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marker>
            <c:symbol val="circle"/>
            <c:size val="7"/>
            <c:spPr>
              <a:solidFill>
                <a:srgbClr val="B5AEA9"/>
              </a:solidFill>
              <a:ln w="9525" cap="flat">
                <a:solidFill>
                  <a:srgbClr val="B5AEA9"/>
                </a:solidFill>
                <a:prstDash val="solid"/>
                <a:round/>
              </a:ln>
              <a:effectLst/>
            </c:spPr>
          </c:marker>
          <c:cat>
            <c:multiLvlStrRef>
              <c:f>Sheet1!$A$2:$A$8</c:f>
              <c:multiLvlStrCache>
                <c:ptCount val="7"/>
                <c:lvl>
                  <c:pt idx="0">
                    <c:v>2025</c:v>
                  </c:pt>
                  <c:pt idx="1">
                    <c:v>2026</c:v>
                  </c:pt>
                  <c:pt idx="2">
                    <c:v>2027</c:v>
                  </c:pt>
                  <c:pt idx="3">
                    <c:v>2028</c:v>
                  </c:pt>
                  <c:pt idx="4">
                    <c:v>2029</c:v>
                  </c:pt>
                  <c:pt idx="5">
                    <c:v>2030</c:v>
                  </c:pt>
                  <c:pt idx="6">
                    <c:v>2031</c:v>
                  </c:pt>
                </c:lvl>
              </c:multiLvlStrCache>
            </c:multiLvlStrRef>
          </c:cat>
          <c:val>
            <c:numRef>
              <c:f>Sheet1!$C$2:$C$8</c:f>
              <c:numCache>
                <c:formatCode>General</c:formatCode>
                <c:ptCount val="7"/>
                <c:pt idx="0">
                  <c:v>100</c:v>
                </c:pt>
                <c:pt idx="1">
                  <c:v>100</c:v>
                </c:pt>
                <c:pt idx="2">
                  <c:v>103.3</c:v>
                </c:pt>
                <c:pt idx="3">
                  <c:v>106.9</c:v>
                </c:pt>
                <c:pt idx="4">
                  <c:v>110.6</c:v>
                </c:pt>
                <c:pt idx="5">
                  <c:v>114.5</c:v>
                </c:pt>
                <c:pt idx="6">
                  <c:v>118.5</c:v>
                </c:pt>
              </c:numCache>
            </c:numRef>
          </c:val>
          <c:smooth val="0"/>
        </c:ser>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60"/>
          <c:min val="9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Trough</c:v>
                </c:pt>
              </c:strCache>
            </c:strRef>
          </c:tx>
          <c:spPr>
            <a:solidFill>
              <a:srgbClr val="B5AEA9"/>
            </a:solidFill>
            <a:effectLst/>
          </c:spPr>
          <c:invertIfNegative val="0"/>
          <c:dLbls>
            <c:numFmt formatCode="#,##0;;;" sourceLinked="0"/>
            <c:txPr>
              <a:bodyPr/>
              <a:lstStyle/>
              <a:p>
                <a:pPr>
                  <a:defRPr b="1"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FY25</c:v>
                  </c:pt>
                  <c:pt idx="1">
                    <c:v>FY26E</c:v>
                  </c:pt>
                  <c:pt idx="2">
                    <c:v>FY27E</c:v>
                  </c:pt>
                  <c:pt idx="3">
                    <c:v>FY28E</c:v>
                  </c:pt>
                  <c:pt idx="4">
                    <c:v>FY29E</c:v>
                  </c:pt>
                  <c:pt idx="5">
                    <c:v>FY30E</c:v>
                  </c:pt>
                  <c:pt idx="6">
                    <c:v>FY31E</c:v>
                  </c:pt>
                </c:lvl>
              </c:multiLvlStrCache>
            </c:multiLvlStrRef>
          </c:cat>
          <c:val>
            <c:numRef>
              <c:f>Sheet1!$B$2:$B$8</c:f>
              <c:numCache>
                <c:formatCode>General</c:formatCode>
                <c:ptCount val="7"/>
                <c:pt idx="0">
                  <c:v/>
                </c:pt>
                <c:pt idx="1">
                  <c:v>876</c:v>
                </c:pt>
                <c:pt idx="2">
                  <c:v/>
                </c:pt>
                <c:pt idx="3">
                  <c:v/>
                </c:pt>
                <c:pt idx="4">
                  <c:v/>
                </c:pt>
                <c:pt idx="5">
                  <c:v/>
                </c:pt>
                <c:pt idx="6">
                  <c:v/>
                </c:pt>
              </c:numCache>
            </c:numRef>
          </c:val>
        </c:ser>
        <c:ser>
          <c:idx val="1"/>
          <c:order val="1"/>
          <c:tx>
            <c:strRef>
              <c:f>Sheet1!$C$1</c:f>
              <c:strCache>
                <c:ptCount val="1"/>
                <c:pt idx="0">
                  <c:v>EBITDA / module</c:v>
                </c:pt>
              </c:strCache>
            </c:strRef>
          </c:tx>
          <c:spPr>
            <a:solidFill>
              <a:srgbClr val="0A1C58"/>
            </a:solidFill>
            <a:effectLst/>
          </c:spPr>
          <c:invertIfNegative val="0"/>
          <c:dLbls>
            <c:numFmt formatCode="#,##0;;;" sourceLinked="0"/>
            <c:txPr>
              <a:bodyPr/>
              <a:lstStyle/>
              <a:p>
                <a:pPr>
                  <a:defRPr b="1"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FY25</c:v>
                  </c:pt>
                  <c:pt idx="1">
                    <c:v>FY26E</c:v>
                  </c:pt>
                  <c:pt idx="2">
                    <c:v>FY27E</c:v>
                  </c:pt>
                  <c:pt idx="3">
                    <c:v>FY28E</c:v>
                  </c:pt>
                  <c:pt idx="4">
                    <c:v>FY29E</c:v>
                  </c:pt>
                  <c:pt idx="5">
                    <c:v>FY30E</c:v>
                  </c:pt>
                  <c:pt idx="6">
                    <c:v>FY31E</c:v>
                  </c:pt>
                </c:lvl>
              </c:multiLvlStrCache>
            </c:multiLvlStrRef>
          </c:cat>
          <c:val>
            <c:numRef>
              <c:f>Sheet1!$C$2:$C$8</c:f>
              <c:numCache>
                <c:formatCode>General</c:formatCode>
                <c:ptCount val="7"/>
                <c:pt idx="0">
                  <c:v>887</c:v>
                </c:pt>
                <c:pt idx="1">
                  <c:v/>
                </c:pt>
                <c:pt idx="2">
                  <c:v>913</c:v>
                </c:pt>
                <c:pt idx="3">
                  <c:v>969</c:v>
                </c:pt>
                <c:pt idx="4">
                  <c:v>1027</c:v>
                </c:pt>
                <c:pt idx="5">
                  <c:v>1084</c:v>
                </c:pt>
                <c:pt idx="6">
                  <c:v>1139</c:v>
                </c:pt>
              </c:numCache>
            </c:numRef>
          </c:val>
        </c:ser>
        <c:dLbls>
          <c:numFmt formatCode="#,##0;;;" sourceLinked="0"/>
          <c:txPr>
            <a:bodyPr/>
            <a:lstStyle/>
            <a:p>
              <a:pPr>
                <a:defRPr b="1" i="0" strike="noStrike" sz="1000" u="none">
                  <a:solidFill>
                    <a:srgbClr val="FFFFFF"/>
                  </a:solidFill>
                  <a:latin typeface="+mn-lt"/>
                </a:defRPr>
              </a:pPr>
            </a:p>
          </c:txPr>
          <c:dLblPos val="inEnd"/>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0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Second visits (heaviest)</c:v>
                </c:pt>
              </c:strCache>
            </c:strRef>
          </c:tx>
          <c:spPr>
            <a:solidFill>
              <a:srgbClr val="0A1C58"/>
            </a:solidFill>
            <a:ln w="44450" cap="flat">
              <a:solidFill>
                <a:srgbClr val="0A1C5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A1C58"/>
              </a:solidFill>
              <a:ln w="9525" cap="flat">
                <a:solidFill>
                  <a:srgbClr val="0A1C58"/>
                </a:solidFill>
                <a:prstDash val="solid"/>
                <a:round/>
              </a:ln>
              <a:effectLst/>
            </c:spPr>
          </c:marker>
          <c:cat>
            <c:multiLvlStrRef>
              <c:f>Sheet1!$A$2:$A$9</c:f>
              <c:multiLvlStrCache>
                <c:ptCount val="8"/>
                <c:lvl>
                  <c:pt idx="0">
                    <c:v>2025</c:v>
                  </c:pt>
                  <c:pt idx="1">
                    <c:v>2026</c:v>
                  </c:pt>
                  <c:pt idx="2">
                    <c:v>2027</c:v>
                  </c:pt>
                  <c:pt idx="3">
                    <c:v>2028</c:v>
                  </c:pt>
                  <c:pt idx="4">
                    <c:v>2029</c:v>
                  </c:pt>
                  <c:pt idx="5">
                    <c:v>2030</c:v>
                  </c:pt>
                  <c:pt idx="6">
                    <c:v>2031</c:v>
                  </c:pt>
                  <c:pt idx="7">
                    <c:v>2032</c:v>
                  </c:pt>
                </c:lvl>
              </c:multiLvlStrCache>
            </c:multiLvlStrRef>
          </c:cat>
          <c:val>
            <c:numRef>
              <c:f>Sheet1!$B$2:$B$9</c:f>
              <c:numCache>
                <c:formatCode>General</c:formatCode>
                <c:ptCount val="8"/>
                <c:pt idx="0">
                  <c:v>842</c:v>
                </c:pt>
                <c:pt idx="1">
                  <c:v>891</c:v>
                </c:pt>
                <c:pt idx="2">
                  <c:v>914</c:v>
                </c:pt>
                <c:pt idx="3">
                  <c:v>908</c:v>
                </c:pt>
                <c:pt idx="4">
                  <c:v>874</c:v>
                </c:pt>
                <c:pt idx="5">
                  <c:v>832</c:v>
                </c:pt>
                <c:pt idx="6">
                  <c:v/>
                </c:pt>
                <c:pt idx="7">
                  <c:v/>
                </c:pt>
              </c:numCache>
            </c:numRef>
          </c:val>
          <c:smooth val="0"/>
        </c:ser>
        <c:ser>
          <c:idx val="1"/>
          <c:order val="1"/>
          <c:tx>
            <c:strRef>
              <c:f>Sheet1!$C$1</c:f>
              <c:strCache>
                <c:ptCount val="1"/>
                <c:pt idx="0">
                  <c:v>Third+ visits (late life, lighter)</c:v>
                </c:pt>
              </c:strCache>
            </c:strRef>
          </c:tx>
          <c:spPr>
            <a:solidFill>
              <a:srgbClr val="847C7A"/>
            </a:solidFill>
            <a:ln w="44450" cap="flat">
              <a:solidFill>
                <a:srgbClr val="847C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847C7A"/>
              </a:solidFill>
              <a:ln w="9525" cap="flat">
                <a:solidFill>
                  <a:srgbClr val="847C7A"/>
                </a:solidFill>
                <a:prstDash val="solid"/>
                <a:round/>
              </a:ln>
              <a:effectLst/>
            </c:spPr>
          </c:marker>
          <c:cat>
            <c:multiLvlStrRef>
              <c:f>Sheet1!$A$2:$A$9</c:f>
              <c:multiLvlStrCache>
                <c:ptCount val="8"/>
                <c:lvl>
                  <c:pt idx="0">
                    <c:v>2025</c:v>
                  </c:pt>
                  <c:pt idx="1">
                    <c:v>2026</c:v>
                  </c:pt>
                  <c:pt idx="2">
                    <c:v>2027</c:v>
                  </c:pt>
                  <c:pt idx="3">
                    <c:v>2028</c:v>
                  </c:pt>
                  <c:pt idx="4">
                    <c:v>2029</c:v>
                  </c:pt>
                  <c:pt idx="5">
                    <c:v>2030</c:v>
                  </c:pt>
                  <c:pt idx="6">
                    <c:v>2031</c:v>
                  </c:pt>
                  <c:pt idx="7">
                    <c:v>2032</c:v>
                  </c:pt>
                </c:lvl>
              </c:multiLvlStrCache>
            </c:multiLvlStrRef>
          </c:cat>
          <c:val>
            <c:numRef>
              <c:f>Sheet1!$C$2:$C$9</c:f>
              <c:numCache>
                <c:formatCode>General</c:formatCode>
                <c:ptCount val="8"/>
                <c:pt idx="0">
                  <c:v>532</c:v>
                </c:pt>
                <c:pt idx="1">
                  <c:v>597</c:v>
                </c:pt>
                <c:pt idx="2">
                  <c:v>641</c:v>
                </c:pt>
                <c:pt idx="3">
                  <c:v>679</c:v>
                </c:pt>
                <c:pt idx="4">
                  <c:v>700</c:v>
                </c:pt>
                <c:pt idx="5">
                  <c:v>720</c:v>
                </c:pt>
                <c:pt idx="6">
                  <c:v/>
                </c:pt>
                <c:pt idx="7">
                  <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Second trend</c:v>
                </c:pt>
              </c:strCache>
            </c:strRef>
          </c:tx>
          <c:spPr>
            <a:solidFill>
              <a:srgbClr val="0A1C58"/>
            </a:solidFill>
            <a:ln w="31750" cap="flat">
              <a:solidFill>
                <a:srgbClr val="0A1C58"/>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47C7A"/>
              </a:solidFill>
              <a:ln w="9525" cap="flat">
                <a:solidFill>
                  <a:srgbClr val="0A1C58"/>
                </a:solidFill>
                <a:prstDash val="solid"/>
                <a:round/>
              </a:ln>
              <a:effectLst/>
            </c:spPr>
          </c:marker>
          <c:cat>
            <c:multiLvlStrRef>
              <c:f>Sheet1!$A$2:$A$9</c:f>
              <c:multiLvlStrCache>
                <c:ptCount val="8"/>
                <c:lvl>
                  <c:pt idx="0">
                    <c:v>2025</c:v>
                  </c:pt>
                  <c:pt idx="1">
                    <c:v>2026</c:v>
                  </c:pt>
                  <c:pt idx="2">
                    <c:v>2027</c:v>
                  </c:pt>
                  <c:pt idx="3">
                    <c:v>2028</c:v>
                  </c:pt>
                  <c:pt idx="4">
                    <c:v>2029</c:v>
                  </c:pt>
                  <c:pt idx="5">
                    <c:v>2030</c:v>
                  </c:pt>
                  <c:pt idx="6">
                    <c:v>2031</c:v>
                  </c:pt>
                  <c:pt idx="7">
                    <c:v>2032</c:v>
                  </c:pt>
                </c:lvl>
              </c:multiLvlStrCache>
            </c:multiLvlStrRef>
          </c:cat>
          <c:val>
            <c:numRef>
              <c:f>Sheet1!$D$2:$D$9</c:f>
              <c:numCache>
                <c:formatCode>General</c:formatCode>
                <c:ptCount val="8"/>
                <c:pt idx="0">
                  <c:v/>
                </c:pt>
                <c:pt idx="1">
                  <c:v/>
                </c:pt>
                <c:pt idx="2">
                  <c:v/>
                </c:pt>
                <c:pt idx="3">
                  <c:v/>
                </c:pt>
                <c:pt idx="4">
                  <c:v/>
                </c:pt>
                <c:pt idx="5">
                  <c:v>832</c:v>
                </c:pt>
                <c:pt idx="6">
                  <c:v>790</c:v>
                </c:pt>
                <c:pt idx="7">
                  <c:v>748</c:v>
                </c:pt>
              </c:numCache>
            </c:numRef>
          </c:val>
          <c:smooth val="0"/>
        </c:ser>
        <c:ser>
          <c:idx val="3"/>
          <c:order val="3"/>
          <c:tx>
            <c:strRef>
              <c:f>Sheet1!$E$1</c:f>
              <c:strCache>
                <c:ptCount val="1"/>
                <c:pt idx="0">
                  <c:v>Third+ trend</c:v>
                </c:pt>
              </c:strCache>
            </c:strRef>
          </c:tx>
          <c:spPr>
            <a:solidFill>
              <a:srgbClr val="847C7A"/>
            </a:solidFill>
            <a:ln w="31750" cap="flat">
              <a:solidFill>
                <a:srgbClr val="847C7A"/>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47C7A"/>
              </a:solidFill>
              <a:ln w="9525" cap="flat">
                <a:solidFill>
                  <a:srgbClr val="847C7A"/>
                </a:solidFill>
                <a:prstDash val="solid"/>
                <a:round/>
              </a:ln>
              <a:effectLst/>
            </c:spPr>
          </c:marker>
          <c:cat>
            <c:multiLvlStrRef>
              <c:f>Sheet1!$A$2:$A$9</c:f>
              <c:multiLvlStrCache>
                <c:ptCount val="8"/>
                <c:lvl>
                  <c:pt idx="0">
                    <c:v>2025</c:v>
                  </c:pt>
                  <c:pt idx="1">
                    <c:v>2026</c:v>
                  </c:pt>
                  <c:pt idx="2">
                    <c:v>2027</c:v>
                  </c:pt>
                  <c:pt idx="3">
                    <c:v>2028</c:v>
                  </c:pt>
                  <c:pt idx="4">
                    <c:v>2029</c:v>
                  </c:pt>
                  <c:pt idx="5">
                    <c:v>2030</c:v>
                  </c:pt>
                  <c:pt idx="6">
                    <c:v>2031</c:v>
                  </c:pt>
                  <c:pt idx="7">
                    <c:v>2032</c:v>
                  </c:pt>
                </c:lvl>
              </c:multiLvlStrCache>
            </c:multiLvlStrRef>
          </c:cat>
          <c:val>
            <c:numRef>
              <c:f>Sheet1!$E$2:$E$9</c:f>
              <c:numCache>
                <c:formatCode>General</c:formatCode>
                <c:ptCount val="8"/>
                <c:pt idx="0">
                  <c:v/>
                </c:pt>
                <c:pt idx="1">
                  <c:v/>
                </c:pt>
                <c:pt idx="2">
                  <c:v/>
                </c:pt>
                <c:pt idx="3">
                  <c:v/>
                </c:pt>
                <c:pt idx="4">
                  <c:v/>
                </c:pt>
                <c:pt idx="5">
                  <c:v>720</c:v>
                </c:pt>
                <c:pt idx="6">
                  <c:v>740</c:v>
                </c:pt>
                <c:pt idx="7">
                  <c:v>760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000"/>
          <c:min val="4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Blended margin</c:v>
                </c:pt>
              </c:strCache>
            </c:strRef>
          </c:tx>
          <c:spPr>
            <a:solidFill>
              <a:srgbClr val="0A1C58"/>
            </a:solidFill>
            <a:ln w="38100" cap="flat">
              <a:solidFill>
                <a:srgbClr val="0A1C58"/>
              </a:solidFill>
              <a:prstDash val="solid"/>
              <a:round/>
            </a:ln>
            <a:effectLst/>
          </c:spPr>
          <c:invertIfNegative val="0"/>
          <c:dLbls>
            <c:numFmt formatCode="0%" sourceLinked="0"/>
            <c:txPr>
              <a:bodyPr/>
              <a:lstStyle/>
              <a:p>
                <a:pPr>
                  <a:defRPr b="1" i="0" strike="noStrike" sz="1100" u="none">
                    <a:solidFill>
                      <a:srgbClr val="1A1A1A"/>
                    </a:solidFill>
                    <a:latin typeface="+mn-lt"/>
                  </a:defRPr>
                </a:pPr>
              </a:p>
            </c:txPr>
            <c:dLblPos val="t"/>
            <c:showLegendKey val="0"/>
            <c:showVal val="1"/>
            <c:showCatName val="0"/>
            <c:showSerName val="0"/>
            <c:showPercent val="0"/>
            <c:showBubbleSize val="0"/>
            <c:showLeaderLines val="0"/>
          </c:dLbls>
          <c:marker>
            <c:symbol val="circle"/>
            <c:size val="7"/>
            <c:spPr>
              <a:solidFill>
                <a:srgbClr val="0A1C58"/>
              </a:solidFill>
              <a:ln w="9525" cap="flat">
                <a:solidFill>
                  <a:srgbClr val="0A1C58"/>
                </a:solidFill>
                <a:prstDash val="solid"/>
                <a:round/>
              </a:ln>
              <a:effectLst/>
            </c:spPr>
          </c:marker>
          <c:cat>
            <c:multiLvlStrRef>
              <c:f>Sheet1!$A$2:$A$7</c:f>
              <c:multiLvlStrCache>
                <c:ptCount val="6"/>
                <c:lvl>
                  <c:pt idx="0">
                    <c:v>30%</c:v>
                  </c:pt>
                  <c:pt idx="1">
                    <c:v>40%</c:v>
                  </c:pt>
                  <c:pt idx="2">
                    <c:v>50%</c:v>
                  </c:pt>
                  <c:pt idx="3">
                    <c:v>60%</c:v>
                  </c:pt>
                  <c:pt idx="4">
                    <c:v>70%</c:v>
                  </c:pt>
                  <c:pt idx="5">
                    <c:v>80%</c:v>
                  </c:pt>
                </c:lvl>
              </c:multiLvlStrCache>
            </c:multiLvlStrRef>
          </c:cat>
          <c:val>
            <c:numRef>
              <c:f>Sheet1!$B$2:$B$7</c:f>
              <c:numCache>
                <c:formatCode>General</c:formatCode>
                <c:ptCount val="6"/>
                <c:pt idx="0">
                  <c:v>0.279</c:v>
                </c:pt>
                <c:pt idx="1">
                  <c:v>0.292</c:v>
                </c:pt>
                <c:pt idx="2">
                  <c:v>0.306</c:v>
                </c:pt>
                <c:pt idx="3">
                  <c:v>0.321</c:v>
                </c:pt>
                <c:pt idx="4">
                  <c:v>0.34</c:v>
                </c:pt>
                <c:pt idx="5">
                  <c:v>0.361</c:v>
                </c:pt>
              </c:numCache>
            </c:numRef>
          </c:val>
          <c:smooth val="0"/>
        </c:ser>
        <c:dLbls>
          <c:numFmt formatCode="0%" sourceLinked="0"/>
          <c:txPr>
            <a:bodyPr/>
            <a:lstStyle/>
            <a:p>
              <a:pPr>
                <a:defRPr b="1" i="0" strike="noStrike" sz="11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0.39"/>
          <c:min val="0.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PMA adoption</c:v>
                </c:pt>
              </c:strCache>
            </c:strRef>
          </c:tx>
          <c:spPr>
            <a:solidFill>
              <a:srgbClr val="B5AEA9"/>
            </a:solidFill>
            <a:ln w="38100" cap="flat">
              <a:solidFill>
                <a:srgbClr val="B5AEA9"/>
              </a:solidFill>
              <a:prstDash val="solid"/>
              <a:round/>
            </a:ln>
            <a:effectLst/>
          </c:spPr>
          <c:invertIfNegative val="0"/>
          <c:dLbls>
            <c:numFmt formatCode="0.0" sourceLinked="0"/>
            <c:txPr>
              <a:bodyPr/>
              <a:lstStyle/>
              <a:p>
                <a:pPr>
                  <a:defRPr b="1" i="0" strike="noStrike" sz="1100" u="none">
                    <a:solidFill>
                      <a:srgbClr val="847C7A"/>
                    </a:solidFill>
                    <a:latin typeface="+mn-lt"/>
                  </a:defRPr>
                </a:pPr>
              </a:p>
            </c:txPr>
            <c:dLblPos val="t"/>
            <c:showLegendKey val="0"/>
            <c:showVal val="1"/>
            <c:showCatName val="0"/>
            <c:showSerName val="0"/>
            <c:showPercent val="0"/>
            <c:showBubbleSize val="0"/>
            <c:showLeaderLines val="0"/>
          </c:dLbls>
          <c:marker>
            <c:symbol val="circle"/>
            <c:size val="8"/>
            <c:spPr>
              <a:solidFill>
                <a:srgbClr val="B5AEA9"/>
              </a:solidFill>
              <a:ln w="9525" cap="flat">
                <a:solidFill>
                  <a:srgbClr val="B5AEA9"/>
                </a:solidFill>
                <a:prstDash val="solid"/>
                <a:round/>
              </a:ln>
              <a:effectLst/>
            </c:spPr>
          </c:marker>
          <c:cat>
            <c:multiLvlStrRef>
              <c:f>Sheet1!$A$2:$A$6</c:f>
              <c:multiLvlStrCache>
                <c:ptCount val="5"/>
                <c:lvl>
                  <c:pt idx="0">
                    <c:v>FY27E</c:v>
                  </c:pt>
                  <c:pt idx="1">
                    <c:v>FY28E</c:v>
                  </c:pt>
                  <c:pt idx="2">
                    <c:v>FY29E</c:v>
                  </c:pt>
                  <c:pt idx="3">
                    <c:v>FY30E</c:v>
                  </c:pt>
                  <c:pt idx="4">
                    <c:v>FY31E</c:v>
                  </c:pt>
                </c:lvl>
              </c:multiLvlStrCache>
            </c:multiLvlStrRef>
          </c:cat>
          <c:val>
            <c:numRef>
              <c:f>Sheet1!$B$2:$B$6</c:f>
              <c:numCache>
                <c:formatCode>General</c:formatCode>
                <c:ptCount val="5"/>
                <c:pt idx="0">
                  <c:v>0.9</c:v>
                </c:pt>
                <c:pt idx="1">
                  <c:v>3</c:v>
                </c:pt>
                <c:pt idx="2">
                  <c:v>5</c:v>
                </c:pt>
                <c:pt idx="3">
                  <c:v>7</c:v>
                </c:pt>
                <c:pt idx="4">
                  <c:v>9</c:v>
                </c:pt>
              </c:numCache>
            </c:numRef>
          </c:val>
          <c:smooth val="0"/>
        </c:ser>
        <c:dLbls>
          <c:numFmt formatCode="0.0" sourceLinked="0"/>
          <c:txPr>
            <a:bodyPr/>
            <a:lstStyle/>
            <a:p>
              <a:pPr>
                <a:defRPr b="1" i="0" strike="noStrike" sz="1100" u="none">
                  <a:solidFill>
                    <a:srgbClr val="847C7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3"/>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PMA EBITDA uplift</c:v>
                </c:pt>
              </c:strCache>
            </c:strRef>
          </c:tx>
          <c:spPr>
            <a:solidFill>
              <a:srgbClr val="0A1C58"/>
            </a:solidFill>
            <a:effectLst/>
          </c:spPr>
          <c:invertIfNegative val="0"/>
          <c:dLbls>
            <c:numFmt formatCode="&quot;$&quot;0&quot;M&quot;" sourceLinked="0"/>
            <c:txPr>
              <a:bodyPr/>
              <a:lstStyle/>
              <a:p>
                <a:pPr>
                  <a:defRPr b="1"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FY27E</c:v>
                  </c:pt>
                  <c:pt idx="1">
                    <c:v>FY28E</c:v>
                  </c:pt>
                  <c:pt idx="2">
                    <c:v>FY29E</c:v>
                  </c:pt>
                  <c:pt idx="3">
                    <c:v>FY30E</c:v>
                  </c:pt>
                  <c:pt idx="4">
                    <c:v>FY31E</c:v>
                  </c:pt>
                </c:lvl>
              </c:multiLvlStrCache>
            </c:multiLvlStrRef>
          </c:cat>
          <c:val>
            <c:numRef>
              <c:f>Sheet1!$B$2:$B$6</c:f>
              <c:numCache>
                <c:formatCode>General</c:formatCode>
                <c:ptCount val="5"/>
                <c:pt idx="0">
                  <c:v>6</c:v>
                </c:pt>
                <c:pt idx="1">
                  <c:v>24</c:v>
                </c:pt>
                <c:pt idx="2">
                  <c:v>42</c:v>
                </c:pt>
                <c:pt idx="3">
                  <c:v>59</c:v>
                </c:pt>
                <c:pt idx="4">
                  <c:v>77</c:v>
                </c:pt>
              </c:numCache>
            </c:numRef>
          </c:val>
        </c:ser>
        <c:dLbls>
          <c:numFmt formatCode="&quot;$&quot;0&quot;M&quot;" sourceLinked="0"/>
          <c:txPr>
            <a:bodyPr/>
            <a:lstStyle/>
            <a:p>
              <a:pPr>
                <a:defRPr b="1" i="0" strike="noStrike" sz="11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9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AP EBITDA ($M)</c:v>
                </c:pt>
              </c:strCache>
            </c:strRef>
          </c:tx>
          <c:spPr>
            <a:solidFill>
              <a:srgbClr val="0A1C58"/>
            </a:solidFill>
            <a:ln w="38100" cap="flat">
              <a:solidFill>
                <a:srgbClr val="0A1C58"/>
              </a:solidFill>
              <a:prstDash val="solid"/>
              <a:round/>
            </a:ln>
            <a:effectLst/>
          </c:spPr>
          <c:invertIfNegative val="0"/>
          <c:dLbls>
            <c:numFmt formatCode="&quot;$&quot;#,##0" sourceLinked="0"/>
            <c:txPr>
              <a:bodyPr/>
              <a:lstStyle/>
              <a:p>
                <a:pPr>
                  <a:defRPr b="1" i="0" strike="noStrike" sz="1100" u="none">
                    <a:solidFill>
                      <a:srgbClr val="1A1A1A"/>
                    </a:solidFill>
                    <a:latin typeface="+mn-lt"/>
                  </a:defRPr>
                </a:pPr>
              </a:p>
            </c:txPr>
            <c:dLblPos val="t"/>
            <c:showLegendKey val="0"/>
            <c:showVal val="1"/>
            <c:showCatName val="0"/>
            <c:showSerName val="0"/>
            <c:showPercent val="0"/>
            <c:showBubbleSize val="0"/>
            <c:showLeaderLines val="0"/>
          </c:dLbls>
          <c:marker>
            <c:symbol val="circle"/>
            <c:size val="7"/>
            <c:spPr>
              <a:solidFill>
                <a:srgbClr val="0A1C58"/>
              </a:solidFill>
              <a:ln w="9525" cap="flat">
                <a:solidFill>
                  <a:srgbClr val="0A1C58"/>
                </a:solidFill>
                <a:prstDash val="solid"/>
                <a:round/>
              </a:ln>
              <a:effectLst/>
            </c:spPr>
          </c:marker>
          <c:cat>
            <c:multiLvlStrRef>
              <c:f>Sheet1!$A$2:$A$7</c:f>
              <c:multiLvlStrCache>
                <c:ptCount val="6"/>
                <c:lvl>
                  <c:pt idx="0">
                    <c:v>0%</c:v>
                  </c:pt>
                  <c:pt idx="1">
                    <c:v>10%</c:v>
                  </c:pt>
                  <c:pt idx="2">
                    <c:v>20%</c:v>
                  </c:pt>
                  <c:pt idx="3">
                    <c:v>30%</c:v>
                  </c:pt>
                  <c:pt idx="4">
                    <c:v>40%</c:v>
                  </c:pt>
                  <c:pt idx="5">
                    <c:v>50%</c:v>
                  </c:pt>
                </c:lvl>
              </c:multiLvlStrCache>
            </c:multiLvlStrRef>
          </c:cat>
          <c:val>
            <c:numRef>
              <c:f>Sheet1!$B$2:$B$7</c:f>
              <c:numCache>
                <c:formatCode>General</c:formatCode>
                <c:ptCount val="6"/>
                <c:pt idx="0">
                  <c:v>1132</c:v>
                </c:pt>
                <c:pt idx="1">
                  <c:v>1225</c:v>
                </c:pt>
                <c:pt idx="2">
                  <c:v>1318</c:v>
                </c:pt>
                <c:pt idx="3">
                  <c:v>1411</c:v>
                </c:pt>
                <c:pt idx="4">
                  <c:v>1504</c:v>
                </c:pt>
                <c:pt idx="5">
                  <c:v>1597</c:v>
                </c:pt>
              </c:numCache>
            </c:numRef>
          </c:val>
          <c:smooth val="0"/>
        </c:ser>
        <c:dLbls>
          <c:numFmt formatCode="&quot;$&quot;#,##0" sourceLinked="0"/>
          <c:txPr>
            <a:bodyPr/>
            <a:lstStyle/>
            <a:p>
              <a:pPr>
                <a:defRPr b="1" i="0" strike="noStrike" sz="11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700"/>
          <c:min val="1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Pre-COVID</c:v>
                </c:pt>
              </c:strCache>
            </c:strRef>
          </c:tx>
          <c:spPr>
            <a:solidFill>
              <a:srgbClr val="B5AEA9"/>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cat>
            <c:multiLvlStrRef>
              <c:f>Sheet1!$A$2:$A$3</c:f>
              <c:multiLvlStrCache>
                <c:ptCount val="2"/>
                <c:lvl>
                  <c:pt idx="0">
                    <c:v>Pre-COVID</c:v>
                  </c:pt>
                  <c:pt idx="1">
                    <c:v>Today</c:v>
                  </c:pt>
                </c:lvl>
              </c:multiLvlStrCache>
            </c:multiLvlStrRef>
          </c:cat>
          <c:val>
            <c:numRef>
              <c:f>Sheet1!$B$2:$B$3</c:f>
              <c:numCache>
                <c:formatCode>General</c:formatCode>
                <c:ptCount val="2"/>
                <c:pt idx="0">
                  <c:v>60</c:v>
                </c:pt>
                <c:pt idx="1">
                  <c:v/>
                </c:pt>
              </c:numCache>
            </c:numRef>
          </c:val>
        </c:ser>
        <c:ser>
          <c:idx val="1"/>
          <c:order val="1"/>
          <c:tx>
            <c:strRef>
              <c:f>Sheet1!$C$1</c:f>
              <c:strCache>
                <c:ptCount val="1"/>
                <c:pt idx="0">
                  <c:v>Today (low)</c:v>
                </c:pt>
              </c:strCache>
            </c:strRef>
          </c:tx>
          <c:spPr>
            <a:solidFill>
              <a:srgbClr val="0A1C58"/>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cat>
            <c:multiLvlStrRef>
              <c:f>Sheet1!$A$2:$A$3</c:f>
              <c:multiLvlStrCache>
                <c:ptCount val="2"/>
                <c:lvl>
                  <c:pt idx="0">
                    <c:v>Pre-COVID</c:v>
                  </c:pt>
                  <c:pt idx="1">
                    <c:v>Today</c:v>
                  </c:pt>
                </c:lvl>
              </c:multiLvlStrCache>
            </c:multiLvlStrRef>
          </c:cat>
          <c:val>
            <c:numRef>
              <c:f>Sheet1!$C$2:$C$3</c:f>
              <c:numCache>
                <c:formatCode>General</c:formatCode>
                <c:ptCount val="2"/>
                <c:pt idx="0">
                  <c:v/>
                </c:pt>
                <c:pt idx="1">
                  <c:v>90</c:v>
                </c:pt>
              </c:numCache>
            </c:numRef>
          </c:val>
        </c:ser>
        <c:ser>
          <c:idx val="2"/>
          <c:order val="2"/>
          <c:tx>
            <c:strRef>
              <c:f>Sheet1!$D$1</c:f>
              <c:strCache>
                <c:ptCount val="1"/>
                <c:pt idx="0">
                  <c:v>Today (range)</c:v>
                </c:pt>
              </c:strCache>
            </c:strRef>
          </c:tx>
          <c:spPr>
            <a:solidFill>
              <a:srgbClr val="3B4C82"/>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cat>
            <c:multiLvlStrRef>
              <c:f>Sheet1!$A$2:$A$3</c:f>
              <c:multiLvlStrCache>
                <c:ptCount val="2"/>
                <c:lvl>
                  <c:pt idx="0">
                    <c:v>Pre-COVID</c:v>
                  </c:pt>
                  <c:pt idx="1">
                    <c:v>Today</c:v>
                  </c:pt>
                </c:lvl>
              </c:multiLvlStrCache>
            </c:multiLvlStrRef>
          </c:cat>
          <c:val>
            <c:numRef>
              <c:f>Sheet1!$D$2:$D$3</c:f>
              <c:numCache>
                <c:formatCode>General</c:formatCode>
                <c:ptCount val="2"/>
                <c:pt idx="0">
                  <c:v/>
                </c:pt>
                <c:pt idx="1">
                  <c:v>30</c:v>
                </c:pt>
              </c:numCache>
            </c:numRef>
          </c:val>
        </c:ser>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CFM56</c:v>
                </c:pt>
              </c:strCache>
            </c:strRef>
          </c:tx>
          <c:spPr>
            <a:solidFill>
              <a:srgbClr val="B5AEA9"/>
            </a:solidFill>
            <a:effectLst/>
          </c:spPr>
          <c:invertIfNegative val="0"/>
          <c:dLbls>
            <c:numFmt formatCode="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2025</c:v>
                  </c:pt>
                  <c:pt idx="1">
                    <c:v>2030E</c:v>
                  </c:pt>
                </c:lvl>
              </c:multiLvlStrCache>
            </c:multiLvlStrRef>
          </c:cat>
          <c:val>
            <c:numRef>
              <c:f>Sheet1!$B$2:$B$3</c:f>
              <c:numCache>
                <c:formatCode>General</c:formatCode>
                <c:ptCount val="2"/>
                <c:pt idx="0">
                  <c:v>0.68</c:v>
                </c:pt>
                <c:pt idx="1">
                  <c:v>0.49</c:v>
                </c:pt>
              </c:numCache>
            </c:numRef>
          </c:val>
        </c:ser>
        <c:ser>
          <c:idx val="1"/>
          <c:order val="1"/>
          <c:tx>
            <c:strRef>
              <c:f>Sheet1!$C$1</c:f>
              <c:strCache>
                <c:ptCount val="1"/>
                <c:pt idx="0">
                  <c:v>LEAP</c:v>
                </c:pt>
              </c:strCache>
            </c:strRef>
          </c:tx>
          <c:spPr>
            <a:solidFill>
              <a:srgbClr val="0A1C58"/>
            </a:solidFill>
            <a:effectLst/>
          </c:spPr>
          <c:invertIfNegative val="0"/>
          <c:dLbls>
            <c:numFmt formatCode="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2025</c:v>
                  </c:pt>
                  <c:pt idx="1">
                    <c:v>2030E</c:v>
                  </c:pt>
                </c:lvl>
              </c:multiLvlStrCache>
            </c:multiLvlStrRef>
          </c:cat>
          <c:val>
            <c:numRef>
              <c:f>Sheet1!$C$2:$C$3</c:f>
              <c:numCache>
                <c:formatCode>General</c:formatCode>
                <c:ptCount val="2"/>
                <c:pt idx="0">
                  <c:v>0.32</c:v>
                </c:pt>
                <c:pt idx="1">
                  <c:v>0.51</c:v>
                </c:pt>
              </c:numCache>
            </c:numRef>
          </c:val>
        </c:ser>
        <c:dLbls>
          <c:numFmt formatCode="0%" sourceLinked="0"/>
          <c:txPr>
            <a:bodyPr/>
            <a:lstStyle/>
            <a:p>
              <a:pPr>
                <a:defRPr b="1"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Output</c:v>
                </c:pt>
              </c:strCache>
            </c:strRef>
          </c:tx>
          <c:spPr>
            <a:solidFill>
              <a:srgbClr val="0A1C58"/>
            </a:solidFill>
            <a:effectLst/>
          </c:spPr>
          <c:invertIfNegative val="0"/>
          <c:dLbls>
            <c:numFmt formatCode="#,##0;;;"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2025</c:v>
                  </c:pt>
                  <c:pt idx="1">
                    <c:v>2026E</c:v>
                  </c:pt>
                  <c:pt idx="2">
                    <c:v>2027E</c:v>
                  </c:pt>
                </c:lvl>
              </c:multiLvlStrCache>
            </c:multiLvlStrRef>
          </c:cat>
          <c:val>
            <c:numRef>
              <c:f>Sheet1!$B$2:$B$4</c:f>
              <c:numCache>
                <c:formatCode>General</c:formatCode>
                <c:ptCount val="3"/>
                <c:pt idx="0">
                  <c:v>757</c:v>
                </c:pt>
                <c:pt idx="1">
                  <c:v>1200</c:v>
                </c:pt>
                <c:pt idx="2">
                  <c:v>1700</c:v>
                </c:pt>
              </c:numCache>
            </c:numRef>
          </c:val>
        </c:ser>
        <c:ser>
          <c:idx val="1"/>
          <c:order val="1"/>
          <c:tx>
            <c:strRef>
              <c:f>Sheet1!$C$1</c:f>
              <c:strCache>
                <c:ptCount val="1"/>
                <c:pt idx="0">
                  <c:v>Unused capacity</c:v>
                </c:pt>
              </c:strCache>
            </c:strRef>
          </c:tx>
          <c:spPr>
            <a:solidFill>
              <a:srgbClr val="B5AEA9"/>
            </a:solidFill>
            <a:effectLst/>
          </c:spPr>
          <c:invertIfNegative val="0"/>
          <c:dLbls>
            <c:numFmt formatCode="#,##0;;;"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2025</c:v>
                  </c:pt>
                  <c:pt idx="1">
                    <c:v>2026E</c:v>
                  </c:pt>
                  <c:pt idx="2">
                    <c:v>2027E</c:v>
                  </c:pt>
                </c:lvl>
              </c:multiLvlStrCache>
            </c:multiLvlStrRef>
          </c:cat>
          <c:val>
            <c:numRef>
              <c:f>Sheet1!$C$2:$C$4</c:f>
              <c:numCache>
                <c:formatCode>General</c:formatCode>
                <c:ptCount val="3"/>
                <c:pt idx="0">
                  <c:v/>
                </c:pt>
                <c:pt idx="1">
                  <c:v>1800</c:v>
                </c:pt>
                <c:pt idx="2">
                  <c:v>1300</c:v>
                </c:pt>
              </c:numCache>
            </c:numRef>
          </c:val>
        </c:ser>
        <c:dLbls>
          <c:numFmt formatCode="#,##0;;;"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3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Reported</c:v>
                </c:pt>
              </c:strCache>
            </c:strRef>
          </c:tx>
          <c:spPr>
            <a:solidFill>
              <a:srgbClr val="0A1C58"/>
            </a:solidFill>
            <a:effectLst/>
          </c:spPr>
          <c:invertIfNegative val="0"/>
          <c:dLbls>
            <c:numFmt formatCode="0%" sourceLinked="0"/>
            <c:txPr>
              <a:bodyPr/>
              <a:lstStyle/>
              <a:p>
                <a:pPr>
                  <a:defRPr b="1"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Sheet1!$A$2:$A$8</c:f>
              <c:multiLvlStrCache>
                <c:ptCount val="7"/>
                <c:lvl>
                  <c:pt idx="0">
                    <c:v>2024</c:v>
                  </c:pt>
                  <c:pt idx="1">
                    <c:v>2025</c:v>
                  </c:pt>
                  <c:pt idx="2">
                    <c:v>2026E</c:v>
                  </c:pt>
                  <c:pt idx="3">
                    <c:v>2027E</c:v>
                  </c:pt>
                  <c:pt idx="4">
                    <c:v>2028E</c:v>
                  </c:pt>
                  <c:pt idx="5">
                    <c:v>2029E</c:v>
                  </c:pt>
                  <c:pt idx="6">
                    <c:v>2030E</c:v>
                  </c:pt>
                </c:lvl>
              </c:multiLvlStrCache>
            </c:multiLvlStrRef>
          </c:cat>
          <c:val>
            <c:numRef>
              <c:f>Sheet1!$B$2:$B$8</c:f>
              <c:numCache>
                <c:formatCode>General</c:formatCode>
                <c:ptCount val="7"/>
                <c:pt idx="0">
                  <c:v>0.04</c:v>
                </c:pt>
                <c:pt idx="1">
                  <c:v>0.08</c:v>
                </c:pt>
                <c:pt idx="2">
                  <c:v/>
                </c:pt>
                <c:pt idx="3">
                  <c:v/>
                </c:pt>
                <c:pt idx="4">
                  <c:v/>
                </c:pt>
                <c:pt idx="5">
                  <c:v/>
                </c:pt>
                <c:pt idx="6">
                  <c:v/>
                </c:pt>
              </c:numCache>
            </c:numRef>
          </c:val>
        </c:ser>
        <c:ser>
          <c:idx val="1"/>
          <c:order val="1"/>
          <c:tx>
            <c:strRef>
              <c:f>Sheet1!$C$1</c:f>
              <c:strCache>
                <c:ptCount val="1"/>
                <c:pt idx="0">
                  <c:v>GPS model</c:v>
                </c:pt>
              </c:strCache>
            </c:strRef>
          </c:tx>
          <c:spPr>
            <a:solidFill>
              <a:srgbClr val="B5AEA9"/>
            </a:solidFill>
            <a:effectLst/>
          </c:spPr>
          <c:invertIfNegative val="0"/>
          <c:dLbls>
            <c:numFmt formatCode="0%" sourceLinked="0"/>
            <c:txPr>
              <a:bodyPr/>
              <a:lstStyle/>
              <a:p>
                <a:pPr>
                  <a:defRPr b="1"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Sheet1!$A$2:$A$8</c:f>
              <c:multiLvlStrCache>
                <c:ptCount val="7"/>
                <c:lvl>
                  <c:pt idx="0">
                    <c:v>2024</c:v>
                  </c:pt>
                  <c:pt idx="1">
                    <c:v>2025</c:v>
                  </c:pt>
                  <c:pt idx="2">
                    <c:v>2026E</c:v>
                  </c:pt>
                  <c:pt idx="3">
                    <c:v>2027E</c:v>
                  </c:pt>
                  <c:pt idx="4">
                    <c:v>2028E</c:v>
                  </c:pt>
                  <c:pt idx="5">
                    <c:v>2029E</c:v>
                  </c:pt>
                  <c:pt idx="6">
                    <c:v>2030E</c:v>
                  </c:pt>
                </c:lvl>
              </c:multiLvlStrCache>
            </c:multiLvlStrRef>
          </c:cat>
          <c:val>
            <c:numRef>
              <c:f>Sheet1!$C$2:$C$8</c:f>
              <c:numCache>
                <c:formatCode>General</c:formatCode>
                <c:ptCount val="7"/>
                <c:pt idx="0">
                  <c:v/>
                </c:pt>
                <c:pt idx="1">
                  <c:v/>
                </c:pt>
                <c:pt idx="2">
                  <c:v>0.124</c:v>
                </c:pt>
                <c:pt idx="3">
                  <c:v>0.168</c:v>
                </c:pt>
                <c:pt idx="4">
                  <c:v>0.19</c:v>
                </c:pt>
                <c:pt idx="5">
                  <c:v>0.195</c:v>
                </c:pt>
                <c:pt idx="6">
                  <c:v>0.2</c:v>
                </c:pt>
              </c:numCache>
            </c:numRef>
          </c:val>
        </c:ser>
        <c:dLbls>
          <c:numFmt formatCode="0%" sourceLinked="0"/>
          <c:txPr>
            <a:bodyPr/>
            <a:lstStyle/>
            <a:p>
              <a:pPr>
                <a:defRPr b="1" i="0" strike="noStrike" sz="1100" u="none">
                  <a:solidFill>
                    <a:srgbClr val="1A1A1A"/>
                  </a:solidFill>
                  <a:latin typeface="+mn-lt"/>
                </a:defRPr>
              </a:pPr>
            </a:p>
          </c:txP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0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0.2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Third-party</c:v>
                </c:pt>
              </c:strCache>
            </c:strRef>
          </c:tx>
          <c:spPr>
            <a:solidFill>
              <a:srgbClr val="0A1C58"/>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cat>
            <c:multiLvlStrRef>
              <c:f>Sheet1!$A$2:$A$7</c:f>
              <c:multiLvlStrCache>
                <c:ptCount val="6"/>
                <c:lvl>
                  <c:pt idx="0">
                    <c:v>2025</c:v>
                  </c:pt>
                  <c:pt idx="1">
                    <c:v>2026E</c:v>
                  </c:pt>
                  <c:pt idx="2">
                    <c:v>2027E</c:v>
                  </c:pt>
                  <c:pt idx="3">
                    <c:v>2028E</c:v>
                  </c:pt>
                  <c:pt idx="4">
                    <c:v>2029E</c:v>
                  </c:pt>
                  <c:pt idx="5">
                    <c:v>2030E</c:v>
                  </c:pt>
                </c:lvl>
              </c:multiLvlStrCache>
            </c:multiLvlStrRef>
          </c:cat>
          <c:val>
            <c:numRef>
              <c:f>Sheet1!$B$2:$B$7</c:f>
              <c:numCache>
                <c:formatCode>General</c:formatCode>
                <c:ptCount val="6"/>
                <c:pt idx="0">
                  <c:v>675</c:v>
                </c:pt>
                <c:pt idx="1">
                  <c:v>866</c:v>
                </c:pt>
                <c:pt idx="2">
                  <c:v>1206</c:v>
                </c:pt>
                <c:pt idx="3">
                  <c:v>1321</c:v>
                </c:pt>
                <c:pt idx="4">
                  <c:v>1298</c:v>
                </c:pt>
                <c:pt idx="5">
                  <c:v>1272</c:v>
                </c:pt>
              </c:numCache>
            </c:numRef>
          </c:val>
        </c:ser>
        <c:ser>
          <c:idx val="1"/>
          <c:order val="1"/>
          <c:tx>
            <c:strRef>
              <c:f>Sheet1!$C$1</c:f>
              <c:strCache>
                <c:ptCount val="1"/>
                <c:pt idx="0">
                  <c:v>SCI (contracted)</c:v>
                </c:pt>
              </c:strCache>
            </c:strRef>
          </c:tx>
          <c:spPr>
            <a:solidFill>
              <a:srgbClr val="B5AEA9"/>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cat>
            <c:multiLvlStrRef>
              <c:f>Sheet1!$A$2:$A$7</c:f>
              <c:multiLvlStrCache>
                <c:ptCount val="6"/>
                <c:lvl>
                  <c:pt idx="0">
                    <c:v>2025</c:v>
                  </c:pt>
                  <c:pt idx="1">
                    <c:v>2026E</c:v>
                  </c:pt>
                  <c:pt idx="2">
                    <c:v>2027E</c:v>
                  </c:pt>
                  <c:pt idx="3">
                    <c:v>2028E</c:v>
                  </c:pt>
                  <c:pt idx="4">
                    <c:v>2029E</c:v>
                  </c:pt>
                  <c:pt idx="5">
                    <c:v>2030E</c:v>
                  </c:pt>
                </c:lvl>
              </c:multiLvlStrCache>
            </c:multiLvlStrRef>
          </c:cat>
          <c:val>
            <c:numRef>
              <c:f>Sheet1!$C$2:$C$7</c:f>
              <c:numCache>
                <c:formatCode>General</c:formatCode>
                <c:ptCount val="6"/>
                <c:pt idx="0">
                  <c:v>82</c:v>
                </c:pt>
                <c:pt idx="1">
                  <c:v>328</c:v>
                </c:pt>
                <c:pt idx="2">
                  <c:v>482</c:v>
                </c:pt>
                <c:pt idx="3">
                  <c:v>660</c:v>
                </c:pt>
                <c:pt idx="4">
                  <c:v>780</c:v>
                </c:pt>
                <c:pt idx="5">
                  <c:v>840</c:v>
                </c:pt>
              </c:numCache>
            </c:numRef>
          </c:val>
        </c:ser>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0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2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Your return</c:v>
                </c:pt>
              </c:strCache>
            </c:strRef>
          </c:tx>
          <c:spPr>
            <a:solidFill>
              <a:srgbClr val="B5AEA9"/>
            </a:solidFill>
            <a:effectLst/>
          </c:spPr>
          <c:invertIfNegative val="0"/>
          <c:dLbls>
            <c:numFmt formatCode="0%" sourceLinked="0"/>
            <c:txPr>
              <a:bodyPr/>
              <a:lstStyle/>
              <a:p>
                <a:pPr>
                  <a:defRPr b="1" i="0" strike="noStrike" sz="1400" u="none">
                    <a:solidFill>
                      <a:srgbClr val="1A1A1A"/>
                    </a:solidFill>
                    <a:latin typeface="+mn-lt"/>
                  </a:defRPr>
                </a:pPr>
              </a:p>
            </c:txPr>
            <c:showLegendKey val="0"/>
            <c:showVal val="1"/>
            <c:showCatName val="0"/>
            <c:showSerName val="0"/>
            <c:showPercent val="0"/>
            <c:showBubbleSize val="0"/>
            <c:showLeaderLines val="0"/>
          </c:dLbls>
          <c:cat>
            <c:multiLvlStrRef>
              <c:f>Sheet1!$A$2:$A$7</c:f>
              <c:multiLvlStrCache>
                <c:ptCount val="6"/>
                <c:lvl>
                  <c:pt idx="0">
                    <c:v>0% (base)</c:v>
                  </c:pt>
                  <c:pt idx="1">
                    <c:v>5%</c:v>
                  </c:pt>
                  <c:pt idx="2">
                    <c:v>10%</c:v>
                  </c:pt>
                  <c:pt idx="3">
                    <c:v>15%</c:v>
                  </c:pt>
                  <c:pt idx="4">
                    <c:v>20% (CFM56)</c:v>
                  </c:pt>
                  <c:pt idx="5">
                    <c:v>25%</c:v>
                  </c:pt>
                </c:lvl>
              </c:multiLvlStrCache>
            </c:multiLvlStrRef>
          </c:cat>
          <c:val>
            <c:numRef>
              <c:f>Sheet1!$B$2:$B$7</c:f>
              <c:numCache>
                <c:formatCode>General</c:formatCode>
                <c:ptCount val="6"/>
                <c:pt idx="0">
                  <c:v>0.66</c:v>
                </c:pt>
                <c:pt idx="1">
                  <c:v>0.74</c:v>
                </c:pt>
                <c:pt idx="2">
                  <c:v>0.83</c:v>
                </c:pt>
                <c:pt idx="3">
                  <c:v>0.92</c:v>
                </c:pt>
                <c:pt idx="4">
                  <c:v/>
                </c:pt>
                <c:pt idx="5">
                  <c:v>1.09</c:v>
                </c:pt>
              </c:numCache>
            </c:numRef>
          </c:val>
        </c:ser>
        <c:ser>
          <c:idx val="1"/>
          <c:order val="1"/>
          <c:tx>
            <c:strRef>
              <c:f>Sheet1!$C$1</c:f>
              <c:strCache>
                <c:ptCount val="1"/>
                <c:pt idx="0">
                  <c:v>Matches CFM56 share</c:v>
                </c:pt>
              </c:strCache>
            </c:strRef>
          </c:tx>
          <c:spPr>
            <a:solidFill>
              <a:srgbClr val="0A1C58"/>
            </a:solidFill>
            <a:effectLst/>
          </c:spPr>
          <c:invertIfNegative val="0"/>
          <c:dLbls>
            <c:numFmt formatCode="0%" sourceLinked="0"/>
            <c:txPr>
              <a:bodyPr/>
              <a:lstStyle/>
              <a:p>
                <a:pPr>
                  <a:defRPr b="1" i="0" strike="noStrike" sz="1400" u="none">
                    <a:solidFill>
                      <a:srgbClr val="1A1A1A"/>
                    </a:solidFill>
                    <a:latin typeface="+mn-lt"/>
                  </a:defRPr>
                </a:pPr>
              </a:p>
            </c:txPr>
            <c:showLegendKey val="0"/>
            <c:showVal val="1"/>
            <c:showCatName val="0"/>
            <c:showSerName val="0"/>
            <c:showPercent val="0"/>
            <c:showBubbleSize val="0"/>
            <c:showLeaderLines val="0"/>
          </c:dLbls>
          <c:cat>
            <c:multiLvlStrRef>
              <c:f>Sheet1!$A$2:$A$7</c:f>
              <c:multiLvlStrCache>
                <c:ptCount val="6"/>
                <c:lvl>
                  <c:pt idx="0">
                    <c:v>0% (base)</c:v>
                  </c:pt>
                  <c:pt idx="1">
                    <c:v>5%</c:v>
                  </c:pt>
                  <c:pt idx="2">
                    <c:v>10%</c:v>
                  </c:pt>
                  <c:pt idx="3">
                    <c:v>15%</c:v>
                  </c:pt>
                  <c:pt idx="4">
                    <c:v>20% (CFM56)</c:v>
                  </c:pt>
                  <c:pt idx="5">
                    <c:v>25%</c:v>
                  </c:pt>
                </c:lvl>
              </c:multiLvlStrCache>
            </c:multiLvlStrRef>
          </c:cat>
          <c:val>
            <c:numRef>
              <c:f>Sheet1!$C$2:$C$7</c:f>
              <c:numCache>
                <c:formatCode>General</c:formatCode>
                <c:ptCount val="6"/>
                <c:pt idx="0">
                  <c:v/>
                </c:pt>
                <c:pt idx="1">
                  <c:v/>
                </c:pt>
                <c:pt idx="2">
                  <c:v/>
                </c:pt>
                <c:pt idx="3">
                  <c:v/>
                </c:pt>
                <c:pt idx="4">
                  <c:v>1.01</c:v>
                </c:pt>
                <c:pt idx="5">
                  <c:v/>
                </c:pt>
              </c:numCache>
            </c:numRef>
          </c:val>
        </c:ser>
        <c:dLbls>
          <c:numFmt formatCode="0%" sourceLinked="0"/>
          <c:txPr>
            <a:bodyPr/>
            <a:lstStyle/>
            <a:p>
              <a:pPr>
                <a:defRPr b="1" i="0" strike="noStrike" sz="1400" u="none">
                  <a:solidFill>
                    <a:srgbClr val="1A1A1A"/>
                  </a:solidFill>
                  <a:latin typeface="+mn-lt"/>
                </a:defRPr>
              </a:pPr>
            </a:p>
          </c:txP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300" b="0" i="0" u="none" strike="noStrike">
                <a:solidFill>
                  <a:srgbClr val="0A1C58"/>
                </a:solidFill>
                <a:latin typeface="+mn-lt"/>
              </a:defRPr>
            </a:pPr>
            <a:endParaRPr lang="en-US"/>
          </a:p>
        </c:txPr>
        <c:crossAx val="2094734552"/>
        <c:crosses val="autoZero"/>
        <c:auto val="1"/>
        <c:lblAlgn val="ctr"/>
        <c:noMultiLvlLbl val="1"/>
      </c:catAx>
      <c:valAx>
        <c:axId val="2094734552"/>
        <c:scaling>
          <c:orientation val="minMax"/>
          <c:max val="1.2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Reported</c:v>
                </c:pt>
              </c:strCache>
            </c:strRef>
          </c:tx>
          <c:spPr>
            <a:solidFill>
              <a:srgbClr val="B5AEA9"/>
            </a:solidFill>
            <a:effectLst/>
          </c:spPr>
          <c:invertIfNegative val="0"/>
          <c:dLbls>
            <c:numFmt formatCode="#,##0" sourceLinked="0"/>
            <c:txPr>
              <a:bodyPr/>
              <a:lstStyle/>
              <a:p>
                <a:pPr>
                  <a:defRPr b="1"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Sheet1!$A$2:$A$9</c:f>
              <c:multiLvlStrCache>
                <c:ptCount val="8"/>
                <c:lvl>
                  <c:pt idx="0">
                    <c:v>2019</c:v>
                  </c:pt>
                  <c:pt idx="1">
                    <c:v>2020</c:v>
                  </c:pt>
                  <c:pt idx="2">
                    <c:v>2021</c:v>
                  </c:pt>
                  <c:pt idx="3">
                    <c:v>2022</c:v>
                  </c:pt>
                  <c:pt idx="4">
                    <c:v>2023</c:v>
                  </c:pt>
                  <c:pt idx="5">
                    <c:v>2024</c:v>
                  </c:pt>
                  <c:pt idx="6">
                    <c:v>2025</c:v>
                  </c:pt>
                  <c:pt idx="7">
                    <c:v>2026E</c:v>
                  </c:pt>
                </c:lvl>
              </c:multiLvlStrCache>
            </c:multiLvlStrRef>
          </c:cat>
          <c:val>
            <c:numRef>
              <c:f>Sheet1!$B$2:$B$9</c:f>
              <c:numCache>
                <c:formatCode>General</c:formatCode>
                <c:ptCount val="8"/>
                <c:pt idx="0">
                  <c:v>69</c:v>
                </c:pt>
                <c:pt idx="1">
                  <c:v>95</c:v>
                </c:pt>
                <c:pt idx="2">
                  <c:v>128</c:v>
                </c:pt>
                <c:pt idx="3">
                  <c:v>151</c:v>
                </c:pt>
                <c:pt idx="4">
                  <c:v>147</c:v>
                </c:pt>
                <c:pt idx="5">
                  <c:v>228</c:v>
                </c:pt>
                <c:pt idx="6">
                  <c:v>376</c:v>
                </c:pt>
                <c:pt idx="7">
                  <c:v/>
                </c:pt>
              </c:numCache>
            </c:numRef>
          </c:val>
        </c:ser>
        <c:ser>
          <c:idx val="1"/>
          <c:order val="1"/>
          <c:tx>
            <c:strRef>
              <c:f>Sheet1!$C$1</c:f>
              <c:strCache>
                <c:ptCount val="1"/>
                <c:pt idx="0">
                  <c:v>Guided</c:v>
                </c:pt>
              </c:strCache>
            </c:strRef>
          </c:tx>
          <c:spPr>
            <a:solidFill>
              <a:srgbClr val="0A1C58"/>
            </a:solidFill>
            <a:effectLst/>
          </c:spPr>
          <c:invertIfNegative val="0"/>
          <c:dLbls>
            <c:numFmt formatCode="#,##0" sourceLinked="0"/>
            <c:txPr>
              <a:bodyPr/>
              <a:lstStyle/>
              <a:p>
                <a:pPr>
                  <a:defRPr b="1"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Sheet1!$A$2:$A$9</c:f>
              <c:multiLvlStrCache>
                <c:ptCount val="8"/>
                <c:lvl>
                  <c:pt idx="0">
                    <c:v>2019</c:v>
                  </c:pt>
                  <c:pt idx="1">
                    <c:v>2020</c:v>
                  </c:pt>
                  <c:pt idx="2">
                    <c:v>2021</c:v>
                  </c:pt>
                  <c:pt idx="3">
                    <c:v>2022</c:v>
                  </c:pt>
                  <c:pt idx="4">
                    <c:v>2023</c:v>
                  </c:pt>
                  <c:pt idx="5">
                    <c:v>2024</c:v>
                  </c:pt>
                  <c:pt idx="6">
                    <c:v>2025</c:v>
                  </c:pt>
                  <c:pt idx="7">
                    <c:v>2026E</c:v>
                  </c:pt>
                </c:lvl>
              </c:multiLvlStrCache>
            </c:multiLvlStrRef>
          </c:cat>
          <c:val>
            <c:numRef>
              <c:f>Sheet1!$C$2:$C$9</c:f>
              <c:numCache>
                <c:formatCode>General</c:formatCode>
                <c:ptCount val="8"/>
                <c:pt idx="0">
                  <c:v/>
                </c:pt>
                <c:pt idx="1">
                  <c:v/>
                </c:pt>
                <c:pt idx="2">
                  <c:v/>
                </c:pt>
                <c:pt idx="3">
                  <c:v/>
                </c:pt>
                <c:pt idx="4">
                  <c:v/>
                </c:pt>
                <c:pt idx="5">
                  <c:v/>
                </c:pt>
                <c:pt idx="6">
                  <c:v/>
                </c:pt>
                <c:pt idx="7">
                  <c:v>733</c:v>
                </c:pt>
              </c:numCache>
            </c:numRef>
          </c:val>
        </c:ser>
        <c:dLbls>
          <c:numFmt formatCode="#,##0" sourceLinked="0"/>
          <c:txPr>
            <a:bodyPr/>
            <a:lstStyle/>
            <a:p>
              <a:pPr>
                <a:defRPr b="1" i="0" strike="noStrike" sz="1100" u="none">
                  <a:solidFill>
                    <a:srgbClr val="1A1A1A"/>
                  </a:solidFill>
                  <a:latin typeface="+mn-lt"/>
                </a:defRPr>
              </a:pPr>
            </a:p>
          </c:txP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0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8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Shortfall</c:v>
                </c:pt>
              </c:strCache>
            </c:strRef>
          </c:tx>
          <c:spPr>
            <a:solidFill>
              <a:srgbClr val="0A1C58"/>
            </a:solidFill>
            <a:effectLst/>
          </c:spPr>
          <c:invertIfNegative val="0"/>
          <c:dLbls>
            <c:numFmt formatCode="0.0;;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Sheet1!$A$2:$A$7</c:f>
              <c:multiLvlStrCache>
                <c:ptCount val="6"/>
                <c:lvl>
                  <c:pt idx="0">
                    <c:v>2026</c:v>
                  </c:pt>
                  <c:pt idx="1">
                    <c:v>2027</c:v>
                  </c:pt>
                  <c:pt idx="2">
                    <c:v>2028</c:v>
                  </c:pt>
                  <c:pt idx="3">
                    <c:v>2029</c:v>
                  </c:pt>
                  <c:pt idx="4">
                    <c:v>2030</c:v>
                  </c:pt>
                  <c:pt idx="5">
                    <c:v>2031</c:v>
                  </c:pt>
                </c:lvl>
              </c:multiLvlStrCache>
            </c:multiLvlStrRef>
          </c:cat>
          <c:val>
            <c:numRef>
              <c:f>Sheet1!$B$2:$B$7</c:f>
              <c:numCache>
                <c:formatCode>General</c:formatCode>
                <c:ptCount val="6"/>
                <c:pt idx="0">
                  <c:v>0</c:v>
                </c:pt>
                <c:pt idx="1">
                  <c:v>0</c:v>
                </c:pt>
                <c:pt idx="2">
                  <c:v>0</c:v>
                </c:pt>
                <c:pt idx="3">
                  <c:v>8.4</c:v>
                </c:pt>
                <c:pt idx="4">
                  <c:v>27.2</c:v>
                </c:pt>
                <c:pt idx="5">
                  <c:v>47.2</c:v>
                </c:pt>
              </c:numCache>
            </c:numRef>
          </c:val>
        </c:ser>
        <c:dLbls>
          <c:numFmt formatCode="0.0;;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5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2029</c:v>
                </c:pt>
              </c:strCache>
            </c:strRef>
          </c:tx>
          <c:spPr>
            <a:solidFill>
              <a:srgbClr val="B5AEA9"/>
            </a:solidFill>
            <a:effectLst/>
          </c:spPr>
          <c:invertIfNegative val="0"/>
          <c:dLbls>
            <c:numFmt formatCode="0.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Sheet1!$A$2:$A$8</c:f>
              <c:multiLvlStrCache>
                <c:ptCount val="7"/>
                <c:lvl>
                  <c:pt idx="0">
                    <c:v>≤2026</c:v>
                  </c:pt>
                  <c:pt idx="1">
                    <c:v>2027</c:v>
                  </c:pt>
                  <c:pt idx="2">
                    <c:v>2028</c:v>
                  </c:pt>
                  <c:pt idx="3">
                    <c:v>2029</c:v>
                  </c:pt>
                  <c:pt idx="4">
                    <c:v>2030</c:v>
                  </c:pt>
                  <c:pt idx="5">
                    <c:v>2031</c:v>
                  </c:pt>
                  <c:pt idx="6">
                    <c:v>2032+</c:v>
                  </c:pt>
                </c:lvl>
              </c:multiLvlStrCache>
            </c:multiLvlStrRef>
          </c:cat>
          <c:val>
            <c:numRef>
              <c:f>Sheet1!$B$2:$B$8</c:f>
              <c:numCache>
                <c:formatCode>General</c:formatCode>
                <c:ptCount val="7"/>
                <c:pt idx="0">
                  <c:v>1.8</c:v>
                </c:pt>
                <c:pt idx="1">
                  <c:v>5.7</c:v>
                </c:pt>
                <c:pt idx="2">
                  <c:v>3.3</c:v>
                </c:pt>
                <c:pt idx="3">
                  <c:v/>
                </c:pt>
                <c:pt idx="4">
                  <c:v/>
                </c:pt>
                <c:pt idx="5">
                  <c:v/>
                </c:pt>
                <c:pt idx="6">
                  <c:v/>
                </c:pt>
              </c:numCache>
            </c:numRef>
          </c:val>
        </c:ser>
        <c:ser>
          <c:idx val="1"/>
          <c:order val="1"/>
          <c:tx>
            <c:strRef>
              <c:f>Sheet1!$C$1</c:f>
              <c:strCache>
                <c:ptCount val="1"/>
                <c:pt idx="0">
                  <c:v>2029 or later</c:v>
                </c:pt>
              </c:strCache>
            </c:strRef>
          </c:tx>
          <c:spPr>
            <a:solidFill>
              <a:srgbClr val="0A1C58"/>
            </a:solidFill>
            <a:effectLst/>
          </c:spPr>
          <c:invertIfNegative val="0"/>
          <c:dLbls>
            <c:numFmt formatCode="0.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Sheet1!$A$2:$A$8</c:f>
              <c:multiLvlStrCache>
                <c:ptCount val="7"/>
                <c:lvl>
                  <c:pt idx="0">
                    <c:v>≤2026</c:v>
                  </c:pt>
                  <c:pt idx="1">
                    <c:v>2027</c:v>
                  </c:pt>
                  <c:pt idx="2">
                    <c:v>2028</c:v>
                  </c:pt>
                  <c:pt idx="3">
                    <c:v>2029</c:v>
                  </c:pt>
                  <c:pt idx="4">
                    <c:v>2030</c:v>
                  </c:pt>
                  <c:pt idx="5">
                    <c:v>2031</c:v>
                  </c:pt>
                  <c:pt idx="6">
                    <c:v>2032+</c:v>
                  </c:pt>
                </c:lvl>
              </c:multiLvlStrCache>
            </c:multiLvlStrRef>
          </c:cat>
          <c:val>
            <c:numRef>
              <c:f>Sheet1!$C$2:$C$8</c:f>
              <c:numCache>
                <c:formatCode>General</c:formatCode>
                <c:ptCount val="7"/>
                <c:pt idx="0">
                  <c:v/>
                </c:pt>
                <c:pt idx="1">
                  <c:v/>
                </c:pt>
                <c:pt idx="2">
                  <c:v/>
                </c:pt>
                <c:pt idx="3">
                  <c:v>3.1</c:v>
                </c:pt>
                <c:pt idx="4">
                  <c:v>2.2</c:v>
                </c:pt>
                <c:pt idx="5">
                  <c:v>6.2</c:v>
                </c:pt>
                <c:pt idx="6">
                  <c:v>3</c:v>
                </c:pt>
              </c:numCache>
            </c:numRef>
          </c:val>
        </c:ser>
        <c:dLbls>
          <c:numFmt formatCode="0.0" sourceLinked="0"/>
          <c:txPr>
            <a:bodyPr/>
            <a:lstStyle/>
            <a:p>
              <a:pPr>
                <a:defRPr b="1" i="0" strike="noStrike" sz="1200" u="none">
                  <a:solidFill>
                    <a:srgbClr val="1A1A1A"/>
                  </a:solidFill>
                  <a:latin typeface="+mn-lt"/>
                </a:defRPr>
              </a:pPr>
            </a:p>
          </c:txP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7.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Return</c:v>
                </c:pt>
              </c:strCache>
            </c:strRef>
          </c:tx>
          <c:spPr>
            <a:solidFill>
              <a:srgbClr val="B5AEA9"/>
            </a:solidFill>
            <a:effectLst/>
          </c:spPr>
          <c:invertIfNegative val="0"/>
          <c:dLbls>
            <c:numFmt formatCode="0%" sourceLinked="0"/>
            <c:txPr>
              <a:bodyPr/>
              <a:lstStyle/>
              <a:p>
                <a:pPr>
                  <a:defRPr b="1" i="0" strike="noStrike" sz="14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No Power</c:v>
                  </c:pt>
                  <c:pt idx="1">
                    <c:v>Signed order</c:v>
                  </c:pt>
                  <c:pt idx="2">
                    <c:v>+1 contract</c:v>
                  </c:pt>
                  <c:pt idx="3">
                    <c:v>+2 contracts</c:v>
                  </c:pt>
                </c:lvl>
              </c:multiLvlStrCache>
            </c:multiLvlStrRef>
          </c:cat>
          <c:val>
            <c:numRef>
              <c:f>Sheet1!$B$2:$B$5</c:f>
              <c:numCache>
                <c:formatCode>General</c:formatCode>
                <c:ptCount val="4"/>
                <c:pt idx="0">
                  <c:v>0.35</c:v>
                </c:pt>
                <c:pt idx="1">
                  <c:v>0.66</c:v>
                </c:pt>
                <c:pt idx="2">
                  <c:v/>
                </c:pt>
                <c:pt idx="3">
                  <c:v/>
                </c:pt>
              </c:numCache>
            </c:numRef>
          </c:val>
        </c:ser>
        <c:ser>
          <c:idx val="1"/>
          <c:order val="1"/>
          <c:tx>
            <c:strRef>
              <c:f>Sheet1!$C$1</c:f>
              <c:strCache>
                <c:ptCount val="1"/>
                <c:pt idx="0">
                  <c:v>Upside scenarios</c:v>
                </c:pt>
              </c:strCache>
            </c:strRef>
          </c:tx>
          <c:spPr>
            <a:solidFill>
              <a:srgbClr val="0A1C58"/>
            </a:solidFill>
            <a:effectLst/>
          </c:spPr>
          <c:invertIfNegative val="0"/>
          <c:dLbls>
            <c:numFmt formatCode="0%" sourceLinked="0"/>
            <c:txPr>
              <a:bodyPr/>
              <a:lstStyle/>
              <a:p>
                <a:pPr>
                  <a:defRPr b="1" i="0" strike="noStrike" sz="14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No Power</c:v>
                  </c:pt>
                  <c:pt idx="1">
                    <c:v>Signed order</c:v>
                  </c:pt>
                  <c:pt idx="2">
                    <c:v>+1 contract</c:v>
                  </c:pt>
                  <c:pt idx="3">
                    <c:v>+2 contracts</c:v>
                  </c:pt>
                </c:lvl>
              </c:multiLvlStrCache>
            </c:multiLvlStrRef>
          </c:cat>
          <c:val>
            <c:numRef>
              <c:f>Sheet1!$C$2:$C$5</c:f>
              <c:numCache>
                <c:formatCode>General</c:formatCode>
                <c:ptCount val="4"/>
                <c:pt idx="0">
                  <c:v/>
                </c:pt>
                <c:pt idx="1">
                  <c:v/>
                </c:pt>
                <c:pt idx="2">
                  <c:v>0.86</c:v>
                </c:pt>
                <c:pt idx="3">
                  <c:v>1.07</c:v>
                </c:pt>
              </c:numCache>
            </c:numRef>
          </c:val>
        </c:ser>
        <c:dLbls>
          <c:numFmt formatCode="0%" sourceLinked="0"/>
          <c:txPr>
            <a:bodyPr/>
            <a:lstStyle/>
            <a:p>
              <a:pPr>
                <a:defRPr b="1" i="0" strike="noStrike" sz="1400" u="none">
                  <a:solidFill>
                    <a:srgbClr val="1A1A1A"/>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0A1C58"/>
                </a:solidFill>
                <a:latin typeface="+mn-lt"/>
              </a:defRPr>
            </a:pPr>
            <a:endParaRPr lang="en-US"/>
          </a:p>
        </c:txPr>
        <c:crossAx val="2094734552"/>
        <c:crosses val="autoZero"/>
        <c:auto val="1"/>
        <c:lblAlgn val="ctr"/>
        <c:noMultiLvlLbl val="1"/>
      </c:catAx>
      <c:valAx>
        <c:axId val="2094734552"/>
        <c:scaling>
          <c:orientation val="minMax"/>
          <c:max val="1.2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Return</c:v>
                </c:pt>
              </c:strCache>
            </c:strRef>
          </c:tx>
          <c:spPr>
            <a:solidFill>
              <a:srgbClr val="0A1C58"/>
            </a:solidFill>
            <a:effectLst/>
          </c:spPr>
          <c:invertIfNegative val="0"/>
          <c:dLbls>
            <c:numFmt formatCode="0%" sourceLinked="0"/>
            <c:txPr>
              <a:bodyPr/>
              <a:lstStyle/>
              <a:p>
                <a:pPr>
                  <a:defRPr b="1" i="0" strike="noStrike" sz="1500" u="none">
                    <a:solidFill>
                      <a:srgbClr val="1A1A1A"/>
                    </a:solidFill>
                    <a:latin typeface="+mn-lt"/>
                  </a:defRPr>
                </a:pPr>
              </a:p>
            </c:txPr>
            <c:showLegendKey val="0"/>
            <c:showVal val="1"/>
            <c:showCatName val="0"/>
            <c:showSerName val="0"/>
            <c:showPercent val="0"/>
            <c:showBubbleSize val="0"/>
            <c:showLeaderLines val="0"/>
          </c:dLbls>
          <c:cat>
            <c:multiLvlStrRef>
              <c:f>Sheet1!$A$2:$A$3</c:f>
              <c:multiLvlStrCache>
                <c:ptCount val="2"/>
                <c:lvl>
                  <c:pt idx="0">
                    <c:v>Margins + share only</c:v>
                  </c:pt>
                  <c:pt idx="1">
                    <c:v>Power only</c:v>
                  </c:pt>
                </c:lvl>
              </c:multiLvlStrCache>
            </c:multiLvlStrRef>
          </c:cat>
          <c:val>
            <c:numRef>
              <c:f>Sheet1!$B$2:$B$3</c:f>
              <c:numCache>
                <c:formatCode>General</c:formatCode>
                <c:ptCount val="2"/>
                <c:pt idx="0">
                  <c:v>0.33</c:v>
                </c:pt>
                <c:pt idx="1">
                  <c:v>0.36</c:v>
                </c:pt>
              </c:numCache>
            </c:numRef>
          </c:val>
        </c:ser>
        <c:dLbls>
          <c:numFmt formatCode="0%" sourceLinked="0"/>
          <c:txPr>
            <a:bodyPr/>
            <a:lstStyle/>
            <a:p>
              <a:pPr>
                <a:defRPr b="1" i="0" strike="noStrike" sz="1500" u="none">
                  <a:solidFill>
                    <a:srgbClr val="1A1A1A"/>
                  </a:solidFill>
                  <a:latin typeface="+mn-lt"/>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3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0.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cat>
            <c:multiLvlStrRef>
              <c:f>Sheet1!$A$2:$A$7</c:f>
              <c:multiLvlStrCache>
                <c:ptCount val="6"/>
                <c:lvl>
                  <c:pt idx="0">
                    <c:v>Today</c:v>
                  </c:pt>
                  <c:pt idx="1">
                    <c:v>To bear case</c:v>
                  </c:pt>
                  <c:pt idx="2">
                    <c:v>Margins</c:v>
                  </c:pt>
                  <c:pt idx="3">
                    <c:v>Share</c:v>
                  </c:pt>
                  <c:pt idx="4">
                    <c:v>Power</c:v>
                  </c:pt>
                  <c:pt idx="5">
                    <c:v>Base case</c:v>
                  </c:pt>
                </c:lvl>
              </c:multiLvlStrCache>
            </c:multiLvlStrRef>
          </c:cat>
          <c:val>
            <c:numRef>
              <c:f>Sheet1!$B$2:$B$7</c:f>
              <c:numCache>
                <c:formatCode>General</c:formatCode>
                <c:ptCount val="6"/>
                <c:pt idx="0">
                  <c:v>0</c:v>
                </c:pt>
                <c:pt idx="1">
                  <c:v>167</c:v>
                </c:pt>
                <c:pt idx="2">
                  <c:v>171.9</c:v>
                </c:pt>
                <c:pt idx="3">
                  <c:v>188.9</c:v>
                </c:pt>
                <c:pt idx="4">
                  <c:v>221.6</c:v>
                </c:pt>
                <c:pt idx="5">
                  <c:v>0</c:v>
                </c:pt>
              </c:numCache>
            </c:numRef>
          </c:val>
        </c:ser>
        <c:ser>
          <c:idx val="1"/>
          <c:order val="1"/>
          <c:tx>
            <c:strRef>
              <c:f>Sheet1!$C$1</c:f>
              <c:strCache>
                <c:ptCount val="1"/>
                <c:pt idx="0">
                  <c:v>Today</c:v>
                </c:pt>
              </c:strCache>
            </c:strRef>
          </c:tx>
          <c:spPr>
            <a:solidFill>
              <a:srgbClr val="847C7A"/>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cat>
            <c:multiLvlStrRef>
              <c:f>Sheet1!$A$2:$A$7</c:f>
              <c:multiLvlStrCache>
                <c:ptCount val="6"/>
                <c:lvl>
                  <c:pt idx="0">
                    <c:v>Today</c:v>
                  </c:pt>
                  <c:pt idx="1">
                    <c:v>To bear case</c:v>
                  </c:pt>
                  <c:pt idx="2">
                    <c:v>Margins</c:v>
                  </c:pt>
                  <c:pt idx="3">
                    <c:v>Share</c:v>
                  </c:pt>
                  <c:pt idx="4">
                    <c:v>Power</c:v>
                  </c:pt>
                  <c:pt idx="5">
                    <c:v>Base case</c:v>
                  </c:pt>
                </c:lvl>
              </c:multiLvlStrCache>
            </c:multiLvlStrRef>
          </c:cat>
          <c:val>
            <c:numRef>
              <c:f>Sheet1!$C$2:$C$7</c:f>
              <c:numCache>
                <c:formatCode>General</c:formatCode>
                <c:ptCount val="6"/>
                <c:pt idx="0">
                  <c:v>167</c:v>
                </c:pt>
                <c:pt idx="1">
                  <c:v>0</c:v>
                </c:pt>
                <c:pt idx="2">
                  <c:v>0</c:v>
                </c:pt>
                <c:pt idx="3">
                  <c:v>0</c:v>
                </c:pt>
                <c:pt idx="4">
                  <c:v>0</c:v>
                </c:pt>
                <c:pt idx="5">
                  <c:v>0</c:v>
                </c:pt>
              </c:numCache>
            </c:numRef>
          </c:val>
        </c:ser>
        <c:ser>
          <c:idx val="2"/>
          <c:order val="2"/>
          <c:tx>
            <c:strRef>
              <c:f>Sheet1!$D$1</c:f>
              <c:strCache>
                <c:ptCount val="1"/>
                <c:pt idx="0">
                  <c:v>Theses</c:v>
                </c:pt>
              </c:strCache>
            </c:strRef>
          </c:tx>
          <c:spPr>
            <a:solidFill>
              <a:srgbClr val="0A1C58"/>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cat>
            <c:multiLvlStrRef>
              <c:f>Sheet1!$A$2:$A$7</c:f>
              <c:multiLvlStrCache>
                <c:ptCount val="6"/>
                <c:lvl>
                  <c:pt idx="0">
                    <c:v>Today</c:v>
                  </c:pt>
                  <c:pt idx="1">
                    <c:v>To bear case</c:v>
                  </c:pt>
                  <c:pt idx="2">
                    <c:v>Margins</c:v>
                  </c:pt>
                  <c:pt idx="3">
                    <c:v>Share</c:v>
                  </c:pt>
                  <c:pt idx="4">
                    <c:v>Power</c:v>
                  </c:pt>
                  <c:pt idx="5">
                    <c:v>Base case</c:v>
                  </c:pt>
                </c:lvl>
              </c:multiLvlStrCache>
            </c:multiLvlStrRef>
          </c:cat>
          <c:val>
            <c:numRef>
              <c:f>Sheet1!$D$2:$D$7</c:f>
              <c:numCache>
                <c:formatCode>General</c:formatCode>
                <c:ptCount val="6"/>
                <c:pt idx="0">
                  <c:v>0</c:v>
                </c:pt>
                <c:pt idx="1">
                  <c:v>4.8</c:v>
                </c:pt>
                <c:pt idx="2">
                  <c:v>17</c:v>
                </c:pt>
                <c:pt idx="3">
                  <c:v>32.7</c:v>
                </c:pt>
                <c:pt idx="4">
                  <c:v>55.1</c:v>
                </c:pt>
                <c:pt idx="5">
                  <c:v>0</c:v>
                </c:pt>
              </c:numCache>
            </c:numRef>
          </c:val>
        </c:ser>
        <c:ser>
          <c:idx val="3"/>
          <c:order val="3"/>
          <c:tx>
            <c:strRef>
              <c:f>Sheet1!$E$1</c:f>
              <c:strCache>
                <c:ptCount val="1"/>
                <c:pt idx="0">
                  <c:v>Base case</c:v>
                </c:pt>
              </c:strCache>
            </c:strRef>
          </c:tx>
          <c:spPr>
            <a:solidFill>
              <a:srgbClr val="0A1C58"/>
            </a:solidFill>
            <a:effectLst/>
          </c:spPr>
          <c:invertIfNegative val="0"/>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cat>
            <c:multiLvlStrRef>
              <c:f>Sheet1!$A$2:$A$7</c:f>
              <c:multiLvlStrCache>
                <c:ptCount val="6"/>
                <c:lvl>
                  <c:pt idx="0">
                    <c:v>Today</c:v>
                  </c:pt>
                  <c:pt idx="1">
                    <c:v>To bear case</c:v>
                  </c:pt>
                  <c:pt idx="2">
                    <c:v>Margins</c:v>
                  </c:pt>
                  <c:pt idx="3">
                    <c:v>Share</c:v>
                  </c:pt>
                  <c:pt idx="4">
                    <c:v>Power</c:v>
                  </c:pt>
                  <c:pt idx="5">
                    <c:v>Base case</c:v>
                  </c:pt>
                </c:lvl>
              </c:multiLvlStrCache>
            </c:multiLvlStrRef>
          </c:cat>
          <c:val>
            <c:numRef>
              <c:f>Sheet1!$E$2:$E$7</c:f>
              <c:numCache>
                <c:formatCode>General</c:formatCode>
                <c:ptCount val="6"/>
                <c:pt idx="0">
                  <c:v>0</c:v>
                </c:pt>
                <c:pt idx="1">
                  <c:v>0</c:v>
                </c:pt>
                <c:pt idx="2">
                  <c:v>0</c:v>
                </c:pt>
                <c:pt idx="3">
                  <c:v>0</c:v>
                </c:pt>
                <c:pt idx="4">
                  <c:v>0</c:v>
                </c:pt>
                <c:pt idx="5">
                  <c:v>276.6</c:v>
                </c:pt>
              </c:numCache>
            </c:numRef>
          </c:val>
        </c:ser>
        <c:dLbls>
          <c:numFmt formatCode="#,##0" sourceLinked="0"/>
          <c:txPr>
            <a:bodyPr/>
            <a:lstStyle/>
            <a:p>
              <a:pPr>
                <a:defRPr b="1" i="0" strike="noStrike" sz="1300" u="none">
                  <a:solidFill>
                    <a:srgbClr val="1A1A1A"/>
                  </a:solidFill>
                  <a:latin typeface="+mn-lt"/>
                </a:defRPr>
              </a:pPr>
            </a:p>
          </c:txPr>
          <c:showLegendKey val="0"/>
          <c:showVal val="0"/>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as of 10/2/26. Target is the base-case blended DCF: 50% perpetuity growth ($281) and 50% exit multiple ($335). R/R = 132% bull blended upside vs. 39% bear blended downside.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quarterly Aerospace Products Adj. EBITDA margins from the RPM tab. Q4'25 34.6% to Q1'26 29.9% = -470 bps. Mix example is management's: a 6,000-cycle engine sold for ~$6M earns ~$2.5M; a 10,000-cycle engine sold for ~$12M earns ~$3M; one of each blends to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readings explain the same 1Q26 drop. Management cites heavier-scope work, new facilities and technician productivity still ramping, and pricing held below OEM escalators to take share. The bear reading, following the short report, is that depreciated leasing inventory moved into Aerospace Products had been propping up margins and is running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Combined backlog: GE Vernova gas backlog + slot reservations 55 GW (Q2'25) → 116 GW (Q2'26; ≥125 GW guided for YE26); Siemens Energy firm gas turbine backlog 37 GW (Q3 FY25) → 69 GW (Q3 FY26); Mitsubishi large-frame backlog 23 GW → 35 GW. Definitions differ (GEV includes reservations; Siemens firm only; MHI large-frame only), so treat the total as indicative. End-2024 GW figures were not disclosed.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math uses the base-case FY27E sum of the parts ($276.65/share): Aerospace 16x, Power 12x, Leasing + SCI 9x, less corporate, net debt and preferred. Attribution re-runs the full model for all 8 on/off combinations of the three theses. Margins = OEM escalator, pass-through, Aerospace margin ex-PMA and PMA rows. Volume = FTAI share of MRO and SCI aircraft rows. Power = Mod-1 units delivered (off = 0, i.e. what the market prices today). Bear case with no Power = $171.86 vs. $167.03 today (+$4.83). Shapley contributions: margins +$17.04, volume +$32.66, Power +$55.08 (the $51.90 SOTP value plus ~$3 of FY27 Power cash that lowers net debt). Total $276.64.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Factory example (FTAI): three unserviceable engines worth $2.0M, $2.5M and $2.0M each still hold modules with life left (cycles shown per Fan / Core / LPT). FTAI splits them into nine modules, adds $3.5M of MRO work, and reassembles two serviceable engines ($8.5M at 7k/7k/7k and $6.0M at 4k/4k/4k) plus one run-out core ($1.5M): $16.0M out vs. $10.0M in, $6.0M of value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Depreciated leasing inventory remaining in Aerospace Products is under 8% (GPS analysis), so even on the short report's logic there is little left to compress margins. Margin path: FY25 34.7%, Q1'26 29.9%, Q2'26 28.5% reported; GPS model 30.1% FY26E, 29.9% FY27E, then 30.7% / 31.4% / 32.0% / 32.5% FY28E–FY31E.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OEM index compounds the CFM escalator (7% in 2026, 6.5% in 2027, 7% thereafter). FTAI index applies the model's pass-through: 0% in 2026, then 50% of the escalator. EBITDA per module: $887K FY25, $876K FY26E trough, $913K FY27E, $969K FY28E, $1,027K FY29E, $1,084K FY30E, $1,139K FY31E (+30% vs. FY26E).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Cohort roll-forward (central): first visits fall 976 → 598 (2025–2030) as the last 737NG / A320ceo deliveries pass their first run; second visits, typically the heaviest, peak at 914 in 2027; third-and-later visits rise 532 → 720. Dashed lines extend the 2029–30 slopes (-42/yr and +20/yr), which cross around 2032. Late-life engines increasingly get green-time-only restorations (model assumes 100% / 90% / 70% of due engines get a full visit at &lt;20 / 20–25 / 25+ years). Mix curve uses management's example: light job ~$6M revenue / ~$2.5M profit, heavy ~$12M / ~$3.0M; blended margin by share of jobs. Caveat: the model's broader-work share still rises from 48% to 52% through 2030, so the light-scope return is a late-cycle (2030+)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PMA penetration 0.9% FY27E rising to 9% FY31E at $0.4M EBITDA uplift per PMA module = $6M to $77M. Jefferies estimates ~$0.8M uplift per PMA module and ~$43M of 2026E Aerospace EBITDA per 5 pts of adoption, so our case is conservative on both rate and uplift. Chromalloy JV program: 3 of 5 parts approved (LPT stage 1 vane 2021, HPT stage 1 vane Oct 2024, HPT stage 1 blade Oct 2025), covering ~80% of targeted savings; 2 in FAA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CFM56 full overhaul ~60 days pre-pandemic vs. 90–120 days now (Aviation Business News, 2025; secondary source). Slot waits up 2–6 months (Bain, 2024; 2025 market summaries). GE: LEAP shop visits up &gt;50% in Q1 and Q2 2026; LEAP installed base to roughly triple 2024–2030; ~$500M of &gt;$1B MRO investment to LEAP, roughly doubling internal LEAP capacity. Shop-visit mix: CFM56 2,350 (2025) and 2,150 (2030E) from GPS model; LEAP ~1,100 (2025) and ~2,200 (2030E) per CFM forecast that LEAP visits exceed CFM56 by 2030. No source found showing OEMs cutting CFM56 capacity outright; the shift is in where new OEM capacity goes. Former MRO executive: 'the variability in capital investment required to capture the LEAP is extremely low versus what it took them to capture the CFM.'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FTAI (Q2'24 call, as reported by third parties): average CFM56 engine turnaround ~120–180 days vs. 5–25 days for a module swap. Midpoints 150 vs. ~20 days = ~7x. Step lengths within the shop visit are illustrative; slot waits of 2–6 months and HPT blade shortages drive most of the delay. Caveat: the fastest swaps apply where the core does not need to be opened; roughly half of shop visits require core disassembly. Cost chart: IBA puts CFM56-7B spare-engine lease rates at ~$100K/month in 2024 (up from ~$75K in 2019), ~$3.3K/day. 150 days = ~$493K vs. 20 days = ~$66K. Lease cost only; lost flying revenue on a grounded jet (often $10K+ per day) would widen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output 757 modules in 2025, 1,200 guided for 2026 (Montreal 450, Miami 475, Europe 275) and 1,700 targeted for 2027 including GMF and EgyptAir. Network capacity raised from 2,000 to 3,000 modules in 2026. Montreal capacity up to 900 (377 output in 2025). Jakarta 300–450 and Cairo 150–180 are GPS estimates; partners are ~7–18% of 2027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math (FY27E, GPS model): 2,386 CFM56 shop visits × 3 modules = 7,159 modules of demand × 16.8% FTAI share = 1,206 third-party modules, plus 482 SCI modules (450 aircraft × 2 engines × 20% shop-visit rate × 3 modules, approx.) = 1,687, vs. FTAI's 1,700 target. Share path 12.4% FY26E → 20% by FY30E. 2025 split approximates SCI at 82 modules and the remainder third-party.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LTSA coverage: Safran estimates ~50% of ~5,500 in-service LEAPs are on long-term agreements vs. ~15% of CFM56s, peaking near 70% in 2030 before shifting back to time-and-materials (Aviation Week). LEAP overhauls ~2,000 a year by 2030, roughly matching CFM56 (Aviation Week). First LEAP shop visits clustering at 2,000–6,000 cycles with ~4,000 as a planning base, vs. 10,000+ originally expected (Visual Approach). LEAP-1A/1B shop visit $2.0–4.5M+ before LLPs (Safe Fly, unsourced benchmark); The Air Current: the overhaul far eclipses the cost of the same work on a CFM56. FTAI: CFM56/LEAP test cell planned at Rome as its entry into next-generation engine maintenance (Q2'26 call coverage). No public LEAP repair licence found; confirm before presenting. Former MRO executive: the machines and capital equipment for LEAP are 'very near that for CFM'.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 (base-case SOTP $276.65 + LEAP value per share) / $167.03 − 1. LEAP value: 2,000 LEAP shop visits a year (Aviation Week, ~2030) × 50% off OEM contracts (coverage falling back from the ~70% 2030 peak) × FTAI share × 3 modules per visit × $0.913M EBITDA per module (FY27E CFM56 level; LEAP visits cost more, so conservative) × 16x Aerospace multiple, discounted four years at the 9.5% WACC. Each point of share ≈ $2.93/share. 20% share (FTAI's FY28E+ CFM56 share) ≈ $548M EBITDA and +$59/share → 101%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Four cash capex: $69B (2019) → $376B (2025); 2026 guidance midpoints sum to ~$733B. Reserve shortfall = required capacity (NERC demand × reserve margin) minus anticipated capacity and contracted additions, summed across NERC regions: 8.4 GW in 2029 (PJM), 27.2 GW in 2030 (PJM, MISO), 47.2 GW in 2031. US data center energy demand rises from ~298 TWh (2026) to ~649 TWh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agreements tab: 45 included hyperscaler deals with ~25.3 GW of new or restarted capacity. By full commercial operation date: ≤2026 1.8 GW, 2027 5.7 GW, 2028 3.3 GW, 2029 3.1 GW, 2030 2.2 GW, 2031 6.2 GW, 2032+ 3.0 GW. 57% is fully online in 2029 or later (38% by first COD). Existing-plant offtake deals (no new MW) are excluded. TV risk: a bridge business ends when the grid catches up. Mitigants: the modeled shortfall still widens to 47 GW by 2031; turbines can remain as on-site backup/peaking capacity; the SOTP applies 12x to Power vs. 16x for Aerospace, pricing in a shorter life. The DCF does carry Power growth to FY31, so judges may push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cost: GPS model assumes ~$12M per MW of data center facility spend, so 100 MW ≈ $1.2B before GPUs; FTAI's contract implies ~$1M per MW; 100 MW of load needs ~150 MW of turbines with the model's 50% redundancy allowance, so six 25 MW Mod-1 units ≈ $150M (~13%). Hot-weather derating could add a unit. Lead times: GE Vernova's large gas turbine order book is full until 2029 with orders out to 2031 (CNBC, Jun-26); new aeroderivative orders are being slotted for 2028–2030 (Tom's Hardware, Oct-25). FTAI guided first Mod-1 deliveries to Q4'26, later saying it is prudent to expect deliveries in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Scenarios on FTAI's FY27 Power guide: the signed $1.465B J&amp;F order (est. 40–60 units, ~1.0–1.5 GW) underpins the $450M low end; reaching $750M needs ~$1B of new orders (follow-ons under the hyperscaler master agreement or a second customer). A second ~$1B contract is extrapolated at the same ~$300M step to ~$1,050M. Units ≈ $1B / ($1M/MW × 25 MW) ≈ 40 per contract. Returns: SOTP ex-Power $224.75 + Power EBITDA × 12 / 104.0M shares, vs. $167.03: no Power 35%, signed order 66% (base case), +1 contract 86%, +2 contracts 107%.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 base-case SOTP with one thesis on and the others off (bear-case margins/share rows, Power units = 0), at base multiples, vs. $167.03: margins + share only (no Power) $222 (+33%); Power (signed order) only, with bear-case margins and share, $227 (+36%). All three = $277 (+66%). Share path: ~4% (2024) → ~8% (2025) → ~12% (2026E), i.e. ~4 pts a year; the model reaches 20% by FY30, ~2 pts a year. With all three off, the SOTP is $172, about today's price: the market is pricing the bear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Waterfall: today $167.03; bear case (bear margins and share, no Power) SOTP $171.86 (+$4.83); Shapley contributions on the SOTP: margins +$17.04, share +$32.66, Power +$55.08 = $276.65 (+66%). Base-case SOTP build: Aerospace $1,541M × 16x = $237; Power $450M × 12x = $52; Leasing + SCI $455M × 9x = $39; corporate −$28; net debt and preferred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PS 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PS 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868680"/>
            <a:ext cx="8503920" cy="0"/>
          </a:xfrm>
          <a:prstGeom prst="line">
            <a:avLst/>
          </a:prstGeom>
          <a:noFill/>
          <a:ln w="15875">
            <a:solidFill>
              <a:srgbClr val="0A1C58"/>
            </a:solidFill>
            <a:prstDash val="solid"/>
          </a:ln>
        </p:spPr>
      </p:sp>
      <p:pic>
        <p:nvPicPr>
          <p:cNvPr id="3" name="Image 0" descr="/home/user/SPOT/deck/gps_logo.jpeg">    </p:cNvPr>
          <p:cNvPicPr>
            <a:picLocks noChangeAspect="1"/>
          </p:cNvPicPr>
          <p:nvPr/>
        </p:nvPicPr>
        <p:blipFill>
          <a:blip r:embed="rId1"/>
          <a:stretch>
            <a:fillRect/>
          </a:stretch>
        </p:blipFill>
        <p:spPr>
          <a:xfrm>
            <a:off x="8119872" y="6144768"/>
            <a:ext cx="621792" cy="566928"/>
          </a:xfrm>
          <a:prstGeom prst="rect">
            <a:avLst/>
          </a:prstGeom>
        </p:spPr>
      </p:pic>
      <p:sp>
        <p:nvSpPr>
          <p:cNvPr id="4" name="Text 1"/>
          <p:cNvSpPr/>
          <p:nvPr>
            <p:ph idx="102" type="title" hasCustomPrompt="1"/>
          </p:nvPr>
        </p:nvSpPr>
        <p:spPr>
          <a:xfrm>
            <a:off x="320040" y="182880"/>
            <a:ext cx="850392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PS Content Sub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20040" y="868680"/>
            <a:ext cx="8503920" cy="0"/>
          </a:xfrm>
          <a:prstGeom prst="line">
            <a:avLst/>
          </a:prstGeom>
          <a:noFill/>
          <a:ln w="15875">
            <a:solidFill>
              <a:srgbClr val="0A1C58"/>
            </a:solidFill>
            <a:prstDash val="solid"/>
          </a:ln>
        </p:spPr>
      </p:sp>
      <p:pic>
        <p:nvPicPr>
          <p:cNvPr id="3" name="Image 0" descr="/home/user/SPOT/deck/gps_logo.jpeg">    </p:cNvPr>
          <p:cNvPicPr>
            <a:picLocks noChangeAspect="1"/>
          </p:cNvPicPr>
          <p:nvPr/>
        </p:nvPicPr>
        <p:blipFill>
          <a:blip r:embed="rId1"/>
          <a:stretch>
            <a:fillRect/>
          </a:stretch>
        </p:blipFill>
        <p:spPr>
          <a:xfrm>
            <a:off x="8119872" y="6144768"/>
            <a:ext cx="621792" cy="566928"/>
          </a:xfrm>
          <a:prstGeom prst="rect">
            <a:avLst/>
          </a:prstGeom>
        </p:spPr>
      </p:pic>
      <p:sp>
        <p:nvSpPr>
          <p:cNvPr id="4" name="Text 1"/>
          <p:cNvSpPr/>
          <p:nvPr>
            <p:ph idx="102" type="title" hasCustomPrompt="1"/>
          </p:nvPr>
        </p:nvSpPr>
        <p:spPr>
          <a:xfrm>
            <a:off x="320040" y="182880"/>
            <a:ext cx="850392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5" name="Text 1"/>
          <p:cNvSpPr/>
          <p:nvPr>
            <p:ph idx="103" type="body" hasCustomPrompt="1"/>
          </p:nvPr>
        </p:nvSpPr>
        <p:spPr>
          <a:xfrm>
            <a:off x="320040" y="932688"/>
            <a:ext cx="8503920" cy="566928"/>
          </a:xfrm>
          <a:prstGeom prst="rect">
            <a:avLst/>
          </a:prstGeom>
          <a:noFill/>
          <a:ln/>
        </p:spPr>
        <p:txBody>
          <a:bodyPr wrap="square" rtlCol="0"/>
          <a:lstStyle>
            <a:lvl1pPr algn="l" indent="0" marL="0">
              <a:buNone/>
              <a:defRPr lang="en-US" sz="1700" b="1" dirty="0">
                <a:solidFill>
                  <a:schemeClr val="tx2"/>
                </a:solidFill>
              </a:defRPr>
            </a:lvl1pPr>
          </a:lstStyle>
          <a:p>
            <a:pPr algn="l" indent="0" marL="0">
              <a:buNone/>
            </a:pPr>
            <a:endParaRPr lang="en-US" sz="17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chart" Target="/ppt/charts/chart12.xml"/><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chart" Target="/ppt/charts/chart17.xml"/><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mpany name"/>
          <p:cNvSpPr txBox="1"/>
          <p:nvPr/>
        </p:nvSpPr>
        <p:spPr>
          <a:xfrm>
            <a:off x="548640" y="320040"/>
            <a:ext cx="6400800" cy="1143000"/>
          </a:xfrm>
          <a:prstGeom prst="rect">
            <a:avLst/>
          </a:prstGeom>
          <a:noFill/>
          <a:ln/>
        </p:spPr>
        <p:txBody>
          <a:bodyPr wrap="square" lIns="0" tIns="0" rIns="0" bIns="0" rtlCol="0" anchor="t"/>
          <a:lstStyle/>
          <a:p>
            <a:pPr indent="0" marL="0">
              <a:buNone/>
            </a:pPr>
            <a:r>
              <a:rPr lang="en-US" sz="3400" b="1" dirty="0">
                <a:solidFill>
                  <a:schemeClr val="tx2"/>
                </a:solidFill>
              </a:rPr>
              <a:t>FTAI Aviation</a:t>
            </a:r>
            <a:endParaRPr lang="en-US" sz="3400" dirty="0"/>
          </a:p>
          <a:p>
            <a:pPr indent="0" marL="0">
              <a:buNone/>
            </a:pPr>
            <a:r>
              <a:rPr lang="en-US" sz="3000" dirty="0">
                <a:solidFill>
                  <a:schemeClr val="tx2"/>
                </a:solidFill>
              </a:rPr>
              <a:t>(NASDAQ: FTAI)</a:t>
            </a:r>
            <a:endParaRPr lang="en-US" sz="3400" dirty="0"/>
          </a:p>
        </p:txBody>
      </p:sp>
      <p:sp>
        <p:nvSpPr>
          <p:cNvPr id="3" name="Recommendation"/>
          <p:cNvSpPr txBox="1"/>
          <p:nvPr/>
        </p:nvSpPr>
        <p:spPr>
          <a:xfrm>
            <a:off x="548640" y="1508760"/>
            <a:ext cx="6400800" cy="502920"/>
          </a:xfrm>
          <a:prstGeom prst="rect">
            <a:avLst/>
          </a:prstGeom>
          <a:noFill/>
          <a:ln/>
        </p:spPr>
        <p:txBody>
          <a:bodyPr wrap="square" lIns="0" tIns="0" rIns="0" bIns="0" rtlCol="0" anchor="ctr"/>
          <a:lstStyle/>
          <a:p>
            <a:pPr indent="0" marL="0">
              <a:buNone/>
            </a:pPr>
            <a:r>
              <a:rPr lang="en-US" sz="2800" b="1" dirty="0">
                <a:solidFill>
                  <a:schemeClr val="accent2"/>
                </a:solidFill>
              </a:rPr>
              <a:t>Long Recommendation</a:t>
            </a:r>
            <a:endParaRPr lang="en-US" sz="2800" dirty="0"/>
          </a:p>
        </p:txBody>
      </p:sp>
      <p:sp>
        <p:nvSpPr>
          <p:cNvPr id="4" name="Stat 1 value"/>
          <p:cNvSpPr txBox="1"/>
          <p:nvPr/>
        </p:nvSpPr>
        <p:spPr>
          <a:xfrm>
            <a:off x="548640" y="2514600"/>
            <a:ext cx="2011680" cy="868680"/>
          </a:xfrm>
          <a:prstGeom prst="rect">
            <a:avLst/>
          </a:prstGeom>
          <a:noFill/>
          <a:ln/>
        </p:spPr>
        <p:txBody>
          <a:bodyPr wrap="square" lIns="0" tIns="0" rIns="0" bIns="0" rtlCol="0" anchor="b"/>
          <a:lstStyle/>
          <a:p>
            <a:pPr algn="ctr" indent="0" marL="0">
              <a:buNone/>
            </a:pPr>
            <a:r>
              <a:rPr lang="en-US" sz="4800" b="1" dirty="0">
                <a:solidFill>
                  <a:schemeClr val="tx2"/>
                </a:solidFill>
              </a:rPr>
              <a:t>$167</a:t>
            </a:r>
            <a:endParaRPr lang="en-US" sz="4800" dirty="0"/>
          </a:p>
        </p:txBody>
      </p:sp>
      <p:sp>
        <p:nvSpPr>
          <p:cNvPr id="5" name="Stat 1 label"/>
          <p:cNvSpPr txBox="1"/>
          <p:nvPr/>
        </p:nvSpPr>
        <p:spPr>
          <a:xfrm>
            <a:off x="548640" y="3429000"/>
            <a:ext cx="2011680" cy="365760"/>
          </a:xfrm>
          <a:prstGeom prst="rect">
            <a:avLst/>
          </a:prstGeom>
          <a:noFill/>
          <a:ln/>
        </p:spPr>
        <p:txBody>
          <a:bodyPr wrap="square" lIns="0" tIns="0" rIns="0" bIns="0" rtlCol="0" anchor="t"/>
          <a:lstStyle/>
          <a:p>
            <a:pPr algn="ctr" indent="0" marL="0">
              <a:buNone/>
            </a:pPr>
            <a:r>
              <a:rPr lang="en-US" sz="1600" dirty="0">
                <a:solidFill>
                  <a:schemeClr val="accent2"/>
                </a:solidFill>
              </a:rPr>
              <a:t>Current Price</a:t>
            </a:r>
            <a:endParaRPr lang="en-US" sz="1600" dirty="0"/>
          </a:p>
        </p:txBody>
      </p:sp>
      <p:sp>
        <p:nvSpPr>
          <p:cNvPr id="6" name="Stat 2 value"/>
          <p:cNvSpPr txBox="1"/>
          <p:nvPr/>
        </p:nvSpPr>
        <p:spPr>
          <a:xfrm>
            <a:off x="2560320" y="2514600"/>
            <a:ext cx="2011680" cy="868680"/>
          </a:xfrm>
          <a:prstGeom prst="rect">
            <a:avLst/>
          </a:prstGeom>
          <a:noFill/>
          <a:ln/>
        </p:spPr>
        <p:txBody>
          <a:bodyPr wrap="square" lIns="0" tIns="0" rIns="0" bIns="0" rtlCol="0" anchor="b"/>
          <a:lstStyle/>
          <a:p>
            <a:pPr algn="ctr" indent="0" marL="0">
              <a:buNone/>
            </a:pPr>
            <a:r>
              <a:rPr lang="en-US" sz="4800" b="1" dirty="0">
                <a:solidFill>
                  <a:schemeClr val="tx2"/>
                </a:solidFill>
              </a:rPr>
              <a:t>$308</a:t>
            </a:r>
            <a:endParaRPr lang="en-US" sz="4800" dirty="0"/>
          </a:p>
        </p:txBody>
      </p:sp>
      <p:sp>
        <p:nvSpPr>
          <p:cNvPr id="7" name="Stat 2 label"/>
          <p:cNvSpPr txBox="1"/>
          <p:nvPr/>
        </p:nvSpPr>
        <p:spPr>
          <a:xfrm>
            <a:off x="2560320" y="3429000"/>
            <a:ext cx="2011680" cy="365760"/>
          </a:xfrm>
          <a:prstGeom prst="rect">
            <a:avLst/>
          </a:prstGeom>
          <a:noFill/>
          <a:ln/>
        </p:spPr>
        <p:txBody>
          <a:bodyPr wrap="square" lIns="0" tIns="0" rIns="0" bIns="0" rtlCol="0" anchor="t"/>
          <a:lstStyle/>
          <a:p>
            <a:pPr algn="ctr" indent="0" marL="0">
              <a:buNone/>
            </a:pPr>
            <a:r>
              <a:rPr lang="en-US" sz="1600" dirty="0">
                <a:solidFill>
                  <a:schemeClr val="accent2"/>
                </a:solidFill>
              </a:rPr>
              <a:t>Target Price</a:t>
            </a:r>
            <a:endParaRPr lang="en-US" sz="1600" dirty="0"/>
          </a:p>
        </p:txBody>
      </p:sp>
      <p:sp>
        <p:nvSpPr>
          <p:cNvPr id="8" name="Stat divider 1"/>
          <p:cNvSpPr/>
          <p:nvPr/>
        </p:nvSpPr>
        <p:spPr>
          <a:xfrm>
            <a:off x="2560320" y="2697480"/>
            <a:ext cx="0" cy="1051560"/>
          </a:xfrm>
          <a:prstGeom prst="line">
            <a:avLst/>
          </a:prstGeom>
          <a:noFill/>
          <a:ln w="12700">
            <a:solidFill>
              <a:srgbClr val="DCD8D3"/>
            </a:solidFill>
            <a:prstDash val="solid"/>
          </a:ln>
        </p:spPr>
      </p:sp>
      <p:sp>
        <p:nvSpPr>
          <p:cNvPr id="9" name="Stat 3 value"/>
          <p:cNvSpPr txBox="1"/>
          <p:nvPr/>
        </p:nvSpPr>
        <p:spPr>
          <a:xfrm>
            <a:off x="4572000" y="2514600"/>
            <a:ext cx="2011680" cy="868680"/>
          </a:xfrm>
          <a:prstGeom prst="rect">
            <a:avLst/>
          </a:prstGeom>
          <a:noFill/>
          <a:ln/>
        </p:spPr>
        <p:txBody>
          <a:bodyPr wrap="square" lIns="0" tIns="0" rIns="0" bIns="0" rtlCol="0" anchor="b"/>
          <a:lstStyle/>
          <a:p>
            <a:pPr algn="ctr" indent="0" marL="0">
              <a:buNone/>
            </a:pPr>
            <a:r>
              <a:rPr lang="en-US" sz="4800" b="1" dirty="0">
                <a:solidFill>
                  <a:schemeClr val="tx2"/>
                </a:solidFill>
              </a:rPr>
              <a:t>84%</a:t>
            </a:r>
            <a:endParaRPr lang="en-US" sz="4800" dirty="0"/>
          </a:p>
        </p:txBody>
      </p:sp>
      <p:sp>
        <p:nvSpPr>
          <p:cNvPr id="10" name="Stat 3 label"/>
          <p:cNvSpPr txBox="1"/>
          <p:nvPr/>
        </p:nvSpPr>
        <p:spPr>
          <a:xfrm>
            <a:off x="4572000" y="3429000"/>
            <a:ext cx="2011680" cy="365760"/>
          </a:xfrm>
          <a:prstGeom prst="rect">
            <a:avLst/>
          </a:prstGeom>
          <a:noFill/>
          <a:ln/>
        </p:spPr>
        <p:txBody>
          <a:bodyPr wrap="square" lIns="0" tIns="0" rIns="0" bIns="0" rtlCol="0" anchor="t"/>
          <a:lstStyle/>
          <a:p>
            <a:pPr algn="ctr" indent="0" marL="0">
              <a:buNone/>
            </a:pPr>
            <a:r>
              <a:rPr lang="en-US" sz="1600" dirty="0">
                <a:solidFill>
                  <a:schemeClr val="accent2"/>
                </a:solidFill>
              </a:rPr>
              <a:t>Upside</a:t>
            </a:r>
            <a:endParaRPr lang="en-US" sz="1600" dirty="0"/>
          </a:p>
        </p:txBody>
      </p:sp>
      <p:sp>
        <p:nvSpPr>
          <p:cNvPr id="11" name="Stat divider 2"/>
          <p:cNvSpPr/>
          <p:nvPr/>
        </p:nvSpPr>
        <p:spPr>
          <a:xfrm>
            <a:off x="4572000" y="2697480"/>
            <a:ext cx="0" cy="1051560"/>
          </a:xfrm>
          <a:prstGeom prst="line">
            <a:avLst/>
          </a:prstGeom>
          <a:noFill/>
          <a:ln w="12700">
            <a:solidFill>
              <a:srgbClr val="DCD8D3"/>
            </a:solidFill>
            <a:prstDash val="solid"/>
          </a:ln>
        </p:spPr>
      </p:sp>
      <p:sp>
        <p:nvSpPr>
          <p:cNvPr id="12" name="Stat 4 value"/>
          <p:cNvSpPr txBox="1"/>
          <p:nvPr/>
        </p:nvSpPr>
        <p:spPr>
          <a:xfrm>
            <a:off x="6583680" y="2514600"/>
            <a:ext cx="2011680" cy="868680"/>
          </a:xfrm>
          <a:prstGeom prst="rect">
            <a:avLst/>
          </a:prstGeom>
          <a:noFill/>
          <a:ln/>
        </p:spPr>
        <p:txBody>
          <a:bodyPr wrap="square" lIns="0" tIns="0" rIns="0" bIns="0" rtlCol="0" anchor="b"/>
          <a:lstStyle/>
          <a:p>
            <a:pPr algn="ctr" indent="0" marL="0">
              <a:buNone/>
            </a:pPr>
            <a:r>
              <a:rPr lang="en-US" sz="4800" b="1" dirty="0">
                <a:solidFill>
                  <a:schemeClr val="tx2"/>
                </a:solidFill>
              </a:rPr>
              <a:t>3.4x</a:t>
            </a:r>
            <a:endParaRPr lang="en-US" sz="4800" dirty="0"/>
          </a:p>
        </p:txBody>
      </p:sp>
      <p:sp>
        <p:nvSpPr>
          <p:cNvPr id="13" name="Stat 4 label"/>
          <p:cNvSpPr txBox="1"/>
          <p:nvPr/>
        </p:nvSpPr>
        <p:spPr>
          <a:xfrm>
            <a:off x="6583680" y="3429000"/>
            <a:ext cx="2011680" cy="365760"/>
          </a:xfrm>
          <a:prstGeom prst="rect">
            <a:avLst/>
          </a:prstGeom>
          <a:noFill/>
          <a:ln/>
        </p:spPr>
        <p:txBody>
          <a:bodyPr wrap="square" lIns="0" tIns="0" rIns="0" bIns="0" rtlCol="0" anchor="t"/>
          <a:lstStyle/>
          <a:p>
            <a:pPr algn="ctr" indent="0" marL="0">
              <a:buNone/>
            </a:pPr>
            <a:r>
              <a:rPr lang="en-US" sz="1600" dirty="0">
                <a:solidFill>
                  <a:schemeClr val="accent2"/>
                </a:solidFill>
              </a:rPr>
              <a:t>Reward / Risk</a:t>
            </a:r>
            <a:endParaRPr lang="en-US" sz="1600" dirty="0"/>
          </a:p>
        </p:txBody>
      </p:sp>
      <p:sp>
        <p:nvSpPr>
          <p:cNvPr id="14" name="Stat divider 3"/>
          <p:cNvSpPr/>
          <p:nvPr/>
        </p:nvSpPr>
        <p:spPr>
          <a:xfrm>
            <a:off x="6583680" y="2697480"/>
            <a:ext cx="0" cy="1051560"/>
          </a:xfrm>
          <a:prstGeom prst="line">
            <a:avLst/>
          </a:prstGeom>
          <a:noFill/>
          <a:ln w="12700">
            <a:solidFill>
              <a:srgbClr val="DCD8D3"/>
            </a:solidFill>
            <a:prstDash val="solid"/>
          </a:ln>
        </p:spPr>
      </p:sp>
      <p:sp>
        <p:nvSpPr>
          <p:cNvPr id="15" name="Quote"/>
          <p:cNvSpPr txBox="1"/>
          <p:nvPr/>
        </p:nvSpPr>
        <p:spPr>
          <a:xfrm>
            <a:off x="411480" y="4206240"/>
            <a:ext cx="8321040" cy="731520"/>
          </a:xfrm>
          <a:prstGeom prst="rect">
            <a:avLst/>
          </a:prstGeom>
          <a:solidFill>
            <a:srgbClr val="EFEDEA"/>
          </a:solidFill>
          <a:ln/>
        </p:spPr>
        <p:txBody>
          <a:bodyPr wrap="square" lIns="127000" tIns="50800" rIns="127000" bIns="50800" rtlCol="0" anchor="ctr"/>
          <a:lstStyle/>
          <a:p>
            <a:pPr algn="ctr" indent="0" marL="0">
              <a:buNone/>
            </a:pPr>
            <a:r>
              <a:rPr lang="en-US" sz="1900" b="1" dirty="0">
                <a:solidFill>
                  <a:srgbClr val="1A1A1A"/>
                </a:solidFill>
              </a:rPr>
              <a:t>“Be fearful when others are greedy and greedy when others are fearful.”</a:t>
            </a:r>
            <a:endParaRPr lang="en-US" sz="1900" dirty="0"/>
          </a:p>
        </p:txBody>
      </p:sp>
      <p:sp>
        <p:nvSpPr>
          <p:cNvPr id="16" name="Quote attribution"/>
          <p:cNvSpPr txBox="1"/>
          <p:nvPr/>
        </p:nvSpPr>
        <p:spPr>
          <a:xfrm>
            <a:off x="411480" y="5029200"/>
            <a:ext cx="8321040" cy="365760"/>
          </a:xfrm>
          <a:prstGeom prst="rect">
            <a:avLst/>
          </a:prstGeom>
          <a:noFill/>
          <a:ln/>
        </p:spPr>
        <p:txBody>
          <a:bodyPr wrap="square" lIns="0" tIns="0" rIns="0" bIns="0" rtlCol="0" anchor="ctr"/>
          <a:lstStyle/>
          <a:p>
            <a:pPr algn="ctr" indent="0" marL="0">
              <a:buNone/>
            </a:pPr>
            <a:r>
              <a:rPr lang="en-US" sz="1900" b="1" i="1" dirty="0">
                <a:solidFill>
                  <a:srgbClr val="1A1A1A"/>
                </a:solidFill>
              </a:rPr>
              <a:t>— Warren Buffett</a:t>
            </a:r>
            <a:endParaRPr lang="en-US" sz="1900" dirty="0"/>
          </a:p>
        </p:txBody>
      </p:sp>
      <p:sp>
        <p:nvSpPr>
          <p:cNvPr id="17" name="Pitch details"/>
          <p:cNvSpPr txBox="1"/>
          <p:nvPr/>
        </p:nvSpPr>
        <p:spPr>
          <a:xfrm>
            <a:off x="548640" y="5760720"/>
            <a:ext cx="4754880" cy="868680"/>
          </a:xfrm>
          <a:prstGeom prst="rect">
            <a:avLst/>
          </a:prstGeom>
          <a:noFill/>
          <a:ln/>
        </p:spPr>
        <p:txBody>
          <a:bodyPr wrap="square" lIns="0" tIns="0" rIns="0" bIns="0" rtlCol="0" anchor="t"/>
          <a:lstStyle/>
          <a:p>
            <a:pPr indent="0" marL="0">
              <a:spcAft>
                <a:spcPts val="200"/>
              </a:spcAft>
              <a:buNone/>
            </a:pPr>
            <a:r>
              <a:rPr lang="en-US" sz="1500" dirty="0">
                <a:solidFill>
                  <a:srgbClr val="1A1A1A"/>
                </a:solidFill>
              </a:rPr>
              <a:t>Date: October 2026</a:t>
            </a:r>
            <a:endParaRPr lang="en-US" sz="1500" dirty="0"/>
          </a:p>
          <a:p>
            <a:pPr indent="0" marL="0">
              <a:spcAft>
                <a:spcPts val="200"/>
              </a:spcAft>
              <a:buNone/>
            </a:pPr>
            <a:r>
              <a:rPr lang="en-US" sz="1500" dirty="0">
                <a:solidFill>
                  <a:srgbClr val="1A1A1A"/>
                </a:solidFill>
              </a:rPr>
              <a:t>Current Price: $167.03 (10/2/26)</a:t>
            </a:r>
            <a:endParaRPr lang="en-US" sz="1500" dirty="0"/>
          </a:p>
          <a:p>
            <a:pPr indent="0" marL="0">
              <a:spcAft>
                <a:spcPts val="200"/>
              </a:spcAft>
              <a:buNone/>
            </a:pPr>
            <a:r>
              <a:rPr lang="en-US" sz="1500" dirty="0">
                <a:solidFill>
                  <a:srgbClr val="1A1A1A"/>
                </a:solidFill>
              </a:rPr>
              <a:t>Target Price: $308.03 (84% upside, 3.4x R/R)</a:t>
            </a:r>
            <a:endParaRPr lang="en-US" sz="1500" dirty="0"/>
          </a:p>
        </p:txBody>
      </p:sp>
      <p:pic>
        <p:nvPicPr>
          <p:cNvPr id="18" name="GPS logo" descr="/home/user/SPOT/deck/gps_logo.jpeg">    </p:cNvPr>
          <p:cNvPicPr>
            <a:picLocks noChangeAspect="1"/>
          </p:cNvPicPr>
          <p:nvPr/>
        </p:nvPicPr>
        <p:blipFill>
          <a:blip r:embed="rId1"/>
          <a:stretch>
            <a:fillRect/>
          </a:stretch>
        </p:blipFill>
        <p:spPr>
          <a:xfrm>
            <a:off x="5897880" y="5532120"/>
            <a:ext cx="1234440" cy="1133856"/>
          </a:xfrm>
          <a:prstGeom prst="rect">
            <a:avLst/>
          </a:prstGeom>
        </p:spPr>
      </p:pic>
      <p:sp>
        <p:nvSpPr>
          <p:cNvPr id="19" name="Logo divider"/>
          <p:cNvSpPr/>
          <p:nvPr/>
        </p:nvSpPr>
        <p:spPr>
          <a:xfrm>
            <a:off x="7360920" y="5577840"/>
            <a:ext cx="0" cy="1097280"/>
          </a:xfrm>
          <a:prstGeom prst="line">
            <a:avLst/>
          </a:prstGeom>
          <a:noFill/>
          <a:ln w="12700">
            <a:solidFill>
              <a:srgbClr val="847C7A"/>
            </a:solidFill>
            <a:prstDash val="solid"/>
          </a:ln>
        </p:spPr>
      </p:sp>
      <p:sp>
        <p:nvSpPr>
          <p:cNvPr id="20" name="Presenter"/>
          <p:cNvSpPr txBox="1"/>
          <p:nvPr/>
        </p:nvSpPr>
        <p:spPr>
          <a:xfrm>
            <a:off x="7452360" y="5669280"/>
            <a:ext cx="1417320" cy="868680"/>
          </a:xfrm>
          <a:prstGeom prst="rect">
            <a:avLst/>
          </a:prstGeom>
          <a:noFill/>
          <a:ln/>
        </p:spPr>
        <p:txBody>
          <a:bodyPr wrap="square" lIns="0" tIns="0" rIns="0" bIns="0" rtlCol="0" anchor="ctr"/>
          <a:lstStyle/>
          <a:p>
            <a:pPr algn="ctr" indent="0" marL="0">
              <a:buNone/>
            </a:pPr>
            <a:r>
              <a:rPr lang="en-US" sz="1800" b="1" dirty="0">
                <a:solidFill>
                  <a:schemeClr val="accent2"/>
                </a:solidFill>
              </a:rPr>
              <a:t>Presenter</a:t>
            </a:r>
            <a:endParaRPr lang="en-US" sz="1800" dirty="0"/>
          </a:p>
          <a:p>
            <a:pPr algn="ctr" indent="0" marL="0">
              <a:buNone/>
            </a:pPr>
            <a:r>
              <a:rPr lang="en-US" sz="1800" b="1" dirty="0">
                <a:solidFill>
                  <a:schemeClr val="accent2"/>
                </a:solidFill>
              </a:rPr>
              <a:t>Name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 Opportunity</a:t>
            </a:r>
            <a:endParaRPr lang="en-US" sz="3200" dirty="0"/>
          </a:p>
        </p:txBody>
      </p:sp>
      <p:sp>
        <p:nvSpPr>
          <p:cNvPr id="3" name="Point 1"/>
          <p:cNvSpPr txBox="1"/>
          <p:nvPr/>
        </p:nvSpPr>
        <p:spPr>
          <a:xfrm>
            <a:off x="1600200" y="1188720"/>
            <a:ext cx="6629400" cy="914400"/>
          </a:xfrm>
          <a:prstGeom prst="rect">
            <a:avLst/>
          </a:prstGeom>
          <a:solidFill>
            <a:srgbClr val="DCD8D3"/>
          </a:solidFill>
          <a:ln/>
        </p:spPr>
        <p:txBody>
          <a:bodyPr wrap="square" lIns="558800" tIns="25400" rIns="127000" bIns="25400" rtlCol="0" anchor="ctr"/>
          <a:lstStyle/>
          <a:p>
            <a:pPr algn="ctr" indent="0" marL="0">
              <a:buNone/>
            </a:pPr>
            <a:r>
              <a:rPr lang="en-US" sz="1500" b="1" dirty="0">
                <a:solidFill>
                  <a:schemeClr val="tx2"/>
                </a:solidFill>
              </a:rPr>
              <a:t>1Q26 margins compressed 500 bps, and management guided EBITDA margins down from 40% to 30% for two years.</a:t>
            </a:r>
            <a:endParaRPr lang="en-US" sz="1500" dirty="0"/>
          </a:p>
        </p:txBody>
      </p:sp>
      <p:sp>
        <p:nvSpPr>
          <p:cNvPr id="4" name="Point 1 number"/>
          <p:cNvSpPr/>
          <p:nvPr/>
        </p:nvSpPr>
        <p:spPr>
          <a:xfrm>
            <a:off x="1120140" y="1211580"/>
            <a:ext cx="868680" cy="868680"/>
          </a:xfrm>
          <a:prstGeom prst="ellipse">
            <a:avLst/>
          </a:prstGeom>
          <a:solidFill>
            <a:srgbClr val="FFFFFF"/>
          </a:solidFill>
          <a:ln w="25400">
            <a:solidFill>
              <a:srgbClr val="0A1C58"/>
            </a:solidFill>
          </a:ln>
        </p:spPr>
        <p:txBody>
          <a:bodyPr wrap="square" lIns="0" tIns="0" rIns="0" bIns="0" rtlCol="0" anchor="ctr"/>
          <a:lstStyle/>
          <a:p>
            <a:pPr algn="ctr" indent="0" marL="0">
              <a:buNone/>
            </a:pPr>
            <a:r>
              <a:rPr lang="en-US" sz="2600" b="1" dirty="0">
                <a:solidFill>
                  <a:schemeClr val="tx2"/>
                </a:solidFill>
              </a:rPr>
              <a:t>1</a:t>
            </a:r>
            <a:endParaRPr lang="en-US" sz="2600" dirty="0"/>
          </a:p>
        </p:txBody>
      </p:sp>
      <p:sp>
        <p:nvSpPr>
          <p:cNvPr id="5" name="Point 2"/>
          <p:cNvSpPr txBox="1"/>
          <p:nvPr/>
        </p:nvSpPr>
        <p:spPr>
          <a:xfrm>
            <a:off x="1600200" y="2304288"/>
            <a:ext cx="6629400" cy="914400"/>
          </a:xfrm>
          <a:prstGeom prst="rect">
            <a:avLst/>
          </a:prstGeom>
          <a:solidFill>
            <a:srgbClr val="DCD8D3"/>
          </a:solidFill>
          <a:ln/>
        </p:spPr>
        <p:txBody>
          <a:bodyPr wrap="square" lIns="558800" tIns="25400" rIns="127000" bIns="25400" rtlCol="0" anchor="ctr"/>
          <a:lstStyle/>
          <a:p>
            <a:pPr algn="ctr" indent="0" marL="0">
              <a:buNone/>
            </a:pPr>
            <a:r>
              <a:rPr lang="en-US" sz="1500" b="1" dirty="0">
                <a:solidFill>
                  <a:schemeClr val="tx2"/>
                </a:solidFill>
              </a:rPr>
              <a:t>A fraud overhang from the 2025 short report leaves the market doubting this is the bottom: it still sees FTAI as over-earning.</a:t>
            </a:r>
            <a:endParaRPr lang="en-US" sz="1500" dirty="0"/>
          </a:p>
        </p:txBody>
      </p:sp>
      <p:sp>
        <p:nvSpPr>
          <p:cNvPr id="6" name="Point 2 number"/>
          <p:cNvSpPr/>
          <p:nvPr/>
        </p:nvSpPr>
        <p:spPr>
          <a:xfrm>
            <a:off x="1120140" y="2327148"/>
            <a:ext cx="868680" cy="868680"/>
          </a:xfrm>
          <a:prstGeom prst="ellipse">
            <a:avLst/>
          </a:prstGeom>
          <a:solidFill>
            <a:srgbClr val="FFFFFF"/>
          </a:solidFill>
          <a:ln w="25400">
            <a:solidFill>
              <a:srgbClr val="0A1C58"/>
            </a:solidFill>
          </a:ln>
        </p:spPr>
        <p:txBody>
          <a:bodyPr wrap="square" lIns="0" tIns="0" rIns="0" bIns="0" rtlCol="0" anchor="ctr"/>
          <a:lstStyle/>
          <a:p>
            <a:pPr algn="ctr" indent="0" marL="0">
              <a:buNone/>
            </a:pPr>
            <a:r>
              <a:rPr lang="en-US" sz="2600" b="1" dirty="0">
                <a:solidFill>
                  <a:schemeClr val="tx2"/>
                </a:solidFill>
              </a:rPr>
              <a:t>2</a:t>
            </a:r>
            <a:endParaRPr lang="en-US" sz="2600" dirty="0"/>
          </a:p>
        </p:txBody>
      </p:sp>
      <p:sp>
        <p:nvSpPr>
          <p:cNvPr id="7" name="Point 3"/>
          <p:cNvSpPr txBox="1"/>
          <p:nvPr/>
        </p:nvSpPr>
        <p:spPr>
          <a:xfrm>
            <a:off x="1600200" y="3419856"/>
            <a:ext cx="6629400" cy="914400"/>
          </a:xfrm>
          <a:prstGeom prst="rect">
            <a:avLst/>
          </a:prstGeom>
          <a:solidFill>
            <a:srgbClr val="DCD8D3"/>
          </a:solidFill>
          <a:ln/>
        </p:spPr>
        <p:txBody>
          <a:bodyPr wrap="square" lIns="558800" tIns="25400" rIns="127000" bIns="25400" rtlCol="0" anchor="ctr"/>
          <a:lstStyle/>
          <a:p>
            <a:pPr algn="ctr" indent="0" marL="0">
              <a:buNone/>
            </a:pPr>
            <a:r>
              <a:rPr lang="en-US" sz="1500" b="1" dirty="0">
                <a:solidFill>
                  <a:schemeClr val="tx2"/>
                </a:solidFill>
              </a:rPr>
              <a:t>We believe FTAI has reached steady state: margins have bottomed and share gains will drive volume growth.</a:t>
            </a:r>
            <a:endParaRPr lang="en-US" sz="1500" dirty="0"/>
          </a:p>
        </p:txBody>
      </p:sp>
      <p:sp>
        <p:nvSpPr>
          <p:cNvPr id="8" name="Point 3 number"/>
          <p:cNvSpPr/>
          <p:nvPr/>
        </p:nvSpPr>
        <p:spPr>
          <a:xfrm>
            <a:off x="1120140" y="3442716"/>
            <a:ext cx="868680" cy="868680"/>
          </a:xfrm>
          <a:prstGeom prst="ellipse">
            <a:avLst/>
          </a:prstGeom>
          <a:solidFill>
            <a:srgbClr val="FFFFFF"/>
          </a:solidFill>
          <a:ln w="25400">
            <a:solidFill>
              <a:srgbClr val="0A1C58"/>
            </a:solidFill>
          </a:ln>
        </p:spPr>
        <p:txBody>
          <a:bodyPr wrap="square" lIns="0" tIns="0" rIns="0" bIns="0" rtlCol="0" anchor="ctr"/>
          <a:lstStyle/>
          <a:p>
            <a:pPr algn="ctr" indent="0" marL="0">
              <a:buNone/>
            </a:pPr>
            <a:r>
              <a:rPr lang="en-US" sz="2600" b="1" dirty="0">
                <a:solidFill>
                  <a:schemeClr val="tx2"/>
                </a:solidFill>
              </a:rPr>
              <a:t>3</a:t>
            </a:r>
            <a:endParaRPr lang="en-US" sz="2600" dirty="0"/>
          </a:p>
        </p:txBody>
      </p:sp>
      <p:sp>
        <p:nvSpPr>
          <p:cNvPr id="9" name="Funnel"/>
          <p:cNvSpPr/>
          <p:nvPr/>
        </p:nvSpPr>
        <p:spPr>
          <a:xfrm flipV="1">
            <a:off x="1188720" y="4553712"/>
            <a:ext cx="7040880" cy="411480"/>
          </a:xfrm>
          <a:prstGeom prst="triangle">
            <a:avLst/>
          </a:prstGeom>
          <a:solidFill>
            <a:srgbClr val="DCD8D3"/>
          </a:solidFill>
          <a:ln/>
        </p:spPr>
      </p:sp>
      <p:sp>
        <p:nvSpPr>
          <p:cNvPr id="10" name="Conclusion"/>
          <p:cNvSpPr txBox="1"/>
          <p:nvPr/>
        </p:nvSpPr>
        <p:spPr>
          <a:xfrm>
            <a:off x="1188720" y="5120640"/>
            <a:ext cx="7040880" cy="777240"/>
          </a:xfrm>
          <a:prstGeom prst="rect">
            <a:avLst/>
          </a:prstGeom>
          <a:solidFill>
            <a:srgbClr val="0A1C58"/>
          </a:solidFill>
          <a:ln/>
        </p:spPr>
        <p:txBody>
          <a:bodyPr wrap="square" lIns="127000" tIns="25400" rIns="127000" bIns="25400" rtlCol="0" anchor="ctr"/>
          <a:lstStyle/>
          <a:p>
            <a:pPr algn="ctr" indent="0" marL="0">
              <a:buNone/>
            </a:pPr>
            <a:r>
              <a:rPr lang="en-US" sz="1700" b="1" dirty="0">
                <a:solidFill>
                  <a:schemeClr val="bg1"/>
                </a:solidFill>
              </a:rPr>
              <a:t>The market is pricing a trough as a cliff. We see 84% upside, with Power as a free call option.</a:t>
            </a:r>
            <a:endParaRPr lang="en-US" sz="1700" dirty="0"/>
          </a:p>
        </p:txBody>
      </p:sp>
      <p:sp>
        <p:nvSpPr>
          <p:cNvPr id="11" name="Source"/>
          <p:cNvSpPr txBox="1"/>
          <p:nvPr/>
        </p:nvSpPr>
        <p:spPr>
          <a:xfrm>
            <a:off x="320040" y="6355080"/>
            <a:ext cx="548640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Company filings, earnings calls, GPS estimates</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 Opportunity (1/3)</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In one quarter, Aerospace margins fell ~470 bps, and management guided ~30% for two years.</a:t>
            </a:r>
            <a:endParaRPr lang="en-US" sz="1700" dirty="0"/>
          </a:p>
        </p:txBody>
      </p:sp>
      <p:sp>
        <p:nvSpPr>
          <p:cNvPr id="4" name="Margin chart header"/>
          <p:cNvSpPr txBox="1"/>
          <p:nvPr/>
        </p:nvSpPr>
        <p:spPr>
          <a:xfrm>
            <a:off x="320040" y="1554480"/>
            <a:ext cx="5257800" cy="365760"/>
          </a:xfrm>
          <a:prstGeom prst="rect">
            <a:avLst/>
          </a:prstGeom>
          <a:noFill/>
          <a:ln/>
        </p:spPr>
        <p:txBody>
          <a:bodyPr wrap="square" lIns="0" tIns="0" rIns="0" bIns="0" rtlCol="0" anchor="b"/>
          <a:lstStyle/>
          <a:p>
            <a:pPr algn="ctr" indent="0" marL="0">
              <a:buNone/>
            </a:pPr>
            <a:r>
              <a:rPr lang="en-US" sz="1600" b="1" dirty="0">
                <a:solidFill>
                  <a:srgbClr val="1A1A1A"/>
                </a:solidFill>
              </a:rPr>
              <a:t>Aerospace Products Adj. EBITDA Margin</a:t>
            </a:r>
            <a:endParaRPr lang="en-US" sz="1600" dirty="0"/>
          </a:p>
        </p:txBody>
      </p:sp>
      <p:sp>
        <p:nvSpPr>
          <p:cNvPr id="5" name="Margin chart header rule"/>
          <p:cNvSpPr/>
          <p:nvPr/>
        </p:nvSpPr>
        <p:spPr>
          <a:xfrm>
            <a:off x="320040" y="1975104"/>
            <a:ext cx="5257800" cy="0"/>
          </a:xfrm>
          <a:prstGeom prst="line">
            <a:avLst/>
          </a:prstGeom>
          <a:noFill/>
          <a:ln w="12700">
            <a:solidFill>
              <a:srgbClr val="1A1A1A"/>
            </a:solidFill>
            <a:prstDash val="solid"/>
          </a:ln>
        </p:spPr>
      </p:sp>
      <p:graphicFrame>
        <p:nvGraphicFramePr>
          <p:cNvPr id="6" name="Margin chart" descr=""/>
          <p:cNvGraphicFramePr/>
          <p:nvPr/>
        </p:nvGraphicFramePr>
        <p:xfrm>
          <a:off x="320040" y="2103120"/>
          <a:ext cx="5257800" cy="3200400"/>
        </p:xfrm>
        <a:graphic xmlns:a="http://schemas.openxmlformats.org/drawingml/2006/main">
          <a:graphicData uri="http://schemas.openxmlformats.org/drawingml/2006/chart">
            <c:chart xmlns:c="http://schemas.openxmlformats.org/drawingml/2006/chart" r:id="rId1"/>
          </a:graphicData>
        </a:graphic>
      </p:graphicFrame>
      <p:sp>
        <p:nvSpPr>
          <p:cNvPr id="7" name="Guide label"/>
          <p:cNvSpPr txBox="1"/>
          <p:nvPr/>
        </p:nvSpPr>
        <p:spPr>
          <a:xfrm>
            <a:off x="4206240" y="2788920"/>
            <a:ext cx="1325880" cy="274320"/>
          </a:xfrm>
          <a:prstGeom prst="rect">
            <a:avLst/>
          </a:prstGeom>
          <a:noFill/>
          <a:ln/>
        </p:spPr>
        <p:txBody>
          <a:bodyPr wrap="square" lIns="0" tIns="0" rIns="0" bIns="0" rtlCol="0" anchor="ctr"/>
          <a:lstStyle/>
          <a:p>
            <a:pPr algn="ctr" indent="0" marL="0">
              <a:buNone/>
            </a:pPr>
            <a:r>
              <a:rPr lang="en-US" sz="1200" b="1" i="1" dirty="0">
                <a:solidFill>
                  <a:schemeClr val="accent2"/>
                </a:solidFill>
              </a:rPr>
              <a:t>Mgmt. guide</a:t>
            </a:r>
            <a:endParaRPr lang="en-US" sz="1200" dirty="0"/>
          </a:p>
        </p:txBody>
      </p:sp>
      <p:sp>
        <p:nvSpPr>
          <p:cNvPr id="8" name="Compression callout"/>
          <p:cNvSpPr/>
          <p:nvPr/>
        </p:nvSpPr>
        <p:spPr>
          <a:xfrm>
            <a:off x="2606040" y="2103120"/>
            <a:ext cx="1097280" cy="1097280"/>
          </a:xfrm>
          <a:prstGeom prst="ellipse">
            <a:avLst/>
          </a:prstGeom>
          <a:solidFill>
            <a:srgbClr val="0A1C58"/>
          </a:solidFill>
          <a:ln>
            <a:solidFill>
              <a:srgbClr val="0A1C58"/>
            </a:solidFill>
          </a:ln>
        </p:spPr>
        <p:txBody>
          <a:bodyPr wrap="square" lIns="0" tIns="0" rIns="0" bIns="0" rtlCol="0" anchor="ctr"/>
          <a:lstStyle/>
          <a:p>
            <a:pPr algn="ctr" indent="0" marL="0">
              <a:buNone/>
            </a:pPr>
            <a:r>
              <a:rPr lang="en-US" sz="2000" b="1" dirty="0">
                <a:solidFill>
                  <a:schemeClr val="bg1"/>
                </a:solidFill>
              </a:rPr>
              <a:t>–470</a:t>
            </a:r>
            <a:endParaRPr lang="en-US" sz="2000" dirty="0"/>
          </a:p>
          <a:p>
            <a:pPr algn="ctr" indent="0" marL="0">
              <a:buNone/>
            </a:pPr>
            <a:r>
              <a:rPr lang="en-US" sz="1100" b="1" dirty="0">
                <a:solidFill>
                  <a:schemeClr val="bg1"/>
                </a:solidFill>
              </a:rPr>
              <a:t>bps q/q</a:t>
            </a:r>
            <a:endParaRPr lang="en-US" sz="2000" dirty="0"/>
          </a:p>
        </p:txBody>
      </p:sp>
      <p:sp>
        <p:nvSpPr>
          <p:cNvPr id="9" name="Mix chart header"/>
          <p:cNvSpPr txBox="1"/>
          <p:nvPr/>
        </p:nvSpPr>
        <p:spPr>
          <a:xfrm>
            <a:off x="5897880" y="1554480"/>
            <a:ext cx="2926080" cy="365760"/>
          </a:xfrm>
          <a:prstGeom prst="rect">
            <a:avLst/>
          </a:prstGeom>
          <a:noFill/>
          <a:ln/>
        </p:spPr>
        <p:txBody>
          <a:bodyPr wrap="square" lIns="0" tIns="0" rIns="0" bIns="0" rtlCol="0" anchor="b"/>
          <a:lstStyle/>
          <a:p>
            <a:pPr algn="ctr" indent="0" marL="0">
              <a:buNone/>
            </a:pPr>
            <a:r>
              <a:rPr lang="en-US" sz="1600" b="1" dirty="0">
                <a:solidFill>
                  <a:srgbClr val="1A1A1A"/>
                </a:solidFill>
              </a:rPr>
              <a:t>Management: “It's Mix”</a:t>
            </a:r>
            <a:endParaRPr lang="en-US" sz="1600" dirty="0"/>
          </a:p>
        </p:txBody>
      </p:sp>
      <p:sp>
        <p:nvSpPr>
          <p:cNvPr id="10" name="Mix chart header rule"/>
          <p:cNvSpPr/>
          <p:nvPr/>
        </p:nvSpPr>
        <p:spPr>
          <a:xfrm>
            <a:off x="5897880" y="1975104"/>
            <a:ext cx="2926080" cy="0"/>
          </a:xfrm>
          <a:prstGeom prst="line">
            <a:avLst/>
          </a:prstGeom>
          <a:noFill/>
          <a:ln w="12700">
            <a:solidFill>
              <a:srgbClr val="1A1A1A"/>
            </a:solidFill>
            <a:prstDash val="solid"/>
          </a:ln>
        </p:spPr>
      </p:sp>
      <p:graphicFrame>
        <p:nvGraphicFramePr>
          <p:cNvPr id="11" name="Mix chart" descr=""/>
          <p:cNvGraphicFramePr/>
          <p:nvPr/>
        </p:nvGraphicFramePr>
        <p:xfrm>
          <a:off x="5897880" y="2103120"/>
          <a:ext cx="2926080" cy="2194560"/>
        </p:xfrm>
        <a:graphic xmlns:a="http://schemas.openxmlformats.org/drawingml/2006/main">
          <a:graphicData uri="http://schemas.openxmlformats.org/drawingml/2006/chart">
            <c:chart xmlns:c="http://schemas.openxmlformats.org/drawingml/2006/chart" r:id="rId2"/>
          </a:graphicData>
        </a:graphic>
      </p:graphicFrame>
      <p:sp>
        <p:nvSpPr>
          <p:cNvPr id="12" name="Mix detail"/>
          <p:cNvSpPr txBox="1"/>
          <p:nvPr/>
        </p:nvSpPr>
        <p:spPr>
          <a:xfrm>
            <a:off x="5897880" y="4370832"/>
            <a:ext cx="2926080" cy="566928"/>
          </a:xfrm>
          <a:prstGeom prst="rect">
            <a:avLst/>
          </a:prstGeom>
          <a:noFill/>
          <a:ln/>
        </p:spPr>
        <p:txBody>
          <a:bodyPr wrap="square" lIns="0" tIns="0" rIns="0" bIns="0" rtlCol="0" anchor="t"/>
          <a:lstStyle/>
          <a:p>
            <a:pPr indent="0" marL="0">
              <a:buNone/>
            </a:pPr>
            <a:r>
              <a:rPr lang="en-US" sz="1200" b="1" dirty="0">
                <a:solidFill>
                  <a:srgbClr val="1A1A1A"/>
                </a:solidFill>
              </a:rPr>
              <a:t>Light: </a:t>
            </a:r>
            <a:pPr indent="0" marL="0">
              <a:buNone/>
            </a:pPr>
            <a:r>
              <a:rPr lang="en-US" sz="1200" dirty="0">
                <a:solidFill>
                  <a:srgbClr val="1A1A1A"/>
                </a:solidFill>
              </a:rPr>
              <a:t>$6M sale, $2.5M profit</a:t>
            </a:r>
            <a:endParaRPr lang="en-US" sz="1200" dirty="0"/>
          </a:p>
          <a:p>
            <a:pPr indent="0" marL="0">
              <a:buNone/>
            </a:pPr>
            <a:r>
              <a:rPr lang="en-US" sz="1200" b="1" dirty="0">
                <a:solidFill>
                  <a:srgbClr val="1A1A1A"/>
                </a:solidFill>
              </a:rPr>
              <a:t>Heavy: </a:t>
            </a:r>
            <a:pPr indent="0" marL="0">
              <a:buNone/>
            </a:pPr>
            <a:r>
              <a:rPr lang="en-US" sz="1200" dirty="0">
                <a:solidFill>
                  <a:srgbClr val="1A1A1A"/>
                </a:solidFill>
              </a:rPr>
              <a:t>$12M sale, $3.0M profit</a:t>
            </a:r>
            <a:endParaRPr lang="en-US" sz="1200" dirty="0"/>
          </a:p>
        </p:txBody>
      </p:sp>
      <p:sp>
        <p:nvSpPr>
          <p:cNvPr id="13" name="Mix kicker"/>
          <p:cNvSpPr txBox="1"/>
          <p:nvPr/>
        </p:nvSpPr>
        <p:spPr>
          <a:xfrm>
            <a:off x="5897880" y="4983480"/>
            <a:ext cx="2926080" cy="320040"/>
          </a:xfrm>
          <a:prstGeom prst="rect">
            <a:avLst/>
          </a:prstGeom>
          <a:noFill/>
          <a:ln/>
        </p:spPr>
        <p:txBody>
          <a:bodyPr wrap="square" lIns="0" tIns="0" rIns="0" bIns="0" rtlCol="0" anchor="ctr"/>
          <a:lstStyle/>
          <a:p>
            <a:pPr indent="0" marL="0">
              <a:buNone/>
            </a:pPr>
            <a:r>
              <a:rPr lang="en-US" sz="1300" b="1" i="1" dirty="0">
                <a:solidFill>
                  <a:schemeClr val="tx2"/>
                </a:solidFill>
              </a:rPr>
              <a:t>Lower margin, more dollars per job</a:t>
            </a:r>
            <a:endParaRPr lang="en-US" sz="1300" dirty="0"/>
          </a:p>
        </p:txBody>
      </p:sp>
      <p:sp>
        <p:nvSpPr>
          <p:cNvPr id="14"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The drop is real. Is ~30% the floor, or just a waypoint?</a:t>
            </a:r>
            <a:endParaRPr lang="en-US" sz="1700" dirty="0"/>
          </a:p>
        </p:txBody>
      </p:sp>
      <p:sp>
        <p:nvSpPr>
          <p:cNvPr id="15"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FTAI filings and earnings calls, GPS model</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 Opportunity (2/3)</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A 2025 short report gave the market a darker explanation, and it stuck.</a:t>
            </a:r>
            <a:endParaRPr lang="en-US" sz="1700" dirty="0"/>
          </a:p>
        </p:txBody>
      </p:sp>
      <p:sp>
        <p:nvSpPr>
          <p:cNvPr id="4" name="Short thesis header"/>
          <p:cNvSpPr txBox="1"/>
          <p:nvPr/>
        </p:nvSpPr>
        <p:spPr>
          <a:xfrm>
            <a:off x="320040" y="1554480"/>
            <a:ext cx="4572000" cy="365760"/>
          </a:xfrm>
          <a:prstGeom prst="rect">
            <a:avLst/>
          </a:prstGeom>
          <a:noFill/>
          <a:ln/>
        </p:spPr>
        <p:txBody>
          <a:bodyPr wrap="square" lIns="0" tIns="0" rIns="0" bIns="0" rtlCol="0" anchor="b"/>
          <a:lstStyle/>
          <a:p>
            <a:pPr algn="ctr" indent="0" marL="0">
              <a:buNone/>
            </a:pPr>
            <a:r>
              <a:rPr lang="en-US" sz="1600" b="1" dirty="0">
                <a:solidFill>
                  <a:srgbClr val="1A1A1A"/>
                </a:solidFill>
              </a:rPr>
              <a:t>The Short Thesis (Jan. 2025)</a:t>
            </a:r>
            <a:endParaRPr lang="en-US" sz="1600" dirty="0"/>
          </a:p>
        </p:txBody>
      </p:sp>
      <p:sp>
        <p:nvSpPr>
          <p:cNvPr id="5" name="Short thesis header rule"/>
          <p:cNvSpPr/>
          <p:nvPr/>
        </p:nvSpPr>
        <p:spPr>
          <a:xfrm>
            <a:off x="320040" y="1975104"/>
            <a:ext cx="4572000" cy="0"/>
          </a:xfrm>
          <a:prstGeom prst="line">
            <a:avLst/>
          </a:prstGeom>
          <a:noFill/>
          <a:ln w="12700">
            <a:solidFill>
              <a:srgbClr val="1A1A1A"/>
            </a:solidFill>
            <a:prstDash val="solid"/>
          </a:ln>
        </p:spPr>
      </p:sp>
      <p:sp>
        <p:nvSpPr>
          <p:cNvPr id="6" name="Short step 1"/>
          <p:cNvSpPr txBox="1"/>
          <p:nvPr/>
        </p:nvSpPr>
        <p:spPr>
          <a:xfrm>
            <a:off x="548640" y="2148840"/>
            <a:ext cx="4114800" cy="731520"/>
          </a:xfrm>
          <a:prstGeom prst="rect">
            <a:avLst/>
          </a:prstGeom>
          <a:solidFill>
            <a:srgbClr val="DCD8D3"/>
          </a:solidFill>
          <a:ln/>
        </p:spPr>
        <p:txBody>
          <a:bodyPr wrap="square" lIns="127000" tIns="25400" rIns="127000" bIns="25400" rtlCol="0" anchor="ctr"/>
          <a:lstStyle/>
          <a:p>
            <a:pPr algn="ctr" indent="0" marL="0">
              <a:buNone/>
            </a:pPr>
            <a:r>
              <a:rPr lang="en-US" sz="1500" b="1" dirty="0">
                <a:solidFill>
                  <a:schemeClr val="tx2"/>
                </a:solidFill>
              </a:rPr>
              <a:t>Leasing engines sit on the books at depreciated value</a:t>
            </a:r>
            <a:endParaRPr lang="en-US" sz="1500" dirty="0"/>
          </a:p>
        </p:txBody>
      </p:sp>
      <p:sp>
        <p:nvSpPr>
          <p:cNvPr id="7" name="Short arrow 1"/>
          <p:cNvSpPr/>
          <p:nvPr/>
        </p:nvSpPr>
        <p:spPr>
          <a:xfrm>
            <a:off x="2395728" y="2907792"/>
            <a:ext cx="420624" cy="292608"/>
          </a:xfrm>
          <a:prstGeom prst="downArrow">
            <a:avLst/>
          </a:prstGeom>
          <a:solidFill>
            <a:srgbClr val="847C7A"/>
          </a:solidFill>
          <a:ln/>
        </p:spPr>
      </p:sp>
      <p:sp>
        <p:nvSpPr>
          <p:cNvPr id="8" name="Short step 2"/>
          <p:cNvSpPr txBox="1"/>
          <p:nvPr/>
        </p:nvSpPr>
        <p:spPr>
          <a:xfrm>
            <a:off x="548640" y="3227832"/>
            <a:ext cx="4114800" cy="731520"/>
          </a:xfrm>
          <a:prstGeom prst="rect">
            <a:avLst/>
          </a:prstGeom>
          <a:solidFill>
            <a:srgbClr val="DCD8D3"/>
          </a:solidFill>
          <a:ln/>
        </p:spPr>
        <p:txBody>
          <a:bodyPr wrap="square" lIns="127000" tIns="25400" rIns="127000" bIns="25400" rtlCol="0" anchor="ctr"/>
          <a:lstStyle/>
          <a:p>
            <a:pPr algn="ctr" indent="0" marL="0">
              <a:buNone/>
            </a:pPr>
            <a:r>
              <a:rPr lang="en-US" sz="1500" b="1" dirty="0">
                <a:solidFill>
                  <a:schemeClr val="tx2"/>
                </a:solidFill>
              </a:rPr>
              <a:t>They are moved into Aerospace Products as inventory</a:t>
            </a:r>
            <a:endParaRPr lang="en-US" sz="1500" dirty="0"/>
          </a:p>
        </p:txBody>
      </p:sp>
      <p:sp>
        <p:nvSpPr>
          <p:cNvPr id="9" name="Short arrow 2"/>
          <p:cNvSpPr/>
          <p:nvPr/>
        </p:nvSpPr>
        <p:spPr>
          <a:xfrm>
            <a:off x="2395728" y="3986784"/>
            <a:ext cx="420624" cy="292608"/>
          </a:xfrm>
          <a:prstGeom prst="downArrow">
            <a:avLst/>
          </a:prstGeom>
          <a:solidFill>
            <a:srgbClr val="847C7A"/>
          </a:solidFill>
          <a:ln/>
        </p:spPr>
      </p:sp>
      <p:sp>
        <p:nvSpPr>
          <p:cNvPr id="10" name="Short step 3"/>
          <p:cNvSpPr txBox="1"/>
          <p:nvPr/>
        </p:nvSpPr>
        <p:spPr>
          <a:xfrm>
            <a:off x="548640" y="4306824"/>
            <a:ext cx="4114800" cy="731520"/>
          </a:xfrm>
          <a:prstGeom prst="rect">
            <a:avLst/>
          </a:prstGeom>
          <a:solidFill>
            <a:srgbClr val="0A1C58"/>
          </a:solidFill>
          <a:ln/>
        </p:spPr>
        <p:txBody>
          <a:bodyPr wrap="square" lIns="127000" tIns="25400" rIns="127000" bIns="25400" rtlCol="0" anchor="ctr"/>
          <a:lstStyle/>
          <a:p>
            <a:pPr algn="ctr" indent="0" marL="0">
              <a:buNone/>
            </a:pPr>
            <a:r>
              <a:rPr lang="en-US" sz="1500" b="1" dirty="0">
                <a:solidFill>
                  <a:schemeClr val="bg1"/>
                </a:solidFill>
              </a:rPr>
              <a:t>Sold at market prices, the low cost basis inflates AP margins</a:t>
            </a:r>
            <a:endParaRPr lang="en-US" sz="1500" dirty="0"/>
          </a:p>
        </p:txBody>
      </p:sp>
      <p:sp>
        <p:nvSpPr>
          <p:cNvPr id="11" name="Readings header"/>
          <p:cNvSpPr txBox="1"/>
          <p:nvPr/>
        </p:nvSpPr>
        <p:spPr>
          <a:xfrm>
            <a:off x="5257800" y="1554480"/>
            <a:ext cx="3566160" cy="365760"/>
          </a:xfrm>
          <a:prstGeom prst="rect">
            <a:avLst/>
          </a:prstGeom>
          <a:noFill/>
          <a:ln/>
        </p:spPr>
        <p:txBody>
          <a:bodyPr wrap="square" lIns="0" tIns="0" rIns="0" bIns="0" rtlCol="0" anchor="b"/>
          <a:lstStyle/>
          <a:p>
            <a:pPr algn="ctr" indent="0" marL="0">
              <a:buNone/>
            </a:pPr>
            <a:r>
              <a:rPr lang="en-US" sz="1600" b="1" dirty="0">
                <a:solidFill>
                  <a:srgbClr val="1A1A1A"/>
                </a:solidFill>
              </a:rPr>
              <a:t>Two Readings of the Drop</a:t>
            </a:r>
            <a:endParaRPr lang="en-US" sz="1600" dirty="0"/>
          </a:p>
        </p:txBody>
      </p:sp>
      <p:sp>
        <p:nvSpPr>
          <p:cNvPr id="12" name="Readings header rule"/>
          <p:cNvSpPr/>
          <p:nvPr/>
        </p:nvSpPr>
        <p:spPr>
          <a:xfrm>
            <a:off x="5257800" y="1975104"/>
            <a:ext cx="3566160" cy="0"/>
          </a:xfrm>
          <a:prstGeom prst="line">
            <a:avLst/>
          </a:prstGeom>
          <a:noFill/>
          <a:ln w="12700">
            <a:solidFill>
              <a:srgbClr val="1A1A1A"/>
            </a:solidFill>
            <a:prstDash val="solid"/>
          </a:ln>
        </p:spPr>
      </p:sp>
      <p:sp>
        <p:nvSpPr>
          <p:cNvPr id="13" name="Management reading"/>
          <p:cNvSpPr txBox="1"/>
          <p:nvPr/>
        </p:nvSpPr>
        <p:spPr>
          <a:xfrm>
            <a:off x="5257800" y="2148840"/>
            <a:ext cx="3566160" cy="1325880"/>
          </a:xfrm>
          <a:prstGeom prst="rect">
            <a:avLst/>
          </a:prstGeom>
          <a:solidFill>
            <a:srgbClr val="DCD8D3"/>
          </a:solidFill>
          <a:ln/>
        </p:spPr>
        <p:txBody>
          <a:bodyPr wrap="square" lIns="127000" tIns="50800" rIns="127000" bIns="50800" rtlCol="0" anchor="ctr"/>
          <a:lstStyle/>
          <a:p>
            <a:pPr algn="ctr" indent="0" marL="0">
              <a:spcAft>
                <a:spcPts val="400"/>
              </a:spcAft>
              <a:buNone/>
            </a:pPr>
            <a:r>
              <a:rPr lang="en-US" sz="1500" b="1" dirty="0">
                <a:solidFill>
                  <a:schemeClr val="tx2"/>
                </a:solidFill>
              </a:rPr>
              <a:t>Management</a:t>
            </a:r>
            <a:endParaRPr lang="en-US" sz="1500" dirty="0"/>
          </a:p>
          <a:p>
            <a:pPr algn="ctr" indent="0" marL="0">
              <a:spcAft>
                <a:spcPts val="400"/>
              </a:spcAft>
              <a:buNone/>
            </a:pPr>
            <a:r>
              <a:rPr lang="en-US" sz="1200" dirty="0">
                <a:solidFill>
                  <a:schemeClr val="tx2"/>
                </a:solidFill>
              </a:rPr>
              <a:t>Heavier-scope work, new shops still ramping, and prices held below OEM to win share.</a:t>
            </a:r>
            <a:endParaRPr lang="en-US" sz="1500" dirty="0"/>
          </a:p>
          <a:p>
            <a:pPr algn="ctr" indent="0" marL="0">
              <a:spcAft>
                <a:spcPts val="400"/>
              </a:spcAft>
              <a:buNone/>
            </a:pPr>
            <a:r>
              <a:rPr lang="en-US" sz="1300" b="1" i="1" dirty="0">
                <a:solidFill>
                  <a:schemeClr val="tx2"/>
                </a:solidFill>
              </a:rPr>
              <a:t>→ Temporary: margins recover</a:t>
            </a:r>
            <a:endParaRPr lang="en-US" sz="1500" dirty="0"/>
          </a:p>
        </p:txBody>
      </p:sp>
      <p:sp>
        <p:nvSpPr>
          <p:cNvPr id="14" name="The Bears reading"/>
          <p:cNvSpPr txBox="1"/>
          <p:nvPr/>
        </p:nvSpPr>
        <p:spPr>
          <a:xfrm>
            <a:off x="5257800" y="3721608"/>
            <a:ext cx="3566160" cy="1325880"/>
          </a:xfrm>
          <a:prstGeom prst="rect">
            <a:avLst/>
          </a:prstGeom>
          <a:solidFill>
            <a:srgbClr val="0A1C58"/>
          </a:solidFill>
          <a:ln/>
        </p:spPr>
        <p:txBody>
          <a:bodyPr wrap="square" lIns="127000" tIns="50800" rIns="127000" bIns="50800" rtlCol="0" anchor="ctr"/>
          <a:lstStyle/>
          <a:p>
            <a:pPr algn="ctr" indent="0" marL="0">
              <a:spcAft>
                <a:spcPts val="400"/>
              </a:spcAft>
              <a:buNone/>
            </a:pPr>
            <a:r>
              <a:rPr lang="en-US" sz="1500" b="1" dirty="0">
                <a:solidFill>
                  <a:schemeClr val="bg1"/>
                </a:solidFill>
              </a:rPr>
              <a:t>The Bears</a:t>
            </a:r>
            <a:endParaRPr lang="en-US" sz="1500" dirty="0"/>
          </a:p>
          <a:p>
            <a:pPr algn="ctr" indent="0" marL="0">
              <a:spcAft>
                <a:spcPts val="400"/>
              </a:spcAft>
              <a:buNone/>
            </a:pPr>
            <a:r>
              <a:rPr lang="en-US" sz="1200" dirty="0">
                <a:solidFill>
                  <a:schemeClr val="bg1"/>
                </a:solidFill>
              </a:rPr>
              <a:t>The cheap, depreciated leasing engines that flattered margins are running out.</a:t>
            </a:r>
            <a:endParaRPr lang="en-US" sz="1500" dirty="0"/>
          </a:p>
          <a:p>
            <a:pPr algn="ctr" indent="0" marL="0">
              <a:spcAft>
                <a:spcPts val="400"/>
              </a:spcAft>
              <a:buNone/>
            </a:pPr>
            <a:r>
              <a:rPr lang="en-US" sz="1300" b="1" i="1" dirty="0">
                <a:solidFill>
                  <a:schemeClr val="bg1"/>
                </a:solidFill>
              </a:rPr>
              <a:t>→ Structural: margins keep falling</a:t>
            </a:r>
            <a:endParaRPr lang="en-US" sz="1500" dirty="0"/>
          </a:p>
        </p:txBody>
      </p:sp>
      <p:sp>
        <p:nvSpPr>
          <p:cNvPr id="15" name="Readings vs"/>
          <p:cNvSpPr txBox="1"/>
          <p:nvPr/>
        </p:nvSpPr>
        <p:spPr>
          <a:xfrm>
            <a:off x="6720840" y="3474720"/>
            <a:ext cx="640080" cy="246888"/>
          </a:xfrm>
          <a:prstGeom prst="rect">
            <a:avLst/>
          </a:prstGeom>
          <a:noFill/>
          <a:ln/>
        </p:spPr>
        <p:txBody>
          <a:bodyPr wrap="square" lIns="0" tIns="0" rIns="0" bIns="0" rtlCol="0" anchor="ctr"/>
          <a:lstStyle/>
          <a:p>
            <a:pPr algn="ctr" indent="0" marL="0">
              <a:buNone/>
            </a:pPr>
            <a:r>
              <a:rPr lang="en-US" sz="1400" b="1" i="1" dirty="0">
                <a:solidFill>
                  <a:schemeClr val="accent2"/>
                </a:solidFill>
              </a:rPr>
              <a:t>vs.</a:t>
            </a:r>
            <a:endParaRPr lang="en-US" sz="1400" dirty="0"/>
          </a:p>
        </p:txBody>
      </p:sp>
      <p:sp>
        <p:nvSpPr>
          <p:cNvPr id="16"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The market reads the margin reset as the short thesis unwinding, and prices FTAI as if it's still over-earning.</a:t>
            </a:r>
            <a:endParaRPr lang="en-US" sz="1700" dirty="0"/>
          </a:p>
        </p:txBody>
      </p:sp>
      <p:sp>
        <p:nvSpPr>
          <p:cNvPr id="17"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Muddy Waters Research (Jan. 2025), FTAI filings and earnings calls, GPS analysis</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 Opportunity (3/3)</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Turbine makers are sold out for years, yet the market assigns no value to FTAI's Power.</a:t>
            </a:r>
            <a:endParaRPr lang="en-US" sz="1700" dirty="0"/>
          </a:p>
        </p:txBody>
      </p:sp>
      <p:sp>
        <p:nvSpPr>
          <p:cNvPr id="4" name="Backlog header"/>
          <p:cNvSpPr txBox="1"/>
          <p:nvPr/>
        </p:nvSpPr>
        <p:spPr>
          <a:xfrm>
            <a:off x="320040" y="1554480"/>
            <a:ext cx="5257800" cy="365760"/>
          </a:xfrm>
          <a:prstGeom prst="rect">
            <a:avLst/>
          </a:prstGeom>
          <a:noFill/>
          <a:ln/>
        </p:spPr>
        <p:txBody>
          <a:bodyPr wrap="square" lIns="0" tIns="0" rIns="0" bIns="0" rtlCol="0" anchor="b"/>
          <a:lstStyle/>
          <a:p>
            <a:pPr algn="ctr" indent="0" marL="0">
              <a:buNone/>
            </a:pPr>
            <a:r>
              <a:rPr lang="en-US" sz="1600" b="1" dirty="0">
                <a:solidFill>
                  <a:srgbClr val="1A1A1A"/>
                </a:solidFill>
              </a:rPr>
              <a:t>Combined Gas Turbine Backlog (GW)</a:t>
            </a:r>
            <a:endParaRPr lang="en-US" sz="1600" dirty="0"/>
          </a:p>
        </p:txBody>
      </p:sp>
      <p:sp>
        <p:nvSpPr>
          <p:cNvPr id="5" name="Backlog header rule"/>
          <p:cNvSpPr/>
          <p:nvPr/>
        </p:nvSpPr>
        <p:spPr>
          <a:xfrm>
            <a:off x="320040" y="1975104"/>
            <a:ext cx="5257800" cy="0"/>
          </a:xfrm>
          <a:prstGeom prst="line">
            <a:avLst/>
          </a:prstGeom>
          <a:noFill/>
          <a:ln w="12700">
            <a:solidFill>
              <a:srgbClr val="1A1A1A"/>
            </a:solidFill>
            <a:prstDash val="solid"/>
          </a:ln>
        </p:spPr>
      </p:sp>
      <p:graphicFrame>
        <p:nvGraphicFramePr>
          <p:cNvPr id="6" name="Combined backlog chart" descr=""/>
          <p:cNvGraphicFramePr/>
          <p:nvPr/>
        </p:nvGraphicFramePr>
        <p:xfrm>
          <a:off x="320040" y="2103120"/>
          <a:ext cx="5257800" cy="2651760"/>
        </p:xfrm>
        <a:graphic xmlns:a="http://schemas.openxmlformats.org/drawingml/2006/main">
          <a:graphicData uri="http://schemas.openxmlformats.org/drawingml/2006/chart">
            <c:chart xmlns:c="http://schemas.openxmlformats.org/drawingml/2006/chart" r:id="rId1"/>
          </a:graphicData>
        </a:graphic>
      </p:graphicFrame>
      <p:sp>
        <p:nvSpPr>
          <p:cNvPr id="7" name="Total 2025"/>
          <p:cNvSpPr txBox="1"/>
          <p:nvPr/>
        </p:nvSpPr>
        <p:spPr>
          <a:xfrm>
            <a:off x="1097280" y="3017520"/>
            <a:ext cx="1188720" cy="292608"/>
          </a:xfrm>
          <a:prstGeom prst="rect">
            <a:avLst/>
          </a:prstGeom>
          <a:noFill/>
          <a:ln/>
        </p:spPr>
        <p:txBody>
          <a:bodyPr wrap="square" lIns="0" tIns="0" rIns="0" bIns="0" rtlCol="0" anchor="ctr"/>
          <a:lstStyle/>
          <a:p>
            <a:pPr algn="ctr" indent="0" marL="0">
              <a:buNone/>
            </a:pPr>
            <a:r>
              <a:rPr lang="en-US" sz="1600" b="1" dirty="0">
                <a:solidFill>
                  <a:schemeClr val="tx2"/>
                </a:solidFill>
              </a:rPr>
              <a:t>115 GW</a:t>
            </a:r>
            <a:endParaRPr lang="en-US" sz="1600" dirty="0"/>
          </a:p>
        </p:txBody>
      </p:sp>
      <p:sp>
        <p:nvSpPr>
          <p:cNvPr id="8" name="Total 2026"/>
          <p:cNvSpPr txBox="1"/>
          <p:nvPr/>
        </p:nvSpPr>
        <p:spPr>
          <a:xfrm>
            <a:off x="3749040" y="2057400"/>
            <a:ext cx="1188720" cy="292608"/>
          </a:xfrm>
          <a:prstGeom prst="rect">
            <a:avLst/>
          </a:prstGeom>
          <a:noFill/>
          <a:ln/>
        </p:spPr>
        <p:txBody>
          <a:bodyPr wrap="square" lIns="0" tIns="0" rIns="0" bIns="0" rtlCol="0" anchor="ctr"/>
          <a:lstStyle/>
          <a:p>
            <a:pPr algn="ctr" indent="0" marL="0">
              <a:buNone/>
            </a:pPr>
            <a:r>
              <a:rPr lang="en-US" sz="1600" b="1" dirty="0">
                <a:solidFill>
                  <a:schemeClr val="tx2"/>
                </a:solidFill>
              </a:rPr>
              <a:t>220 GW</a:t>
            </a:r>
            <a:endParaRPr lang="en-US" sz="1600" dirty="0"/>
          </a:p>
        </p:txBody>
      </p:sp>
      <p:sp>
        <p:nvSpPr>
          <p:cNvPr id="9" name="Backlog arrow"/>
          <p:cNvSpPr/>
          <p:nvPr/>
        </p:nvSpPr>
        <p:spPr>
          <a:xfrm flipV="1">
            <a:off x="2331720" y="2377440"/>
            <a:ext cx="1371600" cy="777240"/>
          </a:xfrm>
          <a:prstGeom prst="line">
            <a:avLst/>
          </a:prstGeom>
          <a:noFill/>
          <a:ln w="31750">
            <a:solidFill>
              <a:srgbClr val="0A1C58"/>
            </a:solidFill>
            <a:prstDash val="solid"/>
            <a:tailEnd type="triangle"/>
          </a:ln>
        </p:spPr>
      </p:sp>
      <p:sp>
        <p:nvSpPr>
          <p:cNvPr id="10" name="Growth label"/>
          <p:cNvSpPr txBox="1"/>
          <p:nvPr/>
        </p:nvSpPr>
        <p:spPr>
          <a:xfrm>
            <a:off x="2057400" y="2331720"/>
            <a:ext cx="914400" cy="310896"/>
          </a:xfrm>
          <a:prstGeom prst="rect">
            <a:avLst/>
          </a:prstGeom>
          <a:noFill/>
          <a:ln/>
        </p:spPr>
        <p:txBody>
          <a:bodyPr wrap="square" lIns="0" tIns="0" rIns="0" bIns="0" rtlCol="0" anchor="ctr"/>
          <a:lstStyle/>
          <a:p>
            <a:pPr algn="ctr" indent="0" marL="0">
              <a:buNone/>
            </a:pPr>
            <a:r>
              <a:rPr lang="en-US" sz="1800" b="1" dirty="0">
                <a:solidFill>
                  <a:schemeClr val="tx2"/>
                </a:solidFill>
              </a:rPr>
              <a:t>~1.9x</a:t>
            </a:r>
            <a:endParaRPr lang="en-US" sz="1800" dirty="0"/>
          </a:p>
        </p:txBody>
      </p:sp>
      <p:sp>
        <p:nvSpPr>
          <p:cNvPr id="11" name="Backlog legend"/>
          <p:cNvSpPr txBox="1"/>
          <p:nvPr/>
        </p:nvSpPr>
        <p:spPr>
          <a:xfrm>
            <a:off x="320040" y="4754880"/>
            <a:ext cx="5257800" cy="237744"/>
          </a:xfrm>
          <a:prstGeom prst="rect">
            <a:avLst/>
          </a:prstGeom>
          <a:noFill/>
          <a:ln/>
        </p:spPr>
        <p:txBody>
          <a:bodyPr wrap="square" lIns="0" tIns="0" rIns="0" bIns="0" rtlCol="0" anchor="ctr"/>
          <a:lstStyle/>
          <a:p>
            <a:pPr algn="ctr" indent="0" marL="0">
              <a:buNone/>
            </a:pPr>
            <a:r>
              <a:rPr lang="en-US" sz="1100" dirty="0">
                <a:solidFill>
                  <a:srgbClr val="0A1C58"/>
                </a:solidFill>
              </a:rPr>
              <a:t>■ </a:t>
            </a:r>
            <a:pPr algn="ctr" indent="0" marL="0">
              <a:buNone/>
            </a:pPr>
            <a:r>
              <a:rPr lang="en-US" sz="1100" dirty="0">
                <a:solidFill>
                  <a:srgbClr val="1A1A1A"/>
                </a:solidFill>
              </a:rPr>
              <a:t>GE Vernova  </a:t>
            </a:r>
            <a:pPr algn="ctr" indent="0" marL="0">
              <a:buNone/>
            </a:pPr>
            <a:r>
              <a:rPr lang="en-US" sz="1100" dirty="0">
                <a:solidFill>
                  <a:srgbClr val="3B4C82"/>
                </a:solidFill>
              </a:rPr>
              <a:t>■ </a:t>
            </a:r>
            <a:pPr algn="ctr" indent="0" marL="0">
              <a:buNone/>
            </a:pPr>
            <a:r>
              <a:rPr lang="en-US" sz="1100" dirty="0">
                <a:solidFill>
                  <a:srgbClr val="1A1A1A"/>
                </a:solidFill>
              </a:rPr>
              <a:t>Siemens Energy  </a:t>
            </a:r>
            <a:pPr algn="ctr" indent="0" marL="0">
              <a:buNone/>
            </a:pPr>
            <a:r>
              <a:rPr lang="en-US" sz="1100" dirty="0">
                <a:solidFill>
                  <a:srgbClr val="B5AEA9"/>
                </a:solidFill>
              </a:rPr>
              <a:t>■ </a:t>
            </a:r>
            <a:pPr algn="ctr" indent="0" marL="0">
              <a:buNone/>
            </a:pPr>
            <a:r>
              <a:rPr lang="en-US" sz="1100" dirty="0">
                <a:solidFill>
                  <a:srgbClr val="1A1A1A"/>
                </a:solidFill>
              </a:rPr>
              <a:t>Mitsubishi</a:t>
            </a:r>
            <a:endParaRPr lang="en-US" sz="1100" dirty="0"/>
          </a:p>
        </p:txBody>
      </p:sp>
      <p:sp>
        <p:nvSpPr>
          <p:cNvPr id="12" name="Backlog caption"/>
          <p:cNvSpPr txBox="1"/>
          <p:nvPr/>
        </p:nvSpPr>
        <p:spPr>
          <a:xfrm>
            <a:off x="320040" y="5010912"/>
            <a:ext cx="5257800" cy="274320"/>
          </a:xfrm>
          <a:prstGeom prst="rect">
            <a:avLst/>
          </a:prstGeom>
          <a:noFill/>
          <a:ln/>
        </p:spPr>
        <p:txBody>
          <a:bodyPr wrap="square" lIns="0" tIns="0" rIns="0" bIns="0" rtlCol="0" anchor="ctr"/>
          <a:lstStyle/>
          <a:p>
            <a:pPr algn="ctr" indent="0" marL="0">
              <a:buNone/>
            </a:pPr>
            <a:r>
              <a:rPr lang="en-US" sz="1000" i="1" dirty="0">
                <a:solidFill>
                  <a:schemeClr val="accent2"/>
                </a:solidFill>
              </a:rPr>
              <a:t>GE Vernova booking out to 2031; Siemens lead times 3+ years</a:t>
            </a:r>
            <a:endParaRPr lang="en-US" sz="1000" dirty="0"/>
          </a:p>
        </p:txBody>
      </p:sp>
      <p:sp>
        <p:nvSpPr>
          <p:cNvPr id="13" name="Power stats header"/>
          <p:cNvSpPr txBox="1"/>
          <p:nvPr/>
        </p:nvSpPr>
        <p:spPr>
          <a:xfrm>
            <a:off x="5897880" y="1554480"/>
            <a:ext cx="2926080" cy="365760"/>
          </a:xfrm>
          <a:prstGeom prst="rect">
            <a:avLst/>
          </a:prstGeom>
          <a:noFill/>
          <a:ln/>
        </p:spPr>
        <p:txBody>
          <a:bodyPr wrap="square" lIns="0" tIns="0" rIns="0" bIns="0" rtlCol="0" anchor="b"/>
          <a:lstStyle/>
          <a:p>
            <a:pPr algn="ctr" indent="0" marL="0">
              <a:buNone/>
            </a:pPr>
            <a:r>
              <a:rPr lang="en-US" sz="1600" b="1" dirty="0">
                <a:solidFill>
                  <a:srgbClr val="1A1A1A"/>
                </a:solidFill>
              </a:rPr>
              <a:t>FTAI Power at a Glance</a:t>
            </a:r>
            <a:endParaRPr lang="en-US" sz="1600" dirty="0"/>
          </a:p>
        </p:txBody>
      </p:sp>
      <p:sp>
        <p:nvSpPr>
          <p:cNvPr id="14" name="Power stats header rule"/>
          <p:cNvSpPr/>
          <p:nvPr/>
        </p:nvSpPr>
        <p:spPr>
          <a:xfrm>
            <a:off x="5897880" y="1975104"/>
            <a:ext cx="2926080" cy="0"/>
          </a:xfrm>
          <a:prstGeom prst="line">
            <a:avLst/>
          </a:prstGeom>
          <a:noFill/>
          <a:ln w="12700">
            <a:solidFill>
              <a:srgbClr val="1A1A1A"/>
            </a:solidFill>
            <a:prstDash val="solid"/>
          </a:ln>
        </p:spPr>
      </p:sp>
      <p:sp>
        <p:nvSpPr>
          <p:cNvPr id="15" name="Power stat 1"/>
          <p:cNvSpPr txBox="1"/>
          <p:nvPr/>
        </p:nvSpPr>
        <p:spPr>
          <a:xfrm>
            <a:off x="5897880" y="2148840"/>
            <a:ext cx="2926080" cy="530352"/>
          </a:xfrm>
          <a:prstGeom prst="rect">
            <a:avLst/>
          </a:prstGeom>
          <a:noFill/>
          <a:ln/>
        </p:spPr>
        <p:txBody>
          <a:bodyPr wrap="square" lIns="0" tIns="0" rIns="0" bIns="0" rtlCol="0" anchor="b"/>
          <a:lstStyle/>
          <a:p>
            <a:pPr algn="ctr" indent="0" marL="0">
              <a:buNone/>
            </a:pPr>
            <a:r>
              <a:rPr lang="en-US" sz="3000" b="1" dirty="0">
                <a:solidFill>
                  <a:schemeClr val="tx2"/>
                </a:solidFill>
              </a:rPr>
              <a:t>$1.465B</a:t>
            </a:r>
            <a:endParaRPr lang="en-US" sz="3000" dirty="0"/>
          </a:p>
        </p:txBody>
      </p:sp>
      <p:sp>
        <p:nvSpPr>
          <p:cNvPr id="16" name="Power stat 1 label"/>
          <p:cNvSpPr txBox="1"/>
          <p:nvPr/>
        </p:nvSpPr>
        <p:spPr>
          <a:xfrm>
            <a:off x="5897880" y="2697480"/>
            <a:ext cx="2926080" cy="320040"/>
          </a:xfrm>
          <a:prstGeom prst="rect">
            <a:avLst/>
          </a:prstGeom>
          <a:noFill/>
          <a:ln/>
        </p:spPr>
        <p:txBody>
          <a:bodyPr wrap="square" lIns="0" tIns="0" rIns="0" bIns="0" rtlCol="0" anchor="t"/>
          <a:lstStyle/>
          <a:p>
            <a:pPr algn="ctr" indent="0" marL="0">
              <a:buNone/>
            </a:pPr>
            <a:r>
              <a:rPr lang="en-US" sz="1300" dirty="0">
                <a:solidFill>
                  <a:schemeClr val="accent2"/>
                </a:solidFill>
              </a:rPr>
              <a:t>First hyperscaler order, via the J&amp;F JV</a:t>
            </a:r>
            <a:endParaRPr lang="en-US" sz="1300" dirty="0"/>
          </a:p>
        </p:txBody>
      </p:sp>
      <p:sp>
        <p:nvSpPr>
          <p:cNvPr id="17" name="Power stat 2"/>
          <p:cNvSpPr txBox="1"/>
          <p:nvPr/>
        </p:nvSpPr>
        <p:spPr>
          <a:xfrm>
            <a:off x="5897880" y="3227832"/>
            <a:ext cx="2926080" cy="530352"/>
          </a:xfrm>
          <a:prstGeom prst="rect">
            <a:avLst/>
          </a:prstGeom>
          <a:noFill/>
          <a:ln/>
        </p:spPr>
        <p:txBody>
          <a:bodyPr wrap="square" lIns="0" tIns="0" rIns="0" bIns="0" rtlCol="0" anchor="b"/>
          <a:lstStyle/>
          <a:p>
            <a:pPr algn="ctr" indent="0" marL="0">
              <a:buNone/>
            </a:pPr>
            <a:r>
              <a:rPr lang="en-US" sz="3000" b="1" dirty="0">
                <a:solidFill>
                  <a:schemeClr val="tx2"/>
                </a:solidFill>
              </a:rPr>
              <a:t>$450–750M</a:t>
            </a:r>
            <a:endParaRPr lang="en-US" sz="3000" dirty="0"/>
          </a:p>
        </p:txBody>
      </p:sp>
      <p:sp>
        <p:nvSpPr>
          <p:cNvPr id="18" name="Power stat 2 label"/>
          <p:cNvSpPr txBox="1"/>
          <p:nvPr/>
        </p:nvSpPr>
        <p:spPr>
          <a:xfrm>
            <a:off x="5897880" y="3776472"/>
            <a:ext cx="2926080" cy="320040"/>
          </a:xfrm>
          <a:prstGeom prst="rect">
            <a:avLst/>
          </a:prstGeom>
          <a:noFill/>
          <a:ln/>
        </p:spPr>
        <p:txBody>
          <a:bodyPr wrap="square" lIns="0" tIns="0" rIns="0" bIns="0" rtlCol="0" anchor="t"/>
          <a:lstStyle/>
          <a:p>
            <a:pPr algn="ctr" indent="0" marL="0">
              <a:buNone/>
            </a:pPr>
            <a:r>
              <a:rPr lang="en-US" sz="1300" dirty="0">
                <a:solidFill>
                  <a:schemeClr val="accent2"/>
                </a:solidFill>
              </a:rPr>
              <a:t>FY27 Power EBITDA guide</a:t>
            </a:r>
            <a:endParaRPr lang="en-US" sz="1300" dirty="0"/>
          </a:p>
        </p:txBody>
      </p:sp>
      <p:sp>
        <p:nvSpPr>
          <p:cNvPr id="19" name="Power stat 3"/>
          <p:cNvSpPr txBox="1"/>
          <p:nvPr/>
        </p:nvSpPr>
        <p:spPr>
          <a:xfrm>
            <a:off x="5897880" y="4306824"/>
            <a:ext cx="2926080" cy="530352"/>
          </a:xfrm>
          <a:prstGeom prst="rect">
            <a:avLst/>
          </a:prstGeom>
          <a:noFill/>
          <a:ln/>
        </p:spPr>
        <p:txBody>
          <a:bodyPr wrap="square" lIns="0" tIns="0" rIns="0" bIns="0" rtlCol="0" anchor="b"/>
          <a:lstStyle/>
          <a:p>
            <a:pPr algn="ctr" indent="0" marL="0">
              <a:buNone/>
            </a:pPr>
            <a:r>
              <a:rPr lang="en-US" sz="3000" b="1" dirty="0">
                <a:solidFill>
                  <a:schemeClr val="tx2"/>
                </a:solidFill>
              </a:rPr>
              <a:t>25 MW</a:t>
            </a:r>
            <a:endParaRPr lang="en-US" sz="3000" dirty="0"/>
          </a:p>
        </p:txBody>
      </p:sp>
      <p:sp>
        <p:nvSpPr>
          <p:cNvPr id="20" name="Power stat 3 label"/>
          <p:cNvSpPr txBox="1"/>
          <p:nvPr/>
        </p:nvSpPr>
        <p:spPr>
          <a:xfrm>
            <a:off x="5897880" y="4855464"/>
            <a:ext cx="2926080" cy="320040"/>
          </a:xfrm>
          <a:prstGeom prst="rect">
            <a:avLst/>
          </a:prstGeom>
          <a:noFill/>
          <a:ln/>
        </p:spPr>
        <p:txBody>
          <a:bodyPr wrap="square" lIns="0" tIns="0" rIns="0" bIns="0" rtlCol="0" anchor="t"/>
          <a:lstStyle/>
          <a:p>
            <a:pPr algn="ctr" indent="0" marL="0">
              <a:buNone/>
            </a:pPr>
            <a:r>
              <a:rPr lang="en-US" sz="1300" dirty="0">
                <a:solidFill>
                  <a:schemeClr val="accent2"/>
                </a:solidFill>
              </a:rPr>
              <a:t>Per unit, built from CFM56 cores</a:t>
            </a:r>
            <a:endParaRPr lang="en-US" sz="1300" dirty="0"/>
          </a:p>
        </p:txBody>
      </p:sp>
      <p:sp>
        <p:nvSpPr>
          <p:cNvPr id="21"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Even with Power at zero, FTAI is cheap. Power is a free call option on top.</a:t>
            </a:r>
            <a:endParaRPr lang="en-US" sz="1700" dirty="0"/>
          </a:p>
        </p:txBody>
      </p:sp>
      <p:sp>
        <p:nvSpPr>
          <p:cNvPr id="22"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GE Vernova, Siemens Energy and MHI results, mid-2025 vs. mid-2026 (via Utility Dive, Industrial Info); FTAI filings</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Returns Summary</a:t>
            </a:r>
            <a:endParaRPr lang="en-US" sz="3200" dirty="0"/>
          </a:p>
        </p:txBody>
      </p:sp>
      <p:sp>
        <p:nvSpPr>
          <p:cNvPr id="3" name="Headline banner"/>
          <p:cNvSpPr txBox="1"/>
          <p:nvPr/>
        </p:nvSpPr>
        <p:spPr>
          <a:xfrm>
            <a:off x="320040" y="1024128"/>
            <a:ext cx="8503920" cy="512064"/>
          </a:xfrm>
          <a:prstGeom prst="rect">
            <a:avLst/>
          </a:prstGeom>
          <a:solidFill>
            <a:srgbClr val="0A1C58"/>
          </a:solidFill>
          <a:ln/>
        </p:spPr>
        <p:txBody>
          <a:bodyPr wrap="square" lIns="0" tIns="0" rIns="0" bIns="0" rtlCol="0" anchor="ctr"/>
          <a:lstStyle/>
          <a:p>
            <a:pPr algn="ctr" indent="0" marL="0">
              <a:buNone/>
            </a:pPr>
            <a:r>
              <a:rPr lang="en-US" sz="1700" b="1" dirty="0">
                <a:solidFill>
                  <a:schemeClr val="bg1"/>
                </a:solidFill>
              </a:rPr>
              <a:t>At $167, the market prices the bear case. Our three theses add $110 of upside.</a:t>
            </a:r>
            <a:endParaRPr lang="en-US" sz="1700" dirty="0"/>
          </a:p>
        </p:txBody>
      </p:sp>
      <p:sp>
        <p:nvSpPr>
          <p:cNvPr id="4" name="Sub banner"/>
          <p:cNvSpPr txBox="1"/>
          <p:nvPr/>
        </p:nvSpPr>
        <p:spPr>
          <a:xfrm>
            <a:off x="320040" y="1627632"/>
            <a:ext cx="8503920" cy="384048"/>
          </a:xfrm>
          <a:prstGeom prst="rect">
            <a:avLst/>
          </a:prstGeom>
          <a:solidFill>
            <a:srgbClr val="0A1C58"/>
          </a:solidFill>
          <a:ln/>
        </p:spPr>
        <p:txBody>
          <a:bodyPr wrap="square" lIns="0" tIns="0" rIns="0" bIns="0" rtlCol="0" anchor="ctr"/>
          <a:lstStyle/>
          <a:p>
            <a:pPr algn="ctr" indent="0" marL="0">
              <a:buNone/>
            </a:pPr>
            <a:r>
              <a:rPr lang="en-US" sz="1600" dirty="0">
                <a:solidFill>
                  <a:schemeClr val="bg1"/>
                </a:solidFill>
              </a:rPr>
              <a:t>What Each Thesis Adds to the Target Price</a:t>
            </a:r>
            <a:endParaRPr lang="en-US" sz="1600" dirty="0"/>
          </a:p>
        </p:txBody>
      </p:sp>
      <p:sp>
        <p:nvSpPr>
          <p:cNvPr id="5" name="Thesis 1 box"/>
          <p:cNvSpPr txBox="1"/>
          <p:nvPr/>
        </p:nvSpPr>
        <p:spPr>
          <a:xfrm>
            <a:off x="320040" y="2176272"/>
            <a:ext cx="5623560" cy="859536"/>
          </a:xfrm>
          <a:prstGeom prst="rect">
            <a:avLst/>
          </a:prstGeom>
          <a:noFill/>
          <a:ln w="12700">
            <a:solidFill>
              <a:srgbClr val="1A1A1A"/>
            </a:solidFill>
            <a:prstDash val="dash"/>
          </a:ln>
        </p:spPr>
        <p:txBody>
          <a:bodyPr wrap="square" lIns="101600" tIns="38100" rIns="101600" bIns="38100" rtlCol="0" anchor="ctr"/>
          <a:lstStyle/>
          <a:p>
            <a:pPr algn="ctr" indent="0" marL="0">
              <a:buNone/>
            </a:pPr>
            <a:r>
              <a:rPr lang="en-US" sz="1500" b="1" dirty="0">
                <a:solidFill>
                  <a:schemeClr val="tx2"/>
                </a:solidFill>
              </a:rPr>
              <a:t>Thesis 1a) Margins Have Bottomed</a:t>
            </a:r>
            <a:endParaRPr lang="en-US" sz="1500" dirty="0"/>
          </a:p>
          <a:p>
            <a:pPr algn="ctr" indent="0" marL="0">
              <a:buNone/>
            </a:pPr>
            <a:r>
              <a:rPr lang="en-US" sz="1200" dirty="0">
                <a:solidFill>
                  <a:srgbClr val="1A1A1A"/>
                </a:solidFill>
              </a:rPr>
              <a:t>PMA parts, OEM-linked pricing and technician productivity lift Aerospace margins from ~30% to ~32.5% by FY31.</a:t>
            </a:r>
            <a:endParaRPr lang="en-US" sz="1500" dirty="0"/>
          </a:p>
        </p:txBody>
      </p:sp>
      <p:sp>
        <p:nvSpPr>
          <p:cNvPr id="6" name="Thesis 1 contribution"/>
          <p:cNvSpPr txBox="1"/>
          <p:nvPr/>
        </p:nvSpPr>
        <p:spPr>
          <a:xfrm>
            <a:off x="6583680" y="2176272"/>
            <a:ext cx="2240280" cy="859536"/>
          </a:xfrm>
          <a:prstGeom prst="rect">
            <a:avLst/>
          </a:prstGeom>
          <a:noFill/>
          <a:ln/>
        </p:spPr>
        <p:txBody>
          <a:bodyPr wrap="square" lIns="0" tIns="0" rIns="0" bIns="0" rtlCol="0" anchor="ctr"/>
          <a:lstStyle/>
          <a:p>
            <a:pPr algn="ctr" indent="0" marL="0">
              <a:buNone/>
            </a:pPr>
            <a:r>
              <a:rPr lang="en-US" sz="1300" b="1" dirty="0">
                <a:solidFill>
                  <a:srgbClr val="1A1A1A"/>
                </a:solidFill>
              </a:rPr>
              <a:t>Contribution:</a:t>
            </a:r>
            <a:endParaRPr lang="en-US" sz="1300" dirty="0"/>
          </a:p>
          <a:p>
            <a:pPr algn="ctr" indent="0" marL="0">
              <a:buNone/>
            </a:pPr>
            <a:r>
              <a:rPr lang="en-US" sz="2400" b="1" dirty="0">
                <a:solidFill>
                  <a:schemeClr val="tx2"/>
                </a:solidFill>
              </a:rPr>
              <a:t>+$17</a:t>
            </a:r>
            <a:endParaRPr lang="en-US" sz="1300" dirty="0"/>
          </a:p>
          <a:p>
            <a:pPr algn="ctr" indent="0" marL="0">
              <a:buNone/>
            </a:pPr>
            <a:r>
              <a:rPr lang="en-US" sz="1200" dirty="0">
                <a:solidFill>
                  <a:schemeClr val="accent2"/>
                </a:solidFill>
              </a:rPr>
              <a:t>+10% upside</a:t>
            </a:r>
            <a:endParaRPr lang="en-US" sz="1300" dirty="0"/>
          </a:p>
        </p:txBody>
      </p:sp>
      <p:sp>
        <p:nvSpPr>
          <p:cNvPr id="7" name="Thesis 2 box"/>
          <p:cNvSpPr txBox="1"/>
          <p:nvPr/>
        </p:nvSpPr>
        <p:spPr>
          <a:xfrm>
            <a:off x="320040" y="3145536"/>
            <a:ext cx="5623560" cy="859536"/>
          </a:xfrm>
          <a:prstGeom prst="rect">
            <a:avLst/>
          </a:prstGeom>
          <a:noFill/>
          <a:ln w="12700">
            <a:solidFill>
              <a:srgbClr val="1A1A1A"/>
            </a:solidFill>
            <a:prstDash val="dash"/>
          </a:ln>
        </p:spPr>
        <p:txBody>
          <a:bodyPr wrap="square" lIns="101600" tIns="38100" rIns="101600" bIns="38100" rtlCol="0" anchor="ctr"/>
          <a:lstStyle/>
          <a:p>
            <a:pPr algn="ctr" indent="0" marL="0">
              <a:buNone/>
            </a:pPr>
            <a:r>
              <a:rPr lang="en-US" sz="1500" b="1" dirty="0">
                <a:solidFill>
                  <a:schemeClr val="tx2"/>
                </a:solidFill>
              </a:rPr>
              <a:t>Thesis 1b) Volume Grows With Share</a:t>
            </a:r>
            <a:endParaRPr lang="en-US" sz="1500" dirty="0"/>
          </a:p>
          <a:p>
            <a:pPr algn="ctr" indent="0" marL="0">
              <a:buNone/>
            </a:pPr>
            <a:r>
              <a:rPr lang="en-US" sz="1200" dirty="0">
                <a:solidFill>
                  <a:srgbClr val="1A1A1A"/>
                </a:solidFill>
              </a:rPr>
              <a:t>New capacity, OEMs moving to LEAP and faster turnaround lift FTAI's CFM56 module share from ~12% to 20% by FY30.</a:t>
            </a:r>
            <a:endParaRPr lang="en-US" sz="1500" dirty="0"/>
          </a:p>
        </p:txBody>
      </p:sp>
      <p:sp>
        <p:nvSpPr>
          <p:cNvPr id="8" name="Thesis 2 contribution"/>
          <p:cNvSpPr txBox="1"/>
          <p:nvPr/>
        </p:nvSpPr>
        <p:spPr>
          <a:xfrm>
            <a:off x="6583680" y="3145536"/>
            <a:ext cx="2240280" cy="859536"/>
          </a:xfrm>
          <a:prstGeom prst="rect">
            <a:avLst/>
          </a:prstGeom>
          <a:noFill/>
          <a:ln/>
        </p:spPr>
        <p:txBody>
          <a:bodyPr wrap="square" lIns="0" tIns="0" rIns="0" bIns="0" rtlCol="0" anchor="ctr"/>
          <a:lstStyle/>
          <a:p>
            <a:pPr algn="ctr" indent="0" marL="0">
              <a:buNone/>
            </a:pPr>
            <a:r>
              <a:rPr lang="en-US" sz="1300" b="1" dirty="0">
                <a:solidFill>
                  <a:srgbClr val="1A1A1A"/>
                </a:solidFill>
              </a:rPr>
              <a:t>Contribution:</a:t>
            </a:r>
            <a:endParaRPr lang="en-US" sz="1300" dirty="0"/>
          </a:p>
          <a:p>
            <a:pPr algn="ctr" indent="0" marL="0">
              <a:buNone/>
            </a:pPr>
            <a:r>
              <a:rPr lang="en-US" sz="2400" b="1" dirty="0">
                <a:solidFill>
                  <a:schemeClr val="tx2"/>
                </a:solidFill>
              </a:rPr>
              <a:t>+$33</a:t>
            </a:r>
            <a:endParaRPr lang="en-US" sz="1300" dirty="0"/>
          </a:p>
          <a:p>
            <a:pPr algn="ctr" indent="0" marL="0">
              <a:buNone/>
            </a:pPr>
            <a:r>
              <a:rPr lang="en-US" sz="1200" dirty="0">
                <a:solidFill>
                  <a:schemeClr val="accent2"/>
                </a:solidFill>
              </a:rPr>
              <a:t>+20% upside</a:t>
            </a:r>
            <a:endParaRPr lang="en-US" sz="1300" dirty="0"/>
          </a:p>
        </p:txBody>
      </p:sp>
      <p:sp>
        <p:nvSpPr>
          <p:cNvPr id="9" name="Thesis 3 box"/>
          <p:cNvSpPr txBox="1"/>
          <p:nvPr/>
        </p:nvSpPr>
        <p:spPr>
          <a:xfrm>
            <a:off x="320040" y="4114800"/>
            <a:ext cx="5623560" cy="859536"/>
          </a:xfrm>
          <a:prstGeom prst="rect">
            <a:avLst/>
          </a:prstGeom>
          <a:noFill/>
          <a:ln w="12700">
            <a:solidFill>
              <a:srgbClr val="1A1A1A"/>
            </a:solidFill>
            <a:prstDash val="dash"/>
          </a:ln>
        </p:spPr>
        <p:txBody>
          <a:bodyPr wrap="square" lIns="101600" tIns="38100" rIns="101600" bIns="38100" rtlCol="0" anchor="ctr"/>
          <a:lstStyle/>
          <a:p>
            <a:pPr algn="ctr" indent="0" marL="0">
              <a:buNone/>
            </a:pPr>
            <a:r>
              <a:rPr lang="en-US" sz="1500" b="1" dirty="0">
                <a:solidFill>
                  <a:schemeClr val="tx2"/>
                </a:solidFill>
              </a:rPr>
              <a:t>Thesis 2) Power Is a Call Option</a:t>
            </a:r>
            <a:endParaRPr lang="en-US" sz="1500" dirty="0"/>
          </a:p>
          <a:p>
            <a:pPr algn="ctr" indent="0" marL="0">
              <a:buNone/>
            </a:pPr>
            <a:r>
              <a:rPr lang="en-US" sz="1200" dirty="0">
                <a:solidFill>
                  <a:srgbClr val="1A1A1A"/>
                </a:solidFill>
              </a:rPr>
              <a:t>Mod-1 deliveries ramp from 45 units in FY27 to 110 by FY29 at ~40% EBITDA margins.</a:t>
            </a:r>
            <a:endParaRPr lang="en-US" sz="1500" dirty="0"/>
          </a:p>
        </p:txBody>
      </p:sp>
      <p:sp>
        <p:nvSpPr>
          <p:cNvPr id="10" name="Thesis 3 contribution"/>
          <p:cNvSpPr txBox="1"/>
          <p:nvPr/>
        </p:nvSpPr>
        <p:spPr>
          <a:xfrm>
            <a:off x="6583680" y="4114800"/>
            <a:ext cx="2240280" cy="859536"/>
          </a:xfrm>
          <a:prstGeom prst="rect">
            <a:avLst/>
          </a:prstGeom>
          <a:noFill/>
          <a:ln/>
        </p:spPr>
        <p:txBody>
          <a:bodyPr wrap="square" lIns="0" tIns="0" rIns="0" bIns="0" rtlCol="0" anchor="ctr"/>
          <a:lstStyle/>
          <a:p>
            <a:pPr algn="ctr" indent="0" marL="0">
              <a:buNone/>
            </a:pPr>
            <a:r>
              <a:rPr lang="en-US" sz="1300" b="1" dirty="0">
                <a:solidFill>
                  <a:srgbClr val="1A1A1A"/>
                </a:solidFill>
              </a:rPr>
              <a:t>Contribution:</a:t>
            </a:r>
            <a:endParaRPr lang="en-US" sz="1300" dirty="0"/>
          </a:p>
          <a:p>
            <a:pPr algn="ctr" indent="0" marL="0">
              <a:buNone/>
            </a:pPr>
            <a:r>
              <a:rPr lang="en-US" sz="2400" b="1" dirty="0">
                <a:solidFill>
                  <a:schemeClr val="tx2"/>
                </a:solidFill>
              </a:rPr>
              <a:t>+$55</a:t>
            </a:r>
            <a:endParaRPr lang="en-US" sz="1300" dirty="0"/>
          </a:p>
          <a:p>
            <a:pPr algn="ctr" indent="0" marL="0">
              <a:buNone/>
            </a:pPr>
            <a:r>
              <a:rPr lang="en-US" sz="1200" dirty="0">
                <a:solidFill>
                  <a:schemeClr val="accent2"/>
                </a:solidFill>
              </a:rPr>
              <a:t>+33% upside</a:t>
            </a:r>
            <a:endParaRPr lang="en-US" sz="1300" dirty="0"/>
          </a:p>
        </p:txBody>
      </p:sp>
      <p:sp>
        <p:nvSpPr>
          <p:cNvPr id="11" name="Chevron"/>
          <p:cNvSpPr/>
          <p:nvPr/>
        </p:nvSpPr>
        <p:spPr>
          <a:xfrm>
            <a:off x="6053328" y="2176272"/>
            <a:ext cx="420624" cy="2798064"/>
          </a:xfrm>
          <a:prstGeom prst="chevron">
            <a:avLst/>
          </a:prstGeom>
          <a:solidFill>
            <a:srgbClr val="DCD8D3"/>
          </a:solidFill>
          <a:ln/>
        </p:spPr>
      </p:sp>
      <p:sp>
        <p:nvSpPr>
          <p:cNvPr id="12" name="Baseline note"/>
          <p:cNvSpPr txBox="1"/>
          <p:nvPr/>
        </p:nvSpPr>
        <p:spPr>
          <a:xfrm>
            <a:off x="320040" y="5120640"/>
            <a:ext cx="8503920" cy="274320"/>
          </a:xfrm>
          <a:prstGeom prst="rect">
            <a:avLst/>
          </a:prstGeom>
          <a:noFill/>
          <a:ln/>
        </p:spPr>
        <p:txBody>
          <a:bodyPr wrap="square" lIns="0" tIns="0" rIns="0" bIns="0" rtlCol="0" anchor="ctr"/>
          <a:lstStyle/>
          <a:p>
            <a:pPr algn="ctr" indent="0" marL="0">
              <a:buNone/>
            </a:pPr>
            <a:r>
              <a:rPr lang="en-US" sz="1200" dirty="0">
                <a:solidFill>
                  <a:schemeClr val="accent2"/>
                </a:solidFill>
              </a:rPr>
              <a:t>Bear case (bear margins and share, no Power) is worth $172 on our SOTP, just above today's $167.</a:t>
            </a:r>
            <a:endParaRPr lang="en-US" sz="1200" dirty="0"/>
          </a:p>
        </p:txBody>
      </p:sp>
      <p:sp>
        <p:nvSpPr>
          <p:cNvPr id="13" name="Base case bridge"/>
          <p:cNvSpPr txBox="1"/>
          <p:nvPr/>
        </p:nvSpPr>
        <p:spPr>
          <a:xfrm>
            <a:off x="320040" y="5468112"/>
            <a:ext cx="8503920" cy="512064"/>
          </a:xfrm>
          <a:prstGeom prst="rect">
            <a:avLst/>
          </a:prstGeom>
          <a:solidFill>
            <a:srgbClr val="EFEDEA"/>
          </a:solidFill>
          <a:ln w="15875">
            <a:solidFill>
              <a:srgbClr val="0A1C58"/>
            </a:solidFill>
          </a:ln>
        </p:spPr>
        <p:txBody>
          <a:bodyPr wrap="square" lIns="0" tIns="0" rIns="0" bIns="0" rtlCol="0" anchor="ctr"/>
          <a:lstStyle/>
          <a:p>
            <a:pPr algn="ctr" indent="0" marL="0">
              <a:buNone/>
            </a:pPr>
            <a:r>
              <a:rPr lang="en-US" sz="1300" dirty="0">
                <a:solidFill>
                  <a:srgbClr val="1A1A1A"/>
                </a:solidFill>
              </a:rPr>
              <a:t>$167 today + $5 to bear value + $17 margins + $33 volume + $55 Power = </a:t>
            </a:r>
            <a:pPr algn="ctr" indent="0" marL="0">
              <a:buNone/>
            </a:pPr>
            <a:r>
              <a:rPr lang="en-US" sz="1300" b="1" dirty="0">
                <a:solidFill>
                  <a:srgbClr val="1A1A1A"/>
                </a:solidFill>
              </a:rPr>
              <a:t>$277 SOTP</a:t>
            </a:r>
            <a:pPr algn="ctr" indent="0" marL="0">
              <a:buNone/>
            </a:pPr>
            <a:r>
              <a:rPr lang="en-US" sz="1300" dirty="0">
                <a:solidFill>
                  <a:srgbClr val="1A1A1A"/>
                </a:solidFill>
              </a:rPr>
              <a:t> (+66%)</a:t>
            </a:r>
            <a:endParaRPr lang="en-US" sz="1300" dirty="0"/>
          </a:p>
        </p:txBody>
      </p:sp>
      <p:sp>
        <p:nvSpPr>
          <p:cNvPr id="14"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model: base-case FY27E SOTP; thesis drivers switched Bear vs. Base (Power off = 0 units), Shapley average</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Business Overview (1/2)</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FTAI keeps the world's best-selling jet engine flying, and turns old ones into power.</a:t>
            </a:r>
            <a:endParaRPr lang="en-US" sz="1700" dirty="0"/>
          </a:p>
        </p:txBody>
      </p:sp>
      <p:pic>
        <p:nvPicPr>
          <p:cNvPr id="4" name="Aerospace Products illustration" descr="/home/user/SPOT/deck/img/cfm56.png">    </p:cNvPr>
          <p:cNvPicPr>
            <a:picLocks noChangeAspect="1"/>
          </p:cNvPicPr>
          <p:nvPr/>
        </p:nvPicPr>
        <p:blipFill>
          <a:blip r:embed="rId1"/>
          <a:stretch>
            <a:fillRect/>
          </a:stretch>
        </p:blipFill>
        <p:spPr>
          <a:xfrm>
            <a:off x="457200" y="1600200"/>
            <a:ext cx="2377440" cy="1344168"/>
          </a:xfrm>
          <a:prstGeom prst="rect">
            <a:avLst/>
          </a:prstGeom>
        </p:spPr>
      </p:pic>
      <p:sp>
        <p:nvSpPr>
          <p:cNvPr id="5" name="Aerospace Products name"/>
          <p:cNvSpPr txBox="1"/>
          <p:nvPr/>
        </p:nvSpPr>
        <p:spPr>
          <a:xfrm>
            <a:off x="320040" y="3035808"/>
            <a:ext cx="2651760" cy="365760"/>
          </a:xfrm>
          <a:prstGeom prst="rect">
            <a:avLst/>
          </a:prstGeom>
          <a:noFill/>
          <a:ln/>
        </p:spPr>
        <p:txBody>
          <a:bodyPr wrap="square" lIns="0" tIns="0" rIns="0" bIns="0" rtlCol="0" anchor="ctr"/>
          <a:lstStyle/>
          <a:p>
            <a:pPr algn="ctr" indent="0" marL="0">
              <a:buNone/>
            </a:pPr>
            <a:r>
              <a:rPr lang="en-US" sz="1800" b="1" dirty="0">
                <a:solidFill>
                  <a:schemeClr val="tx2"/>
                </a:solidFill>
              </a:rPr>
              <a:t>Aerospace Products</a:t>
            </a:r>
            <a:endParaRPr lang="en-US" sz="1800" dirty="0"/>
          </a:p>
        </p:txBody>
      </p:sp>
      <p:sp>
        <p:nvSpPr>
          <p:cNvPr id="6" name="Aerospace Products description"/>
          <p:cNvSpPr txBox="1"/>
          <p:nvPr/>
        </p:nvSpPr>
        <p:spPr>
          <a:xfrm>
            <a:off x="320040" y="3429000"/>
            <a:ext cx="2651760" cy="914400"/>
          </a:xfrm>
          <a:prstGeom prst="rect">
            <a:avLst/>
          </a:prstGeom>
          <a:noFill/>
          <a:ln/>
        </p:spPr>
        <p:txBody>
          <a:bodyPr wrap="square" lIns="0" tIns="0" rIns="0" bIns="0" rtlCol="0" anchor="t"/>
          <a:lstStyle/>
          <a:p>
            <a:pPr algn="ctr" indent="0" marL="0">
              <a:buNone/>
            </a:pPr>
            <a:r>
              <a:rPr lang="en-US" sz="1300" dirty="0">
                <a:solidFill>
                  <a:srgbClr val="1A1A1A"/>
                </a:solidFill>
              </a:rPr>
              <a:t>Restores and swaps CFM56 engine modules, so airlines get engines back in days, not months.</a:t>
            </a:r>
            <a:endParaRPr lang="en-US" sz="1300" dirty="0"/>
          </a:p>
        </p:txBody>
      </p:sp>
      <p:sp>
        <p:nvSpPr>
          <p:cNvPr id="7" name="Aerospace Products stat"/>
          <p:cNvSpPr txBox="1"/>
          <p:nvPr/>
        </p:nvSpPr>
        <p:spPr>
          <a:xfrm>
            <a:off x="502920" y="4434840"/>
            <a:ext cx="2286000" cy="868680"/>
          </a:xfrm>
          <a:prstGeom prst="rect">
            <a:avLst/>
          </a:prstGeom>
          <a:solidFill>
            <a:srgbClr val="EFEDEA"/>
          </a:solidFill>
          <a:ln/>
        </p:spPr>
        <p:txBody>
          <a:bodyPr wrap="square" lIns="0" tIns="0" rIns="0" bIns="0" rtlCol="0" anchor="ctr"/>
          <a:lstStyle/>
          <a:p>
            <a:pPr algn="ctr" indent="0" marL="0">
              <a:buNone/>
            </a:pPr>
            <a:r>
              <a:rPr lang="en-US" sz="2200" b="1" dirty="0">
                <a:solidFill>
                  <a:schemeClr val="tx2"/>
                </a:solidFill>
              </a:rPr>
              <a:t>757 → 1,200</a:t>
            </a:r>
            <a:endParaRPr lang="en-US" sz="2200" dirty="0"/>
          </a:p>
          <a:p>
            <a:pPr algn="ctr" indent="0" marL="0">
              <a:buNone/>
            </a:pPr>
            <a:r>
              <a:rPr lang="en-US" sz="1200" dirty="0">
                <a:solidFill>
                  <a:schemeClr val="accent2"/>
                </a:solidFill>
              </a:rPr>
              <a:t>Modules, 2025 → 2026E</a:t>
            </a:r>
            <a:endParaRPr lang="en-US" sz="2200" dirty="0"/>
          </a:p>
        </p:txBody>
      </p:sp>
      <p:pic>
        <p:nvPicPr>
          <p:cNvPr id="8" name="FTAI Power illustration" descr="/home/user/SPOT/deck/img/power.png">    </p:cNvPr>
          <p:cNvPicPr>
            <a:picLocks noChangeAspect="1"/>
          </p:cNvPicPr>
          <p:nvPr/>
        </p:nvPicPr>
        <p:blipFill>
          <a:blip r:embed="rId2"/>
          <a:stretch>
            <a:fillRect/>
          </a:stretch>
        </p:blipFill>
        <p:spPr>
          <a:xfrm>
            <a:off x="3383280" y="1600200"/>
            <a:ext cx="2377440" cy="1344168"/>
          </a:xfrm>
          <a:prstGeom prst="rect">
            <a:avLst/>
          </a:prstGeom>
        </p:spPr>
      </p:pic>
      <p:sp>
        <p:nvSpPr>
          <p:cNvPr id="9" name="FTAI Power name"/>
          <p:cNvSpPr txBox="1"/>
          <p:nvPr/>
        </p:nvSpPr>
        <p:spPr>
          <a:xfrm>
            <a:off x="3246120" y="3035808"/>
            <a:ext cx="2651760" cy="365760"/>
          </a:xfrm>
          <a:prstGeom prst="rect">
            <a:avLst/>
          </a:prstGeom>
          <a:noFill/>
          <a:ln/>
        </p:spPr>
        <p:txBody>
          <a:bodyPr wrap="square" lIns="0" tIns="0" rIns="0" bIns="0" rtlCol="0" anchor="ctr"/>
          <a:lstStyle/>
          <a:p>
            <a:pPr algn="ctr" indent="0" marL="0">
              <a:buNone/>
            </a:pPr>
            <a:r>
              <a:rPr lang="en-US" sz="1800" b="1" dirty="0">
                <a:solidFill>
                  <a:schemeClr val="tx2"/>
                </a:solidFill>
              </a:rPr>
              <a:t>FTAI Power</a:t>
            </a:r>
            <a:endParaRPr lang="en-US" sz="1800" dirty="0"/>
          </a:p>
        </p:txBody>
      </p:sp>
      <p:sp>
        <p:nvSpPr>
          <p:cNvPr id="10" name="FTAI Power description"/>
          <p:cNvSpPr txBox="1"/>
          <p:nvPr/>
        </p:nvSpPr>
        <p:spPr>
          <a:xfrm>
            <a:off x="3246120" y="3429000"/>
            <a:ext cx="2651760" cy="914400"/>
          </a:xfrm>
          <a:prstGeom prst="rect">
            <a:avLst/>
          </a:prstGeom>
          <a:noFill/>
          <a:ln/>
        </p:spPr>
        <p:txBody>
          <a:bodyPr wrap="square" lIns="0" tIns="0" rIns="0" bIns="0" rtlCol="0" anchor="t"/>
          <a:lstStyle/>
          <a:p>
            <a:pPr algn="ctr" indent="0" marL="0">
              <a:buNone/>
            </a:pPr>
            <a:r>
              <a:rPr lang="en-US" sz="1300" dirty="0">
                <a:solidFill>
                  <a:srgbClr val="1A1A1A"/>
                </a:solidFill>
              </a:rPr>
              <a:t>Converts CFM56 cores into 25 MW mobile gas turbines that power data centers.</a:t>
            </a:r>
            <a:endParaRPr lang="en-US" sz="1300" dirty="0"/>
          </a:p>
        </p:txBody>
      </p:sp>
      <p:sp>
        <p:nvSpPr>
          <p:cNvPr id="11" name="FTAI Power stat"/>
          <p:cNvSpPr txBox="1"/>
          <p:nvPr/>
        </p:nvSpPr>
        <p:spPr>
          <a:xfrm>
            <a:off x="3429000" y="4434840"/>
            <a:ext cx="2286000" cy="868680"/>
          </a:xfrm>
          <a:prstGeom prst="rect">
            <a:avLst/>
          </a:prstGeom>
          <a:solidFill>
            <a:srgbClr val="EFEDEA"/>
          </a:solidFill>
          <a:ln/>
        </p:spPr>
        <p:txBody>
          <a:bodyPr wrap="square" lIns="0" tIns="0" rIns="0" bIns="0" rtlCol="0" anchor="ctr"/>
          <a:lstStyle/>
          <a:p>
            <a:pPr algn="ctr" indent="0" marL="0">
              <a:buNone/>
            </a:pPr>
            <a:r>
              <a:rPr lang="en-US" sz="2200" b="1" dirty="0">
                <a:solidFill>
                  <a:schemeClr val="tx2"/>
                </a:solidFill>
              </a:rPr>
              <a:t>$450–750M</a:t>
            </a:r>
            <a:endParaRPr lang="en-US" sz="2200" dirty="0"/>
          </a:p>
          <a:p>
            <a:pPr algn="ctr" indent="0" marL="0">
              <a:buNone/>
            </a:pPr>
            <a:r>
              <a:rPr lang="en-US" sz="1200" dirty="0">
                <a:solidFill>
                  <a:schemeClr val="accent2"/>
                </a:solidFill>
              </a:rPr>
              <a:t>FY27 EBITDA guide</a:t>
            </a:r>
            <a:endParaRPr lang="en-US" sz="2200" dirty="0"/>
          </a:p>
        </p:txBody>
      </p:sp>
      <p:sp>
        <p:nvSpPr>
          <p:cNvPr id="12" name="Column divider 1"/>
          <p:cNvSpPr/>
          <p:nvPr/>
        </p:nvSpPr>
        <p:spPr>
          <a:xfrm>
            <a:off x="3108960" y="1691640"/>
            <a:ext cx="0" cy="3566160"/>
          </a:xfrm>
          <a:prstGeom prst="line">
            <a:avLst/>
          </a:prstGeom>
          <a:noFill/>
          <a:ln w="12700">
            <a:solidFill>
              <a:srgbClr val="DCD8D3"/>
            </a:solidFill>
            <a:prstDash val="solid"/>
          </a:ln>
        </p:spPr>
      </p:sp>
      <p:pic>
        <p:nvPicPr>
          <p:cNvPr id="13" name="Leasing + SCI illustration" descr="/home/user/SPOT/deck/img/aircraft.png">    </p:cNvPr>
          <p:cNvPicPr>
            <a:picLocks noChangeAspect="1"/>
          </p:cNvPicPr>
          <p:nvPr/>
        </p:nvPicPr>
        <p:blipFill>
          <a:blip r:embed="rId3"/>
          <a:stretch>
            <a:fillRect/>
          </a:stretch>
        </p:blipFill>
        <p:spPr>
          <a:xfrm>
            <a:off x="6309360" y="1600200"/>
            <a:ext cx="2377440" cy="1344168"/>
          </a:xfrm>
          <a:prstGeom prst="rect">
            <a:avLst/>
          </a:prstGeom>
        </p:spPr>
      </p:pic>
      <p:sp>
        <p:nvSpPr>
          <p:cNvPr id="14" name="Leasing + SCI name"/>
          <p:cNvSpPr txBox="1"/>
          <p:nvPr/>
        </p:nvSpPr>
        <p:spPr>
          <a:xfrm>
            <a:off x="6172200" y="3035808"/>
            <a:ext cx="2651760" cy="365760"/>
          </a:xfrm>
          <a:prstGeom prst="rect">
            <a:avLst/>
          </a:prstGeom>
          <a:noFill/>
          <a:ln/>
        </p:spPr>
        <p:txBody>
          <a:bodyPr wrap="square" lIns="0" tIns="0" rIns="0" bIns="0" rtlCol="0" anchor="ctr"/>
          <a:lstStyle/>
          <a:p>
            <a:pPr algn="ctr" indent="0" marL="0">
              <a:buNone/>
            </a:pPr>
            <a:r>
              <a:rPr lang="en-US" sz="1800" b="1" dirty="0">
                <a:solidFill>
                  <a:schemeClr val="tx2"/>
                </a:solidFill>
              </a:rPr>
              <a:t>Leasing + SCI</a:t>
            </a:r>
            <a:endParaRPr lang="en-US" sz="1800" dirty="0"/>
          </a:p>
        </p:txBody>
      </p:sp>
      <p:sp>
        <p:nvSpPr>
          <p:cNvPr id="15" name="Leasing + SCI description"/>
          <p:cNvSpPr txBox="1"/>
          <p:nvPr/>
        </p:nvSpPr>
        <p:spPr>
          <a:xfrm>
            <a:off x="6172200" y="3429000"/>
            <a:ext cx="2651760" cy="914400"/>
          </a:xfrm>
          <a:prstGeom prst="rect">
            <a:avLst/>
          </a:prstGeom>
          <a:noFill/>
          <a:ln/>
        </p:spPr>
        <p:txBody>
          <a:bodyPr wrap="square" lIns="0" tIns="0" rIns="0" bIns="0" rtlCol="0" anchor="t"/>
          <a:lstStyle/>
          <a:p>
            <a:pPr algn="ctr" indent="0" marL="0">
              <a:buNone/>
            </a:pPr>
            <a:r>
              <a:rPr lang="en-US" sz="1300" dirty="0">
                <a:solidFill>
                  <a:srgbClr val="1A1A1A"/>
                </a:solidFill>
              </a:rPr>
              <a:t>Leases jets and engines. The SCI partnership buys mid-life jets and sends all engine work to FTAI.</a:t>
            </a:r>
            <a:endParaRPr lang="en-US" sz="1300" dirty="0"/>
          </a:p>
        </p:txBody>
      </p:sp>
      <p:sp>
        <p:nvSpPr>
          <p:cNvPr id="16" name="Leasing + SCI stat"/>
          <p:cNvSpPr txBox="1"/>
          <p:nvPr/>
        </p:nvSpPr>
        <p:spPr>
          <a:xfrm>
            <a:off x="6355080" y="4434840"/>
            <a:ext cx="2286000" cy="868680"/>
          </a:xfrm>
          <a:prstGeom prst="rect">
            <a:avLst/>
          </a:prstGeom>
          <a:solidFill>
            <a:srgbClr val="EFEDEA"/>
          </a:solidFill>
          <a:ln/>
        </p:spPr>
        <p:txBody>
          <a:bodyPr wrap="square" lIns="0" tIns="0" rIns="0" bIns="0" rtlCol="0" anchor="ctr"/>
          <a:lstStyle/>
          <a:p>
            <a:pPr algn="ctr" indent="0" marL="0">
              <a:buNone/>
            </a:pPr>
            <a:r>
              <a:rPr lang="en-US" sz="2200" b="1" dirty="0">
                <a:solidFill>
                  <a:schemeClr val="tx2"/>
                </a:solidFill>
              </a:rPr>
              <a:t>316</a:t>
            </a:r>
            <a:endParaRPr lang="en-US" sz="2200" dirty="0"/>
          </a:p>
          <a:p>
            <a:pPr algn="ctr" indent="0" marL="0">
              <a:buNone/>
            </a:pPr>
            <a:r>
              <a:rPr lang="en-US" sz="1200" dirty="0">
                <a:solidFill>
                  <a:schemeClr val="accent2"/>
                </a:solidFill>
              </a:rPr>
              <a:t>SCI aircraft, YE26E</a:t>
            </a:r>
            <a:endParaRPr lang="en-US" sz="2200" dirty="0"/>
          </a:p>
        </p:txBody>
      </p:sp>
      <p:sp>
        <p:nvSpPr>
          <p:cNvPr id="17" name="Column divider 2"/>
          <p:cNvSpPr/>
          <p:nvPr/>
        </p:nvSpPr>
        <p:spPr>
          <a:xfrm>
            <a:off x="6035040" y="1691640"/>
            <a:ext cx="0" cy="3566160"/>
          </a:xfrm>
          <a:prstGeom prst="line">
            <a:avLst/>
          </a:prstGeom>
          <a:noFill/>
          <a:ln w="12700">
            <a:solidFill>
              <a:srgbClr val="DCD8D3"/>
            </a:solidFill>
            <a:prstDash val="solid"/>
          </a:ln>
        </p:spPr>
      </p:sp>
      <p:sp>
        <p:nvSpPr>
          <p:cNvPr id="18"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One engine, three ways to earn: fix it, power with it, and own the planes it flies on.</a:t>
            </a:r>
            <a:endParaRPr lang="en-US" sz="1700" dirty="0"/>
          </a:p>
        </p:txBody>
      </p:sp>
      <p:sp>
        <p:nvSpPr>
          <p:cNvPr id="19"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FTAI filings and earnings calls, GPS model. Illustrations are schematic.</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Business Overview (2/2)</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FTAI swaps worn modules for restored ones from its own pool, so airlines skip the shop queue.</a:t>
            </a:r>
            <a:endParaRPr lang="en-US" sz="1700" dirty="0"/>
          </a:p>
        </p:txBody>
      </p:sp>
      <p:sp>
        <p:nvSpPr>
          <p:cNvPr id="4" name="Loop header"/>
          <p:cNvSpPr txBox="1"/>
          <p:nvPr/>
        </p:nvSpPr>
        <p:spPr>
          <a:xfrm>
            <a:off x="320040" y="1554480"/>
            <a:ext cx="3931920" cy="365760"/>
          </a:xfrm>
          <a:prstGeom prst="rect">
            <a:avLst/>
          </a:prstGeom>
          <a:noFill/>
          <a:ln/>
        </p:spPr>
        <p:txBody>
          <a:bodyPr wrap="square" lIns="0" tIns="0" rIns="0" bIns="0" rtlCol="0" anchor="b"/>
          <a:lstStyle/>
          <a:p>
            <a:pPr algn="ctr" indent="0" marL="0">
              <a:buNone/>
            </a:pPr>
            <a:r>
              <a:rPr lang="en-US" sz="1600" b="1" dirty="0">
                <a:solidFill>
                  <a:srgbClr val="1A1A1A"/>
                </a:solidFill>
              </a:rPr>
              <a:t>How an Exchange Works</a:t>
            </a:r>
            <a:endParaRPr lang="en-US" sz="1600" dirty="0"/>
          </a:p>
        </p:txBody>
      </p:sp>
      <p:sp>
        <p:nvSpPr>
          <p:cNvPr id="5" name="Loop header rule"/>
          <p:cNvSpPr/>
          <p:nvPr/>
        </p:nvSpPr>
        <p:spPr>
          <a:xfrm>
            <a:off x="320040" y="1975104"/>
            <a:ext cx="3931920" cy="0"/>
          </a:xfrm>
          <a:prstGeom prst="line">
            <a:avLst/>
          </a:prstGeom>
          <a:noFill/>
          <a:ln w="12700">
            <a:solidFill>
              <a:srgbClr val="1A1A1A"/>
            </a:solidFill>
            <a:prstDash val="solid"/>
          </a:ln>
        </p:spPr>
      </p:sp>
      <p:sp>
        <p:nvSpPr>
          <p:cNvPr id="6" name="Loop ring"/>
          <p:cNvSpPr/>
          <p:nvPr/>
        </p:nvSpPr>
        <p:spPr>
          <a:xfrm>
            <a:off x="914400" y="2514600"/>
            <a:ext cx="2743200" cy="2231136"/>
          </a:xfrm>
          <a:prstGeom prst="ellipse">
            <a:avLst/>
          </a:prstGeom>
          <a:ln w="38100">
            <a:solidFill>
              <a:srgbClr val="B5AEA9"/>
            </a:solidFill>
            <a:prstDash val="solid"/>
          </a:ln>
        </p:spPr>
      </p:sp>
      <p:sp>
        <p:nvSpPr>
          <p:cNvPr id="7" name="Loop arrow 1"/>
          <p:cNvSpPr/>
          <p:nvPr/>
        </p:nvSpPr>
        <p:spPr>
          <a:xfrm rot="8100000">
            <a:off x="3146140" y="2731614"/>
            <a:ext cx="219456" cy="219456"/>
          </a:xfrm>
          <a:prstGeom prst="triangle">
            <a:avLst/>
          </a:prstGeom>
          <a:solidFill>
            <a:srgbClr val="847C7A"/>
          </a:solidFill>
          <a:ln/>
        </p:spPr>
      </p:sp>
      <p:sp>
        <p:nvSpPr>
          <p:cNvPr id="8" name="Loop arrow 2"/>
          <p:cNvSpPr/>
          <p:nvPr/>
        </p:nvSpPr>
        <p:spPr>
          <a:xfrm rot="13500000">
            <a:off x="3146140" y="4309266"/>
            <a:ext cx="219456" cy="219456"/>
          </a:xfrm>
          <a:prstGeom prst="triangle">
            <a:avLst/>
          </a:prstGeom>
          <a:solidFill>
            <a:srgbClr val="847C7A"/>
          </a:solidFill>
          <a:ln/>
        </p:spPr>
      </p:sp>
      <p:sp>
        <p:nvSpPr>
          <p:cNvPr id="9" name="Loop arrow 3"/>
          <p:cNvSpPr/>
          <p:nvPr/>
        </p:nvSpPr>
        <p:spPr>
          <a:xfrm rot="18900000">
            <a:off x="1206404" y="4309266"/>
            <a:ext cx="219456" cy="219456"/>
          </a:xfrm>
          <a:prstGeom prst="triangle">
            <a:avLst/>
          </a:prstGeom>
          <a:solidFill>
            <a:srgbClr val="847C7A"/>
          </a:solidFill>
          <a:ln/>
        </p:spPr>
      </p:sp>
      <p:sp>
        <p:nvSpPr>
          <p:cNvPr id="10" name="Loop arrow 4"/>
          <p:cNvSpPr/>
          <p:nvPr/>
        </p:nvSpPr>
        <p:spPr>
          <a:xfrm rot="2700000">
            <a:off x="1206404" y="2731614"/>
            <a:ext cx="219456" cy="219456"/>
          </a:xfrm>
          <a:prstGeom prst="triangle">
            <a:avLst/>
          </a:prstGeom>
          <a:solidFill>
            <a:srgbClr val="847C7A"/>
          </a:solidFill>
          <a:ln/>
        </p:spPr>
      </p:sp>
      <p:sp>
        <p:nvSpPr>
          <p:cNvPr id="11" name="Module pool"/>
          <p:cNvSpPr/>
          <p:nvPr/>
        </p:nvSpPr>
        <p:spPr>
          <a:xfrm>
            <a:off x="1783080" y="3127248"/>
            <a:ext cx="1005840" cy="1005840"/>
          </a:xfrm>
          <a:prstGeom prst="ellipse">
            <a:avLst/>
          </a:prstGeom>
          <a:solidFill>
            <a:srgbClr val="0A1C58"/>
          </a:solidFill>
          <a:ln>
            <a:solidFill>
              <a:srgbClr val="0A1C58"/>
            </a:solidFill>
          </a:ln>
        </p:spPr>
        <p:txBody>
          <a:bodyPr wrap="square" lIns="0" tIns="0" rIns="0" bIns="0" rtlCol="0" anchor="ctr"/>
          <a:lstStyle/>
          <a:p>
            <a:pPr algn="ctr" indent="0" marL="0">
              <a:buNone/>
            </a:pPr>
            <a:r>
              <a:rPr lang="en-US" sz="1300" b="1" dirty="0">
                <a:solidFill>
                  <a:schemeClr val="bg1"/>
                </a:solidFill>
              </a:rPr>
              <a:t>Module</a:t>
            </a:r>
            <a:endParaRPr lang="en-US" sz="1300" dirty="0"/>
          </a:p>
          <a:p>
            <a:pPr algn="ctr" indent="0" marL="0">
              <a:buNone/>
            </a:pPr>
            <a:r>
              <a:rPr lang="en-US" sz="1300" b="1" dirty="0">
                <a:solidFill>
                  <a:schemeClr val="bg1"/>
                </a:solidFill>
              </a:rPr>
              <a:t>pool</a:t>
            </a:r>
            <a:endParaRPr lang="en-US" sz="1300" dirty="0"/>
          </a:p>
        </p:txBody>
      </p:sp>
      <p:sp>
        <p:nvSpPr>
          <p:cNvPr id="12" name="Loop step 1"/>
          <p:cNvSpPr txBox="1"/>
          <p:nvPr/>
        </p:nvSpPr>
        <p:spPr>
          <a:xfrm>
            <a:off x="1682496" y="2148840"/>
            <a:ext cx="1207008" cy="731520"/>
          </a:xfrm>
          <a:prstGeom prst="rect">
            <a:avLst/>
          </a:prstGeom>
          <a:solidFill>
            <a:srgbClr val="DCD8D3"/>
          </a:solidFill>
          <a:ln/>
        </p:spPr>
        <p:txBody>
          <a:bodyPr wrap="square" lIns="76200" tIns="25400" rIns="50800" bIns="25400" rtlCol="0" anchor="ctr"/>
          <a:lstStyle/>
          <a:p>
            <a:pPr algn="ctr" indent="0" marL="0">
              <a:buNone/>
            </a:pPr>
            <a:r>
              <a:rPr lang="en-US" sz="1200" b="1" dirty="0">
                <a:solidFill>
                  <a:schemeClr val="tx2"/>
                </a:solidFill>
              </a:rPr>
              <a:t>Engine needs a shop visit</a:t>
            </a:r>
            <a:endParaRPr lang="en-US" sz="1200" dirty="0"/>
          </a:p>
        </p:txBody>
      </p:sp>
      <p:sp>
        <p:nvSpPr>
          <p:cNvPr id="13" name="Loop step 1 number"/>
          <p:cNvSpPr/>
          <p:nvPr/>
        </p:nvSpPr>
        <p:spPr>
          <a:xfrm>
            <a:off x="1499616" y="1965960"/>
            <a:ext cx="310896" cy="310896"/>
          </a:xfrm>
          <a:prstGeom prst="ellipse">
            <a:avLst/>
          </a:prstGeom>
          <a:solidFill>
            <a:srgbClr val="0A1C58"/>
          </a:solidFill>
          <a:ln w="19050">
            <a:solidFill>
              <a:srgbClr val="FFFFFF"/>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4" name="Loop step 2"/>
          <p:cNvSpPr txBox="1"/>
          <p:nvPr/>
        </p:nvSpPr>
        <p:spPr>
          <a:xfrm>
            <a:off x="3054096" y="3264408"/>
            <a:ext cx="1207008" cy="731520"/>
          </a:xfrm>
          <a:prstGeom prst="rect">
            <a:avLst/>
          </a:prstGeom>
          <a:solidFill>
            <a:srgbClr val="DCD8D3"/>
          </a:solidFill>
          <a:ln/>
        </p:spPr>
        <p:txBody>
          <a:bodyPr wrap="square" lIns="76200" tIns="25400" rIns="50800" bIns="25400" rtlCol="0" anchor="ctr"/>
          <a:lstStyle/>
          <a:p>
            <a:pPr algn="ctr" indent="0" marL="0">
              <a:buNone/>
            </a:pPr>
            <a:r>
              <a:rPr lang="en-US" sz="1200" b="1" dirty="0">
                <a:solidFill>
                  <a:schemeClr val="tx2"/>
                </a:solidFill>
              </a:rPr>
              <a:t>FTAI swaps in a restored module</a:t>
            </a:r>
            <a:endParaRPr lang="en-US" sz="1200" dirty="0"/>
          </a:p>
        </p:txBody>
      </p:sp>
      <p:sp>
        <p:nvSpPr>
          <p:cNvPr id="15" name="Loop step 2 number"/>
          <p:cNvSpPr/>
          <p:nvPr/>
        </p:nvSpPr>
        <p:spPr>
          <a:xfrm>
            <a:off x="2871216" y="3081528"/>
            <a:ext cx="310896" cy="310896"/>
          </a:xfrm>
          <a:prstGeom prst="ellipse">
            <a:avLst/>
          </a:prstGeom>
          <a:solidFill>
            <a:srgbClr val="0A1C58"/>
          </a:solidFill>
          <a:ln w="19050">
            <a:solidFill>
              <a:srgbClr val="FFFFFF"/>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Loop step 3"/>
          <p:cNvSpPr txBox="1"/>
          <p:nvPr/>
        </p:nvSpPr>
        <p:spPr>
          <a:xfrm>
            <a:off x="1682496" y="4379976"/>
            <a:ext cx="1207008" cy="731520"/>
          </a:xfrm>
          <a:prstGeom prst="rect">
            <a:avLst/>
          </a:prstGeom>
          <a:solidFill>
            <a:srgbClr val="DCD8D3"/>
          </a:solidFill>
          <a:ln/>
        </p:spPr>
        <p:txBody>
          <a:bodyPr wrap="square" lIns="76200" tIns="25400" rIns="50800" bIns="25400" rtlCol="0" anchor="ctr"/>
          <a:lstStyle/>
          <a:p>
            <a:pPr algn="ctr" indent="0" marL="0">
              <a:buNone/>
            </a:pPr>
            <a:r>
              <a:rPr lang="en-US" sz="1200" b="1" dirty="0">
                <a:solidFill>
                  <a:schemeClr val="tx2"/>
                </a:solidFill>
              </a:rPr>
              <a:t>Engine back in service in days</a:t>
            </a:r>
            <a:endParaRPr lang="en-US" sz="1200" dirty="0"/>
          </a:p>
        </p:txBody>
      </p:sp>
      <p:sp>
        <p:nvSpPr>
          <p:cNvPr id="17" name="Loop step 3 number"/>
          <p:cNvSpPr/>
          <p:nvPr/>
        </p:nvSpPr>
        <p:spPr>
          <a:xfrm>
            <a:off x="1499616" y="4197096"/>
            <a:ext cx="310896" cy="310896"/>
          </a:xfrm>
          <a:prstGeom prst="ellipse">
            <a:avLst/>
          </a:prstGeom>
          <a:solidFill>
            <a:srgbClr val="0A1C58"/>
          </a:solidFill>
          <a:ln w="19050">
            <a:solidFill>
              <a:srgbClr val="FFFFFF"/>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Loop step 4"/>
          <p:cNvSpPr txBox="1"/>
          <p:nvPr/>
        </p:nvSpPr>
        <p:spPr>
          <a:xfrm>
            <a:off x="310896" y="3264408"/>
            <a:ext cx="1207008" cy="731520"/>
          </a:xfrm>
          <a:prstGeom prst="rect">
            <a:avLst/>
          </a:prstGeom>
          <a:solidFill>
            <a:srgbClr val="DCD8D3"/>
          </a:solidFill>
          <a:ln/>
        </p:spPr>
        <p:txBody>
          <a:bodyPr wrap="square" lIns="76200" tIns="25400" rIns="50800" bIns="25400" rtlCol="0" anchor="ctr"/>
          <a:lstStyle/>
          <a:p>
            <a:pPr algn="ctr" indent="0" marL="0">
              <a:buNone/>
            </a:pPr>
            <a:r>
              <a:rPr lang="en-US" sz="1200" b="1" dirty="0">
                <a:solidFill>
                  <a:schemeClr val="tx2"/>
                </a:solidFill>
              </a:rPr>
              <a:t>Worn module restored for the pool</a:t>
            </a:r>
            <a:endParaRPr lang="en-US" sz="1200" dirty="0"/>
          </a:p>
        </p:txBody>
      </p:sp>
      <p:sp>
        <p:nvSpPr>
          <p:cNvPr id="19" name="Loop step 4 number"/>
          <p:cNvSpPr/>
          <p:nvPr/>
        </p:nvSpPr>
        <p:spPr>
          <a:xfrm>
            <a:off x="128016" y="3081528"/>
            <a:ext cx="310896" cy="310896"/>
          </a:xfrm>
          <a:prstGeom prst="ellipse">
            <a:avLst/>
          </a:prstGeom>
          <a:solidFill>
            <a:srgbClr val="0A1C58"/>
          </a:solidFill>
          <a:ln w="19050">
            <a:solidFill>
              <a:srgbClr val="FFFFFF"/>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Factory header"/>
          <p:cNvSpPr txBox="1"/>
          <p:nvPr/>
        </p:nvSpPr>
        <p:spPr>
          <a:xfrm>
            <a:off x="4526280" y="1554480"/>
            <a:ext cx="4297680" cy="365760"/>
          </a:xfrm>
          <a:prstGeom prst="rect">
            <a:avLst/>
          </a:prstGeom>
          <a:noFill/>
          <a:ln/>
        </p:spPr>
        <p:txBody>
          <a:bodyPr wrap="square" lIns="0" tIns="0" rIns="0" bIns="0" rtlCol="0" anchor="b"/>
          <a:lstStyle/>
          <a:p>
            <a:pPr algn="ctr" indent="0" marL="0">
              <a:buNone/>
            </a:pPr>
            <a:r>
              <a:rPr lang="en-US" sz="1600" b="1" dirty="0">
                <a:solidFill>
                  <a:srgbClr val="1A1A1A"/>
                </a:solidFill>
              </a:rPr>
              <a:t>Why It Pays: The Module Factory</a:t>
            </a:r>
            <a:endParaRPr lang="en-US" sz="1600" dirty="0"/>
          </a:p>
        </p:txBody>
      </p:sp>
      <p:sp>
        <p:nvSpPr>
          <p:cNvPr id="21" name="Factory header rule"/>
          <p:cNvSpPr/>
          <p:nvPr/>
        </p:nvSpPr>
        <p:spPr>
          <a:xfrm>
            <a:off x="4526280" y="1975104"/>
            <a:ext cx="4297680" cy="0"/>
          </a:xfrm>
          <a:prstGeom prst="line">
            <a:avLst/>
          </a:prstGeom>
          <a:noFill/>
          <a:ln w="12700">
            <a:solidFill>
              <a:srgbClr val="1A1A1A"/>
            </a:solidFill>
            <a:prstDash val="solid"/>
          </a:ln>
        </p:spPr>
      </p:sp>
      <p:sp>
        <p:nvSpPr>
          <p:cNvPr id="22" name="Before label"/>
          <p:cNvSpPr txBox="1"/>
          <p:nvPr/>
        </p:nvSpPr>
        <p:spPr>
          <a:xfrm>
            <a:off x="4526280" y="2011680"/>
            <a:ext cx="1901952" cy="274320"/>
          </a:xfrm>
          <a:prstGeom prst="rect">
            <a:avLst/>
          </a:prstGeom>
          <a:noFill/>
          <a:ln/>
        </p:spPr>
        <p:txBody>
          <a:bodyPr wrap="square" lIns="0" tIns="0" rIns="0" bIns="0" rtlCol="0" anchor="ctr"/>
          <a:lstStyle/>
          <a:p>
            <a:pPr algn="ctr" indent="0" marL="0">
              <a:buNone/>
            </a:pPr>
            <a:r>
              <a:rPr lang="en-US" sz="1300" b="1" i="1" dirty="0">
                <a:solidFill>
                  <a:schemeClr val="accent2"/>
                </a:solidFill>
              </a:rPr>
              <a:t>3 worn engines in</a:t>
            </a:r>
            <a:endParaRPr lang="en-US" sz="1300" dirty="0"/>
          </a:p>
        </p:txBody>
      </p:sp>
      <p:sp>
        <p:nvSpPr>
          <p:cNvPr id="23" name="Before engine 1 value"/>
          <p:cNvSpPr txBox="1"/>
          <p:nvPr/>
        </p:nvSpPr>
        <p:spPr>
          <a:xfrm>
            <a:off x="4526280" y="2395728"/>
            <a:ext cx="658368" cy="365760"/>
          </a:xfrm>
          <a:prstGeom prst="rect">
            <a:avLst/>
          </a:prstGeom>
          <a:noFill/>
          <a:ln/>
        </p:spPr>
        <p:txBody>
          <a:bodyPr wrap="square" lIns="0" tIns="0" rIns="0" bIns="0" rtlCol="0" anchor="ctr"/>
          <a:lstStyle/>
          <a:p>
            <a:pPr algn="l" indent="0" marL="0">
              <a:buNone/>
            </a:pPr>
            <a:r>
              <a:rPr lang="en-US" sz="1400" b="1" dirty="0">
                <a:solidFill>
                  <a:schemeClr val="tx2"/>
                </a:solidFill>
              </a:rPr>
              <a:t>$2.0M</a:t>
            </a:r>
            <a:endParaRPr lang="en-US" sz="1400" dirty="0"/>
          </a:p>
        </p:txBody>
      </p:sp>
      <p:sp>
        <p:nvSpPr>
          <p:cNvPr id="24" name="Before engine 1 module 1"/>
          <p:cNvSpPr/>
          <p:nvPr/>
        </p:nvSpPr>
        <p:spPr>
          <a:xfrm>
            <a:off x="5221224" y="2395728"/>
            <a:ext cx="365760" cy="365760"/>
          </a:xfrm>
          <a:prstGeom prst="rect">
            <a:avLst/>
          </a:prstGeom>
          <a:solidFill>
            <a:srgbClr val="0A1C58"/>
          </a:solidFill>
          <a:ln w="15875">
            <a:solidFill>
              <a:srgbClr val="0A1C58"/>
            </a:solidFill>
          </a:ln>
        </p:spPr>
        <p:txBody>
          <a:bodyPr wrap="square" lIns="0" tIns="0" rIns="0" bIns="0" rtlCol="0" anchor="ctr"/>
          <a:lstStyle/>
          <a:p>
            <a:pPr algn="ctr" indent="0" marL="0">
              <a:buNone/>
            </a:pPr>
            <a:r>
              <a:rPr lang="en-US" sz="1100" b="1" dirty="0">
                <a:solidFill>
                  <a:srgbClr val="FFFFFF"/>
                </a:solidFill>
              </a:rPr>
              <a:t>7k</a:t>
            </a:r>
            <a:endParaRPr lang="en-US" sz="1100" dirty="0"/>
          </a:p>
        </p:txBody>
      </p:sp>
      <p:sp>
        <p:nvSpPr>
          <p:cNvPr id="25" name="Before engine 1 module 2"/>
          <p:cNvSpPr/>
          <p:nvPr/>
        </p:nvSpPr>
        <p:spPr>
          <a:xfrm>
            <a:off x="5641848" y="2395728"/>
            <a:ext cx="365760" cy="365760"/>
          </a:xfrm>
          <a:prstGeom prst="rect">
            <a:avLst/>
          </a:prstGeom>
          <a:solidFill>
            <a:srgbClr val="FFFFFF"/>
          </a:solidFill>
          <a:ln w="15875">
            <a:solidFill>
              <a:srgbClr val="B5AEA9"/>
            </a:solidFill>
          </a:ln>
        </p:spPr>
        <p:txBody>
          <a:bodyPr wrap="square" lIns="0" tIns="0" rIns="0" bIns="0" rtlCol="0" anchor="ctr"/>
          <a:lstStyle/>
          <a:p>
            <a:pPr algn="ctr" indent="0" marL="0">
              <a:buNone/>
            </a:pPr>
            <a:r>
              <a:rPr lang="en-US" sz="1100" b="1" dirty="0">
                <a:solidFill>
                  <a:srgbClr val="847C7A"/>
                </a:solidFill>
              </a:rPr>
              <a:t>0k</a:t>
            </a:r>
            <a:endParaRPr lang="en-US" sz="1100" dirty="0"/>
          </a:p>
        </p:txBody>
      </p:sp>
      <p:sp>
        <p:nvSpPr>
          <p:cNvPr id="26" name="Before engine 1 module 3"/>
          <p:cNvSpPr/>
          <p:nvPr/>
        </p:nvSpPr>
        <p:spPr>
          <a:xfrm>
            <a:off x="6062472" y="2395728"/>
            <a:ext cx="365760" cy="365760"/>
          </a:xfrm>
          <a:prstGeom prst="rect">
            <a:avLst/>
          </a:prstGeom>
          <a:solidFill>
            <a:srgbClr val="B5AEA9"/>
          </a:solidFill>
          <a:ln w="15875">
            <a:solidFill>
              <a:srgbClr val="B5AEA9"/>
            </a:solidFill>
          </a:ln>
        </p:spPr>
        <p:txBody>
          <a:bodyPr wrap="square" lIns="0" tIns="0" rIns="0" bIns="0" rtlCol="0" anchor="ctr"/>
          <a:lstStyle/>
          <a:p>
            <a:pPr algn="ctr" indent="0" marL="0">
              <a:buNone/>
            </a:pPr>
            <a:r>
              <a:rPr lang="en-US" sz="1100" b="1" dirty="0">
                <a:solidFill>
                  <a:srgbClr val="0A1C58"/>
                </a:solidFill>
              </a:rPr>
              <a:t>4k</a:t>
            </a:r>
            <a:endParaRPr lang="en-US" sz="1100" dirty="0"/>
          </a:p>
        </p:txBody>
      </p:sp>
      <p:sp>
        <p:nvSpPr>
          <p:cNvPr id="27" name="Before engine 2 value"/>
          <p:cNvSpPr txBox="1"/>
          <p:nvPr/>
        </p:nvSpPr>
        <p:spPr>
          <a:xfrm>
            <a:off x="4526280" y="3108960"/>
            <a:ext cx="658368" cy="365760"/>
          </a:xfrm>
          <a:prstGeom prst="rect">
            <a:avLst/>
          </a:prstGeom>
          <a:noFill/>
          <a:ln/>
        </p:spPr>
        <p:txBody>
          <a:bodyPr wrap="square" lIns="0" tIns="0" rIns="0" bIns="0" rtlCol="0" anchor="ctr"/>
          <a:lstStyle/>
          <a:p>
            <a:pPr algn="l" indent="0" marL="0">
              <a:buNone/>
            </a:pPr>
            <a:r>
              <a:rPr lang="en-US" sz="1400" b="1" dirty="0">
                <a:solidFill>
                  <a:schemeClr val="tx2"/>
                </a:solidFill>
              </a:rPr>
              <a:t>$2.5M</a:t>
            </a:r>
            <a:endParaRPr lang="en-US" sz="1400" dirty="0"/>
          </a:p>
        </p:txBody>
      </p:sp>
      <p:sp>
        <p:nvSpPr>
          <p:cNvPr id="28" name="Before engine 2 module 1"/>
          <p:cNvSpPr/>
          <p:nvPr/>
        </p:nvSpPr>
        <p:spPr>
          <a:xfrm>
            <a:off x="5221224" y="3108960"/>
            <a:ext cx="365760" cy="365760"/>
          </a:xfrm>
          <a:prstGeom prst="rect">
            <a:avLst/>
          </a:prstGeom>
          <a:solidFill>
            <a:srgbClr val="B5AEA9"/>
          </a:solidFill>
          <a:ln w="15875">
            <a:solidFill>
              <a:srgbClr val="B5AEA9"/>
            </a:solidFill>
          </a:ln>
        </p:spPr>
        <p:txBody>
          <a:bodyPr wrap="square" lIns="0" tIns="0" rIns="0" bIns="0" rtlCol="0" anchor="ctr"/>
          <a:lstStyle/>
          <a:p>
            <a:pPr algn="ctr" indent="0" marL="0">
              <a:buNone/>
            </a:pPr>
            <a:r>
              <a:rPr lang="en-US" sz="1100" b="1" dirty="0">
                <a:solidFill>
                  <a:srgbClr val="0A1C58"/>
                </a:solidFill>
              </a:rPr>
              <a:t>4k</a:t>
            </a:r>
            <a:endParaRPr lang="en-US" sz="1100" dirty="0"/>
          </a:p>
        </p:txBody>
      </p:sp>
      <p:sp>
        <p:nvSpPr>
          <p:cNvPr id="29" name="Before engine 2 module 2"/>
          <p:cNvSpPr/>
          <p:nvPr/>
        </p:nvSpPr>
        <p:spPr>
          <a:xfrm>
            <a:off x="5641848" y="3108960"/>
            <a:ext cx="365760" cy="365760"/>
          </a:xfrm>
          <a:prstGeom prst="rect">
            <a:avLst/>
          </a:prstGeom>
          <a:solidFill>
            <a:srgbClr val="0A1C58"/>
          </a:solidFill>
          <a:ln w="15875">
            <a:solidFill>
              <a:srgbClr val="0A1C58"/>
            </a:solidFill>
          </a:ln>
        </p:spPr>
        <p:txBody>
          <a:bodyPr wrap="square" lIns="0" tIns="0" rIns="0" bIns="0" rtlCol="0" anchor="ctr"/>
          <a:lstStyle/>
          <a:p>
            <a:pPr algn="ctr" indent="0" marL="0">
              <a:buNone/>
            </a:pPr>
            <a:r>
              <a:rPr lang="en-US" sz="1100" b="1" dirty="0">
                <a:solidFill>
                  <a:srgbClr val="FFFFFF"/>
                </a:solidFill>
              </a:rPr>
              <a:t>7k</a:t>
            </a:r>
            <a:endParaRPr lang="en-US" sz="1100" dirty="0"/>
          </a:p>
        </p:txBody>
      </p:sp>
      <p:sp>
        <p:nvSpPr>
          <p:cNvPr id="30" name="Before engine 2 module 3"/>
          <p:cNvSpPr/>
          <p:nvPr/>
        </p:nvSpPr>
        <p:spPr>
          <a:xfrm>
            <a:off x="6062472" y="3108960"/>
            <a:ext cx="365760" cy="365760"/>
          </a:xfrm>
          <a:prstGeom prst="rect">
            <a:avLst/>
          </a:prstGeom>
          <a:solidFill>
            <a:srgbClr val="FFFFFF"/>
          </a:solidFill>
          <a:ln w="15875">
            <a:solidFill>
              <a:srgbClr val="B5AEA9"/>
            </a:solidFill>
          </a:ln>
        </p:spPr>
        <p:txBody>
          <a:bodyPr wrap="square" lIns="0" tIns="0" rIns="0" bIns="0" rtlCol="0" anchor="ctr"/>
          <a:lstStyle/>
          <a:p>
            <a:pPr algn="ctr" indent="0" marL="0">
              <a:buNone/>
            </a:pPr>
            <a:r>
              <a:rPr lang="en-US" sz="1100" b="1" dirty="0">
                <a:solidFill>
                  <a:srgbClr val="847C7A"/>
                </a:solidFill>
              </a:rPr>
              <a:t>0k</a:t>
            </a:r>
            <a:endParaRPr lang="en-US" sz="1100" dirty="0"/>
          </a:p>
        </p:txBody>
      </p:sp>
      <p:sp>
        <p:nvSpPr>
          <p:cNvPr id="31" name="Before engine 3 value"/>
          <p:cNvSpPr txBox="1"/>
          <p:nvPr/>
        </p:nvSpPr>
        <p:spPr>
          <a:xfrm>
            <a:off x="4526280" y="3822192"/>
            <a:ext cx="658368" cy="365760"/>
          </a:xfrm>
          <a:prstGeom prst="rect">
            <a:avLst/>
          </a:prstGeom>
          <a:noFill/>
          <a:ln/>
        </p:spPr>
        <p:txBody>
          <a:bodyPr wrap="square" lIns="0" tIns="0" rIns="0" bIns="0" rtlCol="0" anchor="ctr"/>
          <a:lstStyle/>
          <a:p>
            <a:pPr algn="l" indent="0" marL="0">
              <a:buNone/>
            </a:pPr>
            <a:r>
              <a:rPr lang="en-US" sz="1400" b="1" dirty="0">
                <a:solidFill>
                  <a:schemeClr val="tx2"/>
                </a:solidFill>
              </a:rPr>
              <a:t>$2.0M</a:t>
            </a:r>
            <a:endParaRPr lang="en-US" sz="1400" dirty="0"/>
          </a:p>
        </p:txBody>
      </p:sp>
      <p:sp>
        <p:nvSpPr>
          <p:cNvPr id="32" name="Before engine 3 module 1"/>
          <p:cNvSpPr/>
          <p:nvPr/>
        </p:nvSpPr>
        <p:spPr>
          <a:xfrm>
            <a:off x="5221224" y="3822192"/>
            <a:ext cx="365760" cy="365760"/>
          </a:xfrm>
          <a:prstGeom prst="rect">
            <a:avLst/>
          </a:prstGeom>
          <a:solidFill>
            <a:srgbClr val="FFFFFF"/>
          </a:solidFill>
          <a:ln w="15875">
            <a:solidFill>
              <a:srgbClr val="B5AEA9"/>
            </a:solidFill>
          </a:ln>
        </p:spPr>
        <p:txBody>
          <a:bodyPr wrap="square" lIns="0" tIns="0" rIns="0" bIns="0" rtlCol="0" anchor="ctr"/>
          <a:lstStyle/>
          <a:p>
            <a:pPr algn="ctr" indent="0" marL="0">
              <a:buNone/>
            </a:pPr>
            <a:r>
              <a:rPr lang="en-US" sz="1100" b="1" dirty="0">
                <a:solidFill>
                  <a:srgbClr val="847C7A"/>
                </a:solidFill>
              </a:rPr>
              <a:t>0k</a:t>
            </a:r>
            <a:endParaRPr lang="en-US" sz="1100" dirty="0"/>
          </a:p>
        </p:txBody>
      </p:sp>
      <p:sp>
        <p:nvSpPr>
          <p:cNvPr id="33" name="Before engine 3 module 2"/>
          <p:cNvSpPr/>
          <p:nvPr/>
        </p:nvSpPr>
        <p:spPr>
          <a:xfrm>
            <a:off x="5641848" y="3822192"/>
            <a:ext cx="365760" cy="365760"/>
          </a:xfrm>
          <a:prstGeom prst="rect">
            <a:avLst/>
          </a:prstGeom>
          <a:solidFill>
            <a:srgbClr val="B5AEA9"/>
          </a:solidFill>
          <a:ln w="15875">
            <a:solidFill>
              <a:srgbClr val="B5AEA9"/>
            </a:solidFill>
          </a:ln>
        </p:spPr>
        <p:txBody>
          <a:bodyPr wrap="square" lIns="0" tIns="0" rIns="0" bIns="0" rtlCol="0" anchor="ctr"/>
          <a:lstStyle/>
          <a:p>
            <a:pPr algn="ctr" indent="0" marL="0">
              <a:buNone/>
            </a:pPr>
            <a:r>
              <a:rPr lang="en-US" sz="1100" b="1" dirty="0">
                <a:solidFill>
                  <a:srgbClr val="0A1C58"/>
                </a:solidFill>
              </a:rPr>
              <a:t>4k</a:t>
            </a:r>
            <a:endParaRPr lang="en-US" sz="1100" dirty="0"/>
          </a:p>
        </p:txBody>
      </p:sp>
      <p:sp>
        <p:nvSpPr>
          <p:cNvPr id="34" name="Before engine 3 module 3"/>
          <p:cNvSpPr/>
          <p:nvPr/>
        </p:nvSpPr>
        <p:spPr>
          <a:xfrm>
            <a:off x="6062472" y="3822192"/>
            <a:ext cx="365760" cy="365760"/>
          </a:xfrm>
          <a:prstGeom prst="rect">
            <a:avLst/>
          </a:prstGeom>
          <a:solidFill>
            <a:srgbClr val="0A1C58"/>
          </a:solidFill>
          <a:ln w="15875">
            <a:solidFill>
              <a:srgbClr val="0A1C58"/>
            </a:solidFill>
          </a:ln>
        </p:spPr>
        <p:txBody>
          <a:bodyPr wrap="square" lIns="0" tIns="0" rIns="0" bIns="0" rtlCol="0" anchor="ctr"/>
          <a:lstStyle/>
          <a:p>
            <a:pPr algn="ctr" indent="0" marL="0">
              <a:buNone/>
            </a:pPr>
            <a:r>
              <a:rPr lang="en-US" sz="1100" b="1" dirty="0">
                <a:solidFill>
                  <a:srgbClr val="FFFFFF"/>
                </a:solidFill>
              </a:rPr>
              <a:t>7k</a:t>
            </a:r>
            <a:endParaRPr lang="en-US" sz="1100" dirty="0"/>
          </a:p>
        </p:txBody>
      </p:sp>
      <p:sp>
        <p:nvSpPr>
          <p:cNvPr id="35" name="Before Fan caption"/>
          <p:cNvSpPr txBox="1"/>
          <p:nvPr/>
        </p:nvSpPr>
        <p:spPr>
          <a:xfrm>
            <a:off x="5175504" y="4242816"/>
            <a:ext cx="457200" cy="228600"/>
          </a:xfrm>
          <a:prstGeom prst="rect">
            <a:avLst/>
          </a:prstGeom>
          <a:noFill/>
          <a:ln/>
        </p:spPr>
        <p:txBody>
          <a:bodyPr wrap="square" lIns="0" tIns="0" rIns="0" bIns="0" rtlCol="0" anchor="ctr"/>
          <a:lstStyle/>
          <a:p>
            <a:pPr algn="ctr" indent="0" marL="0">
              <a:buNone/>
            </a:pPr>
            <a:r>
              <a:rPr lang="en-US" sz="1000" dirty="0">
                <a:solidFill>
                  <a:schemeClr val="accent2"/>
                </a:solidFill>
              </a:rPr>
              <a:t>Fan</a:t>
            </a:r>
            <a:endParaRPr lang="en-US" sz="1000" dirty="0"/>
          </a:p>
        </p:txBody>
      </p:sp>
      <p:sp>
        <p:nvSpPr>
          <p:cNvPr id="36" name="Before Core caption"/>
          <p:cNvSpPr txBox="1"/>
          <p:nvPr/>
        </p:nvSpPr>
        <p:spPr>
          <a:xfrm>
            <a:off x="5596128" y="4242816"/>
            <a:ext cx="457200" cy="228600"/>
          </a:xfrm>
          <a:prstGeom prst="rect">
            <a:avLst/>
          </a:prstGeom>
          <a:noFill/>
          <a:ln/>
        </p:spPr>
        <p:txBody>
          <a:bodyPr wrap="square" lIns="0" tIns="0" rIns="0" bIns="0" rtlCol="0" anchor="ctr"/>
          <a:lstStyle/>
          <a:p>
            <a:pPr algn="ctr" indent="0" marL="0">
              <a:buNone/>
            </a:pPr>
            <a:r>
              <a:rPr lang="en-US" sz="1000" dirty="0">
                <a:solidFill>
                  <a:schemeClr val="accent2"/>
                </a:solidFill>
              </a:rPr>
              <a:t>Core</a:t>
            </a:r>
            <a:endParaRPr lang="en-US" sz="1000" dirty="0"/>
          </a:p>
        </p:txBody>
      </p:sp>
      <p:sp>
        <p:nvSpPr>
          <p:cNvPr id="37" name="Before LPT caption"/>
          <p:cNvSpPr txBox="1"/>
          <p:nvPr/>
        </p:nvSpPr>
        <p:spPr>
          <a:xfrm>
            <a:off x="6016752" y="4242816"/>
            <a:ext cx="457200" cy="228600"/>
          </a:xfrm>
          <a:prstGeom prst="rect">
            <a:avLst/>
          </a:prstGeom>
          <a:noFill/>
          <a:ln/>
        </p:spPr>
        <p:txBody>
          <a:bodyPr wrap="square" lIns="0" tIns="0" rIns="0" bIns="0" rtlCol="0" anchor="ctr"/>
          <a:lstStyle/>
          <a:p>
            <a:pPr algn="ctr" indent="0" marL="0">
              <a:buNone/>
            </a:pPr>
            <a:r>
              <a:rPr lang="en-US" sz="1000" dirty="0">
                <a:solidFill>
                  <a:schemeClr val="accent2"/>
                </a:solidFill>
              </a:rPr>
              <a:t>LPT</a:t>
            </a:r>
            <a:endParaRPr lang="en-US" sz="1000" dirty="0"/>
          </a:p>
        </p:txBody>
      </p:sp>
      <p:sp>
        <p:nvSpPr>
          <p:cNvPr id="38" name="After label"/>
          <p:cNvSpPr txBox="1"/>
          <p:nvPr/>
        </p:nvSpPr>
        <p:spPr>
          <a:xfrm>
            <a:off x="6922008" y="2011680"/>
            <a:ext cx="1901952" cy="274320"/>
          </a:xfrm>
          <a:prstGeom prst="rect">
            <a:avLst/>
          </a:prstGeom>
          <a:noFill/>
          <a:ln/>
        </p:spPr>
        <p:txBody>
          <a:bodyPr wrap="square" lIns="0" tIns="0" rIns="0" bIns="0" rtlCol="0" anchor="ctr"/>
          <a:lstStyle/>
          <a:p>
            <a:pPr algn="ctr" indent="0" marL="0">
              <a:buNone/>
            </a:pPr>
            <a:r>
              <a:rPr lang="en-US" sz="1300" b="1" i="1" dirty="0">
                <a:solidFill>
                  <a:schemeClr val="accent2"/>
                </a:solidFill>
              </a:rPr>
              <a:t>Engines out</a:t>
            </a:r>
            <a:endParaRPr lang="en-US" sz="1300" dirty="0"/>
          </a:p>
        </p:txBody>
      </p:sp>
      <p:sp>
        <p:nvSpPr>
          <p:cNvPr id="39" name="After engine 1 value"/>
          <p:cNvSpPr txBox="1"/>
          <p:nvPr/>
        </p:nvSpPr>
        <p:spPr>
          <a:xfrm>
            <a:off x="6922008" y="2395728"/>
            <a:ext cx="658368" cy="365760"/>
          </a:xfrm>
          <a:prstGeom prst="rect">
            <a:avLst/>
          </a:prstGeom>
          <a:noFill/>
          <a:ln/>
        </p:spPr>
        <p:txBody>
          <a:bodyPr wrap="square" lIns="0" tIns="0" rIns="0" bIns="0" rtlCol="0" anchor="ctr"/>
          <a:lstStyle/>
          <a:p>
            <a:pPr algn="l" indent="0" marL="0">
              <a:buNone/>
            </a:pPr>
            <a:r>
              <a:rPr lang="en-US" sz="1400" b="1" dirty="0">
                <a:solidFill>
                  <a:schemeClr val="tx2"/>
                </a:solidFill>
              </a:rPr>
              <a:t>$8.5M</a:t>
            </a:r>
            <a:endParaRPr lang="en-US" sz="1400" dirty="0"/>
          </a:p>
        </p:txBody>
      </p:sp>
      <p:sp>
        <p:nvSpPr>
          <p:cNvPr id="40" name="After engine 1 module 1"/>
          <p:cNvSpPr/>
          <p:nvPr/>
        </p:nvSpPr>
        <p:spPr>
          <a:xfrm>
            <a:off x="7616952" y="2395728"/>
            <a:ext cx="365760" cy="365760"/>
          </a:xfrm>
          <a:prstGeom prst="rect">
            <a:avLst/>
          </a:prstGeom>
          <a:solidFill>
            <a:srgbClr val="0A1C58"/>
          </a:solidFill>
          <a:ln w="15875">
            <a:solidFill>
              <a:srgbClr val="0A1C58"/>
            </a:solidFill>
          </a:ln>
        </p:spPr>
        <p:txBody>
          <a:bodyPr wrap="square" lIns="0" tIns="0" rIns="0" bIns="0" rtlCol="0" anchor="ctr"/>
          <a:lstStyle/>
          <a:p>
            <a:pPr algn="ctr" indent="0" marL="0">
              <a:buNone/>
            </a:pPr>
            <a:r>
              <a:rPr lang="en-US" sz="1100" b="1" dirty="0">
                <a:solidFill>
                  <a:srgbClr val="FFFFFF"/>
                </a:solidFill>
              </a:rPr>
              <a:t>7k</a:t>
            </a:r>
            <a:endParaRPr lang="en-US" sz="1100" dirty="0"/>
          </a:p>
        </p:txBody>
      </p:sp>
      <p:sp>
        <p:nvSpPr>
          <p:cNvPr id="41" name="After engine 1 module 2"/>
          <p:cNvSpPr/>
          <p:nvPr/>
        </p:nvSpPr>
        <p:spPr>
          <a:xfrm>
            <a:off x="8037576" y="2395728"/>
            <a:ext cx="365760" cy="365760"/>
          </a:xfrm>
          <a:prstGeom prst="rect">
            <a:avLst/>
          </a:prstGeom>
          <a:solidFill>
            <a:srgbClr val="0A1C58"/>
          </a:solidFill>
          <a:ln w="15875">
            <a:solidFill>
              <a:srgbClr val="0A1C58"/>
            </a:solidFill>
          </a:ln>
        </p:spPr>
        <p:txBody>
          <a:bodyPr wrap="square" lIns="0" tIns="0" rIns="0" bIns="0" rtlCol="0" anchor="ctr"/>
          <a:lstStyle/>
          <a:p>
            <a:pPr algn="ctr" indent="0" marL="0">
              <a:buNone/>
            </a:pPr>
            <a:r>
              <a:rPr lang="en-US" sz="1100" b="1" dirty="0">
                <a:solidFill>
                  <a:srgbClr val="FFFFFF"/>
                </a:solidFill>
              </a:rPr>
              <a:t>7k</a:t>
            </a:r>
            <a:endParaRPr lang="en-US" sz="1100" dirty="0"/>
          </a:p>
        </p:txBody>
      </p:sp>
      <p:sp>
        <p:nvSpPr>
          <p:cNvPr id="42" name="After engine 1 module 3"/>
          <p:cNvSpPr/>
          <p:nvPr/>
        </p:nvSpPr>
        <p:spPr>
          <a:xfrm>
            <a:off x="8458200" y="2395728"/>
            <a:ext cx="365760" cy="365760"/>
          </a:xfrm>
          <a:prstGeom prst="rect">
            <a:avLst/>
          </a:prstGeom>
          <a:solidFill>
            <a:srgbClr val="0A1C58"/>
          </a:solidFill>
          <a:ln w="15875">
            <a:solidFill>
              <a:srgbClr val="0A1C58"/>
            </a:solidFill>
          </a:ln>
        </p:spPr>
        <p:txBody>
          <a:bodyPr wrap="square" lIns="0" tIns="0" rIns="0" bIns="0" rtlCol="0" anchor="ctr"/>
          <a:lstStyle/>
          <a:p>
            <a:pPr algn="ctr" indent="0" marL="0">
              <a:buNone/>
            </a:pPr>
            <a:r>
              <a:rPr lang="en-US" sz="1100" b="1" dirty="0">
                <a:solidFill>
                  <a:srgbClr val="FFFFFF"/>
                </a:solidFill>
              </a:rPr>
              <a:t>7k</a:t>
            </a:r>
            <a:endParaRPr lang="en-US" sz="1100" dirty="0"/>
          </a:p>
        </p:txBody>
      </p:sp>
      <p:sp>
        <p:nvSpPr>
          <p:cNvPr id="43" name="After engine 2 value"/>
          <p:cNvSpPr txBox="1"/>
          <p:nvPr/>
        </p:nvSpPr>
        <p:spPr>
          <a:xfrm>
            <a:off x="6922008" y="3108960"/>
            <a:ext cx="658368" cy="365760"/>
          </a:xfrm>
          <a:prstGeom prst="rect">
            <a:avLst/>
          </a:prstGeom>
          <a:noFill/>
          <a:ln/>
        </p:spPr>
        <p:txBody>
          <a:bodyPr wrap="square" lIns="0" tIns="0" rIns="0" bIns="0" rtlCol="0" anchor="ctr"/>
          <a:lstStyle/>
          <a:p>
            <a:pPr algn="l" indent="0" marL="0">
              <a:buNone/>
            </a:pPr>
            <a:r>
              <a:rPr lang="en-US" sz="1400" b="1" dirty="0">
                <a:solidFill>
                  <a:schemeClr val="tx2"/>
                </a:solidFill>
              </a:rPr>
              <a:t>$6.0M</a:t>
            </a:r>
            <a:endParaRPr lang="en-US" sz="1400" dirty="0"/>
          </a:p>
        </p:txBody>
      </p:sp>
      <p:sp>
        <p:nvSpPr>
          <p:cNvPr id="44" name="After engine 2 module 1"/>
          <p:cNvSpPr/>
          <p:nvPr/>
        </p:nvSpPr>
        <p:spPr>
          <a:xfrm>
            <a:off x="7616952" y="3108960"/>
            <a:ext cx="365760" cy="365760"/>
          </a:xfrm>
          <a:prstGeom prst="rect">
            <a:avLst/>
          </a:prstGeom>
          <a:solidFill>
            <a:srgbClr val="B5AEA9"/>
          </a:solidFill>
          <a:ln w="15875">
            <a:solidFill>
              <a:srgbClr val="B5AEA9"/>
            </a:solidFill>
          </a:ln>
        </p:spPr>
        <p:txBody>
          <a:bodyPr wrap="square" lIns="0" tIns="0" rIns="0" bIns="0" rtlCol="0" anchor="ctr"/>
          <a:lstStyle/>
          <a:p>
            <a:pPr algn="ctr" indent="0" marL="0">
              <a:buNone/>
            </a:pPr>
            <a:r>
              <a:rPr lang="en-US" sz="1100" b="1" dirty="0">
                <a:solidFill>
                  <a:srgbClr val="0A1C58"/>
                </a:solidFill>
              </a:rPr>
              <a:t>4k</a:t>
            </a:r>
            <a:endParaRPr lang="en-US" sz="1100" dirty="0"/>
          </a:p>
        </p:txBody>
      </p:sp>
      <p:sp>
        <p:nvSpPr>
          <p:cNvPr id="45" name="After engine 2 module 2"/>
          <p:cNvSpPr/>
          <p:nvPr/>
        </p:nvSpPr>
        <p:spPr>
          <a:xfrm>
            <a:off x="8037576" y="3108960"/>
            <a:ext cx="365760" cy="365760"/>
          </a:xfrm>
          <a:prstGeom prst="rect">
            <a:avLst/>
          </a:prstGeom>
          <a:solidFill>
            <a:srgbClr val="B5AEA9"/>
          </a:solidFill>
          <a:ln w="15875">
            <a:solidFill>
              <a:srgbClr val="B5AEA9"/>
            </a:solidFill>
          </a:ln>
        </p:spPr>
        <p:txBody>
          <a:bodyPr wrap="square" lIns="0" tIns="0" rIns="0" bIns="0" rtlCol="0" anchor="ctr"/>
          <a:lstStyle/>
          <a:p>
            <a:pPr algn="ctr" indent="0" marL="0">
              <a:buNone/>
            </a:pPr>
            <a:r>
              <a:rPr lang="en-US" sz="1100" b="1" dirty="0">
                <a:solidFill>
                  <a:srgbClr val="0A1C58"/>
                </a:solidFill>
              </a:rPr>
              <a:t>4k</a:t>
            </a:r>
            <a:endParaRPr lang="en-US" sz="1100" dirty="0"/>
          </a:p>
        </p:txBody>
      </p:sp>
      <p:sp>
        <p:nvSpPr>
          <p:cNvPr id="46" name="After engine 2 module 3"/>
          <p:cNvSpPr/>
          <p:nvPr/>
        </p:nvSpPr>
        <p:spPr>
          <a:xfrm>
            <a:off x="8458200" y="3108960"/>
            <a:ext cx="365760" cy="365760"/>
          </a:xfrm>
          <a:prstGeom prst="rect">
            <a:avLst/>
          </a:prstGeom>
          <a:solidFill>
            <a:srgbClr val="B5AEA9"/>
          </a:solidFill>
          <a:ln w="15875">
            <a:solidFill>
              <a:srgbClr val="B5AEA9"/>
            </a:solidFill>
          </a:ln>
        </p:spPr>
        <p:txBody>
          <a:bodyPr wrap="square" lIns="0" tIns="0" rIns="0" bIns="0" rtlCol="0" anchor="ctr"/>
          <a:lstStyle/>
          <a:p>
            <a:pPr algn="ctr" indent="0" marL="0">
              <a:buNone/>
            </a:pPr>
            <a:r>
              <a:rPr lang="en-US" sz="1100" b="1" dirty="0">
                <a:solidFill>
                  <a:srgbClr val="0A1C58"/>
                </a:solidFill>
              </a:rPr>
              <a:t>4k</a:t>
            </a:r>
            <a:endParaRPr lang="en-US" sz="1100" dirty="0"/>
          </a:p>
        </p:txBody>
      </p:sp>
      <p:sp>
        <p:nvSpPr>
          <p:cNvPr id="47" name="After engine 3 value"/>
          <p:cNvSpPr txBox="1"/>
          <p:nvPr/>
        </p:nvSpPr>
        <p:spPr>
          <a:xfrm>
            <a:off x="6922008" y="3822192"/>
            <a:ext cx="658368" cy="365760"/>
          </a:xfrm>
          <a:prstGeom prst="rect">
            <a:avLst/>
          </a:prstGeom>
          <a:noFill/>
          <a:ln/>
        </p:spPr>
        <p:txBody>
          <a:bodyPr wrap="square" lIns="0" tIns="0" rIns="0" bIns="0" rtlCol="0" anchor="ctr"/>
          <a:lstStyle/>
          <a:p>
            <a:pPr algn="l" indent="0" marL="0">
              <a:buNone/>
            </a:pPr>
            <a:r>
              <a:rPr lang="en-US" sz="1400" b="1" dirty="0">
                <a:solidFill>
                  <a:schemeClr val="tx2"/>
                </a:solidFill>
              </a:rPr>
              <a:t>$1.5M</a:t>
            </a:r>
            <a:endParaRPr lang="en-US" sz="1400" dirty="0"/>
          </a:p>
        </p:txBody>
      </p:sp>
      <p:sp>
        <p:nvSpPr>
          <p:cNvPr id="48" name="After engine 3 module 1"/>
          <p:cNvSpPr/>
          <p:nvPr/>
        </p:nvSpPr>
        <p:spPr>
          <a:xfrm>
            <a:off x="7616952" y="3822192"/>
            <a:ext cx="365760" cy="365760"/>
          </a:xfrm>
          <a:prstGeom prst="rect">
            <a:avLst/>
          </a:prstGeom>
          <a:solidFill>
            <a:srgbClr val="FFFFFF"/>
          </a:solidFill>
          <a:ln w="15875">
            <a:solidFill>
              <a:srgbClr val="B5AEA9"/>
            </a:solidFill>
          </a:ln>
        </p:spPr>
        <p:txBody>
          <a:bodyPr wrap="square" lIns="0" tIns="0" rIns="0" bIns="0" rtlCol="0" anchor="ctr"/>
          <a:lstStyle/>
          <a:p>
            <a:pPr algn="ctr" indent="0" marL="0">
              <a:buNone/>
            </a:pPr>
            <a:r>
              <a:rPr lang="en-US" sz="1100" b="1" dirty="0">
                <a:solidFill>
                  <a:srgbClr val="847C7A"/>
                </a:solidFill>
              </a:rPr>
              <a:t>0k</a:t>
            </a:r>
            <a:endParaRPr lang="en-US" sz="1100" dirty="0"/>
          </a:p>
        </p:txBody>
      </p:sp>
      <p:sp>
        <p:nvSpPr>
          <p:cNvPr id="49" name="After engine 3 module 2"/>
          <p:cNvSpPr/>
          <p:nvPr/>
        </p:nvSpPr>
        <p:spPr>
          <a:xfrm>
            <a:off x="8037576" y="3822192"/>
            <a:ext cx="365760" cy="365760"/>
          </a:xfrm>
          <a:prstGeom prst="rect">
            <a:avLst/>
          </a:prstGeom>
          <a:solidFill>
            <a:srgbClr val="FFFFFF"/>
          </a:solidFill>
          <a:ln w="15875">
            <a:solidFill>
              <a:srgbClr val="B5AEA9"/>
            </a:solidFill>
          </a:ln>
        </p:spPr>
        <p:txBody>
          <a:bodyPr wrap="square" lIns="0" tIns="0" rIns="0" bIns="0" rtlCol="0" anchor="ctr"/>
          <a:lstStyle/>
          <a:p>
            <a:pPr algn="ctr" indent="0" marL="0">
              <a:buNone/>
            </a:pPr>
            <a:r>
              <a:rPr lang="en-US" sz="1100" b="1" dirty="0">
                <a:solidFill>
                  <a:srgbClr val="847C7A"/>
                </a:solidFill>
              </a:rPr>
              <a:t>0k</a:t>
            </a:r>
            <a:endParaRPr lang="en-US" sz="1100" dirty="0"/>
          </a:p>
        </p:txBody>
      </p:sp>
      <p:sp>
        <p:nvSpPr>
          <p:cNvPr id="50" name="After engine 3 module 3"/>
          <p:cNvSpPr/>
          <p:nvPr/>
        </p:nvSpPr>
        <p:spPr>
          <a:xfrm>
            <a:off x="8458200" y="3822192"/>
            <a:ext cx="365760" cy="365760"/>
          </a:xfrm>
          <a:prstGeom prst="rect">
            <a:avLst/>
          </a:prstGeom>
          <a:solidFill>
            <a:srgbClr val="FFFFFF"/>
          </a:solidFill>
          <a:ln w="15875">
            <a:solidFill>
              <a:srgbClr val="B5AEA9"/>
            </a:solidFill>
          </a:ln>
        </p:spPr>
        <p:txBody>
          <a:bodyPr wrap="square" lIns="0" tIns="0" rIns="0" bIns="0" rtlCol="0" anchor="ctr"/>
          <a:lstStyle/>
          <a:p>
            <a:pPr algn="ctr" indent="0" marL="0">
              <a:buNone/>
            </a:pPr>
            <a:r>
              <a:rPr lang="en-US" sz="1100" b="1" dirty="0">
                <a:solidFill>
                  <a:srgbClr val="847C7A"/>
                </a:solidFill>
              </a:rPr>
              <a:t>0k</a:t>
            </a:r>
            <a:endParaRPr lang="en-US" sz="1100" dirty="0"/>
          </a:p>
        </p:txBody>
      </p:sp>
      <p:sp>
        <p:nvSpPr>
          <p:cNvPr id="51" name="After Fan caption"/>
          <p:cNvSpPr txBox="1"/>
          <p:nvPr/>
        </p:nvSpPr>
        <p:spPr>
          <a:xfrm>
            <a:off x="7571232" y="4242816"/>
            <a:ext cx="457200" cy="228600"/>
          </a:xfrm>
          <a:prstGeom prst="rect">
            <a:avLst/>
          </a:prstGeom>
          <a:noFill/>
          <a:ln/>
        </p:spPr>
        <p:txBody>
          <a:bodyPr wrap="square" lIns="0" tIns="0" rIns="0" bIns="0" rtlCol="0" anchor="ctr"/>
          <a:lstStyle/>
          <a:p>
            <a:pPr algn="ctr" indent="0" marL="0">
              <a:buNone/>
            </a:pPr>
            <a:r>
              <a:rPr lang="en-US" sz="1000" dirty="0">
                <a:solidFill>
                  <a:schemeClr val="accent2"/>
                </a:solidFill>
              </a:rPr>
              <a:t>Fan</a:t>
            </a:r>
            <a:endParaRPr lang="en-US" sz="1000" dirty="0"/>
          </a:p>
        </p:txBody>
      </p:sp>
      <p:sp>
        <p:nvSpPr>
          <p:cNvPr id="52" name="After Core caption"/>
          <p:cNvSpPr txBox="1"/>
          <p:nvPr/>
        </p:nvSpPr>
        <p:spPr>
          <a:xfrm>
            <a:off x="7991856" y="4242816"/>
            <a:ext cx="457200" cy="228600"/>
          </a:xfrm>
          <a:prstGeom prst="rect">
            <a:avLst/>
          </a:prstGeom>
          <a:noFill/>
          <a:ln/>
        </p:spPr>
        <p:txBody>
          <a:bodyPr wrap="square" lIns="0" tIns="0" rIns="0" bIns="0" rtlCol="0" anchor="ctr"/>
          <a:lstStyle/>
          <a:p>
            <a:pPr algn="ctr" indent="0" marL="0">
              <a:buNone/>
            </a:pPr>
            <a:r>
              <a:rPr lang="en-US" sz="1000" dirty="0">
                <a:solidFill>
                  <a:schemeClr val="accent2"/>
                </a:solidFill>
              </a:rPr>
              <a:t>Core</a:t>
            </a:r>
            <a:endParaRPr lang="en-US" sz="1000" dirty="0"/>
          </a:p>
        </p:txBody>
      </p:sp>
      <p:sp>
        <p:nvSpPr>
          <p:cNvPr id="53" name="After LPT caption"/>
          <p:cNvSpPr txBox="1"/>
          <p:nvPr/>
        </p:nvSpPr>
        <p:spPr>
          <a:xfrm>
            <a:off x="8412480" y="4242816"/>
            <a:ext cx="457200" cy="228600"/>
          </a:xfrm>
          <a:prstGeom prst="rect">
            <a:avLst/>
          </a:prstGeom>
          <a:noFill/>
          <a:ln/>
        </p:spPr>
        <p:txBody>
          <a:bodyPr wrap="square" lIns="0" tIns="0" rIns="0" bIns="0" rtlCol="0" anchor="ctr"/>
          <a:lstStyle/>
          <a:p>
            <a:pPr algn="ctr" indent="0" marL="0">
              <a:buNone/>
            </a:pPr>
            <a:r>
              <a:rPr lang="en-US" sz="1000" dirty="0">
                <a:solidFill>
                  <a:schemeClr val="accent2"/>
                </a:solidFill>
              </a:rPr>
              <a:t>LPT</a:t>
            </a:r>
            <a:endParaRPr lang="en-US" sz="1000" dirty="0"/>
          </a:p>
        </p:txBody>
      </p:sp>
      <p:sp>
        <p:nvSpPr>
          <p:cNvPr id="54" name="Factory arrow"/>
          <p:cNvSpPr/>
          <p:nvPr/>
        </p:nvSpPr>
        <p:spPr>
          <a:xfrm>
            <a:off x="6492240" y="3108960"/>
            <a:ext cx="365760" cy="329184"/>
          </a:xfrm>
          <a:prstGeom prst="rightArrow">
            <a:avLst/>
          </a:prstGeom>
          <a:solidFill>
            <a:srgbClr val="847C7A"/>
          </a:solidFill>
          <a:ln/>
        </p:spPr>
      </p:sp>
      <p:sp>
        <p:nvSpPr>
          <p:cNvPr id="55" name="Before total"/>
          <p:cNvSpPr txBox="1"/>
          <p:nvPr/>
        </p:nvSpPr>
        <p:spPr>
          <a:xfrm>
            <a:off x="4526280" y="4645152"/>
            <a:ext cx="1901952" cy="658368"/>
          </a:xfrm>
          <a:prstGeom prst="rect">
            <a:avLst/>
          </a:prstGeom>
          <a:solidFill>
            <a:srgbClr val="DCD8D3"/>
          </a:solidFill>
          <a:ln/>
        </p:spPr>
        <p:txBody>
          <a:bodyPr wrap="square" lIns="0" tIns="0" rIns="0" bIns="0" rtlCol="0" anchor="ctr"/>
          <a:lstStyle/>
          <a:p>
            <a:pPr algn="ctr" indent="0" marL="0">
              <a:buNone/>
            </a:pPr>
            <a:r>
              <a:rPr lang="en-US" sz="1800" b="1" dirty="0">
                <a:solidFill>
                  <a:schemeClr val="tx2"/>
                </a:solidFill>
              </a:rPr>
              <a:t>$6.5M</a:t>
            </a:r>
            <a:endParaRPr lang="en-US" sz="1800" dirty="0"/>
          </a:p>
          <a:p>
            <a:pPr algn="ctr" indent="0" marL="0">
              <a:buNone/>
            </a:pPr>
            <a:r>
              <a:rPr lang="en-US" sz="1100" dirty="0">
                <a:solidFill>
                  <a:schemeClr val="tx2"/>
                </a:solidFill>
              </a:rPr>
              <a:t>engines + $3.5M of work</a:t>
            </a:r>
            <a:endParaRPr lang="en-US" sz="1800" dirty="0"/>
          </a:p>
        </p:txBody>
      </p:sp>
      <p:sp>
        <p:nvSpPr>
          <p:cNvPr id="56" name="After total"/>
          <p:cNvSpPr txBox="1"/>
          <p:nvPr/>
        </p:nvSpPr>
        <p:spPr>
          <a:xfrm>
            <a:off x="6922008" y="4645152"/>
            <a:ext cx="1901952" cy="658368"/>
          </a:xfrm>
          <a:prstGeom prst="rect">
            <a:avLst/>
          </a:prstGeom>
          <a:solidFill>
            <a:srgbClr val="0A1C58"/>
          </a:solidFill>
          <a:ln/>
        </p:spPr>
        <p:txBody>
          <a:bodyPr wrap="square" lIns="0" tIns="0" rIns="0" bIns="0" rtlCol="0" anchor="ctr"/>
          <a:lstStyle/>
          <a:p>
            <a:pPr algn="ctr" indent="0" marL="0">
              <a:buNone/>
            </a:pPr>
            <a:r>
              <a:rPr lang="en-US" sz="1800" b="1" dirty="0">
                <a:solidFill>
                  <a:schemeClr val="bg1"/>
                </a:solidFill>
              </a:rPr>
              <a:t>$16.0M</a:t>
            </a:r>
            <a:endParaRPr lang="en-US" sz="1800" dirty="0"/>
          </a:p>
          <a:p>
            <a:pPr algn="ctr" indent="0" marL="0">
              <a:buNone/>
            </a:pPr>
            <a:r>
              <a:rPr lang="en-US" sz="1100" dirty="0">
                <a:solidFill>
                  <a:schemeClr val="bg1"/>
                </a:solidFill>
              </a:rPr>
              <a:t>+$6.0M of value created</a:t>
            </a:r>
            <a:endParaRPr lang="en-US" sz="1800" dirty="0"/>
          </a:p>
        </p:txBody>
      </p:sp>
      <p:sp>
        <p:nvSpPr>
          <p:cNvPr id="57"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FTAI sells speed to airlines and harvests cycles from engines no one else can use.</a:t>
            </a:r>
            <a:endParaRPr lang="en-US" sz="1700" dirty="0"/>
          </a:p>
        </p:txBody>
      </p:sp>
      <p:sp>
        <p:nvSpPr>
          <p:cNvPr id="58"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FTAI investor materials (Module Factory example), GPS analysis</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1a: Margin Floor (1/4)</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Even if the bears are right, too little cheap inventory is left to push margins lower.</a:t>
            </a:r>
            <a:endParaRPr lang="en-US" sz="1700" dirty="0"/>
          </a:p>
        </p:txBody>
      </p:sp>
      <p:sp>
        <p:nvSpPr>
          <p:cNvPr id="4" name="Donut header"/>
          <p:cNvSpPr txBox="1"/>
          <p:nvPr/>
        </p:nvSpPr>
        <p:spPr>
          <a:xfrm>
            <a:off x="320040" y="1554480"/>
            <a:ext cx="3566160" cy="365760"/>
          </a:xfrm>
          <a:prstGeom prst="rect">
            <a:avLst/>
          </a:prstGeom>
          <a:noFill/>
          <a:ln/>
        </p:spPr>
        <p:txBody>
          <a:bodyPr wrap="square" lIns="0" tIns="0" rIns="0" bIns="0" rtlCol="0" anchor="b"/>
          <a:lstStyle/>
          <a:p>
            <a:pPr algn="ctr" indent="0" marL="0">
              <a:buNone/>
            </a:pPr>
            <a:r>
              <a:rPr lang="en-US" sz="1600" b="1" dirty="0">
                <a:solidFill>
                  <a:srgbClr val="1A1A1A"/>
                </a:solidFill>
              </a:rPr>
              <a:t>Cheap Stock Left in AP</a:t>
            </a:r>
            <a:endParaRPr lang="en-US" sz="1600" dirty="0"/>
          </a:p>
        </p:txBody>
      </p:sp>
      <p:sp>
        <p:nvSpPr>
          <p:cNvPr id="5" name="Donut header rule"/>
          <p:cNvSpPr/>
          <p:nvPr/>
        </p:nvSpPr>
        <p:spPr>
          <a:xfrm>
            <a:off x="320040" y="1975104"/>
            <a:ext cx="3566160" cy="0"/>
          </a:xfrm>
          <a:prstGeom prst="line">
            <a:avLst/>
          </a:prstGeom>
          <a:noFill/>
          <a:ln w="12700">
            <a:solidFill>
              <a:srgbClr val="1A1A1A"/>
            </a:solidFill>
            <a:prstDash val="solid"/>
          </a:ln>
        </p:spPr>
      </p:sp>
      <p:graphicFrame>
        <p:nvGraphicFramePr>
          <p:cNvPr id="6" name="Inventory donut" descr=""/>
          <p:cNvGraphicFramePr/>
          <p:nvPr/>
        </p:nvGraphicFramePr>
        <p:xfrm>
          <a:off x="548640" y="2103120"/>
          <a:ext cx="3108960" cy="2834640"/>
        </p:xfrm>
        <a:graphic xmlns:a="http://schemas.openxmlformats.org/drawingml/2006/main">
          <a:graphicData uri="http://schemas.openxmlformats.org/drawingml/2006/chart">
            <c:chart xmlns:c="http://schemas.openxmlformats.org/drawingml/2006/chart" r:id="rId1"/>
          </a:graphicData>
        </a:graphic>
      </p:graphicFrame>
      <p:sp>
        <p:nvSpPr>
          <p:cNvPr id="7" name="Donut center"/>
          <p:cNvSpPr txBox="1"/>
          <p:nvPr/>
        </p:nvSpPr>
        <p:spPr>
          <a:xfrm>
            <a:off x="1188720" y="3063240"/>
            <a:ext cx="1828800" cy="914400"/>
          </a:xfrm>
          <a:prstGeom prst="rect">
            <a:avLst/>
          </a:prstGeom>
          <a:noFill/>
          <a:ln/>
        </p:spPr>
        <p:txBody>
          <a:bodyPr wrap="square" lIns="0" tIns="0" rIns="0" bIns="0" rtlCol="0" anchor="ctr"/>
          <a:lstStyle/>
          <a:p>
            <a:pPr algn="ctr" indent="0" marL="0">
              <a:buNone/>
            </a:pPr>
            <a:r>
              <a:rPr lang="en-US" sz="3400" b="1" dirty="0">
                <a:solidFill>
                  <a:schemeClr val="tx2"/>
                </a:solidFill>
              </a:rPr>
              <a:t>&lt;8%</a:t>
            </a:r>
            <a:endParaRPr lang="en-US" sz="3400" dirty="0"/>
          </a:p>
          <a:p>
            <a:pPr algn="ctr" indent="0" marL="0">
              <a:buNone/>
            </a:pPr>
            <a:r>
              <a:rPr lang="en-US" sz="1300" dirty="0">
                <a:solidFill>
                  <a:schemeClr val="accent2"/>
                </a:solidFill>
              </a:rPr>
              <a:t>left to unwind</a:t>
            </a:r>
            <a:endParaRPr lang="en-US" sz="3400" dirty="0"/>
          </a:p>
        </p:txBody>
      </p:sp>
      <p:sp>
        <p:nvSpPr>
          <p:cNvPr id="8" name="Margin path header"/>
          <p:cNvSpPr txBox="1"/>
          <p:nvPr/>
        </p:nvSpPr>
        <p:spPr>
          <a:xfrm>
            <a:off x="4160520" y="1554480"/>
            <a:ext cx="4663440" cy="365760"/>
          </a:xfrm>
          <a:prstGeom prst="rect">
            <a:avLst/>
          </a:prstGeom>
          <a:noFill/>
          <a:ln/>
        </p:spPr>
        <p:txBody>
          <a:bodyPr wrap="square" lIns="0" tIns="0" rIns="0" bIns="0" rtlCol="0" anchor="b"/>
          <a:lstStyle/>
          <a:p>
            <a:pPr algn="ctr" indent="0" marL="0">
              <a:buNone/>
            </a:pPr>
            <a:r>
              <a:rPr lang="en-US" sz="1600" b="1" dirty="0">
                <a:solidFill>
                  <a:srgbClr val="1A1A1A"/>
                </a:solidFill>
              </a:rPr>
              <a:t>Margin: Trough, Then Rebuild</a:t>
            </a:r>
            <a:endParaRPr lang="en-US" sz="1600" dirty="0"/>
          </a:p>
        </p:txBody>
      </p:sp>
      <p:sp>
        <p:nvSpPr>
          <p:cNvPr id="9" name="Margin path header rule"/>
          <p:cNvSpPr/>
          <p:nvPr/>
        </p:nvSpPr>
        <p:spPr>
          <a:xfrm>
            <a:off x="4160520" y="1975104"/>
            <a:ext cx="4663440" cy="0"/>
          </a:xfrm>
          <a:prstGeom prst="line">
            <a:avLst/>
          </a:prstGeom>
          <a:noFill/>
          <a:ln w="12700">
            <a:solidFill>
              <a:srgbClr val="1A1A1A"/>
            </a:solidFill>
            <a:prstDash val="solid"/>
          </a:ln>
        </p:spPr>
      </p:sp>
      <p:graphicFrame>
        <p:nvGraphicFramePr>
          <p:cNvPr id="10" name="Margin path chart" descr=""/>
          <p:cNvGraphicFramePr/>
          <p:nvPr/>
        </p:nvGraphicFramePr>
        <p:xfrm>
          <a:off x="4160520" y="2103120"/>
          <a:ext cx="4663440" cy="3200400"/>
        </p:xfrm>
        <a:graphic xmlns:a="http://schemas.openxmlformats.org/drawingml/2006/main">
          <a:graphicData uri="http://schemas.openxmlformats.org/drawingml/2006/chart">
            <c:chart xmlns:c="http://schemas.openxmlformats.org/drawingml/2006/chart" r:id="rId2"/>
          </a:graphicData>
        </a:graphic>
      </p:graphicFrame>
      <p:sp>
        <p:nvSpPr>
          <p:cNvPr id="11" name="Model label"/>
          <p:cNvSpPr txBox="1"/>
          <p:nvPr/>
        </p:nvSpPr>
        <p:spPr>
          <a:xfrm>
            <a:off x="6766560" y="2103120"/>
            <a:ext cx="1463040" cy="274320"/>
          </a:xfrm>
          <a:prstGeom prst="rect">
            <a:avLst/>
          </a:prstGeom>
          <a:noFill/>
          <a:ln/>
        </p:spPr>
        <p:txBody>
          <a:bodyPr wrap="square" lIns="0" tIns="0" rIns="0" bIns="0" rtlCol="0" anchor="ctr"/>
          <a:lstStyle/>
          <a:p>
            <a:pPr algn="ctr" indent="0" marL="0">
              <a:buNone/>
            </a:pPr>
            <a:r>
              <a:rPr lang="en-US" sz="1200" b="1" i="1" dirty="0">
                <a:solidFill>
                  <a:schemeClr val="accent2"/>
                </a:solidFill>
              </a:rPr>
              <a:t>Our model</a:t>
            </a:r>
            <a:endParaRPr lang="en-US" sz="1200" dirty="0"/>
          </a:p>
        </p:txBody>
      </p:sp>
      <p:sp>
        <p:nvSpPr>
          <p:cNvPr id="12"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With little cheap stock left, ~30% is the floor, and margins rebuild from here.</a:t>
            </a:r>
            <a:endParaRPr lang="en-US" sz="1700" dirty="0"/>
          </a:p>
        </p:txBody>
      </p:sp>
      <p:sp>
        <p:nvSpPr>
          <p:cNvPr id="13"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FTAI filings, GPS analysis and model (Aerospace Adj. EBITDA margin incl. PMA)</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1a: Margin Floor (2/4)</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FTAI held price to win share while OEM list prices rose ~7% a year. It can now catch up.</a:t>
            </a:r>
            <a:endParaRPr lang="en-US" sz="1700" dirty="0"/>
          </a:p>
        </p:txBody>
      </p:sp>
      <p:sp>
        <p:nvSpPr>
          <p:cNvPr id="4" name="Price header"/>
          <p:cNvSpPr txBox="1"/>
          <p:nvPr/>
        </p:nvSpPr>
        <p:spPr>
          <a:xfrm>
            <a:off x="320040" y="1554480"/>
            <a:ext cx="4206240" cy="365760"/>
          </a:xfrm>
          <a:prstGeom prst="rect">
            <a:avLst/>
          </a:prstGeom>
          <a:noFill/>
          <a:ln/>
        </p:spPr>
        <p:txBody>
          <a:bodyPr wrap="square" lIns="0" tIns="0" rIns="0" bIns="0" rtlCol="0" anchor="b"/>
          <a:lstStyle/>
          <a:p>
            <a:pPr algn="ctr" indent="0" marL="0">
              <a:buNone/>
            </a:pPr>
            <a:r>
              <a:rPr lang="en-US" sz="1600" b="1" dirty="0">
                <a:solidFill>
                  <a:srgbClr val="1A1A1A"/>
                </a:solidFill>
              </a:rPr>
              <a:t>Price Index (2025 = 100)</a:t>
            </a:r>
            <a:endParaRPr lang="en-US" sz="1600" dirty="0"/>
          </a:p>
        </p:txBody>
      </p:sp>
      <p:sp>
        <p:nvSpPr>
          <p:cNvPr id="5" name="Price header rule"/>
          <p:cNvSpPr/>
          <p:nvPr/>
        </p:nvSpPr>
        <p:spPr>
          <a:xfrm>
            <a:off x="320040" y="1975104"/>
            <a:ext cx="4206240" cy="0"/>
          </a:xfrm>
          <a:prstGeom prst="line">
            <a:avLst/>
          </a:prstGeom>
          <a:noFill/>
          <a:ln w="12700">
            <a:solidFill>
              <a:srgbClr val="1A1A1A"/>
            </a:solidFill>
            <a:prstDash val="solid"/>
          </a:ln>
        </p:spPr>
      </p:sp>
      <p:graphicFrame>
        <p:nvGraphicFramePr>
          <p:cNvPr id="6" name="Price index chart" descr=""/>
          <p:cNvGraphicFramePr/>
          <p:nvPr/>
        </p:nvGraphicFramePr>
        <p:xfrm>
          <a:off x="320040" y="2103120"/>
          <a:ext cx="4206240" cy="2834640"/>
        </p:xfrm>
        <a:graphic xmlns:a="http://schemas.openxmlformats.org/drawingml/2006/main">
          <a:graphicData uri="http://schemas.openxmlformats.org/drawingml/2006/chart">
            <c:chart xmlns:c="http://schemas.openxmlformats.org/drawingml/2006/chart" r:id="rId1"/>
          </a:graphicData>
        </a:graphic>
      </p:graphicFrame>
      <p:sp>
        <p:nvSpPr>
          <p:cNvPr id="7" name="OEM line label"/>
          <p:cNvSpPr txBox="1"/>
          <p:nvPr/>
        </p:nvSpPr>
        <p:spPr>
          <a:xfrm>
            <a:off x="2697480" y="2148840"/>
            <a:ext cx="1737360" cy="274320"/>
          </a:xfrm>
          <a:prstGeom prst="rect">
            <a:avLst/>
          </a:prstGeom>
          <a:noFill/>
          <a:ln/>
        </p:spPr>
        <p:txBody>
          <a:bodyPr wrap="square" lIns="0" tIns="0" rIns="0" bIns="0" rtlCol="0" anchor="ctr"/>
          <a:lstStyle/>
          <a:p>
            <a:pPr algn="r" indent="0" marL="0">
              <a:buNone/>
            </a:pPr>
            <a:r>
              <a:rPr lang="en-US" sz="1200" b="1" dirty="0">
                <a:solidFill>
                  <a:schemeClr val="tx2"/>
                </a:solidFill>
              </a:rPr>
              <a:t>OEM list (+7%/yr)</a:t>
            </a:r>
            <a:endParaRPr lang="en-US" sz="1200" dirty="0"/>
          </a:p>
        </p:txBody>
      </p:sp>
      <p:sp>
        <p:nvSpPr>
          <p:cNvPr id="8" name="FTAI line label"/>
          <p:cNvSpPr txBox="1"/>
          <p:nvPr/>
        </p:nvSpPr>
        <p:spPr>
          <a:xfrm>
            <a:off x="2697480" y="3337560"/>
            <a:ext cx="1737360" cy="274320"/>
          </a:xfrm>
          <a:prstGeom prst="rect">
            <a:avLst/>
          </a:prstGeom>
          <a:noFill/>
          <a:ln/>
        </p:spPr>
        <p:txBody>
          <a:bodyPr wrap="square" lIns="0" tIns="0" rIns="0" bIns="0" rtlCol="0" anchor="ctr"/>
          <a:lstStyle/>
          <a:p>
            <a:pPr algn="r" indent="0" marL="0">
              <a:buNone/>
            </a:pPr>
            <a:r>
              <a:rPr lang="en-US" sz="1200" b="1" dirty="0">
                <a:solidFill>
                  <a:schemeClr val="accent2"/>
                </a:solidFill>
              </a:rPr>
              <a:t>FTAI (half of OEM)</a:t>
            </a:r>
            <a:endParaRPr lang="en-US" sz="1200" dirty="0"/>
          </a:p>
        </p:txBody>
      </p:sp>
      <p:sp>
        <p:nvSpPr>
          <p:cNvPr id="9" name="Price caption"/>
          <p:cNvSpPr txBox="1"/>
          <p:nvPr/>
        </p:nvSpPr>
        <p:spPr>
          <a:xfrm>
            <a:off x="320040" y="4983480"/>
            <a:ext cx="4206240" cy="274320"/>
          </a:xfrm>
          <a:prstGeom prst="rect">
            <a:avLst/>
          </a:prstGeom>
          <a:noFill/>
          <a:ln/>
        </p:spPr>
        <p:txBody>
          <a:bodyPr wrap="square" lIns="0" tIns="0" rIns="0" bIns="0" rtlCol="0" anchor="ctr"/>
          <a:lstStyle/>
          <a:p>
            <a:pPr algn="ctr" indent="0" marL="0">
              <a:buNone/>
            </a:pPr>
            <a:r>
              <a:rPr lang="en-US" sz="1200" i="1" dirty="0">
                <a:solidFill>
                  <a:schemeClr val="accent2"/>
                </a:solidFill>
              </a:rPr>
              <a:t>The gap is pricing room</a:t>
            </a:r>
            <a:endParaRPr lang="en-US" sz="1200" dirty="0"/>
          </a:p>
        </p:txBody>
      </p:sp>
      <p:sp>
        <p:nvSpPr>
          <p:cNvPr id="10" name="EPM header"/>
          <p:cNvSpPr txBox="1"/>
          <p:nvPr/>
        </p:nvSpPr>
        <p:spPr>
          <a:xfrm>
            <a:off x="4892040" y="1554480"/>
            <a:ext cx="3931920" cy="365760"/>
          </a:xfrm>
          <a:prstGeom prst="rect">
            <a:avLst/>
          </a:prstGeom>
          <a:noFill/>
          <a:ln/>
        </p:spPr>
        <p:txBody>
          <a:bodyPr wrap="square" lIns="0" tIns="0" rIns="0" bIns="0" rtlCol="0" anchor="b"/>
          <a:lstStyle/>
          <a:p>
            <a:pPr algn="ctr" indent="0" marL="0">
              <a:buNone/>
            </a:pPr>
            <a:r>
              <a:rPr lang="en-US" sz="1600" b="1" dirty="0">
                <a:solidFill>
                  <a:srgbClr val="1A1A1A"/>
                </a:solidFill>
              </a:rPr>
              <a:t>EBITDA per Module ($K)</a:t>
            </a:r>
            <a:endParaRPr lang="en-US" sz="1600" dirty="0"/>
          </a:p>
        </p:txBody>
      </p:sp>
      <p:sp>
        <p:nvSpPr>
          <p:cNvPr id="11" name="EPM header rule"/>
          <p:cNvSpPr/>
          <p:nvPr/>
        </p:nvSpPr>
        <p:spPr>
          <a:xfrm>
            <a:off x="4892040" y="1975104"/>
            <a:ext cx="3931920" cy="0"/>
          </a:xfrm>
          <a:prstGeom prst="line">
            <a:avLst/>
          </a:prstGeom>
          <a:noFill/>
          <a:ln w="12700">
            <a:solidFill>
              <a:srgbClr val="1A1A1A"/>
            </a:solidFill>
            <a:prstDash val="solid"/>
          </a:ln>
        </p:spPr>
      </p:sp>
      <p:graphicFrame>
        <p:nvGraphicFramePr>
          <p:cNvPr id="12" name="EBITDA per module chart" descr=""/>
          <p:cNvGraphicFramePr/>
          <p:nvPr/>
        </p:nvGraphicFramePr>
        <p:xfrm>
          <a:off x="4892040" y="2103120"/>
          <a:ext cx="3931920" cy="3200400"/>
        </p:xfrm>
        <a:graphic xmlns:a="http://schemas.openxmlformats.org/drawingml/2006/main">
          <a:graphicData uri="http://schemas.openxmlformats.org/drawingml/2006/chart">
            <c:chart xmlns:c="http://schemas.openxmlformats.org/drawingml/2006/chart" r:id="rId2"/>
          </a:graphicData>
        </a:graphic>
      </p:graphicFrame>
      <p:sp>
        <p:nvSpPr>
          <p:cNvPr id="13"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Passing through just half of OEM increases, plus PMA, lifts EBITDA per module ~30% by FY31.</a:t>
            </a:r>
            <a:endParaRPr lang="en-US" sz="1700" dirty="0"/>
          </a:p>
        </p:txBody>
      </p:sp>
      <p:sp>
        <p:nvSpPr>
          <p:cNvPr id="14"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model (RPM tab: CFM escalator 7%/yr, FTAI pass-through 50% from 2027; EBITDA per module incl. PMA)</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1a: Margin Floor (3/4)</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Heavy second visits peak in 2027 while late-life, lighter visits keep rising, and they cross.</a:t>
            </a:r>
            <a:endParaRPr lang="en-US" sz="1700" dirty="0"/>
          </a:p>
        </p:txBody>
      </p:sp>
      <p:sp>
        <p:nvSpPr>
          <p:cNvPr id="4" name="Cohort header"/>
          <p:cNvSpPr txBox="1"/>
          <p:nvPr/>
        </p:nvSpPr>
        <p:spPr>
          <a:xfrm>
            <a:off x="320040" y="1554480"/>
            <a:ext cx="4343400" cy="365760"/>
          </a:xfrm>
          <a:prstGeom prst="rect">
            <a:avLst/>
          </a:prstGeom>
          <a:noFill/>
          <a:ln/>
        </p:spPr>
        <p:txBody>
          <a:bodyPr wrap="square" lIns="0" tIns="0" rIns="0" bIns="0" rtlCol="0" anchor="b"/>
          <a:lstStyle/>
          <a:p>
            <a:pPr algn="ctr" indent="0" marL="0">
              <a:buNone/>
            </a:pPr>
            <a:r>
              <a:rPr lang="en-US" sz="1600" b="1" dirty="0">
                <a:solidFill>
                  <a:srgbClr val="1A1A1A"/>
                </a:solidFill>
              </a:rPr>
              <a:t>Heavy vs. Late-Life Shop Visits</a:t>
            </a:r>
            <a:endParaRPr lang="en-US" sz="1600" dirty="0"/>
          </a:p>
        </p:txBody>
      </p:sp>
      <p:sp>
        <p:nvSpPr>
          <p:cNvPr id="5" name="Cohort header rule"/>
          <p:cNvSpPr/>
          <p:nvPr/>
        </p:nvSpPr>
        <p:spPr>
          <a:xfrm>
            <a:off x="320040" y="1975104"/>
            <a:ext cx="4343400" cy="0"/>
          </a:xfrm>
          <a:prstGeom prst="line">
            <a:avLst/>
          </a:prstGeom>
          <a:noFill/>
          <a:ln w="12700">
            <a:solidFill>
              <a:srgbClr val="1A1A1A"/>
            </a:solidFill>
            <a:prstDash val="solid"/>
          </a:ln>
        </p:spPr>
      </p:sp>
      <p:graphicFrame>
        <p:nvGraphicFramePr>
          <p:cNvPr id="6" name="Cohort chart" descr=""/>
          <p:cNvGraphicFramePr/>
          <p:nvPr/>
        </p:nvGraphicFramePr>
        <p:xfrm>
          <a:off x="320040" y="2103120"/>
          <a:ext cx="4343400" cy="2834640"/>
        </p:xfrm>
        <a:graphic xmlns:a="http://schemas.openxmlformats.org/drawingml/2006/main">
          <a:graphicData uri="http://schemas.openxmlformats.org/drawingml/2006/chart">
            <c:chart xmlns:c="http://schemas.openxmlformats.org/drawingml/2006/chart" r:id="rId1"/>
          </a:graphicData>
        </a:graphic>
      </p:graphicFrame>
      <p:sp>
        <p:nvSpPr>
          <p:cNvPr id="7" name="Peak label"/>
          <p:cNvSpPr txBox="1"/>
          <p:nvPr/>
        </p:nvSpPr>
        <p:spPr>
          <a:xfrm>
            <a:off x="868680" y="2103120"/>
            <a:ext cx="2286000" cy="256032"/>
          </a:xfrm>
          <a:prstGeom prst="rect">
            <a:avLst/>
          </a:prstGeom>
          <a:noFill/>
          <a:ln/>
        </p:spPr>
        <p:txBody>
          <a:bodyPr wrap="square" lIns="0" tIns="0" rIns="0" bIns="0" rtlCol="0" anchor="ctr"/>
          <a:lstStyle/>
          <a:p>
            <a:pPr algn="ctr" indent="0" marL="0">
              <a:buNone/>
            </a:pPr>
            <a:r>
              <a:rPr lang="en-US" sz="1200" b="1" dirty="0">
                <a:solidFill>
                  <a:schemeClr val="tx2"/>
                </a:solidFill>
              </a:rPr>
              <a:t>Heavy 2nd visits peak</a:t>
            </a:r>
            <a:endParaRPr lang="en-US" sz="1200" dirty="0"/>
          </a:p>
        </p:txBody>
      </p:sp>
      <p:sp>
        <p:nvSpPr>
          <p:cNvPr id="8" name="Late-life label"/>
          <p:cNvSpPr txBox="1"/>
          <p:nvPr/>
        </p:nvSpPr>
        <p:spPr>
          <a:xfrm>
            <a:off x="868680" y="4315968"/>
            <a:ext cx="3017520" cy="256032"/>
          </a:xfrm>
          <a:prstGeom prst="rect">
            <a:avLst/>
          </a:prstGeom>
          <a:noFill/>
          <a:ln/>
        </p:spPr>
        <p:txBody>
          <a:bodyPr wrap="square" lIns="0" tIns="0" rIns="0" bIns="0" rtlCol="0" anchor="ctr"/>
          <a:lstStyle/>
          <a:p>
            <a:pPr algn="l" indent="0" marL="0">
              <a:buNone/>
            </a:pPr>
            <a:r>
              <a:rPr lang="en-US" sz="1100" b="1" dirty="0">
                <a:solidFill>
                  <a:schemeClr val="accent2"/>
                </a:solidFill>
              </a:rPr>
              <a:t>Late-life, lighter visits keep rising</a:t>
            </a:r>
            <a:endParaRPr lang="en-US" sz="1100" dirty="0"/>
          </a:p>
        </p:txBody>
      </p:sp>
      <p:sp>
        <p:nvSpPr>
          <p:cNvPr id="9" name="Crossover dot"/>
          <p:cNvSpPr/>
          <p:nvPr/>
        </p:nvSpPr>
        <p:spPr>
          <a:xfrm>
            <a:off x="4206240" y="3145536"/>
            <a:ext cx="164592" cy="164592"/>
          </a:xfrm>
          <a:prstGeom prst="ellipse">
            <a:avLst/>
          </a:prstGeom>
          <a:solidFill>
            <a:srgbClr val="0A1C58"/>
          </a:solidFill>
          <a:ln w="19050">
            <a:solidFill>
              <a:srgbClr val="FFFFFF"/>
            </a:solidFill>
            <a:prstDash val="solid"/>
          </a:ln>
        </p:spPr>
      </p:sp>
      <p:sp>
        <p:nvSpPr>
          <p:cNvPr id="10" name="Crossover callout"/>
          <p:cNvSpPr/>
          <p:nvPr/>
        </p:nvSpPr>
        <p:spPr>
          <a:xfrm>
            <a:off x="3246120" y="3520440"/>
            <a:ext cx="1371600" cy="566928"/>
          </a:xfrm>
          <a:prstGeom prst="roundRect">
            <a:avLst>
              <a:gd name="adj" fmla="val 12903"/>
            </a:avLst>
          </a:prstGeom>
          <a:solidFill>
            <a:srgbClr val="0A1C58"/>
          </a:solidFill>
          <a:ln>
            <a:solidFill>
              <a:srgbClr val="0A1C58"/>
            </a:solidFill>
          </a:ln>
        </p:spPr>
        <p:txBody>
          <a:bodyPr wrap="square" lIns="0" tIns="0" rIns="0" bIns="0" rtlCol="0" anchor="ctr"/>
          <a:lstStyle/>
          <a:p>
            <a:pPr algn="ctr" indent="0" marL="0">
              <a:buNone/>
            </a:pPr>
            <a:r>
              <a:rPr lang="en-US" sz="1100" b="1" dirty="0">
                <a:solidFill>
                  <a:schemeClr val="bg1"/>
                </a:solidFill>
              </a:rPr>
              <a:t>Light work</a:t>
            </a:r>
            <a:endParaRPr lang="en-US" sz="1100" dirty="0"/>
          </a:p>
          <a:p>
            <a:pPr algn="ctr" indent="0" marL="0">
              <a:buNone/>
            </a:pPr>
            <a:r>
              <a:rPr lang="en-US" sz="1100" b="1" dirty="0">
                <a:solidFill>
                  <a:schemeClr val="bg1"/>
                </a:solidFill>
              </a:rPr>
              <a:t>overtakes ~2032</a:t>
            </a:r>
            <a:endParaRPr lang="en-US" sz="1100" dirty="0"/>
          </a:p>
        </p:txBody>
      </p:sp>
      <p:sp>
        <p:nvSpPr>
          <p:cNvPr id="11" name="Cohort caption"/>
          <p:cNvSpPr txBox="1"/>
          <p:nvPr/>
        </p:nvSpPr>
        <p:spPr>
          <a:xfrm>
            <a:off x="320040" y="4956048"/>
            <a:ext cx="4343400" cy="274320"/>
          </a:xfrm>
          <a:prstGeom prst="rect">
            <a:avLst/>
          </a:prstGeom>
          <a:noFill/>
          <a:ln/>
        </p:spPr>
        <p:txBody>
          <a:bodyPr wrap="square" lIns="0" tIns="0" rIns="0" bIns="0" rtlCol="0" anchor="ctr"/>
          <a:lstStyle/>
          <a:p>
            <a:pPr algn="ctr" indent="0" marL="0">
              <a:buNone/>
            </a:pPr>
            <a:r>
              <a:rPr lang="en-US" sz="1100" i="1" dirty="0">
                <a:solidFill>
                  <a:schemeClr val="accent2"/>
                </a:solidFill>
              </a:rPr>
              <a:t>Model through 2030; dashed = trend</a:t>
            </a:r>
            <a:endParaRPr lang="en-US" sz="1100" dirty="0"/>
          </a:p>
        </p:txBody>
      </p:sp>
      <p:sp>
        <p:nvSpPr>
          <p:cNvPr id="12" name="Mix header"/>
          <p:cNvSpPr txBox="1"/>
          <p:nvPr/>
        </p:nvSpPr>
        <p:spPr>
          <a:xfrm>
            <a:off x="4892040" y="1554480"/>
            <a:ext cx="3931920" cy="365760"/>
          </a:xfrm>
          <a:prstGeom prst="rect">
            <a:avLst/>
          </a:prstGeom>
          <a:noFill/>
          <a:ln/>
        </p:spPr>
        <p:txBody>
          <a:bodyPr wrap="square" lIns="0" tIns="0" rIns="0" bIns="0" rtlCol="0" anchor="b"/>
          <a:lstStyle/>
          <a:p>
            <a:pPr algn="ctr" indent="0" marL="0">
              <a:buNone/>
            </a:pPr>
            <a:r>
              <a:rPr lang="en-US" sz="1600" b="1" dirty="0">
                <a:solidFill>
                  <a:srgbClr val="1A1A1A"/>
                </a:solidFill>
              </a:rPr>
              <a:t>Margin vs. Light-Scope Mix</a:t>
            </a:r>
            <a:endParaRPr lang="en-US" sz="1600" dirty="0"/>
          </a:p>
        </p:txBody>
      </p:sp>
      <p:sp>
        <p:nvSpPr>
          <p:cNvPr id="13" name="Mix header rule"/>
          <p:cNvSpPr/>
          <p:nvPr/>
        </p:nvSpPr>
        <p:spPr>
          <a:xfrm>
            <a:off x="4892040" y="1975104"/>
            <a:ext cx="3931920" cy="0"/>
          </a:xfrm>
          <a:prstGeom prst="line">
            <a:avLst/>
          </a:prstGeom>
          <a:noFill/>
          <a:ln w="12700">
            <a:solidFill>
              <a:srgbClr val="1A1A1A"/>
            </a:solidFill>
            <a:prstDash val="solid"/>
          </a:ln>
        </p:spPr>
      </p:sp>
      <p:graphicFrame>
        <p:nvGraphicFramePr>
          <p:cNvPr id="14" name="Mix margin chart" descr=""/>
          <p:cNvGraphicFramePr/>
          <p:nvPr/>
        </p:nvGraphicFramePr>
        <p:xfrm>
          <a:off x="4892040" y="2103120"/>
          <a:ext cx="3931920" cy="2743200"/>
        </p:xfrm>
        <a:graphic xmlns:a="http://schemas.openxmlformats.org/drawingml/2006/main">
          <a:graphicData uri="http://schemas.openxmlformats.org/drawingml/2006/chart">
            <c:chart xmlns:c="http://schemas.openxmlformats.org/drawingml/2006/chart" r:id="rId2"/>
          </a:graphicData>
        </a:graphic>
      </p:graphicFrame>
      <p:sp>
        <p:nvSpPr>
          <p:cNvPr id="15" name="Mix caption"/>
          <p:cNvSpPr txBox="1"/>
          <p:nvPr/>
        </p:nvSpPr>
        <p:spPr>
          <a:xfrm>
            <a:off x="4892040" y="4892040"/>
            <a:ext cx="3931920" cy="411480"/>
          </a:xfrm>
          <a:prstGeom prst="rect">
            <a:avLst/>
          </a:prstGeom>
          <a:noFill/>
          <a:ln/>
        </p:spPr>
        <p:txBody>
          <a:bodyPr wrap="square" lIns="0" tIns="0" rIns="0" bIns="0" rtlCol="0" anchor="ctr"/>
          <a:lstStyle/>
          <a:p>
            <a:pPr algn="ctr" indent="0" marL="0">
              <a:buNone/>
            </a:pPr>
            <a:r>
              <a:rPr lang="en-US" sz="1100" i="1" dirty="0">
                <a:solidFill>
                  <a:schemeClr val="accent2"/>
                </a:solidFill>
              </a:rPr>
              <a:t>Light-scope share of jobs (management's job economics)</a:t>
            </a:r>
            <a:endParaRPr lang="en-US" sz="1100" dirty="0"/>
          </a:p>
        </p:txBody>
      </p:sp>
      <p:sp>
        <p:nvSpPr>
          <p:cNvPr id="16"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When light work returns, every 10 pts of mix adds ~1.5–2 pts of margin, above today's ~30%.</a:t>
            </a:r>
            <a:endParaRPr lang="en-US" sz="1700" dirty="0"/>
          </a:p>
        </p:txBody>
      </p:sp>
      <p:sp>
        <p:nvSpPr>
          <p:cNvPr id="17"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model (CFM56 Data tab: cohort roll-forward, central case); FTAI earnings call (light vs. heavy job economics)</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1a: Margin Floor (4/4)</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Cheaper PMA parts add a new margin lever, and our base case uses it sparingly.</a:t>
            </a:r>
            <a:endParaRPr lang="en-US" sz="1700" dirty="0"/>
          </a:p>
        </p:txBody>
      </p:sp>
      <p:sp>
        <p:nvSpPr>
          <p:cNvPr id="4" name="PMA ramp header"/>
          <p:cNvSpPr txBox="1"/>
          <p:nvPr/>
        </p:nvSpPr>
        <p:spPr>
          <a:xfrm>
            <a:off x="320040" y="1554480"/>
            <a:ext cx="4206240" cy="365760"/>
          </a:xfrm>
          <a:prstGeom prst="rect">
            <a:avLst/>
          </a:prstGeom>
          <a:noFill/>
          <a:ln/>
        </p:spPr>
        <p:txBody>
          <a:bodyPr wrap="square" lIns="0" tIns="0" rIns="0" bIns="0" rtlCol="0" anchor="b"/>
          <a:lstStyle/>
          <a:p>
            <a:pPr algn="ctr" indent="0" marL="0">
              <a:buNone/>
            </a:pPr>
            <a:r>
              <a:rPr lang="en-US" sz="1600" b="1" dirty="0">
                <a:solidFill>
                  <a:srgbClr val="1A1A1A"/>
                </a:solidFill>
              </a:rPr>
              <a:t>PMA Ramp in Our Model</a:t>
            </a:r>
            <a:endParaRPr lang="en-US" sz="1600" dirty="0"/>
          </a:p>
        </p:txBody>
      </p:sp>
      <p:sp>
        <p:nvSpPr>
          <p:cNvPr id="5" name="PMA ramp header rule"/>
          <p:cNvSpPr/>
          <p:nvPr/>
        </p:nvSpPr>
        <p:spPr>
          <a:xfrm>
            <a:off x="320040" y="1975104"/>
            <a:ext cx="4206240" cy="0"/>
          </a:xfrm>
          <a:prstGeom prst="line">
            <a:avLst/>
          </a:prstGeom>
          <a:noFill/>
          <a:ln w="12700">
            <a:solidFill>
              <a:srgbClr val="1A1A1A"/>
            </a:solidFill>
            <a:prstDash val="solid"/>
          </a:ln>
        </p:spPr>
      </p:sp>
      <p:sp>
        <p:nvSpPr>
          <p:cNvPr id="6" name="Adoption label"/>
          <p:cNvSpPr txBox="1"/>
          <p:nvPr/>
        </p:nvSpPr>
        <p:spPr>
          <a:xfrm>
            <a:off x="320040" y="2084832"/>
            <a:ext cx="4206240" cy="228600"/>
          </a:xfrm>
          <a:prstGeom prst="rect">
            <a:avLst/>
          </a:prstGeom>
          <a:noFill/>
          <a:ln/>
        </p:spPr>
        <p:txBody>
          <a:bodyPr wrap="square" lIns="0" tIns="0" rIns="0" bIns="0" rtlCol="0" anchor="ctr"/>
          <a:lstStyle/>
          <a:p>
            <a:pPr algn="l" indent="0" marL="0">
              <a:buNone/>
            </a:pPr>
            <a:r>
              <a:rPr lang="en-US" sz="1100" i="1" dirty="0">
                <a:solidFill>
                  <a:schemeClr val="accent2"/>
                </a:solidFill>
              </a:rPr>
              <a:t>Adoption (% of modules)</a:t>
            </a:r>
            <a:endParaRPr lang="en-US" sz="1100" dirty="0"/>
          </a:p>
        </p:txBody>
      </p:sp>
      <p:graphicFrame>
        <p:nvGraphicFramePr>
          <p:cNvPr id="7" name="PMA adoption chart" descr=""/>
          <p:cNvGraphicFramePr/>
          <p:nvPr/>
        </p:nvGraphicFramePr>
        <p:xfrm>
          <a:off x="320040" y="2240280"/>
          <a:ext cx="4206240" cy="960120"/>
        </p:xfrm>
        <a:graphic xmlns:a="http://schemas.openxmlformats.org/drawingml/2006/main">
          <a:graphicData uri="http://schemas.openxmlformats.org/drawingml/2006/chart">
            <c:chart xmlns:c="http://schemas.openxmlformats.org/drawingml/2006/chart" r:id="rId1"/>
          </a:graphicData>
        </a:graphic>
      </p:graphicFrame>
      <p:sp>
        <p:nvSpPr>
          <p:cNvPr id="8" name="Uplift label"/>
          <p:cNvSpPr txBox="1"/>
          <p:nvPr/>
        </p:nvSpPr>
        <p:spPr>
          <a:xfrm>
            <a:off x="320040" y="3200400"/>
            <a:ext cx="4206240" cy="228600"/>
          </a:xfrm>
          <a:prstGeom prst="rect">
            <a:avLst/>
          </a:prstGeom>
          <a:noFill/>
          <a:ln/>
        </p:spPr>
        <p:txBody>
          <a:bodyPr wrap="square" lIns="0" tIns="0" rIns="0" bIns="0" rtlCol="0" anchor="ctr"/>
          <a:lstStyle/>
          <a:p>
            <a:pPr algn="l" indent="0" marL="0">
              <a:buNone/>
            </a:pPr>
            <a:r>
              <a:rPr lang="en-US" sz="1100" i="1" dirty="0">
                <a:solidFill>
                  <a:schemeClr val="tx2"/>
                </a:solidFill>
              </a:rPr>
              <a:t>EBITDA uplift ($M)</a:t>
            </a:r>
            <a:endParaRPr lang="en-US" sz="1100" dirty="0"/>
          </a:p>
        </p:txBody>
      </p:sp>
      <p:graphicFrame>
        <p:nvGraphicFramePr>
          <p:cNvPr id="9" name="PMA uplift chart" descr=""/>
          <p:cNvGraphicFramePr/>
          <p:nvPr/>
        </p:nvGraphicFramePr>
        <p:xfrm>
          <a:off x="320040" y="3383280"/>
          <a:ext cx="4206240" cy="1920240"/>
        </p:xfrm>
        <a:graphic xmlns:a="http://schemas.openxmlformats.org/drawingml/2006/main">
          <a:graphicData uri="http://schemas.openxmlformats.org/drawingml/2006/chart">
            <c:chart xmlns:c="http://schemas.openxmlformats.org/drawingml/2006/chart" r:id="rId2"/>
          </a:graphicData>
        </a:graphic>
      </p:graphicFrame>
      <p:sp>
        <p:nvSpPr>
          <p:cNvPr id="10" name="Sensitivity header"/>
          <p:cNvSpPr txBox="1"/>
          <p:nvPr/>
        </p:nvSpPr>
        <p:spPr>
          <a:xfrm>
            <a:off x="4892040" y="1554480"/>
            <a:ext cx="3931920" cy="365760"/>
          </a:xfrm>
          <a:prstGeom prst="rect">
            <a:avLst/>
          </a:prstGeom>
          <a:noFill/>
          <a:ln/>
        </p:spPr>
        <p:txBody>
          <a:bodyPr wrap="square" lIns="0" tIns="0" rIns="0" bIns="0" rtlCol="0" anchor="b"/>
          <a:lstStyle/>
          <a:p>
            <a:pPr algn="ctr" indent="0" marL="0">
              <a:buNone/>
            </a:pPr>
            <a:r>
              <a:rPr lang="en-US" sz="1600" b="1" dirty="0">
                <a:solidFill>
                  <a:srgbClr val="1A1A1A"/>
                </a:solidFill>
              </a:rPr>
              <a:t>Upside If Adoption Runs Faster</a:t>
            </a:r>
            <a:endParaRPr lang="en-US" sz="1600" dirty="0"/>
          </a:p>
        </p:txBody>
      </p:sp>
      <p:sp>
        <p:nvSpPr>
          <p:cNvPr id="11" name="Sensitivity header rule"/>
          <p:cNvSpPr/>
          <p:nvPr/>
        </p:nvSpPr>
        <p:spPr>
          <a:xfrm>
            <a:off x="4892040" y="1975104"/>
            <a:ext cx="3931920" cy="0"/>
          </a:xfrm>
          <a:prstGeom prst="line">
            <a:avLst/>
          </a:prstGeom>
          <a:noFill/>
          <a:ln w="12700">
            <a:solidFill>
              <a:srgbClr val="1A1A1A"/>
            </a:solidFill>
            <a:prstDash val="solid"/>
          </a:ln>
        </p:spPr>
      </p:sp>
      <p:graphicFrame>
        <p:nvGraphicFramePr>
          <p:cNvPr id="12" name="PMA sensitivity chart" descr=""/>
          <p:cNvGraphicFramePr/>
          <p:nvPr/>
        </p:nvGraphicFramePr>
        <p:xfrm>
          <a:off x="4892040" y="2103120"/>
          <a:ext cx="3931920" cy="2743200"/>
        </p:xfrm>
        <a:graphic xmlns:a="http://schemas.openxmlformats.org/drawingml/2006/main">
          <a:graphicData uri="http://schemas.openxmlformats.org/drawingml/2006/chart">
            <c:chart xmlns:c="http://schemas.openxmlformats.org/drawingml/2006/chart" r:id="rId3"/>
          </a:graphicData>
        </a:graphic>
      </p:graphicFrame>
      <p:sp>
        <p:nvSpPr>
          <p:cNvPr id="13" name="Sensitivity caption"/>
          <p:cNvSpPr txBox="1"/>
          <p:nvPr/>
        </p:nvSpPr>
        <p:spPr>
          <a:xfrm>
            <a:off x="4892040" y="4892040"/>
            <a:ext cx="3931920" cy="411480"/>
          </a:xfrm>
          <a:prstGeom prst="rect">
            <a:avLst/>
          </a:prstGeom>
          <a:noFill/>
          <a:ln/>
        </p:spPr>
        <p:txBody>
          <a:bodyPr wrap="square" lIns="0" tIns="0" rIns="0" bIns="0" rtlCol="0" anchor="ctr"/>
          <a:lstStyle/>
          <a:p>
            <a:pPr algn="ctr" indent="0" marL="0">
              <a:buNone/>
            </a:pPr>
            <a:r>
              <a:rPr lang="en-US" sz="1100" i="1" dirty="0">
                <a:solidFill>
                  <a:schemeClr val="accent2"/>
                </a:solidFill>
              </a:rPr>
              <a:t>FY26E Aerospace EBITDA ($M) at 1,200 modules vs. PMA adoption (Jefferies)</a:t>
            </a:r>
            <a:endParaRPr lang="en-US" sz="1100" dirty="0"/>
          </a:p>
        </p:txBody>
      </p:sp>
      <p:sp>
        <p:nvSpPr>
          <p:cNvPr id="14"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3 of 5 Chromalloy parts are approved, and every 5 pts of adoption adds ~$43M of EBITDA.</a:t>
            </a:r>
            <a:endParaRPr lang="en-US" sz="1700" dirty="0"/>
          </a:p>
        </p:txBody>
      </p:sp>
      <p:sp>
        <p:nvSpPr>
          <p:cNvPr id="15"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model (RPM tab: PMA penetration × $0.4M uplift per module); Jefferies estimates; FAA PMA data</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1b: Share Gains (1/5)</a:t>
            </a:r>
            <a:endParaRPr lang="en-US" sz="3200" dirty="0"/>
          </a:p>
        </p:txBody>
      </p:sp>
      <p:sp>
        <p:nvSpPr>
          <p:cNvPr id="3" name="Reason 1"/>
          <p:cNvSpPr txBox="1"/>
          <p:nvPr/>
        </p:nvSpPr>
        <p:spPr>
          <a:xfrm>
            <a:off x="1600200" y="1097280"/>
            <a:ext cx="6629400" cy="713232"/>
          </a:xfrm>
          <a:prstGeom prst="rect">
            <a:avLst/>
          </a:prstGeom>
          <a:solidFill>
            <a:srgbClr val="DCD8D3"/>
          </a:solidFill>
          <a:ln/>
        </p:spPr>
        <p:txBody>
          <a:bodyPr wrap="square" lIns="558800" tIns="25400" rIns="127000" bIns="25400" rtlCol="0" anchor="ctr"/>
          <a:lstStyle/>
          <a:p>
            <a:pPr algn="ctr" indent="0" marL="0">
              <a:buNone/>
            </a:pPr>
            <a:r>
              <a:rPr lang="en-US" sz="1500" b="1" dirty="0">
                <a:solidFill>
                  <a:schemeClr val="tx2"/>
                </a:solidFill>
              </a:rPr>
              <a:t>OEM shops are moving their capacity to LEAP, leaving CFM56 work behind.</a:t>
            </a:r>
            <a:endParaRPr lang="en-US" sz="1500" dirty="0"/>
          </a:p>
        </p:txBody>
      </p:sp>
      <p:sp>
        <p:nvSpPr>
          <p:cNvPr id="4" name="Reason 1 number"/>
          <p:cNvSpPr/>
          <p:nvPr/>
        </p:nvSpPr>
        <p:spPr>
          <a:xfrm>
            <a:off x="1161288" y="1060704"/>
            <a:ext cx="786384" cy="786384"/>
          </a:xfrm>
          <a:prstGeom prst="ellipse">
            <a:avLst/>
          </a:prstGeom>
          <a:solidFill>
            <a:srgbClr val="FFFFFF"/>
          </a:solidFill>
          <a:ln w="25400">
            <a:solidFill>
              <a:srgbClr val="0A1C58"/>
            </a:solid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5" name="Reason 2"/>
          <p:cNvSpPr txBox="1"/>
          <p:nvPr/>
        </p:nvSpPr>
        <p:spPr>
          <a:xfrm>
            <a:off x="1600200" y="2011680"/>
            <a:ext cx="6629400" cy="713232"/>
          </a:xfrm>
          <a:prstGeom prst="rect">
            <a:avLst/>
          </a:prstGeom>
          <a:solidFill>
            <a:srgbClr val="DCD8D3"/>
          </a:solidFill>
          <a:ln/>
        </p:spPr>
        <p:txBody>
          <a:bodyPr wrap="square" lIns="558800" tIns="25400" rIns="127000" bIns="25400" rtlCol="0" anchor="ctr"/>
          <a:lstStyle/>
          <a:p>
            <a:pPr algn="ctr" indent="0" marL="0">
              <a:buNone/>
            </a:pPr>
            <a:r>
              <a:rPr lang="en-US" sz="1500" b="1" dirty="0">
                <a:solidFill>
                  <a:schemeClr val="tx2"/>
                </a:solidFill>
              </a:rPr>
              <a:t>Independent MROs are clogged: CFM56 overhauls now take 90–120 days.</a:t>
            </a:r>
            <a:endParaRPr lang="en-US" sz="1500" dirty="0"/>
          </a:p>
        </p:txBody>
      </p:sp>
      <p:sp>
        <p:nvSpPr>
          <p:cNvPr id="6" name="Reason 2 number"/>
          <p:cNvSpPr/>
          <p:nvPr/>
        </p:nvSpPr>
        <p:spPr>
          <a:xfrm>
            <a:off x="1161288" y="1975104"/>
            <a:ext cx="786384" cy="786384"/>
          </a:xfrm>
          <a:prstGeom prst="ellipse">
            <a:avLst/>
          </a:prstGeom>
          <a:solidFill>
            <a:srgbClr val="FFFFFF"/>
          </a:solidFill>
          <a:ln w="25400">
            <a:solidFill>
              <a:srgbClr val="0A1C58"/>
            </a:solid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7" name="Reason 3"/>
          <p:cNvSpPr txBox="1"/>
          <p:nvPr/>
        </p:nvSpPr>
        <p:spPr>
          <a:xfrm>
            <a:off x="1600200" y="2926080"/>
            <a:ext cx="6629400" cy="713232"/>
          </a:xfrm>
          <a:prstGeom prst="rect">
            <a:avLst/>
          </a:prstGeom>
          <a:solidFill>
            <a:srgbClr val="DCD8D3"/>
          </a:solidFill>
          <a:ln/>
        </p:spPr>
        <p:txBody>
          <a:bodyPr wrap="square" lIns="558800" tIns="25400" rIns="127000" bIns="25400" rtlCol="0" anchor="ctr"/>
          <a:lstStyle/>
          <a:p>
            <a:pPr algn="ctr" indent="0" marL="0">
              <a:buNone/>
            </a:pPr>
            <a:r>
              <a:rPr lang="en-US" sz="1500" b="1" dirty="0">
                <a:solidFill>
                  <a:schemeClr val="tx2"/>
                </a:solidFill>
              </a:rPr>
              <a:t>FTAI's module swap returns an engine in 5–25 days, not months.</a:t>
            </a:r>
            <a:endParaRPr lang="en-US" sz="1500" dirty="0"/>
          </a:p>
        </p:txBody>
      </p:sp>
      <p:sp>
        <p:nvSpPr>
          <p:cNvPr id="8" name="Reason 3 number"/>
          <p:cNvSpPr/>
          <p:nvPr/>
        </p:nvSpPr>
        <p:spPr>
          <a:xfrm>
            <a:off x="1161288" y="2889504"/>
            <a:ext cx="786384" cy="786384"/>
          </a:xfrm>
          <a:prstGeom prst="ellipse">
            <a:avLst/>
          </a:prstGeom>
          <a:solidFill>
            <a:srgbClr val="FFFFFF"/>
          </a:solidFill>
          <a:ln w="25400">
            <a:solidFill>
              <a:srgbClr val="0A1C58"/>
            </a:solid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9" name="Reason 4"/>
          <p:cNvSpPr txBox="1"/>
          <p:nvPr/>
        </p:nvSpPr>
        <p:spPr>
          <a:xfrm>
            <a:off x="1600200" y="3840480"/>
            <a:ext cx="6629400" cy="713232"/>
          </a:xfrm>
          <a:prstGeom prst="rect">
            <a:avLst/>
          </a:prstGeom>
          <a:solidFill>
            <a:srgbClr val="DCD8D3"/>
          </a:solidFill>
          <a:ln/>
        </p:spPr>
        <p:txBody>
          <a:bodyPr wrap="square" lIns="558800" tIns="25400" rIns="127000" bIns="25400" rtlCol="0" anchor="ctr"/>
          <a:lstStyle/>
          <a:p>
            <a:pPr algn="ctr" indent="0" marL="0">
              <a:buNone/>
            </a:pPr>
            <a:r>
              <a:rPr lang="en-US" sz="1500" b="1" dirty="0">
                <a:solidFill>
                  <a:schemeClr val="tx2"/>
                </a:solidFill>
              </a:rPr>
              <a:t>New sites in Jakarta, Cairo and Lisbon lift capacity to 3,000 modules.</a:t>
            </a:r>
            <a:endParaRPr lang="en-US" sz="1500" dirty="0"/>
          </a:p>
        </p:txBody>
      </p:sp>
      <p:sp>
        <p:nvSpPr>
          <p:cNvPr id="10" name="Reason 4 number"/>
          <p:cNvSpPr/>
          <p:nvPr/>
        </p:nvSpPr>
        <p:spPr>
          <a:xfrm>
            <a:off x="1161288" y="3803904"/>
            <a:ext cx="786384" cy="786384"/>
          </a:xfrm>
          <a:prstGeom prst="ellipse">
            <a:avLst/>
          </a:prstGeom>
          <a:solidFill>
            <a:srgbClr val="FFFFFF"/>
          </a:solidFill>
          <a:ln w="25400">
            <a:solidFill>
              <a:srgbClr val="0A1C58"/>
            </a:solid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1" name="Funnel"/>
          <p:cNvSpPr/>
          <p:nvPr/>
        </p:nvSpPr>
        <p:spPr>
          <a:xfrm flipV="1">
            <a:off x="1188720" y="4709160"/>
            <a:ext cx="7040880" cy="365760"/>
          </a:xfrm>
          <a:prstGeom prst="triangle">
            <a:avLst/>
          </a:prstGeom>
          <a:solidFill>
            <a:srgbClr val="DCD8D3"/>
          </a:solidFill>
          <a:ln/>
        </p:spPr>
      </p:sp>
      <p:sp>
        <p:nvSpPr>
          <p:cNvPr id="12" name="Conclusion"/>
          <p:cNvSpPr txBox="1"/>
          <p:nvPr/>
        </p:nvSpPr>
        <p:spPr>
          <a:xfrm>
            <a:off x="1188720" y="5193792"/>
            <a:ext cx="7040880" cy="777240"/>
          </a:xfrm>
          <a:prstGeom prst="rect">
            <a:avLst/>
          </a:prstGeom>
          <a:solidFill>
            <a:srgbClr val="0A1C58"/>
          </a:solidFill>
          <a:ln/>
        </p:spPr>
        <p:txBody>
          <a:bodyPr wrap="square" lIns="127000" tIns="25400" rIns="127000" bIns="25400" rtlCol="0" anchor="ctr"/>
          <a:lstStyle/>
          <a:p>
            <a:pPr algn="ctr" indent="0" marL="0">
              <a:buNone/>
            </a:pPr>
            <a:r>
              <a:rPr lang="en-US" sz="1600" b="1" dirty="0">
                <a:solidFill>
                  <a:schemeClr val="bg1"/>
                </a:solidFill>
              </a:rPr>
              <a:t>FTAI's share of CFM56 module work rises from ~12% to 20% by FY30, with every SCI aircraft as a contracted floor.</a:t>
            </a:r>
            <a:endParaRPr lang="en-US" sz="1600" dirty="0"/>
          </a:p>
        </p:txBody>
      </p:sp>
      <p:sp>
        <p:nvSpPr>
          <p:cNvPr id="13"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GE Aerospace earnings calls (2026), Aviation Business News (2025), FTAI Q2'24 call and Q2'26 supplement, GPS model</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1b: Share Gains (2/5)</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Independent shops are clogged, and OEMs are pouring new capacity into LEAP, not CFM56.</a:t>
            </a:r>
            <a:endParaRPr lang="en-US" sz="1700" dirty="0"/>
          </a:p>
        </p:txBody>
      </p:sp>
      <p:sp>
        <p:nvSpPr>
          <p:cNvPr id="4" name="MRO header"/>
          <p:cNvSpPr txBox="1"/>
          <p:nvPr/>
        </p:nvSpPr>
        <p:spPr>
          <a:xfrm>
            <a:off x="320040" y="1554480"/>
            <a:ext cx="4023360" cy="365760"/>
          </a:xfrm>
          <a:prstGeom prst="rect">
            <a:avLst/>
          </a:prstGeom>
          <a:noFill/>
          <a:ln/>
        </p:spPr>
        <p:txBody>
          <a:bodyPr wrap="square" lIns="0" tIns="0" rIns="0" bIns="0" rtlCol="0" anchor="b"/>
          <a:lstStyle/>
          <a:p>
            <a:pPr algn="ctr" indent="0" marL="0">
              <a:buNone/>
            </a:pPr>
            <a:r>
              <a:rPr lang="en-US" sz="1600" b="1" dirty="0">
                <a:solidFill>
                  <a:srgbClr val="1A1A1A"/>
                </a:solidFill>
              </a:rPr>
              <a:t>Independent Shops Are Clogged…</a:t>
            </a:r>
            <a:endParaRPr lang="en-US" sz="1600" dirty="0"/>
          </a:p>
        </p:txBody>
      </p:sp>
      <p:sp>
        <p:nvSpPr>
          <p:cNvPr id="5" name="MRO header rule"/>
          <p:cNvSpPr/>
          <p:nvPr/>
        </p:nvSpPr>
        <p:spPr>
          <a:xfrm>
            <a:off x="320040" y="1975104"/>
            <a:ext cx="4023360" cy="0"/>
          </a:xfrm>
          <a:prstGeom prst="line">
            <a:avLst/>
          </a:prstGeom>
          <a:noFill/>
          <a:ln w="12700">
            <a:solidFill>
              <a:srgbClr val="1A1A1A"/>
            </a:solidFill>
            <a:prstDash val="solid"/>
          </a:ln>
        </p:spPr>
      </p:sp>
      <p:graphicFrame>
        <p:nvGraphicFramePr>
          <p:cNvPr id="6" name="Overhaul days chart" descr=""/>
          <p:cNvGraphicFramePr/>
          <p:nvPr/>
        </p:nvGraphicFramePr>
        <p:xfrm>
          <a:off x="548640" y="2240280"/>
          <a:ext cx="2286000" cy="1874520"/>
        </p:xfrm>
        <a:graphic xmlns:a="http://schemas.openxmlformats.org/drawingml/2006/main">
          <a:graphicData uri="http://schemas.openxmlformats.org/drawingml/2006/chart">
            <c:chart xmlns:c="http://schemas.openxmlformats.org/drawingml/2006/chart" r:id="rId1"/>
          </a:graphicData>
        </a:graphic>
      </p:graphicFrame>
      <p:sp>
        <p:nvSpPr>
          <p:cNvPr id="7" name="Pre-COVID days"/>
          <p:cNvSpPr txBox="1"/>
          <p:nvPr/>
        </p:nvSpPr>
        <p:spPr>
          <a:xfrm>
            <a:off x="685800" y="2926080"/>
            <a:ext cx="914400" cy="274320"/>
          </a:xfrm>
          <a:prstGeom prst="rect">
            <a:avLst/>
          </a:prstGeom>
          <a:noFill/>
          <a:ln/>
        </p:spPr>
        <p:txBody>
          <a:bodyPr wrap="square" lIns="0" tIns="0" rIns="0" bIns="0" rtlCol="0" anchor="ctr"/>
          <a:lstStyle/>
          <a:p>
            <a:pPr algn="ctr" indent="0" marL="0">
              <a:buNone/>
            </a:pPr>
            <a:r>
              <a:rPr lang="en-US" sz="1500" b="1" dirty="0">
                <a:solidFill>
                  <a:srgbClr val="1A1A1A"/>
                </a:solidFill>
              </a:rPr>
              <a:t>~60</a:t>
            </a:r>
            <a:endParaRPr lang="en-US" sz="1500" dirty="0"/>
          </a:p>
        </p:txBody>
      </p:sp>
      <p:sp>
        <p:nvSpPr>
          <p:cNvPr id="8" name="Today days"/>
          <p:cNvSpPr txBox="1"/>
          <p:nvPr/>
        </p:nvSpPr>
        <p:spPr>
          <a:xfrm>
            <a:off x="1737360" y="2103120"/>
            <a:ext cx="1005840" cy="274320"/>
          </a:xfrm>
          <a:prstGeom prst="rect">
            <a:avLst/>
          </a:prstGeom>
          <a:noFill/>
          <a:ln/>
        </p:spPr>
        <p:txBody>
          <a:bodyPr wrap="square" lIns="0" tIns="0" rIns="0" bIns="0" rtlCol="0" anchor="ctr"/>
          <a:lstStyle/>
          <a:p>
            <a:pPr algn="ctr" indent="0" marL="0">
              <a:buNone/>
            </a:pPr>
            <a:r>
              <a:rPr lang="en-US" sz="1500" b="1" dirty="0">
                <a:solidFill>
                  <a:schemeClr val="tx2"/>
                </a:solidFill>
              </a:rPr>
              <a:t>90–120</a:t>
            </a:r>
            <a:endParaRPr lang="en-US" sz="1500" dirty="0"/>
          </a:p>
        </p:txBody>
      </p:sp>
      <p:sp>
        <p:nvSpPr>
          <p:cNvPr id="9" name="Days caption"/>
          <p:cNvSpPr txBox="1"/>
          <p:nvPr/>
        </p:nvSpPr>
        <p:spPr>
          <a:xfrm>
            <a:off x="548640" y="4133088"/>
            <a:ext cx="2286000" cy="237744"/>
          </a:xfrm>
          <a:prstGeom prst="rect">
            <a:avLst/>
          </a:prstGeom>
          <a:noFill/>
          <a:ln/>
        </p:spPr>
        <p:txBody>
          <a:bodyPr wrap="square" lIns="0" tIns="0" rIns="0" bIns="0" rtlCol="0" anchor="ctr"/>
          <a:lstStyle/>
          <a:p>
            <a:pPr algn="ctr" indent="0" marL="0">
              <a:buNone/>
            </a:pPr>
            <a:r>
              <a:rPr lang="en-US" sz="1100" i="1" dirty="0">
                <a:solidFill>
                  <a:schemeClr val="accent2"/>
                </a:solidFill>
              </a:rPr>
              <a:t>CFM56 overhaul, days</a:t>
            </a:r>
            <a:endParaRPr lang="en-US" sz="1100" dirty="0"/>
          </a:p>
        </p:txBody>
      </p:sp>
      <p:sp>
        <p:nvSpPr>
          <p:cNvPr id="10" name="Slot wait stat"/>
          <p:cNvSpPr txBox="1"/>
          <p:nvPr/>
        </p:nvSpPr>
        <p:spPr>
          <a:xfrm>
            <a:off x="2880360" y="2514600"/>
            <a:ext cx="1463040" cy="1188720"/>
          </a:xfrm>
          <a:prstGeom prst="rect">
            <a:avLst/>
          </a:prstGeom>
          <a:noFill/>
          <a:ln/>
        </p:spPr>
        <p:txBody>
          <a:bodyPr wrap="square" lIns="0" tIns="0" rIns="0" bIns="0" rtlCol="0" anchor="ctr"/>
          <a:lstStyle/>
          <a:p>
            <a:pPr algn="ctr" indent="0" marL="0">
              <a:buNone/>
            </a:pPr>
            <a:r>
              <a:rPr lang="en-US" sz="2400" b="1" dirty="0">
                <a:solidFill>
                  <a:schemeClr val="tx2"/>
                </a:solidFill>
              </a:rPr>
              <a:t>+2–6</a:t>
            </a:r>
            <a:endParaRPr lang="en-US" sz="2400" dirty="0"/>
          </a:p>
          <a:p>
            <a:pPr algn="ctr" indent="0" marL="0">
              <a:buNone/>
            </a:pPr>
            <a:r>
              <a:rPr lang="en-US" sz="1100" dirty="0">
                <a:solidFill>
                  <a:srgbClr val="1A1A1A"/>
                </a:solidFill>
              </a:rPr>
              <a:t>months just to get a shop slot</a:t>
            </a:r>
            <a:endParaRPr lang="en-US" sz="2400" dirty="0"/>
          </a:p>
        </p:txBody>
      </p:sp>
      <p:sp>
        <p:nvSpPr>
          <p:cNvPr id="11" name="OEM header"/>
          <p:cNvSpPr txBox="1"/>
          <p:nvPr/>
        </p:nvSpPr>
        <p:spPr>
          <a:xfrm>
            <a:off x="4800600" y="1554480"/>
            <a:ext cx="4023360" cy="365760"/>
          </a:xfrm>
          <a:prstGeom prst="rect">
            <a:avLst/>
          </a:prstGeom>
          <a:noFill/>
          <a:ln/>
        </p:spPr>
        <p:txBody>
          <a:bodyPr wrap="square" lIns="0" tIns="0" rIns="0" bIns="0" rtlCol="0" anchor="b"/>
          <a:lstStyle/>
          <a:p>
            <a:pPr algn="ctr" indent="0" marL="0">
              <a:buNone/>
            </a:pPr>
            <a:r>
              <a:rPr lang="en-US" sz="1600" b="1" dirty="0">
                <a:solidFill>
                  <a:srgbClr val="1A1A1A"/>
                </a:solidFill>
              </a:rPr>
              <a:t>…While OEMs Pivot to LEAP</a:t>
            </a:r>
            <a:endParaRPr lang="en-US" sz="1600" dirty="0"/>
          </a:p>
        </p:txBody>
      </p:sp>
      <p:sp>
        <p:nvSpPr>
          <p:cNvPr id="12" name="OEM header rule"/>
          <p:cNvSpPr/>
          <p:nvPr/>
        </p:nvSpPr>
        <p:spPr>
          <a:xfrm>
            <a:off x="4800600" y="1975104"/>
            <a:ext cx="4023360" cy="0"/>
          </a:xfrm>
          <a:prstGeom prst="line">
            <a:avLst/>
          </a:prstGeom>
          <a:noFill/>
          <a:ln w="12700">
            <a:solidFill>
              <a:srgbClr val="1A1A1A"/>
            </a:solidFill>
            <a:prstDash val="solid"/>
          </a:ln>
        </p:spPr>
      </p:sp>
      <p:graphicFrame>
        <p:nvGraphicFramePr>
          <p:cNvPr id="13" name="Shop visit mix chart" descr=""/>
          <p:cNvGraphicFramePr/>
          <p:nvPr/>
        </p:nvGraphicFramePr>
        <p:xfrm>
          <a:off x="4892040" y="2240280"/>
          <a:ext cx="2240280" cy="1874520"/>
        </p:xfrm>
        <a:graphic xmlns:a="http://schemas.openxmlformats.org/drawingml/2006/main">
          <a:graphicData uri="http://schemas.openxmlformats.org/drawingml/2006/chart">
            <c:chart xmlns:c="http://schemas.openxmlformats.org/drawingml/2006/chart" r:id="rId2"/>
          </a:graphicData>
        </a:graphic>
      </p:graphicFrame>
      <p:sp>
        <p:nvSpPr>
          <p:cNvPr id="14" name="Mix legend"/>
          <p:cNvSpPr txBox="1"/>
          <p:nvPr/>
        </p:nvSpPr>
        <p:spPr>
          <a:xfrm>
            <a:off x="4892040" y="4133088"/>
            <a:ext cx="2240280" cy="237744"/>
          </a:xfrm>
          <a:prstGeom prst="rect">
            <a:avLst/>
          </a:prstGeom>
          <a:noFill/>
          <a:ln/>
        </p:spPr>
        <p:txBody>
          <a:bodyPr wrap="square" lIns="0" tIns="0" rIns="0" bIns="0" rtlCol="0" anchor="ctr"/>
          <a:lstStyle/>
          <a:p>
            <a:pPr algn="ctr" indent="0" marL="0">
              <a:buNone/>
            </a:pPr>
            <a:r>
              <a:rPr lang="en-US" sz="1100" dirty="0">
                <a:solidFill>
                  <a:srgbClr val="B5AEA9"/>
                </a:solidFill>
              </a:rPr>
              <a:t>■ </a:t>
            </a:r>
            <a:pPr algn="ctr" indent="0" marL="0">
              <a:buNone/>
            </a:pPr>
            <a:r>
              <a:rPr lang="en-US" sz="1100" dirty="0">
                <a:solidFill>
                  <a:srgbClr val="1A1A1A"/>
                </a:solidFill>
              </a:rPr>
              <a:t>CFM56  </a:t>
            </a:r>
            <a:pPr algn="ctr" indent="0" marL="0">
              <a:buNone/>
            </a:pPr>
            <a:r>
              <a:rPr lang="en-US" sz="1100" dirty="0">
                <a:solidFill>
                  <a:srgbClr val="0A1C58"/>
                </a:solidFill>
              </a:rPr>
              <a:t>■ </a:t>
            </a:r>
            <a:pPr algn="ctr" indent="0" marL="0">
              <a:buNone/>
            </a:pPr>
            <a:r>
              <a:rPr lang="en-US" sz="1100" dirty="0">
                <a:solidFill>
                  <a:srgbClr val="1A1A1A"/>
                </a:solidFill>
              </a:rPr>
              <a:t>LEAP</a:t>
            </a:r>
            <a:endParaRPr lang="en-US" sz="1100" dirty="0"/>
          </a:p>
        </p:txBody>
      </p:sp>
      <p:sp>
        <p:nvSpPr>
          <p:cNvPr id="15" name="LEAP stat 1"/>
          <p:cNvSpPr txBox="1"/>
          <p:nvPr/>
        </p:nvSpPr>
        <p:spPr>
          <a:xfrm>
            <a:off x="7178040" y="2240280"/>
            <a:ext cx="1645920" cy="914400"/>
          </a:xfrm>
          <a:prstGeom prst="rect">
            <a:avLst/>
          </a:prstGeom>
          <a:noFill/>
          <a:ln/>
        </p:spPr>
        <p:txBody>
          <a:bodyPr wrap="square" lIns="0" tIns="0" rIns="0" bIns="0" rtlCol="0" anchor="ctr"/>
          <a:lstStyle/>
          <a:p>
            <a:pPr algn="ctr" indent="0" marL="0">
              <a:buNone/>
            </a:pPr>
            <a:r>
              <a:rPr lang="en-US" sz="2200" b="1" dirty="0">
                <a:solidFill>
                  <a:schemeClr val="tx2"/>
                </a:solidFill>
              </a:rPr>
              <a:t>~1/2</a:t>
            </a:r>
            <a:endParaRPr lang="en-US" sz="2200" dirty="0"/>
          </a:p>
          <a:p>
            <a:pPr algn="ctr" indent="0" marL="0">
              <a:buNone/>
            </a:pPr>
            <a:r>
              <a:rPr lang="en-US" sz="1100" dirty="0">
                <a:solidFill>
                  <a:srgbClr val="1A1A1A"/>
                </a:solidFill>
              </a:rPr>
              <a:t>of GE's $1B+ MRO spend goes to LEAP</a:t>
            </a:r>
            <a:endParaRPr lang="en-US" sz="2200" dirty="0"/>
          </a:p>
        </p:txBody>
      </p:sp>
      <p:sp>
        <p:nvSpPr>
          <p:cNvPr id="16" name="LEAP stat 2"/>
          <p:cNvSpPr txBox="1"/>
          <p:nvPr/>
        </p:nvSpPr>
        <p:spPr>
          <a:xfrm>
            <a:off x="7178040" y="3246120"/>
            <a:ext cx="1645920" cy="914400"/>
          </a:xfrm>
          <a:prstGeom prst="rect">
            <a:avLst/>
          </a:prstGeom>
          <a:noFill/>
          <a:ln/>
        </p:spPr>
        <p:txBody>
          <a:bodyPr wrap="square" lIns="0" tIns="0" rIns="0" bIns="0" rtlCol="0" anchor="ctr"/>
          <a:lstStyle/>
          <a:p>
            <a:pPr algn="ctr" indent="0" marL="0">
              <a:buNone/>
            </a:pPr>
            <a:r>
              <a:rPr lang="en-US" sz="2200" b="1" dirty="0">
                <a:solidFill>
                  <a:schemeClr val="tx2"/>
                </a:solidFill>
              </a:rPr>
              <a:t>+50%</a:t>
            </a:r>
            <a:endParaRPr lang="en-US" sz="2200" dirty="0"/>
          </a:p>
          <a:p>
            <a:pPr algn="ctr" indent="0" marL="0">
              <a:buNone/>
            </a:pPr>
            <a:r>
              <a:rPr lang="en-US" sz="1100" dirty="0">
                <a:solidFill>
                  <a:srgbClr val="1A1A1A"/>
                </a:solidFill>
              </a:rPr>
              <a:t>LEAP shop visits, y/y (GE, 2026)</a:t>
            </a:r>
            <a:endParaRPr lang="en-US" sz="2200" dirty="0"/>
          </a:p>
        </p:txBody>
      </p:sp>
      <p:sp>
        <p:nvSpPr>
          <p:cNvPr id="17" name="Expert quote"/>
          <p:cNvSpPr txBox="1"/>
          <p:nvPr/>
        </p:nvSpPr>
        <p:spPr>
          <a:xfrm>
            <a:off x="320040" y="4526280"/>
            <a:ext cx="8503920" cy="868680"/>
          </a:xfrm>
          <a:prstGeom prst="rect">
            <a:avLst/>
          </a:prstGeom>
          <a:solidFill>
            <a:srgbClr val="EFEDEA"/>
          </a:solidFill>
          <a:ln/>
        </p:spPr>
        <p:txBody>
          <a:bodyPr wrap="square" lIns="152400" tIns="50800" rIns="152400" bIns="50800" rtlCol="0" anchor="ctr"/>
          <a:lstStyle/>
          <a:p>
            <a:pPr algn="ctr" indent="0" marL="0">
              <a:buNone/>
            </a:pPr>
            <a:r>
              <a:rPr lang="en-US" sz="1400" b="1" dirty="0">
                <a:solidFill>
                  <a:srgbClr val="1A1A1A"/>
                </a:solidFill>
              </a:rPr>
              <a:t>“The variability in capital investment required to capture the LEAP is extremely low versus what it took them to capture the CFM.”</a:t>
            </a:r>
            <a:endParaRPr lang="en-US" sz="1400" dirty="0"/>
          </a:p>
          <a:p>
            <a:pPr algn="ctr" indent="0" marL="0">
              <a:buNone/>
            </a:pPr>
            <a:r>
              <a:rPr lang="en-US" sz="1200" i="1" dirty="0">
                <a:solidFill>
                  <a:srgbClr val="1A1A1A"/>
                </a:solidFill>
              </a:rPr>
              <a:t>— Former executive, engine MRO shop</a:t>
            </a:r>
            <a:endParaRPr lang="en-US" sz="1400" dirty="0"/>
          </a:p>
        </p:txBody>
      </p:sp>
      <p:sp>
        <p:nvSpPr>
          <p:cNvPr id="18"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OEM slots shift to LEAP as independent shops clog. CFM56 owners need a faster option.</a:t>
            </a:r>
            <a:endParaRPr lang="en-US" sz="1700" dirty="0"/>
          </a:p>
        </p:txBody>
      </p:sp>
      <p:sp>
        <p:nvSpPr>
          <p:cNvPr id="19"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Aviation Business News (2025); Bain (2024); GE Q4'25–Q2'26 calls; CFM LEAP forecast; GPS model; GPS expert call</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1b: Share Gains (3/5)</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A shop visit grounds an engine for months. FTAI's module swap gets it flying in weeks.</a:t>
            </a:r>
            <a:endParaRPr lang="en-US" sz="1700" dirty="0"/>
          </a:p>
        </p:txBody>
      </p:sp>
      <p:sp>
        <p:nvSpPr>
          <p:cNvPr id="4" name="Timeline label"/>
          <p:cNvSpPr txBox="1"/>
          <p:nvPr/>
        </p:nvSpPr>
        <p:spPr>
          <a:xfrm>
            <a:off x="2148840" y="1536192"/>
            <a:ext cx="6400800" cy="237744"/>
          </a:xfrm>
          <a:prstGeom prst="rect">
            <a:avLst/>
          </a:prstGeom>
          <a:noFill/>
          <a:ln/>
        </p:spPr>
        <p:txBody>
          <a:bodyPr wrap="square" lIns="0" tIns="0" rIns="0" bIns="0" rtlCol="0" anchor="ctr"/>
          <a:lstStyle/>
          <a:p>
            <a:pPr algn="l" indent="0" marL="0">
              <a:buNone/>
            </a:pPr>
            <a:r>
              <a:rPr lang="en-US" sz="1100" i="1" dirty="0">
                <a:solidFill>
                  <a:schemeClr val="accent2"/>
                </a:solidFill>
              </a:rPr>
              <a:t>Days off wing</a:t>
            </a:r>
            <a:endParaRPr lang="en-US" sz="1100" dirty="0"/>
          </a:p>
        </p:txBody>
      </p:sp>
      <p:sp>
        <p:nvSpPr>
          <p:cNvPr id="5" name="Grid 0"/>
          <p:cNvSpPr/>
          <p:nvPr/>
        </p:nvSpPr>
        <p:spPr>
          <a:xfrm>
            <a:off x="2148840" y="1783080"/>
            <a:ext cx="0" cy="1508760"/>
          </a:xfrm>
          <a:prstGeom prst="line">
            <a:avLst/>
          </a:prstGeom>
          <a:noFill/>
          <a:ln w="9525">
            <a:solidFill>
              <a:srgbClr val="E3E0DC"/>
            </a:solidFill>
            <a:prstDash val="solid"/>
          </a:ln>
        </p:spPr>
      </p:sp>
      <p:sp>
        <p:nvSpPr>
          <p:cNvPr id="6" name="Tick 0"/>
          <p:cNvSpPr txBox="1"/>
          <p:nvPr/>
        </p:nvSpPr>
        <p:spPr>
          <a:xfrm>
            <a:off x="1874520" y="3291840"/>
            <a:ext cx="548640" cy="201168"/>
          </a:xfrm>
          <a:prstGeom prst="rect">
            <a:avLst/>
          </a:prstGeom>
          <a:noFill/>
          <a:ln/>
        </p:spPr>
        <p:txBody>
          <a:bodyPr wrap="square" lIns="0" tIns="0" rIns="0" bIns="0" rtlCol="0" anchor="ctr"/>
          <a:lstStyle/>
          <a:p>
            <a:pPr algn="ctr" indent="0" marL="0">
              <a:buNone/>
            </a:pPr>
            <a:r>
              <a:rPr lang="en-US" sz="1000" dirty="0">
                <a:solidFill>
                  <a:schemeClr val="accent2"/>
                </a:solidFill>
              </a:rPr>
              <a:t>0</a:t>
            </a:r>
            <a:endParaRPr lang="en-US" sz="1000" dirty="0"/>
          </a:p>
        </p:txBody>
      </p:sp>
      <p:sp>
        <p:nvSpPr>
          <p:cNvPr id="7" name="Grid 30"/>
          <p:cNvSpPr/>
          <p:nvPr/>
        </p:nvSpPr>
        <p:spPr>
          <a:xfrm>
            <a:off x="3215640" y="1783080"/>
            <a:ext cx="0" cy="1508760"/>
          </a:xfrm>
          <a:prstGeom prst="line">
            <a:avLst/>
          </a:prstGeom>
          <a:noFill/>
          <a:ln w="9525">
            <a:solidFill>
              <a:srgbClr val="E3E0DC"/>
            </a:solidFill>
            <a:prstDash val="solid"/>
          </a:ln>
        </p:spPr>
      </p:sp>
      <p:sp>
        <p:nvSpPr>
          <p:cNvPr id="8" name="Tick 30"/>
          <p:cNvSpPr txBox="1"/>
          <p:nvPr/>
        </p:nvSpPr>
        <p:spPr>
          <a:xfrm>
            <a:off x="2941320" y="3291840"/>
            <a:ext cx="548640" cy="201168"/>
          </a:xfrm>
          <a:prstGeom prst="rect">
            <a:avLst/>
          </a:prstGeom>
          <a:noFill/>
          <a:ln/>
        </p:spPr>
        <p:txBody>
          <a:bodyPr wrap="square" lIns="0" tIns="0" rIns="0" bIns="0" rtlCol="0" anchor="ctr"/>
          <a:lstStyle/>
          <a:p>
            <a:pPr algn="ctr" indent="0" marL="0">
              <a:buNone/>
            </a:pPr>
            <a:r>
              <a:rPr lang="en-US" sz="1000" dirty="0">
                <a:solidFill>
                  <a:schemeClr val="accent2"/>
                </a:solidFill>
              </a:rPr>
              <a:t>30</a:t>
            </a:r>
            <a:endParaRPr lang="en-US" sz="1000" dirty="0"/>
          </a:p>
        </p:txBody>
      </p:sp>
      <p:sp>
        <p:nvSpPr>
          <p:cNvPr id="9" name="Grid 60"/>
          <p:cNvSpPr/>
          <p:nvPr/>
        </p:nvSpPr>
        <p:spPr>
          <a:xfrm>
            <a:off x="4282440" y="1783080"/>
            <a:ext cx="0" cy="1508760"/>
          </a:xfrm>
          <a:prstGeom prst="line">
            <a:avLst/>
          </a:prstGeom>
          <a:noFill/>
          <a:ln w="9525">
            <a:solidFill>
              <a:srgbClr val="E3E0DC"/>
            </a:solidFill>
            <a:prstDash val="solid"/>
          </a:ln>
        </p:spPr>
      </p:sp>
      <p:sp>
        <p:nvSpPr>
          <p:cNvPr id="10" name="Tick 60"/>
          <p:cNvSpPr txBox="1"/>
          <p:nvPr/>
        </p:nvSpPr>
        <p:spPr>
          <a:xfrm>
            <a:off x="4008120" y="3291840"/>
            <a:ext cx="548640" cy="201168"/>
          </a:xfrm>
          <a:prstGeom prst="rect">
            <a:avLst/>
          </a:prstGeom>
          <a:noFill/>
          <a:ln/>
        </p:spPr>
        <p:txBody>
          <a:bodyPr wrap="square" lIns="0" tIns="0" rIns="0" bIns="0" rtlCol="0" anchor="ctr"/>
          <a:lstStyle/>
          <a:p>
            <a:pPr algn="ctr" indent="0" marL="0">
              <a:buNone/>
            </a:pPr>
            <a:r>
              <a:rPr lang="en-US" sz="1000" dirty="0">
                <a:solidFill>
                  <a:schemeClr val="accent2"/>
                </a:solidFill>
              </a:rPr>
              <a:t>60</a:t>
            </a:r>
            <a:endParaRPr lang="en-US" sz="1000" dirty="0"/>
          </a:p>
        </p:txBody>
      </p:sp>
      <p:sp>
        <p:nvSpPr>
          <p:cNvPr id="11" name="Grid 90"/>
          <p:cNvSpPr/>
          <p:nvPr/>
        </p:nvSpPr>
        <p:spPr>
          <a:xfrm>
            <a:off x="5349240" y="1783080"/>
            <a:ext cx="0" cy="1508760"/>
          </a:xfrm>
          <a:prstGeom prst="line">
            <a:avLst/>
          </a:prstGeom>
          <a:noFill/>
          <a:ln w="9525">
            <a:solidFill>
              <a:srgbClr val="E3E0DC"/>
            </a:solidFill>
            <a:prstDash val="solid"/>
          </a:ln>
        </p:spPr>
      </p:sp>
      <p:sp>
        <p:nvSpPr>
          <p:cNvPr id="12" name="Tick 90"/>
          <p:cNvSpPr txBox="1"/>
          <p:nvPr/>
        </p:nvSpPr>
        <p:spPr>
          <a:xfrm>
            <a:off x="5074920" y="3291840"/>
            <a:ext cx="548640" cy="201168"/>
          </a:xfrm>
          <a:prstGeom prst="rect">
            <a:avLst/>
          </a:prstGeom>
          <a:noFill/>
          <a:ln/>
        </p:spPr>
        <p:txBody>
          <a:bodyPr wrap="square" lIns="0" tIns="0" rIns="0" bIns="0" rtlCol="0" anchor="ctr"/>
          <a:lstStyle/>
          <a:p>
            <a:pPr algn="ctr" indent="0" marL="0">
              <a:buNone/>
            </a:pPr>
            <a:r>
              <a:rPr lang="en-US" sz="1000" dirty="0">
                <a:solidFill>
                  <a:schemeClr val="accent2"/>
                </a:solidFill>
              </a:rPr>
              <a:t>90</a:t>
            </a:r>
            <a:endParaRPr lang="en-US" sz="1000" dirty="0"/>
          </a:p>
        </p:txBody>
      </p:sp>
      <p:sp>
        <p:nvSpPr>
          <p:cNvPr id="13" name="Grid 120"/>
          <p:cNvSpPr/>
          <p:nvPr/>
        </p:nvSpPr>
        <p:spPr>
          <a:xfrm>
            <a:off x="6416040" y="1783080"/>
            <a:ext cx="0" cy="1508760"/>
          </a:xfrm>
          <a:prstGeom prst="line">
            <a:avLst/>
          </a:prstGeom>
          <a:noFill/>
          <a:ln w="9525">
            <a:solidFill>
              <a:srgbClr val="E3E0DC"/>
            </a:solidFill>
            <a:prstDash val="solid"/>
          </a:ln>
        </p:spPr>
      </p:sp>
      <p:sp>
        <p:nvSpPr>
          <p:cNvPr id="14" name="Tick 120"/>
          <p:cNvSpPr txBox="1"/>
          <p:nvPr/>
        </p:nvSpPr>
        <p:spPr>
          <a:xfrm>
            <a:off x="6141720" y="3291840"/>
            <a:ext cx="548640" cy="201168"/>
          </a:xfrm>
          <a:prstGeom prst="rect">
            <a:avLst/>
          </a:prstGeom>
          <a:noFill/>
          <a:ln/>
        </p:spPr>
        <p:txBody>
          <a:bodyPr wrap="square" lIns="0" tIns="0" rIns="0" bIns="0" rtlCol="0" anchor="ctr"/>
          <a:lstStyle/>
          <a:p>
            <a:pPr algn="ctr" indent="0" marL="0">
              <a:buNone/>
            </a:pPr>
            <a:r>
              <a:rPr lang="en-US" sz="1000" dirty="0">
                <a:solidFill>
                  <a:schemeClr val="accent2"/>
                </a:solidFill>
              </a:rPr>
              <a:t>120</a:t>
            </a:r>
            <a:endParaRPr lang="en-US" sz="1000" dirty="0"/>
          </a:p>
        </p:txBody>
      </p:sp>
      <p:sp>
        <p:nvSpPr>
          <p:cNvPr id="15" name="Grid 150"/>
          <p:cNvSpPr/>
          <p:nvPr/>
        </p:nvSpPr>
        <p:spPr>
          <a:xfrm>
            <a:off x="7482840" y="1783080"/>
            <a:ext cx="0" cy="1508760"/>
          </a:xfrm>
          <a:prstGeom prst="line">
            <a:avLst/>
          </a:prstGeom>
          <a:noFill/>
          <a:ln w="9525">
            <a:solidFill>
              <a:srgbClr val="E3E0DC"/>
            </a:solidFill>
            <a:prstDash val="solid"/>
          </a:ln>
        </p:spPr>
      </p:sp>
      <p:sp>
        <p:nvSpPr>
          <p:cNvPr id="16" name="Tick 150"/>
          <p:cNvSpPr txBox="1"/>
          <p:nvPr/>
        </p:nvSpPr>
        <p:spPr>
          <a:xfrm>
            <a:off x="7208520" y="3291840"/>
            <a:ext cx="548640" cy="201168"/>
          </a:xfrm>
          <a:prstGeom prst="rect">
            <a:avLst/>
          </a:prstGeom>
          <a:noFill/>
          <a:ln/>
        </p:spPr>
        <p:txBody>
          <a:bodyPr wrap="square" lIns="0" tIns="0" rIns="0" bIns="0" rtlCol="0" anchor="ctr"/>
          <a:lstStyle/>
          <a:p>
            <a:pPr algn="ctr" indent="0" marL="0">
              <a:buNone/>
            </a:pPr>
            <a:r>
              <a:rPr lang="en-US" sz="1000" dirty="0">
                <a:solidFill>
                  <a:schemeClr val="accent2"/>
                </a:solidFill>
              </a:rPr>
              <a:t>150</a:t>
            </a:r>
            <a:endParaRPr lang="en-US" sz="1000" dirty="0"/>
          </a:p>
        </p:txBody>
      </p:sp>
      <p:sp>
        <p:nvSpPr>
          <p:cNvPr id="17" name="Grid 180"/>
          <p:cNvSpPr/>
          <p:nvPr/>
        </p:nvSpPr>
        <p:spPr>
          <a:xfrm>
            <a:off x="8549640" y="1783080"/>
            <a:ext cx="0" cy="1508760"/>
          </a:xfrm>
          <a:prstGeom prst="line">
            <a:avLst/>
          </a:prstGeom>
          <a:noFill/>
          <a:ln w="9525">
            <a:solidFill>
              <a:srgbClr val="E3E0DC"/>
            </a:solidFill>
            <a:prstDash val="solid"/>
          </a:ln>
        </p:spPr>
      </p:sp>
      <p:sp>
        <p:nvSpPr>
          <p:cNvPr id="18" name="Tick 180"/>
          <p:cNvSpPr txBox="1"/>
          <p:nvPr/>
        </p:nvSpPr>
        <p:spPr>
          <a:xfrm>
            <a:off x="8275320" y="3291840"/>
            <a:ext cx="548640" cy="201168"/>
          </a:xfrm>
          <a:prstGeom prst="rect">
            <a:avLst/>
          </a:prstGeom>
          <a:noFill/>
          <a:ln/>
        </p:spPr>
        <p:txBody>
          <a:bodyPr wrap="square" lIns="0" tIns="0" rIns="0" bIns="0" rtlCol="0" anchor="ctr"/>
          <a:lstStyle/>
          <a:p>
            <a:pPr algn="ctr" indent="0" marL="0">
              <a:buNone/>
            </a:pPr>
            <a:r>
              <a:rPr lang="en-US" sz="1000" dirty="0">
                <a:solidFill>
                  <a:schemeClr val="accent2"/>
                </a:solidFill>
              </a:rPr>
              <a:t>180</a:t>
            </a:r>
            <a:endParaRPr lang="en-US" sz="1000" dirty="0"/>
          </a:p>
        </p:txBody>
      </p:sp>
      <p:sp>
        <p:nvSpPr>
          <p:cNvPr id="19" name="Shop visit label"/>
          <p:cNvSpPr txBox="1"/>
          <p:nvPr/>
        </p:nvSpPr>
        <p:spPr>
          <a:xfrm>
            <a:off x="320040" y="1828800"/>
            <a:ext cx="1737360" cy="548640"/>
          </a:xfrm>
          <a:prstGeom prst="rect">
            <a:avLst/>
          </a:prstGeom>
          <a:noFill/>
          <a:ln/>
        </p:spPr>
        <p:txBody>
          <a:bodyPr wrap="square" lIns="0" tIns="0" rIns="0" bIns="0" rtlCol="0" anchor="ctr"/>
          <a:lstStyle/>
          <a:p>
            <a:pPr algn="r" indent="0" marL="0">
              <a:buNone/>
            </a:pPr>
            <a:r>
              <a:rPr lang="en-US" sz="1400" b="1" dirty="0">
                <a:solidFill>
                  <a:srgbClr val="1A1A1A"/>
                </a:solidFill>
              </a:rPr>
              <a:t>Typical shop visit</a:t>
            </a:r>
            <a:endParaRPr lang="en-US" sz="1400" dirty="0"/>
          </a:p>
          <a:p>
            <a:pPr algn="r" indent="0" marL="0">
              <a:buNone/>
            </a:pPr>
            <a:r>
              <a:rPr lang="en-US" sz="1200" dirty="0">
                <a:solidFill>
                  <a:srgbClr val="1A1A1A"/>
                </a:solidFill>
              </a:rPr>
              <a:t>120–180 days</a:t>
            </a:r>
            <a:endParaRPr lang="en-US" sz="1400" dirty="0"/>
          </a:p>
        </p:txBody>
      </p:sp>
      <p:sp>
        <p:nvSpPr>
          <p:cNvPr id="20" name="Shop step 1"/>
          <p:cNvSpPr/>
          <p:nvPr/>
        </p:nvSpPr>
        <p:spPr>
          <a:xfrm>
            <a:off x="2148840" y="1856232"/>
            <a:ext cx="1532128" cy="502920"/>
          </a:xfrm>
          <a:prstGeom prst="chevron">
            <a:avLst/>
          </a:prstGeom>
          <a:solidFill>
            <a:srgbClr val="DCD8D3"/>
          </a:solidFill>
          <a:ln/>
        </p:spPr>
        <p:txBody>
          <a:bodyPr wrap="square" lIns="0" tIns="0" rIns="0" bIns="0" rtlCol="0" anchor="ctr"/>
          <a:lstStyle/>
          <a:p>
            <a:pPr algn="ctr" indent="0" marL="0">
              <a:buNone/>
            </a:pPr>
            <a:r>
              <a:rPr lang="en-US" sz="900" b="1" dirty="0">
                <a:solidFill>
                  <a:schemeClr val="tx2"/>
                </a:solidFill>
              </a:rPr>
              <a:t>Wait for slot</a:t>
            </a:r>
            <a:endParaRPr lang="en-US" sz="900" dirty="0"/>
          </a:p>
        </p:txBody>
      </p:sp>
      <p:sp>
        <p:nvSpPr>
          <p:cNvPr id="21" name="Shop step 2"/>
          <p:cNvSpPr/>
          <p:nvPr/>
        </p:nvSpPr>
        <p:spPr>
          <a:xfrm>
            <a:off x="3571240" y="1856232"/>
            <a:ext cx="1105408" cy="502920"/>
          </a:xfrm>
          <a:prstGeom prst="chevron">
            <a:avLst/>
          </a:prstGeom>
          <a:solidFill>
            <a:srgbClr val="B5AEA9"/>
          </a:solidFill>
          <a:ln/>
        </p:spPr>
        <p:txBody>
          <a:bodyPr wrap="square" lIns="0" tIns="0" rIns="0" bIns="0" rtlCol="0" anchor="ctr"/>
          <a:lstStyle/>
          <a:p>
            <a:pPr algn="ctr" indent="0" marL="0">
              <a:buNone/>
            </a:pPr>
            <a:r>
              <a:rPr lang="en-US" sz="900" b="1" dirty="0">
                <a:solidFill>
                  <a:schemeClr val="tx2"/>
                </a:solidFill>
              </a:rPr>
              <a:t>Strip</a:t>
            </a:r>
            <a:endParaRPr lang="en-US" sz="900" dirty="0"/>
          </a:p>
        </p:txBody>
      </p:sp>
      <p:sp>
        <p:nvSpPr>
          <p:cNvPr id="22" name="Shop step 3"/>
          <p:cNvSpPr/>
          <p:nvPr/>
        </p:nvSpPr>
        <p:spPr>
          <a:xfrm>
            <a:off x="4566920" y="1856232"/>
            <a:ext cx="1532128" cy="502920"/>
          </a:xfrm>
          <a:prstGeom prst="chevron">
            <a:avLst/>
          </a:prstGeom>
          <a:solidFill>
            <a:srgbClr val="DCD8D3"/>
          </a:solidFill>
          <a:ln/>
        </p:spPr>
        <p:txBody>
          <a:bodyPr wrap="square" lIns="0" tIns="0" rIns="0" bIns="0" rtlCol="0" anchor="ctr"/>
          <a:lstStyle/>
          <a:p>
            <a:pPr algn="ctr" indent="0" marL="0">
              <a:buNone/>
            </a:pPr>
            <a:r>
              <a:rPr lang="en-US" sz="900" b="1" dirty="0">
                <a:solidFill>
                  <a:schemeClr val="tx2"/>
                </a:solidFill>
              </a:rPr>
              <a:t>Wait for parts</a:t>
            </a:r>
            <a:endParaRPr lang="en-US" sz="900" dirty="0"/>
          </a:p>
        </p:txBody>
      </p:sp>
      <p:sp>
        <p:nvSpPr>
          <p:cNvPr id="23" name="Shop step 4"/>
          <p:cNvSpPr/>
          <p:nvPr/>
        </p:nvSpPr>
        <p:spPr>
          <a:xfrm>
            <a:off x="5989320" y="1856232"/>
            <a:ext cx="1247648" cy="502920"/>
          </a:xfrm>
          <a:prstGeom prst="chevron">
            <a:avLst/>
          </a:prstGeom>
          <a:solidFill>
            <a:srgbClr val="B5AEA9"/>
          </a:solidFill>
          <a:ln/>
        </p:spPr>
        <p:txBody>
          <a:bodyPr wrap="square" lIns="0" tIns="0" rIns="0" bIns="0" rtlCol="0" anchor="ctr"/>
          <a:lstStyle/>
          <a:p>
            <a:pPr algn="ctr" indent="0" marL="0">
              <a:buNone/>
            </a:pPr>
            <a:r>
              <a:rPr lang="en-US" sz="900" b="1" dirty="0">
                <a:solidFill>
                  <a:schemeClr val="tx2"/>
                </a:solidFill>
              </a:rPr>
              <a:t>Repair</a:t>
            </a:r>
            <a:endParaRPr lang="en-US" sz="900" dirty="0"/>
          </a:p>
        </p:txBody>
      </p:sp>
      <p:sp>
        <p:nvSpPr>
          <p:cNvPr id="24" name="Shop step 5"/>
          <p:cNvSpPr/>
          <p:nvPr/>
        </p:nvSpPr>
        <p:spPr>
          <a:xfrm>
            <a:off x="7127240" y="1856232"/>
            <a:ext cx="465328" cy="502920"/>
          </a:xfrm>
          <a:prstGeom prst="chevron">
            <a:avLst/>
          </a:prstGeom>
          <a:solidFill>
            <a:srgbClr val="DCD8D3"/>
          </a:solidFill>
          <a:ln/>
        </p:spPr>
        <p:txBody>
          <a:bodyPr wrap="square" lIns="0" tIns="0" rIns="0" bIns="0" rtlCol="0" anchor="ctr"/>
          <a:lstStyle/>
          <a:p>
            <a:pPr algn="ctr" indent="0" marL="0">
              <a:buNone/>
            </a:pPr>
            <a:r>
              <a:rPr lang="en-US" sz="900" b="1" dirty="0">
                <a:solidFill>
                  <a:schemeClr val="tx2"/>
                </a:solidFill>
              </a:rPr>
              <a:t>Test</a:t>
            </a:r>
            <a:endParaRPr lang="en-US" sz="900" dirty="0"/>
          </a:p>
        </p:txBody>
      </p:sp>
      <p:sp>
        <p:nvSpPr>
          <p:cNvPr id="25" name="Shop visit range"/>
          <p:cNvSpPr/>
          <p:nvPr/>
        </p:nvSpPr>
        <p:spPr>
          <a:xfrm>
            <a:off x="7482840" y="1929384"/>
            <a:ext cx="1066800" cy="356616"/>
          </a:xfrm>
          <a:prstGeom prst="rect">
            <a:avLst/>
          </a:prstGeom>
          <a:ln w="15875">
            <a:solidFill>
              <a:srgbClr val="B5AEA9"/>
            </a:solidFill>
            <a:prstDash val="dash"/>
          </a:ln>
        </p:spPr>
      </p:sp>
      <p:sp>
        <p:nvSpPr>
          <p:cNvPr id="26" name="Swap label"/>
          <p:cNvSpPr txBox="1"/>
          <p:nvPr/>
        </p:nvSpPr>
        <p:spPr>
          <a:xfrm>
            <a:off x="228600" y="2560320"/>
            <a:ext cx="1828800" cy="548640"/>
          </a:xfrm>
          <a:prstGeom prst="rect">
            <a:avLst/>
          </a:prstGeom>
          <a:noFill/>
          <a:ln/>
        </p:spPr>
        <p:txBody>
          <a:bodyPr wrap="square" lIns="0" tIns="0" rIns="0" bIns="0" rtlCol="0" anchor="ctr"/>
          <a:lstStyle/>
          <a:p>
            <a:pPr algn="r" indent="0" marL="0">
              <a:buNone/>
            </a:pPr>
            <a:r>
              <a:rPr lang="en-US" sz="1300" b="1" dirty="0">
                <a:solidFill>
                  <a:schemeClr val="tx2"/>
                </a:solidFill>
              </a:rPr>
              <a:t>FTAI module swap</a:t>
            </a:r>
            <a:endParaRPr lang="en-US" sz="1300" dirty="0"/>
          </a:p>
          <a:p>
            <a:pPr algn="r" indent="0" marL="0">
              <a:buNone/>
            </a:pPr>
            <a:r>
              <a:rPr lang="en-US" sz="1200" dirty="0">
                <a:solidFill>
                  <a:schemeClr val="tx2"/>
                </a:solidFill>
              </a:rPr>
              <a:t>5–25 days</a:t>
            </a:r>
            <a:endParaRPr lang="en-US" sz="1300" dirty="0"/>
          </a:p>
        </p:txBody>
      </p:sp>
      <p:sp>
        <p:nvSpPr>
          <p:cNvPr id="27" name="Swap bar"/>
          <p:cNvSpPr/>
          <p:nvPr/>
        </p:nvSpPr>
        <p:spPr>
          <a:xfrm>
            <a:off x="2148840" y="2587752"/>
            <a:ext cx="998728" cy="502920"/>
          </a:xfrm>
          <a:prstGeom prst="chevron">
            <a:avLst/>
          </a:prstGeom>
          <a:solidFill>
            <a:srgbClr val="0A1C58"/>
          </a:solidFill>
          <a:ln/>
        </p:spPr>
      </p:sp>
      <p:sp>
        <p:nvSpPr>
          <p:cNvPr id="28" name="Swap description"/>
          <p:cNvSpPr txBox="1"/>
          <p:nvPr/>
        </p:nvSpPr>
        <p:spPr>
          <a:xfrm>
            <a:off x="3266440" y="2587752"/>
            <a:ext cx="3291840" cy="502920"/>
          </a:xfrm>
          <a:prstGeom prst="rect">
            <a:avLst/>
          </a:prstGeom>
          <a:noFill/>
          <a:ln/>
        </p:spPr>
        <p:txBody>
          <a:bodyPr wrap="square" lIns="0" tIns="0" rIns="0" bIns="0" rtlCol="0" anchor="ctr"/>
          <a:lstStyle/>
          <a:p>
            <a:pPr algn="l" indent="0" marL="0">
              <a:buNone/>
            </a:pPr>
            <a:r>
              <a:rPr lang="en-US" sz="1200" b="1" dirty="0">
                <a:solidFill>
                  <a:schemeClr val="tx2"/>
                </a:solidFill>
              </a:rPr>
              <a:t>Swap a restored module from FTAI's pool, test, fly</a:t>
            </a:r>
            <a:endParaRPr lang="en-US" sz="1200" dirty="0"/>
          </a:p>
        </p:txBody>
      </p:sp>
      <p:sp>
        <p:nvSpPr>
          <p:cNvPr id="29" name="Speed callout"/>
          <p:cNvSpPr/>
          <p:nvPr/>
        </p:nvSpPr>
        <p:spPr>
          <a:xfrm>
            <a:off x="7589520" y="2423160"/>
            <a:ext cx="1051560" cy="868680"/>
          </a:xfrm>
          <a:prstGeom prst="ellipse">
            <a:avLst/>
          </a:prstGeom>
          <a:solidFill>
            <a:srgbClr val="0A1C58"/>
          </a:solidFill>
          <a:ln>
            <a:solidFill>
              <a:srgbClr val="0A1C58"/>
            </a:solidFill>
          </a:ln>
        </p:spPr>
        <p:txBody>
          <a:bodyPr wrap="square" lIns="0" tIns="0" rIns="0" bIns="0" rtlCol="0" anchor="ctr"/>
          <a:lstStyle/>
          <a:p>
            <a:pPr algn="ctr" indent="0" marL="0">
              <a:buNone/>
            </a:pPr>
            <a:r>
              <a:rPr lang="en-US" sz="2200" b="1" dirty="0">
                <a:solidFill>
                  <a:schemeClr val="bg1"/>
                </a:solidFill>
              </a:rPr>
              <a:t>~7x</a:t>
            </a:r>
            <a:endParaRPr lang="en-US" sz="2200" dirty="0"/>
          </a:p>
          <a:p>
            <a:pPr algn="ctr" indent="0" marL="0">
              <a:buNone/>
            </a:pPr>
            <a:r>
              <a:rPr lang="en-US" sz="1100" b="1" dirty="0">
                <a:solidFill>
                  <a:schemeClr val="bg1"/>
                </a:solidFill>
              </a:rPr>
              <a:t>faster</a:t>
            </a:r>
            <a:endParaRPr lang="en-US" sz="2200" dirty="0"/>
          </a:p>
        </p:txBody>
      </p:sp>
      <p:sp>
        <p:nvSpPr>
          <p:cNvPr id="30" name="Cost header"/>
          <p:cNvSpPr txBox="1"/>
          <p:nvPr/>
        </p:nvSpPr>
        <p:spPr>
          <a:xfrm>
            <a:off x="320040" y="3584448"/>
            <a:ext cx="4160520" cy="365760"/>
          </a:xfrm>
          <a:prstGeom prst="rect">
            <a:avLst/>
          </a:prstGeom>
          <a:noFill/>
          <a:ln/>
        </p:spPr>
        <p:txBody>
          <a:bodyPr wrap="square" lIns="0" tIns="0" rIns="0" bIns="0" rtlCol="0" anchor="b"/>
          <a:lstStyle/>
          <a:p>
            <a:pPr algn="ctr" indent="0" marL="0">
              <a:buNone/>
            </a:pPr>
            <a:r>
              <a:rPr lang="en-US" sz="1600" b="1" dirty="0">
                <a:solidFill>
                  <a:srgbClr val="1A1A1A"/>
                </a:solidFill>
              </a:rPr>
              <a:t>Lease Cost While Grounded</a:t>
            </a:r>
            <a:endParaRPr lang="en-US" sz="1600" dirty="0"/>
          </a:p>
        </p:txBody>
      </p:sp>
      <p:sp>
        <p:nvSpPr>
          <p:cNvPr id="31" name="Cost header rule"/>
          <p:cNvSpPr/>
          <p:nvPr/>
        </p:nvSpPr>
        <p:spPr>
          <a:xfrm>
            <a:off x="320040" y="4005072"/>
            <a:ext cx="4160520" cy="0"/>
          </a:xfrm>
          <a:prstGeom prst="line">
            <a:avLst/>
          </a:prstGeom>
          <a:noFill/>
          <a:ln w="12700">
            <a:solidFill>
              <a:srgbClr val="1A1A1A"/>
            </a:solidFill>
            <a:prstDash val="solid"/>
          </a:ln>
        </p:spPr>
      </p:sp>
      <p:sp>
        <p:nvSpPr>
          <p:cNvPr id="32" name="Cost label 1"/>
          <p:cNvSpPr txBox="1"/>
          <p:nvPr/>
        </p:nvSpPr>
        <p:spPr>
          <a:xfrm>
            <a:off x="320040" y="4160520"/>
            <a:ext cx="1691640" cy="347472"/>
          </a:xfrm>
          <a:prstGeom prst="rect">
            <a:avLst/>
          </a:prstGeom>
          <a:noFill/>
          <a:ln/>
        </p:spPr>
        <p:txBody>
          <a:bodyPr wrap="square" lIns="0" tIns="0" rIns="0" bIns="0" rtlCol="0" anchor="ctr"/>
          <a:lstStyle/>
          <a:p>
            <a:pPr algn="r" indent="0" marL="0">
              <a:buNone/>
            </a:pPr>
            <a:r>
              <a:rPr lang="en-US" sz="1100" dirty="0">
                <a:solidFill>
                  <a:srgbClr val="1A1A1A"/>
                </a:solidFill>
              </a:rPr>
              <a:t>Shop visit, ~150 days</a:t>
            </a:r>
            <a:endParaRPr lang="en-US" sz="1100" dirty="0"/>
          </a:p>
        </p:txBody>
      </p:sp>
      <p:sp>
        <p:nvSpPr>
          <p:cNvPr id="33" name="Cost bar 1"/>
          <p:cNvSpPr/>
          <p:nvPr/>
        </p:nvSpPr>
        <p:spPr>
          <a:xfrm>
            <a:off x="2103120" y="4160520"/>
            <a:ext cx="1737360" cy="347472"/>
          </a:xfrm>
          <a:prstGeom prst="rect">
            <a:avLst/>
          </a:prstGeom>
          <a:solidFill>
            <a:srgbClr val="0A1C58"/>
          </a:solidFill>
          <a:ln/>
        </p:spPr>
      </p:sp>
      <p:sp>
        <p:nvSpPr>
          <p:cNvPr id="34" name="Cost value 1"/>
          <p:cNvSpPr txBox="1"/>
          <p:nvPr/>
        </p:nvSpPr>
        <p:spPr>
          <a:xfrm>
            <a:off x="3913632" y="4160520"/>
            <a:ext cx="731520" cy="347472"/>
          </a:xfrm>
          <a:prstGeom prst="rect">
            <a:avLst/>
          </a:prstGeom>
          <a:noFill/>
          <a:ln/>
        </p:spPr>
        <p:txBody>
          <a:bodyPr wrap="square" lIns="0" tIns="0" rIns="0" bIns="0" rtlCol="0" anchor="ctr"/>
          <a:lstStyle/>
          <a:p>
            <a:pPr algn="l" indent="0" marL="0">
              <a:buNone/>
            </a:pPr>
            <a:r>
              <a:rPr lang="en-US" sz="1300" b="1" dirty="0">
                <a:solidFill>
                  <a:schemeClr val="tx2"/>
                </a:solidFill>
              </a:rPr>
              <a:t>$493K</a:t>
            </a:r>
            <a:endParaRPr lang="en-US" sz="1300" dirty="0"/>
          </a:p>
        </p:txBody>
      </p:sp>
      <p:sp>
        <p:nvSpPr>
          <p:cNvPr id="35" name="Cost label 2"/>
          <p:cNvSpPr txBox="1"/>
          <p:nvPr/>
        </p:nvSpPr>
        <p:spPr>
          <a:xfrm>
            <a:off x="320040" y="4636008"/>
            <a:ext cx="1691640" cy="347472"/>
          </a:xfrm>
          <a:prstGeom prst="rect">
            <a:avLst/>
          </a:prstGeom>
          <a:noFill/>
          <a:ln/>
        </p:spPr>
        <p:txBody>
          <a:bodyPr wrap="square" lIns="0" tIns="0" rIns="0" bIns="0" rtlCol="0" anchor="ctr"/>
          <a:lstStyle/>
          <a:p>
            <a:pPr algn="r" indent="0" marL="0">
              <a:buNone/>
            </a:pPr>
            <a:r>
              <a:rPr lang="en-US" sz="1100" dirty="0">
                <a:solidFill>
                  <a:srgbClr val="1A1A1A"/>
                </a:solidFill>
              </a:rPr>
              <a:t>FTAI swap, ~20 days</a:t>
            </a:r>
            <a:endParaRPr lang="en-US" sz="1100" dirty="0"/>
          </a:p>
        </p:txBody>
      </p:sp>
      <p:sp>
        <p:nvSpPr>
          <p:cNvPr id="36" name="Cost bar 2"/>
          <p:cNvSpPr/>
          <p:nvPr/>
        </p:nvSpPr>
        <p:spPr>
          <a:xfrm>
            <a:off x="2103120" y="4636008"/>
            <a:ext cx="232588" cy="347472"/>
          </a:xfrm>
          <a:prstGeom prst="rect">
            <a:avLst/>
          </a:prstGeom>
          <a:solidFill>
            <a:srgbClr val="B5AEA9"/>
          </a:solidFill>
          <a:ln/>
        </p:spPr>
      </p:sp>
      <p:sp>
        <p:nvSpPr>
          <p:cNvPr id="37" name="Cost value 2"/>
          <p:cNvSpPr txBox="1"/>
          <p:nvPr/>
        </p:nvSpPr>
        <p:spPr>
          <a:xfrm>
            <a:off x="2408860" y="4636008"/>
            <a:ext cx="731520" cy="347472"/>
          </a:xfrm>
          <a:prstGeom prst="rect">
            <a:avLst/>
          </a:prstGeom>
          <a:noFill/>
          <a:ln/>
        </p:spPr>
        <p:txBody>
          <a:bodyPr wrap="square" lIns="0" tIns="0" rIns="0" bIns="0" rtlCol="0" anchor="ctr"/>
          <a:lstStyle/>
          <a:p>
            <a:pPr algn="l" indent="0" marL="0">
              <a:buNone/>
            </a:pPr>
            <a:r>
              <a:rPr lang="en-US" sz="1300" b="1" dirty="0">
                <a:solidFill>
                  <a:schemeClr val="tx2"/>
                </a:solidFill>
              </a:rPr>
              <a:t>$66K</a:t>
            </a:r>
            <a:endParaRPr lang="en-US" sz="1300" dirty="0"/>
          </a:p>
        </p:txBody>
      </p:sp>
      <p:sp>
        <p:nvSpPr>
          <p:cNvPr id="38" name="Cost caption"/>
          <p:cNvSpPr txBox="1"/>
          <p:nvPr/>
        </p:nvSpPr>
        <p:spPr>
          <a:xfrm>
            <a:off x="320040" y="5138928"/>
            <a:ext cx="4160520" cy="256032"/>
          </a:xfrm>
          <a:prstGeom prst="rect">
            <a:avLst/>
          </a:prstGeom>
          <a:noFill/>
          <a:ln/>
        </p:spPr>
        <p:txBody>
          <a:bodyPr wrap="square" lIns="0" tIns="0" rIns="0" bIns="0" rtlCol="0" anchor="ctr"/>
          <a:lstStyle/>
          <a:p>
            <a:pPr algn="ctr" indent="0" marL="0">
              <a:buNone/>
            </a:pPr>
            <a:r>
              <a:rPr lang="en-US" sz="1100" i="1" dirty="0">
                <a:solidFill>
                  <a:schemeClr val="accent2"/>
                </a:solidFill>
              </a:rPr>
              <a:t>~$430K saved per visit (IBA lease rate, ~$100K/mo)</a:t>
            </a:r>
            <a:endParaRPr lang="en-US" sz="1100" dirty="0"/>
          </a:p>
        </p:txBody>
      </p:sp>
      <p:sp>
        <p:nvSpPr>
          <p:cNvPr id="39" name="Turnaround expert quote"/>
          <p:cNvSpPr txBox="1"/>
          <p:nvPr/>
        </p:nvSpPr>
        <p:spPr>
          <a:xfrm>
            <a:off x="4709160" y="3657600"/>
            <a:ext cx="4114800" cy="1737360"/>
          </a:xfrm>
          <a:prstGeom prst="rect">
            <a:avLst/>
          </a:prstGeom>
          <a:solidFill>
            <a:srgbClr val="EFEDEA"/>
          </a:solidFill>
          <a:ln/>
        </p:spPr>
        <p:txBody>
          <a:bodyPr wrap="square" lIns="177800" tIns="76200" rIns="177800" bIns="76200" rtlCol="0" anchor="ctr"/>
          <a:lstStyle/>
          <a:p>
            <a:pPr algn="ctr" indent="0" marL="0">
              <a:spcAft>
                <a:spcPts val="600"/>
              </a:spcAft>
              <a:buNone/>
            </a:pPr>
            <a:r>
              <a:rPr lang="en-US" sz="1600" b="1" dirty="0">
                <a:solidFill>
                  <a:srgbClr val="1A1A1A"/>
                </a:solidFill>
              </a:rPr>
              <a:t>“FTAI's advantage is basically turnaround time and cheaper sourcing.”</a:t>
            </a:r>
            <a:endParaRPr lang="en-US" sz="1600" dirty="0"/>
          </a:p>
          <a:p>
            <a:pPr algn="ctr" indent="0" marL="0">
              <a:spcAft>
                <a:spcPts val="600"/>
              </a:spcAft>
              <a:buNone/>
            </a:pPr>
            <a:r>
              <a:rPr lang="en-US" sz="1200" i="1" dirty="0">
                <a:solidFill>
                  <a:srgbClr val="1A1A1A"/>
                </a:solidFill>
              </a:rPr>
              <a:t>— Industry expert, GPS expert call</a:t>
            </a:r>
            <a:endParaRPr lang="en-US" sz="1600" dirty="0"/>
          </a:p>
        </p:txBody>
      </p:sp>
      <p:sp>
        <p:nvSpPr>
          <p:cNvPr id="40"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Every day an engine is off wing costs the airline a jet. FTAI sells that time back.</a:t>
            </a:r>
            <a:endParaRPr lang="en-US" sz="1700" dirty="0"/>
          </a:p>
        </p:txBody>
      </p:sp>
      <p:sp>
        <p:nvSpPr>
          <p:cNvPr id="41"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FTAI Q2'24 call via third-party analysis; IBA (2024) lease rates; GPS expert call; step lengths illustrative</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1b: Share Gains (4/5)</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FTAI built capacity ahead of demand. New sites leave room to keep taking share.</a:t>
            </a:r>
            <a:endParaRPr lang="en-US" sz="1700" dirty="0"/>
          </a:p>
        </p:txBody>
      </p:sp>
      <p:sp>
        <p:nvSpPr>
          <p:cNvPr id="4" name="Capacity header"/>
          <p:cNvSpPr txBox="1"/>
          <p:nvPr/>
        </p:nvSpPr>
        <p:spPr>
          <a:xfrm>
            <a:off x="320040" y="1554480"/>
            <a:ext cx="4206240" cy="365760"/>
          </a:xfrm>
          <a:prstGeom prst="rect">
            <a:avLst/>
          </a:prstGeom>
          <a:noFill/>
          <a:ln/>
        </p:spPr>
        <p:txBody>
          <a:bodyPr wrap="square" lIns="0" tIns="0" rIns="0" bIns="0" rtlCol="0" anchor="b"/>
          <a:lstStyle/>
          <a:p>
            <a:pPr algn="ctr" indent="0" marL="0">
              <a:buNone/>
            </a:pPr>
            <a:r>
              <a:rPr lang="en-US" sz="1600" b="1" dirty="0">
                <a:solidFill>
                  <a:srgbClr val="1A1A1A"/>
                </a:solidFill>
              </a:rPr>
              <a:t>Output vs. Capacity (Modules)</a:t>
            </a:r>
            <a:endParaRPr lang="en-US" sz="1600" dirty="0"/>
          </a:p>
        </p:txBody>
      </p:sp>
      <p:sp>
        <p:nvSpPr>
          <p:cNvPr id="5" name="Capacity header rule"/>
          <p:cNvSpPr/>
          <p:nvPr/>
        </p:nvSpPr>
        <p:spPr>
          <a:xfrm>
            <a:off x="320040" y="1975104"/>
            <a:ext cx="4206240" cy="0"/>
          </a:xfrm>
          <a:prstGeom prst="line">
            <a:avLst/>
          </a:prstGeom>
          <a:noFill/>
          <a:ln w="12700">
            <a:solidFill>
              <a:srgbClr val="1A1A1A"/>
            </a:solidFill>
            <a:prstDash val="solid"/>
          </a:ln>
        </p:spPr>
      </p:sp>
      <p:graphicFrame>
        <p:nvGraphicFramePr>
          <p:cNvPr id="6" name="Capacity chart" descr=""/>
          <p:cNvGraphicFramePr/>
          <p:nvPr/>
        </p:nvGraphicFramePr>
        <p:xfrm>
          <a:off x="320040" y="2103120"/>
          <a:ext cx="4206240" cy="2926080"/>
        </p:xfrm>
        <a:graphic xmlns:a="http://schemas.openxmlformats.org/drawingml/2006/main">
          <a:graphicData uri="http://schemas.openxmlformats.org/drawingml/2006/chart">
            <c:chart xmlns:c="http://schemas.openxmlformats.org/drawingml/2006/chart" r:id="rId1"/>
          </a:graphicData>
        </a:graphic>
      </p:graphicFrame>
      <p:sp>
        <p:nvSpPr>
          <p:cNvPr id="7" name="Capacity label"/>
          <p:cNvSpPr txBox="1"/>
          <p:nvPr/>
        </p:nvSpPr>
        <p:spPr>
          <a:xfrm>
            <a:off x="1828800" y="2103120"/>
            <a:ext cx="2651760" cy="274320"/>
          </a:xfrm>
          <a:prstGeom prst="rect">
            <a:avLst/>
          </a:prstGeom>
          <a:noFill/>
          <a:ln/>
        </p:spPr>
        <p:txBody>
          <a:bodyPr wrap="square" lIns="0" tIns="0" rIns="0" bIns="0" rtlCol="0" anchor="ctr"/>
          <a:lstStyle/>
          <a:p>
            <a:pPr algn="ctr" indent="0" marL="0">
              <a:buNone/>
            </a:pPr>
            <a:r>
              <a:rPr lang="en-US" sz="1200" b="1" i="1" dirty="0">
                <a:solidFill>
                  <a:schemeClr val="accent2"/>
                </a:solidFill>
              </a:rPr>
              <a:t>3,000 capacity</a:t>
            </a:r>
            <a:endParaRPr lang="en-US" sz="1200" dirty="0"/>
          </a:p>
        </p:txBody>
      </p:sp>
      <p:sp>
        <p:nvSpPr>
          <p:cNvPr id="8" name="Capacity legend"/>
          <p:cNvSpPr txBox="1"/>
          <p:nvPr/>
        </p:nvSpPr>
        <p:spPr>
          <a:xfrm>
            <a:off x="320040" y="5047488"/>
            <a:ext cx="4206240" cy="256032"/>
          </a:xfrm>
          <a:prstGeom prst="rect">
            <a:avLst/>
          </a:prstGeom>
          <a:noFill/>
          <a:ln/>
        </p:spPr>
        <p:txBody>
          <a:bodyPr wrap="square" lIns="0" tIns="0" rIns="0" bIns="0" rtlCol="0" anchor="ctr"/>
          <a:lstStyle/>
          <a:p>
            <a:pPr algn="ctr" indent="0" marL="0">
              <a:buNone/>
            </a:pPr>
            <a:r>
              <a:rPr lang="en-US" sz="1100" dirty="0">
                <a:solidFill>
                  <a:srgbClr val="0A1C58"/>
                </a:solidFill>
              </a:rPr>
              <a:t>■ </a:t>
            </a:r>
            <a:pPr algn="ctr" indent="0" marL="0">
              <a:buNone/>
            </a:pPr>
            <a:r>
              <a:rPr lang="en-US" sz="1100" dirty="0">
                <a:solidFill>
                  <a:srgbClr val="1A1A1A"/>
                </a:solidFill>
              </a:rPr>
              <a:t>Output   </a:t>
            </a:r>
            <a:pPr algn="ctr" indent="0" marL="0">
              <a:buNone/>
            </a:pPr>
            <a:r>
              <a:rPr lang="en-US" sz="1100" dirty="0">
                <a:solidFill>
                  <a:srgbClr val="B5AEA9"/>
                </a:solidFill>
              </a:rPr>
              <a:t>■ </a:t>
            </a:r>
            <a:pPr algn="ctr" indent="0" marL="0">
              <a:buNone/>
            </a:pPr>
            <a:r>
              <a:rPr lang="en-US" sz="1100" dirty="0">
                <a:solidFill>
                  <a:srgbClr val="1A1A1A"/>
                </a:solidFill>
              </a:rPr>
              <a:t>Unused capacity</a:t>
            </a:r>
            <a:endParaRPr lang="en-US" sz="1100" dirty="0"/>
          </a:p>
        </p:txBody>
      </p:sp>
      <p:sp>
        <p:nvSpPr>
          <p:cNvPr id="9" name="Network header"/>
          <p:cNvSpPr txBox="1"/>
          <p:nvPr/>
        </p:nvSpPr>
        <p:spPr>
          <a:xfrm>
            <a:off x="4892040" y="1554480"/>
            <a:ext cx="3931920" cy="365760"/>
          </a:xfrm>
          <a:prstGeom prst="rect">
            <a:avLst/>
          </a:prstGeom>
          <a:noFill/>
          <a:ln/>
        </p:spPr>
        <p:txBody>
          <a:bodyPr wrap="square" lIns="0" tIns="0" rIns="0" bIns="0" rtlCol="0" anchor="b"/>
          <a:lstStyle/>
          <a:p>
            <a:pPr algn="ctr" indent="0" marL="0">
              <a:buNone/>
            </a:pPr>
            <a:r>
              <a:rPr lang="en-US" sz="1600" b="1" dirty="0">
                <a:solidFill>
                  <a:srgbClr val="1A1A1A"/>
                </a:solidFill>
              </a:rPr>
              <a:t>The Network</a:t>
            </a:r>
            <a:endParaRPr lang="en-US" sz="1600" dirty="0"/>
          </a:p>
        </p:txBody>
      </p:sp>
      <p:sp>
        <p:nvSpPr>
          <p:cNvPr id="10" name="Network header rule"/>
          <p:cNvSpPr/>
          <p:nvPr/>
        </p:nvSpPr>
        <p:spPr>
          <a:xfrm>
            <a:off x="4892040" y="1975104"/>
            <a:ext cx="3931920" cy="0"/>
          </a:xfrm>
          <a:prstGeom prst="line">
            <a:avLst/>
          </a:prstGeom>
          <a:noFill/>
          <a:ln w="12700">
            <a:solidFill>
              <a:srgbClr val="1A1A1A"/>
            </a:solidFill>
            <a:prstDash val="solid"/>
          </a:ln>
        </p:spPr>
      </p:sp>
      <p:sp>
        <p:nvSpPr>
          <p:cNvPr id="11" name="Site Montreal"/>
          <p:cNvSpPr txBox="1"/>
          <p:nvPr/>
        </p:nvSpPr>
        <p:spPr>
          <a:xfrm>
            <a:off x="4892040" y="2103120"/>
            <a:ext cx="1920240" cy="868680"/>
          </a:xfrm>
          <a:prstGeom prst="rect">
            <a:avLst/>
          </a:prstGeom>
          <a:solidFill>
            <a:srgbClr val="DCD8D3"/>
          </a:solidFill>
          <a:ln/>
        </p:spPr>
        <p:txBody>
          <a:bodyPr wrap="square" lIns="50800" tIns="50800" rIns="50800" bIns="50800" rtlCol="0" anchor="ctr"/>
          <a:lstStyle/>
          <a:p>
            <a:pPr algn="ctr" indent="0" marL="0">
              <a:buNone/>
            </a:pPr>
            <a:r>
              <a:rPr lang="en-US" sz="1500" b="1" dirty="0">
                <a:solidFill>
                  <a:schemeClr val="tx2"/>
                </a:solidFill>
              </a:rPr>
              <a:t>Montreal</a:t>
            </a:r>
            <a:endParaRPr lang="en-US" sz="1500" dirty="0"/>
          </a:p>
          <a:p>
            <a:pPr algn="ctr" indent="0" marL="0">
              <a:buNone/>
            </a:pPr>
            <a:r>
              <a:rPr lang="en-US" sz="1100" dirty="0">
                <a:solidFill>
                  <a:schemeClr val="tx2"/>
                </a:solidFill>
              </a:rPr>
              <a:t>Flagship, up to 900</a:t>
            </a:r>
            <a:endParaRPr lang="en-US" sz="1500" dirty="0"/>
          </a:p>
        </p:txBody>
      </p:sp>
      <p:sp>
        <p:nvSpPr>
          <p:cNvPr id="12" name="Site Miami"/>
          <p:cNvSpPr txBox="1"/>
          <p:nvPr/>
        </p:nvSpPr>
        <p:spPr>
          <a:xfrm>
            <a:off x="6903720" y="2103120"/>
            <a:ext cx="1920240" cy="868680"/>
          </a:xfrm>
          <a:prstGeom prst="rect">
            <a:avLst/>
          </a:prstGeom>
          <a:solidFill>
            <a:srgbClr val="DCD8D3"/>
          </a:solidFill>
          <a:ln/>
        </p:spPr>
        <p:txBody>
          <a:bodyPr wrap="square" lIns="50800" tIns="50800" rIns="50800" bIns="50800" rtlCol="0" anchor="ctr"/>
          <a:lstStyle/>
          <a:p>
            <a:pPr algn="ctr" indent="0" marL="0">
              <a:buNone/>
            </a:pPr>
            <a:r>
              <a:rPr lang="en-US" sz="1500" b="1" dirty="0">
                <a:solidFill>
                  <a:schemeClr val="tx2"/>
                </a:solidFill>
              </a:rPr>
              <a:t>Miami</a:t>
            </a:r>
            <a:endParaRPr lang="en-US" sz="1500" dirty="0"/>
          </a:p>
          <a:p>
            <a:pPr algn="ctr" indent="0" marL="0">
              <a:buNone/>
            </a:pPr>
            <a:r>
              <a:rPr lang="en-US" sz="1100" dirty="0">
                <a:solidFill>
                  <a:schemeClr val="tx2"/>
                </a:solidFill>
              </a:rPr>
              <a:t>~475 in 2026E</a:t>
            </a:r>
            <a:endParaRPr lang="en-US" sz="1500" dirty="0"/>
          </a:p>
        </p:txBody>
      </p:sp>
      <p:sp>
        <p:nvSpPr>
          <p:cNvPr id="13" name="Site Rome"/>
          <p:cNvSpPr txBox="1"/>
          <p:nvPr/>
        </p:nvSpPr>
        <p:spPr>
          <a:xfrm>
            <a:off x="4892040" y="3090672"/>
            <a:ext cx="1920240" cy="868680"/>
          </a:xfrm>
          <a:prstGeom prst="rect">
            <a:avLst/>
          </a:prstGeom>
          <a:solidFill>
            <a:srgbClr val="DCD8D3"/>
          </a:solidFill>
          <a:ln/>
        </p:spPr>
        <p:txBody>
          <a:bodyPr wrap="square" lIns="50800" tIns="50800" rIns="50800" bIns="50800" rtlCol="0" anchor="ctr"/>
          <a:lstStyle/>
          <a:p>
            <a:pPr algn="ctr" indent="0" marL="0">
              <a:buNone/>
            </a:pPr>
            <a:r>
              <a:rPr lang="en-US" sz="1500" b="1" dirty="0">
                <a:solidFill>
                  <a:schemeClr val="tx2"/>
                </a:solidFill>
              </a:rPr>
              <a:t>Rome</a:t>
            </a:r>
            <a:endParaRPr lang="en-US" sz="1500" dirty="0"/>
          </a:p>
          <a:p>
            <a:pPr algn="ctr" indent="0" marL="0">
              <a:buNone/>
            </a:pPr>
            <a:r>
              <a:rPr lang="en-US" sz="1100" dirty="0">
                <a:solidFill>
                  <a:schemeClr val="tx2"/>
                </a:solidFill>
              </a:rPr>
              <a:t>Ramping</a:t>
            </a:r>
            <a:endParaRPr lang="en-US" sz="1500" dirty="0"/>
          </a:p>
        </p:txBody>
      </p:sp>
      <p:sp>
        <p:nvSpPr>
          <p:cNvPr id="14" name="Site Lisbon"/>
          <p:cNvSpPr txBox="1"/>
          <p:nvPr/>
        </p:nvSpPr>
        <p:spPr>
          <a:xfrm>
            <a:off x="6903720" y="3090672"/>
            <a:ext cx="1920240" cy="868680"/>
          </a:xfrm>
          <a:prstGeom prst="rect">
            <a:avLst/>
          </a:prstGeom>
          <a:solidFill>
            <a:srgbClr val="0A1C58"/>
          </a:solidFill>
          <a:ln/>
        </p:spPr>
        <p:txBody>
          <a:bodyPr wrap="square" lIns="50800" tIns="50800" rIns="50800" bIns="50800" rtlCol="0" anchor="ctr"/>
          <a:lstStyle/>
          <a:p>
            <a:pPr algn="ctr" indent="0" marL="0">
              <a:buNone/>
            </a:pPr>
            <a:r>
              <a:rPr lang="en-US" sz="1500" b="1" dirty="0">
                <a:solidFill>
                  <a:schemeClr val="bg1"/>
                </a:solidFill>
              </a:rPr>
              <a:t>Lisbon</a:t>
            </a:r>
            <a:endParaRPr lang="en-US" sz="1500" dirty="0"/>
          </a:p>
          <a:p>
            <a:pPr algn="ctr" indent="0" marL="0">
              <a:buNone/>
            </a:pPr>
            <a:r>
              <a:rPr lang="en-US" sz="1100" dirty="0">
                <a:solidFill>
                  <a:schemeClr val="bg1"/>
                </a:solidFill>
              </a:rPr>
              <a:t>Heading to 300+</a:t>
            </a:r>
            <a:endParaRPr lang="en-US" sz="1500" dirty="0"/>
          </a:p>
        </p:txBody>
      </p:sp>
      <p:sp>
        <p:nvSpPr>
          <p:cNvPr id="15" name="Site Jakarta"/>
          <p:cNvSpPr txBox="1"/>
          <p:nvPr/>
        </p:nvSpPr>
        <p:spPr>
          <a:xfrm>
            <a:off x="4892040" y="4078224"/>
            <a:ext cx="1920240" cy="868680"/>
          </a:xfrm>
          <a:prstGeom prst="rect">
            <a:avLst/>
          </a:prstGeom>
          <a:solidFill>
            <a:srgbClr val="0A1C58"/>
          </a:solidFill>
          <a:ln/>
        </p:spPr>
        <p:txBody>
          <a:bodyPr wrap="square" lIns="50800" tIns="50800" rIns="50800" bIns="50800" rtlCol="0" anchor="ctr"/>
          <a:lstStyle/>
          <a:p>
            <a:pPr algn="ctr" indent="0" marL="0">
              <a:buNone/>
            </a:pPr>
            <a:r>
              <a:rPr lang="en-US" sz="1500" b="1" dirty="0">
                <a:solidFill>
                  <a:schemeClr val="bg1"/>
                </a:solidFill>
              </a:rPr>
              <a:t>Jakarta</a:t>
            </a:r>
            <a:endParaRPr lang="en-US" sz="1500" dirty="0"/>
          </a:p>
          <a:p>
            <a:pPr algn="ctr" indent="0" marL="0">
              <a:buNone/>
            </a:pPr>
            <a:r>
              <a:rPr lang="en-US" sz="1100" dirty="0">
                <a:solidFill>
                  <a:schemeClr val="bg1"/>
                </a:solidFill>
              </a:rPr>
              <a:t>Heavy work, 300–450 (E)</a:t>
            </a:r>
            <a:endParaRPr lang="en-US" sz="1500" dirty="0"/>
          </a:p>
        </p:txBody>
      </p:sp>
      <p:sp>
        <p:nvSpPr>
          <p:cNvPr id="16" name="Site Cairo"/>
          <p:cNvSpPr txBox="1"/>
          <p:nvPr/>
        </p:nvSpPr>
        <p:spPr>
          <a:xfrm>
            <a:off x="6903720" y="4078224"/>
            <a:ext cx="1920240" cy="868680"/>
          </a:xfrm>
          <a:prstGeom prst="rect">
            <a:avLst/>
          </a:prstGeom>
          <a:solidFill>
            <a:srgbClr val="0A1C58"/>
          </a:solidFill>
          <a:ln/>
        </p:spPr>
        <p:txBody>
          <a:bodyPr wrap="square" lIns="50800" tIns="50800" rIns="50800" bIns="50800" rtlCol="0" anchor="ctr"/>
          <a:lstStyle/>
          <a:p>
            <a:pPr algn="ctr" indent="0" marL="0">
              <a:buNone/>
            </a:pPr>
            <a:r>
              <a:rPr lang="en-US" sz="1500" b="1" dirty="0">
                <a:solidFill>
                  <a:schemeClr val="bg1"/>
                </a:solidFill>
              </a:rPr>
              <a:t>Cairo</a:t>
            </a:r>
            <a:endParaRPr lang="en-US" sz="1500" dirty="0"/>
          </a:p>
          <a:p>
            <a:pPr algn="ctr" indent="0" marL="0">
              <a:buNone/>
            </a:pPr>
            <a:r>
              <a:rPr lang="en-US" sz="1100" dirty="0">
                <a:solidFill>
                  <a:schemeClr val="bg1"/>
                </a:solidFill>
              </a:rPr>
              <a:t>Light work, 150–180 (E)</a:t>
            </a:r>
            <a:endParaRPr lang="en-US" sz="1500" dirty="0"/>
          </a:p>
        </p:txBody>
      </p:sp>
      <p:sp>
        <p:nvSpPr>
          <p:cNvPr id="17" name="Network legend"/>
          <p:cNvSpPr txBox="1"/>
          <p:nvPr/>
        </p:nvSpPr>
        <p:spPr>
          <a:xfrm>
            <a:off x="4892040" y="5047488"/>
            <a:ext cx="3931920" cy="256032"/>
          </a:xfrm>
          <a:prstGeom prst="rect">
            <a:avLst/>
          </a:prstGeom>
          <a:noFill/>
          <a:ln/>
        </p:spPr>
        <p:txBody>
          <a:bodyPr wrap="square" lIns="0" tIns="0" rIns="0" bIns="0" rtlCol="0" anchor="ctr"/>
          <a:lstStyle/>
          <a:p>
            <a:pPr algn="ctr" indent="0" marL="0">
              <a:buNone/>
            </a:pPr>
            <a:r>
              <a:rPr lang="en-US" sz="1100" dirty="0">
                <a:solidFill>
                  <a:srgbClr val="0A1C58"/>
                </a:solidFill>
              </a:rPr>
              <a:t>■ </a:t>
            </a:r>
            <a:pPr algn="ctr" indent="0" marL="0">
              <a:buNone/>
            </a:pPr>
            <a:r>
              <a:rPr lang="en-US" sz="1100" dirty="0">
                <a:solidFill>
                  <a:srgbClr val="1A1A1A"/>
                </a:solidFill>
              </a:rPr>
              <a:t>New sites   </a:t>
            </a:r>
            <a:pPr algn="ctr" indent="0" marL="0">
              <a:buNone/>
            </a:pPr>
            <a:r>
              <a:rPr lang="en-US" sz="1100" dirty="0">
                <a:solidFill>
                  <a:srgbClr val="DCD8D3"/>
                </a:solidFill>
              </a:rPr>
              <a:t>■ </a:t>
            </a:r>
            <a:pPr algn="ctr" indent="0" marL="0">
              <a:buNone/>
            </a:pPr>
            <a:r>
              <a:rPr lang="en-US" sz="1100" dirty="0">
                <a:solidFill>
                  <a:srgbClr val="1A1A1A"/>
                </a:solidFill>
              </a:rPr>
              <a:t>Existing (modules / yr)</a:t>
            </a:r>
            <a:endParaRPr lang="en-US" sz="1100" dirty="0"/>
          </a:p>
        </p:txBody>
      </p:sp>
      <p:sp>
        <p:nvSpPr>
          <p:cNvPr id="18"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With 3,000 modules of capacity against 1,700 planned, FTAI can absorb share gains.</a:t>
            </a:r>
            <a:endParaRPr lang="en-US" sz="1700" dirty="0"/>
          </a:p>
        </p:txBody>
      </p:sp>
      <p:sp>
        <p:nvSpPr>
          <p:cNvPr id="19"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FTAI Q1/Q2'26 earnings supplements; GMF and EgyptAir reports; GPS estimates (E)</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1b: Share Gains (5/5)</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Share gains plus the SCI floor take FTAI to ~1,700 modules in FY27, in line with its target.</a:t>
            </a:r>
            <a:endParaRPr lang="en-US" sz="1700" dirty="0"/>
          </a:p>
        </p:txBody>
      </p:sp>
      <p:sp>
        <p:nvSpPr>
          <p:cNvPr id="4" name="Volume tile 1"/>
          <p:cNvSpPr txBox="1"/>
          <p:nvPr/>
        </p:nvSpPr>
        <p:spPr>
          <a:xfrm>
            <a:off x="320040" y="1600200"/>
            <a:ext cx="1572768" cy="868680"/>
          </a:xfrm>
          <a:prstGeom prst="rect">
            <a:avLst/>
          </a:prstGeom>
          <a:solidFill>
            <a:srgbClr val="DCD8D3"/>
          </a:solidFill>
          <a:ln/>
        </p:spPr>
        <p:txBody>
          <a:bodyPr wrap="square" lIns="25400" tIns="25400" rIns="25400" bIns="25400" rtlCol="0" anchor="ctr"/>
          <a:lstStyle/>
          <a:p>
            <a:pPr algn="ctr" indent="0" marL="0">
              <a:buNone/>
            </a:pPr>
            <a:r>
              <a:rPr lang="en-US" sz="2000" b="1" dirty="0">
                <a:solidFill>
                  <a:schemeClr val="tx2"/>
                </a:solidFill>
              </a:rPr>
              <a:t>2,386</a:t>
            </a:r>
            <a:endParaRPr lang="en-US" sz="2000" dirty="0"/>
          </a:p>
          <a:p>
            <a:pPr algn="ctr" indent="0" marL="0">
              <a:buNone/>
            </a:pPr>
            <a:r>
              <a:rPr lang="en-US" sz="1100" dirty="0">
                <a:solidFill>
                  <a:schemeClr val="tx2"/>
                </a:solidFill>
              </a:rPr>
              <a:t>CFM56 shop visits</a:t>
            </a:r>
            <a:endParaRPr lang="en-US" sz="2000" dirty="0"/>
          </a:p>
        </p:txBody>
      </p:sp>
      <p:sp>
        <p:nvSpPr>
          <p:cNvPr id="5" name="Volume tile 2"/>
          <p:cNvSpPr txBox="1"/>
          <p:nvPr/>
        </p:nvSpPr>
        <p:spPr>
          <a:xfrm>
            <a:off x="2048256" y="1600200"/>
            <a:ext cx="1572768" cy="868680"/>
          </a:xfrm>
          <a:prstGeom prst="rect">
            <a:avLst/>
          </a:prstGeom>
          <a:solidFill>
            <a:srgbClr val="DCD8D3"/>
          </a:solidFill>
          <a:ln/>
        </p:spPr>
        <p:txBody>
          <a:bodyPr wrap="square" lIns="25400" tIns="25400" rIns="25400" bIns="25400" rtlCol="0" anchor="ctr"/>
          <a:lstStyle/>
          <a:p>
            <a:pPr algn="ctr" indent="0" marL="0">
              <a:buNone/>
            </a:pPr>
            <a:r>
              <a:rPr lang="en-US" sz="2000" b="1" dirty="0">
                <a:solidFill>
                  <a:schemeClr val="tx2"/>
                </a:solidFill>
              </a:rPr>
              <a:t>× 3</a:t>
            </a:r>
            <a:endParaRPr lang="en-US" sz="2000" dirty="0"/>
          </a:p>
          <a:p>
            <a:pPr algn="ctr" indent="0" marL="0">
              <a:buNone/>
            </a:pPr>
            <a:r>
              <a:rPr lang="en-US" sz="1100" dirty="0">
                <a:solidFill>
                  <a:schemeClr val="tx2"/>
                </a:solidFill>
              </a:rPr>
              <a:t>modules each</a:t>
            </a:r>
            <a:endParaRPr lang="en-US" sz="2000" dirty="0"/>
          </a:p>
        </p:txBody>
      </p:sp>
      <p:sp>
        <p:nvSpPr>
          <p:cNvPr id="6" name="Volume tile 3"/>
          <p:cNvSpPr txBox="1"/>
          <p:nvPr/>
        </p:nvSpPr>
        <p:spPr>
          <a:xfrm>
            <a:off x="3776472" y="1600200"/>
            <a:ext cx="1572768" cy="868680"/>
          </a:xfrm>
          <a:prstGeom prst="rect">
            <a:avLst/>
          </a:prstGeom>
          <a:solidFill>
            <a:srgbClr val="DCD8D3"/>
          </a:solidFill>
          <a:ln/>
        </p:spPr>
        <p:txBody>
          <a:bodyPr wrap="square" lIns="25400" tIns="25400" rIns="25400" bIns="25400" rtlCol="0" anchor="ctr"/>
          <a:lstStyle/>
          <a:p>
            <a:pPr algn="ctr" indent="0" marL="0">
              <a:buNone/>
            </a:pPr>
            <a:r>
              <a:rPr lang="en-US" sz="2000" b="1" dirty="0">
                <a:solidFill>
                  <a:schemeClr val="tx2"/>
                </a:solidFill>
              </a:rPr>
              <a:t>× 16.8%</a:t>
            </a:r>
            <a:endParaRPr lang="en-US" sz="2000" dirty="0"/>
          </a:p>
          <a:p>
            <a:pPr algn="ctr" indent="0" marL="0">
              <a:buNone/>
            </a:pPr>
            <a:r>
              <a:rPr lang="en-US" sz="1100" dirty="0">
                <a:solidFill>
                  <a:schemeClr val="tx2"/>
                </a:solidFill>
              </a:rPr>
              <a:t>FTAI share</a:t>
            </a:r>
            <a:endParaRPr lang="en-US" sz="2000" dirty="0"/>
          </a:p>
        </p:txBody>
      </p:sp>
      <p:sp>
        <p:nvSpPr>
          <p:cNvPr id="7" name="Volume tile 4"/>
          <p:cNvSpPr txBox="1"/>
          <p:nvPr/>
        </p:nvSpPr>
        <p:spPr>
          <a:xfrm>
            <a:off x="5504688" y="1600200"/>
            <a:ext cx="1572768" cy="868680"/>
          </a:xfrm>
          <a:prstGeom prst="rect">
            <a:avLst/>
          </a:prstGeom>
          <a:solidFill>
            <a:srgbClr val="DCD8D3"/>
          </a:solidFill>
          <a:ln/>
        </p:spPr>
        <p:txBody>
          <a:bodyPr wrap="square" lIns="25400" tIns="25400" rIns="25400" bIns="25400" rtlCol="0" anchor="ctr"/>
          <a:lstStyle/>
          <a:p>
            <a:pPr algn="ctr" indent="0" marL="0">
              <a:buNone/>
            </a:pPr>
            <a:r>
              <a:rPr lang="en-US" sz="2000" b="1" dirty="0">
                <a:solidFill>
                  <a:schemeClr val="tx2"/>
                </a:solidFill>
              </a:rPr>
              <a:t>+ 482</a:t>
            </a:r>
            <a:endParaRPr lang="en-US" sz="2000" dirty="0"/>
          </a:p>
          <a:p>
            <a:pPr algn="ctr" indent="0" marL="0">
              <a:buNone/>
            </a:pPr>
            <a:r>
              <a:rPr lang="en-US" sz="1100" dirty="0">
                <a:solidFill>
                  <a:schemeClr val="tx2"/>
                </a:solidFill>
              </a:rPr>
              <a:t>SCI modules</a:t>
            </a:r>
            <a:endParaRPr lang="en-US" sz="2000" dirty="0"/>
          </a:p>
        </p:txBody>
      </p:sp>
      <p:sp>
        <p:nvSpPr>
          <p:cNvPr id="8" name="Volume tile 5"/>
          <p:cNvSpPr txBox="1"/>
          <p:nvPr/>
        </p:nvSpPr>
        <p:spPr>
          <a:xfrm>
            <a:off x="7232904" y="1600200"/>
            <a:ext cx="1572768" cy="868680"/>
          </a:xfrm>
          <a:prstGeom prst="rect">
            <a:avLst/>
          </a:prstGeom>
          <a:solidFill>
            <a:srgbClr val="0A1C58"/>
          </a:solidFill>
          <a:ln/>
        </p:spPr>
        <p:txBody>
          <a:bodyPr wrap="square" lIns="25400" tIns="25400" rIns="25400" bIns="25400" rtlCol="0" anchor="ctr"/>
          <a:lstStyle/>
          <a:p>
            <a:pPr algn="ctr" indent="0" marL="0">
              <a:buNone/>
            </a:pPr>
            <a:r>
              <a:rPr lang="en-US" sz="2000" b="1" dirty="0">
                <a:solidFill>
                  <a:schemeClr val="bg1"/>
                </a:solidFill>
              </a:rPr>
              <a:t>= 1,687</a:t>
            </a:r>
            <a:endParaRPr lang="en-US" sz="2000" dirty="0"/>
          </a:p>
          <a:p>
            <a:pPr algn="ctr" indent="0" marL="0">
              <a:buNone/>
            </a:pPr>
            <a:r>
              <a:rPr lang="en-US" sz="1100" dirty="0">
                <a:solidFill>
                  <a:schemeClr val="bg1"/>
                </a:solidFill>
              </a:rPr>
              <a:t>FY27E modules</a:t>
            </a:r>
            <a:endParaRPr lang="en-US" sz="2000" dirty="0"/>
          </a:p>
        </p:txBody>
      </p:sp>
      <p:sp>
        <p:nvSpPr>
          <p:cNvPr id="9" name="Share header"/>
          <p:cNvSpPr txBox="1"/>
          <p:nvPr/>
        </p:nvSpPr>
        <p:spPr>
          <a:xfrm>
            <a:off x="320040" y="2606040"/>
            <a:ext cx="4206240" cy="365760"/>
          </a:xfrm>
          <a:prstGeom prst="rect">
            <a:avLst/>
          </a:prstGeom>
          <a:noFill/>
          <a:ln/>
        </p:spPr>
        <p:txBody>
          <a:bodyPr wrap="square" lIns="0" tIns="0" rIns="0" bIns="0" rtlCol="0" anchor="b"/>
          <a:lstStyle/>
          <a:p>
            <a:pPr algn="ctr" indent="0" marL="0">
              <a:buNone/>
            </a:pPr>
            <a:r>
              <a:rPr lang="en-US" sz="1600" b="1" dirty="0">
                <a:solidFill>
                  <a:srgbClr val="1A1A1A"/>
                </a:solidFill>
              </a:rPr>
              <a:t>FTAI Share of CFM56 Module Work</a:t>
            </a:r>
            <a:endParaRPr lang="en-US" sz="1600" dirty="0"/>
          </a:p>
        </p:txBody>
      </p:sp>
      <p:sp>
        <p:nvSpPr>
          <p:cNvPr id="10" name="Share header rule"/>
          <p:cNvSpPr/>
          <p:nvPr/>
        </p:nvSpPr>
        <p:spPr>
          <a:xfrm>
            <a:off x="320040" y="3026664"/>
            <a:ext cx="4206240" cy="0"/>
          </a:xfrm>
          <a:prstGeom prst="line">
            <a:avLst/>
          </a:prstGeom>
          <a:noFill/>
          <a:ln w="12700">
            <a:solidFill>
              <a:srgbClr val="1A1A1A"/>
            </a:solidFill>
            <a:prstDash val="solid"/>
          </a:ln>
        </p:spPr>
      </p:sp>
      <p:graphicFrame>
        <p:nvGraphicFramePr>
          <p:cNvPr id="11" name="Share chart" descr=""/>
          <p:cNvGraphicFramePr/>
          <p:nvPr/>
        </p:nvGraphicFramePr>
        <p:xfrm>
          <a:off x="320040" y="3108960"/>
          <a:ext cx="4206240" cy="2240280"/>
        </p:xfrm>
        <a:graphic xmlns:a="http://schemas.openxmlformats.org/drawingml/2006/main">
          <a:graphicData uri="http://schemas.openxmlformats.org/drawingml/2006/chart">
            <c:chart xmlns:c="http://schemas.openxmlformats.org/drawingml/2006/chart" r:id="rId1"/>
          </a:graphicData>
        </a:graphic>
      </p:graphicFrame>
      <p:sp>
        <p:nvSpPr>
          <p:cNvPr id="12" name="Modules header"/>
          <p:cNvSpPr txBox="1"/>
          <p:nvPr/>
        </p:nvSpPr>
        <p:spPr>
          <a:xfrm>
            <a:off x="4892040" y="2606040"/>
            <a:ext cx="3931920" cy="365760"/>
          </a:xfrm>
          <a:prstGeom prst="rect">
            <a:avLst/>
          </a:prstGeom>
          <a:noFill/>
          <a:ln/>
        </p:spPr>
        <p:txBody>
          <a:bodyPr wrap="square" lIns="0" tIns="0" rIns="0" bIns="0" rtlCol="0" anchor="b"/>
          <a:lstStyle/>
          <a:p>
            <a:pPr algn="ctr" indent="0" marL="0">
              <a:buNone/>
            </a:pPr>
            <a:r>
              <a:rPr lang="en-US" sz="1600" b="1" dirty="0">
                <a:solidFill>
                  <a:srgbClr val="1A1A1A"/>
                </a:solidFill>
              </a:rPr>
              <a:t>FTAI Modules Produced</a:t>
            </a:r>
            <a:endParaRPr lang="en-US" sz="1600" dirty="0"/>
          </a:p>
        </p:txBody>
      </p:sp>
      <p:sp>
        <p:nvSpPr>
          <p:cNvPr id="13" name="Modules header rule"/>
          <p:cNvSpPr/>
          <p:nvPr/>
        </p:nvSpPr>
        <p:spPr>
          <a:xfrm>
            <a:off x="4892040" y="3026664"/>
            <a:ext cx="3931920" cy="0"/>
          </a:xfrm>
          <a:prstGeom prst="line">
            <a:avLst/>
          </a:prstGeom>
          <a:noFill/>
          <a:ln w="12700">
            <a:solidFill>
              <a:srgbClr val="1A1A1A"/>
            </a:solidFill>
            <a:prstDash val="solid"/>
          </a:ln>
        </p:spPr>
      </p:sp>
      <p:graphicFrame>
        <p:nvGraphicFramePr>
          <p:cNvPr id="14" name="Modules chart" descr=""/>
          <p:cNvGraphicFramePr/>
          <p:nvPr/>
        </p:nvGraphicFramePr>
        <p:xfrm>
          <a:off x="4892040" y="3108960"/>
          <a:ext cx="3931920" cy="2011680"/>
        </p:xfrm>
        <a:graphic xmlns:a="http://schemas.openxmlformats.org/drawingml/2006/main">
          <a:graphicData uri="http://schemas.openxmlformats.org/drawingml/2006/chart">
            <c:chart xmlns:c="http://schemas.openxmlformats.org/drawingml/2006/chart" r:id="rId2"/>
          </a:graphicData>
        </a:graphic>
      </p:graphicFrame>
      <p:sp>
        <p:nvSpPr>
          <p:cNvPr id="15" name="Modules legend"/>
          <p:cNvSpPr txBox="1"/>
          <p:nvPr/>
        </p:nvSpPr>
        <p:spPr>
          <a:xfrm>
            <a:off x="4892040" y="5120640"/>
            <a:ext cx="3931920" cy="228600"/>
          </a:xfrm>
          <a:prstGeom prst="rect">
            <a:avLst/>
          </a:prstGeom>
          <a:noFill/>
          <a:ln/>
        </p:spPr>
        <p:txBody>
          <a:bodyPr wrap="square" lIns="0" tIns="0" rIns="0" bIns="0" rtlCol="0" anchor="ctr"/>
          <a:lstStyle/>
          <a:p>
            <a:pPr algn="ctr" indent="0" marL="0">
              <a:buNone/>
            </a:pPr>
            <a:r>
              <a:rPr lang="en-US" sz="1100" dirty="0">
                <a:solidFill>
                  <a:srgbClr val="0A1C58"/>
                </a:solidFill>
              </a:rPr>
              <a:t>■ </a:t>
            </a:r>
            <a:pPr algn="ctr" indent="0" marL="0">
              <a:buNone/>
            </a:pPr>
            <a:r>
              <a:rPr lang="en-US" sz="1100" dirty="0">
                <a:solidFill>
                  <a:srgbClr val="1A1A1A"/>
                </a:solidFill>
              </a:rPr>
              <a:t>Third-party   </a:t>
            </a:r>
            <a:pPr algn="ctr" indent="0" marL="0">
              <a:buNone/>
            </a:pPr>
            <a:r>
              <a:rPr lang="en-US" sz="1100" dirty="0">
                <a:solidFill>
                  <a:srgbClr val="B5AEA9"/>
                </a:solidFill>
              </a:rPr>
              <a:t>■ </a:t>
            </a:r>
            <a:pPr algn="ctr" indent="0" marL="0">
              <a:buNone/>
            </a:pPr>
            <a:r>
              <a:rPr lang="en-US" sz="1100" dirty="0">
                <a:solidFill>
                  <a:srgbClr val="1A1A1A"/>
                </a:solidFill>
              </a:rPr>
              <a:t>SCI floor</a:t>
            </a:r>
            <a:endParaRPr lang="en-US" sz="1100" dirty="0"/>
          </a:p>
        </p:txBody>
      </p:sp>
      <p:sp>
        <p:nvSpPr>
          <p:cNvPr id="16"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Even if share stalls, SCI's contracted fleet keeps adding volume: a floor under the thesis.</a:t>
            </a:r>
            <a:endParaRPr lang="en-US" sz="1700" dirty="0"/>
          </a:p>
        </p:txBody>
      </p:sp>
      <p:sp>
        <p:nvSpPr>
          <p:cNvPr id="17"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model (RPM tab); 2024–25 share per GPS analysis; FTAI 2027 target of 1,700 modules (Q2'26 supplement)</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1b: The LEAP Option (1/2)</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LEAP engines need more maintenance, and OEM contracts start rolling off after 2030.</a:t>
            </a:r>
            <a:endParaRPr lang="en-US" sz="1700" dirty="0"/>
          </a:p>
        </p:txBody>
      </p:sp>
      <p:sp>
        <p:nvSpPr>
          <p:cNvPr id="4" name="Timeline arrow"/>
          <p:cNvSpPr/>
          <p:nvPr/>
        </p:nvSpPr>
        <p:spPr>
          <a:xfrm>
            <a:off x="320040" y="1783080"/>
            <a:ext cx="8503920" cy="457200"/>
          </a:xfrm>
          <a:prstGeom prst="rightArrow">
            <a:avLst/>
          </a:prstGeom>
          <a:solidFill>
            <a:srgbClr val="0A1C58"/>
          </a:solidFill>
          <a:ln/>
        </p:spPr>
      </p:sp>
      <p:sp>
        <p:nvSpPr>
          <p:cNvPr id="5" name="Stop 1"/>
          <p:cNvSpPr txBox="1"/>
          <p:nvPr/>
        </p:nvSpPr>
        <p:spPr>
          <a:xfrm>
            <a:off x="685800" y="1627632"/>
            <a:ext cx="2103120" cy="768096"/>
          </a:xfrm>
          <a:prstGeom prst="rect">
            <a:avLst/>
          </a:prstGeom>
          <a:solidFill>
            <a:srgbClr val="FFFFFF"/>
          </a:solidFill>
          <a:ln w="25400">
            <a:solidFill>
              <a:srgbClr val="0A1C58"/>
            </a:solidFill>
          </a:ln>
        </p:spPr>
        <p:txBody>
          <a:bodyPr wrap="square" lIns="0" tIns="0" rIns="0" bIns="0" rtlCol="0" anchor="ctr"/>
          <a:lstStyle/>
          <a:p>
            <a:pPr algn="ctr" indent="0" marL="0">
              <a:buNone/>
            </a:pPr>
            <a:r>
              <a:rPr lang="en-US" sz="2200" b="1" dirty="0">
                <a:solidFill>
                  <a:schemeClr val="tx2"/>
                </a:solidFill>
              </a:rPr>
              <a:t>Today</a:t>
            </a:r>
            <a:endParaRPr lang="en-US" sz="2200" dirty="0"/>
          </a:p>
        </p:txBody>
      </p:sp>
      <p:sp>
        <p:nvSpPr>
          <p:cNvPr id="6" name="Stop 1 detail"/>
          <p:cNvSpPr txBox="1"/>
          <p:nvPr/>
        </p:nvSpPr>
        <p:spPr>
          <a:xfrm>
            <a:off x="457200" y="2487168"/>
            <a:ext cx="2560320" cy="640080"/>
          </a:xfrm>
          <a:prstGeom prst="rect">
            <a:avLst/>
          </a:prstGeom>
          <a:noFill/>
          <a:ln/>
        </p:spPr>
        <p:txBody>
          <a:bodyPr wrap="square" lIns="0" tIns="0" rIns="0" bIns="0" rtlCol="0" anchor="t"/>
          <a:lstStyle/>
          <a:p>
            <a:pPr algn="ctr" indent="0" marL="0">
              <a:buNone/>
            </a:pPr>
            <a:r>
              <a:rPr lang="en-US" sz="1400" b="1" dirty="0">
                <a:solidFill>
                  <a:schemeClr val="tx2"/>
                </a:solidFill>
              </a:rPr>
              <a:t>~50% of LEAPs on OEM deals</a:t>
            </a:r>
            <a:endParaRPr lang="en-US" sz="1400" dirty="0"/>
          </a:p>
          <a:p>
            <a:pPr algn="ctr" indent="0" marL="0">
              <a:buNone/>
            </a:pPr>
            <a:r>
              <a:rPr lang="en-US" sz="1200" dirty="0">
                <a:solidFill>
                  <a:srgbClr val="1A1A1A"/>
                </a:solidFill>
              </a:rPr>
              <a:t>vs. ~15% of CFM56s</a:t>
            </a:r>
            <a:endParaRPr lang="en-US" sz="1400" dirty="0"/>
          </a:p>
        </p:txBody>
      </p:sp>
      <p:sp>
        <p:nvSpPr>
          <p:cNvPr id="7" name="Stop 2"/>
          <p:cNvSpPr txBox="1"/>
          <p:nvPr/>
        </p:nvSpPr>
        <p:spPr>
          <a:xfrm>
            <a:off x="3520440" y="1627632"/>
            <a:ext cx="2103120" cy="768096"/>
          </a:xfrm>
          <a:prstGeom prst="rect">
            <a:avLst/>
          </a:prstGeom>
          <a:solidFill>
            <a:srgbClr val="FFFFFF"/>
          </a:solidFill>
          <a:ln w="25400">
            <a:solidFill>
              <a:srgbClr val="0A1C58"/>
            </a:solidFill>
          </a:ln>
        </p:spPr>
        <p:txBody>
          <a:bodyPr wrap="square" lIns="0" tIns="0" rIns="0" bIns="0" rtlCol="0" anchor="ctr"/>
          <a:lstStyle/>
          <a:p>
            <a:pPr algn="ctr" indent="0" marL="0">
              <a:buNone/>
            </a:pPr>
            <a:r>
              <a:rPr lang="en-US" sz="2200" b="1" dirty="0">
                <a:solidFill>
                  <a:schemeClr val="tx2"/>
                </a:solidFill>
              </a:rPr>
              <a:t>2030</a:t>
            </a:r>
            <a:endParaRPr lang="en-US" sz="2200" dirty="0"/>
          </a:p>
        </p:txBody>
      </p:sp>
      <p:sp>
        <p:nvSpPr>
          <p:cNvPr id="8" name="Stop 2 detail"/>
          <p:cNvSpPr txBox="1"/>
          <p:nvPr/>
        </p:nvSpPr>
        <p:spPr>
          <a:xfrm>
            <a:off x="3291840" y="2487168"/>
            <a:ext cx="2560320" cy="640080"/>
          </a:xfrm>
          <a:prstGeom prst="rect">
            <a:avLst/>
          </a:prstGeom>
          <a:noFill/>
          <a:ln/>
        </p:spPr>
        <p:txBody>
          <a:bodyPr wrap="square" lIns="0" tIns="0" rIns="0" bIns="0" rtlCol="0" anchor="t"/>
          <a:lstStyle/>
          <a:p>
            <a:pPr algn="ctr" indent="0" marL="0">
              <a:buNone/>
            </a:pPr>
            <a:r>
              <a:rPr lang="en-US" sz="1400" b="1" dirty="0">
                <a:solidFill>
                  <a:schemeClr val="tx2"/>
                </a:solidFill>
              </a:rPr>
              <a:t>~2,000 LEAP visits a year</a:t>
            </a:r>
            <a:endParaRPr lang="en-US" sz="1400" dirty="0"/>
          </a:p>
          <a:p>
            <a:pPr algn="ctr" indent="0" marL="0">
              <a:buNone/>
            </a:pPr>
            <a:r>
              <a:rPr lang="en-US" sz="1200" dirty="0">
                <a:solidFill>
                  <a:srgbClr val="1A1A1A"/>
                </a:solidFill>
              </a:rPr>
              <a:t>OEM coverage peaks near 70%</a:t>
            </a:r>
            <a:endParaRPr lang="en-US" sz="1400" dirty="0"/>
          </a:p>
        </p:txBody>
      </p:sp>
      <p:sp>
        <p:nvSpPr>
          <p:cNvPr id="9" name="Stop 3"/>
          <p:cNvSpPr txBox="1"/>
          <p:nvPr/>
        </p:nvSpPr>
        <p:spPr>
          <a:xfrm>
            <a:off x="6355080" y="1627632"/>
            <a:ext cx="2103120" cy="768096"/>
          </a:xfrm>
          <a:prstGeom prst="rect">
            <a:avLst/>
          </a:prstGeom>
          <a:solidFill>
            <a:srgbClr val="FFFFFF"/>
          </a:solidFill>
          <a:ln w="25400">
            <a:solidFill>
              <a:srgbClr val="0A1C58"/>
            </a:solidFill>
          </a:ln>
        </p:spPr>
        <p:txBody>
          <a:bodyPr wrap="square" lIns="0" tIns="0" rIns="0" bIns="0" rtlCol="0" anchor="ctr"/>
          <a:lstStyle/>
          <a:p>
            <a:pPr algn="ctr" indent="0" marL="0">
              <a:buNone/>
            </a:pPr>
            <a:r>
              <a:rPr lang="en-US" sz="2200" b="1" dirty="0">
                <a:solidFill>
                  <a:schemeClr val="tx2"/>
                </a:solidFill>
              </a:rPr>
              <a:t>2030+</a:t>
            </a:r>
            <a:endParaRPr lang="en-US" sz="2200" dirty="0"/>
          </a:p>
        </p:txBody>
      </p:sp>
      <p:sp>
        <p:nvSpPr>
          <p:cNvPr id="10" name="Stop 3 detail"/>
          <p:cNvSpPr txBox="1"/>
          <p:nvPr/>
        </p:nvSpPr>
        <p:spPr>
          <a:xfrm>
            <a:off x="6126480" y="2487168"/>
            <a:ext cx="2560320" cy="640080"/>
          </a:xfrm>
          <a:prstGeom prst="rect">
            <a:avLst/>
          </a:prstGeom>
          <a:noFill/>
          <a:ln/>
        </p:spPr>
        <p:txBody>
          <a:bodyPr wrap="square" lIns="0" tIns="0" rIns="0" bIns="0" rtlCol="0" anchor="t"/>
          <a:lstStyle/>
          <a:p>
            <a:pPr algn="ctr" indent="0" marL="0">
              <a:buNone/>
            </a:pPr>
            <a:r>
              <a:rPr lang="en-US" sz="1400" b="1" dirty="0">
                <a:solidFill>
                  <a:schemeClr val="tx2"/>
                </a:solidFill>
              </a:rPr>
              <a:t>Contracts roll off</a:t>
            </a:r>
            <a:endParaRPr lang="en-US" sz="1400" dirty="0"/>
          </a:p>
          <a:p>
            <a:pPr algn="ctr" indent="0" marL="0">
              <a:buNone/>
            </a:pPr>
            <a:r>
              <a:rPr lang="en-US" sz="1200" dirty="0">
                <a:solidFill>
                  <a:srgbClr val="1A1A1A"/>
                </a:solidFill>
              </a:rPr>
              <a:t>Work opens to independents</a:t>
            </a:r>
            <a:endParaRPr lang="en-US" sz="1400" dirty="0"/>
          </a:p>
        </p:txBody>
      </p:sp>
      <p:sp>
        <p:nvSpPr>
          <p:cNvPr id="11" name="Card 1"/>
          <p:cNvSpPr/>
          <p:nvPr/>
        </p:nvSpPr>
        <p:spPr>
          <a:xfrm>
            <a:off x="320040" y="3291840"/>
            <a:ext cx="2706624" cy="2057400"/>
          </a:xfrm>
          <a:prstGeom prst="rect">
            <a:avLst/>
          </a:prstGeom>
          <a:solidFill>
            <a:srgbClr val="EFEDEA"/>
          </a:solidFill>
          <a:ln/>
        </p:spPr>
      </p:sp>
      <p:sp>
        <p:nvSpPr>
          <p:cNvPr id="12" name="Card 1 stat"/>
          <p:cNvSpPr/>
          <p:nvPr/>
        </p:nvSpPr>
        <p:spPr>
          <a:xfrm>
            <a:off x="411480" y="3401568"/>
            <a:ext cx="1143000" cy="1143000"/>
          </a:xfrm>
          <a:prstGeom prst="ellipse">
            <a:avLst/>
          </a:prstGeom>
          <a:solidFill>
            <a:srgbClr val="FFFFFF"/>
          </a:solidFill>
          <a:ln w="25400">
            <a:solidFill>
              <a:srgbClr val="0A1C58"/>
            </a:solidFill>
          </a:ln>
        </p:spPr>
        <p:txBody>
          <a:bodyPr wrap="square" lIns="0" tIns="0" rIns="0" bIns="0" rtlCol="0" anchor="ctr"/>
          <a:lstStyle/>
          <a:p>
            <a:pPr algn="ctr" indent="0" marL="0">
              <a:buNone/>
            </a:pPr>
            <a:r>
              <a:rPr lang="en-US" sz="2000" b="1" dirty="0">
                <a:solidFill>
                  <a:schemeClr val="tx2"/>
                </a:solidFill>
              </a:rPr>
              <a:t>2.5x</a:t>
            </a:r>
            <a:endParaRPr lang="en-US" sz="2000" dirty="0"/>
          </a:p>
          <a:p>
            <a:pPr algn="ctr" indent="0" marL="0">
              <a:buNone/>
            </a:pPr>
            <a:r>
              <a:rPr lang="en-US" sz="1000" dirty="0">
                <a:solidFill>
                  <a:schemeClr val="tx2"/>
                </a:solidFill>
              </a:rPr>
              <a:t>sooner</a:t>
            </a:r>
            <a:endParaRPr lang="en-US" sz="2000" dirty="0"/>
          </a:p>
        </p:txBody>
      </p:sp>
      <p:sp>
        <p:nvSpPr>
          <p:cNvPr id="13" name="Card 1 head"/>
          <p:cNvSpPr txBox="1"/>
          <p:nvPr/>
        </p:nvSpPr>
        <p:spPr>
          <a:xfrm>
            <a:off x="1618488" y="3520440"/>
            <a:ext cx="1371600" cy="868680"/>
          </a:xfrm>
          <a:prstGeom prst="rect">
            <a:avLst/>
          </a:prstGeom>
          <a:noFill/>
          <a:ln/>
        </p:spPr>
        <p:txBody>
          <a:bodyPr wrap="square" lIns="0" tIns="0" rIns="0" bIns="0" rtlCol="0" anchor="ctr"/>
          <a:lstStyle/>
          <a:p>
            <a:pPr algn="l" indent="0" marL="0">
              <a:buNone/>
            </a:pPr>
            <a:r>
              <a:rPr lang="en-US" sz="1500" b="1" dirty="0">
                <a:solidFill>
                  <a:schemeClr val="tx2"/>
                </a:solidFill>
              </a:rPr>
              <a:t>More shop visits</a:t>
            </a:r>
            <a:endParaRPr lang="en-US" sz="1500" dirty="0"/>
          </a:p>
        </p:txBody>
      </p:sp>
      <p:sp>
        <p:nvSpPr>
          <p:cNvPr id="14" name="Card 1 body"/>
          <p:cNvSpPr txBox="1"/>
          <p:nvPr/>
        </p:nvSpPr>
        <p:spPr>
          <a:xfrm>
            <a:off x="457200" y="4572000"/>
            <a:ext cx="2432304" cy="731520"/>
          </a:xfrm>
          <a:prstGeom prst="rect">
            <a:avLst/>
          </a:prstGeom>
          <a:noFill/>
          <a:ln/>
        </p:spPr>
        <p:txBody>
          <a:bodyPr wrap="square" lIns="0" tIns="0" rIns="0" bIns="0" rtlCol="0" anchor="t"/>
          <a:lstStyle/>
          <a:p>
            <a:pPr algn="l" indent="0" marL="0">
              <a:buNone/>
            </a:pPr>
            <a:r>
              <a:rPr lang="en-US" sz="1200" dirty="0">
                <a:solidFill>
                  <a:srgbClr val="1A1A1A"/>
                </a:solidFill>
              </a:rPr>
              <a:t>First LEAP visits at ~4,000 cycles vs. the 10,000+ originally planned.</a:t>
            </a:r>
            <a:endParaRPr lang="en-US" sz="1200" dirty="0"/>
          </a:p>
        </p:txBody>
      </p:sp>
      <p:sp>
        <p:nvSpPr>
          <p:cNvPr id="15" name="Card 2"/>
          <p:cNvSpPr/>
          <p:nvPr/>
        </p:nvSpPr>
        <p:spPr>
          <a:xfrm>
            <a:off x="3218688" y="3291840"/>
            <a:ext cx="2706624" cy="2057400"/>
          </a:xfrm>
          <a:prstGeom prst="rect">
            <a:avLst/>
          </a:prstGeom>
          <a:solidFill>
            <a:srgbClr val="EFEDEA"/>
          </a:solidFill>
          <a:ln/>
        </p:spPr>
      </p:sp>
      <p:sp>
        <p:nvSpPr>
          <p:cNvPr id="16" name="Card 2 stat"/>
          <p:cNvSpPr/>
          <p:nvPr/>
        </p:nvSpPr>
        <p:spPr>
          <a:xfrm>
            <a:off x="3310128" y="3401568"/>
            <a:ext cx="1143000" cy="1143000"/>
          </a:xfrm>
          <a:prstGeom prst="ellipse">
            <a:avLst/>
          </a:prstGeom>
          <a:solidFill>
            <a:srgbClr val="FFFFFF"/>
          </a:solidFill>
          <a:ln w="25400">
            <a:solidFill>
              <a:srgbClr val="0A1C58"/>
            </a:solidFill>
          </a:ln>
        </p:spPr>
        <p:txBody>
          <a:bodyPr wrap="square" lIns="0" tIns="0" rIns="0" bIns="0" rtlCol="0" anchor="ctr"/>
          <a:lstStyle/>
          <a:p>
            <a:pPr algn="ctr" indent="0" marL="0">
              <a:buNone/>
            </a:pPr>
            <a:r>
              <a:rPr lang="en-US" sz="1400" b="1" dirty="0">
                <a:solidFill>
                  <a:schemeClr val="tx2"/>
                </a:solidFill>
              </a:rPr>
              <a:t>$2–4.5M</a:t>
            </a:r>
            <a:endParaRPr lang="en-US" sz="1400" dirty="0"/>
          </a:p>
          <a:p>
            <a:pPr algn="ctr" indent="0" marL="0">
              <a:buNone/>
            </a:pPr>
            <a:r>
              <a:rPr lang="en-US" sz="1000" dirty="0">
                <a:solidFill>
                  <a:schemeClr val="tx2"/>
                </a:solidFill>
              </a:rPr>
              <a:t>per visit</a:t>
            </a:r>
            <a:endParaRPr lang="en-US" sz="1400" dirty="0"/>
          </a:p>
        </p:txBody>
      </p:sp>
      <p:sp>
        <p:nvSpPr>
          <p:cNvPr id="17" name="Card 2 head"/>
          <p:cNvSpPr txBox="1"/>
          <p:nvPr/>
        </p:nvSpPr>
        <p:spPr>
          <a:xfrm>
            <a:off x="4517136" y="3520440"/>
            <a:ext cx="1371600" cy="868680"/>
          </a:xfrm>
          <a:prstGeom prst="rect">
            <a:avLst/>
          </a:prstGeom>
          <a:noFill/>
          <a:ln/>
        </p:spPr>
        <p:txBody>
          <a:bodyPr wrap="square" lIns="0" tIns="0" rIns="0" bIns="0" rtlCol="0" anchor="ctr"/>
          <a:lstStyle/>
          <a:p>
            <a:pPr algn="l" indent="0" marL="0">
              <a:buNone/>
            </a:pPr>
            <a:r>
              <a:rPr lang="en-US" sz="1500" b="1" dirty="0">
                <a:solidFill>
                  <a:schemeClr val="tx2"/>
                </a:solidFill>
              </a:rPr>
              <a:t>Costlier visits</a:t>
            </a:r>
            <a:endParaRPr lang="en-US" sz="1500" dirty="0"/>
          </a:p>
        </p:txBody>
      </p:sp>
      <p:sp>
        <p:nvSpPr>
          <p:cNvPr id="18" name="Card 2 body"/>
          <p:cNvSpPr txBox="1"/>
          <p:nvPr/>
        </p:nvSpPr>
        <p:spPr>
          <a:xfrm>
            <a:off x="3355848" y="4572000"/>
            <a:ext cx="2432304" cy="731520"/>
          </a:xfrm>
          <a:prstGeom prst="rect">
            <a:avLst/>
          </a:prstGeom>
          <a:noFill/>
          <a:ln/>
        </p:spPr>
        <p:txBody>
          <a:bodyPr wrap="square" lIns="0" tIns="0" rIns="0" bIns="0" rtlCol="0" anchor="t"/>
          <a:lstStyle/>
          <a:p>
            <a:pPr algn="l" indent="0" marL="0">
              <a:buNone/>
            </a:pPr>
            <a:r>
              <a:rPr lang="en-US" sz="1200" dirty="0">
                <a:solidFill>
                  <a:srgbClr val="1A1A1A"/>
                </a:solidFill>
              </a:rPr>
              <a:t>LEAP overhauls cost far more than the same work on a CFM56.</a:t>
            </a:r>
            <a:endParaRPr lang="en-US" sz="1200" dirty="0"/>
          </a:p>
        </p:txBody>
      </p:sp>
      <p:sp>
        <p:nvSpPr>
          <p:cNvPr id="19" name="Card 3"/>
          <p:cNvSpPr/>
          <p:nvPr/>
        </p:nvSpPr>
        <p:spPr>
          <a:xfrm>
            <a:off x="6117336" y="3291840"/>
            <a:ext cx="2706624" cy="2057400"/>
          </a:xfrm>
          <a:prstGeom prst="rect">
            <a:avLst/>
          </a:prstGeom>
          <a:solidFill>
            <a:srgbClr val="EFEDEA"/>
          </a:solidFill>
          <a:ln/>
        </p:spPr>
      </p:sp>
      <p:sp>
        <p:nvSpPr>
          <p:cNvPr id="20" name="Card 3 stat"/>
          <p:cNvSpPr/>
          <p:nvPr/>
        </p:nvSpPr>
        <p:spPr>
          <a:xfrm>
            <a:off x="6208776" y="3401568"/>
            <a:ext cx="1143000" cy="1143000"/>
          </a:xfrm>
          <a:prstGeom prst="ellipse">
            <a:avLst/>
          </a:prstGeom>
          <a:solidFill>
            <a:srgbClr val="0A1C58"/>
          </a:solidFill>
          <a:ln w="25400">
            <a:solidFill>
              <a:srgbClr val="0A1C58"/>
            </a:solidFill>
          </a:ln>
        </p:spPr>
        <p:txBody>
          <a:bodyPr wrap="square" lIns="0" tIns="0" rIns="0" bIns="0" rtlCol="0" anchor="ctr"/>
          <a:lstStyle/>
          <a:p>
            <a:pPr algn="ctr" indent="0" marL="0">
              <a:buNone/>
            </a:pPr>
            <a:r>
              <a:rPr lang="en-US" sz="2000" b="1" dirty="0">
                <a:solidFill>
                  <a:schemeClr val="bg1"/>
                </a:solidFill>
              </a:rPr>
              <a:t>Same</a:t>
            </a:r>
            <a:endParaRPr lang="en-US" sz="2000" dirty="0"/>
          </a:p>
          <a:p>
            <a:pPr algn="ctr" indent="0" marL="0">
              <a:buNone/>
            </a:pPr>
            <a:r>
              <a:rPr lang="en-US" sz="1000" dirty="0">
                <a:solidFill>
                  <a:schemeClr val="bg1"/>
                </a:solidFill>
              </a:rPr>
              <a:t>tooling</a:t>
            </a:r>
            <a:endParaRPr lang="en-US" sz="2000" dirty="0"/>
          </a:p>
        </p:txBody>
      </p:sp>
      <p:sp>
        <p:nvSpPr>
          <p:cNvPr id="21" name="Card 3 head"/>
          <p:cNvSpPr txBox="1"/>
          <p:nvPr/>
        </p:nvSpPr>
        <p:spPr>
          <a:xfrm>
            <a:off x="7415784" y="3520440"/>
            <a:ext cx="1371600" cy="868680"/>
          </a:xfrm>
          <a:prstGeom prst="rect">
            <a:avLst/>
          </a:prstGeom>
          <a:noFill/>
          <a:ln/>
        </p:spPr>
        <p:txBody>
          <a:bodyPr wrap="square" lIns="0" tIns="0" rIns="0" bIns="0" rtlCol="0" anchor="ctr"/>
          <a:lstStyle/>
          <a:p>
            <a:pPr algn="l" indent="0" marL="0">
              <a:buNone/>
            </a:pPr>
            <a:r>
              <a:rPr lang="en-US" sz="1500" b="1" dirty="0">
                <a:solidFill>
                  <a:schemeClr val="tx2"/>
                </a:solidFill>
              </a:rPr>
              <a:t>FTAI can pivot fast</a:t>
            </a:r>
            <a:endParaRPr lang="en-US" sz="1500" dirty="0"/>
          </a:p>
        </p:txBody>
      </p:sp>
      <p:sp>
        <p:nvSpPr>
          <p:cNvPr id="22" name="Card 3 body"/>
          <p:cNvSpPr txBox="1"/>
          <p:nvPr/>
        </p:nvSpPr>
        <p:spPr>
          <a:xfrm>
            <a:off x="6254496" y="4572000"/>
            <a:ext cx="2432304" cy="731520"/>
          </a:xfrm>
          <a:prstGeom prst="rect">
            <a:avLst/>
          </a:prstGeom>
          <a:noFill/>
          <a:ln/>
        </p:spPr>
        <p:txBody>
          <a:bodyPr wrap="square" lIns="0" tIns="0" rIns="0" bIns="0" rtlCol="0" anchor="t"/>
          <a:lstStyle/>
          <a:p>
            <a:pPr algn="l" indent="0" marL="0">
              <a:buNone/>
            </a:pPr>
            <a:r>
              <a:rPr lang="en-US" sz="1200" dirty="0">
                <a:solidFill>
                  <a:srgbClr val="1A1A1A"/>
                </a:solidFill>
              </a:rPr>
              <a:t>A CFM56/LEAP test cell is coming to Rome, and CFM56 tools and techs carry over.</a:t>
            </a:r>
            <a:endParaRPr lang="en-US" sz="1200" dirty="0"/>
          </a:p>
        </p:txBody>
      </p:sp>
      <p:sp>
        <p:nvSpPr>
          <p:cNvPr id="23"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As OEM contracts roll off, LEAP becomes FTAI's next CFM56, with costlier, more frequent visits.</a:t>
            </a:r>
            <a:endParaRPr lang="en-US" sz="1700" dirty="0"/>
          </a:p>
        </p:txBody>
      </p:sp>
      <p:sp>
        <p:nvSpPr>
          <p:cNvPr id="24"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Safran via Aviation Week; Visual Approach; The Air Current; Safe Fly Aviation; FTAI Q2'26 call; GPS expert call</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1b: The LEAP Option (2/2)</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LEAP isn't in our target. Matching FTAI's CFM56 share takes your return past 100%.</a:t>
            </a:r>
            <a:endParaRPr lang="en-US" sz="1700" dirty="0"/>
          </a:p>
        </p:txBody>
      </p:sp>
      <p:sp>
        <p:nvSpPr>
          <p:cNvPr id="4" name="LEAP quote"/>
          <p:cNvSpPr txBox="1"/>
          <p:nvPr/>
        </p:nvSpPr>
        <p:spPr>
          <a:xfrm>
            <a:off x="822960" y="1627632"/>
            <a:ext cx="7498080" cy="868680"/>
          </a:xfrm>
          <a:prstGeom prst="rect">
            <a:avLst/>
          </a:prstGeom>
          <a:solidFill>
            <a:srgbClr val="EFEDEA"/>
          </a:solidFill>
          <a:ln/>
        </p:spPr>
        <p:txBody>
          <a:bodyPr wrap="square" lIns="177800" tIns="50800" rIns="177800" bIns="50800" rtlCol="0" anchor="ctr"/>
          <a:lstStyle/>
          <a:p>
            <a:pPr algn="l" indent="0" marL="0">
              <a:buNone/>
            </a:pPr>
            <a:r>
              <a:rPr lang="en-US" sz="1600" b="1" dirty="0">
                <a:solidFill>
                  <a:srgbClr val="1A1A1A"/>
                </a:solidFill>
              </a:rPr>
              <a:t>“It will happen. The reason why it will happen is because they have set their CFM line up to have a measurable amount of shared services in that line.”</a:t>
            </a:r>
            <a:endParaRPr lang="en-US" sz="1600" dirty="0"/>
          </a:p>
        </p:txBody>
      </p:sp>
      <p:sp>
        <p:nvSpPr>
          <p:cNvPr id="5" name="LEAP quote attribution"/>
          <p:cNvSpPr txBox="1"/>
          <p:nvPr/>
        </p:nvSpPr>
        <p:spPr>
          <a:xfrm>
            <a:off x="4206240" y="2542032"/>
            <a:ext cx="4114800" cy="274320"/>
          </a:xfrm>
          <a:prstGeom prst="rect">
            <a:avLst/>
          </a:prstGeom>
          <a:noFill/>
          <a:ln/>
        </p:spPr>
        <p:txBody>
          <a:bodyPr wrap="square" lIns="0" tIns="0" rIns="0" bIns="0" rtlCol="0" anchor="ctr"/>
          <a:lstStyle/>
          <a:p>
            <a:pPr algn="r" indent="0" marL="0">
              <a:buNone/>
            </a:pPr>
            <a:r>
              <a:rPr lang="en-US" sz="1400" b="1" i="1" dirty="0">
                <a:solidFill>
                  <a:srgbClr val="1A1A1A"/>
                </a:solidFill>
              </a:rPr>
              <a:t>— Former executive, engine MRO shop</a:t>
            </a:r>
            <a:endParaRPr lang="en-US" sz="1400" dirty="0"/>
          </a:p>
        </p:txBody>
      </p:sp>
      <p:graphicFrame>
        <p:nvGraphicFramePr>
          <p:cNvPr id="6" name="LEAP return chart" descr=""/>
          <p:cNvGraphicFramePr/>
          <p:nvPr/>
        </p:nvGraphicFramePr>
        <p:xfrm>
          <a:off x="960120" y="2926080"/>
          <a:ext cx="7680960" cy="2148840"/>
        </p:xfrm>
        <a:graphic xmlns:a="http://schemas.openxmlformats.org/drawingml/2006/main">
          <a:graphicData uri="http://schemas.openxmlformats.org/drawingml/2006/chart">
            <c:chart xmlns:c="http://schemas.openxmlformats.org/drawingml/2006/chart" r:id="rId1"/>
          </a:graphicData>
        </a:graphic>
      </p:graphicFrame>
      <p:sp>
        <p:nvSpPr>
          <p:cNvPr id="7" name="Y label"/>
          <p:cNvSpPr txBox="1"/>
          <p:nvPr/>
        </p:nvSpPr>
        <p:spPr>
          <a:xfrm rot="16200000">
            <a:off x="0" y="3703320"/>
            <a:ext cx="1371600" cy="320040"/>
          </a:xfrm>
          <a:prstGeom prst="rect">
            <a:avLst/>
          </a:prstGeom>
          <a:noFill/>
          <a:ln/>
        </p:spPr>
        <p:txBody>
          <a:bodyPr wrap="square" lIns="0" tIns="0" rIns="0" bIns="0" rtlCol="0" anchor="ctr"/>
          <a:lstStyle/>
          <a:p>
            <a:pPr algn="ctr" indent="0" marL="0">
              <a:buNone/>
            </a:pPr>
            <a:r>
              <a:rPr lang="en-US" sz="1200" b="1" dirty="0">
                <a:solidFill>
                  <a:srgbClr val="1A1A1A"/>
                </a:solidFill>
              </a:rPr>
              <a:t>Your return</a:t>
            </a:r>
            <a:endParaRPr lang="en-US" sz="1200" dirty="0"/>
          </a:p>
        </p:txBody>
      </p:sp>
      <p:sp>
        <p:nvSpPr>
          <p:cNvPr id="8" name="X label"/>
          <p:cNvSpPr txBox="1"/>
          <p:nvPr/>
        </p:nvSpPr>
        <p:spPr>
          <a:xfrm>
            <a:off x="960120" y="5102352"/>
            <a:ext cx="7680960" cy="256032"/>
          </a:xfrm>
          <a:prstGeom prst="rect">
            <a:avLst/>
          </a:prstGeom>
          <a:noFill/>
          <a:ln/>
        </p:spPr>
        <p:txBody>
          <a:bodyPr wrap="square" lIns="0" tIns="0" rIns="0" bIns="0" rtlCol="0" anchor="ctr"/>
          <a:lstStyle/>
          <a:p>
            <a:pPr algn="ctr" indent="0" marL="0">
              <a:buNone/>
            </a:pPr>
            <a:r>
              <a:rPr lang="en-US" sz="1200" b="1" dirty="0">
                <a:solidFill>
                  <a:srgbClr val="1A1A1A"/>
                </a:solidFill>
              </a:rPr>
              <a:t>FTAI share of off-contract LEAP shop visits</a:t>
            </a:r>
            <a:endParaRPr lang="en-US" sz="1200" dirty="0"/>
          </a:p>
        </p:txBody>
      </p:sp>
      <p:sp>
        <p:nvSpPr>
          <p:cNvPr id="9"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Every 5 pts of off-contract LEAP share adds ~9 pts to your return on top of our base case.</a:t>
            </a:r>
            <a:endParaRPr lang="en-US" sz="1700" dirty="0"/>
          </a:p>
        </p:txBody>
      </p:sp>
      <p:sp>
        <p:nvSpPr>
          <p:cNvPr id="10"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analysis: 2,000 LEAP visits/yr, 50% off contract, 3 modules/visit, FY27E EBITDA/module, 16x, discounted 4 yrs at 9.5%</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2: Power (1/4)</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AI spending is exploding, and our model shows the grid falling short from 2029.</a:t>
            </a:r>
            <a:endParaRPr lang="en-US" sz="1700" dirty="0"/>
          </a:p>
        </p:txBody>
      </p:sp>
      <p:sp>
        <p:nvSpPr>
          <p:cNvPr id="4" name="Capex header"/>
          <p:cNvSpPr txBox="1"/>
          <p:nvPr/>
        </p:nvSpPr>
        <p:spPr>
          <a:xfrm>
            <a:off x="320040" y="1554480"/>
            <a:ext cx="4206240" cy="365760"/>
          </a:xfrm>
          <a:prstGeom prst="rect">
            <a:avLst/>
          </a:prstGeom>
          <a:noFill/>
          <a:ln/>
        </p:spPr>
        <p:txBody>
          <a:bodyPr wrap="square" lIns="0" tIns="0" rIns="0" bIns="0" rtlCol="0" anchor="b"/>
          <a:lstStyle/>
          <a:p>
            <a:pPr algn="ctr" indent="0" marL="0">
              <a:buNone/>
            </a:pPr>
            <a:r>
              <a:rPr lang="en-US" sz="1600" b="1" dirty="0">
                <a:solidFill>
                  <a:srgbClr val="1A1A1A"/>
                </a:solidFill>
              </a:rPr>
              <a:t>Big Four Hyperscaler Capex ($B)</a:t>
            </a:r>
            <a:endParaRPr lang="en-US" sz="1600" dirty="0"/>
          </a:p>
        </p:txBody>
      </p:sp>
      <p:sp>
        <p:nvSpPr>
          <p:cNvPr id="5" name="Capex header rule"/>
          <p:cNvSpPr/>
          <p:nvPr/>
        </p:nvSpPr>
        <p:spPr>
          <a:xfrm>
            <a:off x="320040" y="1975104"/>
            <a:ext cx="4206240" cy="0"/>
          </a:xfrm>
          <a:prstGeom prst="line">
            <a:avLst/>
          </a:prstGeom>
          <a:noFill/>
          <a:ln w="12700">
            <a:solidFill>
              <a:srgbClr val="1A1A1A"/>
            </a:solidFill>
            <a:prstDash val="solid"/>
          </a:ln>
        </p:spPr>
      </p:sp>
      <p:graphicFrame>
        <p:nvGraphicFramePr>
          <p:cNvPr id="6" name="Capex chart" descr=""/>
          <p:cNvGraphicFramePr/>
          <p:nvPr/>
        </p:nvGraphicFramePr>
        <p:xfrm>
          <a:off x="320040" y="2103120"/>
          <a:ext cx="4206240" cy="3200400"/>
        </p:xfrm>
        <a:graphic xmlns:a="http://schemas.openxmlformats.org/drawingml/2006/main">
          <a:graphicData uri="http://schemas.openxmlformats.org/drawingml/2006/chart">
            <c:chart xmlns:c="http://schemas.openxmlformats.org/drawingml/2006/chart" r:id="rId1"/>
          </a:graphicData>
        </a:graphic>
      </p:graphicFrame>
      <p:sp>
        <p:nvSpPr>
          <p:cNvPr id="7" name="Shortfall header"/>
          <p:cNvSpPr txBox="1"/>
          <p:nvPr/>
        </p:nvSpPr>
        <p:spPr>
          <a:xfrm>
            <a:off x="4892040" y="1554480"/>
            <a:ext cx="3931920" cy="365760"/>
          </a:xfrm>
          <a:prstGeom prst="rect">
            <a:avLst/>
          </a:prstGeom>
          <a:noFill/>
          <a:ln/>
        </p:spPr>
        <p:txBody>
          <a:bodyPr wrap="square" lIns="0" tIns="0" rIns="0" bIns="0" rtlCol="0" anchor="b"/>
          <a:lstStyle/>
          <a:p>
            <a:pPr algn="ctr" indent="0" marL="0">
              <a:buNone/>
            </a:pPr>
            <a:r>
              <a:rPr lang="en-US" sz="1600" b="1" dirty="0">
                <a:solidFill>
                  <a:srgbClr val="1A1A1A"/>
                </a:solidFill>
              </a:rPr>
              <a:t>U.S. Power Reserve Shortfall (GW)</a:t>
            </a:r>
            <a:endParaRPr lang="en-US" sz="1600" dirty="0"/>
          </a:p>
        </p:txBody>
      </p:sp>
      <p:sp>
        <p:nvSpPr>
          <p:cNvPr id="8" name="Shortfall header rule"/>
          <p:cNvSpPr/>
          <p:nvPr/>
        </p:nvSpPr>
        <p:spPr>
          <a:xfrm>
            <a:off x="4892040" y="1975104"/>
            <a:ext cx="3931920" cy="0"/>
          </a:xfrm>
          <a:prstGeom prst="line">
            <a:avLst/>
          </a:prstGeom>
          <a:noFill/>
          <a:ln w="12700">
            <a:solidFill>
              <a:srgbClr val="1A1A1A"/>
            </a:solidFill>
            <a:prstDash val="solid"/>
          </a:ln>
        </p:spPr>
      </p:sp>
      <p:graphicFrame>
        <p:nvGraphicFramePr>
          <p:cNvPr id="9" name="Shortfall chart" descr=""/>
          <p:cNvGraphicFramePr/>
          <p:nvPr/>
        </p:nvGraphicFramePr>
        <p:xfrm>
          <a:off x="4892040" y="2103120"/>
          <a:ext cx="3931920" cy="2926080"/>
        </p:xfrm>
        <a:graphic xmlns:a="http://schemas.openxmlformats.org/drawingml/2006/main">
          <a:graphicData uri="http://schemas.openxmlformats.org/drawingml/2006/chart">
            <c:chart xmlns:c="http://schemas.openxmlformats.org/drawingml/2006/chart" r:id="rId2"/>
          </a:graphicData>
        </a:graphic>
      </p:graphicFrame>
      <p:sp>
        <p:nvSpPr>
          <p:cNvPr id="10" name="Shortfall caption"/>
          <p:cNvSpPr txBox="1"/>
          <p:nvPr/>
        </p:nvSpPr>
        <p:spPr>
          <a:xfrm>
            <a:off x="4892040" y="5029200"/>
            <a:ext cx="3931920" cy="274320"/>
          </a:xfrm>
          <a:prstGeom prst="rect">
            <a:avLst/>
          </a:prstGeom>
          <a:noFill/>
          <a:ln/>
        </p:spPr>
        <p:txBody>
          <a:bodyPr wrap="square" lIns="0" tIns="0" rIns="0" bIns="0" rtlCol="0" anchor="ctr"/>
          <a:lstStyle/>
          <a:p>
            <a:pPr algn="ctr" indent="0" marL="0">
              <a:buNone/>
            </a:pPr>
            <a:r>
              <a:rPr lang="en-US" sz="1000" i="1" dirty="0">
                <a:solidFill>
                  <a:schemeClr val="accent2"/>
                </a:solidFill>
              </a:rPr>
              <a:t>Capacity below required reserve margin, NERC regions (GPS model)</a:t>
            </a:r>
            <a:endParaRPr lang="en-US" sz="1000" dirty="0"/>
          </a:p>
        </p:txBody>
      </p:sp>
      <p:sp>
        <p:nvSpPr>
          <p:cNvPr id="11"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Hyperscalers will spend ~$730B this year, but there won't be enough power to run it.</a:t>
            </a:r>
            <a:endParaRPr lang="en-US" sz="1700" dirty="0"/>
          </a:p>
        </p:txBody>
      </p:sp>
      <p:sp>
        <p:nvSpPr>
          <p:cNvPr id="12"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Company filings and 2026 guidance (Amazon, Alphabet, Meta, Microsoft); NERC; GPS model (Power outlook, Regional model tabs)</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2: Power (2/4)</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Most new power hyperscalers have contracted isn't fully online until 2029 or later.</a:t>
            </a:r>
            <a:endParaRPr lang="en-US" sz="1700" dirty="0"/>
          </a:p>
        </p:txBody>
      </p:sp>
      <p:sp>
        <p:nvSpPr>
          <p:cNvPr id="4" name="COD header"/>
          <p:cNvSpPr txBox="1"/>
          <p:nvPr/>
        </p:nvSpPr>
        <p:spPr>
          <a:xfrm>
            <a:off x="320040" y="1554480"/>
            <a:ext cx="4572000" cy="365760"/>
          </a:xfrm>
          <a:prstGeom prst="rect">
            <a:avLst/>
          </a:prstGeom>
          <a:noFill/>
          <a:ln/>
        </p:spPr>
        <p:txBody>
          <a:bodyPr wrap="square" lIns="0" tIns="0" rIns="0" bIns="0" rtlCol="0" anchor="b"/>
          <a:lstStyle/>
          <a:p>
            <a:pPr algn="ctr" indent="0" marL="0">
              <a:buNone/>
            </a:pPr>
            <a:r>
              <a:rPr lang="en-US" sz="1600" b="1" dirty="0">
                <a:solidFill>
                  <a:srgbClr val="1A1A1A"/>
                </a:solidFill>
              </a:rPr>
              <a:t>New Capacity by Online Date (GW)</a:t>
            </a:r>
            <a:endParaRPr lang="en-US" sz="1600" dirty="0"/>
          </a:p>
        </p:txBody>
      </p:sp>
      <p:sp>
        <p:nvSpPr>
          <p:cNvPr id="5" name="COD header rule"/>
          <p:cNvSpPr/>
          <p:nvPr/>
        </p:nvSpPr>
        <p:spPr>
          <a:xfrm>
            <a:off x="320040" y="1975104"/>
            <a:ext cx="4572000" cy="0"/>
          </a:xfrm>
          <a:prstGeom prst="line">
            <a:avLst/>
          </a:prstGeom>
          <a:noFill/>
          <a:ln w="12700">
            <a:solidFill>
              <a:srgbClr val="1A1A1A"/>
            </a:solidFill>
            <a:prstDash val="solid"/>
          </a:ln>
        </p:spPr>
      </p:sp>
      <p:graphicFrame>
        <p:nvGraphicFramePr>
          <p:cNvPr id="6" name="COD chart" descr=""/>
          <p:cNvGraphicFramePr/>
          <p:nvPr/>
        </p:nvGraphicFramePr>
        <p:xfrm>
          <a:off x="320040" y="2103120"/>
          <a:ext cx="4572000" cy="2926080"/>
        </p:xfrm>
        <a:graphic xmlns:a="http://schemas.openxmlformats.org/drawingml/2006/main">
          <a:graphicData uri="http://schemas.openxmlformats.org/drawingml/2006/chart">
            <c:chart xmlns:c="http://schemas.openxmlformats.org/drawingml/2006/chart" r:id="rId1"/>
          </a:graphicData>
        </a:graphic>
      </p:graphicFrame>
      <p:sp>
        <p:nvSpPr>
          <p:cNvPr id="7" name="Late share callout"/>
          <p:cNvSpPr/>
          <p:nvPr/>
        </p:nvSpPr>
        <p:spPr>
          <a:xfrm>
            <a:off x="2697480" y="2103120"/>
            <a:ext cx="1005840" cy="1005840"/>
          </a:xfrm>
          <a:prstGeom prst="ellipse">
            <a:avLst/>
          </a:prstGeom>
          <a:solidFill>
            <a:srgbClr val="0A1C58"/>
          </a:solidFill>
          <a:ln>
            <a:solidFill>
              <a:srgbClr val="0A1C58"/>
            </a:solidFill>
          </a:ln>
        </p:spPr>
        <p:txBody>
          <a:bodyPr wrap="square" lIns="0" tIns="0" rIns="0" bIns="0" rtlCol="0" anchor="ctr"/>
          <a:lstStyle/>
          <a:p>
            <a:pPr algn="ctr" indent="0" marL="0">
              <a:buNone/>
            </a:pPr>
            <a:r>
              <a:rPr lang="en-US" sz="2200" b="1" dirty="0">
                <a:solidFill>
                  <a:schemeClr val="bg1"/>
                </a:solidFill>
              </a:rPr>
              <a:t>57%</a:t>
            </a:r>
            <a:endParaRPr lang="en-US" sz="2200" dirty="0"/>
          </a:p>
          <a:p>
            <a:pPr algn="ctr" indent="0" marL="0">
              <a:buNone/>
            </a:pPr>
            <a:r>
              <a:rPr lang="en-US" sz="1000" b="1" dirty="0">
                <a:solidFill>
                  <a:schemeClr val="bg1"/>
                </a:solidFill>
              </a:rPr>
              <a:t>2029 or later</a:t>
            </a:r>
            <a:endParaRPr lang="en-US" sz="2200" dirty="0"/>
          </a:p>
        </p:txBody>
      </p:sp>
      <p:sp>
        <p:nvSpPr>
          <p:cNvPr id="8" name="COD caption"/>
          <p:cNvSpPr txBox="1"/>
          <p:nvPr/>
        </p:nvSpPr>
        <p:spPr>
          <a:xfrm>
            <a:off x="320040" y="5029200"/>
            <a:ext cx="4572000" cy="274320"/>
          </a:xfrm>
          <a:prstGeom prst="rect">
            <a:avLst/>
          </a:prstGeom>
          <a:noFill/>
          <a:ln/>
        </p:spPr>
        <p:txBody>
          <a:bodyPr wrap="square" lIns="0" tIns="0" rIns="0" bIns="0" rtlCol="0" anchor="ctr"/>
          <a:lstStyle/>
          <a:p>
            <a:pPr algn="ctr" indent="0" marL="0">
              <a:buNone/>
            </a:pPr>
            <a:r>
              <a:rPr lang="en-US" sz="1000" i="1" dirty="0">
                <a:solidFill>
                  <a:schemeClr val="accent2"/>
                </a:solidFill>
              </a:rPr>
              <a:t>25 GW of new and restarted capacity across 45 tracked hyperscaler power deals</a:t>
            </a:r>
            <a:endParaRPr lang="en-US" sz="1000" dirty="0"/>
          </a:p>
        </p:txBody>
      </p:sp>
      <p:sp>
        <p:nvSpPr>
          <p:cNvPr id="9" name="Bridge header"/>
          <p:cNvSpPr txBox="1"/>
          <p:nvPr/>
        </p:nvSpPr>
        <p:spPr>
          <a:xfrm>
            <a:off x="5212080" y="1554480"/>
            <a:ext cx="3611880" cy="365760"/>
          </a:xfrm>
          <a:prstGeom prst="rect">
            <a:avLst/>
          </a:prstGeom>
          <a:noFill/>
          <a:ln/>
        </p:spPr>
        <p:txBody>
          <a:bodyPr wrap="square" lIns="0" tIns="0" rIns="0" bIns="0" rtlCol="0" anchor="b"/>
          <a:lstStyle/>
          <a:p>
            <a:pPr algn="ctr" indent="0" marL="0">
              <a:buNone/>
            </a:pPr>
            <a:r>
              <a:rPr lang="en-US" sz="1600" b="1" dirty="0">
                <a:solidFill>
                  <a:srgbClr val="1A1A1A"/>
                </a:solidFill>
              </a:rPr>
              <a:t>The Bridge</a:t>
            </a:r>
            <a:endParaRPr lang="en-US" sz="1600" dirty="0"/>
          </a:p>
        </p:txBody>
      </p:sp>
      <p:sp>
        <p:nvSpPr>
          <p:cNvPr id="10" name="Bridge header rule"/>
          <p:cNvSpPr/>
          <p:nvPr/>
        </p:nvSpPr>
        <p:spPr>
          <a:xfrm>
            <a:off x="5212080" y="1975104"/>
            <a:ext cx="3611880" cy="0"/>
          </a:xfrm>
          <a:prstGeom prst="line">
            <a:avLst/>
          </a:prstGeom>
          <a:noFill/>
          <a:ln w="12700">
            <a:solidFill>
              <a:srgbClr val="1A1A1A"/>
            </a:solidFill>
            <a:prstDash val="solid"/>
          </a:ln>
        </p:spPr>
      </p:sp>
      <p:sp>
        <p:nvSpPr>
          <p:cNvPr id="11" name="Bridge step 1"/>
          <p:cNvSpPr txBox="1"/>
          <p:nvPr/>
        </p:nvSpPr>
        <p:spPr>
          <a:xfrm>
            <a:off x="5212080" y="2148840"/>
            <a:ext cx="3611880" cy="804672"/>
          </a:xfrm>
          <a:prstGeom prst="rect">
            <a:avLst/>
          </a:prstGeom>
          <a:solidFill>
            <a:srgbClr val="DCD8D3"/>
          </a:solidFill>
          <a:ln/>
        </p:spPr>
        <p:txBody>
          <a:bodyPr wrap="square" lIns="76200" tIns="76200" rIns="76200" bIns="76200" rtlCol="0" anchor="ctr"/>
          <a:lstStyle/>
          <a:p>
            <a:pPr algn="ctr" indent="0" marL="0">
              <a:buNone/>
            </a:pPr>
            <a:r>
              <a:rPr lang="en-US" sz="1600" b="1" dirty="0">
                <a:solidFill>
                  <a:schemeClr val="tx2"/>
                </a:solidFill>
              </a:rPr>
              <a:t>Today</a:t>
            </a:r>
            <a:endParaRPr lang="en-US" sz="1600" dirty="0"/>
          </a:p>
          <a:p>
            <a:pPr algn="ctr" indent="0" marL="0">
              <a:buNone/>
            </a:pPr>
            <a:r>
              <a:rPr lang="en-US" sz="1200" dirty="0">
                <a:solidFill>
                  <a:schemeClr val="tx2"/>
                </a:solidFill>
              </a:rPr>
              <a:t>GPUs bought, data center shells built</a:t>
            </a:r>
            <a:endParaRPr lang="en-US" sz="1600" dirty="0"/>
          </a:p>
        </p:txBody>
      </p:sp>
      <p:sp>
        <p:nvSpPr>
          <p:cNvPr id="12" name="Bridge arrow 1"/>
          <p:cNvSpPr/>
          <p:nvPr/>
        </p:nvSpPr>
        <p:spPr>
          <a:xfrm>
            <a:off x="6830568" y="2971800"/>
            <a:ext cx="365760" cy="182880"/>
          </a:xfrm>
          <a:prstGeom prst="downArrow">
            <a:avLst/>
          </a:prstGeom>
          <a:solidFill>
            <a:srgbClr val="847C7A"/>
          </a:solidFill>
          <a:ln/>
        </p:spPr>
      </p:sp>
      <p:sp>
        <p:nvSpPr>
          <p:cNvPr id="13" name="Bridge step 2"/>
          <p:cNvSpPr txBox="1"/>
          <p:nvPr/>
        </p:nvSpPr>
        <p:spPr>
          <a:xfrm>
            <a:off x="5212080" y="3172968"/>
            <a:ext cx="3611880" cy="804672"/>
          </a:xfrm>
          <a:prstGeom prst="rect">
            <a:avLst/>
          </a:prstGeom>
          <a:solidFill>
            <a:srgbClr val="0A1C58"/>
          </a:solidFill>
          <a:ln/>
        </p:spPr>
        <p:txBody>
          <a:bodyPr wrap="square" lIns="76200" tIns="76200" rIns="76200" bIns="76200" rtlCol="0" anchor="ctr"/>
          <a:lstStyle/>
          <a:p>
            <a:pPr algn="ctr" indent="0" marL="0">
              <a:buNone/>
            </a:pPr>
            <a:r>
              <a:rPr lang="en-US" sz="1600" b="1" dirty="0">
                <a:solidFill>
                  <a:schemeClr val="bg1"/>
                </a:solidFill>
              </a:rPr>
              <a:t>2026–2029</a:t>
            </a:r>
            <a:endParaRPr lang="en-US" sz="1600" dirty="0"/>
          </a:p>
          <a:p>
            <a:pPr algn="ctr" indent="0" marL="0">
              <a:buNone/>
            </a:pPr>
            <a:r>
              <a:rPr lang="en-US" sz="1200" dirty="0">
                <a:solidFill>
                  <a:schemeClr val="bg1"/>
                </a:solidFill>
              </a:rPr>
              <a:t>FTAI's mobile turbines power the site</a:t>
            </a:r>
            <a:endParaRPr lang="en-US" sz="1600" dirty="0"/>
          </a:p>
        </p:txBody>
      </p:sp>
      <p:sp>
        <p:nvSpPr>
          <p:cNvPr id="14" name="Bridge arrow 2"/>
          <p:cNvSpPr/>
          <p:nvPr/>
        </p:nvSpPr>
        <p:spPr>
          <a:xfrm>
            <a:off x="6830568" y="3995928"/>
            <a:ext cx="365760" cy="182880"/>
          </a:xfrm>
          <a:prstGeom prst="downArrow">
            <a:avLst/>
          </a:prstGeom>
          <a:solidFill>
            <a:srgbClr val="847C7A"/>
          </a:solidFill>
          <a:ln/>
        </p:spPr>
      </p:sp>
      <p:sp>
        <p:nvSpPr>
          <p:cNvPr id="15" name="Bridge step 3"/>
          <p:cNvSpPr txBox="1"/>
          <p:nvPr/>
        </p:nvSpPr>
        <p:spPr>
          <a:xfrm>
            <a:off x="5212080" y="4197096"/>
            <a:ext cx="3611880" cy="804672"/>
          </a:xfrm>
          <a:prstGeom prst="rect">
            <a:avLst/>
          </a:prstGeom>
          <a:solidFill>
            <a:srgbClr val="DCD8D3"/>
          </a:solidFill>
          <a:ln/>
        </p:spPr>
        <p:txBody>
          <a:bodyPr wrap="square" lIns="76200" tIns="76200" rIns="76200" bIns="76200" rtlCol="0" anchor="ctr"/>
          <a:lstStyle/>
          <a:p>
            <a:pPr algn="ctr" indent="0" marL="0">
              <a:buNone/>
            </a:pPr>
            <a:r>
              <a:rPr lang="en-US" sz="1600" b="1" dirty="0">
                <a:solidFill>
                  <a:schemeClr val="tx2"/>
                </a:solidFill>
              </a:rPr>
              <a:t>2029+</a:t>
            </a:r>
            <a:endParaRPr lang="en-US" sz="1600" dirty="0"/>
          </a:p>
          <a:p>
            <a:pPr algn="ctr" indent="0" marL="0">
              <a:buNone/>
            </a:pPr>
            <a:r>
              <a:rPr lang="en-US" sz="1200" dirty="0">
                <a:solidFill>
                  <a:schemeClr val="tx2"/>
                </a:solidFill>
              </a:rPr>
              <a:t>Grid connections and new plants arrive</a:t>
            </a:r>
            <a:endParaRPr lang="en-US" sz="1600" dirty="0"/>
          </a:p>
        </p:txBody>
      </p:sp>
      <p:sp>
        <p:nvSpPr>
          <p:cNvPr id="16"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Data centers built today need power now. Transitory units like FTAI's fill the gap.</a:t>
            </a:r>
            <a:endParaRPr lang="en-US" sz="1700" dirty="0"/>
          </a:p>
        </p:txBody>
      </p:sp>
      <p:sp>
        <p:nvSpPr>
          <p:cNvPr id="17"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model (Power agreements tab: 45 hyperscaler deals, new/restart MW by full COD); company announcements</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2: Power (3/4)</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Power is a small slice of a data center's cost, and new turbines are sold out. FTAI has pricing power.</a:t>
            </a:r>
            <a:endParaRPr lang="en-US" sz="1700" dirty="0"/>
          </a:p>
        </p:txBody>
      </p:sp>
      <p:sp>
        <p:nvSpPr>
          <p:cNvPr id="4" name="Cost header"/>
          <p:cNvSpPr txBox="1"/>
          <p:nvPr/>
        </p:nvSpPr>
        <p:spPr>
          <a:xfrm>
            <a:off x="320040" y="1554480"/>
            <a:ext cx="3931920" cy="365760"/>
          </a:xfrm>
          <a:prstGeom prst="rect">
            <a:avLst/>
          </a:prstGeom>
          <a:noFill/>
          <a:ln/>
        </p:spPr>
        <p:txBody>
          <a:bodyPr wrap="square" lIns="0" tIns="0" rIns="0" bIns="0" rtlCol="0" anchor="b"/>
          <a:lstStyle/>
          <a:p>
            <a:pPr algn="ctr" indent="0" marL="0">
              <a:buNone/>
            </a:pPr>
            <a:r>
              <a:rPr lang="en-US" sz="1600" b="1" dirty="0">
                <a:solidFill>
                  <a:srgbClr val="1A1A1A"/>
                </a:solidFill>
              </a:rPr>
              <a:t>Cost to Build 100 MW ($M)</a:t>
            </a:r>
            <a:endParaRPr lang="en-US" sz="1600" dirty="0"/>
          </a:p>
        </p:txBody>
      </p:sp>
      <p:sp>
        <p:nvSpPr>
          <p:cNvPr id="5" name="Cost header rule"/>
          <p:cNvSpPr/>
          <p:nvPr/>
        </p:nvSpPr>
        <p:spPr>
          <a:xfrm>
            <a:off x="320040" y="1975104"/>
            <a:ext cx="3931920" cy="0"/>
          </a:xfrm>
          <a:prstGeom prst="line">
            <a:avLst/>
          </a:prstGeom>
          <a:noFill/>
          <a:ln w="12700">
            <a:solidFill>
              <a:srgbClr val="1A1A1A"/>
            </a:solidFill>
            <a:prstDash val="solid"/>
          </a:ln>
        </p:spPr>
      </p:sp>
      <p:sp>
        <p:nvSpPr>
          <p:cNvPr id="6" name="Build cost label 1"/>
          <p:cNvSpPr txBox="1"/>
          <p:nvPr/>
        </p:nvSpPr>
        <p:spPr>
          <a:xfrm>
            <a:off x="320040" y="2240280"/>
            <a:ext cx="1828800" cy="548640"/>
          </a:xfrm>
          <a:prstGeom prst="rect">
            <a:avLst/>
          </a:prstGeom>
          <a:noFill/>
          <a:ln/>
        </p:spPr>
        <p:txBody>
          <a:bodyPr wrap="square" lIns="0" tIns="0" rIns="0" bIns="0" rtlCol="0" anchor="ctr"/>
          <a:lstStyle/>
          <a:p>
            <a:pPr algn="r" indent="0" marL="0">
              <a:buNone/>
            </a:pPr>
            <a:r>
              <a:rPr lang="en-US" sz="1200" dirty="0">
                <a:solidFill>
                  <a:srgbClr val="1A1A1A"/>
                </a:solidFill>
              </a:rPr>
              <a:t>Data center facility</a:t>
            </a:r>
            <a:endParaRPr lang="en-US" sz="1200" dirty="0"/>
          </a:p>
        </p:txBody>
      </p:sp>
      <p:sp>
        <p:nvSpPr>
          <p:cNvPr id="7" name="Build cost bar 1"/>
          <p:cNvSpPr/>
          <p:nvPr/>
        </p:nvSpPr>
        <p:spPr>
          <a:xfrm>
            <a:off x="2240280" y="2240280"/>
            <a:ext cx="1371600" cy="548640"/>
          </a:xfrm>
          <a:prstGeom prst="rect">
            <a:avLst/>
          </a:prstGeom>
          <a:solidFill>
            <a:srgbClr val="B5AEA9"/>
          </a:solidFill>
          <a:ln/>
        </p:spPr>
      </p:sp>
      <p:sp>
        <p:nvSpPr>
          <p:cNvPr id="8" name="Build cost value 1"/>
          <p:cNvSpPr txBox="1"/>
          <p:nvPr/>
        </p:nvSpPr>
        <p:spPr>
          <a:xfrm>
            <a:off x="3685032" y="2240280"/>
            <a:ext cx="822960" cy="548640"/>
          </a:xfrm>
          <a:prstGeom prst="rect">
            <a:avLst/>
          </a:prstGeom>
          <a:noFill/>
          <a:ln/>
        </p:spPr>
        <p:txBody>
          <a:bodyPr wrap="square" lIns="0" tIns="0" rIns="0" bIns="0" rtlCol="0" anchor="ctr"/>
          <a:lstStyle/>
          <a:p>
            <a:pPr algn="l" indent="0" marL="0">
              <a:buNone/>
            </a:pPr>
            <a:r>
              <a:rPr lang="en-US" sz="1300" b="1" dirty="0">
                <a:solidFill>
                  <a:schemeClr val="tx2"/>
                </a:solidFill>
              </a:rPr>
              <a:t>$1,200M</a:t>
            </a:r>
            <a:endParaRPr lang="en-US" sz="1300" dirty="0"/>
          </a:p>
        </p:txBody>
      </p:sp>
      <p:sp>
        <p:nvSpPr>
          <p:cNvPr id="9" name="Build cost label 2"/>
          <p:cNvSpPr txBox="1"/>
          <p:nvPr/>
        </p:nvSpPr>
        <p:spPr>
          <a:xfrm>
            <a:off x="320040" y="3017520"/>
            <a:ext cx="1828800" cy="548640"/>
          </a:xfrm>
          <a:prstGeom prst="rect">
            <a:avLst/>
          </a:prstGeom>
          <a:noFill/>
          <a:ln/>
        </p:spPr>
        <p:txBody>
          <a:bodyPr wrap="square" lIns="0" tIns="0" rIns="0" bIns="0" rtlCol="0" anchor="ctr"/>
          <a:lstStyle/>
          <a:p>
            <a:pPr algn="r" indent="0" marL="0">
              <a:buNone/>
            </a:pPr>
            <a:r>
              <a:rPr lang="en-US" sz="1200" dirty="0">
                <a:solidFill>
                  <a:srgbClr val="1A1A1A"/>
                </a:solidFill>
              </a:rPr>
              <a:t>FTAI turbines (6 units)</a:t>
            </a:r>
            <a:endParaRPr lang="en-US" sz="1200" dirty="0"/>
          </a:p>
        </p:txBody>
      </p:sp>
      <p:sp>
        <p:nvSpPr>
          <p:cNvPr id="10" name="Build cost bar 2"/>
          <p:cNvSpPr/>
          <p:nvPr/>
        </p:nvSpPr>
        <p:spPr>
          <a:xfrm>
            <a:off x="2240280" y="3017520"/>
            <a:ext cx="171450" cy="548640"/>
          </a:xfrm>
          <a:prstGeom prst="rect">
            <a:avLst/>
          </a:prstGeom>
          <a:solidFill>
            <a:srgbClr val="0A1C58"/>
          </a:solidFill>
          <a:ln/>
        </p:spPr>
      </p:sp>
      <p:sp>
        <p:nvSpPr>
          <p:cNvPr id="11" name="Build cost value 2"/>
          <p:cNvSpPr txBox="1"/>
          <p:nvPr/>
        </p:nvSpPr>
        <p:spPr>
          <a:xfrm>
            <a:off x="2484882" y="3017520"/>
            <a:ext cx="822960" cy="548640"/>
          </a:xfrm>
          <a:prstGeom prst="rect">
            <a:avLst/>
          </a:prstGeom>
          <a:noFill/>
          <a:ln/>
        </p:spPr>
        <p:txBody>
          <a:bodyPr wrap="square" lIns="0" tIns="0" rIns="0" bIns="0" rtlCol="0" anchor="ctr"/>
          <a:lstStyle/>
          <a:p>
            <a:pPr algn="l" indent="0" marL="0">
              <a:buNone/>
            </a:pPr>
            <a:r>
              <a:rPr lang="en-US" sz="1300" b="1" dirty="0">
                <a:solidFill>
                  <a:schemeClr val="tx2"/>
                </a:solidFill>
              </a:rPr>
              <a:t>$150M</a:t>
            </a:r>
            <a:endParaRPr lang="en-US" sz="1300" dirty="0"/>
          </a:p>
        </p:txBody>
      </p:sp>
      <p:sp>
        <p:nvSpPr>
          <p:cNvPr id="12" name="Cost takeaway"/>
          <p:cNvSpPr txBox="1"/>
          <p:nvPr/>
        </p:nvSpPr>
        <p:spPr>
          <a:xfrm>
            <a:off x="320040" y="3931920"/>
            <a:ext cx="3931920" cy="1325880"/>
          </a:xfrm>
          <a:prstGeom prst="rect">
            <a:avLst/>
          </a:prstGeom>
          <a:solidFill>
            <a:srgbClr val="EFEDEA"/>
          </a:solidFill>
          <a:ln/>
        </p:spPr>
        <p:txBody>
          <a:bodyPr wrap="square" lIns="127000" tIns="127000" rIns="127000" bIns="127000" rtlCol="0" anchor="ctr"/>
          <a:lstStyle/>
          <a:p>
            <a:pPr algn="ctr" indent="0" marL="0">
              <a:buNone/>
            </a:pPr>
            <a:r>
              <a:rPr lang="en-US" sz="2600" b="1" dirty="0">
                <a:solidFill>
                  <a:schemeClr val="tx2"/>
                </a:solidFill>
              </a:rPr>
              <a:t>~13%</a:t>
            </a:r>
            <a:endParaRPr lang="en-US" sz="2600" dirty="0"/>
          </a:p>
          <a:p>
            <a:pPr algn="ctr" indent="0" marL="0">
              <a:buNone/>
            </a:pPr>
            <a:r>
              <a:rPr lang="en-US" sz="1200" dirty="0">
                <a:solidFill>
                  <a:srgbClr val="1A1A1A"/>
                </a:solidFill>
              </a:rPr>
              <a:t>of the build cost, with 50% spare units for reliability, before counting the GPUs inside.</a:t>
            </a:r>
            <a:endParaRPr lang="en-US" sz="2600" dirty="0"/>
          </a:p>
        </p:txBody>
      </p:sp>
      <p:sp>
        <p:nvSpPr>
          <p:cNvPr id="13" name="Lead time header"/>
          <p:cNvSpPr txBox="1"/>
          <p:nvPr/>
        </p:nvSpPr>
        <p:spPr>
          <a:xfrm>
            <a:off x="4572000" y="1554480"/>
            <a:ext cx="4251960" cy="365760"/>
          </a:xfrm>
          <a:prstGeom prst="rect">
            <a:avLst/>
          </a:prstGeom>
          <a:noFill/>
          <a:ln/>
        </p:spPr>
        <p:txBody>
          <a:bodyPr wrap="square" lIns="0" tIns="0" rIns="0" bIns="0" rtlCol="0" anchor="b"/>
          <a:lstStyle/>
          <a:p>
            <a:pPr algn="ctr" indent="0" marL="0">
              <a:buNone/>
            </a:pPr>
            <a:r>
              <a:rPr lang="en-US" sz="1600" b="1" dirty="0">
                <a:solidFill>
                  <a:srgbClr val="1A1A1A"/>
                </a:solidFill>
              </a:rPr>
              <a:t>When New Turbines Can Arrive</a:t>
            </a:r>
            <a:endParaRPr lang="en-US" sz="1600" dirty="0"/>
          </a:p>
        </p:txBody>
      </p:sp>
      <p:sp>
        <p:nvSpPr>
          <p:cNvPr id="14" name="Lead time header rule"/>
          <p:cNvSpPr/>
          <p:nvPr/>
        </p:nvSpPr>
        <p:spPr>
          <a:xfrm>
            <a:off x="4572000" y="1975104"/>
            <a:ext cx="4251960" cy="0"/>
          </a:xfrm>
          <a:prstGeom prst="line">
            <a:avLst/>
          </a:prstGeom>
          <a:noFill/>
          <a:ln w="12700">
            <a:solidFill>
              <a:srgbClr val="1A1A1A"/>
            </a:solidFill>
            <a:prstDash val="solid"/>
          </a:ln>
        </p:spPr>
      </p:sp>
      <p:sp>
        <p:nvSpPr>
          <p:cNvPr id="15" name="Year grid 2026"/>
          <p:cNvSpPr/>
          <p:nvPr/>
        </p:nvSpPr>
        <p:spPr>
          <a:xfrm>
            <a:off x="6172200" y="2103120"/>
            <a:ext cx="0" cy="2514600"/>
          </a:xfrm>
          <a:prstGeom prst="line">
            <a:avLst/>
          </a:prstGeom>
          <a:noFill/>
          <a:ln w="9525">
            <a:solidFill>
              <a:srgbClr val="E3E0DC"/>
            </a:solidFill>
            <a:prstDash val="solid"/>
          </a:ln>
        </p:spPr>
      </p:sp>
      <p:sp>
        <p:nvSpPr>
          <p:cNvPr id="16" name="Year tick 2026"/>
          <p:cNvSpPr txBox="1"/>
          <p:nvPr/>
        </p:nvSpPr>
        <p:spPr>
          <a:xfrm>
            <a:off x="5897880" y="4617720"/>
            <a:ext cx="548640" cy="228600"/>
          </a:xfrm>
          <a:prstGeom prst="rect">
            <a:avLst/>
          </a:prstGeom>
          <a:noFill/>
          <a:ln/>
        </p:spPr>
        <p:txBody>
          <a:bodyPr wrap="square" lIns="0" tIns="0" rIns="0" bIns="0" rtlCol="0" anchor="ctr"/>
          <a:lstStyle/>
          <a:p>
            <a:pPr algn="ctr" indent="0" marL="0">
              <a:buNone/>
            </a:pPr>
            <a:r>
              <a:rPr lang="en-US" sz="1000" dirty="0">
                <a:solidFill>
                  <a:schemeClr val="accent2"/>
                </a:solidFill>
              </a:rPr>
              <a:t>2026</a:t>
            </a:r>
            <a:endParaRPr lang="en-US" sz="1000" dirty="0"/>
          </a:p>
        </p:txBody>
      </p:sp>
      <p:sp>
        <p:nvSpPr>
          <p:cNvPr id="17" name="Year grid 2028"/>
          <p:cNvSpPr/>
          <p:nvPr/>
        </p:nvSpPr>
        <p:spPr>
          <a:xfrm>
            <a:off x="7214616" y="2103120"/>
            <a:ext cx="0" cy="2514600"/>
          </a:xfrm>
          <a:prstGeom prst="line">
            <a:avLst/>
          </a:prstGeom>
          <a:noFill/>
          <a:ln w="9525">
            <a:solidFill>
              <a:srgbClr val="E3E0DC"/>
            </a:solidFill>
            <a:prstDash val="solid"/>
          </a:ln>
        </p:spPr>
      </p:sp>
      <p:sp>
        <p:nvSpPr>
          <p:cNvPr id="18" name="Year tick 2028"/>
          <p:cNvSpPr txBox="1"/>
          <p:nvPr/>
        </p:nvSpPr>
        <p:spPr>
          <a:xfrm>
            <a:off x="6940296" y="4617720"/>
            <a:ext cx="548640" cy="228600"/>
          </a:xfrm>
          <a:prstGeom prst="rect">
            <a:avLst/>
          </a:prstGeom>
          <a:noFill/>
          <a:ln/>
        </p:spPr>
        <p:txBody>
          <a:bodyPr wrap="square" lIns="0" tIns="0" rIns="0" bIns="0" rtlCol="0" anchor="ctr"/>
          <a:lstStyle/>
          <a:p>
            <a:pPr algn="ctr" indent="0" marL="0">
              <a:buNone/>
            </a:pPr>
            <a:r>
              <a:rPr lang="en-US" sz="1000" dirty="0">
                <a:solidFill>
                  <a:schemeClr val="accent2"/>
                </a:solidFill>
              </a:rPr>
              <a:t>2028</a:t>
            </a:r>
            <a:endParaRPr lang="en-US" sz="1000" dirty="0"/>
          </a:p>
        </p:txBody>
      </p:sp>
      <p:sp>
        <p:nvSpPr>
          <p:cNvPr id="19" name="Year grid 2030"/>
          <p:cNvSpPr/>
          <p:nvPr/>
        </p:nvSpPr>
        <p:spPr>
          <a:xfrm>
            <a:off x="8257032" y="2103120"/>
            <a:ext cx="0" cy="2514600"/>
          </a:xfrm>
          <a:prstGeom prst="line">
            <a:avLst/>
          </a:prstGeom>
          <a:noFill/>
          <a:ln w="9525">
            <a:solidFill>
              <a:srgbClr val="E3E0DC"/>
            </a:solidFill>
            <a:prstDash val="solid"/>
          </a:ln>
        </p:spPr>
      </p:sp>
      <p:sp>
        <p:nvSpPr>
          <p:cNvPr id="20" name="Year tick 2030"/>
          <p:cNvSpPr txBox="1"/>
          <p:nvPr/>
        </p:nvSpPr>
        <p:spPr>
          <a:xfrm>
            <a:off x="7982712" y="4617720"/>
            <a:ext cx="548640" cy="228600"/>
          </a:xfrm>
          <a:prstGeom prst="rect">
            <a:avLst/>
          </a:prstGeom>
          <a:noFill/>
          <a:ln/>
        </p:spPr>
        <p:txBody>
          <a:bodyPr wrap="square" lIns="0" tIns="0" rIns="0" bIns="0" rtlCol="0" anchor="ctr"/>
          <a:lstStyle/>
          <a:p>
            <a:pPr algn="ctr" indent="0" marL="0">
              <a:buNone/>
            </a:pPr>
            <a:r>
              <a:rPr lang="en-US" sz="1000" dirty="0">
                <a:solidFill>
                  <a:schemeClr val="accent2"/>
                </a:solidFill>
              </a:rPr>
              <a:t>2030</a:t>
            </a:r>
            <a:endParaRPr lang="en-US" sz="1000" dirty="0"/>
          </a:p>
        </p:txBody>
      </p:sp>
      <p:sp>
        <p:nvSpPr>
          <p:cNvPr id="21" name="Lane 1 label"/>
          <p:cNvSpPr txBox="1"/>
          <p:nvPr/>
        </p:nvSpPr>
        <p:spPr>
          <a:xfrm>
            <a:off x="4572000" y="2286000"/>
            <a:ext cx="1508760" cy="502920"/>
          </a:xfrm>
          <a:prstGeom prst="rect">
            <a:avLst/>
          </a:prstGeom>
          <a:noFill/>
          <a:ln/>
        </p:spPr>
        <p:txBody>
          <a:bodyPr wrap="square" lIns="0" tIns="0" rIns="0" bIns="0" rtlCol="0" anchor="ctr"/>
          <a:lstStyle/>
          <a:p>
            <a:pPr algn="r" indent="0" marL="0">
              <a:buNone/>
            </a:pPr>
            <a:r>
              <a:rPr lang="en-US" sz="1200" b="1" dirty="0">
                <a:solidFill>
                  <a:schemeClr val="tx2"/>
                </a:solidFill>
              </a:rPr>
              <a:t>FTAI Mod-1</a:t>
            </a:r>
            <a:endParaRPr lang="en-US" sz="1200" dirty="0"/>
          </a:p>
        </p:txBody>
      </p:sp>
      <p:sp>
        <p:nvSpPr>
          <p:cNvPr id="22" name="Lane 1 bar"/>
          <p:cNvSpPr/>
          <p:nvPr/>
        </p:nvSpPr>
        <p:spPr>
          <a:xfrm>
            <a:off x="6589166" y="2359152"/>
            <a:ext cx="625450" cy="365760"/>
          </a:xfrm>
          <a:prstGeom prst="roundRect">
            <a:avLst>
              <a:gd name="adj" fmla="val 20000"/>
            </a:avLst>
          </a:prstGeom>
          <a:solidFill>
            <a:srgbClr val="0A1C58"/>
          </a:solidFill>
          <a:ln/>
        </p:spPr>
      </p:sp>
      <p:sp>
        <p:nvSpPr>
          <p:cNvPr id="23" name="Lane 2 label"/>
          <p:cNvSpPr txBox="1"/>
          <p:nvPr/>
        </p:nvSpPr>
        <p:spPr>
          <a:xfrm>
            <a:off x="4572000" y="3063240"/>
            <a:ext cx="1508760" cy="502920"/>
          </a:xfrm>
          <a:prstGeom prst="rect">
            <a:avLst/>
          </a:prstGeom>
          <a:noFill/>
          <a:ln/>
        </p:spPr>
        <p:txBody>
          <a:bodyPr wrap="square" lIns="0" tIns="0" rIns="0" bIns="0" rtlCol="0" anchor="ctr"/>
          <a:lstStyle/>
          <a:p>
            <a:pPr algn="r" indent="0" marL="0">
              <a:buNone/>
            </a:pPr>
            <a:r>
              <a:rPr lang="en-US" sz="1200" dirty="0">
                <a:solidFill>
                  <a:srgbClr val="1A1A1A"/>
                </a:solidFill>
              </a:rPr>
              <a:t>New aero orders</a:t>
            </a:r>
            <a:endParaRPr lang="en-US" sz="1200" dirty="0"/>
          </a:p>
        </p:txBody>
      </p:sp>
      <p:sp>
        <p:nvSpPr>
          <p:cNvPr id="24" name="Lane 2 bar"/>
          <p:cNvSpPr/>
          <p:nvPr/>
        </p:nvSpPr>
        <p:spPr>
          <a:xfrm>
            <a:off x="7214616" y="3136392"/>
            <a:ext cx="1511503" cy="365760"/>
          </a:xfrm>
          <a:prstGeom prst="roundRect">
            <a:avLst>
              <a:gd name="adj" fmla="val 20000"/>
            </a:avLst>
          </a:prstGeom>
          <a:solidFill>
            <a:srgbClr val="B5AEA9"/>
          </a:solidFill>
          <a:ln/>
        </p:spPr>
      </p:sp>
      <p:sp>
        <p:nvSpPr>
          <p:cNvPr id="25" name="Lane 3 label"/>
          <p:cNvSpPr txBox="1"/>
          <p:nvPr/>
        </p:nvSpPr>
        <p:spPr>
          <a:xfrm>
            <a:off x="4572000" y="3840480"/>
            <a:ext cx="1508760" cy="502920"/>
          </a:xfrm>
          <a:prstGeom prst="rect">
            <a:avLst/>
          </a:prstGeom>
          <a:noFill/>
          <a:ln/>
        </p:spPr>
        <p:txBody>
          <a:bodyPr wrap="square" lIns="0" tIns="0" rIns="0" bIns="0" rtlCol="0" anchor="ctr"/>
          <a:lstStyle/>
          <a:p>
            <a:pPr algn="r" indent="0" marL="0">
              <a:buNone/>
            </a:pPr>
            <a:r>
              <a:rPr lang="en-US" sz="1200" dirty="0">
                <a:solidFill>
                  <a:srgbClr val="1A1A1A"/>
                </a:solidFill>
              </a:rPr>
              <a:t>New large turbines</a:t>
            </a:r>
            <a:endParaRPr lang="en-US" sz="1200" dirty="0"/>
          </a:p>
        </p:txBody>
      </p:sp>
      <p:sp>
        <p:nvSpPr>
          <p:cNvPr id="26" name="Lane 3 bar"/>
          <p:cNvSpPr/>
          <p:nvPr/>
        </p:nvSpPr>
        <p:spPr>
          <a:xfrm>
            <a:off x="7735824" y="3913632"/>
            <a:ext cx="1042416" cy="365760"/>
          </a:xfrm>
          <a:prstGeom prst="roundRect">
            <a:avLst>
              <a:gd name="adj" fmla="val 20000"/>
            </a:avLst>
          </a:prstGeom>
          <a:solidFill>
            <a:srgbClr val="B5AEA9"/>
          </a:solidFill>
          <a:ln/>
        </p:spPr>
      </p:sp>
      <p:sp>
        <p:nvSpPr>
          <p:cNvPr id="27" name="Lead time caption"/>
          <p:cNvSpPr txBox="1"/>
          <p:nvPr/>
        </p:nvSpPr>
        <p:spPr>
          <a:xfrm>
            <a:off x="4572000" y="4937760"/>
            <a:ext cx="4251960" cy="274320"/>
          </a:xfrm>
          <a:prstGeom prst="rect">
            <a:avLst/>
          </a:prstGeom>
          <a:noFill/>
          <a:ln/>
        </p:spPr>
        <p:txBody>
          <a:bodyPr wrap="square" lIns="0" tIns="0" rIns="0" bIns="0" rtlCol="0" anchor="ctr"/>
          <a:lstStyle/>
          <a:p>
            <a:pPr algn="ctr" indent="0" marL="0">
              <a:buNone/>
            </a:pPr>
            <a:r>
              <a:rPr lang="en-US" sz="1000" i="1" dirty="0">
                <a:solidFill>
                  <a:schemeClr val="accent2"/>
                </a:solidFill>
              </a:rPr>
              <a:t>Delivery windows; large-turbine order books full to 2029</a:t>
            </a:r>
            <a:endParaRPr lang="en-US" sz="1000" dirty="0"/>
          </a:p>
        </p:txBody>
      </p:sp>
      <p:sp>
        <p:nvSpPr>
          <p:cNvPr id="28"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Idle data centers cost far more than power. FTAI delivers years before the competition.</a:t>
            </a:r>
            <a:endParaRPr lang="en-US" sz="1700" dirty="0"/>
          </a:p>
        </p:txBody>
      </p:sp>
      <p:sp>
        <p:nvSpPr>
          <p:cNvPr id="29"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model ($12M/MW facility; ~$1M/MW, 25 MW units, 50% redundancy); CNBC (Jun-26); Tom's Hardware (Oct-25); FTAI calls</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Thesis 2: Power (4/4)</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Each new contract the size of FTAI's first adds ~20 points to your return.</a:t>
            </a:r>
            <a:endParaRPr lang="en-US" sz="1700" dirty="0"/>
          </a:p>
        </p:txBody>
      </p:sp>
      <p:sp>
        <p:nvSpPr>
          <p:cNvPr id="4" name="Scenario header"/>
          <p:cNvSpPr txBox="1"/>
          <p:nvPr/>
        </p:nvSpPr>
        <p:spPr>
          <a:xfrm>
            <a:off x="320040" y="1554480"/>
            <a:ext cx="3429000" cy="365760"/>
          </a:xfrm>
          <a:prstGeom prst="rect">
            <a:avLst/>
          </a:prstGeom>
          <a:noFill/>
          <a:ln/>
        </p:spPr>
        <p:txBody>
          <a:bodyPr wrap="square" lIns="0" tIns="0" rIns="0" bIns="0" rtlCol="0" anchor="b"/>
          <a:lstStyle/>
          <a:p>
            <a:pPr algn="ctr" indent="0" marL="0">
              <a:buNone/>
            </a:pPr>
            <a:r>
              <a:rPr lang="en-US" sz="1600" b="1" dirty="0">
                <a:solidFill>
                  <a:srgbClr val="1A1A1A"/>
                </a:solidFill>
              </a:rPr>
              <a:t>Scenario Build (FY27E)</a:t>
            </a:r>
            <a:endParaRPr lang="en-US" sz="1600" dirty="0"/>
          </a:p>
        </p:txBody>
      </p:sp>
      <p:sp>
        <p:nvSpPr>
          <p:cNvPr id="5" name="Scenario header rule"/>
          <p:cNvSpPr/>
          <p:nvPr/>
        </p:nvSpPr>
        <p:spPr>
          <a:xfrm>
            <a:off x="320040" y="1975104"/>
            <a:ext cx="3429000" cy="0"/>
          </a:xfrm>
          <a:prstGeom prst="line">
            <a:avLst/>
          </a:prstGeom>
          <a:noFill/>
          <a:ln w="12700">
            <a:solidFill>
              <a:srgbClr val="1A1A1A"/>
            </a:solidFill>
            <a:prstDash val="solid"/>
          </a:ln>
        </p:spPr>
      </p:sp>
      <p:sp>
        <p:nvSpPr>
          <p:cNvPr id="6" name="Units col"/>
          <p:cNvSpPr txBox="1"/>
          <p:nvPr/>
        </p:nvSpPr>
        <p:spPr>
          <a:xfrm>
            <a:off x="1691640" y="2029968"/>
            <a:ext cx="914400" cy="228600"/>
          </a:xfrm>
          <a:prstGeom prst="rect">
            <a:avLst/>
          </a:prstGeom>
          <a:noFill/>
          <a:ln/>
        </p:spPr>
        <p:txBody>
          <a:bodyPr wrap="square" lIns="0" tIns="0" rIns="0" bIns="0" rtlCol="0" anchor="ctr"/>
          <a:lstStyle/>
          <a:p>
            <a:pPr algn="ctr" indent="0" marL="0">
              <a:buNone/>
            </a:pPr>
            <a:r>
              <a:rPr lang="en-US" sz="1100" i="1" dirty="0">
                <a:solidFill>
                  <a:schemeClr val="accent2"/>
                </a:solidFill>
              </a:rPr>
              <a:t>Units</a:t>
            </a:r>
            <a:endParaRPr lang="en-US" sz="1100" dirty="0"/>
          </a:p>
        </p:txBody>
      </p:sp>
      <p:sp>
        <p:nvSpPr>
          <p:cNvPr id="7" name="EBITDA col"/>
          <p:cNvSpPr txBox="1"/>
          <p:nvPr/>
        </p:nvSpPr>
        <p:spPr>
          <a:xfrm>
            <a:off x="2697480" y="2029968"/>
            <a:ext cx="1051560" cy="228600"/>
          </a:xfrm>
          <a:prstGeom prst="rect">
            <a:avLst/>
          </a:prstGeom>
          <a:noFill/>
          <a:ln/>
        </p:spPr>
        <p:txBody>
          <a:bodyPr wrap="square" lIns="0" tIns="0" rIns="0" bIns="0" rtlCol="0" anchor="ctr"/>
          <a:lstStyle/>
          <a:p>
            <a:pPr algn="ctr" indent="0" marL="0">
              <a:buNone/>
            </a:pPr>
            <a:r>
              <a:rPr lang="en-US" sz="1100" i="1" dirty="0">
                <a:solidFill>
                  <a:schemeClr val="accent2"/>
                </a:solidFill>
              </a:rPr>
              <a:t>EBITDA</a:t>
            </a:r>
            <a:endParaRPr lang="en-US" sz="1100" dirty="0"/>
          </a:p>
        </p:txBody>
      </p:sp>
      <p:sp>
        <p:nvSpPr>
          <p:cNvPr id="8" name="Scenario 1 name"/>
          <p:cNvSpPr txBox="1"/>
          <p:nvPr/>
        </p:nvSpPr>
        <p:spPr>
          <a:xfrm>
            <a:off x="320040" y="2304288"/>
            <a:ext cx="1325880" cy="713232"/>
          </a:xfrm>
          <a:prstGeom prst="rect">
            <a:avLst/>
          </a:prstGeom>
          <a:solidFill>
            <a:srgbClr val="DCD8D3"/>
          </a:solidFill>
          <a:ln/>
        </p:spPr>
        <p:txBody>
          <a:bodyPr wrap="square" lIns="25400" tIns="25400" rIns="25400" bIns="25400" rtlCol="0" anchor="ctr"/>
          <a:lstStyle/>
          <a:p>
            <a:pPr algn="ctr" indent="0" marL="0">
              <a:buNone/>
            </a:pPr>
            <a:r>
              <a:rPr lang="en-US" sz="1400" b="1" dirty="0">
                <a:solidFill>
                  <a:schemeClr val="tx2"/>
                </a:solidFill>
              </a:rPr>
              <a:t>Signed order</a:t>
            </a:r>
            <a:endParaRPr lang="en-US" sz="1400" dirty="0"/>
          </a:p>
        </p:txBody>
      </p:sp>
      <p:sp>
        <p:nvSpPr>
          <p:cNvPr id="9" name="Scenario 1 units"/>
          <p:cNvSpPr txBox="1"/>
          <p:nvPr/>
        </p:nvSpPr>
        <p:spPr>
          <a:xfrm>
            <a:off x="1691640" y="2304288"/>
            <a:ext cx="914400" cy="713232"/>
          </a:xfrm>
          <a:prstGeom prst="rect">
            <a:avLst/>
          </a:prstGeom>
          <a:noFill/>
          <a:ln/>
        </p:spPr>
        <p:txBody>
          <a:bodyPr wrap="square" lIns="0" tIns="0" rIns="0" bIns="0" rtlCol="0" anchor="ctr"/>
          <a:lstStyle/>
          <a:p>
            <a:pPr algn="ctr" indent="0" marL="0">
              <a:buNone/>
            </a:pPr>
            <a:r>
              <a:rPr lang="en-US" sz="1400" b="1" dirty="0">
                <a:solidFill>
                  <a:schemeClr val="tx2"/>
                </a:solidFill>
              </a:rPr>
              <a:t>~50</a:t>
            </a:r>
            <a:endParaRPr lang="en-US" sz="1400" dirty="0"/>
          </a:p>
        </p:txBody>
      </p:sp>
      <p:sp>
        <p:nvSpPr>
          <p:cNvPr id="10" name="Scenario 1 EBITDA"/>
          <p:cNvSpPr txBox="1"/>
          <p:nvPr/>
        </p:nvSpPr>
        <p:spPr>
          <a:xfrm>
            <a:off x="2697480" y="2304288"/>
            <a:ext cx="1051560" cy="713232"/>
          </a:xfrm>
          <a:prstGeom prst="rect">
            <a:avLst/>
          </a:prstGeom>
          <a:noFill/>
          <a:ln/>
        </p:spPr>
        <p:txBody>
          <a:bodyPr wrap="square" lIns="0" tIns="0" rIns="0" bIns="0" rtlCol="0" anchor="ctr"/>
          <a:lstStyle/>
          <a:p>
            <a:pPr algn="ctr" indent="0" marL="0">
              <a:buNone/>
            </a:pPr>
            <a:r>
              <a:rPr lang="en-US" sz="1600" b="1" dirty="0">
                <a:solidFill>
                  <a:schemeClr val="tx2"/>
                </a:solidFill>
              </a:rPr>
              <a:t>$450M</a:t>
            </a:r>
            <a:endParaRPr lang="en-US" sz="1600" dirty="0"/>
          </a:p>
        </p:txBody>
      </p:sp>
      <p:sp>
        <p:nvSpPr>
          <p:cNvPr id="11" name="Scenario 2 name"/>
          <p:cNvSpPr txBox="1"/>
          <p:nvPr/>
        </p:nvSpPr>
        <p:spPr>
          <a:xfrm>
            <a:off x="320040" y="3172968"/>
            <a:ext cx="1325880" cy="713232"/>
          </a:xfrm>
          <a:prstGeom prst="rect">
            <a:avLst/>
          </a:prstGeom>
          <a:solidFill>
            <a:srgbClr val="B5AEA9"/>
          </a:solidFill>
          <a:ln/>
        </p:spPr>
        <p:txBody>
          <a:bodyPr wrap="square" lIns="25400" tIns="25400" rIns="25400" bIns="25400" rtlCol="0" anchor="ctr"/>
          <a:lstStyle/>
          <a:p>
            <a:pPr algn="ctr" indent="0" marL="0">
              <a:buNone/>
            </a:pPr>
            <a:r>
              <a:rPr lang="en-US" sz="1400" b="1" dirty="0">
                <a:solidFill>
                  <a:schemeClr val="tx2"/>
                </a:solidFill>
              </a:rPr>
              <a:t>+1 contract</a:t>
            </a:r>
            <a:endParaRPr lang="en-US" sz="1400" dirty="0"/>
          </a:p>
        </p:txBody>
      </p:sp>
      <p:sp>
        <p:nvSpPr>
          <p:cNvPr id="12" name="Scenario 2 units"/>
          <p:cNvSpPr txBox="1"/>
          <p:nvPr/>
        </p:nvSpPr>
        <p:spPr>
          <a:xfrm>
            <a:off x="1691640" y="3172968"/>
            <a:ext cx="914400" cy="713232"/>
          </a:xfrm>
          <a:prstGeom prst="rect">
            <a:avLst/>
          </a:prstGeom>
          <a:noFill/>
          <a:ln/>
        </p:spPr>
        <p:txBody>
          <a:bodyPr wrap="square" lIns="0" tIns="0" rIns="0" bIns="0" rtlCol="0" anchor="ctr"/>
          <a:lstStyle/>
          <a:p>
            <a:pPr algn="ctr" indent="0" marL="0">
              <a:buNone/>
            </a:pPr>
            <a:r>
              <a:rPr lang="en-US" sz="1400" b="1" dirty="0">
                <a:solidFill>
                  <a:schemeClr val="tx2"/>
                </a:solidFill>
              </a:rPr>
              <a:t>~90</a:t>
            </a:r>
            <a:endParaRPr lang="en-US" sz="1400" dirty="0"/>
          </a:p>
        </p:txBody>
      </p:sp>
      <p:sp>
        <p:nvSpPr>
          <p:cNvPr id="13" name="Scenario 2 EBITDA"/>
          <p:cNvSpPr txBox="1"/>
          <p:nvPr/>
        </p:nvSpPr>
        <p:spPr>
          <a:xfrm>
            <a:off x="2697480" y="3172968"/>
            <a:ext cx="1051560" cy="713232"/>
          </a:xfrm>
          <a:prstGeom prst="rect">
            <a:avLst/>
          </a:prstGeom>
          <a:noFill/>
          <a:ln/>
        </p:spPr>
        <p:txBody>
          <a:bodyPr wrap="square" lIns="0" tIns="0" rIns="0" bIns="0" rtlCol="0" anchor="ctr"/>
          <a:lstStyle/>
          <a:p>
            <a:pPr algn="ctr" indent="0" marL="0">
              <a:buNone/>
            </a:pPr>
            <a:r>
              <a:rPr lang="en-US" sz="1600" b="1" dirty="0">
                <a:solidFill>
                  <a:schemeClr val="tx2"/>
                </a:solidFill>
              </a:rPr>
              <a:t>$750M</a:t>
            </a:r>
            <a:endParaRPr lang="en-US" sz="1600" dirty="0"/>
          </a:p>
        </p:txBody>
      </p:sp>
      <p:sp>
        <p:nvSpPr>
          <p:cNvPr id="14" name="Scenario 3 name"/>
          <p:cNvSpPr txBox="1"/>
          <p:nvPr/>
        </p:nvSpPr>
        <p:spPr>
          <a:xfrm>
            <a:off x="320040" y="4041648"/>
            <a:ext cx="1325880" cy="713232"/>
          </a:xfrm>
          <a:prstGeom prst="rect">
            <a:avLst/>
          </a:prstGeom>
          <a:solidFill>
            <a:srgbClr val="0A1C58"/>
          </a:solidFill>
          <a:ln/>
        </p:spPr>
        <p:txBody>
          <a:bodyPr wrap="square" lIns="25400" tIns="25400" rIns="25400" bIns="25400" rtlCol="0" anchor="ctr"/>
          <a:lstStyle/>
          <a:p>
            <a:pPr algn="ctr" indent="0" marL="0">
              <a:buNone/>
            </a:pPr>
            <a:r>
              <a:rPr lang="en-US" sz="1400" b="1" dirty="0">
                <a:solidFill>
                  <a:schemeClr val="bg1"/>
                </a:solidFill>
              </a:rPr>
              <a:t>+2 contracts</a:t>
            </a:r>
            <a:endParaRPr lang="en-US" sz="1400" dirty="0"/>
          </a:p>
        </p:txBody>
      </p:sp>
      <p:sp>
        <p:nvSpPr>
          <p:cNvPr id="15" name="Scenario 3 units"/>
          <p:cNvSpPr txBox="1"/>
          <p:nvPr/>
        </p:nvSpPr>
        <p:spPr>
          <a:xfrm>
            <a:off x="1691640" y="4041648"/>
            <a:ext cx="914400" cy="713232"/>
          </a:xfrm>
          <a:prstGeom prst="rect">
            <a:avLst/>
          </a:prstGeom>
          <a:noFill/>
          <a:ln/>
        </p:spPr>
        <p:txBody>
          <a:bodyPr wrap="square" lIns="0" tIns="0" rIns="0" bIns="0" rtlCol="0" anchor="ctr"/>
          <a:lstStyle/>
          <a:p>
            <a:pPr algn="ctr" indent="0" marL="0">
              <a:buNone/>
            </a:pPr>
            <a:r>
              <a:rPr lang="en-US" sz="1400" b="1" dirty="0">
                <a:solidFill>
                  <a:schemeClr val="tx2"/>
                </a:solidFill>
              </a:rPr>
              <a:t>~130</a:t>
            </a:r>
            <a:endParaRPr lang="en-US" sz="1400" dirty="0"/>
          </a:p>
        </p:txBody>
      </p:sp>
      <p:sp>
        <p:nvSpPr>
          <p:cNvPr id="16" name="Scenario 3 EBITDA"/>
          <p:cNvSpPr txBox="1"/>
          <p:nvPr/>
        </p:nvSpPr>
        <p:spPr>
          <a:xfrm>
            <a:off x="2697480" y="4041648"/>
            <a:ext cx="1051560" cy="713232"/>
          </a:xfrm>
          <a:prstGeom prst="rect">
            <a:avLst/>
          </a:prstGeom>
          <a:noFill/>
          <a:ln/>
        </p:spPr>
        <p:txBody>
          <a:bodyPr wrap="square" lIns="0" tIns="0" rIns="0" bIns="0" rtlCol="0" anchor="ctr"/>
          <a:lstStyle/>
          <a:p>
            <a:pPr algn="ctr" indent="0" marL="0">
              <a:buNone/>
            </a:pPr>
            <a:r>
              <a:rPr lang="en-US" sz="1600" b="1" dirty="0">
                <a:solidFill>
                  <a:schemeClr val="tx2"/>
                </a:solidFill>
              </a:rPr>
              <a:t>$1,050M</a:t>
            </a:r>
            <a:endParaRPr lang="en-US" sz="1600" dirty="0"/>
          </a:p>
        </p:txBody>
      </p:sp>
      <p:sp>
        <p:nvSpPr>
          <p:cNvPr id="17" name="Scenario caption"/>
          <p:cNvSpPr txBox="1"/>
          <p:nvPr/>
        </p:nvSpPr>
        <p:spPr>
          <a:xfrm>
            <a:off x="320040" y="4937760"/>
            <a:ext cx="3429000" cy="365760"/>
          </a:xfrm>
          <a:prstGeom prst="rect">
            <a:avLst/>
          </a:prstGeom>
          <a:noFill/>
          <a:ln/>
        </p:spPr>
        <p:txBody>
          <a:bodyPr wrap="square" lIns="0" tIns="0" rIns="0" bIns="0" rtlCol="0" anchor="ctr"/>
          <a:lstStyle/>
          <a:p>
            <a:pPr algn="ctr" indent="0" marL="0">
              <a:buNone/>
            </a:pPr>
            <a:r>
              <a:rPr lang="en-US" sz="1100" i="1" dirty="0">
                <a:solidFill>
                  <a:schemeClr val="accent2"/>
                </a:solidFill>
              </a:rPr>
              <a:t>Each new ~$1B order ≈ 40 more units and ~$300M of EBITDA</a:t>
            </a:r>
            <a:endParaRPr lang="en-US" sz="1100" dirty="0"/>
          </a:p>
        </p:txBody>
      </p:sp>
      <p:sp>
        <p:nvSpPr>
          <p:cNvPr id="18" name="Return header"/>
          <p:cNvSpPr txBox="1"/>
          <p:nvPr/>
        </p:nvSpPr>
        <p:spPr>
          <a:xfrm>
            <a:off x="4069080" y="1554480"/>
            <a:ext cx="4754880" cy="365760"/>
          </a:xfrm>
          <a:prstGeom prst="rect">
            <a:avLst/>
          </a:prstGeom>
          <a:noFill/>
          <a:ln/>
        </p:spPr>
        <p:txBody>
          <a:bodyPr wrap="square" lIns="0" tIns="0" rIns="0" bIns="0" rtlCol="0" anchor="b"/>
          <a:lstStyle/>
          <a:p>
            <a:pPr algn="ctr" indent="0" marL="0">
              <a:buNone/>
            </a:pPr>
            <a:r>
              <a:rPr lang="en-US" sz="1600" b="1" dirty="0">
                <a:solidFill>
                  <a:srgbClr val="1A1A1A"/>
                </a:solidFill>
              </a:rPr>
              <a:t>Your Return</a:t>
            </a:r>
            <a:endParaRPr lang="en-US" sz="1600" dirty="0"/>
          </a:p>
        </p:txBody>
      </p:sp>
      <p:sp>
        <p:nvSpPr>
          <p:cNvPr id="19" name="Return header rule"/>
          <p:cNvSpPr/>
          <p:nvPr/>
        </p:nvSpPr>
        <p:spPr>
          <a:xfrm>
            <a:off x="4069080" y="1975104"/>
            <a:ext cx="4754880" cy="0"/>
          </a:xfrm>
          <a:prstGeom prst="line">
            <a:avLst/>
          </a:prstGeom>
          <a:noFill/>
          <a:ln w="12700">
            <a:solidFill>
              <a:srgbClr val="1A1A1A"/>
            </a:solidFill>
            <a:prstDash val="solid"/>
          </a:ln>
        </p:spPr>
      </p:sp>
      <p:graphicFrame>
        <p:nvGraphicFramePr>
          <p:cNvPr id="20" name="Contract return chart" descr=""/>
          <p:cNvGraphicFramePr/>
          <p:nvPr/>
        </p:nvGraphicFramePr>
        <p:xfrm>
          <a:off x="4069080" y="2103120"/>
          <a:ext cx="4754880" cy="2880360"/>
        </p:xfrm>
        <a:graphic xmlns:a="http://schemas.openxmlformats.org/drawingml/2006/main">
          <a:graphicData uri="http://schemas.openxmlformats.org/drawingml/2006/chart">
            <c:chart xmlns:c="http://schemas.openxmlformats.org/drawingml/2006/chart" r:id="rId1"/>
          </a:graphicData>
        </a:graphic>
      </p:graphicFrame>
      <p:sp>
        <p:nvSpPr>
          <p:cNvPr id="21" name="Return caption"/>
          <p:cNvSpPr txBox="1"/>
          <p:nvPr/>
        </p:nvSpPr>
        <p:spPr>
          <a:xfrm>
            <a:off x="4069080" y="4983480"/>
            <a:ext cx="4754880" cy="274320"/>
          </a:xfrm>
          <a:prstGeom prst="rect">
            <a:avLst/>
          </a:prstGeom>
          <a:noFill/>
          <a:ln/>
        </p:spPr>
        <p:txBody>
          <a:bodyPr wrap="square" lIns="0" tIns="0" rIns="0" bIns="0" rtlCol="0" anchor="ctr"/>
          <a:lstStyle/>
          <a:p>
            <a:pPr algn="ctr" indent="0" marL="0">
              <a:buNone/>
            </a:pPr>
            <a:r>
              <a:rPr lang="en-US" sz="1000" i="1" dirty="0">
                <a:solidFill>
                  <a:schemeClr val="accent2"/>
                </a:solidFill>
              </a:rPr>
              <a:t>Base case = signed order only; returns on the FY27E SOTP vs. $167 today</a:t>
            </a:r>
            <a:endParaRPr lang="en-US" sz="1000" dirty="0"/>
          </a:p>
        </p:txBody>
      </p:sp>
      <p:sp>
        <p:nvSpPr>
          <p:cNvPr id="22"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Our base case needs no new contracts. Every one FTAI signs is upside the market isn't paying for.</a:t>
            </a:r>
            <a:endParaRPr lang="en-US" sz="1700" dirty="0"/>
          </a:p>
        </p:txBody>
      </p:sp>
      <p:sp>
        <p:nvSpPr>
          <p:cNvPr id="23"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FTAI earnings calls ($450–750M FY27 guide; 'materially fewer than 100 units'); GPS estimates; GPS model (SOTP, Power at 12x)</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Valuation: What You Need to Believe</a:t>
            </a:r>
            <a:endParaRPr lang="en-US" sz="3200" dirty="0"/>
          </a:p>
        </p:txBody>
      </p:sp>
      <p:sp>
        <p:nvSpPr>
          <p:cNvPr id="3" name="Belief 1 number"/>
          <p:cNvSpPr/>
          <p:nvPr/>
        </p:nvSpPr>
        <p:spPr>
          <a:xfrm>
            <a:off x="1051560" y="1170432"/>
            <a:ext cx="457200" cy="457200"/>
          </a:xfrm>
          <a:prstGeom prst="ellipse">
            <a:avLst/>
          </a:prstGeom>
          <a:solidFill>
            <a:srgbClr val="0A1C58"/>
          </a:solidFill>
          <a:ln>
            <a:solidFill>
              <a:srgbClr val="0A1C58"/>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4" name="Belief 1"/>
          <p:cNvSpPr txBox="1"/>
          <p:nvPr/>
        </p:nvSpPr>
        <p:spPr>
          <a:xfrm>
            <a:off x="1691640" y="1097280"/>
            <a:ext cx="6583680" cy="603504"/>
          </a:xfrm>
          <a:prstGeom prst="rect">
            <a:avLst/>
          </a:prstGeom>
          <a:noFill/>
          <a:ln/>
        </p:spPr>
        <p:txBody>
          <a:bodyPr wrap="square" lIns="0" tIns="0" rIns="0" bIns="0" rtlCol="0" anchor="ctr"/>
          <a:lstStyle/>
          <a:p>
            <a:pPr algn="l" indent="0" marL="0">
              <a:buNone/>
            </a:pPr>
            <a:r>
              <a:rPr lang="en-US" sz="1600" b="1" dirty="0">
                <a:solidFill>
                  <a:schemeClr val="tx2"/>
                </a:solidFill>
              </a:rPr>
              <a:t>Margins: ~30% is the floor, and PMA parts, OEM-linked pricing and returning light work rebuild them.</a:t>
            </a:r>
            <a:endParaRPr lang="en-US" sz="1600" dirty="0"/>
          </a:p>
        </p:txBody>
      </p:sp>
      <p:sp>
        <p:nvSpPr>
          <p:cNvPr id="5" name="Belief 2 number"/>
          <p:cNvSpPr/>
          <p:nvPr/>
        </p:nvSpPr>
        <p:spPr>
          <a:xfrm>
            <a:off x="1051560" y="1883664"/>
            <a:ext cx="457200" cy="457200"/>
          </a:xfrm>
          <a:prstGeom prst="ellipse">
            <a:avLst/>
          </a:prstGeom>
          <a:solidFill>
            <a:srgbClr val="0A1C58"/>
          </a:solidFill>
          <a:ln>
            <a:solidFill>
              <a:srgbClr val="0A1C58"/>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6" name="Belief 2"/>
          <p:cNvSpPr txBox="1"/>
          <p:nvPr/>
        </p:nvSpPr>
        <p:spPr>
          <a:xfrm>
            <a:off x="1691640" y="1810512"/>
            <a:ext cx="6583680" cy="603504"/>
          </a:xfrm>
          <a:prstGeom prst="rect">
            <a:avLst/>
          </a:prstGeom>
          <a:noFill/>
          <a:ln/>
        </p:spPr>
        <p:txBody>
          <a:bodyPr wrap="square" lIns="0" tIns="0" rIns="0" bIns="0" rtlCol="0" anchor="ctr"/>
          <a:lstStyle/>
          <a:p>
            <a:pPr algn="l" indent="0" marL="0">
              <a:buNone/>
            </a:pPr>
            <a:r>
              <a:rPr lang="en-US" sz="1600" b="1" dirty="0">
                <a:solidFill>
                  <a:schemeClr val="tx2"/>
                </a:solidFill>
              </a:rPr>
              <a:t>Share: FTAI reaches 20% of CFM56 work by FY30, at half the ~4 pts a year it has already been growing.</a:t>
            </a:r>
            <a:endParaRPr lang="en-US" sz="1600" dirty="0"/>
          </a:p>
        </p:txBody>
      </p:sp>
      <p:sp>
        <p:nvSpPr>
          <p:cNvPr id="7" name="Belief 3 number"/>
          <p:cNvSpPr/>
          <p:nvPr/>
        </p:nvSpPr>
        <p:spPr>
          <a:xfrm>
            <a:off x="1051560" y="2596896"/>
            <a:ext cx="457200" cy="457200"/>
          </a:xfrm>
          <a:prstGeom prst="ellipse">
            <a:avLst/>
          </a:prstGeom>
          <a:solidFill>
            <a:srgbClr val="0A1C58"/>
          </a:solidFill>
          <a:ln>
            <a:solidFill>
              <a:srgbClr val="0A1C58"/>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8" name="Belief 3"/>
          <p:cNvSpPr txBox="1"/>
          <p:nvPr/>
        </p:nvSpPr>
        <p:spPr>
          <a:xfrm>
            <a:off x="1691640" y="2523744"/>
            <a:ext cx="6583680" cy="603504"/>
          </a:xfrm>
          <a:prstGeom prst="rect">
            <a:avLst/>
          </a:prstGeom>
          <a:noFill/>
          <a:ln/>
        </p:spPr>
        <p:txBody>
          <a:bodyPr wrap="square" lIns="0" tIns="0" rIns="0" bIns="0" rtlCol="0" anchor="ctr"/>
          <a:lstStyle/>
          <a:p>
            <a:pPr algn="l" indent="0" marL="0">
              <a:buNone/>
            </a:pPr>
            <a:r>
              <a:rPr lang="en-US" sz="1600" b="1" dirty="0">
                <a:solidFill>
                  <a:schemeClr val="tx2"/>
                </a:solidFill>
              </a:rPr>
              <a:t>Power: FTAI delivers the order it has already signed.</a:t>
            </a:r>
            <a:endParaRPr lang="en-US" sz="1600" dirty="0"/>
          </a:p>
        </p:txBody>
      </p:sp>
      <p:sp>
        <p:nvSpPr>
          <p:cNvPr id="9" name="Pick one"/>
          <p:cNvSpPr txBox="1"/>
          <p:nvPr/>
        </p:nvSpPr>
        <p:spPr>
          <a:xfrm>
            <a:off x="320040" y="3310128"/>
            <a:ext cx="8503920" cy="384048"/>
          </a:xfrm>
          <a:prstGeom prst="rect">
            <a:avLst/>
          </a:prstGeom>
          <a:noFill/>
          <a:ln/>
        </p:spPr>
        <p:txBody>
          <a:bodyPr wrap="square" lIns="0" tIns="0" rIns="0" bIns="0" rtlCol="0" anchor="ctr"/>
          <a:lstStyle/>
          <a:p>
            <a:pPr algn="ctr" indent="0" marL="0">
              <a:buNone/>
            </a:pPr>
            <a:r>
              <a:rPr lang="en-US" sz="2000" b="1" dirty="0">
                <a:solidFill>
                  <a:srgbClr val="1A1A1A"/>
                </a:solidFill>
              </a:rPr>
              <a:t>Or… just pick one:</a:t>
            </a:r>
            <a:endParaRPr lang="en-US" sz="2000" dirty="0"/>
          </a:p>
        </p:txBody>
      </p:sp>
      <p:graphicFrame>
        <p:nvGraphicFramePr>
          <p:cNvPr id="10" name="Pick one chart" descr=""/>
          <p:cNvGraphicFramePr/>
          <p:nvPr/>
        </p:nvGraphicFramePr>
        <p:xfrm>
          <a:off x="2331720" y="3703320"/>
          <a:ext cx="4480560" cy="2057400"/>
        </p:xfrm>
        <a:graphic xmlns:a="http://schemas.openxmlformats.org/drawingml/2006/main">
          <a:graphicData uri="http://schemas.openxmlformats.org/drawingml/2006/chart">
            <c:chart xmlns:c="http://schemas.openxmlformats.org/drawingml/2006/chart" r:id="rId1"/>
          </a:graphicData>
        </a:graphic>
      </p:graphicFrame>
      <p:sp>
        <p:nvSpPr>
          <p:cNvPr id="11" name="Pick one caption"/>
          <p:cNvSpPr txBox="1"/>
          <p:nvPr/>
        </p:nvSpPr>
        <p:spPr>
          <a:xfrm>
            <a:off x="2331720" y="5760720"/>
            <a:ext cx="4480560" cy="256032"/>
          </a:xfrm>
          <a:prstGeom prst="rect">
            <a:avLst/>
          </a:prstGeom>
          <a:noFill/>
          <a:ln/>
        </p:spPr>
        <p:txBody>
          <a:bodyPr wrap="square" lIns="0" tIns="0" rIns="0" bIns="0" rtlCol="0" anchor="ctr"/>
          <a:lstStyle/>
          <a:p>
            <a:pPr algn="ctr" indent="0" marL="0">
              <a:buNone/>
            </a:pPr>
            <a:r>
              <a:rPr lang="en-US" sz="1100" i="1" dirty="0">
                <a:solidFill>
                  <a:schemeClr val="accent2"/>
                </a:solidFill>
              </a:rPr>
              <a:t>Your return if only one comes true</a:t>
            </a:r>
            <a:endParaRPr lang="en-US" sz="1100" dirty="0"/>
          </a:p>
        </p:txBody>
      </p:sp>
      <p:sp>
        <p:nvSpPr>
          <p:cNvPr id="12" name="Left assumption box"/>
          <p:cNvSpPr txBox="1"/>
          <p:nvPr/>
        </p:nvSpPr>
        <p:spPr>
          <a:xfrm>
            <a:off x="320040" y="4251960"/>
            <a:ext cx="1828800" cy="960120"/>
          </a:xfrm>
          <a:prstGeom prst="rect">
            <a:avLst/>
          </a:prstGeom>
          <a:noFill/>
          <a:ln w="12700">
            <a:solidFill>
              <a:srgbClr val="1A1A1A"/>
            </a:solidFill>
            <a:prstDash val="dash"/>
          </a:ln>
        </p:spPr>
        <p:txBody>
          <a:bodyPr wrap="square" lIns="50800" tIns="50800" rIns="50800" bIns="50800" rtlCol="0" anchor="ctr"/>
          <a:lstStyle/>
          <a:p>
            <a:pPr algn="ctr" indent="0" marL="0">
              <a:buNone/>
            </a:pPr>
            <a:r>
              <a:rPr lang="en-US" sz="1200" b="1" dirty="0">
                <a:solidFill>
                  <a:schemeClr val="tx2"/>
                </a:solidFill>
              </a:rPr>
              <a:t>Each bar holds the other side at our bear case</a:t>
            </a:r>
            <a:endParaRPr lang="en-US" sz="1200" dirty="0"/>
          </a:p>
        </p:txBody>
      </p:sp>
      <p:sp>
        <p:nvSpPr>
          <p:cNvPr id="13" name="Right assumption box"/>
          <p:cNvSpPr txBox="1"/>
          <p:nvPr/>
        </p:nvSpPr>
        <p:spPr>
          <a:xfrm>
            <a:off x="6995160" y="4251960"/>
            <a:ext cx="1828800" cy="960120"/>
          </a:xfrm>
          <a:prstGeom prst="rect">
            <a:avLst/>
          </a:prstGeom>
          <a:noFill/>
          <a:ln w="12700">
            <a:solidFill>
              <a:srgbClr val="1A1A1A"/>
            </a:solidFill>
            <a:prstDash val="dash"/>
          </a:ln>
        </p:spPr>
        <p:txBody>
          <a:bodyPr wrap="square" lIns="50800" tIns="50800" rIns="50800" bIns="50800" rtlCol="0" anchor="ctr"/>
          <a:lstStyle/>
          <a:p>
            <a:pPr algn="ctr" indent="0" marL="0">
              <a:buNone/>
            </a:pPr>
            <a:r>
              <a:rPr lang="en-US" sz="1300" b="1" dirty="0">
                <a:solidFill>
                  <a:schemeClr val="tx2"/>
                </a:solidFill>
              </a:rPr>
              <a:t>All three:</a:t>
            </a:r>
            <a:endParaRPr lang="en-US" sz="1300" dirty="0"/>
          </a:p>
          <a:p>
            <a:pPr algn="ctr" indent="0" marL="0">
              <a:buNone/>
            </a:pPr>
            <a:r>
              <a:rPr lang="en-US" sz="2000" b="1" dirty="0">
                <a:solidFill>
                  <a:schemeClr val="tx2"/>
                </a:solidFill>
              </a:rPr>
              <a:t>+66%</a:t>
            </a:r>
            <a:endParaRPr lang="en-US" sz="1300" dirty="0"/>
          </a:p>
        </p:txBody>
      </p:sp>
      <p:sp>
        <p:nvSpPr>
          <p:cNvPr id="14"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model: SOTP (FY27E EBITDA, base multiples), aviation theses vs. Power switched on separately; share history per GPS analysis</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320040" y="182880"/>
            <a:ext cx="8503920" cy="640080"/>
          </a:xfrm>
          <a:prstGeom prst="rect">
            <a:avLst/>
          </a:prstGeom>
          <a:noFill/>
          <a:ln/>
        </p:spPr>
        <p:txBody>
          <a:bodyPr wrap="square" lIns="0" tIns="0" rIns="0" bIns="0" rtlCol="0" anchor="ctr"/>
          <a:lstStyle/>
          <a:p>
            <a:pPr algn="l" indent="0" marL="0">
              <a:buNone/>
            </a:pPr>
            <a:r>
              <a:rPr lang="en-US" sz="3200" b="1" dirty="0">
                <a:solidFill>
                  <a:schemeClr val="tx2"/>
                </a:solidFill>
              </a:rPr>
              <a:t>Valuation: Sum of the Parts</a:t>
            </a:r>
            <a:endParaRPr lang="en-US" sz="3200" dirty="0"/>
          </a:p>
        </p:txBody>
      </p:sp>
      <p:sp>
        <p:nvSpPr>
          <p:cNvPr id="3" name="Text 1"/>
          <p:cNvSpPr/>
          <p:nvPr>
            <p:ph idx="103" type="body" hasCustomPrompt="1"/>
          </p:nvPr>
        </p:nvSpPr>
        <p:spPr>
          <a:xfrm>
            <a:off x="320040" y="932688"/>
            <a:ext cx="8503920" cy="566928"/>
          </a:xfrm>
          <a:prstGeom prst="rect">
            <a:avLst/>
          </a:prstGeom>
          <a:noFill/>
          <a:ln/>
        </p:spPr>
        <p:txBody>
          <a:bodyPr wrap="square" lIns="0" tIns="0" rIns="0" bIns="0" rtlCol="0" anchor="t"/>
          <a:lstStyle/>
          <a:p>
            <a:pPr algn="l" indent="0" marL="0">
              <a:buNone/>
            </a:pPr>
            <a:r>
              <a:rPr lang="en-US" sz="1700" b="1" dirty="0">
                <a:solidFill>
                  <a:schemeClr val="tx2"/>
                </a:solidFill>
              </a:rPr>
              <a:t>At $167 the market prices our bear case. Each thesis builds from there to $277.</a:t>
            </a:r>
            <a:endParaRPr lang="en-US" sz="1700" dirty="0"/>
          </a:p>
        </p:txBody>
      </p:sp>
      <p:sp>
        <p:nvSpPr>
          <p:cNvPr id="4" name="Waterfall header"/>
          <p:cNvSpPr txBox="1"/>
          <p:nvPr/>
        </p:nvSpPr>
        <p:spPr>
          <a:xfrm>
            <a:off x="320040" y="1554480"/>
            <a:ext cx="5715000" cy="365760"/>
          </a:xfrm>
          <a:prstGeom prst="rect">
            <a:avLst/>
          </a:prstGeom>
          <a:noFill/>
          <a:ln/>
        </p:spPr>
        <p:txBody>
          <a:bodyPr wrap="square" lIns="0" tIns="0" rIns="0" bIns="0" rtlCol="0" anchor="b"/>
          <a:lstStyle/>
          <a:p>
            <a:pPr algn="ctr" indent="0" marL="0">
              <a:buNone/>
            </a:pPr>
            <a:r>
              <a:rPr lang="en-US" sz="1600" b="1" dirty="0">
                <a:solidFill>
                  <a:srgbClr val="1A1A1A"/>
                </a:solidFill>
              </a:rPr>
              <a:t>From Today to Our Base Case ($ / Share)</a:t>
            </a:r>
            <a:endParaRPr lang="en-US" sz="1600" dirty="0"/>
          </a:p>
        </p:txBody>
      </p:sp>
      <p:sp>
        <p:nvSpPr>
          <p:cNvPr id="5" name="Waterfall header rule"/>
          <p:cNvSpPr/>
          <p:nvPr/>
        </p:nvSpPr>
        <p:spPr>
          <a:xfrm>
            <a:off x="320040" y="1975104"/>
            <a:ext cx="5715000" cy="0"/>
          </a:xfrm>
          <a:prstGeom prst="line">
            <a:avLst/>
          </a:prstGeom>
          <a:noFill/>
          <a:ln w="12700">
            <a:solidFill>
              <a:srgbClr val="1A1A1A"/>
            </a:solidFill>
            <a:prstDash val="solid"/>
          </a:ln>
        </p:spPr>
      </p:sp>
      <p:graphicFrame>
        <p:nvGraphicFramePr>
          <p:cNvPr id="6" name="Thesis waterfall" descr=""/>
          <p:cNvGraphicFramePr/>
          <p:nvPr/>
        </p:nvGraphicFramePr>
        <p:xfrm>
          <a:off x="320040" y="2103120"/>
          <a:ext cx="5715000" cy="2971800"/>
        </p:xfrm>
        <a:graphic xmlns:a="http://schemas.openxmlformats.org/drawingml/2006/main">
          <a:graphicData uri="http://schemas.openxmlformats.org/drawingml/2006/chart">
            <c:chart xmlns:c="http://schemas.openxmlformats.org/drawingml/2006/chart" r:id="rId1"/>
          </a:graphicData>
        </a:graphic>
      </p:graphicFrame>
      <p:sp>
        <p:nvSpPr>
          <p:cNvPr id="7" name="Waterfall label 1"/>
          <p:cNvSpPr txBox="1"/>
          <p:nvPr/>
        </p:nvSpPr>
        <p:spPr>
          <a:xfrm>
            <a:off x="475488" y="2956932"/>
            <a:ext cx="822960" cy="237744"/>
          </a:xfrm>
          <a:prstGeom prst="rect">
            <a:avLst/>
          </a:prstGeom>
          <a:noFill/>
          <a:ln/>
        </p:spPr>
        <p:txBody>
          <a:bodyPr wrap="square" lIns="0" tIns="0" rIns="0" bIns="0" rtlCol="0" anchor="b"/>
          <a:lstStyle/>
          <a:p>
            <a:pPr algn="ctr" indent="0" marL="0">
              <a:buNone/>
            </a:pPr>
            <a:r>
              <a:rPr lang="en-US" sz="1300" b="1" dirty="0">
                <a:solidFill>
                  <a:srgbClr val="1A1A1A"/>
                </a:solidFill>
              </a:rPr>
              <a:t>$167</a:t>
            </a:r>
            <a:endParaRPr lang="en-US" sz="1300" dirty="0"/>
          </a:p>
        </p:txBody>
      </p:sp>
      <p:sp>
        <p:nvSpPr>
          <p:cNvPr id="8" name="Waterfall label 2"/>
          <p:cNvSpPr txBox="1"/>
          <p:nvPr/>
        </p:nvSpPr>
        <p:spPr>
          <a:xfrm>
            <a:off x="1389888" y="2917593"/>
            <a:ext cx="822960" cy="237744"/>
          </a:xfrm>
          <a:prstGeom prst="rect">
            <a:avLst/>
          </a:prstGeom>
          <a:noFill/>
          <a:ln/>
        </p:spPr>
        <p:txBody>
          <a:bodyPr wrap="square" lIns="0" tIns="0" rIns="0" bIns="0" rtlCol="0" anchor="b"/>
          <a:lstStyle/>
          <a:p>
            <a:pPr algn="ctr" indent="0" marL="0">
              <a:buNone/>
            </a:pPr>
            <a:r>
              <a:rPr lang="en-US" sz="1300" b="1" dirty="0">
                <a:solidFill>
                  <a:schemeClr val="tx2"/>
                </a:solidFill>
              </a:rPr>
              <a:t>+$5</a:t>
            </a:r>
            <a:endParaRPr lang="en-US" sz="1300" dirty="0"/>
          </a:p>
        </p:txBody>
      </p:sp>
      <p:sp>
        <p:nvSpPr>
          <p:cNvPr id="9" name="Waterfall label 3"/>
          <p:cNvSpPr txBox="1"/>
          <p:nvPr/>
        </p:nvSpPr>
        <p:spPr>
          <a:xfrm>
            <a:off x="2304288" y="2781109"/>
            <a:ext cx="822960" cy="237744"/>
          </a:xfrm>
          <a:prstGeom prst="rect">
            <a:avLst/>
          </a:prstGeom>
          <a:noFill/>
          <a:ln/>
        </p:spPr>
        <p:txBody>
          <a:bodyPr wrap="square" lIns="0" tIns="0" rIns="0" bIns="0" rtlCol="0" anchor="b"/>
          <a:lstStyle/>
          <a:p>
            <a:pPr algn="ctr" indent="0" marL="0">
              <a:buNone/>
            </a:pPr>
            <a:r>
              <a:rPr lang="en-US" sz="1300" b="1" dirty="0">
                <a:solidFill>
                  <a:schemeClr val="tx2"/>
                </a:solidFill>
              </a:rPr>
              <a:t>+$17</a:t>
            </a:r>
            <a:endParaRPr lang="en-US" sz="1300" dirty="0"/>
          </a:p>
        </p:txBody>
      </p:sp>
      <p:sp>
        <p:nvSpPr>
          <p:cNvPr id="10" name="Waterfall label 4"/>
          <p:cNvSpPr txBox="1"/>
          <p:nvPr/>
        </p:nvSpPr>
        <p:spPr>
          <a:xfrm>
            <a:off x="3218688" y="2518579"/>
            <a:ext cx="822960" cy="237744"/>
          </a:xfrm>
          <a:prstGeom prst="rect">
            <a:avLst/>
          </a:prstGeom>
          <a:noFill/>
          <a:ln/>
        </p:spPr>
        <p:txBody>
          <a:bodyPr wrap="square" lIns="0" tIns="0" rIns="0" bIns="0" rtlCol="0" anchor="b"/>
          <a:lstStyle/>
          <a:p>
            <a:pPr algn="ctr" indent="0" marL="0">
              <a:buNone/>
            </a:pPr>
            <a:r>
              <a:rPr lang="en-US" sz="1300" b="1" dirty="0">
                <a:solidFill>
                  <a:schemeClr val="tx2"/>
                </a:solidFill>
              </a:rPr>
              <a:t>+$33</a:t>
            </a:r>
            <a:endParaRPr lang="en-US" sz="1300" dirty="0"/>
          </a:p>
        </p:txBody>
      </p:sp>
      <p:sp>
        <p:nvSpPr>
          <p:cNvPr id="11" name="Waterfall label 5"/>
          <p:cNvSpPr txBox="1"/>
          <p:nvPr/>
        </p:nvSpPr>
        <p:spPr>
          <a:xfrm>
            <a:off x="4133088" y="2076213"/>
            <a:ext cx="822960" cy="237744"/>
          </a:xfrm>
          <a:prstGeom prst="rect">
            <a:avLst/>
          </a:prstGeom>
          <a:noFill/>
          <a:ln/>
        </p:spPr>
        <p:txBody>
          <a:bodyPr wrap="square" lIns="0" tIns="0" rIns="0" bIns="0" rtlCol="0" anchor="b"/>
          <a:lstStyle/>
          <a:p>
            <a:pPr algn="ctr" indent="0" marL="0">
              <a:buNone/>
            </a:pPr>
            <a:r>
              <a:rPr lang="en-US" sz="1300" b="1" dirty="0">
                <a:solidFill>
                  <a:schemeClr val="tx2"/>
                </a:solidFill>
              </a:rPr>
              <a:t>+$55</a:t>
            </a:r>
            <a:endParaRPr lang="en-US" sz="1300" dirty="0"/>
          </a:p>
        </p:txBody>
      </p:sp>
      <p:sp>
        <p:nvSpPr>
          <p:cNvPr id="12" name="Waterfall label 6"/>
          <p:cNvSpPr txBox="1"/>
          <p:nvPr/>
        </p:nvSpPr>
        <p:spPr>
          <a:xfrm>
            <a:off x="5047488" y="2077016"/>
            <a:ext cx="822960" cy="237744"/>
          </a:xfrm>
          <a:prstGeom prst="rect">
            <a:avLst/>
          </a:prstGeom>
          <a:noFill/>
          <a:ln/>
        </p:spPr>
        <p:txBody>
          <a:bodyPr wrap="square" lIns="0" tIns="0" rIns="0" bIns="0" rtlCol="0" anchor="b"/>
          <a:lstStyle/>
          <a:p>
            <a:pPr algn="ctr" indent="0" marL="0">
              <a:buNone/>
            </a:pPr>
            <a:r>
              <a:rPr lang="en-US" sz="1300" b="1" dirty="0">
                <a:solidFill>
                  <a:schemeClr val="tx2"/>
                </a:solidFill>
              </a:rPr>
              <a:t>$277</a:t>
            </a:r>
            <a:endParaRPr lang="en-US" sz="1300" dirty="0"/>
          </a:p>
        </p:txBody>
      </p:sp>
      <p:sp>
        <p:nvSpPr>
          <p:cNvPr id="13" name="Waterfall caption"/>
          <p:cNvSpPr txBox="1"/>
          <p:nvPr/>
        </p:nvSpPr>
        <p:spPr>
          <a:xfrm>
            <a:off x="320040" y="5074920"/>
            <a:ext cx="5715000" cy="256032"/>
          </a:xfrm>
          <a:prstGeom prst="rect">
            <a:avLst/>
          </a:prstGeom>
          <a:noFill/>
          <a:ln/>
        </p:spPr>
        <p:txBody>
          <a:bodyPr wrap="square" lIns="0" tIns="0" rIns="0" bIns="0" rtlCol="0" anchor="ctr"/>
          <a:lstStyle/>
          <a:p>
            <a:pPr algn="ctr" indent="0" marL="0">
              <a:buNone/>
            </a:pPr>
            <a:r>
              <a:rPr lang="en-US" sz="1000" i="1" dirty="0">
                <a:solidFill>
                  <a:schemeClr val="accent2"/>
                </a:solidFill>
              </a:rPr>
              <a:t>FY27E SOTP; each thesis switched from our bear case to base (Shapley average)</a:t>
            </a:r>
            <a:endParaRPr lang="en-US" sz="1000" dirty="0"/>
          </a:p>
        </p:txBody>
      </p:sp>
      <p:sp>
        <p:nvSpPr>
          <p:cNvPr id="14" name="Means header"/>
          <p:cNvSpPr txBox="1"/>
          <p:nvPr/>
        </p:nvSpPr>
        <p:spPr>
          <a:xfrm>
            <a:off x="6309360" y="1554480"/>
            <a:ext cx="2514600" cy="365760"/>
          </a:xfrm>
          <a:prstGeom prst="rect">
            <a:avLst/>
          </a:prstGeom>
          <a:noFill/>
          <a:ln/>
        </p:spPr>
        <p:txBody>
          <a:bodyPr wrap="square" lIns="0" tIns="0" rIns="0" bIns="0" rtlCol="0" anchor="b"/>
          <a:lstStyle/>
          <a:p>
            <a:pPr algn="ctr" indent="0" marL="0">
              <a:buNone/>
            </a:pPr>
            <a:r>
              <a:rPr lang="en-US" sz="1600" b="1" dirty="0">
                <a:solidFill>
                  <a:srgbClr val="1A1A1A"/>
                </a:solidFill>
              </a:rPr>
              <a:t>What It Means</a:t>
            </a:r>
            <a:endParaRPr lang="en-US" sz="1600" dirty="0"/>
          </a:p>
        </p:txBody>
      </p:sp>
      <p:sp>
        <p:nvSpPr>
          <p:cNvPr id="15" name="Means header rule"/>
          <p:cNvSpPr/>
          <p:nvPr/>
        </p:nvSpPr>
        <p:spPr>
          <a:xfrm>
            <a:off x="6309360" y="1975104"/>
            <a:ext cx="2514600" cy="0"/>
          </a:xfrm>
          <a:prstGeom prst="line">
            <a:avLst/>
          </a:prstGeom>
          <a:noFill/>
          <a:ln w="12700">
            <a:solidFill>
              <a:srgbClr val="1A1A1A"/>
            </a:solidFill>
            <a:prstDash val="solid"/>
          </a:ln>
        </p:spPr>
      </p:sp>
      <p:sp>
        <p:nvSpPr>
          <p:cNvPr id="16" name="Means stat 1"/>
          <p:cNvSpPr txBox="1"/>
          <p:nvPr/>
        </p:nvSpPr>
        <p:spPr>
          <a:xfrm>
            <a:off x="6309360" y="2103120"/>
            <a:ext cx="2514600" cy="914400"/>
          </a:xfrm>
          <a:prstGeom prst="rect">
            <a:avLst/>
          </a:prstGeom>
          <a:noFill/>
          <a:ln/>
        </p:spPr>
        <p:txBody>
          <a:bodyPr wrap="square" lIns="0" tIns="0" rIns="0" bIns="0" rtlCol="0" anchor="ctr"/>
          <a:lstStyle/>
          <a:p>
            <a:pPr algn="ctr" indent="0" marL="0">
              <a:buNone/>
            </a:pPr>
            <a:r>
              <a:rPr lang="en-US" sz="2800" b="1" dirty="0">
                <a:solidFill>
                  <a:schemeClr val="tx2"/>
                </a:solidFill>
              </a:rPr>
              <a:t>+66%</a:t>
            </a:r>
            <a:endParaRPr lang="en-US" sz="2800" dirty="0"/>
          </a:p>
          <a:p>
            <a:pPr algn="ctr" indent="0" marL="0">
              <a:buNone/>
            </a:pPr>
            <a:r>
              <a:rPr lang="en-US" sz="1200" dirty="0">
                <a:solidFill>
                  <a:srgbClr val="1A1A1A"/>
                </a:solidFill>
              </a:rPr>
              <a:t>upside to our $277 base case</a:t>
            </a:r>
            <a:endParaRPr lang="en-US" sz="2800" dirty="0"/>
          </a:p>
        </p:txBody>
      </p:sp>
      <p:sp>
        <p:nvSpPr>
          <p:cNvPr id="17" name="Means stat 2"/>
          <p:cNvSpPr txBox="1"/>
          <p:nvPr/>
        </p:nvSpPr>
        <p:spPr>
          <a:xfrm>
            <a:off x="6309360" y="3108960"/>
            <a:ext cx="2514600" cy="914400"/>
          </a:xfrm>
          <a:prstGeom prst="rect">
            <a:avLst/>
          </a:prstGeom>
          <a:noFill/>
          <a:ln/>
        </p:spPr>
        <p:txBody>
          <a:bodyPr wrap="square" lIns="0" tIns="0" rIns="0" bIns="0" rtlCol="0" anchor="ctr"/>
          <a:lstStyle/>
          <a:p>
            <a:pPr algn="ctr" indent="0" marL="0">
              <a:buNone/>
            </a:pPr>
            <a:r>
              <a:rPr lang="en-US" sz="2800" b="1" dirty="0">
                <a:solidFill>
                  <a:schemeClr val="tx2"/>
                </a:solidFill>
              </a:rPr>
              <a:t>$50</a:t>
            </a:r>
            <a:endParaRPr lang="en-US" sz="2800" dirty="0"/>
          </a:p>
          <a:p>
            <a:pPr algn="ctr" indent="0" marL="0">
              <a:buNone/>
            </a:pPr>
            <a:r>
              <a:rPr lang="en-US" sz="1200" dirty="0">
                <a:solidFill>
                  <a:srgbClr val="1A1A1A"/>
                </a:solidFill>
              </a:rPr>
              <a:t>from the aviation theses: margins and share</a:t>
            </a:r>
            <a:endParaRPr lang="en-US" sz="2800" dirty="0"/>
          </a:p>
        </p:txBody>
      </p:sp>
      <p:sp>
        <p:nvSpPr>
          <p:cNvPr id="18" name="Means stat 3"/>
          <p:cNvSpPr txBox="1"/>
          <p:nvPr/>
        </p:nvSpPr>
        <p:spPr>
          <a:xfrm>
            <a:off x="6309360" y="4114800"/>
            <a:ext cx="2514600" cy="914400"/>
          </a:xfrm>
          <a:prstGeom prst="rect">
            <a:avLst/>
          </a:prstGeom>
          <a:noFill/>
          <a:ln/>
        </p:spPr>
        <p:txBody>
          <a:bodyPr wrap="square" lIns="0" tIns="0" rIns="0" bIns="0" rtlCol="0" anchor="ctr"/>
          <a:lstStyle/>
          <a:p>
            <a:pPr algn="ctr" indent="0" marL="0">
              <a:buNone/>
            </a:pPr>
            <a:r>
              <a:rPr lang="en-US" sz="2800" b="1" dirty="0">
                <a:solidFill>
                  <a:schemeClr val="tx2"/>
                </a:solidFill>
              </a:rPr>
              <a:t>$55</a:t>
            </a:r>
            <a:endParaRPr lang="en-US" sz="2800" dirty="0"/>
          </a:p>
          <a:p>
            <a:pPr algn="ctr" indent="0" marL="0">
              <a:buNone/>
            </a:pPr>
            <a:r>
              <a:rPr lang="en-US" sz="1200" dirty="0">
                <a:solidFill>
                  <a:srgbClr val="1A1A1A"/>
                </a:solidFill>
              </a:rPr>
              <a:t>from Power, on just the signed order</a:t>
            </a:r>
            <a:endParaRPr lang="en-US" sz="2800" dirty="0"/>
          </a:p>
        </p:txBody>
      </p:sp>
      <p:sp>
        <p:nvSpPr>
          <p:cNvPr id="19" name="Takeaway"/>
          <p:cNvSpPr txBox="1"/>
          <p:nvPr/>
        </p:nvSpPr>
        <p:spPr>
          <a:xfrm>
            <a:off x="320040" y="5504688"/>
            <a:ext cx="8503920" cy="566928"/>
          </a:xfrm>
          <a:prstGeom prst="rect">
            <a:avLst/>
          </a:prstGeom>
          <a:solidFill>
            <a:srgbClr val="0A1C58"/>
          </a:solidFill>
          <a:ln/>
        </p:spPr>
        <p:txBody>
          <a:bodyPr wrap="square" lIns="101600" tIns="25400" rIns="101600" bIns="25400" rtlCol="0" anchor="ctr"/>
          <a:lstStyle/>
          <a:p>
            <a:pPr algn="ctr" indent="0" marL="0">
              <a:buNone/>
            </a:pPr>
            <a:r>
              <a:rPr lang="en-US" sz="1700" b="1" dirty="0">
                <a:solidFill>
                  <a:schemeClr val="bg1"/>
                </a:solidFill>
              </a:rPr>
              <a:t>Get the aviation theses right and you make 33%. Power on just the signed order takes it to 66%.</a:t>
            </a:r>
            <a:endParaRPr lang="en-US" sz="1700" dirty="0"/>
          </a:p>
        </p:txBody>
      </p:sp>
      <p:sp>
        <p:nvSpPr>
          <p:cNvPr id="20" name="Source"/>
          <p:cNvSpPr txBox="1"/>
          <p:nvPr/>
        </p:nvSpPr>
        <p:spPr>
          <a:xfrm>
            <a:off x="320040" y="6355080"/>
            <a:ext cx="7132320" cy="274320"/>
          </a:xfrm>
          <a:prstGeom prst="rect">
            <a:avLst/>
          </a:prstGeom>
          <a:noFill/>
          <a:ln/>
        </p:spPr>
        <p:txBody>
          <a:bodyPr wrap="square" lIns="0" tIns="0" rIns="0" bIns="0" rtlCol="0" anchor="ctr"/>
          <a:lstStyle/>
          <a:p>
            <a:pPr indent="0" marL="0">
              <a:buNone/>
            </a:pPr>
            <a:r>
              <a:rPr lang="en-US" sz="1100" b="1" dirty="0">
                <a:solidFill>
                  <a:srgbClr val="1A1A1A"/>
                </a:solidFill>
              </a:rPr>
              <a:t>Source: </a:t>
            </a:r>
            <a:pPr indent="0" marL="0">
              <a:buNone/>
            </a:pPr>
            <a:r>
              <a:rPr lang="en-US" sz="1100" dirty="0">
                <a:solidFill>
                  <a:srgbClr val="1A1A1A"/>
                </a:solidFill>
              </a:rPr>
              <a:t>GPS model (SOTP: Aerospace 16x, Power 12x, Leasing + SCI 9x FY27E EBITDA); thesis attribution re-runs; price $167.03 (10/2/26)</a:t>
            </a:r>
            <a:endParaRPr lang="en-US" sz="1100" dirty="0"/>
          </a:p>
        </p:txBody>
      </p:sp>
      <p:sp>
        <p:nvSpPr>
          <p:cNvPr id="25" name="Slide Number Placeholder 0"/>
          <p:cNvSpPr>
            <a:spLocks noGrp="1"/>
          </p:cNvSpPr>
          <p:nvPr>
            <p:ph type="sldNum" sz="quarter" idx="4294967295"/>
          </p:nvPr>
        </p:nvSpPr>
        <p:spPr>
          <a:xfrm>
            <a:off x="7635240" y="6327648"/>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1A"/>
                </a:solidFill>
              </a:defRPr>
            </a:lvl1pPr>
          </a:lstStyle>
          <a:p>
            <a:pPr algn="r"/>
            <a:fld id="{F7021451-1387-4CA6-816F-3879F97B5CBC}" type="slidenum">
              <a:rPr b="1" lang="en-US"/>
              <a:t>25</a:t>
            </a:fld>
            <a:endParaRPr lang="en-US"/>
          </a:p>
        </p:txBody>
      </p:sp>
    </p:spTree>
  </p:cSld>
  <p:clrMapOvr>
    <a:masterClrMapping/>
  </p:clrMapOvr>
</p:sld>
</file>

<file path=ppt/theme/theme1.xml><?xml version="1.0" encoding="utf-8"?>
<a:theme xmlns:a="http://schemas.openxmlformats.org/drawingml/2006/main" name="Global Platinum Securities">
  <a:themeElements>
    <a:clrScheme name="Global Platinum Securities">
      <a:dk1>
        <a:srgbClr val="1A1A1A"/>
      </a:dk1>
      <a:lt1>
        <a:srgbClr val="FFFFFF"/>
      </a:lt1>
      <a:dk2>
        <a:srgbClr val="0A1C58"/>
      </a:dk2>
      <a:lt2>
        <a:srgbClr val="EFEDEA"/>
      </a:lt2>
      <a:accent1>
        <a:srgbClr val="0A1C58"/>
      </a:accent1>
      <a:accent2>
        <a:srgbClr val="847C7A"/>
      </a:accent2>
      <a:accent3>
        <a:srgbClr val="DCD8D3"/>
      </a:accent3>
      <a:accent4>
        <a:srgbClr val="3B4C82"/>
      </a:accent4>
      <a:accent5>
        <a:srgbClr val="B5AEA9"/>
      </a:accent5>
      <a:accent6>
        <a:srgbClr val="5A5350"/>
      </a:accent6>
      <a:hlink>
        <a:srgbClr val="0A1C58"/>
      </a:hlink>
      <a:folHlink>
        <a:srgbClr val="847C7A"/>
      </a:folHlink>
    </a:clrScheme>
    <a:fontScheme name="Global Platinum Securities">
      <a:majorFont>
        <a:latin typeface="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aramon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Global Platinum Securities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FTAI Aviation — Long Recommendation</dc:title>
  <dc:subject>PptxGenJS Presentation</dc:subject>
  <dc:creator>PptxGenJS</dc:creator>
  <cp:lastModifiedBy>PptxGenJS</cp:lastModifiedBy>
  <cp:revision>1</cp:revision>
  <dcterms:created xsi:type="dcterms:W3CDTF">2026-10-08T23:59:38Z</dcterms:created>
  <dcterms:modified xsi:type="dcterms:W3CDTF">2026-10-08T23:59:38Z</dcterms:modified>
</cp:coreProperties>
</file>