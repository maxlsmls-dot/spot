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eb4af803-e60c-5174-4412-4ed0535da0f6}">
          <p14:sldIdLst>
            <p14:sldId id="256"/>
          </p14:sldIdLst>
        </p14:section>
        <p14:section name="The Opportunity" id="{20258212-df10-de1c-26c8-523f20c4b6ba}">
          <p14:sldIdLst>
            <p14:sldId id="257"/>
            <p14:sldId id="258"/>
            <p14:sldId id="259"/>
            <p14:sldId id="260"/>
          </p14:sldIdLst>
        </p14:section>
        <p14:section name="Returns" id="{e277c82b-bff0-828e-9676-ee448e4233c2}">
          <p14:sldIdLst>
            <p14:sldId id="261"/>
          </p14:sldIdLst>
        </p14:section>
        <p14:section name="Business Overview" id="{80493cde-9a26-e612-11f5-64b4967261d5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Mgmt. guide</c:v>
                </c:pt>
              </c:strCache>
            </c:strRef>
          </c:tx>
          <c:spPr>
            <a:solidFill>
              <a:srgbClr val="B5AEA9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0.3</c:v>
                </c:pt>
                <c:pt idx="7">
                  <c:v>0.3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B5AEA9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5AEA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1C5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35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Light</c:v>
                  </c:pt>
                  <c:pt idx="1">
                    <c:v>Heavy</c:v>
                  </c:pt>
                  <c:pt idx="2">
                    <c:v>Blended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0.417</c:v>
                </c:pt>
                <c:pt idx="1">
                  <c:v>0.25</c:v>
                </c:pt>
                <c:pt idx="2">
                  <c:v>0.306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 / EBITDA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&quot;x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15.9</c:v>
                </c:pt>
                <c:pt idx="1">
                  <c:v>9.8</c:v>
                </c:pt>
                <c:pt idx="2">
                  <c:v>6.8</c:v>
                </c:pt>
              </c:numCache>
            </c:numRef>
          </c:val>
        </c:ser>
        <c:dLbls>
          <c:numFmt formatCode="0.0&quot;x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&quot;$&quot;0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Current Price</c:v>
                  </c:pt>
                  <c:pt idx="1">
                    <c:v>Core ex-Power</c:v>
                  </c:pt>
                  <c:pt idx="2">
                    <c:v>Power</c:v>
                  </c:pt>
                  <c:pt idx="3">
                    <c:v>SOTP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224.75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&quot;$&quot;0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Current Price</c:v>
                  </c:pt>
                  <c:pt idx="1">
                    <c:v>Core ex-Power</c:v>
                  </c:pt>
                  <c:pt idx="2">
                    <c:v>Power</c:v>
                  </c:pt>
                  <c:pt idx="3">
                    <c:v>SOTP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167.03</c:v>
                </c:pt>
                <c:pt idx="1">
                  <c:v>224.75</c:v>
                </c:pt>
                <c:pt idx="2">
                  <c:v>0</c:v>
                </c:pt>
                <c:pt idx="3">
                  <c:v>276.65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Power</c:v>
                </c:pt>
              </c:strCache>
            </c:strRef>
          </c:tx>
          <c:spPr>
            <a:solidFill>
              <a:srgbClr val="847C7A"/>
            </a:solidFill>
            <a:effectLst/>
          </c:spPr>
          <c:invertIfNegative val="0"/>
          <c:dLbls>
            <c:numFmt formatCode="&quot;$&quot;0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Current Price</c:v>
                  </c:pt>
                  <c:pt idx="1">
                    <c:v>Core ex-Power</c:v>
                  </c:pt>
                  <c:pt idx="2">
                    <c:v>Power</c:v>
                  </c:pt>
                  <c:pt idx="3">
                    <c:v>SOTP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51.9</c:v>
                </c:pt>
                <c:pt idx="3">
                  <c:v>0</c:v>
                </c:pt>
              </c:numCache>
            </c:numRef>
          </c:val>
        </c:ser>
        <c:dLbls>
          <c:numFmt formatCode="&quot;$&quot;0;;;" sourceLinked="0"/>
          <c:txPr>
            <a:bodyPr/>
            <a:lstStyle/>
            <a:p>
              <a:pPr>
                <a:defRPr b="1" i="0" strike="noStrike" sz="15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 as of 10/2/26. Target is the base-case blended DCF: 50% perpetuity growth ($281) and 50% exit multiple ($335). R/R = 132% bull blended upside vs. 39% bear blended downside.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Reported quarterly Aerospace Products Adj. EBITDA margins from the RPM tab. Q4'25 34.6% to Q1'26 29.9% = -470 bps. Mix example is management's: a 6,000-cycle engine sold for ~$6M earns ~$2.5M; a 10,000-cycle engine sold for ~$12M earns ~$3M; one of each blends to ~30%.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 of $20.56B at $167.03 (10/2/26) over Jefferies Adj. EBITDA of $1,289M (FY26E), $2,099M (FY27E) and $3,023M (FY28E).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SOTP on FY27E EBITDA: Aerospace Products $1,541M at 16x ($237/sh), Power $450M at 12x ($52/sh, low end of guide), Aviation Leasing + SCI $455M at 9x ($39/sh), less corporate (-$28/sh), net debt (-$23/sh) and preferred (-$1/sh) = $277/sh. Ex-Power = $225/sh vs. $167.03 current (10/2/26), a 26% discount.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Attribution re-runs the full model (blended DCF: 50% perpetuity, 50% exit multiple) for all 8 on/off combinations. Margins = OEM escalator, pass-through, Aerospace margin ex-PMA and PMA penetration rows. Volume = FTAI share of MRO and SCI aircraft rows. Power = Mod-1 units delivered (off = 0, i.e. what the market prices today). Exact values: baseline $99.16, margins +$36.02, volume +$56.49, Power +$116.36, total $308.03 (dollars and % upside rounded by largest remainder so each bridge sums). Power's DCF contribution is larger than its $52 SOTP value on the Opportunity (3/3) slide because the DCF captures the ramp to $1.3B of FY31 EBITDA and terminal value, while the SOTP applies 12x to FY27E $450M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Factory example (FTAI): three unserviceable engines worth $2.0M, $2.5M and $2.0M each still hold modules with life left (cycles shown per Fan / Core / LPT). FTAI splits them into nine modules, adds $3.5M of MRO work, and reassembles two serviceable engines ($8.5M at 7k/7k/7k and $6.0M at 4k/4k/4k) plus one run-out core ($1.5M): $16.0M out vs. $10.0M in, $6.0M of value created.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868680"/>
            <a:ext cx="8503920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872" y="6144768"/>
            <a:ext cx="621792" cy="566928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 Sub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868680"/>
            <a:ext cx="8503920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872" y="6144768"/>
            <a:ext cx="621792" cy="566928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548640" y="320040"/>
            <a:ext cx="6400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FTAI Aviation</a:t>
            </a:r>
            <a:endParaRPr lang="en-US" sz="3400" dirty="0"/>
          </a:p>
          <a:p>
            <a:pPr indent="0" marL="0">
              <a:buNone/>
            </a:pPr>
            <a:r>
              <a:rPr lang="en-US" sz="3000" dirty="0">
                <a:solidFill>
                  <a:schemeClr val="tx2"/>
                </a:solidFill>
              </a:rPr>
              <a:t>(NASDAQ: FTAI)</a:t>
            </a:r>
            <a:endParaRPr lang="en-US" sz="3400" dirty="0"/>
          </a:p>
        </p:txBody>
      </p:sp>
      <p:sp>
        <p:nvSpPr>
          <p:cNvPr id="3" name="Recommendation"/>
          <p:cNvSpPr txBox="1"/>
          <p:nvPr/>
        </p:nvSpPr>
        <p:spPr>
          <a:xfrm>
            <a:off x="548640" y="15087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Long Recommendation</a:t>
            </a:r>
            <a:endParaRPr lang="en-US" sz="2800" dirty="0"/>
          </a:p>
        </p:txBody>
      </p:sp>
      <p:sp>
        <p:nvSpPr>
          <p:cNvPr id="4" name="Stat 1 value"/>
          <p:cNvSpPr txBox="1"/>
          <p:nvPr/>
        </p:nvSpPr>
        <p:spPr>
          <a:xfrm>
            <a:off x="54864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$167</a:t>
            </a:r>
            <a:endParaRPr lang="en-US" sz="4800" dirty="0"/>
          </a:p>
        </p:txBody>
      </p:sp>
      <p:sp>
        <p:nvSpPr>
          <p:cNvPr id="5" name="Stat 1 label"/>
          <p:cNvSpPr txBox="1"/>
          <p:nvPr/>
        </p:nvSpPr>
        <p:spPr>
          <a:xfrm>
            <a:off x="54864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Current Price</a:t>
            </a:r>
            <a:endParaRPr lang="en-US" sz="1600" dirty="0"/>
          </a:p>
        </p:txBody>
      </p:sp>
      <p:sp>
        <p:nvSpPr>
          <p:cNvPr id="6" name="Stat 2 value"/>
          <p:cNvSpPr txBox="1"/>
          <p:nvPr/>
        </p:nvSpPr>
        <p:spPr>
          <a:xfrm>
            <a:off x="256032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$308</a:t>
            </a:r>
            <a:endParaRPr lang="en-US" sz="4800" dirty="0"/>
          </a:p>
        </p:txBody>
      </p:sp>
      <p:sp>
        <p:nvSpPr>
          <p:cNvPr id="7" name="Stat 2 label"/>
          <p:cNvSpPr txBox="1"/>
          <p:nvPr/>
        </p:nvSpPr>
        <p:spPr>
          <a:xfrm>
            <a:off x="256032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Target Price</a:t>
            </a:r>
            <a:endParaRPr lang="en-US" sz="1600" dirty="0"/>
          </a:p>
        </p:txBody>
      </p:sp>
      <p:sp>
        <p:nvSpPr>
          <p:cNvPr id="8" name="Stat divider 1"/>
          <p:cNvSpPr/>
          <p:nvPr/>
        </p:nvSpPr>
        <p:spPr>
          <a:xfrm>
            <a:off x="2560320" y="2697480"/>
            <a:ext cx="0" cy="10515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9" name="Stat 3 value"/>
          <p:cNvSpPr txBox="1"/>
          <p:nvPr/>
        </p:nvSpPr>
        <p:spPr>
          <a:xfrm>
            <a:off x="457200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84%</a:t>
            </a:r>
            <a:endParaRPr lang="en-US" sz="4800" dirty="0"/>
          </a:p>
        </p:txBody>
      </p:sp>
      <p:sp>
        <p:nvSpPr>
          <p:cNvPr id="10" name="Stat 3 label"/>
          <p:cNvSpPr txBox="1"/>
          <p:nvPr/>
        </p:nvSpPr>
        <p:spPr>
          <a:xfrm>
            <a:off x="457200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Upside</a:t>
            </a:r>
            <a:endParaRPr lang="en-US" sz="1600" dirty="0"/>
          </a:p>
        </p:txBody>
      </p:sp>
      <p:sp>
        <p:nvSpPr>
          <p:cNvPr id="11" name="Stat divider 2"/>
          <p:cNvSpPr/>
          <p:nvPr/>
        </p:nvSpPr>
        <p:spPr>
          <a:xfrm>
            <a:off x="4572000" y="2697480"/>
            <a:ext cx="0" cy="10515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2" name="Stat 4 value"/>
          <p:cNvSpPr txBox="1"/>
          <p:nvPr/>
        </p:nvSpPr>
        <p:spPr>
          <a:xfrm>
            <a:off x="658368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3.4x</a:t>
            </a:r>
            <a:endParaRPr lang="en-US" sz="4800" dirty="0"/>
          </a:p>
        </p:txBody>
      </p:sp>
      <p:sp>
        <p:nvSpPr>
          <p:cNvPr id="13" name="Stat 4 label"/>
          <p:cNvSpPr txBox="1"/>
          <p:nvPr/>
        </p:nvSpPr>
        <p:spPr>
          <a:xfrm>
            <a:off x="658368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Reward / Risk</a:t>
            </a:r>
            <a:endParaRPr lang="en-US" sz="1600" dirty="0"/>
          </a:p>
        </p:txBody>
      </p:sp>
      <p:sp>
        <p:nvSpPr>
          <p:cNvPr id="14" name="Stat divider 3"/>
          <p:cNvSpPr/>
          <p:nvPr/>
        </p:nvSpPr>
        <p:spPr>
          <a:xfrm>
            <a:off x="6583680" y="2697480"/>
            <a:ext cx="0" cy="10515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Quote"/>
          <p:cNvSpPr txBox="1"/>
          <p:nvPr/>
        </p:nvSpPr>
        <p:spPr>
          <a:xfrm>
            <a:off x="411480" y="4206240"/>
            <a:ext cx="8321040" cy="73152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“Be fearful when others are greedy and greedy when others are fearful.”</a:t>
            </a:r>
            <a:endParaRPr lang="en-US" sz="1900" dirty="0"/>
          </a:p>
        </p:txBody>
      </p:sp>
      <p:sp>
        <p:nvSpPr>
          <p:cNvPr id="16" name="Quote attribution"/>
          <p:cNvSpPr txBox="1"/>
          <p:nvPr/>
        </p:nvSpPr>
        <p:spPr>
          <a:xfrm>
            <a:off x="411480" y="502920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A1A1A"/>
                </a:solidFill>
              </a:rPr>
              <a:t>— Warren Buffett</a:t>
            </a:r>
            <a:endParaRPr lang="en-US" sz="1900" dirty="0"/>
          </a:p>
        </p:txBody>
      </p:sp>
      <p:sp>
        <p:nvSpPr>
          <p:cNvPr id="17" name="Pitch details"/>
          <p:cNvSpPr txBox="1"/>
          <p:nvPr/>
        </p:nvSpPr>
        <p:spPr>
          <a:xfrm>
            <a:off x="548640" y="57607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Date: October 2026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Current Price: $167.03 (10/2/26)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Target Price: $308.03 (84% upside, 3.4x R/R)</a:t>
            </a:r>
            <a:endParaRPr lang="en-US" sz="1500" dirty="0"/>
          </a:p>
        </p:txBody>
      </p:sp>
      <p:pic>
        <p:nvPicPr>
          <p:cNvPr id="18" name="GPS logo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5532120"/>
            <a:ext cx="1234440" cy="1133856"/>
          </a:xfrm>
          <a:prstGeom prst="rect">
            <a:avLst/>
          </a:prstGeom>
        </p:spPr>
      </p:pic>
      <p:sp>
        <p:nvSpPr>
          <p:cNvPr id="19" name="Logo divider"/>
          <p:cNvSpPr/>
          <p:nvPr/>
        </p:nvSpPr>
        <p:spPr>
          <a:xfrm>
            <a:off x="7360920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20" name="Presenter"/>
          <p:cNvSpPr txBox="1"/>
          <p:nvPr/>
        </p:nvSpPr>
        <p:spPr>
          <a:xfrm>
            <a:off x="7452360" y="566928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Presenter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Name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Opportunity</a:t>
            </a:r>
            <a:endParaRPr lang="en-US" sz="3200" dirty="0"/>
          </a:p>
        </p:txBody>
      </p:sp>
      <p:sp>
        <p:nvSpPr>
          <p:cNvPr id="3" name="Point 1"/>
          <p:cNvSpPr txBox="1"/>
          <p:nvPr/>
        </p:nvSpPr>
        <p:spPr>
          <a:xfrm>
            <a:off x="1600200" y="1188720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1Q26 margins compressed 500 bps, and management guided EBITDA margins down from 40% to 30% for two years.</a:t>
            </a:r>
            <a:endParaRPr lang="en-US" sz="1500" dirty="0"/>
          </a:p>
        </p:txBody>
      </p:sp>
      <p:sp>
        <p:nvSpPr>
          <p:cNvPr id="4" name="Point 1 number"/>
          <p:cNvSpPr/>
          <p:nvPr/>
        </p:nvSpPr>
        <p:spPr>
          <a:xfrm>
            <a:off x="1120140" y="121158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Point 2"/>
          <p:cNvSpPr txBox="1"/>
          <p:nvPr/>
        </p:nvSpPr>
        <p:spPr>
          <a:xfrm>
            <a:off x="1600200" y="2304288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fraud overhang from the 2025 short report leaves the market doubting this is the bottom: it still sees FTAI as over-earning.</a:t>
            </a:r>
            <a:endParaRPr lang="en-US" sz="1500" dirty="0"/>
          </a:p>
        </p:txBody>
      </p:sp>
      <p:sp>
        <p:nvSpPr>
          <p:cNvPr id="6" name="Point 2 number"/>
          <p:cNvSpPr/>
          <p:nvPr/>
        </p:nvSpPr>
        <p:spPr>
          <a:xfrm>
            <a:off x="1120140" y="232714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</a:t>
            </a:r>
            <a:endParaRPr lang="en-US" sz="2600" dirty="0"/>
          </a:p>
        </p:txBody>
      </p:sp>
      <p:sp>
        <p:nvSpPr>
          <p:cNvPr id="7" name="Point 3"/>
          <p:cNvSpPr txBox="1"/>
          <p:nvPr/>
        </p:nvSpPr>
        <p:spPr>
          <a:xfrm>
            <a:off x="1600200" y="3419856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 believe FTAI has reached steady state: margins have bottomed and share gains will drive volume growth.</a:t>
            </a:r>
            <a:endParaRPr lang="en-US" sz="1500" dirty="0"/>
          </a:p>
        </p:txBody>
      </p:sp>
      <p:sp>
        <p:nvSpPr>
          <p:cNvPr id="8" name="Point 3 number"/>
          <p:cNvSpPr/>
          <p:nvPr/>
        </p:nvSpPr>
        <p:spPr>
          <a:xfrm>
            <a:off x="1120140" y="3442716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3</a:t>
            </a:r>
            <a:endParaRPr lang="en-US" sz="2600" dirty="0"/>
          </a:p>
        </p:txBody>
      </p:sp>
      <p:sp>
        <p:nvSpPr>
          <p:cNvPr id="9" name="Funnel"/>
          <p:cNvSpPr/>
          <p:nvPr/>
        </p:nvSpPr>
        <p:spPr>
          <a:xfrm flipV="1">
            <a:off x="1188720" y="4553712"/>
            <a:ext cx="7040880" cy="41148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0" name="Conclusion"/>
          <p:cNvSpPr txBox="1"/>
          <p:nvPr/>
        </p:nvSpPr>
        <p:spPr>
          <a:xfrm>
            <a:off x="1188720" y="5120640"/>
            <a:ext cx="7040880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pricing a trough as a cliff. We see 84% upside, with Power as a free call option.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3200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filings, earnings calls, GPS estimates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Opportunity (1/3)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 one quarter, Aerospace margins fell ~470 bps, and management guided ~30% for two years.</a:t>
            </a:r>
            <a:endParaRPr lang="en-US" sz="1700" dirty="0"/>
          </a:p>
        </p:txBody>
      </p:sp>
      <p:sp>
        <p:nvSpPr>
          <p:cNvPr id="4" name="Margin chart header"/>
          <p:cNvSpPr txBox="1"/>
          <p:nvPr/>
        </p:nvSpPr>
        <p:spPr>
          <a:xfrm>
            <a:off x="320040" y="15544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Aerospace Products Adj. EBITDA Margin</a:t>
            </a:r>
            <a:endParaRPr lang="en-US" sz="1600" dirty="0"/>
          </a:p>
        </p:txBody>
      </p:sp>
      <p:sp>
        <p:nvSpPr>
          <p:cNvPr id="5" name="Margin chart header rule"/>
          <p:cNvSpPr/>
          <p:nvPr/>
        </p:nvSpPr>
        <p:spPr>
          <a:xfrm>
            <a:off x="320040" y="1975104"/>
            <a:ext cx="525780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graphicFrame>
        <p:nvGraphicFramePr>
          <p:cNvPr id="6" name="Margin chart" descr=""/>
          <p:cNvGraphicFramePr/>
          <p:nvPr/>
        </p:nvGraphicFramePr>
        <p:xfrm>
          <a:off x="320040" y="2103120"/>
          <a:ext cx="52578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Guide label"/>
          <p:cNvSpPr txBox="1"/>
          <p:nvPr/>
        </p:nvSpPr>
        <p:spPr>
          <a:xfrm>
            <a:off x="4206240" y="27889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Mgmt. guide</a:t>
            </a:r>
            <a:endParaRPr lang="en-US" sz="1200" dirty="0"/>
          </a:p>
        </p:txBody>
      </p:sp>
      <p:sp>
        <p:nvSpPr>
          <p:cNvPr id="8" name="Compression callout"/>
          <p:cNvSpPr/>
          <p:nvPr/>
        </p:nvSpPr>
        <p:spPr>
          <a:xfrm>
            <a:off x="2606040" y="2103120"/>
            <a:ext cx="1097280" cy="109728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–470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bps q/q</a:t>
            </a:r>
            <a:endParaRPr lang="en-US" sz="2000" dirty="0"/>
          </a:p>
        </p:txBody>
      </p:sp>
      <p:sp>
        <p:nvSpPr>
          <p:cNvPr id="9" name="Mix chart header"/>
          <p:cNvSpPr txBox="1"/>
          <p:nvPr/>
        </p:nvSpPr>
        <p:spPr>
          <a:xfrm>
            <a:off x="5897880" y="1554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Management: “It's Mix”</a:t>
            </a:r>
            <a:endParaRPr lang="en-US" sz="1600" dirty="0"/>
          </a:p>
        </p:txBody>
      </p:sp>
      <p:sp>
        <p:nvSpPr>
          <p:cNvPr id="10" name="Mix chart header rule"/>
          <p:cNvSpPr/>
          <p:nvPr/>
        </p:nvSpPr>
        <p:spPr>
          <a:xfrm>
            <a:off x="5897880" y="1975104"/>
            <a:ext cx="292608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graphicFrame>
        <p:nvGraphicFramePr>
          <p:cNvPr id="11" name="Mix chart" descr=""/>
          <p:cNvGraphicFramePr/>
          <p:nvPr/>
        </p:nvGraphicFramePr>
        <p:xfrm>
          <a:off x="5897880" y="2103120"/>
          <a:ext cx="29260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Mix detail"/>
          <p:cNvSpPr txBox="1"/>
          <p:nvPr/>
        </p:nvSpPr>
        <p:spPr>
          <a:xfrm>
            <a:off x="5897880" y="437083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Light: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$6M sale, $2.5M profit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Heavy: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$12M sale, $3.0M profit</a:t>
            </a:r>
            <a:endParaRPr lang="en-US" sz="1200" dirty="0"/>
          </a:p>
        </p:txBody>
      </p:sp>
      <p:sp>
        <p:nvSpPr>
          <p:cNvPr id="13" name="Mix kicker"/>
          <p:cNvSpPr txBox="1"/>
          <p:nvPr/>
        </p:nvSpPr>
        <p:spPr>
          <a:xfrm>
            <a:off x="5897880" y="4983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Lower margin, more dollars per job</a:t>
            </a:r>
            <a:endParaRPr lang="en-US" sz="1300" dirty="0"/>
          </a:p>
        </p:txBody>
      </p:sp>
      <p:sp>
        <p:nvSpPr>
          <p:cNvPr id="14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drop is real. Is ~30% the floor, or just a waypoint?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calls, GPS model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Opportunity (2/3)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2025 short report gave the market a darker explanation, and it stuck.</a:t>
            </a:r>
            <a:endParaRPr lang="en-US" sz="1700" dirty="0"/>
          </a:p>
        </p:txBody>
      </p:sp>
      <p:sp>
        <p:nvSpPr>
          <p:cNvPr id="4" name="Short thesis header"/>
          <p:cNvSpPr txBox="1"/>
          <p:nvPr/>
        </p:nvSpPr>
        <p:spPr>
          <a:xfrm>
            <a:off x="320040" y="1554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Short Thesis (Jan. 2025)</a:t>
            </a:r>
            <a:endParaRPr lang="en-US" sz="1600" dirty="0"/>
          </a:p>
        </p:txBody>
      </p:sp>
      <p:sp>
        <p:nvSpPr>
          <p:cNvPr id="5" name="Short thesis header rule"/>
          <p:cNvSpPr/>
          <p:nvPr/>
        </p:nvSpPr>
        <p:spPr>
          <a:xfrm>
            <a:off x="320040" y="1975104"/>
            <a:ext cx="457200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" name="Short step 1"/>
          <p:cNvSpPr txBox="1"/>
          <p:nvPr/>
        </p:nvSpPr>
        <p:spPr>
          <a:xfrm>
            <a:off x="548640" y="2148840"/>
            <a:ext cx="4114800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Leasing engines sit on the books at depreciated value</a:t>
            </a:r>
            <a:endParaRPr lang="en-US" sz="1500" dirty="0"/>
          </a:p>
        </p:txBody>
      </p:sp>
      <p:sp>
        <p:nvSpPr>
          <p:cNvPr id="7" name="Short arrow 1"/>
          <p:cNvSpPr/>
          <p:nvPr/>
        </p:nvSpPr>
        <p:spPr>
          <a:xfrm>
            <a:off x="2395728" y="2907792"/>
            <a:ext cx="420624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8" name="Short step 2"/>
          <p:cNvSpPr txBox="1"/>
          <p:nvPr/>
        </p:nvSpPr>
        <p:spPr>
          <a:xfrm>
            <a:off x="548640" y="3227832"/>
            <a:ext cx="4114800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They are moved into Aerospace Products as inventory</a:t>
            </a:r>
            <a:endParaRPr lang="en-US" sz="1500" dirty="0"/>
          </a:p>
        </p:txBody>
      </p:sp>
      <p:sp>
        <p:nvSpPr>
          <p:cNvPr id="9" name="Short arrow 2"/>
          <p:cNvSpPr/>
          <p:nvPr/>
        </p:nvSpPr>
        <p:spPr>
          <a:xfrm>
            <a:off x="2395728" y="3986784"/>
            <a:ext cx="420624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0" name="Short step 3"/>
          <p:cNvSpPr txBox="1"/>
          <p:nvPr/>
        </p:nvSpPr>
        <p:spPr>
          <a:xfrm>
            <a:off x="548640" y="4306824"/>
            <a:ext cx="4114800" cy="73152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Sold at market prices, the low cost basis inflates AP margins</a:t>
            </a:r>
            <a:endParaRPr lang="en-US" sz="1500" dirty="0"/>
          </a:p>
        </p:txBody>
      </p:sp>
      <p:sp>
        <p:nvSpPr>
          <p:cNvPr id="11" name="Multiple header"/>
          <p:cNvSpPr txBox="1"/>
          <p:nvPr/>
        </p:nvSpPr>
        <p:spPr>
          <a:xfrm>
            <a:off x="5257800" y="1554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…So the Market Won't Pay Up</a:t>
            </a:r>
            <a:endParaRPr lang="en-US" sz="1600" dirty="0"/>
          </a:p>
        </p:txBody>
      </p:sp>
      <p:sp>
        <p:nvSpPr>
          <p:cNvPr id="12" name="Multiple header rule"/>
          <p:cNvSpPr/>
          <p:nvPr/>
        </p:nvSpPr>
        <p:spPr>
          <a:xfrm>
            <a:off x="5257800" y="1975104"/>
            <a:ext cx="356616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graphicFrame>
        <p:nvGraphicFramePr>
          <p:cNvPr id="13" name="Multiple chart" descr=""/>
          <p:cNvGraphicFramePr/>
          <p:nvPr/>
        </p:nvGraphicFramePr>
        <p:xfrm>
          <a:off x="5257800" y="2103120"/>
          <a:ext cx="35661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FY28 highlight"/>
          <p:cNvSpPr/>
          <p:nvPr/>
        </p:nvSpPr>
        <p:spPr>
          <a:xfrm>
            <a:off x="7644384" y="3383280"/>
            <a:ext cx="1024128" cy="1481328"/>
          </a:xfrm>
          <a:prstGeom prst="rect">
            <a:avLst/>
          </a:prstGeom>
          <a:ln w="25400">
            <a:solidFill>
              <a:schemeClr val="accent2"/>
            </a:solidFill>
            <a:prstDash val="dash"/>
          </a:ln>
        </p:spPr>
      </p:sp>
      <p:sp>
        <p:nvSpPr>
          <p:cNvPr id="15" name="Multiple caption"/>
          <p:cNvSpPr txBox="1"/>
          <p:nvPr/>
        </p:nvSpPr>
        <p:spPr>
          <a:xfrm>
            <a:off x="5257800" y="51023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2"/>
                </a:solidFill>
              </a:rPr>
              <a:t>EV / Adj. EBITDA (Jefferies estimates)</a:t>
            </a:r>
            <a:endParaRPr lang="en-US" sz="1200" dirty="0"/>
          </a:p>
        </p:txBody>
      </p:sp>
      <p:sp>
        <p:nvSpPr>
          <p:cNvPr id="16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reads the margin reset as the short thesis unwinding, and prices FTAI as if it's still over-earning.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Research (Jan. 2025), Jefferies (8/2/26), FTAI filings,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Opportunity (3/3)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market assigns no value to Power: the stock trades below the core business alone.</a:t>
            </a:r>
            <a:endParaRPr lang="en-US" sz="1700" dirty="0"/>
          </a:p>
        </p:txBody>
      </p:sp>
      <p:sp>
        <p:nvSpPr>
          <p:cNvPr id="4" name="SOTP header"/>
          <p:cNvSpPr txBox="1"/>
          <p:nvPr/>
        </p:nvSpPr>
        <p:spPr>
          <a:xfrm>
            <a:off x="320040" y="15544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FY27E Sum of the Parts ($ / Share)</a:t>
            </a:r>
            <a:endParaRPr lang="en-US" sz="1600" dirty="0"/>
          </a:p>
        </p:txBody>
      </p:sp>
      <p:sp>
        <p:nvSpPr>
          <p:cNvPr id="5" name="SOTP header rule"/>
          <p:cNvSpPr/>
          <p:nvPr/>
        </p:nvSpPr>
        <p:spPr>
          <a:xfrm>
            <a:off x="320040" y="1975104"/>
            <a:ext cx="525780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graphicFrame>
        <p:nvGraphicFramePr>
          <p:cNvPr id="6" name="SOTP chart" descr=""/>
          <p:cNvGraphicFramePr/>
          <p:nvPr/>
        </p:nvGraphicFramePr>
        <p:xfrm>
          <a:off x="320040" y="2103120"/>
          <a:ext cx="52578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iscount callout"/>
          <p:cNvSpPr/>
          <p:nvPr/>
        </p:nvSpPr>
        <p:spPr>
          <a:xfrm>
            <a:off x="548640" y="2148840"/>
            <a:ext cx="1051560" cy="105156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26%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below core</a:t>
            </a:r>
            <a:endParaRPr lang="en-US" sz="2000" dirty="0"/>
          </a:p>
        </p:txBody>
      </p:sp>
      <p:sp>
        <p:nvSpPr>
          <p:cNvPr id="8" name="Power label"/>
          <p:cNvSpPr txBox="1"/>
          <p:nvPr/>
        </p:nvSpPr>
        <p:spPr>
          <a:xfrm>
            <a:off x="2971800" y="22860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Free call option</a:t>
            </a:r>
            <a:endParaRPr lang="en-US" sz="1200" dirty="0"/>
          </a:p>
        </p:txBody>
      </p:sp>
      <p:sp>
        <p:nvSpPr>
          <p:cNvPr id="9" name="Power stats header"/>
          <p:cNvSpPr txBox="1"/>
          <p:nvPr/>
        </p:nvSpPr>
        <p:spPr>
          <a:xfrm>
            <a:off x="5897880" y="1554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Power at a Glance</a:t>
            </a:r>
            <a:endParaRPr lang="en-US" sz="1600" dirty="0"/>
          </a:p>
        </p:txBody>
      </p:sp>
      <p:sp>
        <p:nvSpPr>
          <p:cNvPr id="10" name="Power stats header rule"/>
          <p:cNvSpPr/>
          <p:nvPr/>
        </p:nvSpPr>
        <p:spPr>
          <a:xfrm>
            <a:off x="5897880" y="1975104"/>
            <a:ext cx="292608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1" name="Power stat 1"/>
          <p:cNvSpPr txBox="1"/>
          <p:nvPr/>
        </p:nvSpPr>
        <p:spPr>
          <a:xfrm>
            <a:off x="5897880" y="2148840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$1.465B</a:t>
            </a:r>
            <a:endParaRPr lang="en-US" sz="3000" dirty="0"/>
          </a:p>
        </p:txBody>
      </p:sp>
      <p:sp>
        <p:nvSpPr>
          <p:cNvPr id="12" name="Power stat 1 label"/>
          <p:cNvSpPr txBox="1"/>
          <p:nvPr/>
        </p:nvSpPr>
        <p:spPr>
          <a:xfrm>
            <a:off x="5897880" y="2697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First hyperscaler order, via the J&amp;F JV</a:t>
            </a:r>
            <a:endParaRPr lang="en-US" sz="1300" dirty="0"/>
          </a:p>
        </p:txBody>
      </p:sp>
      <p:sp>
        <p:nvSpPr>
          <p:cNvPr id="13" name="Power stat 2"/>
          <p:cNvSpPr txBox="1"/>
          <p:nvPr/>
        </p:nvSpPr>
        <p:spPr>
          <a:xfrm>
            <a:off x="5897880" y="3227832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$450–750M</a:t>
            </a:r>
            <a:endParaRPr lang="en-US" sz="3000" dirty="0"/>
          </a:p>
        </p:txBody>
      </p:sp>
      <p:sp>
        <p:nvSpPr>
          <p:cNvPr id="14" name="Power stat 2 label"/>
          <p:cNvSpPr txBox="1"/>
          <p:nvPr/>
        </p:nvSpPr>
        <p:spPr>
          <a:xfrm>
            <a:off x="5897880" y="377647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FY27 Power EBITDA guide</a:t>
            </a:r>
            <a:endParaRPr lang="en-US" sz="1300" dirty="0"/>
          </a:p>
        </p:txBody>
      </p:sp>
      <p:sp>
        <p:nvSpPr>
          <p:cNvPr id="15" name="Power stat 3"/>
          <p:cNvSpPr txBox="1"/>
          <p:nvPr/>
        </p:nvSpPr>
        <p:spPr>
          <a:xfrm>
            <a:off x="5897880" y="4306824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25 MW</a:t>
            </a:r>
            <a:endParaRPr lang="en-US" sz="3000" dirty="0"/>
          </a:p>
        </p:txBody>
      </p:sp>
      <p:sp>
        <p:nvSpPr>
          <p:cNvPr id="16" name="Power stat 3 label"/>
          <p:cNvSpPr txBox="1"/>
          <p:nvPr/>
        </p:nvSpPr>
        <p:spPr>
          <a:xfrm>
            <a:off x="5897880" y="48554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Per unit, built from CFM56 cores</a:t>
            </a:r>
            <a:endParaRPr lang="en-US" sz="1300" dirty="0"/>
          </a:p>
        </p:txBody>
      </p:sp>
      <p:sp>
        <p:nvSpPr>
          <p:cNvPr id="17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with Power at zero, FTAI is cheap. Power is a free call option on top.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calls, GPS SOTP (FY27E EBITDA × segment multiples)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Returns Summary</a:t>
            </a:r>
            <a:endParaRPr lang="en-US" sz="3200" dirty="0"/>
          </a:p>
        </p:txBody>
      </p:sp>
      <p:sp>
        <p:nvSpPr>
          <p:cNvPr id="3" name="Headline banner"/>
          <p:cNvSpPr txBox="1"/>
          <p:nvPr/>
        </p:nvSpPr>
        <p:spPr>
          <a:xfrm>
            <a:off x="320040" y="1024128"/>
            <a:ext cx="8503920" cy="512064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Three under-priced drivers take a –41% bear baseline to +84% upside.</a:t>
            </a:r>
            <a:endParaRPr lang="en-US" sz="1700" dirty="0"/>
          </a:p>
        </p:txBody>
      </p:sp>
      <p:sp>
        <p:nvSpPr>
          <p:cNvPr id="4" name="Sub banner"/>
          <p:cNvSpPr txBox="1"/>
          <p:nvPr/>
        </p:nvSpPr>
        <p:spPr>
          <a:xfrm>
            <a:off x="320040" y="1627632"/>
            <a:ext cx="8503920" cy="38404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What Each Thesis Adds to the Target Price</a:t>
            </a:r>
            <a:endParaRPr lang="en-US" sz="1600" dirty="0"/>
          </a:p>
        </p:txBody>
      </p:sp>
      <p:sp>
        <p:nvSpPr>
          <p:cNvPr id="5" name="Thesis 1 box"/>
          <p:cNvSpPr txBox="1"/>
          <p:nvPr/>
        </p:nvSpPr>
        <p:spPr>
          <a:xfrm>
            <a:off x="320040" y="2176272"/>
            <a:ext cx="5623560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1a) Margins Have Bottomed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PMA parts, OEM-linked pricing and technician productivity lift Aerospace margins from ~30% to ~32.5% by FY31.</a:t>
            </a:r>
            <a:endParaRPr lang="en-US" sz="1500" dirty="0"/>
          </a:p>
        </p:txBody>
      </p:sp>
      <p:sp>
        <p:nvSpPr>
          <p:cNvPr id="6" name="Thesis 1 contribution"/>
          <p:cNvSpPr txBox="1"/>
          <p:nvPr/>
        </p:nvSpPr>
        <p:spPr>
          <a:xfrm>
            <a:off x="6583680" y="2176272"/>
            <a:ext cx="2240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+$36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+21% upside</a:t>
            </a:r>
            <a:endParaRPr lang="en-US" sz="1300" dirty="0"/>
          </a:p>
        </p:txBody>
      </p:sp>
      <p:sp>
        <p:nvSpPr>
          <p:cNvPr id="7" name="Thesis 2 box"/>
          <p:cNvSpPr txBox="1"/>
          <p:nvPr/>
        </p:nvSpPr>
        <p:spPr>
          <a:xfrm>
            <a:off x="320040" y="3145536"/>
            <a:ext cx="5623560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1b) Volume Grows With Share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capacity, OEMs moving to LEAP and faster turnaround lift FTAI's CFM56 module share from ~12% to 20% by FY30.</a:t>
            </a:r>
            <a:endParaRPr lang="en-US" sz="1500" dirty="0"/>
          </a:p>
        </p:txBody>
      </p:sp>
      <p:sp>
        <p:nvSpPr>
          <p:cNvPr id="8" name="Thesis 2 contribution"/>
          <p:cNvSpPr txBox="1"/>
          <p:nvPr/>
        </p:nvSpPr>
        <p:spPr>
          <a:xfrm>
            <a:off x="6583680" y="3145536"/>
            <a:ext cx="2240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+$57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+34% upside</a:t>
            </a:r>
            <a:endParaRPr lang="en-US" sz="1300" dirty="0"/>
          </a:p>
        </p:txBody>
      </p:sp>
      <p:sp>
        <p:nvSpPr>
          <p:cNvPr id="9" name="Thesis 3 box"/>
          <p:cNvSpPr txBox="1"/>
          <p:nvPr/>
        </p:nvSpPr>
        <p:spPr>
          <a:xfrm>
            <a:off x="320040" y="4114800"/>
            <a:ext cx="5623560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2) Power Is a Call Option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ramp from 45 units in FY27 to 110 by FY29 at ~40% EBITDA margins.</a:t>
            </a:r>
            <a:endParaRPr lang="en-US" sz="1500" dirty="0"/>
          </a:p>
        </p:txBody>
      </p:sp>
      <p:sp>
        <p:nvSpPr>
          <p:cNvPr id="10" name="Thesis 3 contribution"/>
          <p:cNvSpPr txBox="1"/>
          <p:nvPr/>
        </p:nvSpPr>
        <p:spPr>
          <a:xfrm>
            <a:off x="6583680" y="4114800"/>
            <a:ext cx="2240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+$116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+70% upside</a:t>
            </a:r>
            <a:endParaRPr lang="en-US" sz="1300" dirty="0"/>
          </a:p>
        </p:txBody>
      </p:sp>
      <p:sp>
        <p:nvSpPr>
          <p:cNvPr id="11" name="Chevron"/>
          <p:cNvSpPr/>
          <p:nvPr/>
        </p:nvSpPr>
        <p:spPr>
          <a:xfrm>
            <a:off x="6053328" y="2176272"/>
            <a:ext cx="420624" cy="2798064"/>
          </a:xfrm>
          <a:prstGeom prst="chevron">
            <a:avLst/>
          </a:prstGeom>
          <a:solidFill>
            <a:srgbClr val="DCD8D3"/>
          </a:solidFill>
          <a:ln/>
        </p:spPr>
      </p:sp>
      <p:sp>
        <p:nvSpPr>
          <p:cNvPr id="12" name="Baseline note"/>
          <p:cNvSpPr txBox="1"/>
          <p:nvPr/>
        </p:nvSpPr>
        <p:spPr>
          <a:xfrm>
            <a:off x="320040" y="512064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Bear baseline (Bear-case margins and share, no Power): $99 per share, 41% below today's $167.</a:t>
            </a:r>
            <a:endParaRPr lang="en-US" sz="1200" dirty="0"/>
          </a:p>
        </p:txBody>
      </p:sp>
      <p:sp>
        <p:nvSpPr>
          <p:cNvPr id="13" name="Base case bridge"/>
          <p:cNvSpPr txBox="1"/>
          <p:nvPr/>
        </p:nvSpPr>
        <p:spPr>
          <a:xfrm>
            <a:off x="320040" y="5468112"/>
            <a:ext cx="8503920" cy="512064"/>
          </a:xfrm>
          <a:prstGeom prst="rect">
            <a:avLst/>
          </a:prstGeom>
          <a:solidFill>
            <a:srgbClr val="EFEDEA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Base case: $99 + $36 margins + $57 volume + $116 Power = </a:t>
            </a:r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$308 target</a:t>
            </a:r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 (+84%)</a:t>
            </a:r>
            <a:endParaRPr lang="en-US" sz="1400" dirty="0"/>
          </a:p>
        </p:txBody>
      </p:sp>
      <p:sp>
        <p:nvSpPr>
          <p:cNvPr id="14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GPS model: thesis drivers switched Bear vs. Base (Power off = 0 units), Shapley average; blended DCF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Business Overview (1/2)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keeps the world's best-selling jet engine flying, and turns old ones into power.</a:t>
            </a:r>
            <a:endParaRPr lang="en-US" sz="1700" dirty="0"/>
          </a:p>
        </p:txBody>
      </p:sp>
      <p:pic>
        <p:nvPicPr>
          <p:cNvPr id="4" name="Aerospace Products illustration" descr="/home/user/SPOT/deck/img/cfm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2377440" cy="1344168"/>
          </a:xfrm>
          <a:prstGeom prst="rect">
            <a:avLst/>
          </a:prstGeom>
        </p:spPr>
      </p:pic>
      <p:sp>
        <p:nvSpPr>
          <p:cNvPr id="5" name="Aerospace Products name"/>
          <p:cNvSpPr txBox="1"/>
          <p:nvPr/>
        </p:nvSpPr>
        <p:spPr>
          <a:xfrm>
            <a:off x="320040" y="30358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Aerospace Products</a:t>
            </a:r>
            <a:endParaRPr lang="en-US" sz="1800" dirty="0"/>
          </a:p>
        </p:txBody>
      </p:sp>
      <p:sp>
        <p:nvSpPr>
          <p:cNvPr id="6" name="Aerospace Products description"/>
          <p:cNvSpPr txBox="1"/>
          <p:nvPr/>
        </p:nvSpPr>
        <p:spPr>
          <a:xfrm>
            <a:off x="320040" y="34290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Restores and swaps CFM56 engine modules, so airlines get engines back in days, not months.</a:t>
            </a:r>
            <a:endParaRPr lang="en-US" sz="1300" dirty="0"/>
          </a:p>
        </p:txBody>
      </p:sp>
      <p:sp>
        <p:nvSpPr>
          <p:cNvPr id="7" name="Aerospace Products stat"/>
          <p:cNvSpPr txBox="1"/>
          <p:nvPr/>
        </p:nvSpPr>
        <p:spPr>
          <a:xfrm>
            <a:off x="502920" y="4434840"/>
            <a:ext cx="228600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757 → 1,200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Modules, 2025 → 2026E</a:t>
            </a:r>
            <a:endParaRPr lang="en-US" sz="2200" dirty="0"/>
          </a:p>
        </p:txBody>
      </p:sp>
      <p:pic>
        <p:nvPicPr>
          <p:cNvPr id="8" name="FTAI Power illustration" descr="/home/user/SPOT/deck/img/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600200"/>
            <a:ext cx="2377440" cy="1344168"/>
          </a:xfrm>
          <a:prstGeom prst="rect">
            <a:avLst/>
          </a:prstGeom>
        </p:spPr>
      </p:pic>
      <p:sp>
        <p:nvSpPr>
          <p:cNvPr id="9" name="FTAI Power name"/>
          <p:cNvSpPr txBox="1"/>
          <p:nvPr/>
        </p:nvSpPr>
        <p:spPr>
          <a:xfrm>
            <a:off x="3246120" y="30358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FTAI Power</a:t>
            </a:r>
            <a:endParaRPr lang="en-US" sz="1800" dirty="0"/>
          </a:p>
        </p:txBody>
      </p:sp>
      <p:sp>
        <p:nvSpPr>
          <p:cNvPr id="10" name="FTAI Power description"/>
          <p:cNvSpPr txBox="1"/>
          <p:nvPr/>
        </p:nvSpPr>
        <p:spPr>
          <a:xfrm>
            <a:off x="3246120" y="34290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Converts CFM56 cores into 25 MW mobile gas turbines that power data centers.</a:t>
            </a:r>
            <a:endParaRPr lang="en-US" sz="1300" dirty="0"/>
          </a:p>
        </p:txBody>
      </p:sp>
      <p:sp>
        <p:nvSpPr>
          <p:cNvPr id="11" name="FTAI Power stat"/>
          <p:cNvSpPr txBox="1"/>
          <p:nvPr/>
        </p:nvSpPr>
        <p:spPr>
          <a:xfrm>
            <a:off x="3429000" y="4434840"/>
            <a:ext cx="228600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$450–750M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FY27 EBITDA guide</a:t>
            </a:r>
            <a:endParaRPr lang="en-US" sz="2200" dirty="0"/>
          </a:p>
        </p:txBody>
      </p:sp>
      <p:sp>
        <p:nvSpPr>
          <p:cNvPr id="12" name="Column divider 1"/>
          <p:cNvSpPr/>
          <p:nvPr/>
        </p:nvSpPr>
        <p:spPr>
          <a:xfrm>
            <a:off x="3108960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pic>
        <p:nvPicPr>
          <p:cNvPr id="13" name="Leasing + SCI illustration" descr="/home/user/SPOT/deck/img/aircra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2377440" cy="1344168"/>
          </a:xfrm>
          <a:prstGeom prst="rect">
            <a:avLst/>
          </a:prstGeom>
        </p:spPr>
      </p:pic>
      <p:sp>
        <p:nvSpPr>
          <p:cNvPr id="14" name="Leasing + SCI name"/>
          <p:cNvSpPr txBox="1"/>
          <p:nvPr/>
        </p:nvSpPr>
        <p:spPr>
          <a:xfrm>
            <a:off x="6172200" y="30358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Leasing + SCI</a:t>
            </a:r>
            <a:endParaRPr lang="en-US" sz="1800" dirty="0"/>
          </a:p>
        </p:txBody>
      </p:sp>
      <p:sp>
        <p:nvSpPr>
          <p:cNvPr id="15" name="Leasing + SCI description"/>
          <p:cNvSpPr txBox="1"/>
          <p:nvPr/>
        </p:nvSpPr>
        <p:spPr>
          <a:xfrm>
            <a:off x="6172200" y="34290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Leases jets and engines. The SCI partnership buys mid-life jets and sends all engine work to FTAI.</a:t>
            </a:r>
            <a:endParaRPr lang="en-US" sz="1300" dirty="0"/>
          </a:p>
        </p:txBody>
      </p:sp>
      <p:sp>
        <p:nvSpPr>
          <p:cNvPr id="16" name="Leasing + SCI stat"/>
          <p:cNvSpPr txBox="1"/>
          <p:nvPr/>
        </p:nvSpPr>
        <p:spPr>
          <a:xfrm>
            <a:off x="6355080" y="4434840"/>
            <a:ext cx="228600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316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aircraft, YE26E</a:t>
            </a:r>
            <a:endParaRPr lang="en-US" sz="2200" dirty="0"/>
          </a:p>
        </p:txBody>
      </p:sp>
      <p:sp>
        <p:nvSpPr>
          <p:cNvPr id="17" name="Column divider 2"/>
          <p:cNvSpPr/>
          <p:nvPr/>
        </p:nvSpPr>
        <p:spPr>
          <a:xfrm>
            <a:off x="6035040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8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One engine, three ways to earn: fix it, power with it, and own the planes it flies 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calls, GPS model. Illustrations are schematic.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Business Overview (2/2)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swaps worn modules for restored ones from its own pool, so airlines skip the shop queue.</a:t>
            </a:r>
            <a:endParaRPr lang="en-US" sz="1700" dirty="0"/>
          </a:p>
        </p:txBody>
      </p:sp>
      <p:sp>
        <p:nvSpPr>
          <p:cNvPr id="4" name="Loop header"/>
          <p:cNvSpPr txBox="1"/>
          <p:nvPr/>
        </p:nvSpPr>
        <p:spPr>
          <a:xfrm>
            <a:off x="32004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How an Exchange Works</a:t>
            </a:r>
            <a:endParaRPr lang="en-US" sz="1600" dirty="0"/>
          </a:p>
        </p:txBody>
      </p:sp>
      <p:sp>
        <p:nvSpPr>
          <p:cNvPr id="5" name="Loop header rule"/>
          <p:cNvSpPr/>
          <p:nvPr/>
        </p:nvSpPr>
        <p:spPr>
          <a:xfrm>
            <a:off x="320040" y="1975104"/>
            <a:ext cx="39319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" name="Loop ring"/>
          <p:cNvSpPr/>
          <p:nvPr/>
        </p:nvSpPr>
        <p:spPr>
          <a:xfrm>
            <a:off x="914400" y="2514600"/>
            <a:ext cx="2743200" cy="2231136"/>
          </a:xfrm>
          <a:prstGeom prst="ellipse">
            <a:avLst/>
          </a:prstGeom>
          <a:ln w="38100">
            <a:solidFill>
              <a:srgbClr val="B5AEA9"/>
            </a:solidFill>
            <a:prstDash val="solid"/>
          </a:ln>
        </p:spPr>
      </p:sp>
      <p:sp>
        <p:nvSpPr>
          <p:cNvPr id="7" name="Loop arrow 1"/>
          <p:cNvSpPr/>
          <p:nvPr/>
        </p:nvSpPr>
        <p:spPr>
          <a:xfrm rot="8100000">
            <a:off x="3146140" y="2731614"/>
            <a:ext cx="219456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8" name="Loop arrow 2"/>
          <p:cNvSpPr/>
          <p:nvPr/>
        </p:nvSpPr>
        <p:spPr>
          <a:xfrm rot="13500000">
            <a:off x="3146140" y="4309266"/>
            <a:ext cx="219456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9" name="Loop arrow 3"/>
          <p:cNvSpPr/>
          <p:nvPr/>
        </p:nvSpPr>
        <p:spPr>
          <a:xfrm rot="18900000">
            <a:off x="1206404" y="4309266"/>
            <a:ext cx="219456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0" name="Loop arrow 4"/>
          <p:cNvSpPr/>
          <p:nvPr/>
        </p:nvSpPr>
        <p:spPr>
          <a:xfrm rot="2700000">
            <a:off x="1206404" y="2731614"/>
            <a:ext cx="219456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1" name="Module pool"/>
          <p:cNvSpPr/>
          <p:nvPr/>
        </p:nvSpPr>
        <p:spPr>
          <a:xfrm>
            <a:off x="1783080" y="3127248"/>
            <a:ext cx="1005840" cy="100584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pool</a:t>
            </a:r>
            <a:endParaRPr lang="en-US" sz="1300" dirty="0"/>
          </a:p>
        </p:txBody>
      </p:sp>
      <p:sp>
        <p:nvSpPr>
          <p:cNvPr id="12" name="Loop step 1"/>
          <p:cNvSpPr txBox="1"/>
          <p:nvPr/>
        </p:nvSpPr>
        <p:spPr>
          <a:xfrm>
            <a:off x="1682496" y="2148840"/>
            <a:ext cx="1207008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needs a shop visit</a:t>
            </a:r>
            <a:endParaRPr lang="en-US" sz="1200" dirty="0"/>
          </a:p>
        </p:txBody>
      </p:sp>
      <p:sp>
        <p:nvSpPr>
          <p:cNvPr id="13" name="Loop step 1 number"/>
          <p:cNvSpPr/>
          <p:nvPr/>
        </p:nvSpPr>
        <p:spPr>
          <a:xfrm>
            <a:off x="1499616" y="1965960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Loop step 2"/>
          <p:cNvSpPr txBox="1"/>
          <p:nvPr/>
        </p:nvSpPr>
        <p:spPr>
          <a:xfrm>
            <a:off x="3054096" y="3264408"/>
            <a:ext cx="1207008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swaps in a restored module</a:t>
            </a:r>
            <a:endParaRPr lang="en-US" sz="1200" dirty="0"/>
          </a:p>
        </p:txBody>
      </p:sp>
      <p:sp>
        <p:nvSpPr>
          <p:cNvPr id="15" name="Loop step 2 number"/>
          <p:cNvSpPr/>
          <p:nvPr/>
        </p:nvSpPr>
        <p:spPr>
          <a:xfrm>
            <a:off x="2871216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Loop step 3"/>
          <p:cNvSpPr txBox="1"/>
          <p:nvPr/>
        </p:nvSpPr>
        <p:spPr>
          <a:xfrm>
            <a:off x="1682496" y="4379976"/>
            <a:ext cx="1207008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back in service in days</a:t>
            </a:r>
            <a:endParaRPr lang="en-US" sz="1200" dirty="0"/>
          </a:p>
        </p:txBody>
      </p:sp>
      <p:sp>
        <p:nvSpPr>
          <p:cNvPr id="17" name="Loop step 3 number"/>
          <p:cNvSpPr/>
          <p:nvPr/>
        </p:nvSpPr>
        <p:spPr>
          <a:xfrm>
            <a:off x="1499616" y="4197096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Loop step 4"/>
          <p:cNvSpPr txBox="1"/>
          <p:nvPr/>
        </p:nvSpPr>
        <p:spPr>
          <a:xfrm>
            <a:off x="310896" y="3264408"/>
            <a:ext cx="1207008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Worn module restored for the pool</a:t>
            </a:r>
            <a:endParaRPr lang="en-US" sz="1200" dirty="0"/>
          </a:p>
        </p:txBody>
      </p:sp>
      <p:sp>
        <p:nvSpPr>
          <p:cNvPr id="19" name="Loop step 4 number"/>
          <p:cNvSpPr/>
          <p:nvPr/>
        </p:nvSpPr>
        <p:spPr>
          <a:xfrm>
            <a:off x="128016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Factory header"/>
          <p:cNvSpPr txBox="1"/>
          <p:nvPr/>
        </p:nvSpPr>
        <p:spPr>
          <a:xfrm>
            <a:off x="4526280" y="15544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 Pays: The Module Factory</a:t>
            </a:r>
            <a:endParaRPr lang="en-US" sz="1600" dirty="0"/>
          </a:p>
        </p:txBody>
      </p:sp>
      <p:sp>
        <p:nvSpPr>
          <p:cNvPr id="21" name="Factory header rule"/>
          <p:cNvSpPr/>
          <p:nvPr/>
        </p:nvSpPr>
        <p:spPr>
          <a:xfrm>
            <a:off x="4526280" y="1975104"/>
            <a:ext cx="429768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22" name="Before label"/>
          <p:cNvSpPr txBox="1"/>
          <p:nvPr/>
        </p:nvSpPr>
        <p:spPr>
          <a:xfrm>
            <a:off x="4526280" y="2011680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3 worn engines in</a:t>
            </a:r>
            <a:endParaRPr lang="en-US" sz="1300" dirty="0"/>
          </a:p>
        </p:txBody>
      </p:sp>
      <p:sp>
        <p:nvSpPr>
          <p:cNvPr id="23" name="Before engine 1 value"/>
          <p:cNvSpPr txBox="1"/>
          <p:nvPr/>
        </p:nvSpPr>
        <p:spPr>
          <a:xfrm>
            <a:off x="4526280" y="23957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24" name="Before engine 1 module 1"/>
          <p:cNvSpPr/>
          <p:nvPr/>
        </p:nvSpPr>
        <p:spPr>
          <a:xfrm>
            <a:off x="5221224" y="2395728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25" name="Before engine 1 module 2"/>
          <p:cNvSpPr/>
          <p:nvPr/>
        </p:nvSpPr>
        <p:spPr>
          <a:xfrm>
            <a:off x="5641848" y="2395728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26" name="Before engine 1 module 3"/>
          <p:cNvSpPr/>
          <p:nvPr/>
        </p:nvSpPr>
        <p:spPr>
          <a:xfrm>
            <a:off x="6062472" y="2395728"/>
            <a:ext cx="365760" cy="365760"/>
          </a:xfrm>
          <a:prstGeom prst="rect">
            <a:avLst/>
          </a:prstGeom>
          <a:solidFill>
            <a:srgbClr val="B5AEA9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C58"/>
                </a:solidFill>
              </a:rPr>
              <a:t>4k</a:t>
            </a:r>
            <a:endParaRPr lang="en-US" sz="1100" dirty="0"/>
          </a:p>
        </p:txBody>
      </p:sp>
      <p:sp>
        <p:nvSpPr>
          <p:cNvPr id="27" name="Before engine 2 value"/>
          <p:cNvSpPr txBox="1"/>
          <p:nvPr/>
        </p:nvSpPr>
        <p:spPr>
          <a:xfrm>
            <a:off x="4526280" y="3108960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$2.5M</a:t>
            </a:r>
            <a:endParaRPr lang="en-US" sz="1400" dirty="0"/>
          </a:p>
        </p:txBody>
      </p:sp>
      <p:sp>
        <p:nvSpPr>
          <p:cNvPr id="28" name="Before engine 2 module 1"/>
          <p:cNvSpPr/>
          <p:nvPr/>
        </p:nvSpPr>
        <p:spPr>
          <a:xfrm>
            <a:off x="5221224" y="3108960"/>
            <a:ext cx="365760" cy="365760"/>
          </a:xfrm>
          <a:prstGeom prst="rect">
            <a:avLst/>
          </a:prstGeom>
          <a:solidFill>
            <a:srgbClr val="B5AEA9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C58"/>
                </a:solidFill>
              </a:rPr>
              <a:t>4k</a:t>
            </a:r>
            <a:endParaRPr lang="en-US" sz="1100" dirty="0"/>
          </a:p>
        </p:txBody>
      </p:sp>
      <p:sp>
        <p:nvSpPr>
          <p:cNvPr id="29" name="Before engine 2 module 2"/>
          <p:cNvSpPr/>
          <p:nvPr/>
        </p:nvSpPr>
        <p:spPr>
          <a:xfrm>
            <a:off x="5641848" y="3108960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0" name="Before engine 2 module 3"/>
          <p:cNvSpPr/>
          <p:nvPr/>
        </p:nvSpPr>
        <p:spPr>
          <a:xfrm>
            <a:off x="6062472" y="3108960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1" name="Before engine 3 value"/>
          <p:cNvSpPr txBox="1"/>
          <p:nvPr/>
        </p:nvSpPr>
        <p:spPr>
          <a:xfrm>
            <a:off x="4526280" y="3822192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32" name="Before engine 3 module 1"/>
          <p:cNvSpPr/>
          <p:nvPr/>
        </p:nvSpPr>
        <p:spPr>
          <a:xfrm>
            <a:off x="5221224" y="3822192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3" name="Before engine 3 module 2"/>
          <p:cNvSpPr/>
          <p:nvPr/>
        </p:nvSpPr>
        <p:spPr>
          <a:xfrm>
            <a:off x="5641848" y="3822192"/>
            <a:ext cx="365760" cy="365760"/>
          </a:xfrm>
          <a:prstGeom prst="rect">
            <a:avLst/>
          </a:prstGeom>
          <a:solidFill>
            <a:srgbClr val="B5AEA9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C58"/>
                </a:solidFill>
              </a:rPr>
              <a:t>4k</a:t>
            </a:r>
            <a:endParaRPr lang="en-US" sz="1100" dirty="0"/>
          </a:p>
        </p:txBody>
      </p:sp>
      <p:sp>
        <p:nvSpPr>
          <p:cNvPr id="34" name="Before engine 3 module 3"/>
          <p:cNvSpPr/>
          <p:nvPr/>
        </p:nvSpPr>
        <p:spPr>
          <a:xfrm>
            <a:off x="6062472" y="3822192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5" name="Before Fan caption"/>
          <p:cNvSpPr txBox="1"/>
          <p:nvPr/>
        </p:nvSpPr>
        <p:spPr>
          <a:xfrm>
            <a:off x="5175504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36" name="Before Core caption"/>
          <p:cNvSpPr txBox="1"/>
          <p:nvPr/>
        </p:nvSpPr>
        <p:spPr>
          <a:xfrm>
            <a:off x="5596128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37" name="Before LPT caption"/>
          <p:cNvSpPr txBox="1"/>
          <p:nvPr/>
        </p:nvSpPr>
        <p:spPr>
          <a:xfrm>
            <a:off x="6016752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38" name="After label"/>
          <p:cNvSpPr txBox="1"/>
          <p:nvPr/>
        </p:nvSpPr>
        <p:spPr>
          <a:xfrm>
            <a:off x="6922008" y="2011680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Engines out</a:t>
            </a:r>
            <a:endParaRPr lang="en-US" sz="1300" dirty="0"/>
          </a:p>
        </p:txBody>
      </p:sp>
      <p:sp>
        <p:nvSpPr>
          <p:cNvPr id="39" name="After engine 1 value"/>
          <p:cNvSpPr txBox="1"/>
          <p:nvPr/>
        </p:nvSpPr>
        <p:spPr>
          <a:xfrm>
            <a:off x="6922008" y="23957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$8.5M</a:t>
            </a:r>
            <a:endParaRPr lang="en-US" sz="1400" dirty="0"/>
          </a:p>
        </p:txBody>
      </p:sp>
      <p:sp>
        <p:nvSpPr>
          <p:cNvPr id="40" name="After engine 1 module 1"/>
          <p:cNvSpPr/>
          <p:nvPr/>
        </p:nvSpPr>
        <p:spPr>
          <a:xfrm>
            <a:off x="7616952" y="2395728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1" name="After engine 1 module 2"/>
          <p:cNvSpPr/>
          <p:nvPr/>
        </p:nvSpPr>
        <p:spPr>
          <a:xfrm>
            <a:off x="8037576" y="2395728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2" name="After engine 1 module 3"/>
          <p:cNvSpPr/>
          <p:nvPr/>
        </p:nvSpPr>
        <p:spPr>
          <a:xfrm>
            <a:off x="8458200" y="2395728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3" name="After engine 2 value"/>
          <p:cNvSpPr txBox="1"/>
          <p:nvPr/>
        </p:nvSpPr>
        <p:spPr>
          <a:xfrm>
            <a:off x="6922008" y="3108960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$6.0M</a:t>
            </a:r>
            <a:endParaRPr lang="en-US" sz="1400" dirty="0"/>
          </a:p>
        </p:txBody>
      </p:sp>
      <p:sp>
        <p:nvSpPr>
          <p:cNvPr id="44" name="After engine 2 module 1"/>
          <p:cNvSpPr/>
          <p:nvPr/>
        </p:nvSpPr>
        <p:spPr>
          <a:xfrm>
            <a:off x="7616952" y="3108960"/>
            <a:ext cx="365760" cy="365760"/>
          </a:xfrm>
          <a:prstGeom prst="rect">
            <a:avLst/>
          </a:prstGeom>
          <a:solidFill>
            <a:srgbClr val="B5AEA9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C58"/>
                </a:solidFill>
              </a:rPr>
              <a:t>4k</a:t>
            </a:r>
            <a:endParaRPr lang="en-US" sz="1100" dirty="0"/>
          </a:p>
        </p:txBody>
      </p:sp>
      <p:sp>
        <p:nvSpPr>
          <p:cNvPr id="45" name="After engine 2 module 2"/>
          <p:cNvSpPr/>
          <p:nvPr/>
        </p:nvSpPr>
        <p:spPr>
          <a:xfrm>
            <a:off x="8037576" y="3108960"/>
            <a:ext cx="365760" cy="365760"/>
          </a:xfrm>
          <a:prstGeom prst="rect">
            <a:avLst/>
          </a:prstGeom>
          <a:solidFill>
            <a:srgbClr val="B5AEA9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C58"/>
                </a:solidFill>
              </a:rPr>
              <a:t>4k</a:t>
            </a:r>
            <a:endParaRPr lang="en-US" sz="1100" dirty="0"/>
          </a:p>
        </p:txBody>
      </p:sp>
      <p:sp>
        <p:nvSpPr>
          <p:cNvPr id="46" name="After engine 2 module 3"/>
          <p:cNvSpPr/>
          <p:nvPr/>
        </p:nvSpPr>
        <p:spPr>
          <a:xfrm>
            <a:off x="8458200" y="3108960"/>
            <a:ext cx="365760" cy="365760"/>
          </a:xfrm>
          <a:prstGeom prst="rect">
            <a:avLst/>
          </a:prstGeom>
          <a:solidFill>
            <a:srgbClr val="B5AEA9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C58"/>
                </a:solidFill>
              </a:rPr>
              <a:t>4k</a:t>
            </a:r>
            <a:endParaRPr lang="en-US" sz="1100" dirty="0"/>
          </a:p>
        </p:txBody>
      </p:sp>
      <p:sp>
        <p:nvSpPr>
          <p:cNvPr id="47" name="After engine 3 value"/>
          <p:cNvSpPr txBox="1"/>
          <p:nvPr/>
        </p:nvSpPr>
        <p:spPr>
          <a:xfrm>
            <a:off x="6922008" y="3822192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$1.5M</a:t>
            </a:r>
            <a:endParaRPr lang="en-US" sz="1400" dirty="0"/>
          </a:p>
        </p:txBody>
      </p:sp>
      <p:sp>
        <p:nvSpPr>
          <p:cNvPr id="48" name="After engine 3 module 1"/>
          <p:cNvSpPr/>
          <p:nvPr/>
        </p:nvSpPr>
        <p:spPr>
          <a:xfrm>
            <a:off x="7616952" y="3822192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49" name="After engine 3 module 2"/>
          <p:cNvSpPr/>
          <p:nvPr/>
        </p:nvSpPr>
        <p:spPr>
          <a:xfrm>
            <a:off x="8037576" y="3822192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0" name="After engine 3 module 3"/>
          <p:cNvSpPr/>
          <p:nvPr/>
        </p:nvSpPr>
        <p:spPr>
          <a:xfrm>
            <a:off x="8458200" y="3822192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1" name="After Fan caption"/>
          <p:cNvSpPr txBox="1"/>
          <p:nvPr/>
        </p:nvSpPr>
        <p:spPr>
          <a:xfrm>
            <a:off x="7571232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52" name="After Core caption"/>
          <p:cNvSpPr txBox="1"/>
          <p:nvPr/>
        </p:nvSpPr>
        <p:spPr>
          <a:xfrm>
            <a:off x="7991856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53" name="After LPT caption"/>
          <p:cNvSpPr txBox="1"/>
          <p:nvPr/>
        </p:nvSpPr>
        <p:spPr>
          <a:xfrm>
            <a:off x="8412480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54" name="Factory arrow"/>
          <p:cNvSpPr/>
          <p:nvPr/>
        </p:nvSpPr>
        <p:spPr>
          <a:xfrm>
            <a:off x="6492240" y="3108960"/>
            <a:ext cx="365760" cy="329184"/>
          </a:xfrm>
          <a:prstGeom prst="rightArrow">
            <a:avLst/>
          </a:prstGeom>
          <a:solidFill>
            <a:srgbClr val="847C7A"/>
          </a:solidFill>
          <a:ln/>
        </p:spPr>
      </p:sp>
      <p:sp>
        <p:nvSpPr>
          <p:cNvPr id="55" name="Before total"/>
          <p:cNvSpPr txBox="1"/>
          <p:nvPr/>
        </p:nvSpPr>
        <p:spPr>
          <a:xfrm>
            <a:off x="4526280" y="4645152"/>
            <a:ext cx="1901952" cy="65836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$6.5M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engines + $3.5M of work</a:t>
            </a:r>
            <a:endParaRPr lang="en-US" sz="1800" dirty="0"/>
          </a:p>
        </p:txBody>
      </p:sp>
      <p:sp>
        <p:nvSpPr>
          <p:cNvPr id="56" name="After total"/>
          <p:cNvSpPr txBox="1"/>
          <p:nvPr/>
        </p:nvSpPr>
        <p:spPr>
          <a:xfrm>
            <a:off x="6922008" y="4645152"/>
            <a:ext cx="1901952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$16.0M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+$6.0M of value created</a:t>
            </a:r>
            <a:endParaRPr lang="en-US" sz="1800" dirty="0"/>
          </a:p>
        </p:txBody>
      </p:sp>
      <p:sp>
        <p:nvSpPr>
          <p:cNvPr id="57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FTAI sells speed to airlines and harvests cycles from engines no one else can use.</a:t>
            </a:r>
            <a:endParaRPr lang="en-US" sz="1700" dirty="0"/>
          </a:p>
        </p:txBody>
      </p:sp>
      <p:sp>
        <p:nvSpPr>
          <p:cNvPr id="58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investor materials (Module Factory example),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bal Platinum Securities">
  <a:themeElements>
    <a:clrScheme name="Global Platinum Securities">
      <a:dk1>
        <a:srgbClr val="1A1A1A"/>
      </a:dk1>
      <a:lt1>
        <a:srgbClr val="FFFFFF"/>
      </a:lt1>
      <a:dk2>
        <a:srgbClr val="0A1C58"/>
      </a:dk2>
      <a:lt2>
        <a:srgbClr val="EFEDEA"/>
      </a:lt2>
      <a:accent1>
        <a:srgbClr val="0A1C58"/>
      </a:accent1>
      <a:accent2>
        <a:srgbClr val="847C7A"/>
      </a:accent2>
      <a:accent3>
        <a:srgbClr val="DCD8D3"/>
      </a:accent3>
      <a:accent4>
        <a:srgbClr val="3B4C82"/>
      </a:accent4>
      <a:accent5>
        <a:srgbClr val="B5AEA9"/>
      </a:accent5>
      <a:accent6>
        <a:srgbClr val="5A5350"/>
      </a:accent6>
      <a:hlink>
        <a:srgbClr val="0A1C58"/>
      </a:hlink>
      <a:folHlink>
        <a:srgbClr val="847C7A"/>
      </a:folHlink>
    </a:clrScheme>
    <a:fontScheme name="Global Platinum Securities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— Long Recommendation</dc:title>
  <dc:subject>PptxGenJS Presentation</dc:subject>
  <dc:creator>PptxGenJS</dc:creator>
  <cp:lastModifiedBy>PptxGenJS</cp:lastModifiedBy>
  <cp:revision>1</cp:revision>
  <dcterms:created xsi:type="dcterms:W3CDTF">2026-10-08T22:06:59Z</dcterms:created>
  <dcterms:modified xsi:type="dcterms:W3CDTF">2026-10-08T22:06:59Z</dcterms:modified>
</cp:coreProperties>
</file>