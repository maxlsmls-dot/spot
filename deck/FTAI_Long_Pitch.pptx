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5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ea9aeb0-2473-62f1-967e-d5865db448c2}">
          <p14:sldIdLst>
            <p14:sldId id="256"/>
          </p14:sldIdLst>
        </p14:section>
        <p14:section name="The Opportunity" id="{723cb768-d8de-c206-4ef2-9592fe755cb6}">
          <p14:sldIdLst>
            <p14:sldId id="257"/>
            <p14:sldId id="258"/>
            <p14:sldId id="259"/>
            <p14:sldId id="260"/>
          </p14:sldIdLst>
        </p14:section>
        <p14:section name="Returns" id="{0f6ed5fc-fd97-c2e9-5a75-7da97f464003}">
          <p14:sldIdLst>
            <p14:sldId id="261"/>
          </p14:sldIdLst>
        </p14:section>
        <p14:section name="Business Overview" id="{11af9113-743b-7b86-3eb3-9479bc32b528}">
          <p14:sldIdLst>
            <p14:sldId id="262"/>
            <p14:sldId id="263"/>
          </p14:sldIdLst>
        </p14:section>
        <p14:section name="Thesis 1a" id="{a79774b9-1c27-f43d-5ad1-4f5b461c6faf}">
          <p14:sldIdLst>
            <p14:sldId id="264"/>
            <p14:sldId id="265"/>
            <p14:sldId id="266"/>
            <p14:sldId id="267"/>
          </p14:sldIdLst>
        </p14:section>
        <p14:section name="Thesis 1b" id="{1be25d6e-5171-7a32-3387-05f965616c5a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hesis 2" id="{1268598f-87fc-836f-06b8-097b1f9e9fed}">
          <p14:sldIdLst>
            <p14:sldId id="275"/>
            <p14:sldId id="276"/>
            <p14:sldId id="277"/>
            <p14:sldId id="278"/>
          </p14:sldIdLst>
        </p14:section>
        <p14:section name="Valuation" id="{781f6cda-3296-db9d-06ae-73f21b5283bf}">
          <p14:sldIdLst>
            <p14:sldId id="279"/>
            <p14:sldId id="280"/>
          </p14:sldIdLst>
        </p14:section>
        <p14:section name="Catalysts" id="{613f2330-4c54-c09d-58fb-008698eaef8d}">
          <p14:sldIdLst>
            <p14:sldId id="281"/>
          </p14:sldIdLst>
        </p14:section>
        <p14:section name="Risks" id="{e7fa3d33-3ad8-6028-50ab-7229bd717762}">
          <p14:sldIdLst>
            <p14:sldId id="282"/>
          </p14:sldIdLst>
        </p14:section>
        <p14:section name="Q&amp;A" id="{74d77183-e4f5-8e9c-7c48-a96265427dbf}">
          <p14:sldIdLst>
            <p14:sldId id="283"/>
          </p14:sldIdLst>
        </p14:section>
        <p14:section name="Appendix" id="{08c466c9-e470-56d4-a1c9-7e71a9ba7812}">
          <p14:sldIdLst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167</c:v>
                </c:pt>
                <c:pt idx="2">
                  <c:v>171.9</c:v>
                </c:pt>
                <c:pt idx="3">
                  <c:v>188.9</c:v>
                </c:pt>
                <c:pt idx="4">
                  <c:v>221.6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4.8</c:v>
                </c:pt>
                <c:pt idx="2">
                  <c:v>17</c:v>
                </c:pt>
                <c:pt idx="3">
                  <c:v>32.7</c:v>
                </c:pt>
                <c:pt idx="4">
                  <c:v>55.1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731502" y="2148840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3194224" y="2907792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731502" y="3227832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3194224" y="3986784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731502" y="4306824"/>
            <a:ext cx="5486263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Readings header"/>
          <p:cNvSpPr txBox="1"/>
          <p:nvPr/>
        </p:nvSpPr>
        <p:spPr>
          <a:xfrm>
            <a:off x="7010225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2" name="Readings header rule"/>
          <p:cNvSpPr/>
          <p:nvPr/>
        </p:nvSpPr>
        <p:spPr>
          <a:xfrm>
            <a:off x="7010225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3" name="Management reading"/>
          <p:cNvSpPr txBox="1"/>
          <p:nvPr/>
        </p:nvSpPr>
        <p:spPr>
          <a:xfrm>
            <a:off x="7010225" y="2148840"/>
            <a:ext cx="4754761" cy="13258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Management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→ Temporary: margins recover</a:t>
            </a:r>
            <a:endParaRPr lang="en-US" sz="1500" dirty="0"/>
          </a:p>
        </p:txBody>
      </p:sp>
      <p:sp>
        <p:nvSpPr>
          <p:cNvPr id="14" name="The Bears reading"/>
          <p:cNvSpPr txBox="1"/>
          <p:nvPr/>
        </p:nvSpPr>
        <p:spPr>
          <a:xfrm>
            <a:off x="7010225" y="3721608"/>
            <a:ext cx="4754761" cy="13258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The Bears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→ Structural: margins keep falling</a:t>
            </a:r>
            <a:endParaRPr lang="en-US" sz="1500" dirty="0"/>
          </a:p>
        </p:txBody>
      </p:sp>
      <p:sp>
        <p:nvSpPr>
          <p:cNvPr id="15" name="Readings vs"/>
          <p:cNvSpPr txBox="1"/>
          <p:nvPr/>
        </p:nvSpPr>
        <p:spPr>
          <a:xfrm>
            <a:off x="8960896" y="3474720"/>
            <a:ext cx="85341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+$17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+10%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+$33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+$55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+33%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case (bear margins and share, no Power) is worth $172 on our SOTP, just above today's $167.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$5 to bear value + $17 margins + $33 volume + $55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633968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1853138" y="291759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072307" y="2781109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+$17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4291477" y="2518579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+$33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5510646" y="207621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+$55</a:t>
            </a:r>
            <a:endParaRPr lang="en-US" sz="1300" dirty="0"/>
          </a:p>
        </p:txBody>
      </p:sp>
      <p:sp>
        <p:nvSpPr>
          <p:cNvPr id="12" name="Waterfall label 6"/>
          <p:cNvSpPr txBox="1"/>
          <p:nvPr/>
        </p:nvSpPr>
        <p:spPr>
          <a:xfrm>
            <a:off x="6729816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3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4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6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$50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7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$55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Get the aviation theses right and you make 33%. Power on just the signed order takes it to 66%.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2026-10-09T01:18:35Z</dcterms:created>
  <dcterms:modified xsi:type="dcterms:W3CDTF">2026-10-09T01:18:35Z</dcterms:modified>
</cp:coreProperties>
</file>