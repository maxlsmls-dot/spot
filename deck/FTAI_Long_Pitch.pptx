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4.xml" ContentType="application/vnd.openxmlformats-officedocument.drawingml.chart+xml"/>
  <Override PartName="/ppt/charts/chart5.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charts/chart9.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d49411df-28c9-f923-f4da-2cbe4ecb29ef}">
          <p14:sldIdLst>
            <p14:sldId id="256"/>
          </p14:sldIdLst>
        </p14:section>
        <p14:section name="The Opportunity" id="{6a6bacb4-3b9b-d437-756a-a04a457fafdf}">
          <p14:sldIdLst>
            <p14:sldId id="257"/>
            <p14:sldId id="258"/>
            <p14:sldId id="259"/>
            <p14:sldId id="260"/>
          </p14:sldIdLst>
        </p14:section>
        <p14:section name="Returns" id="{c6055543-e0f4-1267-d3f8-3aca399c7631}">
          <p14:sldIdLst>
            <p14:sldId id="261"/>
          </p14:sldIdLst>
        </p14:section>
        <p14:section name="Business Overview" id="{2967d547-b784-5d1f-d2c4-a411a339aee1}">
          <p14:sldIdLst>
            <p14:sldId id="262"/>
            <p14:sldId id="263"/>
          </p14:sldIdLst>
        </p14:section>
        <p14:section name="Thesis 1a" id="{1d725cb6-be0b-32f5-8152-7b20bcfcffb0}">
          <p14:sldIdLst>
            <p14:sldId id="264"/>
            <p14:sldId id="265"/>
            <p14:sldId id="266"/>
            <p14:sldId id="26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_rels/chart11.xml.rels><?xml version="1.0" encoding="UTF-8" standalone="yes"?><Relationships xmlns="http://schemas.openxmlformats.org/package/2006/relationships"><Relationship Id="rId1" Type="http://schemas.openxmlformats.org/officeDocument/2006/relationships/package" Target="../embeddings/Microsoft_Excel_Worksheet11.xlsx"/></Relationships>
</file>

<file path=ppt/charts/_rels/chart12.xml.rels><?xml version="1.0" encoding="UTF-8" standalone="yes"?><Relationships xmlns="http://schemas.openxmlformats.org/package/2006/relationships"><Relationship Id="rId1" Type="http://schemas.openxmlformats.org/officeDocument/2006/relationships/package" Target="../embeddings/Microsoft_Excel_Worksheet1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Sheet1!$B$2:$B$9</c:f>
              <c:numCache>
                <c:formatCode>General</c:formatCode>
                <c:ptCount val="8"/>
                <c:pt idx="0">
                  <c:v>0.359</c:v>
                </c:pt>
                <c:pt idx="1">
                  <c:v>0.336</c:v>
                </c:pt>
                <c:pt idx="2">
                  <c:v>0.348</c:v>
                </c:pt>
                <c:pt idx="3">
                  <c:v>0.346</c:v>
                </c:pt>
                <c:pt idx="4">
                  <c:v>0.299</c:v>
                </c:pt>
                <c:pt idx="5">
                  <c:v>0.285</c:v>
                </c:pt>
                <c:pt idx="6">
                  <c:v/>
                </c:pt>
                <c:pt idx="7">
                  <c:v/>
                </c:pt>
              </c:numCache>
            </c:numRef>
          </c:val>
        </c:ser>
        <c:ser>
          <c:idx val="1"/>
          <c:order val="1"/>
          <c:tx>
            <c:strRef>
              <c:f>Sheet1!$C$1</c:f>
              <c:strCache>
                <c:ptCount val="1"/>
                <c:pt idx="0">
                  <c:v>Mgmt. guide</c:v>
                </c:pt>
              </c:strCache>
            </c:strRef>
          </c:tx>
          <c:spPr>
            <a:solidFill>
              <a:srgbClr val="B5AEA9"/>
            </a:solidFill>
            <a:effectLst/>
          </c:spPr>
          <c:invertIfNegative val="0"/>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Sheet1!$A$2:$A$9</c:f>
              <c:multiLvlStrCache>
                <c:ptCount val="8"/>
                <c:lvl>
                  <c:pt idx="0">
                    <c:v>Q1'25</c:v>
                  </c:pt>
                  <c:pt idx="1">
                    <c:v>Q2'25</c:v>
                  </c:pt>
                  <c:pt idx="2">
                    <c:v>Q3'25</c:v>
                  </c:pt>
                  <c:pt idx="3">
                    <c:v>Q4'25</c:v>
                  </c:pt>
                  <c:pt idx="4">
                    <c:v>Q1'26</c:v>
                  </c:pt>
                  <c:pt idx="5">
                    <c:v>Q2'26</c:v>
                  </c:pt>
                  <c:pt idx="6">
                    <c:v>FY26E</c:v>
                  </c:pt>
                  <c:pt idx="7">
                    <c:v>FY27E</c:v>
                  </c:pt>
                </c:lvl>
              </c:multiLvlStrCache>
            </c:multiLvlStrRef>
          </c:cat>
          <c:val>
            <c:numRef>
              <c:f>Sheet1!$C$2:$C$9</c:f>
              <c:numCache>
                <c:formatCode>General</c:formatCode>
                <c:ptCount val="8"/>
                <c:pt idx="0">
                  <c:v/>
                </c:pt>
                <c:pt idx="1">
                  <c:v/>
                </c:pt>
                <c:pt idx="2">
                  <c:v/>
                </c:pt>
                <c:pt idx="3">
                  <c:v/>
                </c:pt>
                <c:pt idx="4">
                  <c:v/>
                </c:pt>
                <c:pt idx="5">
                  <c:v/>
                </c:pt>
                <c:pt idx="6">
                  <c:v>0.3</c:v>
                </c:pt>
                <c:pt idx="7">
                  <c:v>0.3</c:v>
                </c:pt>
              </c:numCache>
            </c:numRef>
          </c:val>
        </c:ser>
        <c:dLbls>
          <c:numFmt formatCode="0.0%" sourceLinked="0"/>
          <c:txPr>
            <a:bodyPr/>
            <a:lstStyle/>
            <a:p>
              <a:pPr>
                <a:defRPr b="1" i="0" strike="noStrike" sz="11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Margin</c:v>
                </c:pt>
              </c:strCache>
            </c:strRef>
          </c:tx>
          <c:spPr>
            <a:solidFill>
              <a:srgbClr val="B5AEA9"/>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B5AEA9"/>
              </a:solidFill>
              <a:effectLst/>
            </c:spPr>
          </c:dPt>
          <c:dPt>
            <c:idx val="1"/>
            <c:invertIfNegative val="0"/>
            <c:bubble3D val="0"/>
            <c:spPr>
              <a:solidFill>
                <a:srgbClr val="0A1C58"/>
              </a:solidFill>
              <a:effectLst/>
            </c:spPr>
          </c:dPt>
          <c:dPt>
            <c:idx val="2"/>
            <c:invertIfNegative val="0"/>
            <c:bubble3D val="0"/>
            <c:spPr>
              <a:solidFill>
                <a:srgbClr val="5A5350"/>
              </a:solidFill>
              <a:effectLst/>
            </c:spPr>
          </c:dPt>
          <c:cat>
            <c:multiLvlStrRef>
              <c:f>Sheet1!$A$2:$A$4</c:f>
              <c:multiLvlStrCache>
                <c:ptCount val="3"/>
                <c:lvl>
                  <c:pt idx="0">
                    <c:v>Light</c:v>
                  </c:pt>
                  <c:pt idx="1">
                    <c:v>Heavy</c:v>
                  </c:pt>
                  <c:pt idx="2">
                    <c:v>Blended</c:v>
                  </c:pt>
                </c:lvl>
              </c:multiLvlStrCache>
            </c:multiLvlStrRef>
          </c:cat>
          <c:val>
            <c:numRef>
              <c:f>Sheet1!$B$2:$B$4</c:f>
              <c:numCache>
                <c:formatCode>General</c:formatCode>
                <c:ptCount val="3"/>
                <c:pt idx="0">
                  <c:v>0.417</c:v>
                </c:pt>
                <c:pt idx="1">
                  <c:v>0.25</c:v>
                </c:pt>
                <c:pt idx="2">
                  <c:v>0.306</c:v>
                </c:pt>
              </c:numCache>
            </c:numRef>
          </c:val>
        </c:ser>
        <c:dLbls>
          <c:numFmt formatCode="0%" sourceLinked="0"/>
          <c:txPr>
            <a:bodyPr/>
            <a:lstStyle/>
            <a:p>
              <a:pPr>
                <a:defRPr b="1" i="0" strike="noStrike" sz="13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Base</c:v>
                </c:pt>
              </c:strCache>
            </c:strRef>
          </c:tx>
          <c:spPr>
            <a:solidFill>
              <a:srgbClr val="FFFFFF"/>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Sheet1!$B$2:$B$5</c:f>
              <c:numCache>
                <c:formatCode>General</c:formatCode>
                <c:ptCount val="4"/>
                <c:pt idx="0">
                  <c:v>0</c:v>
                </c:pt>
                <c:pt idx="1">
                  <c:v>0</c:v>
                </c:pt>
                <c:pt idx="2">
                  <c:v>224.75</c:v>
                </c:pt>
                <c:pt idx="3">
                  <c:v>0</c:v>
                </c:pt>
              </c:numCache>
            </c:numRef>
          </c:val>
        </c:ser>
        <c:ser>
          <c:idx val="1"/>
          <c:order val="1"/>
          <c:tx>
            <c:strRef>
              <c:f>Sheet1!$C$1</c:f>
              <c:strCache>
                <c:ptCount val="1"/>
                <c:pt idx="0">
                  <c:v>Value</c:v>
                </c:pt>
              </c:strCache>
            </c:strRef>
          </c:tx>
          <c:spPr>
            <a:solidFill>
              <a:srgbClr val="0A1C58"/>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Sheet1!$C$2:$C$5</c:f>
              <c:numCache>
                <c:formatCode>General</c:formatCode>
                <c:ptCount val="4"/>
                <c:pt idx="0">
                  <c:v>167.03</c:v>
                </c:pt>
                <c:pt idx="1">
                  <c:v>224.75</c:v>
                </c:pt>
                <c:pt idx="2">
                  <c:v>0</c:v>
                </c:pt>
                <c:pt idx="3">
                  <c:v>276.65</c:v>
                </c:pt>
              </c:numCache>
            </c:numRef>
          </c:val>
        </c:ser>
        <c:ser>
          <c:idx val="2"/>
          <c:order val="2"/>
          <c:tx>
            <c:strRef>
              <c:f>Sheet1!$D$1</c:f>
              <c:strCache>
                <c:ptCount val="1"/>
                <c:pt idx="0">
                  <c:v>Power</c:v>
                </c:pt>
              </c:strCache>
            </c:strRef>
          </c:tx>
          <c:spPr>
            <a:solidFill>
              <a:srgbClr val="847C7A"/>
            </a:solidFill>
            <a:effectLst/>
          </c:spPr>
          <c:invertIfNegative val="0"/>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Sheet1!$A$2:$A$5</c:f>
              <c:multiLvlStrCache>
                <c:ptCount val="4"/>
                <c:lvl>
                  <c:pt idx="0">
                    <c:v>Current Price</c:v>
                  </c:pt>
                  <c:pt idx="1">
                    <c:v>Core ex-Power</c:v>
                  </c:pt>
                  <c:pt idx="2">
                    <c:v>Power</c:v>
                  </c:pt>
                  <c:pt idx="3">
                    <c:v>SOTP</c:v>
                  </c:pt>
                </c:lvl>
              </c:multiLvlStrCache>
            </c:multiLvlStrRef>
          </c:cat>
          <c:val>
            <c:numRef>
              <c:f>Sheet1!$D$2:$D$5</c:f>
              <c:numCache>
                <c:formatCode>General</c:formatCode>
                <c:ptCount val="4"/>
                <c:pt idx="0">
                  <c:v>0</c:v>
                </c:pt>
                <c:pt idx="1">
                  <c:v>0</c:v>
                </c:pt>
                <c:pt idx="2">
                  <c:v>51.9</c:v>
                </c:pt>
                <c:pt idx="3">
                  <c:v>0</c:v>
                </c:pt>
              </c:numCache>
            </c:numRef>
          </c:val>
        </c:ser>
        <c:dLbls>
          <c:numFmt formatCode="&quot;$&quot;0;;;" sourceLinked="0"/>
          <c:txPr>
            <a:bodyPr/>
            <a:lstStyle/>
            <a:p>
              <a:pPr>
                <a:defRPr b="1" i="0" strike="noStrike" sz="1500" u="none">
                  <a:solidFill>
                    <a:srgbClr val="FFFFFF"/>
                  </a:solidFill>
                  <a:latin typeface="+mn-lt"/>
                </a:defRPr>
              </a:pPr>
            </a:p>
          </c:txPr>
          <c:dLblPos val="inEnd"/>
          <c:showLegendKey val="0"/>
          <c:showVal val="1"/>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33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AP inventory</c:v>
                </c:pt>
              </c:strCache>
            </c:strRef>
          </c:tx>
          <c:spPr>
            <a:solidFill>
              <a:schemeClr val="accent1"/>
            </a:solidFill>
            <a:ln w="9525" cap="flat">
              <a:solidFill>
                <a:srgbClr val="F9F9F9"/>
              </a:solidFill>
              <a:prstDash val="solid"/>
              <a:round/>
            </a:ln>
            <a:effectLst/>
          </c:spPr>
          <c:dPt>
            <c:idx val="0"/>
            <c:bubble3D val="0"/>
            <c:spPr>
              <a:solidFill>
                <a:srgbClr val="0A1C58"/>
              </a:solidFill>
              <a:ln w="12700" cap="flat">
                <a:solidFill>
                  <a:srgbClr val="FFFFFF"/>
                </a:solidFill>
                <a:prstDash val="solid"/>
                <a:round/>
              </a:ln>
              <a:effectLst/>
            </c:spPr>
          </c:dPt>
          <c:dPt>
            <c:idx val="1"/>
            <c:bubble3D val="0"/>
            <c:spPr>
              <a:solidFill>
                <a:srgbClr val="DCD8D3"/>
              </a:solidFill>
              <a:ln w="12700" cap="flat">
                <a:solidFill>
                  <a:srgbClr val="FFFFFF"/>
                </a:solidFill>
                <a:prstDash val="solid"/>
                <a:round/>
              </a:ln>
              <a:effectLst/>
            </c:spPr>
          </c:dPt>
          <c:dLbls>
            <c:dLbl>
              <c:idx val="0"/>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000000"/>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Sheet1!$A$2:$A$3</c:f>
              <c:strCache>
                <c:ptCount val="2"/>
                <c:pt idx="0">
                  <c:v>Depreciated leasing stock</c:v>
                </c:pt>
                <c:pt idx="1">
                  <c:v>Everything else</c:v>
                </c:pt>
              </c:strCache>
            </c:strRef>
          </c:cat>
          <c:val>
            <c:numRef>
              <c:f>Sheet1!$B$2:$B$3</c:f>
              <c:numCache>
                <c:ptCount val="2"/>
                <c:pt idx="0">
                  <c:v>8</c:v>
                </c:pt>
                <c:pt idx="1">
                  <c:v>92</c:v>
                </c:pt>
              </c:numCache>
            </c:numRef>
          </c:val>
        </c:ser>
        <c:firstSliceAng val="0"/>
        <c:holeSize val="68"/>
      </c:doughnutChart>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Reported</c:v>
                </c:pt>
              </c:strCache>
            </c:strRef>
          </c:tx>
          <c:spPr>
            <a:solidFill>
              <a:srgbClr val="0A1C58"/>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Sheet1!$B$2:$B$10</c:f>
              <c:numCache>
                <c:formatCode>General</c:formatCode>
                <c:ptCount val="9"/>
                <c:pt idx="0">
                  <c:v>0.347</c:v>
                </c:pt>
                <c:pt idx="1">
                  <c:v>0.299</c:v>
                </c:pt>
                <c:pt idx="2">
                  <c:v>0.285</c:v>
                </c:pt>
                <c:pt idx="3">
                  <c:v/>
                </c:pt>
                <c:pt idx="4">
                  <c:v/>
                </c:pt>
                <c:pt idx="5">
                  <c:v/>
                </c:pt>
                <c:pt idx="6">
                  <c:v/>
                </c:pt>
                <c:pt idx="7">
                  <c:v/>
                </c:pt>
                <c:pt idx="8">
                  <c:v/>
                </c:pt>
              </c:numCache>
            </c:numRef>
          </c:val>
        </c:ser>
        <c:ser>
          <c:idx val="1"/>
          <c:order val="1"/>
          <c:tx>
            <c:strRef>
              <c:f>Sheet1!$C$1</c:f>
              <c:strCache>
                <c:ptCount val="1"/>
                <c:pt idx="0">
                  <c:v>GPS model</c:v>
                </c:pt>
              </c:strCache>
            </c:strRef>
          </c:tx>
          <c:spPr>
            <a:solidFill>
              <a:srgbClr val="B5AEA9"/>
            </a:solidFill>
            <a:effectLst/>
          </c:spPr>
          <c:invertIfNegative val="0"/>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cat>
            <c:multiLvlStrRef>
              <c:f>Sheet1!$A$2:$A$10</c:f>
              <c:multiLvlStrCache>
                <c:ptCount val="9"/>
                <c:lvl>
                  <c:pt idx="0">
                    <c:v>FY25</c:v>
                  </c:pt>
                  <c:pt idx="1">
                    <c:v>Q1'26</c:v>
                  </c:pt>
                  <c:pt idx="2">
                    <c:v>Q2'26</c:v>
                  </c:pt>
                  <c:pt idx="3">
                    <c:v>FY26E</c:v>
                  </c:pt>
                  <c:pt idx="4">
                    <c:v>FY27E</c:v>
                  </c:pt>
                  <c:pt idx="5">
                    <c:v>FY28E</c:v>
                  </c:pt>
                  <c:pt idx="6">
                    <c:v>FY29E</c:v>
                  </c:pt>
                  <c:pt idx="7">
                    <c:v>FY30E</c:v>
                  </c:pt>
                  <c:pt idx="8">
                    <c:v>FY31E</c:v>
                  </c:pt>
                </c:lvl>
              </c:multiLvlStrCache>
            </c:multiLvlStrRef>
          </c:cat>
          <c:val>
            <c:numRef>
              <c:f>Sheet1!$C$2:$C$10</c:f>
              <c:numCache>
                <c:formatCode>General</c:formatCode>
                <c:ptCount val="9"/>
                <c:pt idx="0">
                  <c:v/>
                </c:pt>
                <c:pt idx="1">
                  <c:v/>
                </c:pt>
                <c:pt idx="2">
                  <c:v/>
                </c:pt>
                <c:pt idx="3">
                  <c:v>0.301</c:v>
                </c:pt>
                <c:pt idx="4">
                  <c:v>0.299</c:v>
                </c:pt>
                <c:pt idx="5">
                  <c:v>0.307</c:v>
                </c:pt>
                <c:pt idx="6">
                  <c:v>0.314</c:v>
                </c:pt>
                <c:pt idx="7">
                  <c:v>0.32</c:v>
                </c:pt>
                <c:pt idx="8">
                  <c:v>0.325</c:v>
                </c:pt>
              </c:numCache>
            </c:numRef>
          </c:val>
        </c:ser>
        <c:dLbls>
          <c:numFmt formatCode="0.0%" sourceLinked="0"/>
          <c:txPr>
            <a:bodyPr/>
            <a:lstStyle/>
            <a:p>
              <a:pPr>
                <a:defRPr b="1" i="0" strike="noStrike" sz="1000" u="none">
                  <a:solidFill>
                    <a:srgbClr val="1A1A1A"/>
                  </a:solidFill>
                  <a:latin typeface="+mn-lt"/>
                </a:defRPr>
              </a:pPr>
            </a:p>
          </c:txPr>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4"/>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OEM list price</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Sheet1!$B$2:$B$8</c:f>
              <c:numCache>
                <c:formatCode>General</c:formatCode>
                <c:ptCount val="7"/>
                <c:pt idx="0">
                  <c:v>100</c:v>
                </c:pt>
                <c:pt idx="1">
                  <c:v>107</c:v>
                </c:pt>
                <c:pt idx="2">
                  <c:v>114</c:v>
                </c:pt>
                <c:pt idx="3">
                  <c:v>121.9</c:v>
                </c:pt>
                <c:pt idx="4">
                  <c:v>130.5</c:v>
                </c:pt>
                <c:pt idx="5">
                  <c:v>139.6</c:v>
                </c:pt>
                <c:pt idx="6">
                  <c:v>149.4</c:v>
                </c:pt>
              </c:numCache>
            </c:numRef>
          </c:val>
          <c:smooth val="0"/>
        </c:ser>
        <c:ser>
          <c:idx val="1"/>
          <c:order val="1"/>
          <c:tx>
            <c:strRef>
              <c:f>Sheet1!$C$1</c:f>
              <c:strCache>
                <c:ptCount val="1"/>
                <c:pt idx="0">
                  <c:v>FTAI price</c:v>
                </c:pt>
              </c:strCache>
            </c:strRef>
          </c:tx>
          <c:spPr>
            <a:solidFill>
              <a:srgbClr val="B5AEA9"/>
            </a:solidFill>
            <a:ln w="38100" cap="flat">
              <a:solidFill>
                <a:srgbClr val="B5AEA9"/>
              </a:solidFill>
              <a:prstDash val="solid"/>
              <a:round/>
            </a:ln>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c:symbol val="circle"/>
            <c:size val="7"/>
            <c:spPr>
              <a:solidFill>
                <a:srgbClr val="B5AEA9"/>
              </a:solidFill>
              <a:ln w="9525" cap="flat">
                <a:solidFill>
                  <a:srgbClr val="B5AEA9"/>
                </a:solidFill>
                <a:prstDash val="solid"/>
                <a:round/>
              </a:ln>
              <a:effectLst/>
            </c:spPr>
          </c:marker>
          <c:cat>
            <c:multiLvlStrRef>
              <c:f>Sheet1!$A$2:$A$8</c:f>
              <c:multiLvlStrCache>
                <c:ptCount val="7"/>
                <c:lvl>
                  <c:pt idx="0">
                    <c:v>2025</c:v>
                  </c:pt>
                  <c:pt idx="1">
                    <c:v>2026</c:v>
                  </c:pt>
                  <c:pt idx="2">
                    <c:v>2027</c:v>
                  </c:pt>
                  <c:pt idx="3">
                    <c:v>2028</c:v>
                  </c:pt>
                  <c:pt idx="4">
                    <c:v>2029</c:v>
                  </c:pt>
                  <c:pt idx="5">
                    <c:v>2030</c:v>
                  </c:pt>
                  <c:pt idx="6">
                    <c:v>2031</c:v>
                  </c:pt>
                </c:lvl>
              </c:multiLvlStrCache>
            </c:multiLvlStrRef>
          </c:cat>
          <c:val>
            <c:numRef>
              <c:f>Sheet1!$C$2:$C$8</c:f>
              <c:numCache>
                <c:formatCode>General</c:formatCode>
                <c:ptCount val="7"/>
                <c:pt idx="0">
                  <c:v>100</c:v>
                </c:pt>
                <c:pt idx="1">
                  <c:v>100</c:v>
                </c:pt>
                <c:pt idx="2">
                  <c:v>103.3</c:v>
                </c:pt>
                <c:pt idx="3">
                  <c:v>106.9</c:v>
                </c:pt>
                <c:pt idx="4">
                  <c:v>110.6</c:v>
                </c:pt>
                <c:pt idx="5">
                  <c:v>114.5</c:v>
                </c:pt>
                <c:pt idx="6">
                  <c:v>118.5</c:v>
                </c:pt>
              </c:numCache>
            </c:numRef>
          </c:val>
          <c:smooth val="0"/>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60"/>
          <c:min val="9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Trough</c:v>
                </c:pt>
              </c:strCache>
            </c:strRef>
          </c:tx>
          <c:spPr>
            <a:solidFill>
              <a:srgbClr val="B5AEA9"/>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Sheet1!$B$2:$B$8</c:f>
              <c:numCache>
                <c:formatCode>General</c:formatCode>
                <c:ptCount val="7"/>
                <c:pt idx="0">
                  <c:v/>
                </c:pt>
                <c:pt idx="1">
                  <c:v>876</c:v>
                </c:pt>
                <c:pt idx="2">
                  <c:v/>
                </c:pt>
                <c:pt idx="3">
                  <c:v/>
                </c:pt>
                <c:pt idx="4">
                  <c:v/>
                </c:pt>
                <c:pt idx="5">
                  <c:v/>
                </c:pt>
                <c:pt idx="6">
                  <c:v/>
                </c:pt>
              </c:numCache>
            </c:numRef>
          </c:val>
        </c:ser>
        <c:ser>
          <c:idx val="1"/>
          <c:order val="1"/>
          <c:tx>
            <c:strRef>
              <c:f>Sheet1!$C$1</c:f>
              <c:strCache>
                <c:ptCount val="1"/>
                <c:pt idx="0">
                  <c:v>EBITDA / module</c:v>
                </c:pt>
              </c:strCache>
            </c:strRef>
          </c:tx>
          <c:spPr>
            <a:solidFill>
              <a:srgbClr val="0A1C58"/>
            </a:solidFill>
            <a:effectLst/>
          </c:spPr>
          <c:invertIfNegative val="0"/>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cat>
            <c:multiLvlStrRef>
              <c:f>Sheet1!$A$2:$A$8</c:f>
              <c:multiLvlStrCache>
                <c:ptCount val="7"/>
                <c:lvl>
                  <c:pt idx="0">
                    <c:v>FY25</c:v>
                  </c:pt>
                  <c:pt idx="1">
                    <c:v>FY26E</c:v>
                  </c:pt>
                  <c:pt idx="2">
                    <c:v>FY27E</c:v>
                  </c:pt>
                  <c:pt idx="3">
                    <c:v>FY28E</c:v>
                  </c:pt>
                  <c:pt idx="4">
                    <c:v>FY29E</c:v>
                  </c:pt>
                  <c:pt idx="5">
                    <c:v>FY30E</c:v>
                  </c:pt>
                  <c:pt idx="6">
                    <c:v>FY31E</c:v>
                  </c:pt>
                </c:lvl>
              </c:multiLvlStrCache>
            </c:multiLvlStrRef>
          </c:cat>
          <c:val>
            <c:numRef>
              <c:f>Sheet1!$C$2:$C$8</c:f>
              <c:numCache>
                <c:formatCode>General</c:formatCode>
                <c:ptCount val="7"/>
                <c:pt idx="0">
                  <c:v>887</c:v>
                </c:pt>
                <c:pt idx="1">
                  <c:v/>
                </c:pt>
                <c:pt idx="2">
                  <c:v>913</c:v>
                </c:pt>
                <c:pt idx="3">
                  <c:v>969</c:v>
                </c:pt>
                <c:pt idx="4">
                  <c:v>1027</c:v>
                </c:pt>
                <c:pt idx="5">
                  <c:v>1084</c:v>
                </c:pt>
                <c:pt idx="6">
                  <c:v>1139</c:v>
                </c:pt>
              </c:numCache>
            </c:numRef>
          </c:val>
        </c:ser>
        <c:dLbls>
          <c:numFmt formatCode="#,##0;;;" sourceLinked="0"/>
          <c:txPr>
            <a:bodyPr/>
            <a:lstStyle/>
            <a:p>
              <a:pPr>
                <a:defRPr b="1" i="0" strike="noStrike" sz="1000" u="none">
                  <a:solidFill>
                    <a:srgbClr val="FFFFFF"/>
                  </a:solidFill>
                  <a:latin typeface="+mn-lt"/>
                </a:defRPr>
              </a:pPr>
            </a:p>
          </c:txPr>
          <c:dLblPos val="inEnd"/>
          <c:showLegendKey val="0"/>
          <c:showVal val="1"/>
          <c:showCatName val="0"/>
          <c:showSerName val="0"/>
          <c:showPercent val="0"/>
          <c:showBubbleSize val="0"/>
          <c:showLeaderLines val="0"/>
        </c:dLbls>
        <c:gapWidth val="3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stacked"/>
        <c:varyColors val="0"/>
        <c:ser>
          <c:idx val="0"/>
          <c:order val="0"/>
          <c:tx>
            <c:strRef>
              <c:f>Sheet1!$B$1</c:f>
              <c:strCache>
                <c:ptCount val="1"/>
                <c:pt idx="0">
                  <c:v>First visits</c:v>
                </c:pt>
              </c:strCache>
            </c:strRef>
          </c:tx>
          <c:spPr>
            <a:solidFill>
              <a:srgbClr val="DCD8D3"/>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c:v>
                  </c:pt>
                  <c:pt idx="2">
                    <c:v>2027</c:v>
                  </c:pt>
                  <c:pt idx="3">
                    <c:v>2028</c:v>
                  </c:pt>
                  <c:pt idx="4">
                    <c:v>2029</c:v>
                  </c:pt>
                  <c:pt idx="5">
                    <c:v>2030</c:v>
                  </c:pt>
                </c:lvl>
              </c:multiLvlStrCache>
            </c:multiLvlStrRef>
          </c:cat>
          <c:val>
            <c:numRef>
              <c:f>Sheet1!$B$2:$B$7</c:f>
              <c:numCache>
                <c:formatCode>General</c:formatCode>
                <c:ptCount val="6"/>
                <c:pt idx="0">
                  <c:v>976</c:v>
                </c:pt>
                <c:pt idx="1">
                  <c:v>912</c:v>
                </c:pt>
                <c:pt idx="2">
                  <c:v>845</c:v>
                </c:pt>
                <c:pt idx="3">
                  <c:v>763</c:v>
                </c:pt>
                <c:pt idx="4">
                  <c:v>676</c:v>
                </c:pt>
                <c:pt idx="5">
                  <c:v>598</c:v>
                </c:pt>
              </c:numCache>
            </c:numRef>
          </c:val>
        </c:ser>
        <c:ser>
          <c:idx val="1"/>
          <c:order val="1"/>
          <c:tx>
            <c:strRef>
              <c:f>Sheet1!$C$1</c:f>
              <c:strCache>
                <c:ptCount val="1"/>
                <c:pt idx="0">
                  <c:v>Second visits (heaviest)</c:v>
                </c:pt>
              </c:strCache>
            </c:strRef>
          </c:tx>
          <c:spPr>
            <a:solidFill>
              <a:srgbClr val="0A1C58"/>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c:v>
                  </c:pt>
                  <c:pt idx="2">
                    <c:v>2027</c:v>
                  </c:pt>
                  <c:pt idx="3">
                    <c:v>2028</c:v>
                  </c:pt>
                  <c:pt idx="4">
                    <c:v>2029</c:v>
                  </c:pt>
                  <c:pt idx="5">
                    <c:v>2030</c:v>
                  </c:pt>
                </c:lvl>
              </c:multiLvlStrCache>
            </c:multiLvlStrRef>
          </c:cat>
          <c:val>
            <c:numRef>
              <c:f>Sheet1!$C$2:$C$7</c:f>
              <c:numCache>
                <c:formatCode>General</c:formatCode>
                <c:ptCount val="6"/>
                <c:pt idx="0">
                  <c:v>842</c:v>
                </c:pt>
                <c:pt idx="1">
                  <c:v>891</c:v>
                </c:pt>
                <c:pt idx="2">
                  <c:v>914</c:v>
                </c:pt>
                <c:pt idx="3">
                  <c:v>908</c:v>
                </c:pt>
                <c:pt idx="4">
                  <c:v>874</c:v>
                </c:pt>
                <c:pt idx="5">
                  <c:v>832</c:v>
                </c:pt>
              </c:numCache>
            </c:numRef>
          </c:val>
        </c:ser>
        <c:ser>
          <c:idx val="2"/>
          <c:order val="2"/>
          <c:tx>
            <c:strRef>
              <c:f>Sheet1!$D$1</c:f>
              <c:strCache>
                <c:ptCount val="1"/>
                <c:pt idx="0">
                  <c:v>Third+ visits (late life)</c:v>
                </c:pt>
              </c:strCache>
            </c:strRef>
          </c:tx>
          <c:spPr>
            <a:solidFill>
              <a:srgbClr val="847C7A"/>
            </a:solidFill>
            <a:effectLst/>
          </c:spPr>
          <c:invertIfNegative val="0"/>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cat>
            <c:multiLvlStrRef>
              <c:f>Sheet1!$A$2:$A$7</c:f>
              <c:multiLvlStrCache>
                <c:ptCount val="6"/>
                <c:lvl>
                  <c:pt idx="0">
                    <c:v>2025</c:v>
                  </c:pt>
                  <c:pt idx="1">
                    <c:v>2026</c:v>
                  </c:pt>
                  <c:pt idx="2">
                    <c:v>2027</c:v>
                  </c:pt>
                  <c:pt idx="3">
                    <c:v>2028</c:v>
                  </c:pt>
                  <c:pt idx="4">
                    <c:v>2029</c:v>
                  </c:pt>
                  <c:pt idx="5">
                    <c:v>2030</c:v>
                  </c:pt>
                </c:lvl>
              </c:multiLvlStrCache>
            </c:multiLvlStrRef>
          </c:cat>
          <c:val>
            <c:numRef>
              <c:f>Sheet1!$D$2:$D$7</c:f>
              <c:numCache>
                <c:formatCode>General</c:formatCode>
                <c:ptCount val="6"/>
                <c:pt idx="0">
                  <c:v>532</c:v>
                </c:pt>
                <c:pt idx="1">
                  <c:v>597</c:v>
                </c:pt>
                <c:pt idx="2">
                  <c:v>641</c:v>
                </c:pt>
                <c:pt idx="3">
                  <c:v>679</c:v>
                </c:pt>
                <c:pt idx="4">
                  <c:v>700</c:v>
                </c:pt>
                <c:pt idx="5">
                  <c:v>720</c:v>
                </c:pt>
              </c:numCache>
            </c:numRef>
          </c:val>
        </c:ser>
        <c:dLbls>
          <c:numFmt formatCode="#,##0" sourceLinked="0"/>
          <c:txPr>
            <a:bodyPr/>
            <a:lstStyle/>
            <a:p>
              <a:pPr>
                <a:defRPr b="1" i="0" strike="noStrike" sz="1300" u="none">
                  <a:solidFill>
                    <a:srgbClr val="1A1A1A"/>
                  </a:solidFill>
                  <a:latin typeface="+mn-lt"/>
                </a:defRPr>
              </a:pPr>
            </a:p>
          </c:txPr>
          <c:showLegendKey val="0"/>
          <c:showVal val="0"/>
          <c:showCatName val="0"/>
          <c:showSerName val="0"/>
          <c:showPercent val="0"/>
          <c:showBubbleSize val="0"/>
          <c:showLeaderLines val="0"/>
        </c:dLbls>
        <c:gapWidth val="40"/>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27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A1A1A"/>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Blended margin</c:v>
                </c:pt>
              </c:strCache>
            </c:strRef>
          </c:tx>
          <c:spPr>
            <a:solidFill>
              <a:srgbClr val="0A1C58"/>
            </a:solidFill>
            <a:ln w="38100" cap="flat">
              <a:solidFill>
                <a:srgbClr val="0A1C58"/>
              </a:solidFill>
              <a:prstDash val="solid"/>
              <a:round/>
            </a:ln>
            <a:effectLst/>
          </c:spPr>
          <c:invertIfNegative val="0"/>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30%</c:v>
                  </c:pt>
                  <c:pt idx="1">
                    <c:v>40%</c:v>
                  </c:pt>
                  <c:pt idx="2">
                    <c:v>50%</c:v>
                  </c:pt>
                  <c:pt idx="3">
                    <c:v>60%</c:v>
                  </c:pt>
                  <c:pt idx="4">
                    <c:v>70%</c:v>
                  </c:pt>
                  <c:pt idx="5">
                    <c:v>80%</c:v>
                  </c:pt>
                </c:lvl>
              </c:multiLvlStrCache>
            </c:multiLvlStrRef>
          </c:cat>
          <c:val>
            <c:numRef>
              <c:f>Sheet1!$B$2:$B$7</c:f>
              <c:numCache>
                <c:formatCode>General</c:formatCode>
                <c:ptCount val="6"/>
                <c:pt idx="0">
                  <c:v>0.279</c:v>
                </c:pt>
                <c:pt idx="1">
                  <c:v>0.292</c:v>
                </c:pt>
                <c:pt idx="2">
                  <c:v>0.306</c:v>
                </c:pt>
                <c:pt idx="3">
                  <c:v>0.321</c:v>
                </c:pt>
                <c:pt idx="4">
                  <c:v>0.34</c:v>
                </c:pt>
                <c:pt idx="5">
                  <c:v>0.361</c:v>
                </c:pt>
              </c:numCache>
            </c:numRef>
          </c:val>
          <c:smooth val="0"/>
        </c:ser>
        <c:dLbls>
          <c:numFmt formatCode="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39"/>
          <c:min val="0.24"/>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PMA adoption</c:v>
                </c:pt>
              </c:strCache>
            </c:strRef>
          </c:tx>
          <c:spPr>
            <a:solidFill>
              <a:srgbClr val="B5AEA9"/>
            </a:solidFill>
            <a:ln w="38100" cap="flat">
              <a:solidFill>
                <a:srgbClr val="B5AEA9"/>
              </a:solidFill>
              <a:prstDash val="solid"/>
              <a:round/>
            </a:ln>
            <a:effectLst/>
          </c:spPr>
          <c:invertIfNegative val="0"/>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c:symbol val="circle"/>
            <c:size val="8"/>
            <c:spPr>
              <a:solidFill>
                <a:srgbClr val="B5AEA9"/>
              </a:solidFill>
              <a:ln w="9525" cap="flat">
                <a:solidFill>
                  <a:srgbClr val="B5AEA9"/>
                </a:solidFill>
                <a:prstDash val="solid"/>
                <a:round/>
              </a:ln>
              <a:effectLst/>
            </c:spPr>
          </c:marker>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0.9</c:v>
                </c:pt>
                <c:pt idx="1">
                  <c:v>3</c:v>
                </c:pt>
                <c:pt idx="2">
                  <c:v>5</c:v>
                </c:pt>
                <c:pt idx="3">
                  <c:v>7</c:v>
                </c:pt>
                <c:pt idx="4">
                  <c:v>9</c:v>
                </c:pt>
              </c:numCache>
            </c:numRef>
          </c:val>
          <c:smooth val="0"/>
        </c:ser>
        <c:dLbls>
          <c:numFmt formatCode="0.0" sourceLinked="0"/>
          <c:txPr>
            <a:bodyPr/>
            <a:lstStyle/>
            <a:p>
              <a:pPr>
                <a:defRPr b="1" i="0" strike="noStrike" sz="1100" u="none">
                  <a:solidFill>
                    <a:srgbClr val="847C7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1"/>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3"/>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PMA EBITDA uplift</c:v>
                </c:pt>
              </c:strCache>
            </c:strRef>
          </c:tx>
          <c:spPr>
            <a:solidFill>
              <a:srgbClr val="0A1C58"/>
            </a:solidFill>
            <a:effectLst/>
          </c:spPr>
          <c:invertIfNegative val="0"/>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cat>
            <c:multiLvlStrRef>
              <c:f>Sheet1!$A$2:$A$6</c:f>
              <c:multiLvlStrCache>
                <c:ptCount val="5"/>
                <c:lvl>
                  <c:pt idx="0">
                    <c:v>FY27E</c:v>
                  </c:pt>
                  <c:pt idx="1">
                    <c:v>FY28E</c:v>
                  </c:pt>
                  <c:pt idx="2">
                    <c:v>FY29E</c:v>
                  </c:pt>
                  <c:pt idx="3">
                    <c:v>FY30E</c:v>
                  </c:pt>
                  <c:pt idx="4">
                    <c:v>FY31E</c:v>
                  </c:pt>
                </c:lvl>
              </c:multiLvlStrCache>
            </c:multiLvlStrRef>
          </c:cat>
          <c:val>
            <c:numRef>
              <c:f>Sheet1!$B$2:$B$6</c:f>
              <c:numCache>
                <c:formatCode>General</c:formatCode>
                <c:ptCount val="5"/>
                <c:pt idx="0">
                  <c:v>6</c:v>
                </c:pt>
                <c:pt idx="1">
                  <c:v>24</c:v>
                </c:pt>
                <c:pt idx="2">
                  <c:v>42</c:v>
                </c:pt>
                <c:pt idx="3">
                  <c:v>59</c:v>
                </c:pt>
                <c:pt idx="4">
                  <c:v>77</c:v>
                </c:pt>
              </c:numCache>
            </c:numRef>
          </c:val>
        </c:ser>
        <c:dLbls>
          <c:numFmt formatCode="&quot;$&quot;0&quot;M&quot;" sourceLinked="0"/>
          <c:txPr>
            <a:bodyPr/>
            <a:lstStyle/>
            <a:p>
              <a:pPr>
                <a:defRPr b="1" i="0" strike="noStrike" sz="1100" u="none">
                  <a:solidFill>
                    <a:srgbClr val="1A1A1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9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AP EBITDA ($M)</c:v>
                </c:pt>
              </c:strCache>
            </c:strRef>
          </c:tx>
          <c:spPr>
            <a:solidFill>
              <a:srgbClr val="0A1C58"/>
            </a:solidFill>
            <a:ln w="38100" cap="flat">
              <a:solidFill>
                <a:srgbClr val="0A1C58"/>
              </a:solidFill>
              <a:prstDash val="solid"/>
              <a:round/>
            </a:ln>
            <a:effectLst/>
          </c:spPr>
          <c:invertIfNegative val="0"/>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c:symbol val="circle"/>
            <c:size val="7"/>
            <c:spPr>
              <a:solidFill>
                <a:srgbClr val="0A1C58"/>
              </a:solidFill>
              <a:ln w="9525" cap="flat">
                <a:solidFill>
                  <a:srgbClr val="0A1C58"/>
                </a:solidFill>
                <a:prstDash val="solid"/>
                <a:round/>
              </a:ln>
              <a:effectLst/>
            </c:spPr>
          </c:marker>
          <c:cat>
            <c:multiLvlStrRef>
              <c:f>Sheet1!$A$2:$A$7</c:f>
              <c:multiLvlStrCache>
                <c:ptCount val="6"/>
                <c:lvl>
                  <c:pt idx="0">
                    <c:v>0%</c:v>
                  </c:pt>
                  <c:pt idx="1">
                    <c:v>10%</c:v>
                  </c:pt>
                  <c:pt idx="2">
                    <c:v>20%</c:v>
                  </c:pt>
                  <c:pt idx="3">
                    <c:v>30%</c:v>
                  </c:pt>
                  <c:pt idx="4">
                    <c:v>40%</c:v>
                  </c:pt>
                  <c:pt idx="5">
                    <c:v>50%</c:v>
                  </c:pt>
                </c:lvl>
              </c:multiLvlStrCache>
            </c:multiLvlStrRef>
          </c:cat>
          <c:val>
            <c:numRef>
              <c:f>Sheet1!$B$2:$B$7</c:f>
              <c:numCache>
                <c:formatCode>General</c:formatCode>
                <c:ptCount val="6"/>
                <c:pt idx="0">
                  <c:v>1132</c:v>
                </c:pt>
                <c:pt idx="1">
                  <c:v>1225</c:v>
                </c:pt>
                <c:pt idx="2">
                  <c:v>1318</c:v>
                </c:pt>
                <c:pt idx="3">
                  <c:v>1411</c:v>
                </c:pt>
                <c:pt idx="4">
                  <c:v>1504</c:v>
                </c:pt>
                <c:pt idx="5">
                  <c:v>1597</c:v>
                </c:pt>
              </c:numCache>
            </c:numRef>
          </c:val>
          <c:smooth val="0"/>
        </c:ser>
        <c:dLbls>
          <c:numFmt formatCode="&quot;$&quot;#,##0" sourceLinked="0"/>
          <c:txPr>
            <a:bodyPr/>
            <a:lstStyle/>
            <a:p>
              <a:pPr>
                <a:defRPr b="1" i="0" strike="noStrike" sz="1100" u="none">
                  <a:solidFill>
                    <a:srgbClr val="1A1A1A"/>
                  </a:solidFill>
                  <a:latin typeface="+mn-lt"/>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BFBFBF"/>
            </a:solidFill>
            <a:prstDash val="solid"/>
            <a:round/>
          </a:ln>
        </c:spPr>
        <c:txPr>
          <a:bodyPr/>
          <a:lstStyle/>
          <a:p>
            <a:pPr>
              <a:defRPr sz="12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1700"/>
          <c:min val="100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Price as of 10/2/26. Target is the base-case blended DCF: 50% perpetuity growth ($281) and 50% exit multiple ($335). R/R = 132% bull blended upside vs. 39% bear blended downside.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Reported quarterly Aerospace Products Adj. EBITDA margins from the RPM tab. Q4'25 34.6% to Q1'26 29.9% = -470 bps. Mix example is management's: a 6,000-cycle engine sold for ~$6M earns ~$2.5M; a 10,000-cycle engine sold for ~$12M earns ~$3M; one of each blends to ~30%.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readings explain the same 1Q26 drop. Management cites heavier-scope work, new facilities and technician productivity still ramping, and pricing held below OEM escalators to take share. The bear reading, following the short report, is that depreciated leasing inventory moved into Aerospace Products had been propping up margins and is running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SOTP on FY27E EBITDA: Aerospace Products $1,541M at 16x ($237/sh), Power $450M at 12x ($52/sh, low end of guide), Aviation Leasing + SCI $455M at 9x ($39/sh), less corporate (-$28/sh), net debt (-$23/sh) and preferred (-$1/sh) = $277/sh. Ex-Power = $225/sh vs. $167.03 current (10/2/26), a 26% discount.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Return math uses the base-case FY27E sum of the parts ($276.65/share): Aerospace 16x, Power 12x, Leasing + SCI 9x, less corporate, net debt and preferred. Attribution re-runs the full model for all 8 on/off combinations of the three theses. Margins = OEM escalator, pass-through, Aerospace margin ex-PMA and PMA rows. Volume = FTAI share of MRO and SCI aircraft rows. Power = Mod-1 units delivered (off = 0, i.e. what the market prices today). Bear case with no Power = $171.86 vs. $167.03 today (+$4.83). Shapley contributions: margins +$17.04, volume +$32.66, Power +$55.08 (the $51.90 SOTP value plus ~$3 of FY27 Power cash that lowers net debt). Total $276.64.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Factory example (FTAI): three unserviceable engines worth $2.0M, $2.5M and $2.0M each still hold modules with life left (cycles shown per Fan / Core / LPT). FTAI splits them into nine modules, adds $3.5M of MRO work, and reassembles two serviceable engines ($8.5M at 7k/7k/7k and $6.0M at 4k/4k/4k) plus one run-out core ($1.5M): $16.0M out vs. $10.0M in, $6.0M of value created.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Depreciated leasing inventory remaining in Aerospace Products is under 8% (GPS analysis), so even on the short report's logic there is little left to compress margins. Margin path: FY25 34.7%, Q1'26 29.9%, Q2'26 28.5% reported; GPS model 30.1% FY26E, 29.9% FY27E, then 30.7% / 31.4% / 32.0% / 32.5% FY28E–FY31E.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OEM index compounds the CFM escalator (7% in 2026, 6.5% in 2027, 7% thereafter). FTAI index applies the model's pass-through: 0% in 2026, then 50% of the escalator. EBITDA per module: $887K FY25, $876K FY26E trough, $913K FY27E, $969K FY28E, $1,027K FY29E, $1,084K FY30E, $1,139K FY31E (+30% vs. FY26E).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Cohort roll-forward (central): first visits fall 976 → 598 (2025–2030) as the last 737NG / A320ceo deliveries pass their first run; second visits, typically the heaviest, peak at 914 in 2027; third-and-later visits rise 532 → 720. Late-life engines increasingly get green-time-only restorations (model assumes 100% / 90% / 70% of due engines get a full visit at &lt;20 / 20–25 / 25+ years). Mix curve uses management's example: light job ~$6M revenue / ~$2.5M profit, heavy ~$12M / ~$3.0M; blended margin by share of jobs. Caveat: the model's broader-work share still rises from 48% to 52% through 2030, so the light-scope return is a late-cycle (2030+) effect.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model: PMA penetration 0.9% FY27E rising to 9% FY31E at $0.4M EBITDA uplift per PMA module = $6M to $77M. Jefferies estimates ~$0.8M uplift per PMA module and ~$43M of 2026E Aerospace EBITDA per 5 pts of adoption, so our case is conservative on both rate and uplift. Chromalloy JV program: 3 of 5 parts approved (LPT stage 1 vane 2021, HPT stage 1 vane Oct 2024, HPT stage 1 blade Oct 2025), covering ~80% of targeted savings; 2 in FAA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e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jpe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GPS Title">
    <p:bg>
      <p:bgPr>
        <a:solidFill>
          <a:srgbClr val="FFFFFF"/>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GPS 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GPS Content Sub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868680"/>
            <a:ext cx="8503920" cy="0"/>
          </a:xfrm>
          <a:prstGeom prst="line">
            <a:avLst/>
          </a:prstGeom>
          <a:noFill/>
          <a:ln w="15875">
            <a:solidFill>
              <a:srgbClr val="0A1C58"/>
            </a:solidFill>
            <a:prstDash val="solid"/>
          </a:ln>
        </p:spPr>
      </p:sp>
      <p:pic>
        <p:nvPicPr>
          <p:cNvPr id="3" name="Image 0" descr="/home/user/SPOT/deck/gps_logo.jpeg">    </p:cNvPr>
          <p:cNvPicPr>
            <a:picLocks noChangeAspect="1"/>
          </p:cNvPicPr>
          <p:nvPr/>
        </p:nvPicPr>
        <p:blipFill>
          <a:blip r:embed="rId1"/>
          <a:stretch>
            <a:fillRect/>
          </a:stretch>
        </p:blipFill>
        <p:spPr>
          <a:xfrm>
            <a:off x="8119872" y="6144768"/>
            <a:ext cx="621792" cy="566928"/>
          </a:xfrm>
          <a:prstGeom prst="rect">
            <a:avLst/>
          </a:prstGeom>
        </p:spPr>
      </p:pic>
      <p:sp>
        <p:nvSpPr>
          <p:cNvPr id="4" name="Text 1"/>
          <p:cNvSpPr/>
          <p:nvPr>
            <p:ph idx="102" type="title" hasCustomPrompt="1"/>
          </p:nvPr>
        </p:nvSpPr>
        <p:spPr>
          <a:xfrm>
            <a:off x="320040" y="182880"/>
            <a:ext cx="8503920" cy="64008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5" name="Text 1"/>
          <p:cNvSpPr/>
          <p:nvPr>
            <p:ph idx="103" type="body" hasCustomPrompt="1"/>
          </p:nvPr>
        </p:nvSpPr>
        <p:spPr>
          <a:xfrm>
            <a:off x="320040" y="932688"/>
            <a:ext cx="8503920" cy="566928"/>
          </a:xfrm>
          <a:prstGeom prst="rect">
            <a:avLst/>
          </a:prstGeom>
          <a:noFill/>
          <a:ln/>
        </p:spPr>
        <p:txBody>
          <a:bodyPr wrap="square" rtlCol="0"/>
          <a:lstStyle>
            <a:lvl1pPr algn="l" indent="0" marL="0">
              <a:buNone/>
              <a:defRPr lang="en-US" sz="1700" b="1" dirty="0">
                <a:solidFill>
                  <a:schemeClr val="tx2"/>
                </a:solidFill>
              </a:defRPr>
            </a:lvl1pPr>
          </a:lstStyle>
          <a:p>
            <a:pPr algn="l" indent="0" marL="0">
              <a:buNone/>
            </a:pPr>
            <a:endParaRPr lang="en-US" sz="17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4.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4.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4.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chart" Target="/ppt/charts/chart5.xml"/><Relationship Id="rId3" Type="http://schemas.openxmlformats.org/officeDocument/2006/relationships/slideLayout" Target="../slideLayouts/slideLayout4.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slideLayout" Target="../slideLayouts/slideLayout4.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chart" Target="/ppt/charts/chart9.xml"/><Relationship Id="rId3" Type="http://schemas.openxmlformats.org/officeDocument/2006/relationships/slideLayout" Target="../slideLayouts/slideLayout4.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chart" Target="/ppt/charts/chart11.xml"/><Relationship Id="rId3" Type="http://schemas.openxmlformats.org/officeDocument/2006/relationships/chart" Target="/ppt/charts/chart12.xml"/><Relationship Id="rId4" Type="http://schemas.openxmlformats.org/officeDocument/2006/relationships/slideLayout" Target="../slideLayouts/slideLayout4.xml"/><Relationship Id="rId5"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Company name"/>
          <p:cNvSpPr txBox="1"/>
          <p:nvPr/>
        </p:nvSpPr>
        <p:spPr>
          <a:xfrm>
            <a:off x="548640" y="320040"/>
            <a:ext cx="6400800" cy="1143000"/>
          </a:xfrm>
          <a:prstGeom prst="rect">
            <a:avLst/>
          </a:prstGeom>
          <a:noFill/>
          <a:ln/>
        </p:spPr>
        <p:txBody>
          <a:bodyPr wrap="square" lIns="0" tIns="0" rIns="0" bIns="0" rtlCol="0" anchor="t"/>
          <a:lstStyle/>
          <a:p>
            <a:pPr indent="0" marL="0">
              <a:buNone/>
            </a:pPr>
            <a:r>
              <a:rPr lang="en-US" sz="3400" b="1" dirty="0">
                <a:solidFill>
                  <a:schemeClr val="tx2"/>
                </a:solidFill>
              </a:rPr>
              <a:t>FTAI Aviation</a:t>
            </a:r>
            <a:endParaRPr lang="en-US" sz="3400" dirty="0"/>
          </a:p>
          <a:p>
            <a:pPr indent="0" marL="0">
              <a:buNone/>
            </a:pPr>
            <a:r>
              <a:rPr lang="en-US" sz="3000" dirty="0">
                <a:solidFill>
                  <a:schemeClr val="tx2"/>
                </a:solidFill>
              </a:rPr>
              <a:t>(NASDAQ: FTAI)</a:t>
            </a:r>
            <a:endParaRPr lang="en-US" sz="3400" dirty="0"/>
          </a:p>
        </p:txBody>
      </p:sp>
      <p:sp>
        <p:nvSpPr>
          <p:cNvPr id="3" name="Recommendation"/>
          <p:cNvSpPr txBox="1"/>
          <p:nvPr/>
        </p:nvSpPr>
        <p:spPr>
          <a:xfrm>
            <a:off x="548640" y="1508760"/>
            <a:ext cx="6400800" cy="502920"/>
          </a:xfrm>
          <a:prstGeom prst="rect">
            <a:avLst/>
          </a:prstGeom>
          <a:noFill/>
          <a:ln/>
        </p:spPr>
        <p:txBody>
          <a:bodyPr wrap="square" lIns="0" tIns="0" rIns="0" bIns="0" rtlCol="0" anchor="ctr"/>
          <a:lstStyle/>
          <a:p>
            <a:pPr indent="0" marL="0">
              <a:buNone/>
            </a:pPr>
            <a:r>
              <a:rPr lang="en-US" sz="2800" b="1" dirty="0">
                <a:solidFill>
                  <a:schemeClr val="accent2"/>
                </a:solidFill>
              </a:rPr>
              <a:t>Long Recommendation</a:t>
            </a:r>
            <a:endParaRPr lang="en-US" sz="2800" dirty="0"/>
          </a:p>
        </p:txBody>
      </p:sp>
      <p:sp>
        <p:nvSpPr>
          <p:cNvPr id="4" name="Stat 1 value"/>
          <p:cNvSpPr txBox="1"/>
          <p:nvPr/>
        </p:nvSpPr>
        <p:spPr>
          <a:xfrm>
            <a:off x="54864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$167</a:t>
            </a:r>
            <a:endParaRPr lang="en-US" sz="4800" dirty="0"/>
          </a:p>
        </p:txBody>
      </p:sp>
      <p:sp>
        <p:nvSpPr>
          <p:cNvPr id="5" name="Stat 1 label"/>
          <p:cNvSpPr txBox="1"/>
          <p:nvPr/>
        </p:nvSpPr>
        <p:spPr>
          <a:xfrm>
            <a:off x="54864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Current Price</a:t>
            </a:r>
            <a:endParaRPr lang="en-US" sz="1600" dirty="0"/>
          </a:p>
        </p:txBody>
      </p:sp>
      <p:sp>
        <p:nvSpPr>
          <p:cNvPr id="6" name="Stat 2 value"/>
          <p:cNvSpPr txBox="1"/>
          <p:nvPr/>
        </p:nvSpPr>
        <p:spPr>
          <a:xfrm>
            <a:off x="256032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$308</a:t>
            </a:r>
            <a:endParaRPr lang="en-US" sz="4800" dirty="0"/>
          </a:p>
        </p:txBody>
      </p:sp>
      <p:sp>
        <p:nvSpPr>
          <p:cNvPr id="7" name="Stat 2 label"/>
          <p:cNvSpPr txBox="1"/>
          <p:nvPr/>
        </p:nvSpPr>
        <p:spPr>
          <a:xfrm>
            <a:off x="256032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Target Price</a:t>
            </a:r>
            <a:endParaRPr lang="en-US" sz="1600" dirty="0"/>
          </a:p>
        </p:txBody>
      </p:sp>
      <p:sp>
        <p:nvSpPr>
          <p:cNvPr id="8" name="Stat divider 1"/>
          <p:cNvSpPr/>
          <p:nvPr/>
        </p:nvSpPr>
        <p:spPr>
          <a:xfrm>
            <a:off x="2560320" y="2697480"/>
            <a:ext cx="0" cy="1051560"/>
          </a:xfrm>
          <a:prstGeom prst="line">
            <a:avLst/>
          </a:prstGeom>
          <a:noFill/>
          <a:ln w="12700">
            <a:solidFill>
              <a:srgbClr val="DCD8D3"/>
            </a:solidFill>
            <a:prstDash val="solid"/>
          </a:ln>
        </p:spPr>
      </p:sp>
      <p:sp>
        <p:nvSpPr>
          <p:cNvPr id="9" name="Stat 3 value"/>
          <p:cNvSpPr txBox="1"/>
          <p:nvPr/>
        </p:nvSpPr>
        <p:spPr>
          <a:xfrm>
            <a:off x="457200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84%</a:t>
            </a:r>
            <a:endParaRPr lang="en-US" sz="4800" dirty="0"/>
          </a:p>
        </p:txBody>
      </p:sp>
      <p:sp>
        <p:nvSpPr>
          <p:cNvPr id="10" name="Stat 3 label"/>
          <p:cNvSpPr txBox="1"/>
          <p:nvPr/>
        </p:nvSpPr>
        <p:spPr>
          <a:xfrm>
            <a:off x="457200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Upside</a:t>
            </a:r>
            <a:endParaRPr lang="en-US" sz="1600" dirty="0"/>
          </a:p>
        </p:txBody>
      </p:sp>
      <p:sp>
        <p:nvSpPr>
          <p:cNvPr id="11" name="Stat divider 2"/>
          <p:cNvSpPr/>
          <p:nvPr/>
        </p:nvSpPr>
        <p:spPr>
          <a:xfrm>
            <a:off x="4572000" y="2697480"/>
            <a:ext cx="0" cy="1051560"/>
          </a:xfrm>
          <a:prstGeom prst="line">
            <a:avLst/>
          </a:prstGeom>
          <a:noFill/>
          <a:ln w="12700">
            <a:solidFill>
              <a:srgbClr val="DCD8D3"/>
            </a:solidFill>
            <a:prstDash val="solid"/>
          </a:ln>
        </p:spPr>
      </p:sp>
      <p:sp>
        <p:nvSpPr>
          <p:cNvPr id="12" name="Stat 4 value"/>
          <p:cNvSpPr txBox="1"/>
          <p:nvPr/>
        </p:nvSpPr>
        <p:spPr>
          <a:xfrm>
            <a:off x="6583680" y="2514600"/>
            <a:ext cx="2011680" cy="868680"/>
          </a:xfrm>
          <a:prstGeom prst="rect">
            <a:avLst/>
          </a:prstGeom>
          <a:noFill/>
          <a:ln/>
        </p:spPr>
        <p:txBody>
          <a:bodyPr wrap="square" lIns="0" tIns="0" rIns="0" bIns="0" rtlCol="0" anchor="b"/>
          <a:lstStyle/>
          <a:p>
            <a:pPr algn="ctr" indent="0" marL="0">
              <a:buNone/>
            </a:pPr>
            <a:r>
              <a:rPr lang="en-US" sz="4800" b="1" dirty="0">
                <a:solidFill>
                  <a:schemeClr val="tx2"/>
                </a:solidFill>
              </a:rPr>
              <a:t>3.4x</a:t>
            </a:r>
            <a:endParaRPr lang="en-US" sz="4800" dirty="0"/>
          </a:p>
        </p:txBody>
      </p:sp>
      <p:sp>
        <p:nvSpPr>
          <p:cNvPr id="13" name="Stat 4 label"/>
          <p:cNvSpPr txBox="1"/>
          <p:nvPr/>
        </p:nvSpPr>
        <p:spPr>
          <a:xfrm>
            <a:off x="6583680" y="3429000"/>
            <a:ext cx="2011680" cy="365760"/>
          </a:xfrm>
          <a:prstGeom prst="rect">
            <a:avLst/>
          </a:prstGeom>
          <a:noFill/>
          <a:ln/>
        </p:spPr>
        <p:txBody>
          <a:bodyPr wrap="square" lIns="0" tIns="0" rIns="0" bIns="0" rtlCol="0" anchor="t"/>
          <a:lstStyle/>
          <a:p>
            <a:pPr algn="ctr" indent="0" marL="0">
              <a:buNone/>
            </a:pPr>
            <a:r>
              <a:rPr lang="en-US" sz="1600" dirty="0">
                <a:solidFill>
                  <a:schemeClr val="accent2"/>
                </a:solidFill>
              </a:rPr>
              <a:t>Reward / Risk</a:t>
            </a:r>
            <a:endParaRPr lang="en-US" sz="1600" dirty="0"/>
          </a:p>
        </p:txBody>
      </p:sp>
      <p:sp>
        <p:nvSpPr>
          <p:cNvPr id="14" name="Stat divider 3"/>
          <p:cNvSpPr/>
          <p:nvPr/>
        </p:nvSpPr>
        <p:spPr>
          <a:xfrm>
            <a:off x="6583680" y="2697480"/>
            <a:ext cx="0" cy="1051560"/>
          </a:xfrm>
          <a:prstGeom prst="line">
            <a:avLst/>
          </a:prstGeom>
          <a:noFill/>
          <a:ln w="12700">
            <a:solidFill>
              <a:srgbClr val="DCD8D3"/>
            </a:solidFill>
            <a:prstDash val="solid"/>
          </a:ln>
        </p:spPr>
      </p:sp>
      <p:sp>
        <p:nvSpPr>
          <p:cNvPr id="15" name="Quote"/>
          <p:cNvSpPr txBox="1"/>
          <p:nvPr/>
        </p:nvSpPr>
        <p:spPr>
          <a:xfrm>
            <a:off x="411480" y="4206240"/>
            <a:ext cx="8321040" cy="731520"/>
          </a:xfrm>
          <a:prstGeom prst="rect">
            <a:avLst/>
          </a:prstGeom>
          <a:solidFill>
            <a:srgbClr val="EFEDEA"/>
          </a:solidFill>
          <a:ln/>
        </p:spPr>
        <p:txBody>
          <a:bodyPr wrap="square" lIns="127000" tIns="50800" rIns="127000" bIns="50800" rtlCol="0" anchor="ctr"/>
          <a:lstStyle/>
          <a:p>
            <a:pPr algn="ctr" indent="0" marL="0">
              <a:buNone/>
            </a:pPr>
            <a:r>
              <a:rPr lang="en-US" sz="1900" b="1" dirty="0">
                <a:solidFill>
                  <a:srgbClr val="1A1A1A"/>
                </a:solidFill>
              </a:rPr>
              <a:t>“Be fearful when others are greedy and greedy when others are fearful.”</a:t>
            </a:r>
            <a:endParaRPr lang="en-US" sz="1900" dirty="0"/>
          </a:p>
        </p:txBody>
      </p:sp>
      <p:sp>
        <p:nvSpPr>
          <p:cNvPr id="16" name="Quote attribution"/>
          <p:cNvSpPr txBox="1"/>
          <p:nvPr/>
        </p:nvSpPr>
        <p:spPr>
          <a:xfrm>
            <a:off x="411480" y="5029200"/>
            <a:ext cx="8321040" cy="365760"/>
          </a:xfrm>
          <a:prstGeom prst="rect">
            <a:avLst/>
          </a:prstGeom>
          <a:noFill/>
          <a:ln/>
        </p:spPr>
        <p:txBody>
          <a:bodyPr wrap="square" lIns="0" tIns="0" rIns="0" bIns="0" rtlCol="0" anchor="ctr"/>
          <a:lstStyle/>
          <a:p>
            <a:pPr algn="ctr" indent="0" marL="0">
              <a:buNone/>
            </a:pPr>
            <a:r>
              <a:rPr lang="en-US" sz="1900" b="1" i="1" dirty="0">
                <a:solidFill>
                  <a:srgbClr val="1A1A1A"/>
                </a:solidFill>
              </a:rPr>
              <a:t>— Warren Buffett</a:t>
            </a:r>
            <a:endParaRPr lang="en-US" sz="1900" dirty="0"/>
          </a:p>
        </p:txBody>
      </p:sp>
      <p:sp>
        <p:nvSpPr>
          <p:cNvPr id="17" name="Pitch details"/>
          <p:cNvSpPr txBox="1"/>
          <p:nvPr/>
        </p:nvSpPr>
        <p:spPr>
          <a:xfrm>
            <a:off x="548640" y="5760720"/>
            <a:ext cx="4754880" cy="868680"/>
          </a:xfrm>
          <a:prstGeom prst="rect">
            <a:avLst/>
          </a:prstGeom>
          <a:noFill/>
          <a:ln/>
        </p:spPr>
        <p:txBody>
          <a:bodyPr wrap="square" lIns="0" tIns="0" rIns="0" bIns="0" rtlCol="0" anchor="t"/>
          <a:lstStyle/>
          <a:p>
            <a:pPr indent="0" marL="0">
              <a:spcAft>
                <a:spcPts val="200"/>
              </a:spcAft>
              <a:buNone/>
            </a:pPr>
            <a:r>
              <a:rPr lang="en-US" sz="1500" dirty="0">
                <a:solidFill>
                  <a:srgbClr val="1A1A1A"/>
                </a:solidFill>
              </a:rPr>
              <a:t>Date: October 2026</a:t>
            </a:r>
            <a:endParaRPr lang="en-US" sz="1500" dirty="0"/>
          </a:p>
          <a:p>
            <a:pPr indent="0" marL="0">
              <a:spcAft>
                <a:spcPts val="200"/>
              </a:spcAft>
              <a:buNone/>
            </a:pPr>
            <a:r>
              <a:rPr lang="en-US" sz="1500" dirty="0">
                <a:solidFill>
                  <a:srgbClr val="1A1A1A"/>
                </a:solidFill>
              </a:rPr>
              <a:t>Current Price: $167.03 (10/2/26)</a:t>
            </a:r>
            <a:endParaRPr lang="en-US" sz="1500" dirty="0"/>
          </a:p>
          <a:p>
            <a:pPr indent="0" marL="0">
              <a:spcAft>
                <a:spcPts val="200"/>
              </a:spcAft>
              <a:buNone/>
            </a:pPr>
            <a:r>
              <a:rPr lang="en-US" sz="1500" dirty="0">
                <a:solidFill>
                  <a:srgbClr val="1A1A1A"/>
                </a:solidFill>
              </a:rPr>
              <a:t>Target Price: $308.03 (84% upside, 3.4x R/R)</a:t>
            </a:r>
            <a:endParaRPr lang="en-US" sz="1500" dirty="0"/>
          </a:p>
        </p:txBody>
      </p:sp>
      <p:pic>
        <p:nvPicPr>
          <p:cNvPr id="18" name="GPS logo" descr="/home/user/SPOT/deck/gps_logo.jpeg">    </p:cNvPr>
          <p:cNvPicPr>
            <a:picLocks noChangeAspect="1"/>
          </p:cNvPicPr>
          <p:nvPr/>
        </p:nvPicPr>
        <p:blipFill>
          <a:blip r:embed="rId1"/>
          <a:stretch>
            <a:fillRect/>
          </a:stretch>
        </p:blipFill>
        <p:spPr>
          <a:xfrm>
            <a:off x="5897880" y="5532120"/>
            <a:ext cx="1234440" cy="1133856"/>
          </a:xfrm>
          <a:prstGeom prst="rect">
            <a:avLst/>
          </a:prstGeom>
        </p:spPr>
      </p:pic>
      <p:sp>
        <p:nvSpPr>
          <p:cNvPr id="19" name="Logo divider"/>
          <p:cNvSpPr/>
          <p:nvPr/>
        </p:nvSpPr>
        <p:spPr>
          <a:xfrm>
            <a:off x="7360920" y="5577840"/>
            <a:ext cx="0" cy="1097280"/>
          </a:xfrm>
          <a:prstGeom prst="line">
            <a:avLst/>
          </a:prstGeom>
          <a:noFill/>
          <a:ln w="12700">
            <a:solidFill>
              <a:srgbClr val="847C7A"/>
            </a:solidFill>
            <a:prstDash val="solid"/>
          </a:ln>
        </p:spPr>
      </p:sp>
      <p:sp>
        <p:nvSpPr>
          <p:cNvPr id="20" name="Presenter"/>
          <p:cNvSpPr txBox="1"/>
          <p:nvPr/>
        </p:nvSpPr>
        <p:spPr>
          <a:xfrm>
            <a:off x="7452360" y="5669280"/>
            <a:ext cx="1417320" cy="868680"/>
          </a:xfrm>
          <a:prstGeom prst="rect">
            <a:avLst/>
          </a:prstGeom>
          <a:noFill/>
          <a:ln/>
        </p:spPr>
        <p:txBody>
          <a:bodyPr wrap="square" lIns="0" tIns="0" rIns="0" bIns="0" rtlCol="0" anchor="ctr"/>
          <a:lstStyle/>
          <a:p>
            <a:pPr algn="ctr" indent="0" marL="0">
              <a:buNone/>
            </a:pPr>
            <a:r>
              <a:rPr lang="en-US" sz="1800" b="1" dirty="0">
                <a:solidFill>
                  <a:schemeClr val="accent2"/>
                </a:solidFill>
              </a:rPr>
              <a:t>Presenter</a:t>
            </a:r>
            <a:endParaRPr lang="en-US" sz="1800" dirty="0"/>
          </a:p>
          <a:p>
            <a:pPr algn="ctr" indent="0" marL="0">
              <a:buNone/>
            </a:pPr>
            <a:r>
              <a:rPr lang="en-US" sz="1800" b="1" dirty="0">
                <a:solidFill>
                  <a:schemeClr val="accent2"/>
                </a:solidFill>
              </a:rPr>
              <a:t>Name</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a:t>
            </a:r>
            <a:endParaRPr lang="en-US" sz="3200" dirty="0"/>
          </a:p>
        </p:txBody>
      </p:sp>
      <p:sp>
        <p:nvSpPr>
          <p:cNvPr id="3" name="Point 1"/>
          <p:cNvSpPr txBox="1"/>
          <p:nvPr/>
        </p:nvSpPr>
        <p:spPr>
          <a:xfrm>
            <a:off x="1600200" y="1188720"/>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1Q26 margins compressed 500 bps, and management guided EBITDA margins down from 40% to 30% for two years.</a:t>
            </a:r>
            <a:endParaRPr lang="en-US" sz="1500" dirty="0"/>
          </a:p>
        </p:txBody>
      </p:sp>
      <p:sp>
        <p:nvSpPr>
          <p:cNvPr id="4" name="Point 1 number"/>
          <p:cNvSpPr/>
          <p:nvPr/>
        </p:nvSpPr>
        <p:spPr>
          <a:xfrm>
            <a:off x="1120140" y="1211580"/>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1</a:t>
            </a:r>
            <a:endParaRPr lang="en-US" sz="2600" dirty="0"/>
          </a:p>
        </p:txBody>
      </p:sp>
      <p:sp>
        <p:nvSpPr>
          <p:cNvPr id="5" name="Point 2"/>
          <p:cNvSpPr txBox="1"/>
          <p:nvPr/>
        </p:nvSpPr>
        <p:spPr>
          <a:xfrm>
            <a:off x="1600200" y="2304288"/>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A fraud overhang from the 2025 short report leaves the market doubting this is the bottom: it still sees FTAI as over-earning.</a:t>
            </a:r>
            <a:endParaRPr lang="en-US" sz="1500" dirty="0"/>
          </a:p>
        </p:txBody>
      </p:sp>
      <p:sp>
        <p:nvSpPr>
          <p:cNvPr id="6" name="Point 2 number"/>
          <p:cNvSpPr/>
          <p:nvPr/>
        </p:nvSpPr>
        <p:spPr>
          <a:xfrm>
            <a:off x="1120140" y="2327148"/>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2</a:t>
            </a:r>
            <a:endParaRPr lang="en-US" sz="2600" dirty="0"/>
          </a:p>
        </p:txBody>
      </p:sp>
      <p:sp>
        <p:nvSpPr>
          <p:cNvPr id="7" name="Point 3"/>
          <p:cNvSpPr txBox="1"/>
          <p:nvPr/>
        </p:nvSpPr>
        <p:spPr>
          <a:xfrm>
            <a:off x="1600200" y="3419856"/>
            <a:ext cx="6629400" cy="914400"/>
          </a:xfrm>
          <a:prstGeom prst="rect">
            <a:avLst/>
          </a:prstGeom>
          <a:solidFill>
            <a:srgbClr val="DCD8D3"/>
          </a:solidFill>
          <a:ln/>
        </p:spPr>
        <p:txBody>
          <a:bodyPr wrap="square" lIns="558800" tIns="25400" rIns="127000" bIns="25400" rtlCol="0" anchor="ctr"/>
          <a:lstStyle/>
          <a:p>
            <a:pPr algn="ctr" indent="0" marL="0">
              <a:buNone/>
            </a:pPr>
            <a:r>
              <a:rPr lang="en-US" sz="1500" b="1" dirty="0">
                <a:solidFill>
                  <a:schemeClr val="tx2"/>
                </a:solidFill>
              </a:rPr>
              <a:t>We believe FTAI has reached steady state: margins have bottomed and share gains will drive volume growth.</a:t>
            </a:r>
            <a:endParaRPr lang="en-US" sz="1500" dirty="0"/>
          </a:p>
        </p:txBody>
      </p:sp>
      <p:sp>
        <p:nvSpPr>
          <p:cNvPr id="8" name="Point 3 number"/>
          <p:cNvSpPr/>
          <p:nvPr/>
        </p:nvSpPr>
        <p:spPr>
          <a:xfrm>
            <a:off x="1120140" y="3442716"/>
            <a:ext cx="868680" cy="868680"/>
          </a:xfrm>
          <a:prstGeom prst="ellipse">
            <a:avLst/>
          </a:prstGeom>
          <a:solidFill>
            <a:srgbClr val="FFFFFF"/>
          </a:solidFill>
          <a:ln w="25400">
            <a:solidFill>
              <a:srgbClr val="0A1C58"/>
            </a:solidFill>
          </a:ln>
        </p:spPr>
        <p:txBody>
          <a:bodyPr wrap="square" lIns="0" tIns="0" rIns="0" bIns="0" rtlCol="0" anchor="ctr"/>
          <a:lstStyle/>
          <a:p>
            <a:pPr algn="ctr" indent="0" marL="0">
              <a:buNone/>
            </a:pPr>
            <a:r>
              <a:rPr lang="en-US" sz="2600" b="1" dirty="0">
                <a:solidFill>
                  <a:schemeClr val="tx2"/>
                </a:solidFill>
              </a:rPr>
              <a:t>3</a:t>
            </a:r>
            <a:endParaRPr lang="en-US" sz="2600" dirty="0"/>
          </a:p>
        </p:txBody>
      </p:sp>
      <p:sp>
        <p:nvSpPr>
          <p:cNvPr id="9" name="Funnel"/>
          <p:cNvSpPr/>
          <p:nvPr/>
        </p:nvSpPr>
        <p:spPr>
          <a:xfrm flipV="1">
            <a:off x="1188720" y="4553712"/>
            <a:ext cx="7040880" cy="411480"/>
          </a:xfrm>
          <a:prstGeom prst="triangle">
            <a:avLst/>
          </a:prstGeom>
          <a:solidFill>
            <a:srgbClr val="DCD8D3"/>
          </a:solidFill>
          <a:ln/>
        </p:spPr>
      </p:sp>
      <p:sp>
        <p:nvSpPr>
          <p:cNvPr id="10" name="Conclusion"/>
          <p:cNvSpPr txBox="1"/>
          <p:nvPr/>
        </p:nvSpPr>
        <p:spPr>
          <a:xfrm>
            <a:off x="1188720" y="5120640"/>
            <a:ext cx="7040880" cy="777240"/>
          </a:xfrm>
          <a:prstGeom prst="rect">
            <a:avLst/>
          </a:prstGeom>
          <a:solidFill>
            <a:srgbClr val="0A1C58"/>
          </a:solidFill>
          <a:ln/>
        </p:spPr>
        <p:txBody>
          <a:bodyPr wrap="square" lIns="127000" tIns="25400" rIns="127000" bIns="25400" rtlCol="0" anchor="ctr"/>
          <a:lstStyle/>
          <a:p>
            <a:pPr algn="ctr" indent="0" marL="0">
              <a:buNone/>
            </a:pPr>
            <a:r>
              <a:rPr lang="en-US" sz="1700" b="1" dirty="0">
                <a:solidFill>
                  <a:schemeClr val="bg1"/>
                </a:solidFill>
              </a:rPr>
              <a:t>The market is pricing a trough as a cliff. We see 84% upside, with Power as a free call option.</a:t>
            </a:r>
            <a:endParaRPr lang="en-US" sz="1700" dirty="0"/>
          </a:p>
        </p:txBody>
      </p:sp>
      <p:sp>
        <p:nvSpPr>
          <p:cNvPr id="11" name="Source"/>
          <p:cNvSpPr txBox="1"/>
          <p:nvPr/>
        </p:nvSpPr>
        <p:spPr>
          <a:xfrm>
            <a:off x="320040" y="6355080"/>
            <a:ext cx="548640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Company filings, earnings calls, GPS estimates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(1/3)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In one quarter, Aerospace margins fell ~470 bps, and management guided ~30% for two years.</a:t>
            </a:r>
            <a:endParaRPr lang="en-US" sz="1700" dirty="0"/>
          </a:p>
        </p:txBody>
      </p:sp>
      <p:sp>
        <p:nvSpPr>
          <p:cNvPr id="4" name="Margin chart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Aerospace Products Adj. EBITDA Margin</a:t>
            </a:r>
            <a:endParaRPr lang="en-US" sz="1600" dirty="0"/>
          </a:p>
        </p:txBody>
      </p:sp>
      <p:sp>
        <p:nvSpPr>
          <p:cNvPr id="5" name="Margin chart header rule"/>
          <p:cNvSpPr/>
          <p:nvPr/>
        </p:nvSpPr>
        <p:spPr>
          <a:xfrm>
            <a:off x="320040" y="1975104"/>
            <a:ext cx="5257800" cy="0"/>
          </a:xfrm>
          <a:prstGeom prst="line">
            <a:avLst/>
          </a:prstGeom>
          <a:noFill/>
          <a:ln w="12700">
            <a:solidFill>
              <a:srgbClr val="1A1A1A"/>
            </a:solidFill>
            <a:prstDash val="solid"/>
          </a:ln>
        </p:spPr>
      </p:sp>
      <p:graphicFrame>
        <p:nvGraphicFramePr>
          <p:cNvPr id="6" name="Margin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Guide label"/>
          <p:cNvSpPr txBox="1"/>
          <p:nvPr/>
        </p:nvSpPr>
        <p:spPr>
          <a:xfrm>
            <a:off x="4206240" y="278892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Mgmt. guide</a:t>
            </a:r>
            <a:endParaRPr lang="en-US" sz="1200" dirty="0"/>
          </a:p>
        </p:txBody>
      </p:sp>
      <p:sp>
        <p:nvSpPr>
          <p:cNvPr id="8" name="Compression callout"/>
          <p:cNvSpPr/>
          <p:nvPr/>
        </p:nvSpPr>
        <p:spPr>
          <a:xfrm>
            <a:off x="2606040" y="2103120"/>
            <a:ext cx="1097280" cy="109728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–470</a:t>
            </a:r>
            <a:endParaRPr lang="en-US" sz="2000" dirty="0"/>
          </a:p>
          <a:p>
            <a:pPr algn="ctr" indent="0" marL="0">
              <a:buNone/>
            </a:pPr>
            <a:r>
              <a:rPr lang="en-US" sz="1100" b="1" dirty="0">
                <a:solidFill>
                  <a:schemeClr val="bg1"/>
                </a:solidFill>
              </a:rPr>
              <a:t>bps q/q</a:t>
            </a:r>
            <a:endParaRPr lang="en-US" sz="2000" dirty="0"/>
          </a:p>
        </p:txBody>
      </p:sp>
      <p:sp>
        <p:nvSpPr>
          <p:cNvPr id="9" name="Mix chart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Management: “It's Mix”</a:t>
            </a:r>
            <a:endParaRPr lang="en-US" sz="1600" dirty="0"/>
          </a:p>
        </p:txBody>
      </p:sp>
      <p:sp>
        <p:nvSpPr>
          <p:cNvPr id="10" name="Mix chart header rule"/>
          <p:cNvSpPr/>
          <p:nvPr/>
        </p:nvSpPr>
        <p:spPr>
          <a:xfrm>
            <a:off x="5897880" y="1975104"/>
            <a:ext cx="2926080" cy="0"/>
          </a:xfrm>
          <a:prstGeom prst="line">
            <a:avLst/>
          </a:prstGeom>
          <a:noFill/>
          <a:ln w="12700">
            <a:solidFill>
              <a:srgbClr val="1A1A1A"/>
            </a:solidFill>
            <a:prstDash val="solid"/>
          </a:ln>
        </p:spPr>
      </p:sp>
      <p:graphicFrame>
        <p:nvGraphicFramePr>
          <p:cNvPr id="11" name="Mix chart" descr=""/>
          <p:cNvGraphicFramePr/>
          <p:nvPr/>
        </p:nvGraphicFramePr>
        <p:xfrm>
          <a:off x="5897880" y="2103120"/>
          <a:ext cx="2926080" cy="2194560"/>
        </p:xfrm>
        <a:graphic xmlns:a="http://schemas.openxmlformats.org/drawingml/2006/main">
          <a:graphicData uri="http://schemas.openxmlformats.org/drawingml/2006/chart">
            <c:chart xmlns:c="http://schemas.openxmlformats.org/drawingml/2006/chart" r:id="rId2"/>
          </a:graphicData>
        </a:graphic>
      </p:graphicFrame>
      <p:sp>
        <p:nvSpPr>
          <p:cNvPr id="12" name="Mix detail"/>
          <p:cNvSpPr txBox="1"/>
          <p:nvPr/>
        </p:nvSpPr>
        <p:spPr>
          <a:xfrm>
            <a:off x="5897880" y="4370832"/>
            <a:ext cx="2926080" cy="566928"/>
          </a:xfrm>
          <a:prstGeom prst="rect">
            <a:avLst/>
          </a:prstGeom>
          <a:noFill/>
          <a:ln/>
        </p:spPr>
        <p:txBody>
          <a:bodyPr wrap="square" lIns="0" tIns="0" rIns="0" bIns="0" rtlCol="0" anchor="t"/>
          <a:lstStyle/>
          <a:p>
            <a:pPr indent="0" marL="0">
              <a:buNone/>
            </a:pPr>
            <a:r>
              <a:rPr lang="en-US" sz="1200" b="1" dirty="0">
                <a:solidFill>
                  <a:srgbClr val="1A1A1A"/>
                </a:solidFill>
              </a:rPr>
              <a:t>Light: </a:t>
            </a:r>
            <a:pPr indent="0" marL="0">
              <a:buNone/>
            </a:pPr>
            <a:r>
              <a:rPr lang="en-US" sz="1200" dirty="0">
                <a:solidFill>
                  <a:srgbClr val="1A1A1A"/>
                </a:solidFill>
              </a:rPr>
              <a:t>$6M sale, $2.5M profit</a:t>
            </a:r>
            <a:endParaRPr lang="en-US" sz="1200" dirty="0"/>
          </a:p>
          <a:p>
            <a:pPr indent="0" marL="0">
              <a:buNone/>
            </a:pPr>
            <a:r>
              <a:rPr lang="en-US" sz="1200" b="1" dirty="0">
                <a:solidFill>
                  <a:srgbClr val="1A1A1A"/>
                </a:solidFill>
              </a:rPr>
              <a:t>Heavy: </a:t>
            </a:r>
            <a:pPr indent="0" marL="0">
              <a:buNone/>
            </a:pPr>
            <a:r>
              <a:rPr lang="en-US" sz="1200" dirty="0">
                <a:solidFill>
                  <a:srgbClr val="1A1A1A"/>
                </a:solidFill>
              </a:rPr>
              <a:t>$12M sale, $3.0M profit</a:t>
            </a:r>
            <a:endParaRPr lang="en-US" sz="1200" dirty="0"/>
          </a:p>
        </p:txBody>
      </p:sp>
      <p:sp>
        <p:nvSpPr>
          <p:cNvPr id="13" name="Mix kicker"/>
          <p:cNvSpPr txBox="1"/>
          <p:nvPr/>
        </p:nvSpPr>
        <p:spPr>
          <a:xfrm>
            <a:off x="5897880" y="4983480"/>
            <a:ext cx="2926080" cy="320040"/>
          </a:xfrm>
          <a:prstGeom prst="rect">
            <a:avLst/>
          </a:prstGeom>
          <a:noFill/>
          <a:ln/>
        </p:spPr>
        <p:txBody>
          <a:bodyPr wrap="square" lIns="0" tIns="0" rIns="0" bIns="0" rtlCol="0" anchor="ctr"/>
          <a:lstStyle/>
          <a:p>
            <a:pPr indent="0" marL="0">
              <a:buNone/>
            </a:pPr>
            <a:r>
              <a:rPr lang="en-US" sz="1300" b="1" i="1" dirty="0">
                <a:solidFill>
                  <a:schemeClr val="tx2"/>
                </a:solidFill>
              </a:rPr>
              <a:t>Lower margin, more dollars per job</a:t>
            </a:r>
            <a:endParaRPr lang="en-US" sz="13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drop is real. Is ~30% the floor, or just a waypoint?</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(2/3)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A 2025 short report gave the market a darker explanation, and it stuck.</a:t>
            </a:r>
            <a:endParaRPr lang="en-US" sz="1700" dirty="0"/>
          </a:p>
        </p:txBody>
      </p:sp>
      <p:sp>
        <p:nvSpPr>
          <p:cNvPr id="4" name="Short thesis header"/>
          <p:cNvSpPr txBox="1"/>
          <p:nvPr/>
        </p:nvSpPr>
        <p:spPr>
          <a:xfrm>
            <a:off x="320040" y="1554480"/>
            <a:ext cx="4572000" cy="365760"/>
          </a:xfrm>
          <a:prstGeom prst="rect">
            <a:avLst/>
          </a:prstGeom>
          <a:noFill/>
          <a:ln/>
        </p:spPr>
        <p:txBody>
          <a:bodyPr wrap="square" lIns="0" tIns="0" rIns="0" bIns="0" rtlCol="0" anchor="b"/>
          <a:lstStyle/>
          <a:p>
            <a:pPr algn="ctr" indent="0" marL="0">
              <a:buNone/>
            </a:pPr>
            <a:r>
              <a:rPr lang="en-US" sz="1600" b="1" dirty="0">
                <a:solidFill>
                  <a:srgbClr val="1A1A1A"/>
                </a:solidFill>
              </a:rPr>
              <a:t>The Short Thesis (Jan. 2025)</a:t>
            </a:r>
            <a:endParaRPr lang="en-US" sz="1600" dirty="0"/>
          </a:p>
        </p:txBody>
      </p:sp>
      <p:sp>
        <p:nvSpPr>
          <p:cNvPr id="5" name="Short thesis header rule"/>
          <p:cNvSpPr/>
          <p:nvPr/>
        </p:nvSpPr>
        <p:spPr>
          <a:xfrm>
            <a:off x="320040" y="1975104"/>
            <a:ext cx="4572000" cy="0"/>
          </a:xfrm>
          <a:prstGeom prst="line">
            <a:avLst/>
          </a:prstGeom>
          <a:noFill/>
          <a:ln w="12700">
            <a:solidFill>
              <a:srgbClr val="1A1A1A"/>
            </a:solidFill>
            <a:prstDash val="solid"/>
          </a:ln>
        </p:spPr>
      </p:sp>
      <p:sp>
        <p:nvSpPr>
          <p:cNvPr id="6" name="Short step 1"/>
          <p:cNvSpPr txBox="1"/>
          <p:nvPr/>
        </p:nvSpPr>
        <p:spPr>
          <a:xfrm>
            <a:off x="548640" y="2148840"/>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Leasing engines sit on the books at depreciated value</a:t>
            </a:r>
            <a:endParaRPr lang="en-US" sz="1500" dirty="0"/>
          </a:p>
        </p:txBody>
      </p:sp>
      <p:sp>
        <p:nvSpPr>
          <p:cNvPr id="7" name="Short arrow 1"/>
          <p:cNvSpPr/>
          <p:nvPr/>
        </p:nvSpPr>
        <p:spPr>
          <a:xfrm>
            <a:off x="2395728" y="2907792"/>
            <a:ext cx="420624" cy="292608"/>
          </a:xfrm>
          <a:prstGeom prst="downArrow">
            <a:avLst/>
          </a:prstGeom>
          <a:solidFill>
            <a:srgbClr val="847C7A"/>
          </a:solidFill>
          <a:ln/>
        </p:spPr>
      </p:sp>
      <p:sp>
        <p:nvSpPr>
          <p:cNvPr id="8" name="Short step 2"/>
          <p:cNvSpPr txBox="1"/>
          <p:nvPr/>
        </p:nvSpPr>
        <p:spPr>
          <a:xfrm>
            <a:off x="548640" y="3227832"/>
            <a:ext cx="4114800" cy="731520"/>
          </a:xfrm>
          <a:prstGeom prst="rect">
            <a:avLst/>
          </a:prstGeom>
          <a:solidFill>
            <a:srgbClr val="DCD8D3"/>
          </a:solidFill>
          <a:ln/>
        </p:spPr>
        <p:txBody>
          <a:bodyPr wrap="square" lIns="127000" tIns="25400" rIns="127000" bIns="25400" rtlCol="0" anchor="ctr"/>
          <a:lstStyle/>
          <a:p>
            <a:pPr algn="ctr" indent="0" marL="0">
              <a:buNone/>
            </a:pPr>
            <a:r>
              <a:rPr lang="en-US" sz="1500" b="1" dirty="0">
                <a:solidFill>
                  <a:schemeClr val="tx2"/>
                </a:solidFill>
              </a:rPr>
              <a:t>They are moved into Aerospace Products as inventory</a:t>
            </a:r>
            <a:endParaRPr lang="en-US" sz="1500" dirty="0"/>
          </a:p>
        </p:txBody>
      </p:sp>
      <p:sp>
        <p:nvSpPr>
          <p:cNvPr id="9" name="Short arrow 2"/>
          <p:cNvSpPr/>
          <p:nvPr/>
        </p:nvSpPr>
        <p:spPr>
          <a:xfrm>
            <a:off x="2395728" y="3986784"/>
            <a:ext cx="420624" cy="292608"/>
          </a:xfrm>
          <a:prstGeom prst="downArrow">
            <a:avLst/>
          </a:prstGeom>
          <a:solidFill>
            <a:srgbClr val="847C7A"/>
          </a:solidFill>
          <a:ln/>
        </p:spPr>
      </p:sp>
      <p:sp>
        <p:nvSpPr>
          <p:cNvPr id="10" name="Short step 3"/>
          <p:cNvSpPr txBox="1"/>
          <p:nvPr/>
        </p:nvSpPr>
        <p:spPr>
          <a:xfrm>
            <a:off x="548640" y="4306824"/>
            <a:ext cx="4114800" cy="731520"/>
          </a:xfrm>
          <a:prstGeom prst="rect">
            <a:avLst/>
          </a:prstGeom>
          <a:solidFill>
            <a:srgbClr val="0A1C58"/>
          </a:solidFill>
          <a:ln/>
        </p:spPr>
        <p:txBody>
          <a:bodyPr wrap="square" lIns="127000" tIns="25400" rIns="127000" bIns="25400" rtlCol="0" anchor="ctr"/>
          <a:lstStyle/>
          <a:p>
            <a:pPr algn="ctr" indent="0" marL="0">
              <a:buNone/>
            </a:pPr>
            <a:r>
              <a:rPr lang="en-US" sz="1500" b="1" dirty="0">
                <a:solidFill>
                  <a:schemeClr val="bg1"/>
                </a:solidFill>
              </a:rPr>
              <a:t>Sold at market prices, the low cost basis inflates AP margins</a:t>
            </a:r>
            <a:endParaRPr lang="en-US" sz="1500" dirty="0"/>
          </a:p>
        </p:txBody>
      </p:sp>
      <p:sp>
        <p:nvSpPr>
          <p:cNvPr id="11" name="Readings header"/>
          <p:cNvSpPr txBox="1"/>
          <p:nvPr/>
        </p:nvSpPr>
        <p:spPr>
          <a:xfrm>
            <a:off x="525780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Two Readings of the Drop</a:t>
            </a:r>
            <a:endParaRPr lang="en-US" sz="1600" dirty="0"/>
          </a:p>
        </p:txBody>
      </p:sp>
      <p:sp>
        <p:nvSpPr>
          <p:cNvPr id="12" name="Readings header rule"/>
          <p:cNvSpPr/>
          <p:nvPr/>
        </p:nvSpPr>
        <p:spPr>
          <a:xfrm>
            <a:off x="5257800" y="1975104"/>
            <a:ext cx="3566160" cy="0"/>
          </a:xfrm>
          <a:prstGeom prst="line">
            <a:avLst/>
          </a:prstGeom>
          <a:noFill/>
          <a:ln w="12700">
            <a:solidFill>
              <a:srgbClr val="1A1A1A"/>
            </a:solidFill>
            <a:prstDash val="solid"/>
          </a:ln>
        </p:spPr>
      </p:sp>
      <p:sp>
        <p:nvSpPr>
          <p:cNvPr id="13" name="Management reading"/>
          <p:cNvSpPr txBox="1"/>
          <p:nvPr/>
        </p:nvSpPr>
        <p:spPr>
          <a:xfrm>
            <a:off x="5257800" y="2148840"/>
            <a:ext cx="3566160" cy="1325880"/>
          </a:xfrm>
          <a:prstGeom prst="rect">
            <a:avLst/>
          </a:prstGeom>
          <a:solidFill>
            <a:srgbClr val="DCD8D3"/>
          </a:solidFill>
          <a:ln/>
        </p:spPr>
        <p:txBody>
          <a:bodyPr wrap="square" lIns="127000" tIns="50800" rIns="127000" bIns="50800" rtlCol="0" anchor="ctr"/>
          <a:lstStyle/>
          <a:p>
            <a:pPr algn="ctr" indent="0" marL="0">
              <a:spcAft>
                <a:spcPts val="400"/>
              </a:spcAft>
              <a:buNone/>
            </a:pPr>
            <a:r>
              <a:rPr lang="en-US" sz="1500" b="1" dirty="0">
                <a:solidFill>
                  <a:schemeClr val="tx2"/>
                </a:solidFill>
              </a:rPr>
              <a:t>Management</a:t>
            </a:r>
            <a:endParaRPr lang="en-US" sz="1500" dirty="0"/>
          </a:p>
          <a:p>
            <a:pPr algn="ctr" indent="0" marL="0">
              <a:spcAft>
                <a:spcPts val="400"/>
              </a:spcAft>
              <a:buNone/>
            </a:pPr>
            <a:r>
              <a:rPr lang="en-US" sz="1200" dirty="0">
                <a:solidFill>
                  <a:schemeClr val="tx2"/>
                </a:solidFill>
              </a:rPr>
              <a:t>Heavier-scope work, new shops still ramping, and prices held below OEM to win share.</a:t>
            </a:r>
            <a:endParaRPr lang="en-US" sz="1500" dirty="0"/>
          </a:p>
          <a:p>
            <a:pPr algn="ctr" indent="0" marL="0">
              <a:spcAft>
                <a:spcPts val="400"/>
              </a:spcAft>
              <a:buNone/>
            </a:pPr>
            <a:r>
              <a:rPr lang="en-US" sz="1300" b="1" i="1" dirty="0">
                <a:solidFill>
                  <a:schemeClr val="tx2"/>
                </a:solidFill>
              </a:rPr>
              <a:t>→ Temporary: margins recover</a:t>
            </a:r>
            <a:endParaRPr lang="en-US" sz="1500" dirty="0"/>
          </a:p>
        </p:txBody>
      </p:sp>
      <p:sp>
        <p:nvSpPr>
          <p:cNvPr id="14" name="The Bears reading"/>
          <p:cNvSpPr txBox="1"/>
          <p:nvPr/>
        </p:nvSpPr>
        <p:spPr>
          <a:xfrm>
            <a:off x="5257800" y="3721608"/>
            <a:ext cx="3566160" cy="1325880"/>
          </a:xfrm>
          <a:prstGeom prst="rect">
            <a:avLst/>
          </a:prstGeom>
          <a:solidFill>
            <a:srgbClr val="0A1C58"/>
          </a:solidFill>
          <a:ln/>
        </p:spPr>
        <p:txBody>
          <a:bodyPr wrap="square" lIns="127000" tIns="50800" rIns="127000" bIns="50800" rtlCol="0" anchor="ctr"/>
          <a:lstStyle/>
          <a:p>
            <a:pPr algn="ctr" indent="0" marL="0">
              <a:spcAft>
                <a:spcPts val="400"/>
              </a:spcAft>
              <a:buNone/>
            </a:pPr>
            <a:r>
              <a:rPr lang="en-US" sz="1500" b="1" dirty="0">
                <a:solidFill>
                  <a:schemeClr val="bg1"/>
                </a:solidFill>
              </a:rPr>
              <a:t>The Bears</a:t>
            </a:r>
            <a:endParaRPr lang="en-US" sz="1500" dirty="0"/>
          </a:p>
          <a:p>
            <a:pPr algn="ctr" indent="0" marL="0">
              <a:spcAft>
                <a:spcPts val="400"/>
              </a:spcAft>
              <a:buNone/>
            </a:pPr>
            <a:r>
              <a:rPr lang="en-US" sz="1200" dirty="0">
                <a:solidFill>
                  <a:schemeClr val="bg1"/>
                </a:solidFill>
              </a:rPr>
              <a:t>The cheap, depreciated leasing engines that flattered margins are running out.</a:t>
            </a:r>
            <a:endParaRPr lang="en-US" sz="1500" dirty="0"/>
          </a:p>
          <a:p>
            <a:pPr algn="ctr" indent="0" marL="0">
              <a:spcAft>
                <a:spcPts val="400"/>
              </a:spcAft>
              <a:buNone/>
            </a:pPr>
            <a:r>
              <a:rPr lang="en-US" sz="1300" b="1" i="1" dirty="0">
                <a:solidFill>
                  <a:schemeClr val="bg1"/>
                </a:solidFill>
              </a:rPr>
              <a:t>→ Structural: margins keep falling</a:t>
            </a:r>
            <a:endParaRPr lang="en-US" sz="1500" dirty="0"/>
          </a:p>
        </p:txBody>
      </p:sp>
      <p:sp>
        <p:nvSpPr>
          <p:cNvPr id="15" name="Readings vs"/>
          <p:cNvSpPr txBox="1"/>
          <p:nvPr/>
        </p:nvSpPr>
        <p:spPr>
          <a:xfrm>
            <a:off x="6720840" y="3474720"/>
            <a:ext cx="640080" cy="246888"/>
          </a:xfrm>
          <a:prstGeom prst="rect">
            <a:avLst/>
          </a:prstGeom>
          <a:noFill/>
          <a:ln/>
        </p:spPr>
        <p:txBody>
          <a:bodyPr wrap="square" lIns="0" tIns="0" rIns="0" bIns="0" rtlCol="0" anchor="ctr"/>
          <a:lstStyle/>
          <a:p>
            <a:pPr algn="ctr" indent="0" marL="0">
              <a:buNone/>
            </a:pPr>
            <a:r>
              <a:rPr lang="en-US" sz="1400" b="1" i="1" dirty="0">
                <a:solidFill>
                  <a:schemeClr val="accent2"/>
                </a:solidFill>
              </a:rPr>
              <a:t>vs.</a:t>
            </a:r>
            <a:endParaRPr lang="en-US" sz="1400" dirty="0"/>
          </a:p>
        </p:txBody>
      </p:sp>
      <p:sp>
        <p:nvSpPr>
          <p:cNvPr id="16"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The market reads the margin reset as the short thesis unwinding, and prices FTAI as if it's still over-earning.</a:t>
            </a:r>
            <a:endParaRPr lang="en-US" sz="1700" dirty="0"/>
          </a:p>
        </p:txBody>
      </p:sp>
      <p:sp>
        <p:nvSpPr>
          <p:cNvPr id="17"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Muddy Waters Research (Jan. 2025), FTAI filings and earnings calls,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 Opportunity (3/3)</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market assigns no value to Power: the stock trades below the core business alone.</a:t>
            </a:r>
            <a:endParaRPr lang="en-US" sz="1700" dirty="0"/>
          </a:p>
        </p:txBody>
      </p:sp>
      <p:sp>
        <p:nvSpPr>
          <p:cNvPr id="4" name="SOTP header"/>
          <p:cNvSpPr txBox="1"/>
          <p:nvPr/>
        </p:nvSpPr>
        <p:spPr>
          <a:xfrm>
            <a:off x="320040" y="1554480"/>
            <a:ext cx="5257800" cy="365760"/>
          </a:xfrm>
          <a:prstGeom prst="rect">
            <a:avLst/>
          </a:prstGeom>
          <a:noFill/>
          <a:ln/>
        </p:spPr>
        <p:txBody>
          <a:bodyPr wrap="square" lIns="0" tIns="0" rIns="0" bIns="0" rtlCol="0" anchor="b"/>
          <a:lstStyle/>
          <a:p>
            <a:pPr algn="ctr" indent="0" marL="0">
              <a:buNone/>
            </a:pPr>
            <a:r>
              <a:rPr lang="en-US" sz="1600" b="1" dirty="0">
                <a:solidFill>
                  <a:srgbClr val="1A1A1A"/>
                </a:solidFill>
              </a:rPr>
              <a:t>FY27E Sum of the Parts ($ / Share)</a:t>
            </a:r>
            <a:endParaRPr lang="en-US" sz="1600" dirty="0"/>
          </a:p>
        </p:txBody>
      </p:sp>
      <p:sp>
        <p:nvSpPr>
          <p:cNvPr id="5" name="SOTP header rule"/>
          <p:cNvSpPr/>
          <p:nvPr/>
        </p:nvSpPr>
        <p:spPr>
          <a:xfrm>
            <a:off x="320040" y="1975104"/>
            <a:ext cx="5257800" cy="0"/>
          </a:xfrm>
          <a:prstGeom prst="line">
            <a:avLst/>
          </a:prstGeom>
          <a:noFill/>
          <a:ln w="12700">
            <a:solidFill>
              <a:srgbClr val="1A1A1A"/>
            </a:solidFill>
            <a:prstDash val="solid"/>
          </a:ln>
        </p:spPr>
      </p:sp>
      <p:graphicFrame>
        <p:nvGraphicFramePr>
          <p:cNvPr id="6" name="SOTP chart" descr=""/>
          <p:cNvGraphicFramePr/>
          <p:nvPr/>
        </p:nvGraphicFramePr>
        <p:xfrm>
          <a:off x="320040" y="2103120"/>
          <a:ext cx="5257800" cy="3200400"/>
        </p:xfrm>
        <a:graphic xmlns:a="http://schemas.openxmlformats.org/drawingml/2006/main">
          <a:graphicData uri="http://schemas.openxmlformats.org/drawingml/2006/chart">
            <c:chart xmlns:c="http://schemas.openxmlformats.org/drawingml/2006/chart" r:id="rId1"/>
          </a:graphicData>
        </a:graphic>
      </p:graphicFrame>
      <p:sp>
        <p:nvSpPr>
          <p:cNvPr id="7" name="Discount callout"/>
          <p:cNvSpPr/>
          <p:nvPr/>
        </p:nvSpPr>
        <p:spPr>
          <a:xfrm>
            <a:off x="548640" y="2148840"/>
            <a:ext cx="1051560" cy="105156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2000" b="1" dirty="0">
                <a:solidFill>
                  <a:schemeClr val="bg1"/>
                </a:solidFill>
              </a:rPr>
              <a:t>26%</a:t>
            </a:r>
            <a:endParaRPr lang="en-US" sz="2000" dirty="0"/>
          </a:p>
          <a:p>
            <a:pPr algn="ctr" indent="0" marL="0">
              <a:buNone/>
            </a:pPr>
            <a:r>
              <a:rPr lang="en-US" sz="1100" b="1" dirty="0">
                <a:solidFill>
                  <a:schemeClr val="bg1"/>
                </a:solidFill>
              </a:rPr>
              <a:t>below core</a:t>
            </a:r>
            <a:endParaRPr lang="en-US" sz="2000" dirty="0"/>
          </a:p>
        </p:txBody>
      </p:sp>
      <p:sp>
        <p:nvSpPr>
          <p:cNvPr id="8" name="Power label"/>
          <p:cNvSpPr txBox="1"/>
          <p:nvPr/>
        </p:nvSpPr>
        <p:spPr>
          <a:xfrm>
            <a:off x="2971800" y="2286000"/>
            <a:ext cx="132588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Free call option</a:t>
            </a:r>
            <a:endParaRPr lang="en-US" sz="1200" dirty="0"/>
          </a:p>
        </p:txBody>
      </p:sp>
      <p:sp>
        <p:nvSpPr>
          <p:cNvPr id="9" name="Power stats header"/>
          <p:cNvSpPr txBox="1"/>
          <p:nvPr/>
        </p:nvSpPr>
        <p:spPr>
          <a:xfrm>
            <a:off x="5897880" y="1554480"/>
            <a:ext cx="2926080" cy="365760"/>
          </a:xfrm>
          <a:prstGeom prst="rect">
            <a:avLst/>
          </a:prstGeom>
          <a:noFill/>
          <a:ln/>
        </p:spPr>
        <p:txBody>
          <a:bodyPr wrap="square" lIns="0" tIns="0" rIns="0" bIns="0" rtlCol="0" anchor="b"/>
          <a:lstStyle/>
          <a:p>
            <a:pPr algn="ctr" indent="0" marL="0">
              <a:buNone/>
            </a:pPr>
            <a:r>
              <a:rPr lang="en-US" sz="1600" b="1" dirty="0">
                <a:solidFill>
                  <a:srgbClr val="1A1A1A"/>
                </a:solidFill>
              </a:rPr>
              <a:t>FTAI Power at a Glance</a:t>
            </a:r>
            <a:endParaRPr lang="en-US" sz="1600" dirty="0"/>
          </a:p>
        </p:txBody>
      </p:sp>
      <p:sp>
        <p:nvSpPr>
          <p:cNvPr id="10" name="Power stats header rule"/>
          <p:cNvSpPr/>
          <p:nvPr/>
        </p:nvSpPr>
        <p:spPr>
          <a:xfrm>
            <a:off x="5897880" y="1975104"/>
            <a:ext cx="2926080" cy="0"/>
          </a:xfrm>
          <a:prstGeom prst="line">
            <a:avLst/>
          </a:prstGeom>
          <a:noFill/>
          <a:ln w="12700">
            <a:solidFill>
              <a:srgbClr val="1A1A1A"/>
            </a:solidFill>
            <a:prstDash val="solid"/>
          </a:ln>
        </p:spPr>
      </p:sp>
      <p:sp>
        <p:nvSpPr>
          <p:cNvPr id="11" name="Power stat 1"/>
          <p:cNvSpPr txBox="1"/>
          <p:nvPr/>
        </p:nvSpPr>
        <p:spPr>
          <a:xfrm>
            <a:off x="5897880" y="2148840"/>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$1.465B</a:t>
            </a:r>
            <a:endParaRPr lang="en-US" sz="3000" dirty="0"/>
          </a:p>
        </p:txBody>
      </p:sp>
      <p:sp>
        <p:nvSpPr>
          <p:cNvPr id="12" name="Power stat 1 label"/>
          <p:cNvSpPr txBox="1"/>
          <p:nvPr/>
        </p:nvSpPr>
        <p:spPr>
          <a:xfrm>
            <a:off x="5897880" y="2697480"/>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First hyperscaler order, via the J&amp;F JV</a:t>
            </a:r>
            <a:endParaRPr lang="en-US" sz="1300" dirty="0"/>
          </a:p>
        </p:txBody>
      </p:sp>
      <p:sp>
        <p:nvSpPr>
          <p:cNvPr id="13" name="Power stat 2"/>
          <p:cNvSpPr txBox="1"/>
          <p:nvPr/>
        </p:nvSpPr>
        <p:spPr>
          <a:xfrm>
            <a:off x="5897880" y="3227832"/>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$450–750M</a:t>
            </a:r>
            <a:endParaRPr lang="en-US" sz="3000" dirty="0"/>
          </a:p>
        </p:txBody>
      </p:sp>
      <p:sp>
        <p:nvSpPr>
          <p:cNvPr id="14" name="Power stat 2 label"/>
          <p:cNvSpPr txBox="1"/>
          <p:nvPr/>
        </p:nvSpPr>
        <p:spPr>
          <a:xfrm>
            <a:off x="5897880" y="3776472"/>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FY27 Power EBITDA guide</a:t>
            </a:r>
            <a:endParaRPr lang="en-US" sz="1300" dirty="0"/>
          </a:p>
        </p:txBody>
      </p:sp>
      <p:sp>
        <p:nvSpPr>
          <p:cNvPr id="15" name="Power stat 3"/>
          <p:cNvSpPr txBox="1"/>
          <p:nvPr/>
        </p:nvSpPr>
        <p:spPr>
          <a:xfrm>
            <a:off x="5897880" y="4306824"/>
            <a:ext cx="2926080" cy="530352"/>
          </a:xfrm>
          <a:prstGeom prst="rect">
            <a:avLst/>
          </a:prstGeom>
          <a:noFill/>
          <a:ln/>
        </p:spPr>
        <p:txBody>
          <a:bodyPr wrap="square" lIns="0" tIns="0" rIns="0" bIns="0" rtlCol="0" anchor="b"/>
          <a:lstStyle/>
          <a:p>
            <a:pPr algn="ctr" indent="0" marL="0">
              <a:buNone/>
            </a:pPr>
            <a:r>
              <a:rPr lang="en-US" sz="3000" b="1" dirty="0">
                <a:solidFill>
                  <a:schemeClr val="tx2"/>
                </a:solidFill>
              </a:rPr>
              <a:t>25 MW</a:t>
            </a:r>
            <a:endParaRPr lang="en-US" sz="3000" dirty="0"/>
          </a:p>
        </p:txBody>
      </p:sp>
      <p:sp>
        <p:nvSpPr>
          <p:cNvPr id="16" name="Power stat 3 label"/>
          <p:cNvSpPr txBox="1"/>
          <p:nvPr/>
        </p:nvSpPr>
        <p:spPr>
          <a:xfrm>
            <a:off x="5897880" y="4855464"/>
            <a:ext cx="2926080" cy="320040"/>
          </a:xfrm>
          <a:prstGeom prst="rect">
            <a:avLst/>
          </a:prstGeom>
          <a:noFill/>
          <a:ln/>
        </p:spPr>
        <p:txBody>
          <a:bodyPr wrap="square" lIns="0" tIns="0" rIns="0" bIns="0" rtlCol="0" anchor="t"/>
          <a:lstStyle/>
          <a:p>
            <a:pPr algn="ctr" indent="0" marL="0">
              <a:buNone/>
            </a:pPr>
            <a:r>
              <a:rPr lang="en-US" sz="1300" dirty="0">
                <a:solidFill>
                  <a:schemeClr val="accent2"/>
                </a:solidFill>
              </a:rPr>
              <a:t>Per unit, built from CFM56 cores</a:t>
            </a:r>
            <a:endParaRPr lang="en-US" sz="1300" dirty="0"/>
          </a:p>
        </p:txBody>
      </p:sp>
      <p:sp>
        <p:nvSpPr>
          <p:cNvPr id="1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Even with Power at zero, FTAI is cheap. Power is a free call option on top.</a:t>
            </a:r>
            <a:endParaRPr lang="en-US" sz="1700" dirty="0"/>
          </a:p>
        </p:txBody>
      </p:sp>
      <p:sp>
        <p:nvSpPr>
          <p:cNvPr id="1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SOTP (FY27E EBITDA × segment multiples)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Returns Summary</a:t>
            </a:r>
            <a:endParaRPr lang="en-US" sz="3200" dirty="0"/>
          </a:p>
        </p:txBody>
      </p:sp>
      <p:sp>
        <p:nvSpPr>
          <p:cNvPr id="3" name="Headline banner"/>
          <p:cNvSpPr txBox="1"/>
          <p:nvPr/>
        </p:nvSpPr>
        <p:spPr>
          <a:xfrm>
            <a:off x="320040" y="1024128"/>
            <a:ext cx="8503920" cy="512064"/>
          </a:xfrm>
          <a:prstGeom prst="rect">
            <a:avLst/>
          </a:prstGeom>
          <a:solidFill>
            <a:srgbClr val="0A1C58"/>
          </a:solidFill>
          <a:ln/>
        </p:spPr>
        <p:txBody>
          <a:bodyPr wrap="square" lIns="0" tIns="0" rIns="0" bIns="0" rtlCol="0" anchor="ctr"/>
          <a:lstStyle/>
          <a:p>
            <a:pPr algn="ctr" indent="0" marL="0">
              <a:buNone/>
            </a:pPr>
            <a:r>
              <a:rPr lang="en-US" sz="1700" b="1" dirty="0">
                <a:solidFill>
                  <a:schemeClr val="bg1"/>
                </a:solidFill>
              </a:rPr>
              <a:t>At $167, the market prices the bear case. Our three theses add $110 of upside.</a:t>
            </a:r>
            <a:endParaRPr lang="en-US" sz="1700" dirty="0"/>
          </a:p>
        </p:txBody>
      </p:sp>
      <p:sp>
        <p:nvSpPr>
          <p:cNvPr id="4" name="Sub banner"/>
          <p:cNvSpPr txBox="1"/>
          <p:nvPr/>
        </p:nvSpPr>
        <p:spPr>
          <a:xfrm>
            <a:off x="320040" y="1627632"/>
            <a:ext cx="8503920" cy="384048"/>
          </a:xfrm>
          <a:prstGeom prst="rect">
            <a:avLst/>
          </a:prstGeom>
          <a:solidFill>
            <a:srgbClr val="0A1C58"/>
          </a:solidFill>
          <a:ln/>
        </p:spPr>
        <p:txBody>
          <a:bodyPr wrap="square" lIns="0" tIns="0" rIns="0" bIns="0" rtlCol="0" anchor="ctr"/>
          <a:lstStyle/>
          <a:p>
            <a:pPr algn="ctr" indent="0" marL="0">
              <a:buNone/>
            </a:pPr>
            <a:r>
              <a:rPr lang="en-US" sz="1600" dirty="0">
                <a:solidFill>
                  <a:schemeClr val="bg1"/>
                </a:solidFill>
              </a:rPr>
              <a:t>What Each Thesis Adds to the Target Price</a:t>
            </a:r>
            <a:endParaRPr lang="en-US" sz="1600" dirty="0"/>
          </a:p>
        </p:txBody>
      </p:sp>
      <p:sp>
        <p:nvSpPr>
          <p:cNvPr id="5" name="Thesis 1 box"/>
          <p:cNvSpPr txBox="1"/>
          <p:nvPr/>
        </p:nvSpPr>
        <p:spPr>
          <a:xfrm>
            <a:off x="320040" y="2176272"/>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1a) Margins Have Bottomed</a:t>
            </a:r>
            <a:endParaRPr lang="en-US" sz="1500" dirty="0"/>
          </a:p>
          <a:p>
            <a:pPr algn="ctr" indent="0" marL="0">
              <a:buNone/>
            </a:pPr>
            <a:r>
              <a:rPr lang="en-US" sz="1200" dirty="0">
                <a:solidFill>
                  <a:srgbClr val="1A1A1A"/>
                </a:solidFill>
              </a:rPr>
              <a:t>PMA parts, OEM-linked pricing and technician productivity lift Aerospace margins from ~30% to ~32.5% by FY31.</a:t>
            </a:r>
            <a:endParaRPr lang="en-US" sz="1500" dirty="0"/>
          </a:p>
        </p:txBody>
      </p:sp>
      <p:sp>
        <p:nvSpPr>
          <p:cNvPr id="6" name="Thesis 1 contribution"/>
          <p:cNvSpPr txBox="1"/>
          <p:nvPr/>
        </p:nvSpPr>
        <p:spPr>
          <a:xfrm>
            <a:off x="6583680" y="2176272"/>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+$17</a:t>
            </a:r>
            <a:endParaRPr lang="en-US" sz="1300" dirty="0"/>
          </a:p>
          <a:p>
            <a:pPr algn="ctr" indent="0" marL="0">
              <a:buNone/>
            </a:pPr>
            <a:r>
              <a:rPr lang="en-US" sz="1200" dirty="0">
                <a:solidFill>
                  <a:schemeClr val="accent2"/>
                </a:solidFill>
              </a:rPr>
              <a:t>+10% upside</a:t>
            </a:r>
            <a:endParaRPr lang="en-US" sz="1300" dirty="0"/>
          </a:p>
        </p:txBody>
      </p:sp>
      <p:sp>
        <p:nvSpPr>
          <p:cNvPr id="7" name="Thesis 2 box"/>
          <p:cNvSpPr txBox="1"/>
          <p:nvPr/>
        </p:nvSpPr>
        <p:spPr>
          <a:xfrm>
            <a:off x="320040" y="3145536"/>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1b) Volume Grows With Share</a:t>
            </a:r>
            <a:endParaRPr lang="en-US" sz="1500" dirty="0"/>
          </a:p>
          <a:p>
            <a:pPr algn="ctr" indent="0" marL="0">
              <a:buNone/>
            </a:pPr>
            <a:r>
              <a:rPr lang="en-US" sz="1200" dirty="0">
                <a:solidFill>
                  <a:srgbClr val="1A1A1A"/>
                </a:solidFill>
              </a:rPr>
              <a:t>New capacity, OEMs moving to LEAP and faster turnaround lift FTAI's CFM56 module share from ~12% to 20% by FY30.</a:t>
            </a:r>
            <a:endParaRPr lang="en-US" sz="1500" dirty="0"/>
          </a:p>
        </p:txBody>
      </p:sp>
      <p:sp>
        <p:nvSpPr>
          <p:cNvPr id="8" name="Thesis 2 contribution"/>
          <p:cNvSpPr txBox="1"/>
          <p:nvPr/>
        </p:nvSpPr>
        <p:spPr>
          <a:xfrm>
            <a:off x="6583680" y="3145536"/>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+$33</a:t>
            </a:r>
            <a:endParaRPr lang="en-US" sz="1300" dirty="0"/>
          </a:p>
          <a:p>
            <a:pPr algn="ctr" indent="0" marL="0">
              <a:buNone/>
            </a:pPr>
            <a:r>
              <a:rPr lang="en-US" sz="1200" dirty="0">
                <a:solidFill>
                  <a:schemeClr val="accent2"/>
                </a:solidFill>
              </a:rPr>
              <a:t>+20% upside</a:t>
            </a:r>
            <a:endParaRPr lang="en-US" sz="1300" dirty="0"/>
          </a:p>
        </p:txBody>
      </p:sp>
      <p:sp>
        <p:nvSpPr>
          <p:cNvPr id="9" name="Thesis 3 box"/>
          <p:cNvSpPr txBox="1"/>
          <p:nvPr/>
        </p:nvSpPr>
        <p:spPr>
          <a:xfrm>
            <a:off x="320040" y="4114800"/>
            <a:ext cx="5623560" cy="859536"/>
          </a:xfrm>
          <a:prstGeom prst="rect">
            <a:avLst/>
          </a:prstGeom>
          <a:noFill/>
          <a:ln w="12700">
            <a:solidFill>
              <a:srgbClr val="1A1A1A"/>
            </a:solidFill>
            <a:prstDash val="dash"/>
          </a:ln>
        </p:spPr>
        <p:txBody>
          <a:bodyPr wrap="square" lIns="101600" tIns="38100" rIns="101600" bIns="38100" rtlCol="0" anchor="ctr"/>
          <a:lstStyle/>
          <a:p>
            <a:pPr algn="ctr" indent="0" marL="0">
              <a:buNone/>
            </a:pPr>
            <a:r>
              <a:rPr lang="en-US" sz="1500" b="1" dirty="0">
                <a:solidFill>
                  <a:schemeClr val="tx2"/>
                </a:solidFill>
              </a:rPr>
              <a:t>Thesis 2) Power Is a Call Option</a:t>
            </a:r>
            <a:endParaRPr lang="en-US" sz="1500" dirty="0"/>
          </a:p>
          <a:p>
            <a:pPr algn="ctr" indent="0" marL="0">
              <a:buNone/>
            </a:pPr>
            <a:r>
              <a:rPr lang="en-US" sz="1200" dirty="0">
                <a:solidFill>
                  <a:srgbClr val="1A1A1A"/>
                </a:solidFill>
              </a:rPr>
              <a:t>Mod-1 deliveries ramp from 45 units in FY27 to 110 by FY29 at ~40% EBITDA margins.</a:t>
            </a:r>
            <a:endParaRPr lang="en-US" sz="1500" dirty="0"/>
          </a:p>
        </p:txBody>
      </p:sp>
      <p:sp>
        <p:nvSpPr>
          <p:cNvPr id="10" name="Thesis 3 contribution"/>
          <p:cNvSpPr txBox="1"/>
          <p:nvPr/>
        </p:nvSpPr>
        <p:spPr>
          <a:xfrm>
            <a:off x="6583680" y="4114800"/>
            <a:ext cx="2240280" cy="859536"/>
          </a:xfrm>
          <a:prstGeom prst="rect">
            <a:avLst/>
          </a:prstGeom>
          <a:noFill/>
          <a:ln/>
        </p:spPr>
        <p:txBody>
          <a:bodyPr wrap="square" lIns="0" tIns="0" rIns="0" bIns="0" rtlCol="0" anchor="ctr"/>
          <a:lstStyle/>
          <a:p>
            <a:pPr algn="ctr" indent="0" marL="0">
              <a:buNone/>
            </a:pPr>
            <a:r>
              <a:rPr lang="en-US" sz="1300" b="1" dirty="0">
                <a:solidFill>
                  <a:srgbClr val="1A1A1A"/>
                </a:solidFill>
              </a:rPr>
              <a:t>Contribution:</a:t>
            </a:r>
            <a:endParaRPr lang="en-US" sz="1300" dirty="0"/>
          </a:p>
          <a:p>
            <a:pPr algn="ctr" indent="0" marL="0">
              <a:buNone/>
            </a:pPr>
            <a:r>
              <a:rPr lang="en-US" sz="2400" b="1" dirty="0">
                <a:solidFill>
                  <a:schemeClr val="tx2"/>
                </a:solidFill>
              </a:rPr>
              <a:t>+$55</a:t>
            </a:r>
            <a:endParaRPr lang="en-US" sz="1300" dirty="0"/>
          </a:p>
          <a:p>
            <a:pPr algn="ctr" indent="0" marL="0">
              <a:buNone/>
            </a:pPr>
            <a:r>
              <a:rPr lang="en-US" sz="1200" dirty="0">
                <a:solidFill>
                  <a:schemeClr val="accent2"/>
                </a:solidFill>
              </a:rPr>
              <a:t>+33% upside</a:t>
            </a:r>
            <a:endParaRPr lang="en-US" sz="1300" dirty="0"/>
          </a:p>
        </p:txBody>
      </p:sp>
      <p:sp>
        <p:nvSpPr>
          <p:cNvPr id="11" name="Chevron"/>
          <p:cNvSpPr/>
          <p:nvPr/>
        </p:nvSpPr>
        <p:spPr>
          <a:xfrm>
            <a:off x="6053328" y="2176272"/>
            <a:ext cx="420624" cy="2798064"/>
          </a:xfrm>
          <a:prstGeom prst="chevron">
            <a:avLst/>
          </a:prstGeom>
          <a:solidFill>
            <a:srgbClr val="DCD8D3"/>
          </a:solidFill>
          <a:ln/>
        </p:spPr>
      </p:sp>
      <p:sp>
        <p:nvSpPr>
          <p:cNvPr id="12" name="Baseline note"/>
          <p:cNvSpPr txBox="1"/>
          <p:nvPr/>
        </p:nvSpPr>
        <p:spPr>
          <a:xfrm>
            <a:off x="320040" y="5120640"/>
            <a:ext cx="8503920" cy="274320"/>
          </a:xfrm>
          <a:prstGeom prst="rect">
            <a:avLst/>
          </a:prstGeom>
          <a:noFill/>
          <a:ln/>
        </p:spPr>
        <p:txBody>
          <a:bodyPr wrap="square" lIns="0" tIns="0" rIns="0" bIns="0" rtlCol="0" anchor="ctr"/>
          <a:lstStyle/>
          <a:p>
            <a:pPr algn="ctr" indent="0" marL="0">
              <a:buNone/>
            </a:pPr>
            <a:r>
              <a:rPr lang="en-US" sz="1200" dirty="0">
                <a:solidFill>
                  <a:schemeClr val="accent2"/>
                </a:solidFill>
              </a:rPr>
              <a:t>Bear case (bear margins and share, no Power) is worth $172 on our SOTP, just above today's $167.</a:t>
            </a:r>
            <a:endParaRPr lang="en-US" sz="1200" dirty="0"/>
          </a:p>
        </p:txBody>
      </p:sp>
      <p:sp>
        <p:nvSpPr>
          <p:cNvPr id="13" name="Base case bridge"/>
          <p:cNvSpPr txBox="1"/>
          <p:nvPr/>
        </p:nvSpPr>
        <p:spPr>
          <a:xfrm>
            <a:off x="320040" y="5468112"/>
            <a:ext cx="8503920" cy="512064"/>
          </a:xfrm>
          <a:prstGeom prst="rect">
            <a:avLst/>
          </a:prstGeom>
          <a:solidFill>
            <a:srgbClr val="EFEDEA"/>
          </a:solidFill>
          <a:ln w="15875">
            <a:solidFill>
              <a:srgbClr val="0A1C58"/>
            </a:solidFill>
          </a:ln>
        </p:spPr>
        <p:txBody>
          <a:bodyPr wrap="square" lIns="0" tIns="0" rIns="0" bIns="0" rtlCol="0" anchor="ctr"/>
          <a:lstStyle/>
          <a:p>
            <a:pPr algn="ctr" indent="0" marL="0">
              <a:buNone/>
            </a:pPr>
            <a:r>
              <a:rPr lang="en-US" sz="1300" dirty="0">
                <a:solidFill>
                  <a:srgbClr val="1A1A1A"/>
                </a:solidFill>
              </a:rPr>
              <a:t>$167 today + $5 to bear value + $17 margins + $33 volume + $55 Power = </a:t>
            </a:r>
            <a:pPr algn="ctr" indent="0" marL="0">
              <a:buNone/>
            </a:pPr>
            <a:r>
              <a:rPr lang="en-US" sz="1300" b="1" dirty="0">
                <a:solidFill>
                  <a:srgbClr val="1A1A1A"/>
                </a:solidFill>
              </a:rPr>
              <a:t>$277 SOTP</a:t>
            </a:r>
            <a:pPr algn="ctr" indent="0" marL="0">
              <a:buNone/>
            </a:pPr>
            <a:r>
              <a:rPr lang="en-US" sz="1300" dirty="0">
                <a:solidFill>
                  <a:srgbClr val="1A1A1A"/>
                </a:solidFill>
              </a:rPr>
              <a:t> (+66%)</a:t>
            </a:r>
            <a:endParaRPr lang="en-US" sz="13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base-case FY27E SOTP; thesis drivers switched Bear vs. Base (Power off = 0 units), Shapley average</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(1/2)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keeps the world's best-selling jet engine flying, and turns old ones into power.</a:t>
            </a:r>
            <a:endParaRPr lang="en-US" sz="1700" dirty="0"/>
          </a:p>
        </p:txBody>
      </p:sp>
      <p:pic>
        <p:nvPicPr>
          <p:cNvPr id="4" name="Aerospace Products illustration" descr="/home/user/SPOT/deck/img/cfm56.png">    </p:cNvPr>
          <p:cNvPicPr>
            <a:picLocks noChangeAspect="1"/>
          </p:cNvPicPr>
          <p:nvPr/>
        </p:nvPicPr>
        <p:blipFill>
          <a:blip r:embed="rId1"/>
          <a:stretch>
            <a:fillRect/>
          </a:stretch>
        </p:blipFill>
        <p:spPr>
          <a:xfrm>
            <a:off x="457200" y="1600200"/>
            <a:ext cx="2377440" cy="1344168"/>
          </a:xfrm>
          <a:prstGeom prst="rect">
            <a:avLst/>
          </a:prstGeom>
        </p:spPr>
      </p:pic>
      <p:sp>
        <p:nvSpPr>
          <p:cNvPr id="5" name="Aerospace Products name"/>
          <p:cNvSpPr txBox="1"/>
          <p:nvPr/>
        </p:nvSpPr>
        <p:spPr>
          <a:xfrm>
            <a:off x="32004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Aerospace Products</a:t>
            </a:r>
            <a:endParaRPr lang="en-US" sz="1800" dirty="0"/>
          </a:p>
        </p:txBody>
      </p:sp>
      <p:sp>
        <p:nvSpPr>
          <p:cNvPr id="6" name="Aerospace Products description"/>
          <p:cNvSpPr txBox="1"/>
          <p:nvPr/>
        </p:nvSpPr>
        <p:spPr>
          <a:xfrm>
            <a:off x="32004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Restores and swaps CFM56 engine modules, so airlines get engines back in days, not months.</a:t>
            </a:r>
            <a:endParaRPr lang="en-US" sz="1300" dirty="0"/>
          </a:p>
        </p:txBody>
      </p:sp>
      <p:sp>
        <p:nvSpPr>
          <p:cNvPr id="7" name="Aerospace Products stat"/>
          <p:cNvSpPr txBox="1"/>
          <p:nvPr/>
        </p:nvSpPr>
        <p:spPr>
          <a:xfrm>
            <a:off x="50292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757 → 1,200</a:t>
            </a:r>
            <a:endParaRPr lang="en-US" sz="2200" dirty="0"/>
          </a:p>
          <a:p>
            <a:pPr algn="ctr" indent="0" marL="0">
              <a:buNone/>
            </a:pPr>
            <a:r>
              <a:rPr lang="en-US" sz="1200" dirty="0">
                <a:solidFill>
                  <a:schemeClr val="accent2"/>
                </a:solidFill>
              </a:rPr>
              <a:t>Modules, 2025 → 2026E</a:t>
            </a:r>
            <a:endParaRPr lang="en-US" sz="2200" dirty="0"/>
          </a:p>
        </p:txBody>
      </p:sp>
      <p:pic>
        <p:nvPicPr>
          <p:cNvPr id="8" name="FTAI Power illustration" descr="/home/user/SPOT/deck/img/power.png">    </p:cNvPr>
          <p:cNvPicPr>
            <a:picLocks noChangeAspect="1"/>
          </p:cNvPicPr>
          <p:nvPr/>
        </p:nvPicPr>
        <p:blipFill>
          <a:blip r:embed="rId2"/>
          <a:stretch>
            <a:fillRect/>
          </a:stretch>
        </p:blipFill>
        <p:spPr>
          <a:xfrm>
            <a:off x="3383280" y="1600200"/>
            <a:ext cx="2377440" cy="1344168"/>
          </a:xfrm>
          <a:prstGeom prst="rect">
            <a:avLst/>
          </a:prstGeom>
        </p:spPr>
      </p:pic>
      <p:sp>
        <p:nvSpPr>
          <p:cNvPr id="9" name="FTAI Power name"/>
          <p:cNvSpPr txBox="1"/>
          <p:nvPr/>
        </p:nvSpPr>
        <p:spPr>
          <a:xfrm>
            <a:off x="324612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FTAI Power</a:t>
            </a:r>
            <a:endParaRPr lang="en-US" sz="1800" dirty="0"/>
          </a:p>
        </p:txBody>
      </p:sp>
      <p:sp>
        <p:nvSpPr>
          <p:cNvPr id="10" name="FTAI Power description"/>
          <p:cNvSpPr txBox="1"/>
          <p:nvPr/>
        </p:nvSpPr>
        <p:spPr>
          <a:xfrm>
            <a:off x="324612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Converts CFM56 cores into 25 MW mobile gas turbines that power data centers.</a:t>
            </a:r>
            <a:endParaRPr lang="en-US" sz="1300" dirty="0"/>
          </a:p>
        </p:txBody>
      </p:sp>
      <p:sp>
        <p:nvSpPr>
          <p:cNvPr id="11" name="FTAI Power stat"/>
          <p:cNvSpPr txBox="1"/>
          <p:nvPr/>
        </p:nvSpPr>
        <p:spPr>
          <a:xfrm>
            <a:off x="342900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$450–750M</a:t>
            </a:r>
            <a:endParaRPr lang="en-US" sz="2200" dirty="0"/>
          </a:p>
          <a:p>
            <a:pPr algn="ctr" indent="0" marL="0">
              <a:buNone/>
            </a:pPr>
            <a:r>
              <a:rPr lang="en-US" sz="1200" dirty="0">
                <a:solidFill>
                  <a:schemeClr val="accent2"/>
                </a:solidFill>
              </a:rPr>
              <a:t>FY27 EBITDA guide</a:t>
            </a:r>
            <a:endParaRPr lang="en-US" sz="2200" dirty="0"/>
          </a:p>
        </p:txBody>
      </p:sp>
      <p:sp>
        <p:nvSpPr>
          <p:cNvPr id="12" name="Column divider 1"/>
          <p:cNvSpPr/>
          <p:nvPr/>
        </p:nvSpPr>
        <p:spPr>
          <a:xfrm>
            <a:off x="3108960" y="1691640"/>
            <a:ext cx="0" cy="3566160"/>
          </a:xfrm>
          <a:prstGeom prst="line">
            <a:avLst/>
          </a:prstGeom>
          <a:noFill/>
          <a:ln w="12700">
            <a:solidFill>
              <a:srgbClr val="DCD8D3"/>
            </a:solidFill>
            <a:prstDash val="solid"/>
          </a:ln>
        </p:spPr>
      </p:sp>
      <p:pic>
        <p:nvPicPr>
          <p:cNvPr id="13" name="Leasing + SCI illustration" descr="/home/user/SPOT/deck/img/aircraft.png">    </p:cNvPr>
          <p:cNvPicPr>
            <a:picLocks noChangeAspect="1"/>
          </p:cNvPicPr>
          <p:nvPr/>
        </p:nvPicPr>
        <p:blipFill>
          <a:blip r:embed="rId3"/>
          <a:stretch>
            <a:fillRect/>
          </a:stretch>
        </p:blipFill>
        <p:spPr>
          <a:xfrm>
            <a:off x="6309360" y="1600200"/>
            <a:ext cx="2377440" cy="1344168"/>
          </a:xfrm>
          <a:prstGeom prst="rect">
            <a:avLst/>
          </a:prstGeom>
        </p:spPr>
      </p:pic>
      <p:sp>
        <p:nvSpPr>
          <p:cNvPr id="14" name="Leasing + SCI name"/>
          <p:cNvSpPr txBox="1"/>
          <p:nvPr/>
        </p:nvSpPr>
        <p:spPr>
          <a:xfrm>
            <a:off x="6172200" y="3035808"/>
            <a:ext cx="2651760" cy="365760"/>
          </a:xfrm>
          <a:prstGeom prst="rect">
            <a:avLst/>
          </a:prstGeom>
          <a:noFill/>
          <a:ln/>
        </p:spPr>
        <p:txBody>
          <a:bodyPr wrap="square" lIns="0" tIns="0" rIns="0" bIns="0" rtlCol="0" anchor="ctr"/>
          <a:lstStyle/>
          <a:p>
            <a:pPr algn="ctr" indent="0" marL="0">
              <a:buNone/>
            </a:pPr>
            <a:r>
              <a:rPr lang="en-US" sz="1800" b="1" dirty="0">
                <a:solidFill>
                  <a:schemeClr val="tx2"/>
                </a:solidFill>
              </a:rPr>
              <a:t>Leasing + SCI</a:t>
            </a:r>
            <a:endParaRPr lang="en-US" sz="1800" dirty="0"/>
          </a:p>
        </p:txBody>
      </p:sp>
      <p:sp>
        <p:nvSpPr>
          <p:cNvPr id="15" name="Leasing + SCI description"/>
          <p:cNvSpPr txBox="1"/>
          <p:nvPr/>
        </p:nvSpPr>
        <p:spPr>
          <a:xfrm>
            <a:off x="6172200" y="3429000"/>
            <a:ext cx="2651760" cy="914400"/>
          </a:xfrm>
          <a:prstGeom prst="rect">
            <a:avLst/>
          </a:prstGeom>
          <a:noFill/>
          <a:ln/>
        </p:spPr>
        <p:txBody>
          <a:bodyPr wrap="square" lIns="0" tIns="0" rIns="0" bIns="0" rtlCol="0" anchor="t"/>
          <a:lstStyle/>
          <a:p>
            <a:pPr algn="ctr" indent="0" marL="0">
              <a:buNone/>
            </a:pPr>
            <a:r>
              <a:rPr lang="en-US" sz="1300" dirty="0">
                <a:solidFill>
                  <a:srgbClr val="1A1A1A"/>
                </a:solidFill>
              </a:rPr>
              <a:t>Leases jets and engines. The SCI partnership buys mid-life jets and sends all engine work to FTAI.</a:t>
            </a:r>
            <a:endParaRPr lang="en-US" sz="1300" dirty="0"/>
          </a:p>
        </p:txBody>
      </p:sp>
      <p:sp>
        <p:nvSpPr>
          <p:cNvPr id="16" name="Leasing + SCI stat"/>
          <p:cNvSpPr txBox="1"/>
          <p:nvPr/>
        </p:nvSpPr>
        <p:spPr>
          <a:xfrm>
            <a:off x="6355080" y="4434840"/>
            <a:ext cx="2286000" cy="868680"/>
          </a:xfrm>
          <a:prstGeom prst="rect">
            <a:avLst/>
          </a:prstGeom>
          <a:solidFill>
            <a:srgbClr val="EFEDEA"/>
          </a:solidFill>
          <a:ln/>
        </p:spPr>
        <p:txBody>
          <a:bodyPr wrap="square" lIns="0" tIns="0" rIns="0" bIns="0" rtlCol="0" anchor="ctr"/>
          <a:lstStyle/>
          <a:p>
            <a:pPr algn="ctr" indent="0" marL="0">
              <a:buNone/>
            </a:pPr>
            <a:r>
              <a:rPr lang="en-US" sz="2200" b="1" dirty="0">
                <a:solidFill>
                  <a:schemeClr val="tx2"/>
                </a:solidFill>
              </a:rPr>
              <a:t>316</a:t>
            </a:r>
            <a:endParaRPr lang="en-US" sz="2200" dirty="0"/>
          </a:p>
          <a:p>
            <a:pPr algn="ctr" indent="0" marL="0">
              <a:buNone/>
            </a:pPr>
            <a:r>
              <a:rPr lang="en-US" sz="1200" dirty="0">
                <a:solidFill>
                  <a:schemeClr val="accent2"/>
                </a:solidFill>
              </a:rPr>
              <a:t>SCI aircraft, YE26E</a:t>
            </a:r>
            <a:endParaRPr lang="en-US" sz="2200" dirty="0"/>
          </a:p>
        </p:txBody>
      </p:sp>
      <p:sp>
        <p:nvSpPr>
          <p:cNvPr id="17" name="Column divider 2"/>
          <p:cNvSpPr/>
          <p:nvPr/>
        </p:nvSpPr>
        <p:spPr>
          <a:xfrm>
            <a:off x="6035040" y="1691640"/>
            <a:ext cx="0" cy="3566160"/>
          </a:xfrm>
          <a:prstGeom prst="line">
            <a:avLst/>
          </a:prstGeom>
          <a:noFill/>
          <a:ln w="12700">
            <a:solidFill>
              <a:srgbClr val="DCD8D3"/>
            </a:solidFill>
            <a:prstDash val="solid"/>
          </a:ln>
        </p:spPr>
      </p:sp>
      <p:sp>
        <p:nvSpPr>
          <p:cNvPr id="18"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One engine, three ways to earn: fix it, power with it, and own the planes it flies on.</a:t>
            </a:r>
            <a:endParaRPr lang="en-US" sz="1700" dirty="0"/>
          </a:p>
        </p:txBody>
      </p:sp>
      <p:sp>
        <p:nvSpPr>
          <p:cNvPr id="19"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and earnings calls, GPS model. Illustrations are schematic.</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Business Overview (2/2)</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swaps worn modules for restored ones from its own pool, so airlines skip the shop queue.</a:t>
            </a:r>
            <a:endParaRPr lang="en-US" sz="1700" dirty="0"/>
          </a:p>
        </p:txBody>
      </p:sp>
      <p:sp>
        <p:nvSpPr>
          <p:cNvPr id="4" name="Loop header"/>
          <p:cNvSpPr txBox="1"/>
          <p:nvPr/>
        </p:nvSpPr>
        <p:spPr>
          <a:xfrm>
            <a:off x="320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How an Exchange Works</a:t>
            </a:r>
            <a:endParaRPr lang="en-US" sz="1600" dirty="0"/>
          </a:p>
        </p:txBody>
      </p:sp>
      <p:sp>
        <p:nvSpPr>
          <p:cNvPr id="5" name="Loop header rule"/>
          <p:cNvSpPr/>
          <p:nvPr/>
        </p:nvSpPr>
        <p:spPr>
          <a:xfrm>
            <a:off x="320040" y="1975104"/>
            <a:ext cx="3931920" cy="0"/>
          </a:xfrm>
          <a:prstGeom prst="line">
            <a:avLst/>
          </a:prstGeom>
          <a:noFill/>
          <a:ln w="12700">
            <a:solidFill>
              <a:srgbClr val="1A1A1A"/>
            </a:solidFill>
            <a:prstDash val="solid"/>
          </a:ln>
        </p:spPr>
      </p:sp>
      <p:sp>
        <p:nvSpPr>
          <p:cNvPr id="6" name="Loop ring"/>
          <p:cNvSpPr/>
          <p:nvPr/>
        </p:nvSpPr>
        <p:spPr>
          <a:xfrm>
            <a:off x="914400" y="2514600"/>
            <a:ext cx="2743200" cy="2231136"/>
          </a:xfrm>
          <a:prstGeom prst="ellipse">
            <a:avLst/>
          </a:prstGeom>
          <a:ln w="38100">
            <a:solidFill>
              <a:srgbClr val="B5AEA9"/>
            </a:solidFill>
            <a:prstDash val="solid"/>
          </a:ln>
        </p:spPr>
      </p:sp>
      <p:sp>
        <p:nvSpPr>
          <p:cNvPr id="7" name="Loop arrow 1"/>
          <p:cNvSpPr/>
          <p:nvPr/>
        </p:nvSpPr>
        <p:spPr>
          <a:xfrm rot="8100000">
            <a:off x="3146140" y="2731614"/>
            <a:ext cx="219456" cy="219456"/>
          </a:xfrm>
          <a:prstGeom prst="triangle">
            <a:avLst/>
          </a:prstGeom>
          <a:solidFill>
            <a:srgbClr val="847C7A"/>
          </a:solidFill>
          <a:ln/>
        </p:spPr>
      </p:sp>
      <p:sp>
        <p:nvSpPr>
          <p:cNvPr id="8" name="Loop arrow 2"/>
          <p:cNvSpPr/>
          <p:nvPr/>
        </p:nvSpPr>
        <p:spPr>
          <a:xfrm rot="13500000">
            <a:off x="3146140" y="4309266"/>
            <a:ext cx="219456" cy="219456"/>
          </a:xfrm>
          <a:prstGeom prst="triangle">
            <a:avLst/>
          </a:prstGeom>
          <a:solidFill>
            <a:srgbClr val="847C7A"/>
          </a:solidFill>
          <a:ln/>
        </p:spPr>
      </p:sp>
      <p:sp>
        <p:nvSpPr>
          <p:cNvPr id="9" name="Loop arrow 3"/>
          <p:cNvSpPr/>
          <p:nvPr/>
        </p:nvSpPr>
        <p:spPr>
          <a:xfrm rot="18900000">
            <a:off x="1206404" y="4309266"/>
            <a:ext cx="219456" cy="219456"/>
          </a:xfrm>
          <a:prstGeom prst="triangle">
            <a:avLst/>
          </a:prstGeom>
          <a:solidFill>
            <a:srgbClr val="847C7A"/>
          </a:solidFill>
          <a:ln/>
        </p:spPr>
      </p:sp>
      <p:sp>
        <p:nvSpPr>
          <p:cNvPr id="10" name="Loop arrow 4"/>
          <p:cNvSpPr/>
          <p:nvPr/>
        </p:nvSpPr>
        <p:spPr>
          <a:xfrm rot="2700000">
            <a:off x="1206404" y="2731614"/>
            <a:ext cx="219456" cy="219456"/>
          </a:xfrm>
          <a:prstGeom prst="triangle">
            <a:avLst/>
          </a:prstGeom>
          <a:solidFill>
            <a:srgbClr val="847C7A"/>
          </a:solidFill>
          <a:ln/>
        </p:spPr>
      </p:sp>
      <p:sp>
        <p:nvSpPr>
          <p:cNvPr id="11" name="Module pool"/>
          <p:cNvSpPr/>
          <p:nvPr/>
        </p:nvSpPr>
        <p:spPr>
          <a:xfrm>
            <a:off x="1783080" y="3127248"/>
            <a:ext cx="1005840" cy="1005840"/>
          </a:xfrm>
          <a:prstGeom prst="ellipse">
            <a:avLst/>
          </a:prstGeom>
          <a:solidFill>
            <a:srgbClr val="0A1C58"/>
          </a:solidFill>
          <a:ln>
            <a:solidFill>
              <a:srgbClr val="0A1C58"/>
            </a:solidFill>
          </a:ln>
        </p:spPr>
        <p:txBody>
          <a:bodyPr wrap="square" lIns="0" tIns="0" rIns="0" bIns="0" rtlCol="0" anchor="ctr"/>
          <a:lstStyle/>
          <a:p>
            <a:pPr algn="ctr" indent="0" marL="0">
              <a:buNone/>
            </a:pPr>
            <a:r>
              <a:rPr lang="en-US" sz="1300" b="1" dirty="0">
                <a:solidFill>
                  <a:schemeClr val="bg1"/>
                </a:solidFill>
              </a:rPr>
              <a:t>Module</a:t>
            </a:r>
            <a:endParaRPr lang="en-US" sz="1300" dirty="0"/>
          </a:p>
          <a:p>
            <a:pPr algn="ctr" indent="0" marL="0">
              <a:buNone/>
            </a:pPr>
            <a:r>
              <a:rPr lang="en-US" sz="1300" b="1" dirty="0">
                <a:solidFill>
                  <a:schemeClr val="bg1"/>
                </a:solidFill>
              </a:rPr>
              <a:t>pool</a:t>
            </a:r>
            <a:endParaRPr lang="en-US" sz="1300" dirty="0"/>
          </a:p>
        </p:txBody>
      </p:sp>
      <p:sp>
        <p:nvSpPr>
          <p:cNvPr id="12" name="Loop step 1"/>
          <p:cNvSpPr txBox="1"/>
          <p:nvPr/>
        </p:nvSpPr>
        <p:spPr>
          <a:xfrm>
            <a:off x="1682496" y="2148840"/>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needs a shop visit</a:t>
            </a:r>
            <a:endParaRPr lang="en-US" sz="1200" dirty="0"/>
          </a:p>
        </p:txBody>
      </p:sp>
      <p:sp>
        <p:nvSpPr>
          <p:cNvPr id="13" name="Loop step 1 number"/>
          <p:cNvSpPr/>
          <p:nvPr/>
        </p:nvSpPr>
        <p:spPr>
          <a:xfrm>
            <a:off x="1499616" y="1965960"/>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14" name="Loop step 2"/>
          <p:cNvSpPr txBox="1"/>
          <p:nvPr/>
        </p:nvSpPr>
        <p:spPr>
          <a:xfrm>
            <a:off x="30540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FTAI swaps in a restored module</a:t>
            </a:r>
            <a:endParaRPr lang="en-US" sz="1200" dirty="0"/>
          </a:p>
        </p:txBody>
      </p:sp>
      <p:sp>
        <p:nvSpPr>
          <p:cNvPr id="15" name="Loop step 2 number"/>
          <p:cNvSpPr/>
          <p:nvPr/>
        </p:nvSpPr>
        <p:spPr>
          <a:xfrm>
            <a:off x="28712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16" name="Loop step 3"/>
          <p:cNvSpPr txBox="1"/>
          <p:nvPr/>
        </p:nvSpPr>
        <p:spPr>
          <a:xfrm>
            <a:off x="1682496" y="4379976"/>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Engine back in service in days</a:t>
            </a:r>
            <a:endParaRPr lang="en-US" sz="1200" dirty="0"/>
          </a:p>
        </p:txBody>
      </p:sp>
      <p:sp>
        <p:nvSpPr>
          <p:cNvPr id="17" name="Loop step 3 number"/>
          <p:cNvSpPr/>
          <p:nvPr/>
        </p:nvSpPr>
        <p:spPr>
          <a:xfrm>
            <a:off x="1499616" y="4197096"/>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18" name="Loop step 4"/>
          <p:cNvSpPr txBox="1"/>
          <p:nvPr/>
        </p:nvSpPr>
        <p:spPr>
          <a:xfrm>
            <a:off x="310896" y="3264408"/>
            <a:ext cx="1207008" cy="731520"/>
          </a:xfrm>
          <a:prstGeom prst="rect">
            <a:avLst/>
          </a:prstGeom>
          <a:solidFill>
            <a:srgbClr val="DCD8D3"/>
          </a:solidFill>
          <a:ln/>
        </p:spPr>
        <p:txBody>
          <a:bodyPr wrap="square" lIns="76200" tIns="25400" rIns="50800" bIns="25400" rtlCol="0" anchor="ctr"/>
          <a:lstStyle/>
          <a:p>
            <a:pPr algn="ctr" indent="0" marL="0">
              <a:buNone/>
            </a:pPr>
            <a:r>
              <a:rPr lang="en-US" sz="1200" b="1" dirty="0">
                <a:solidFill>
                  <a:schemeClr val="tx2"/>
                </a:solidFill>
              </a:rPr>
              <a:t>Worn module restored for the pool</a:t>
            </a:r>
            <a:endParaRPr lang="en-US" sz="1200" dirty="0"/>
          </a:p>
        </p:txBody>
      </p:sp>
      <p:sp>
        <p:nvSpPr>
          <p:cNvPr id="19" name="Loop step 4 number"/>
          <p:cNvSpPr/>
          <p:nvPr/>
        </p:nvSpPr>
        <p:spPr>
          <a:xfrm>
            <a:off x="128016" y="3081528"/>
            <a:ext cx="310896" cy="310896"/>
          </a:xfrm>
          <a:prstGeom prst="ellipse">
            <a:avLst/>
          </a:prstGeom>
          <a:solidFill>
            <a:srgbClr val="0A1C58"/>
          </a:solidFill>
          <a:ln w="19050">
            <a:solidFill>
              <a:srgbClr val="FFFFFF"/>
            </a:solid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0" name="Factory header"/>
          <p:cNvSpPr txBox="1"/>
          <p:nvPr/>
        </p:nvSpPr>
        <p:spPr>
          <a:xfrm>
            <a:off x="4526280" y="1554480"/>
            <a:ext cx="4297680" cy="365760"/>
          </a:xfrm>
          <a:prstGeom prst="rect">
            <a:avLst/>
          </a:prstGeom>
          <a:noFill/>
          <a:ln/>
        </p:spPr>
        <p:txBody>
          <a:bodyPr wrap="square" lIns="0" tIns="0" rIns="0" bIns="0" rtlCol="0" anchor="b"/>
          <a:lstStyle/>
          <a:p>
            <a:pPr algn="ctr" indent="0" marL="0">
              <a:buNone/>
            </a:pPr>
            <a:r>
              <a:rPr lang="en-US" sz="1600" b="1" dirty="0">
                <a:solidFill>
                  <a:srgbClr val="1A1A1A"/>
                </a:solidFill>
              </a:rPr>
              <a:t>Why It Pays: The Module Factory</a:t>
            </a:r>
            <a:endParaRPr lang="en-US" sz="1600" dirty="0"/>
          </a:p>
        </p:txBody>
      </p:sp>
      <p:sp>
        <p:nvSpPr>
          <p:cNvPr id="21" name="Factory header rule"/>
          <p:cNvSpPr/>
          <p:nvPr/>
        </p:nvSpPr>
        <p:spPr>
          <a:xfrm>
            <a:off x="4526280" y="1975104"/>
            <a:ext cx="4297680" cy="0"/>
          </a:xfrm>
          <a:prstGeom prst="line">
            <a:avLst/>
          </a:prstGeom>
          <a:noFill/>
          <a:ln w="12700">
            <a:solidFill>
              <a:srgbClr val="1A1A1A"/>
            </a:solidFill>
            <a:prstDash val="solid"/>
          </a:ln>
        </p:spPr>
      </p:sp>
      <p:sp>
        <p:nvSpPr>
          <p:cNvPr id="22" name="Before label"/>
          <p:cNvSpPr txBox="1"/>
          <p:nvPr/>
        </p:nvSpPr>
        <p:spPr>
          <a:xfrm>
            <a:off x="4526280"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3 worn engines in</a:t>
            </a:r>
            <a:endParaRPr lang="en-US" sz="1300" dirty="0"/>
          </a:p>
        </p:txBody>
      </p:sp>
      <p:sp>
        <p:nvSpPr>
          <p:cNvPr id="23" name="Before engine 1 value"/>
          <p:cNvSpPr txBox="1"/>
          <p:nvPr/>
        </p:nvSpPr>
        <p:spPr>
          <a:xfrm>
            <a:off x="4526280"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24" name="Before engine 1 module 1"/>
          <p:cNvSpPr/>
          <p:nvPr/>
        </p:nvSpPr>
        <p:spPr>
          <a:xfrm>
            <a:off x="5221224"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25" name="Before engine 1 module 2"/>
          <p:cNvSpPr/>
          <p:nvPr/>
        </p:nvSpPr>
        <p:spPr>
          <a:xfrm>
            <a:off x="5641848" y="2395728"/>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26" name="Before engine 1 module 3"/>
          <p:cNvSpPr/>
          <p:nvPr/>
        </p:nvSpPr>
        <p:spPr>
          <a:xfrm>
            <a:off x="6062472" y="2395728"/>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7" name="Before engine 2 value"/>
          <p:cNvSpPr txBox="1"/>
          <p:nvPr/>
        </p:nvSpPr>
        <p:spPr>
          <a:xfrm>
            <a:off x="4526280"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$2.5M</a:t>
            </a:r>
            <a:endParaRPr lang="en-US" sz="1400" dirty="0"/>
          </a:p>
        </p:txBody>
      </p:sp>
      <p:sp>
        <p:nvSpPr>
          <p:cNvPr id="28" name="Before engine 2 module 1"/>
          <p:cNvSpPr/>
          <p:nvPr/>
        </p:nvSpPr>
        <p:spPr>
          <a:xfrm>
            <a:off x="5221224"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29" name="Before engine 2 module 2"/>
          <p:cNvSpPr/>
          <p:nvPr/>
        </p:nvSpPr>
        <p:spPr>
          <a:xfrm>
            <a:off x="5641848" y="3108960"/>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0" name="Before engine 2 module 3"/>
          <p:cNvSpPr/>
          <p:nvPr/>
        </p:nvSpPr>
        <p:spPr>
          <a:xfrm>
            <a:off x="6062472" y="3108960"/>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1" name="Before engine 3 value"/>
          <p:cNvSpPr txBox="1"/>
          <p:nvPr/>
        </p:nvSpPr>
        <p:spPr>
          <a:xfrm>
            <a:off x="4526280"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$2.0M</a:t>
            </a:r>
            <a:endParaRPr lang="en-US" sz="1400" dirty="0"/>
          </a:p>
        </p:txBody>
      </p:sp>
      <p:sp>
        <p:nvSpPr>
          <p:cNvPr id="32" name="Before engine 3 module 1"/>
          <p:cNvSpPr/>
          <p:nvPr/>
        </p:nvSpPr>
        <p:spPr>
          <a:xfrm>
            <a:off x="5221224"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33" name="Before engine 3 module 2"/>
          <p:cNvSpPr/>
          <p:nvPr/>
        </p:nvSpPr>
        <p:spPr>
          <a:xfrm>
            <a:off x="5641848" y="3822192"/>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34" name="Before engine 3 module 3"/>
          <p:cNvSpPr/>
          <p:nvPr/>
        </p:nvSpPr>
        <p:spPr>
          <a:xfrm>
            <a:off x="6062472" y="3822192"/>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35" name="Before Fan caption"/>
          <p:cNvSpPr txBox="1"/>
          <p:nvPr/>
        </p:nvSpPr>
        <p:spPr>
          <a:xfrm>
            <a:off x="5175504"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36" name="Before Core caption"/>
          <p:cNvSpPr txBox="1"/>
          <p:nvPr/>
        </p:nvSpPr>
        <p:spPr>
          <a:xfrm>
            <a:off x="5596128"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37" name="Before LPT caption"/>
          <p:cNvSpPr txBox="1"/>
          <p:nvPr/>
        </p:nvSpPr>
        <p:spPr>
          <a:xfrm>
            <a:off x="601675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38" name="After label"/>
          <p:cNvSpPr txBox="1"/>
          <p:nvPr/>
        </p:nvSpPr>
        <p:spPr>
          <a:xfrm>
            <a:off x="6922008" y="2011680"/>
            <a:ext cx="1901952" cy="274320"/>
          </a:xfrm>
          <a:prstGeom prst="rect">
            <a:avLst/>
          </a:prstGeom>
          <a:noFill/>
          <a:ln/>
        </p:spPr>
        <p:txBody>
          <a:bodyPr wrap="square" lIns="0" tIns="0" rIns="0" bIns="0" rtlCol="0" anchor="ctr"/>
          <a:lstStyle/>
          <a:p>
            <a:pPr algn="ctr" indent="0" marL="0">
              <a:buNone/>
            </a:pPr>
            <a:r>
              <a:rPr lang="en-US" sz="1300" b="1" i="1" dirty="0">
                <a:solidFill>
                  <a:schemeClr val="accent2"/>
                </a:solidFill>
              </a:rPr>
              <a:t>Engines out</a:t>
            </a:r>
            <a:endParaRPr lang="en-US" sz="1300" dirty="0"/>
          </a:p>
        </p:txBody>
      </p:sp>
      <p:sp>
        <p:nvSpPr>
          <p:cNvPr id="39" name="After engine 1 value"/>
          <p:cNvSpPr txBox="1"/>
          <p:nvPr/>
        </p:nvSpPr>
        <p:spPr>
          <a:xfrm>
            <a:off x="6922008" y="2395728"/>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$8.5M</a:t>
            </a:r>
            <a:endParaRPr lang="en-US" sz="1400" dirty="0"/>
          </a:p>
        </p:txBody>
      </p:sp>
      <p:sp>
        <p:nvSpPr>
          <p:cNvPr id="40" name="After engine 1 module 1"/>
          <p:cNvSpPr/>
          <p:nvPr/>
        </p:nvSpPr>
        <p:spPr>
          <a:xfrm>
            <a:off x="7616952"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1" name="After engine 1 module 2"/>
          <p:cNvSpPr/>
          <p:nvPr/>
        </p:nvSpPr>
        <p:spPr>
          <a:xfrm>
            <a:off x="8037576"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2" name="After engine 1 module 3"/>
          <p:cNvSpPr/>
          <p:nvPr/>
        </p:nvSpPr>
        <p:spPr>
          <a:xfrm>
            <a:off x="8458200" y="2395728"/>
            <a:ext cx="365760" cy="365760"/>
          </a:xfrm>
          <a:prstGeom prst="rect">
            <a:avLst/>
          </a:prstGeom>
          <a:solidFill>
            <a:srgbClr val="0A1C58"/>
          </a:solidFill>
          <a:ln w="15875">
            <a:solidFill>
              <a:srgbClr val="0A1C58"/>
            </a:solidFill>
          </a:ln>
        </p:spPr>
        <p:txBody>
          <a:bodyPr wrap="square" lIns="0" tIns="0" rIns="0" bIns="0" rtlCol="0" anchor="ctr"/>
          <a:lstStyle/>
          <a:p>
            <a:pPr algn="ctr" indent="0" marL="0">
              <a:buNone/>
            </a:pPr>
            <a:r>
              <a:rPr lang="en-US" sz="1100" b="1" dirty="0">
                <a:solidFill>
                  <a:srgbClr val="FFFFFF"/>
                </a:solidFill>
              </a:rPr>
              <a:t>7k</a:t>
            </a:r>
            <a:endParaRPr lang="en-US" sz="1100" dirty="0"/>
          </a:p>
        </p:txBody>
      </p:sp>
      <p:sp>
        <p:nvSpPr>
          <p:cNvPr id="43" name="After engine 2 value"/>
          <p:cNvSpPr txBox="1"/>
          <p:nvPr/>
        </p:nvSpPr>
        <p:spPr>
          <a:xfrm>
            <a:off x="6922008" y="3108960"/>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$6.0M</a:t>
            </a:r>
            <a:endParaRPr lang="en-US" sz="1400" dirty="0"/>
          </a:p>
        </p:txBody>
      </p:sp>
      <p:sp>
        <p:nvSpPr>
          <p:cNvPr id="44" name="After engine 2 module 1"/>
          <p:cNvSpPr/>
          <p:nvPr/>
        </p:nvSpPr>
        <p:spPr>
          <a:xfrm>
            <a:off x="7616952"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5" name="After engine 2 module 2"/>
          <p:cNvSpPr/>
          <p:nvPr/>
        </p:nvSpPr>
        <p:spPr>
          <a:xfrm>
            <a:off x="8037576"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6" name="After engine 2 module 3"/>
          <p:cNvSpPr/>
          <p:nvPr/>
        </p:nvSpPr>
        <p:spPr>
          <a:xfrm>
            <a:off x="8458200" y="3108960"/>
            <a:ext cx="365760" cy="365760"/>
          </a:xfrm>
          <a:prstGeom prst="rect">
            <a:avLst/>
          </a:prstGeom>
          <a:solidFill>
            <a:srgbClr val="B5AEA9"/>
          </a:solidFill>
          <a:ln w="15875">
            <a:solidFill>
              <a:srgbClr val="B5AEA9"/>
            </a:solidFill>
          </a:ln>
        </p:spPr>
        <p:txBody>
          <a:bodyPr wrap="square" lIns="0" tIns="0" rIns="0" bIns="0" rtlCol="0" anchor="ctr"/>
          <a:lstStyle/>
          <a:p>
            <a:pPr algn="ctr" indent="0" marL="0">
              <a:buNone/>
            </a:pPr>
            <a:r>
              <a:rPr lang="en-US" sz="1100" b="1" dirty="0">
                <a:solidFill>
                  <a:srgbClr val="0A1C58"/>
                </a:solidFill>
              </a:rPr>
              <a:t>4k</a:t>
            </a:r>
            <a:endParaRPr lang="en-US" sz="1100" dirty="0"/>
          </a:p>
        </p:txBody>
      </p:sp>
      <p:sp>
        <p:nvSpPr>
          <p:cNvPr id="47" name="After engine 3 value"/>
          <p:cNvSpPr txBox="1"/>
          <p:nvPr/>
        </p:nvSpPr>
        <p:spPr>
          <a:xfrm>
            <a:off x="6922008" y="3822192"/>
            <a:ext cx="658368" cy="365760"/>
          </a:xfrm>
          <a:prstGeom prst="rect">
            <a:avLst/>
          </a:prstGeom>
          <a:noFill/>
          <a:ln/>
        </p:spPr>
        <p:txBody>
          <a:bodyPr wrap="square" lIns="0" tIns="0" rIns="0" bIns="0" rtlCol="0" anchor="ctr"/>
          <a:lstStyle/>
          <a:p>
            <a:pPr algn="l" indent="0" marL="0">
              <a:buNone/>
            </a:pPr>
            <a:r>
              <a:rPr lang="en-US" sz="1400" b="1" dirty="0">
                <a:solidFill>
                  <a:schemeClr val="tx2"/>
                </a:solidFill>
              </a:rPr>
              <a:t>$1.5M</a:t>
            </a:r>
            <a:endParaRPr lang="en-US" sz="1400" dirty="0"/>
          </a:p>
        </p:txBody>
      </p:sp>
      <p:sp>
        <p:nvSpPr>
          <p:cNvPr id="48" name="After engine 3 module 1"/>
          <p:cNvSpPr/>
          <p:nvPr/>
        </p:nvSpPr>
        <p:spPr>
          <a:xfrm>
            <a:off x="7616952"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49" name="After engine 3 module 2"/>
          <p:cNvSpPr/>
          <p:nvPr/>
        </p:nvSpPr>
        <p:spPr>
          <a:xfrm>
            <a:off x="8037576"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0" name="After engine 3 module 3"/>
          <p:cNvSpPr/>
          <p:nvPr/>
        </p:nvSpPr>
        <p:spPr>
          <a:xfrm>
            <a:off x="8458200" y="3822192"/>
            <a:ext cx="365760" cy="365760"/>
          </a:xfrm>
          <a:prstGeom prst="rect">
            <a:avLst/>
          </a:prstGeom>
          <a:solidFill>
            <a:srgbClr val="FFFFFF"/>
          </a:solidFill>
          <a:ln w="15875">
            <a:solidFill>
              <a:srgbClr val="B5AEA9"/>
            </a:solidFill>
          </a:ln>
        </p:spPr>
        <p:txBody>
          <a:bodyPr wrap="square" lIns="0" tIns="0" rIns="0" bIns="0" rtlCol="0" anchor="ctr"/>
          <a:lstStyle/>
          <a:p>
            <a:pPr algn="ctr" indent="0" marL="0">
              <a:buNone/>
            </a:pPr>
            <a:r>
              <a:rPr lang="en-US" sz="1100" b="1" dirty="0">
                <a:solidFill>
                  <a:srgbClr val="847C7A"/>
                </a:solidFill>
              </a:rPr>
              <a:t>0k</a:t>
            </a:r>
            <a:endParaRPr lang="en-US" sz="1100" dirty="0"/>
          </a:p>
        </p:txBody>
      </p:sp>
      <p:sp>
        <p:nvSpPr>
          <p:cNvPr id="51" name="After Fan caption"/>
          <p:cNvSpPr txBox="1"/>
          <p:nvPr/>
        </p:nvSpPr>
        <p:spPr>
          <a:xfrm>
            <a:off x="7571232"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Fan</a:t>
            </a:r>
            <a:endParaRPr lang="en-US" sz="1000" dirty="0"/>
          </a:p>
        </p:txBody>
      </p:sp>
      <p:sp>
        <p:nvSpPr>
          <p:cNvPr id="52" name="After Core caption"/>
          <p:cNvSpPr txBox="1"/>
          <p:nvPr/>
        </p:nvSpPr>
        <p:spPr>
          <a:xfrm>
            <a:off x="7991856"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Core</a:t>
            </a:r>
            <a:endParaRPr lang="en-US" sz="1000" dirty="0"/>
          </a:p>
        </p:txBody>
      </p:sp>
      <p:sp>
        <p:nvSpPr>
          <p:cNvPr id="53" name="After LPT caption"/>
          <p:cNvSpPr txBox="1"/>
          <p:nvPr/>
        </p:nvSpPr>
        <p:spPr>
          <a:xfrm>
            <a:off x="8412480" y="4242816"/>
            <a:ext cx="457200" cy="228600"/>
          </a:xfrm>
          <a:prstGeom prst="rect">
            <a:avLst/>
          </a:prstGeom>
          <a:noFill/>
          <a:ln/>
        </p:spPr>
        <p:txBody>
          <a:bodyPr wrap="square" lIns="0" tIns="0" rIns="0" bIns="0" rtlCol="0" anchor="ctr"/>
          <a:lstStyle/>
          <a:p>
            <a:pPr algn="ctr" indent="0" marL="0">
              <a:buNone/>
            </a:pPr>
            <a:r>
              <a:rPr lang="en-US" sz="1000" dirty="0">
                <a:solidFill>
                  <a:schemeClr val="accent2"/>
                </a:solidFill>
              </a:rPr>
              <a:t>LPT</a:t>
            </a:r>
            <a:endParaRPr lang="en-US" sz="1000" dirty="0"/>
          </a:p>
        </p:txBody>
      </p:sp>
      <p:sp>
        <p:nvSpPr>
          <p:cNvPr id="54" name="Factory arrow"/>
          <p:cNvSpPr/>
          <p:nvPr/>
        </p:nvSpPr>
        <p:spPr>
          <a:xfrm>
            <a:off x="6492240" y="3108960"/>
            <a:ext cx="365760" cy="329184"/>
          </a:xfrm>
          <a:prstGeom prst="rightArrow">
            <a:avLst/>
          </a:prstGeom>
          <a:solidFill>
            <a:srgbClr val="847C7A"/>
          </a:solidFill>
          <a:ln/>
        </p:spPr>
      </p:sp>
      <p:sp>
        <p:nvSpPr>
          <p:cNvPr id="55" name="Before total"/>
          <p:cNvSpPr txBox="1"/>
          <p:nvPr/>
        </p:nvSpPr>
        <p:spPr>
          <a:xfrm>
            <a:off x="4526280" y="4645152"/>
            <a:ext cx="1901952" cy="658368"/>
          </a:xfrm>
          <a:prstGeom prst="rect">
            <a:avLst/>
          </a:prstGeom>
          <a:solidFill>
            <a:srgbClr val="DCD8D3"/>
          </a:solidFill>
          <a:ln/>
        </p:spPr>
        <p:txBody>
          <a:bodyPr wrap="square" lIns="0" tIns="0" rIns="0" bIns="0" rtlCol="0" anchor="ctr"/>
          <a:lstStyle/>
          <a:p>
            <a:pPr algn="ctr" indent="0" marL="0">
              <a:buNone/>
            </a:pPr>
            <a:r>
              <a:rPr lang="en-US" sz="1800" b="1" dirty="0">
                <a:solidFill>
                  <a:schemeClr val="tx2"/>
                </a:solidFill>
              </a:rPr>
              <a:t>$6.5M</a:t>
            </a:r>
            <a:endParaRPr lang="en-US" sz="1800" dirty="0"/>
          </a:p>
          <a:p>
            <a:pPr algn="ctr" indent="0" marL="0">
              <a:buNone/>
            </a:pPr>
            <a:r>
              <a:rPr lang="en-US" sz="1100" dirty="0">
                <a:solidFill>
                  <a:schemeClr val="tx2"/>
                </a:solidFill>
              </a:rPr>
              <a:t>engines + $3.5M of work</a:t>
            </a:r>
            <a:endParaRPr lang="en-US" sz="1800" dirty="0"/>
          </a:p>
        </p:txBody>
      </p:sp>
      <p:sp>
        <p:nvSpPr>
          <p:cNvPr id="56" name="After total"/>
          <p:cNvSpPr txBox="1"/>
          <p:nvPr/>
        </p:nvSpPr>
        <p:spPr>
          <a:xfrm>
            <a:off x="6922008" y="4645152"/>
            <a:ext cx="1901952" cy="658368"/>
          </a:xfrm>
          <a:prstGeom prst="rect">
            <a:avLst/>
          </a:prstGeom>
          <a:solidFill>
            <a:srgbClr val="0A1C58"/>
          </a:solidFill>
          <a:ln/>
        </p:spPr>
        <p:txBody>
          <a:bodyPr wrap="square" lIns="0" tIns="0" rIns="0" bIns="0" rtlCol="0" anchor="ctr"/>
          <a:lstStyle/>
          <a:p>
            <a:pPr algn="ctr" indent="0" marL="0">
              <a:buNone/>
            </a:pPr>
            <a:r>
              <a:rPr lang="en-US" sz="1800" b="1" dirty="0">
                <a:solidFill>
                  <a:schemeClr val="bg1"/>
                </a:solidFill>
              </a:rPr>
              <a:t>$16.0M</a:t>
            </a:r>
            <a:endParaRPr lang="en-US" sz="1800" dirty="0"/>
          </a:p>
          <a:p>
            <a:pPr algn="ctr" indent="0" marL="0">
              <a:buNone/>
            </a:pPr>
            <a:r>
              <a:rPr lang="en-US" sz="1100" dirty="0">
                <a:solidFill>
                  <a:schemeClr val="bg1"/>
                </a:solidFill>
              </a:rPr>
              <a:t>+$6.0M of value created</a:t>
            </a:r>
            <a:endParaRPr lang="en-US" sz="1800" dirty="0"/>
          </a:p>
        </p:txBody>
      </p:sp>
      <p:sp>
        <p:nvSpPr>
          <p:cNvPr id="57"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FTAI sells speed to airlines and harvests cycles from engines no one else can use.</a:t>
            </a:r>
            <a:endParaRPr lang="en-US" sz="1700" dirty="0"/>
          </a:p>
        </p:txBody>
      </p:sp>
      <p:sp>
        <p:nvSpPr>
          <p:cNvPr id="58"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investor materials (Module Factory example), GPS analysis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(1/4)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Even if the bears are right, too little cheap inventory is left to push margins lower.</a:t>
            </a:r>
            <a:endParaRPr lang="en-US" sz="1700" dirty="0"/>
          </a:p>
        </p:txBody>
      </p:sp>
      <p:sp>
        <p:nvSpPr>
          <p:cNvPr id="4" name="Donut header"/>
          <p:cNvSpPr txBox="1"/>
          <p:nvPr/>
        </p:nvSpPr>
        <p:spPr>
          <a:xfrm>
            <a:off x="320040" y="1554480"/>
            <a:ext cx="3566160" cy="365760"/>
          </a:xfrm>
          <a:prstGeom prst="rect">
            <a:avLst/>
          </a:prstGeom>
          <a:noFill/>
          <a:ln/>
        </p:spPr>
        <p:txBody>
          <a:bodyPr wrap="square" lIns="0" tIns="0" rIns="0" bIns="0" rtlCol="0" anchor="b"/>
          <a:lstStyle/>
          <a:p>
            <a:pPr algn="ctr" indent="0" marL="0">
              <a:buNone/>
            </a:pPr>
            <a:r>
              <a:rPr lang="en-US" sz="1600" b="1" dirty="0">
                <a:solidFill>
                  <a:srgbClr val="1A1A1A"/>
                </a:solidFill>
              </a:rPr>
              <a:t>Cheap Stock Left in AP</a:t>
            </a:r>
            <a:endParaRPr lang="en-US" sz="1600" dirty="0"/>
          </a:p>
        </p:txBody>
      </p:sp>
      <p:sp>
        <p:nvSpPr>
          <p:cNvPr id="5" name="Donut header rule"/>
          <p:cNvSpPr/>
          <p:nvPr/>
        </p:nvSpPr>
        <p:spPr>
          <a:xfrm>
            <a:off x="320040" y="1975104"/>
            <a:ext cx="3566160" cy="0"/>
          </a:xfrm>
          <a:prstGeom prst="line">
            <a:avLst/>
          </a:prstGeom>
          <a:noFill/>
          <a:ln w="12700">
            <a:solidFill>
              <a:srgbClr val="1A1A1A"/>
            </a:solidFill>
            <a:prstDash val="solid"/>
          </a:ln>
        </p:spPr>
      </p:sp>
      <p:graphicFrame>
        <p:nvGraphicFramePr>
          <p:cNvPr id="6" name="Inventory donut" descr=""/>
          <p:cNvGraphicFramePr/>
          <p:nvPr/>
        </p:nvGraphicFramePr>
        <p:xfrm>
          <a:off x="548640" y="2103120"/>
          <a:ext cx="3108960" cy="2834640"/>
        </p:xfrm>
        <a:graphic xmlns:a="http://schemas.openxmlformats.org/drawingml/2006/main">
          <a:graphicData uri="http://schemas.openxmlformats.org/drawingml/2006/chart">
            <c:chart xmlns:c="http://schemas.openxmlformats.org/drawingml/2006/chart" r:id="rId1"/>
          </a:graphicData>
        </a:graphic>
      </p:graphicFrame>
      <p:sp>
        <p:nvSpPr>
          <p:cNvPr id="7" name="Donut center"/>
          <p:cNvSpPr txBox="1"/>
          <p:nvPr/>
        </p:nvSpPr>
        <p:spPr>
          <a:xfrm>
            <a:off x="1188720" y="3063240"/>
            <a:ext cx="1828800" cy="914400"/>
          </a:xfrm>
          <a:prstGeom prst="rect">
            <a:avLst/>
          </a:prstGeom>
          <a:noFill/>
          <a:ln/>
        </p:spPr>
        <p:txBody>
          <a:bodyPr wrap="square" lIns="0" tIns="0" rIns="0" bIns="0" rtlCol="0" anchor="ctr"/>
          <a:lstStyle/>
          <a:p>
            <a:pPr algn="ctr" indent="0" marL="0">
              <a:buNone/>
            </a:pPr>
            <a:r>
              <a:rPr lang="en-US" sz="3400" b="1" dirty="0">
                <a:solidFill>
                  <a:schemeClr val="tx2"/>
                </a:solidFill>
              </a:rPr>
              <a:t>&lt;8%</a:t>
            </a:r>
            <a:endParaRPr lang="en-US" sz="3400" dirty="0"/>
          </a:p>
          <a:p>
            <a:pPr algn="ctr" indent="0" marL="0">
              <a:buNone/>
            </a:pPr>
            <a:r>
              <a:rPr lang="en-US" sz="1300" dirty="0">
                <a:solidFill>
                  <a:schemeClr val="accent2"/>
                </a:solidFill>
              </a:rPr>
              <a:t>left to unwind</a:t>
            </a:r>
            <a:endParaRPr lang="en-US" sz="3400" dirty="0"/>
          </a:p>
        </p:txBody>
      </p:sp>
      <p:sp>
        <p:nvSpPr>
          <p:cNvPr id="8" name="Margin path header"/>
          <p:cNvSpPr txBox="1"/>
          <p:nvPr/>
        </p:nvSpPr>
        <p:spPr>
          <a:xfrm>
            <a:off x="4160520" y="1554480"/>
            <a:ext cx="466344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Trough, Then Rebuild</a:t>
            </a:r>
            <a:endParaRPr lang="en-US" sz="1600" dirty="0"/>
          </a:p>
        </p:txBody>
      </p:sp>
      <p:sp>
        <p:nvSpPr>
          <p:cNvPr id="9" name="Margin path header rule"/>
          <p:cNvSpPr/>
          <p:nvPr/>
        </p:nvSpPr>
        <p:spPr>
          <a:xfrm>
            <a:off x="4160520" y="1975104"/>
            <a:ext cx="4663440" cy="0"/>
          </a:xfrm>
          <a:prstGeom prst="line">
            <a:avLst/>
          </a:prstGeom>
          <a:noFill/>
          <a:ln w="12700">
            <a:solidFill>
              <a:srgbClr val="1A1A1A"/>
            </a:solidFill>
            <a:prstDash val="solid"/>
          </a:ln>
        </p:spPr>
      </p:sp>
      <p:graphicFrame>
        <p:nvGraphicFramePr>
          <p:cNvPr id="10" name="Margin path chart" descr=""/>
          <p:cNvGraphicFramePr/>
          <p:nvPr/>
        </p:nvGraphicFramePr>
        <p:xfrm>
          <a:off x="4160520" y="2103120"/>
          <a:ext cx="4663440" cy="3200400"/>
        </p:xfrm>
        <a:graphic xmlns:a="http://schemas.openxmlformats.org/drawingml/2006/main">
          <a:graphicData uri="http://schemas.openxmlformats.org/drawingml/2006/chart">
            <c:chart xmlns:c="http://schemas.openxmlformats.org/drawingml/2006/chart" r:id="rId2"/>
          </a:graphicData>
        </a:graphic>
      </p:graphicFrame>
      <p:sp>
        <p:nvSpPr>
          <p:cNvPr id="11" name="Model label"/>
          <p:cNvSpPr txBox="1"/>
          <p:nvPr/>
        </p:nvSpPr>
        <p:spPr>
          <a:xfrm>
            <a:off x="6766560" y="2103120"/>
            <a:ext cx="1463040" cy="274320"/>
          </a:xfrm>
          <a:prstGeom prst="rect">
            <a:avLst/>
          </a:prstGeom>
          <a:noFill/>
          <a:ln/>
        </p:spPr>
        <p:txBody>
          <a:bodyPr wrap="square" lIns="0" tIns="0" rIns="0" bIns="0" rtlCol="0" anchor="ctr"/>
          <a:lstStyle/>
          <a:p>
            <a:pPr algn="ctr" indent="0" marL="0">
              <a:buNone/>
            </a:pPr>
            <a:r>
              <a:rPr lang="en-US" sz="1200" b="1" i="1" dirty="0">
                <a:solidFill>
                  <a:schemeClr val="accent2"/>
                </a:solidFill>
              </a:rPr>
              <a:t>Our model</a:t>
            </a:r>
            <a:endParaRPr lang="en-US" sz="12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With little cheap stock left, ~30% is the floor, and margins rebuild from here.</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FTAI filings, GPS analysis and model (Aerospace Adj. EBITDA margin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(2/4)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FTAI held price to win share while OEM list prices rose ~7% a year. It can now catch up.</a:t>
            </a:r>
            <a:endParaRPr lang="en-US" sz="1700" dirty="0"/>
          </a:p>
        </p:txBody>
      </p:sp>
      <p:sp>
        <p:nvSpPr>
          <p:cNvPr id="4" name="Price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Price Index (2025 = 100)</a:t>
            </a:r>
            <a:endParaRPr lang="en-US" sz="1600" dirty="0"/>
          </a:p>
        </p:txBody>
      </p:sp>
      <p:sp>
        <p:nvSpPr>
          <p:cNvPr id="5" name="Price header rule"/>
          <p:cNvSpPr/>
          <p:nvPr/>
        </p:nvSpPr>
        <p:spPr>
          <a:xfrm>
            <a:off x="320040" y="1975104"/>
            <a:ext cx="4206240" cy="0"/>
          </a:xfrm>
          <a:prstGeom prst="line">
            <a:avLst/>
          </a:prstGeom>
          <a:noFill/>
          <a:ln w="12700">
            <a:solidFill>
              <a:srgbClr val="1A1A1A"/>
            </a:solidFill>
            <a:prstDash val="solid"/>
          </a:ln>
        </p:spPr>
      </p:sp>
      <p:graphicFrame>
        <p:nvGraphicFramePr>
          <p:cNvPr id="6" name="Price index chart" descr=""/>
          <p:cNvGraphicFramePr/>
          <p:nvPr/>
        </p:nvGraphicFramePr>
        <p:xfrm>
          <a:off x="320040" y="2103120"/>
          <a:ext cx="4206240" cy="2834640"/>
        </p:xfrm>
        <a:graphic xmlns:a="http://schemas.openxmlformats.org/drawingml/2006/main">
          <a:graphicData uri="http://schemas.openxmlformats.org/drawingml/2006/chart">
            <c:chart xmlns:c="http://schemas.openxmlformats.org/drawingml/2006/chart" r:id="rId1"/>
          </a:graphicData>
        </a:graphic>
      </p:graphicFrame>
      <p:sp>
        <p:nvSpPr>
          <p:cNvPr id="7" name="OEM line label"/>
          <p:cNvSpPr txBox="1"/>
          <p:nvPr/>
        </p:nvSpPr>
        <p:spPr>
          <a:xfrm>
            <a:off x="2697480" y="2148840"/>
            <a:ext cx="1737360" cy="274320"/>
          </a:xfrm>
          <a:prstGeom prst="rect">
            <a:avLst/>
          </a:prstGeom>
          <a:noFill/>
          <a:ln/>
        </p:spPr>
        <p:txBody>
          <a:bodyPr wrap="square" lIns="0" tIns="0" rIns="0" bIns="0" rtlCol="0" anchor="ctr"/>
          <a:lstStyle/>
          <a:p>
            <a:pPr algn="r" indent="0" marL="0">
              <a:buNone/>
            </a:pPr>
            <a:r>
              <a:rPr lang="en-US" sz="1200" b="1" dirty="0">
                <a:solidFill>
                  <a:schemeClr val="tx2"/>
                </a:solidFill>
              </a:rPr>
              <a:t>OEM list (+7%/yr)</a:t>
            </a:r>
            <a:endParaRPr lang="en-US" sz="1200" dirty="0"/>
          </a:p>
        </p:txBody>
      </p:sp>
      <p:sp>
        <p:nvSpPr>
          <p:cNvPr id="8" name="FTAI line label"/>
          <p:cNvSpPr txBox="1"/>
          <p:nvPr/>
        </p:nvSpPr>
        <p:spPr>
          <a:xfrm>
            <a:off x="2697480" y="3337560"/>
            <a:ext cx="1737360" cy="274320"/>
          </a:xfrm>
          <a:prstGeom prst="rect">
            <a:avLst/>
          </a:prstGeom>
          <a:noFill/>
          <a:ln/>
        </p:spPr>
        <p:txBody>
          <a:bodyPr wrap="square" lIns="0" tIns="0" rIns="0" bIns="0" rtlCol="0" anchor="ctr"/>
          <a:lstStyle/>
          <a:p>
            <a:pPr algn="r" indent="0" marL="0">
              <a:buNone/>
            </a:pPr>
            <a:r>
              <a:rPr lang="en-US" sz="1200" b="1" dirty="0">
                <a:solidFill>
                  <a:schemeClr val="accent2"/>
                </a:solidFill>
              </a:rPr>
              <a:t>FTAI (half of OEM)</a:t>
            </a:r>
            <a:endParaRPr lang="en-US" sz="1200" dirty="0"/>
          </a:p>
        </p:txBody>
      </p:sp>
      <p:sp>
        <p:nvSpPr>
          <p:cNvPr id="9" name="Price caption"/>
          <p:cNvSpPr txBox="1"/>
          <p:nvPr/>
        </p:nvSpPr>
        <p:spPr>
          <a:xfrm>
            <a:off x="320040" y="4983480"/>
            <a:ext cx="4206240" cy="274320"/>
          </a:xfrm>
          <a:prstGeom prst="rect">
            <a:avLst/>
          </a:prstGeom>
          <a:noFill/>
          <a:ln/>
        </p:spPr>
        <p:txBody>
          <a:bodyPr wrap="square" lIns="0" tIns="0" rIns="0" bIns="0" rtlCol="0" anchor="ctr"/>
          <a:lstStyle/>
          <a:p>
            <a:pPr algn="ctr" indent="0" marL="0">
              <a:buNone/>
            </a:pPr>
            <a:r>
              <a:rPr lang="en-US" sz="1200" i="1" dirty="0">
                <a:solidFill>
                  <a:schemeClr val="accent2"/>
                </a:solidFill>
              </a:rPr>
              <a:t>The gap is pricing room</a:t>
            </a:r>
            <a:endParaRPr lang="en-US" sz="1200" dirty="0"/>
          </a:p>
        </p:txBody>
      </p:sp>
      <p:sp>
        <p:nvSpPr>
          <p:cNvPr id="10" name="EPM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EBITDA per Module ($K)</a:t>
            </a:r>
            <a:endParaRPr lang="en-US" sz="1600" dirty="0"/>
          </a:p>
        </p:txBody>
      </p:sp>
      <p:sp>
        <p:nvSpPr>
          <p:cNvPr id="11" name="EPM header rule"/>
          <p:cNvSpPr/>
          <p:nvPr/>
        </p:nvSpPr>
        <p:spPr>
          <a:xfrm>
            <a:off x="4892040" y="1975104"/>
            <a:ext cx="3931920" cy="0"/>
          </a:xfrm>
          <a:prstGeom prst="line">
            <a:avLst/>
          </a:prstGeom>
          <a:noFill/>
          <a:ln w="12700">
            <a:solidFill>
              <a:srgbClr val="1A1A1A"/>
            </a:solidFill>
            <a:prstDash val="solid"/>
          </a:ln>
        </p:spPr>
      </p:sp>
      <p:graphicFrame>
        <p:nvGraphicFramePr>
          <p:cNvPr id="12" name="EBITDA per module chart" descr=""/>
          <p:cNvGraphicFramePr/>
          <p:nvPr/>
        </p:nvGraphicFramePr>
        <p:xfrm>
          <a:off x="4892040" y="2103120"/>
          <a:ext cx="3931920" cy="3200400"/>
        </p:xfrm>
        <a:graphic xmlns:a="http://schemas.openxmlformats.org/drawingml/2006/main">
          <a:graphicData uri="http://schemas.openxmlformats.org/drawingml/2006/chart">
            <c:chart xmlns:c="http://schemas.openxmlformats.org/drawingml/2006/chart" r:id="rId2"/>
          </a:graphicData>
        </a:graphic>
      </p:graphicFrame>
      <p:sp>
        <p:nvSpPr>
          <p:cNvPr id="13"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Passing through just half of OEM increases, plus PMA, lifts EBITDA per module ~30% by FY31.</a:t>
            </a:r>
            <a:endParaRPr lang="en-US" sz="1700" dirty="0"/>
          </a:p>
        </p:txBody>
      </p:sp>
      <p:sp>
        <p:nvSpPr>
          <p:cNvPr id="14"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CFM escalator 7%/yr, FTAI pass-through 50% from 2027; EBITDA per module incl. PMA)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(3/4)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The heavy second-visit wave peaks in 2027. Late-life, lighter work follows and lifts margins.</a:t>
            </a:r>
            <a:endParaRPr lang="en-US" sz="1700" dirty="0"/>
          </a:p>
        </p:txBody>
      </p:sp>
      <p:sp>
        <p:nvSpPr>
          <p:cNvPr id="4" name="Cohort header"/>
          <p:cNvSpPr txBox="1"/>
          <p:nvPr/>
        </p:nvSpPr>
        <p:spPr>
          <a:xfrm>
            <a:off x="320040" y="1554480"/>
            <a:ext cx="4343400" cy="365760"/>
          </a:xfrm>
          <a:prstGeom prst="rect">
            <a:avLst/>
          </a:prstGeom>
          <a:noFill/>
          <a:ln/>
        </p:spPr>
        <p:txBody>
          <a:bodyPr wrap="square" lIns="0" tIns="0" rIns="0" bIns="0" rtlCol="0" anchor="b"/>
          <a:lstStyle/>
          <a:p>
            <a:pPr algn="ctr" indent="0" marL="0">
              <a:buNone/>
            </a:pPr>
            <a:r>
              <a:rPr lang="en-US" sz="1600" b="1" dirty="0">
                <a:solidFill>
                  <a:srgbClr val="1A1A1A"/>
                </a:solidFill>
              </a:rPr>
              <a:t>CFM56 Shop Visits by Visit Number</a:t>
            </a:r>
            <a:endParaRPr lang="en-US" sz="1600" dirty="0"/>
          </a:p>
        </p:txBody>
      </p:sp>
      <p:sp>
        <p:nvSpPr>
          <p:cNvPr id="5" name="Cohort header rule"/>
          <p:cNvSpPr/>
          <p:nvPr/>
        </p:nvSpPr>
        <p:spPr>
          <a:xfrm>
            <a:off x="320040" y="1975104"/>
            <a:ext cx="4343400" cy="0"/>
          </a:xfrm>
          <a:prstGeom prst="line">
            <a:avLst/>
          </a:prstGeom>
          <a:noFill/>
          <a:ln w="12700">
            <a:solidFill>
              <a:srgbClr val="1A1A1A"/>
            </a:solidFill>
            <a:prstDash val="solid"/>
          </a:ln>
        </p:spPr>
      </p:sp>
      <p:graphicFrame>
        <p:nvGraphicFramePr>
          <p:cNvPr id="6" name="Cohort chart" descr=""/>
          <p:cNvGraphicFramePr/>
          <p:nvPr/>
        </p:nvGraphicFramePr>
        <p:xfrm>
          <a:off x="320040" y="2103120"/>
          <a:ext cx="4343400" cy="2880360"/>
        </p:xfrm>
        <a:graphic xmlns:a="http://schemas.openxmlformats.org/drawingml/2006/main">
          <a:graphicData uri="http://schemas.openxmlformats.org/drawingml/2006/chart">
            <c:chart xmlns:c="http://schemas.openxmlformats.org/drawingml/2006/chart" r:id="rId1"/>
          </a:graphicData>
        </a:graphic>
      </p:graphicFrame>
      <p:sp>
        <p:nvSpPr>
          <p:cNvPr id="7" name="Peak label"/>
          <p:cNvSpPr txBox="1"/>
          <p:nvPr/>
        </p:nvSpPr>
        <p:spPr>
          <a:xfrm>
            <a:off x="1709928" y="2011680"/>
            <a:ext cx="1188720" cy="256032"/>
          </a:xfrm>
          <a:prstGeom prst="rect">
            <a:avLst/>
          </a:prstGeom>
          <a:noFill/>
          <a:ln/>
        </p:spPr>
        <p:txBody>
          <a:bodyPr wrap="square" lIns="0" tIns="0" rIns="0" bIns="0" rtlCol="0" anchor="ctr"/>
          <a:lstStyle/>
          <a:p>
            <a:pPr algn="ctr" indent="0" marL="0">
              <a:buNone/>
            </a:pPr>
            <a:r>
              <a:rPr lang="en-US" sz="1100" b="1" i="1" dirty="0">
                <a:solidFill>
                  <a:schemeClr val="tx2"/>
                </a:solidFill>
              </a:rPr>
              <a:t>2nd-visit peak</a:t>
            </a:r>
            <a:endParaRPr lang="en-US" sz="1100" dirty="0"/>
          </a:p>
        </p:txBody>
      </p:sp>
      <p:sp>
        <p:nvSpPr>
          <p:cNvPr id="8" name="Mix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Margin vs. Light-Scope Mix</a:t>
            </a:r>
            <a:endParaRPr lang="en-US" sz="1600" dirty="0"/>
          </a:p>
        </p:txBody>
      </p:sp>
      <p:sp>
        <p:nvSpPr>
          <p:cNvPr id="9" name="Mix header rule"/>
          <p:cNvSpPr/>
          <p:nvPr/>
        </p:nvSpPr>
        <p:spPr>
          <a:xfrm>
            <a:off x="4892040" y="1975104"/>
            <a:ext cx="3931920" cy="0"/>
          </a:xfrm>
          <a:prstGeom prst="line">
            <a:avLst/>
          </a:prstGeom>
          <a:noFill/>
          <a:ln w="12700">
            <a:solidFill>
              <a:srgbClr val="1A1A1A"/>
            </a:solidFill>
            <a:prstDash val="solid"/>
          </a:ln>
        </p:spPr>
      </p:sp>
      <p:graphicFrame>
        <p:nvGraphicFramePr>
          <p:cNvPr id="10" name="Mix margin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2"/>
          </a:graphicData>
        </a:graphic>
      </p:graphicFrame>
      <p:sp>
        <p:nvSpPr>
          <p:cNvPr id="11" name="Mix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Light-scope share of jobs (management's job economics)</a:t>
            </a:r>
            <a:endParaRPr lang="en-US" sz="1100" dirty="0"/>
          </a:p>
        </p:txBody>
      </p:sp>
      <p:sp>
        <p:nvSpPr>
          <p:cNvPr id="12"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When light work returns, every 10 pts of mix adds ~1.5–2 pts of margin, above today's ~30%.</a:t>
            </a:r>
            <a:endParaRPr lang="en-US" sz="1700" dirty="0"/>
          </a:p>
        </p:txBody>
      </p:sp>
      <p:sp>
        <p:nvSpPr>
          <p:cNvPr id="13"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(CFM56 Data tab: cohort roll-forward, central case); FTAI earnings call (light vs. heavy job economics)</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2" type="title" hasCustomPrompt="1"/>
          </p:nvPr>
        </p:nvSpPr>
        <p:spPr>
          <a:xfrm>
            <a:off x="320040" y="182880"/>
            <a:ext cx="8503920" cy="640080"/>
          </a:xfrm>
          <a:prstGeom prst="rect">
            <a:avLst/>
          </a:prstGeom>
          <a:noFill/>
          <a:ln/>
        </p:spPr>
        <p:txBody>
          <a:bodyPr wrap="square" lIns="0" tIns="0" rIns="0" bIns="0" rtlCol="0" anchor="ctr"/>
          <a:lstStyle/>
          <a:p>
            <a:pPr algn="l" indent="0" marL="0">
              <a:buNone/>
            </a:pPr>
            <a:r>
              <a:rPr lang="en-US" sz="3200" b="1" dirty="0">
                <a:solidFill>
                  <a:schemeClr val="tx2"/>
                </a:solidFill>
              </a:rPr>
              <a:t>Thesis 1a: Margin Floor (4/4)</a:t>
            </a:r>
            <a:endParaRPr lang="en-US" sz="3200" dirty="0"/>
          </a:p>
        </p:txBody>
      </p:sp>
      <p:sp>
        <p:nvSpPr>
          <p:cNvPr id="3" name="Text 1"/>
          <p:cNvSpPr/>
          <p:nvPr>
            <p:ph idx="103" type="body" hasCustomPrompt="1"/>
          </p:nvPr>
        </p:nvSpPr>
        <p:spPr>
          <a:xfrm>
            <a:off x="320040" y="932688"/>
            <a:ext cx="8503920" cy="566928"/>
          </a:xfrm>
          <a:prstGeom prst="rect">
            <a:avLst/>
          </a:prstGeom>
          <a:noFill/>
          <a:ln/>
        </p:spPr>
        <p:txBody>
          <a:bodyPr wrap="square" lIns="0" tIns="0" rIns="0" bIns="0" rtlCol="0" anchor="t"/>
          <a:lstStyle/>
          <a:p>
            <a:pPr algn="l" indent="0" marL="0">
              <a:buNone/>
            </a:pPr>
            <a:r>
              <a:rPr lang="en-US" sz="1700" b="1" dirty="0">
                <a:solidFill>
                  <a:schemeClr val="tx2"/>
                </a:solidFill>
              </a:rPr>
              <a:t>Cheaper PMA parts add a new margin lever, and our base case uses it sparingly.</a:t>
            </a:r>
            <a:endParaRPr lang="en-US" sz="1700" dirty="0"/>
          </a:p>
        </p:txBody>
      </p:sp>
      <p:sp>
        <p:nvSpPr>
          <p:cNvPr id="4" name="PMA ramp header"/>
          <p:cNvSpPr txBox="1"/>
          <p:nvPr/>
        </p:nvSpPr>
        <p:spPr>
          <a:xfrm>
            <a:off x="320040" y="1554480"/>
            <a:ext cx="4206240" cy="365760"/>
          </a:xfrm>
          <a:prstGeom prst="rect">
            <a:avLst/>
          </a:prstGeom>
          <a:noFill/>
          <a:ln/>
        </p:spPr>
        <p:txBody>
          <a:bodyPr wrap="square" lIns="0" tIns="0" rIns="0" bIns="0" rtlCol="0" anchor="b"/>
          <a:lstStyle/>
          <a:p>
            <a:pPr algn="ctr" indent="0" marL="0">
              <a:buNone/>
            </a:pPr>
            <a:r>
              <a:rPr lang="en-US" sz="1600" b="1" dirty="0">
                <a:solidFill>
                  <a:srgbClr val="1A1A1A"/>
                </a:solidFill>
              </a:rPr>
              <a:t>PMA Ramp in Our Model</a:t>
            </a:r>
            <a:endParaRPr lang="en-US" sz="1600" dirty="0"/>
          </a:p>
        </p:txBody>
      </p:sp>
      <p:sp>
        <p:nvSpPr>
          <p:cNvPr id="5" name="PMA ramp header rule"/>
          <p:cNvSpPr/>
          <p:nvPr/>
        </p:nvSpPr>
        <p:spPr>
          <a:xfrm>
            <a:off x="320040" y="1975104"/>
            <a:ext cx="4206240" cy="0"/>
          </a:xfrm>
          <a:prstGeom prst="line">
            <a:avLst/>
          </a:prstGeom>
          <a:noFill/>
          <a:ln w="12700">
            <a:solidFill>
              <a:srgbClr val="1A1A1A"/>
            </a:solidFill>
            <a:prstDash val="solid"/>
          </a:ln>
        </p:spPr>
      </p:sp>
      <p:sp>
        <p:nvSpPr>
          <p:cNvPr id="6" name="Adoption label"/>
          <p:cNvSpPr txBox="1"/>
          <p:nvPr/>
        </p:nvSpPr>
        <p:spPr>
          <a:xfrm>
            <a:off x="320040" y="2084832"/>
            <a:ext cx="4206240" cy="228600"/>
          </a:xfrm>
          <a:prstGeom prst="rect">
            <a:avLst/>
          </a:prstGeom>
          <a:noFill/>
          <a:ln/>
        </p:spPr>
        <p:txBody>
          <a:bodyPr wrap="square" lIns="0" tIns="0" rIns="0" bIns="0" rtlCol="0" anchor="ctr"/>
          <a:lstStyle/>
          <a:p>
            <a:pPr algn="l" indent="0" marL="0">
              <a:buNone/>
            </a:pPr>
            <a:r>
              <a:rPr lang="en-US" sz="1100" i="1" dirty="0">
                <a:solidFill>
                  <a:schemeClr val="accent2"/>
                </a:solidFill>
              </a:rPr>
              <a:t>Adoption (% of modules)</a:t>
            </a:r>
            <a:endParaRPr lang="en-US" sz="1100" dirty="0"/>
          </a:p>
        </p:txBody>
      </p:sp>
      <p:graphicFrame>
        <p:nvGraphicFramePr>
          <p:cNvPr id="7" name="PMA adoption chart" descr=""/>
          <p:cNvGraphicFramePr/>
          <p:nvPr/>
        </p:nvGraphicFramePr>
        <p:xfrm>
          <a:off x="320040" y="2240280"/>
          <a:ext cx="4206240" cy="960120"/>
        </p:xfrm>
        <a:graphic xmlns:a="http://schemas.openxmlformats.org/drawingml/2006/main">
          <a:graphicData uri="http://schemas.openxmlformats.org/drawingml/2006/chart">
            <c:chart xmlns:c="http://schemas.openxmlformats.org/drawingml/2006/chart" r:id="rId1"/>
          </a:graphicData>
        </a:graphic>
      </p:graphicFrame>
      <p:sp>
        <p:nvSpPr>
          <p:cNvPr id="8" name="Uplift label"/>
          <p:cNvSpPr txBox="1"/>
          <p:nvPr/>
        </p:nvSpPr>
        <p:spPr>
          <a:xfrm>
            <a:off x="320040" y="3200400"/>
            <a:ext cx="4206240" cy="228600"/>
          </a:xfrm>
          <a:prstGeom prst="rect">
            <a:avLst/>
          </a:prstGeom>
          <a:noFill/>
          <a:ln/>
        </p:spPr>
        <p:txBody>
          <a:bodyPr wrap="square" lIns="0" tIns="0" rIns="0" bIns="0" rtlCol="0" anchor="ctr"/>
          <a:lstStyle/>
          <a:p>
            <a:pPr algn="l" indent="0" marL="0">
              <a:buNone/>
            </a:pPr>
            <a:r>
              <a:rPr lang="en-US" sz="1100" i="1" dirty="0">
                <a:solidFill>
                  <a:schemeClr val="tx2"/>
                </a:solidFill>
              </a:rPr>
              <a:t>EBITDA uplift ($M)</a:t>
            </a:r>
            <a:endParaRPr lang="en-US" sz="1100" dirty="0"/>
          </a:p>
        </p:txBody>
      </p:sp>
      <p:graphicFrame>
        <p:nvGraphicFramePr>
          <p:cNvPr id="9" name="PMA uplift chart" descr=""/>
          <p:cNvGraphicFramePr/>
          <p:nvPr/>
        </p:nvGraphicFramePr>
        <p:xfrm>
          <a:off x="320040" y="3383280"/>
          <a:ext cx="4206240" cy="1920240"/>
        </p:xfrm>
        <a:graphic xmlns:a="http://schemas.openxmlformats.org/drawingml/2006/main">
          <a:graphicData uri="http://schemas.openxmlformats.org/drawingml/2006/chart">
            <c:chart xmlns:c="http://schemas.openxmlformats.org/drawingml/2006/chart" r:id="rId2"/>
          </a:graphicData>
        </a:graphic>
      </p:graphicFrame>
      <p:sp>
        <p:nvSpPr>
          <p:cNvPr id="10" name="Sensitivity header"/>
          <p:cNvSpPr txBox="1"/>
          <p:nvPr/>
        </p:nvSpPr>
        <p:spPr>
          <a:xfrm>
            <a:off x="4892040" y="1554480"/>
            <a:ext cx="3931920" cy="365760"/>
          </a:xfrm>
          <a:prstGeom prst="rect">
            <a:avLst/>
          </a:prstGeom>
          <a:noFill/>
          <a:ln/>
        </p:spPr>
        <p:txBody>
          <a:bodyPr wrap="square" lIns="0" tIns="0" rIns="0" bIns="0" rtlCol="0" anchor="b"/>
          <a:lstStyle/>
          <a:p>
            <a:pPr algn="ctr" indent="0" marL="0">
              <a:buNone/>
            </a:pPr>
            <a:r>
              <a:rPr lang="en-US" sz="1600" b="1" dirty="0">
                <a:solidFill>
                  <a:srgbClr val="1A1A1A"/>
                </a:solidFill>
              </a:rPr>
              <a:t>Upside If Adoption Runs Faster</a:t>
            </a:r>
            <a:endParaRPr lang="en-US" sz="1600" dirty="0"/>
          </a:p>
        </p:txBody>
      </p:sp>
      <p:sp>
        <p:nvSpPr>
          <p:cNvPr id="11" name="Sensitivity header rule"/>
          <p:cNvSpPr/>
          <p:nvPr/>
        </p:nvSpPr>
        <p:spPr>
          <a:xfrm>
            <a:off x="4892040" y="1975104"/>
            <a:ext cx="3931920" cy="0"/>
          </a:xfrm>
          <a:prstGeom prst="line">
            <a:avLst/>
          </a:prstGeom>
          <a:noFill/>
          <a:ln w="12700">
            <a:solidFill>
              <a:srgbClr val="1A1A1A"/>
            </a:solidFill>
            <a:prstDash val="solid"/>
          </a:ln>
        </p:spPr>
      </p:sp>
      <p:graphicFrame>
        <p:nvGraphicFramePr>
          <p:cNvPr id="12" name="PMA sensitivity chart" descr=""/>
          <p:cNvGraphicFramePr/>
          <p:nvPr/>
        </p:nvGraphicFramePr>
        <p:xfrm>
          <a:off x="4892040" y="2103120"/>
          <a:ext cx="3931920" cy="2743200"/>
        </p:xfrm>
        <a:graphic xmlns:a="http://schemas.openxmlformats.org/drawingml/2006/main">
          <a:graphicData uri="http://schemas.openxmlformats.org/drawingml/2006/chart">
            <c:chart xmlns:c="http://schemas.openxmlformats.org/drawingml/2006/chart" r:id="rId3"/>
          </a:graphicData>
        </a:graphic>
      </p:graphicFrame>
      <p:sp>
        <p:nvSpPr>
          <p:cNvPr id="13" name="Sensitivity caption"/>
          <p:cNvSpPr txBox="1"/>
          <p:nvPr/>
        </p:nvSpPr>
        <p:spPr>
          <a:xfrm>
            <a:off x="4892040" y="4892040"/>
            <a:ext cx="3931920" cy="411480"/>
          </a:xfrm>
          <a:prstGeom prst="rect">
            <a:avLst/>
          </a:prstGeom>
          <a:noFill/>
          <a:ln/>
        </p:spPr>
        <p:txBody>
          <a:bodyPr wrap="square" lIns="0" tIns="0" rIns="0" bIns="0" rtlCol="0" anchor="ctr"/>
          <a:lstStyle/>
          <a:p>
            <a:pPr algn="ctr" indent="0" marL="0">
              <a:buNone/>
            </a:pPr>
            <a:r>
              <a:rPr lang="en-US" sz="1100" i="1" dirty="0">
                <a:solidFill>
                  <a:schemeClr val="accent2"/>
                </a:solidFill>
              </a:rPr>
              <a:t>FY26E Aerospace EBITDA ($M) at 1,200 modules vs. PMA adoption (Jefferies)</a:t>
            </a:r>
            <a:endParaRPr lang="en-US" sz="1100" dirty="0"/>
          </a:p>
        </p:txBody>
      </p:sp>
      <p:sp>
        <p:nvSpPr>
          <p:cNvPr id="14" name="Takeaway"/>
          <p:cNvSpPr txBox="1"/>
          <p:nvPr/>
        </p:nvSpPr>
        <p:spPr>
          <a:xfrm>
            <a:off x="320040" y="5504688"/>
            <a:ext cx="8503920" cy="566928"/>
          </a:xfrm>
          <a:prstGeom prst="rect">
            <a:avLst/>
          </a:prstGeom>
          <a:solidFill>
            <a:srgbClr val="0A1C58"/>
          </a:solidFill>
          <a:ln/>
        </p:spPr>
        <p:txBody>
          <a:bodyPr wrap="square" lIns="101600" tIns="25400" rIns="101600" bIns="25400" rtlCol="0" anchor="ctr"/>
          <a:lstStyle/>
          <a:p>
            <a:pPr algn="ctr" indent="0" marL="0">
              <a:buNone/>
            </a:pPr>
            <a:r>
              <a:rPr lang="en-US" sz="1700" b="1" dirty="0">
                <a:solidFill>
                  <a:schemeClr val="bg1"/>
                </a:solidFill>
              </a:rPr>
              <a:t>3 of 5 Chromalloy parts are approved, and every 5 pts of adoption adds ~$43M of EBITDA.</a:t>
            </a:r>
            <a:endParaRPr lang="en-US" sz="1700" dirty="0"/>
          </a:p>
        </p:txBody>
      </p:sp>
      <p:sp>
        <p:nvSpPr>
          <p:cNvPr id="15" name="Source"/>
          <p:cNvSpPr txBox="1"/>
          <p:nvPr/>
        </p:nvSpPr>
        <p:spPr>
          <a:xfrm>
            <a:off x="320040" y="6355080"/>
            <a:ext cx="7132320" cy="274320"/>
          </a:xfrm>
          <a:prstGeom prst="rect">
            <a:avLst/>
          </a:prstGeom>
          <a:noFill/>
          <a:ln/>
        </p:spPr>
        <p:txBody>
          <a:bodyPr wrap="square" lIns="0" tIns="0" rIns="0" bIns="0" rtlCol="0" anchor="ctr"/>
          <a:lstStyle/>
          <a:p>
            <a:pPr indent="0" marL="0">
              <a:buNone/>
            </a:pPr>
            <a:r>
              <a:rPr lang="en-US" sz="1100" b="1" dirty="0">
                <a:solidFill>
                  <a:srgbClr val="1A1A1A"/>
                </a:solidFill>
              </a:rPr>
              <a:t>Source: </a:t>
            </a:r>
            <a:pPr indent="0" marL="0">
              <a:buNone/>
            </a:pPr>
            <a:r>
              <a:rPr lang="en-US" sz="1100" dirty="0">
                <a:solidFill>
                  <a:srgbClr val="1A1A1A"/>
                </a:solidFill>
              </a:rPr>
              <a:t>GPS model (RPM tab: PMA penetration × $0.4M uplift per module); Jefferies estimates; FAA PMA data</a:t>
            </a:r>
            <a:endParaRPr lang="en-US" sz="1100" dirty="0"/>
          </a:p>
        </p:txBody>
      </p:sp>
      <p:sp>
        <p:nvSpPr>
          <p:cNvPr id="25" name="Slide Number Placeholder 0"/>
          <p:cNvSpPr>
            <a:spLocks noGrp="1"/>
          </p:cNvSpPr>
          <p:nvPr>
            <p:ph type="sldNum" sz="quarter" idx="4294967295"/>
          </p:nvPr>
        </p:nvSpPr>
        <p:spPr>
          <a:xfrm>
            <a:off x="7635240" y="6327648"/>
            <a:ext cx="411480" cy="274320"/>
          </a:xfrm>
          <a:prstGeom prst="rect">
            <a:avLst/>
          </a:prstGeom>
          <a:extLst>
            <a:ext uri="{C572A759-6A51-4108-AA02-DFA0A04FC94B}">
              <ma14:wrappingTextBoxFlag xmlns:ma14="http://schemas.microsoft.com/office/mac/drawingml/2011/main" val="0"/>
            </a:ext>
          </a:extLst>
        </p:spPr>
        <p:txBody>
          <a:bodyPr/>
          <a:lstStyle>
            <a:lvl1pPr>
              <a:defRPr sz="1100">
                <a:solidFill>
                  <a:srgbClr val="1A1A1A"/>
                </a:solidFill>
              </a:defRPr>
            </a:lvl1pPr>
          </a:lstStyle>
          <a:p>
            <a:pPr algn="r"/>
            <a:fld id="{F7021451-1387-4CA6-816F-3879F97B5CBC}" type="slidenum">
              <a:rPr b="1" lang="en-US"/>
              <a:t>12</a:t>
            </a:fld>
            <a:endParaRPr lang="en-US"/>
          </a:p>
        </p:txBody>
      </p:sp>
    </p:spTree>
  </p:cSld>
  <p:clrMapOvr>
    <a:masterClrMapping/>
  </p:clrMapOvr>
</p:sld>
</file>

<file path=ppt/theme/theme1.xml><?xml version="1.0" encoding="utf-8"?>
<a:theme xmlns:a="http://schemas.openxmlformats.org/drawingml/2006/main" name="Global Platinum Securities">
  <a:themeElements>
    <a:clrScheme name="Global Platinum Securities">
      <a:dk1>
        <a:srgbClr val="1A1A1A"/>
      </a:dk1>
      <a:lt1>
        <a:srgbClr val="FFFFFF"/>
      </a:lt1>
      <a:dk2>
        <a:srgbClr val="0A1C58"/>
      </a:dk2>
      <a:lt2>
        <a:srgbClr val="EFEDEA"/>
      </a:lt2>
      <a:accent1>
        <a:srgbClr val="0A1C58"/>
      </a:accent1>
      <a:accent2>
        <a:srgbClr val="847C7A"/>
      </a:accent2>
      <a:accent3>
        <a:srgbClr val="DCD8D3"/>
      </a:accent3>
      <a:accent4>
        <a:srgbClr val="3B4C82"/>
      </a:accent4>
      <a:accent5>
        <a:srgbClr val="B5AEA9"/>
      </a:accent5>
      <a:accent6>
        <a:srgbClr val="5A5350"/>
      </a:accent6>
      <a:hlink>
        <a:srgbClr val="0A1C58"/>
      </a:hlink>
      <a:folHlink>
        <a:srgbClr val="847C7A"/>
      </a:folHlink>
    </a:clrScheme>
    <a:fontScheme name="Global Platinum Securities">
      <a:majorFont>
        <a:latin typeface="Garamond"/>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Garamond"/>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Global Platinum Securities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FTAI Aviation — Long Recommendation</dc:title>
  <dc:subject>PptxGenJS Presentation</dc:subject>
  <dc:creator>PptxGenJS</dc:creator>
  <cp:lastModifiedBy>PptxGenJS</cp:lastModifiedBy>
  <cp:revision>1</cp:revision>
  <dcterms:created xsi:type="dcterms:W3CDTF">2026-10-08T22:31:40Z</dcterms:created>
  <dcterms:modified xsi:type="dcterms:W3CDTF">2026-10-08T22:31:40Z</dcterms:modified>
</cp:coreProperties>
</file>