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3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4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6858000"/>
  <p:notesSz cx="68580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ction" id="{50def43a-4d1c-54d2-cd96-23e6cfacceb5}">
          <p14:sldIdLst>
            <p14:sldId id="256"/>
          </p14:sldIdLst>
        </p14:section>
        <p14:section name="The Opportunity" id="{e31d002f-ccfc-ae80-18b6-007b7d5b59d4}">
          <p14:sldIdLst>
            <p14:sldId id="257"/>
            <p14:sldId id="258"/>
            <p14:sldId id="259"/>
            <p14:sldId id="260"/>
          </p14:sldIdLst>
        </p14:section>
        <p14:section name="Returns" id="{63b2dc6e-20c5-e749-e68e-e8a4464dc7e4}">
          <p14:sldIdLst>
            <p14:sldId id="261"/>
          </p14:sldIdLst>
        </p14:section>
        <p14:section name="Business Overview" id="{078566ca-fb96-195d-9bcf-0932ff475bc7}">
          <p14:sldIdLst>
            <p14:sldId id="262"/>
            <p14:sldId id="26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Reported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Sheet1!$B$2:$B$9</c:f>
              <c:numCache>
                <c:formatCode>General</c:formatCode>
                <c:ptCount val="8"/>
                <c:pt idx="0">
                  <c:v>0.359</c:v>
                </c:pt>
                <c:pt idx="1">
                  <c:v>0.336</c:v>
                </c:pt>
                <c:pt idx="2">
                  <c:v>0.348</c:v>
                </c:pt>
                <c:pt idx="3">
                  <c:v>0.346</c:v>
                </c:pt>
                <c:pt idx="4">
                  <c:v>0.299</c:v>
                </c:pt>
                <c:pt idx="5">
                  <c:v>0.285</c:v>
                </c:pt>
                <c:pt idx="6">
                  <c:v/>
                </c:pt>
                <c:pt idx="7">
                  <c:v/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Mgmt. guide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.0%" sourceLinked="0"/>
            <c:txPr>
              <a:bodyPr/>
              <a:lstStyle/>
              <a:p>
                <a:pPr>
                  <a:defRPr b="1" i="0" strike="noStrike" sz="11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Sheet1!$A$2:$A$9</c:f>
              <c:multiLvlStrCache>
                <c:ptCount val="8"/>
                <c:lvl>
                  <c:pt idx="0">
                    <c:v>Q1'25</c:v>
                  </c:pt>
                  <c:pt idx="1">
                    <c:v>Q2'25</c:v>
                  </c:pt>
                  <c:pt idx="2">
                    <c:v>Q3'25</c:v>
                  </c:pt>
                  <c:pt idx="3">
                    <c:v>Q4'25</c:v>
                  </c:pt>
                  <c:pt idx="4">
                    <c:v>Q1'26</c:v>
                  </c:pt>
                  <c:pt idx="5">
                    <c:v>Q2'26</c:v>
                  </c:pt>
                  <c:pt idx="6">
                    <c:v>FY26E</c:v>
                  </c:pt>
                  <c:pt idx="7">
                    <c:v>FY27E</c:v>
                  </c:pt>
                </c:lvl>
              </c:multiLvlStrCache>
            </c:multiLvlStrRef>
          </c:cat>
          <c:val>
            <c:numRef>
              <c:f>Sheet1!$C$2:$C$9</c:f>
              <c:numCache>
                <c:formatCode>General</c:formatCode>
                <c:ptCount val="8"/>
                <c:pt idx="0">
                  <c:v/>
                </c:pt>
                <c:pt idx="1">
                  <c:v/>
                </c:pt>
                <c:pt idx="2">
                  <c:v/>
                </c:pt>
                <c:pt idx="3">
                  <c:v/>
                </c:pt>
                <c:pt idx="4">
                  <c:v/>
                </c:pt>
                <c:pt idx="5">
                  <c:v/>
                </c:pt>
                <c:pt idx="6">
                  <c:v>0.3</c:v>
                </c:pt>
                <c:pt idx="7">
                  <c:v>0.3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b="1" i="0" strike="noStrike" sz="11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0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4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Margin</c:v>
                </c:pt>
              </c:strCache>
            </c:strRef>
          </c:tx>
          <c:spPr>
            <a:solidFill>
              <a:srgbClr val="B5AEA9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5AEA9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A1C58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5A5350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Light</c:v>
                  </c:pt>
                  <c:pt idx="1">
                    <c:v>Heavy</c:v>
                  </c:pt>
                  <c:pt idx="2">
                    <c:v>Blended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0.417</c:v>
                </c:pt>
                <c:pt idx="1">
                  <c:v>0.25</c:v>
                </c:pt>
                <c:pt idx="2">
                  <c:v>0.306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5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EV / EBITDA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0.0&quot;x&quot;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1A1A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Sheet1!$A$2:$A$4</c:f>
              <c:multiLvlStrCache>
                <c:ptCount val="3"/>
                <c:lvl>
                  <c:pt idx="0">
                    <c:v>FY26E</c:v>
                  </c:pt>
                  <c:pt idx="1">
                    <c:v>FY27E</c:v>
                  </c:pt>
                  <c:pt idx="2">
                    <c:v>FY28E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15.9</c:v>
                </c:pt>
                <c:pt idx="1">
                  <c:v>9.8</c:v>
                </c:pt>
                <c:pt idx="2">
                  <c:v>6.8</c:v>
                </c:pt>
              </c:numCache>
            </c:numRef>
          </c:val>
        </c:ser>
        <c:dLbls>
          <c:numFmt formatCode="0.0&quot;x&quot;" sourceLinked="0"/>
          <c:txPr>
            <a:bodyPr/>
            <a:lstStyle/>
            <a:p>
              <a:pPr>
                <a:defRPr b="1" i="0" strike="noStrike" sz="1300" u="none">
                  <a:solidFill>
                    <a:srgbClr val="1A1A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45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9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stack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Base</c:v>
                </c:pt>
              </c:strCache>
            </c:strRef>
          </c:tx>
          <c:spPr>
            <a:solidFill>
              <a:srgbClr val="FFFFFF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224.75</c:v>
                </c:pt>
                <c:pt idx="3">
                  <c:v>0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Value</c:v>
                </c:pt>
              </c:strCache>
            </c:strRef>
          </c:tx>
          <c:spPr>
            <a:solidFill>
              <a:srgbClr val="0A1C58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167.03</c:v>
                </c:pt>
                <c:pt idx="1">
                  <c:v>224.75</c:v>
                </c:pt>
                <c:pt idx="2">
                  <c:v>0</c:v>
                </c:pt>
                <c:pt idx="3">
                  <c:v>276.65</c:v>
                </c:pt>
              </c:numCache>
            </c:numRef>
          </c:val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Power</c:v>
                </c:pt>
              </c:strCache>
            </c:strRef>
          </c:tx>
          <c:spPr>
            <a:solidFill>
              <a:srgbClr val="847C7A"/>
            </a:solidFill>
            <a:effectLst/>
          </c:spPr>
          <c:invertIfNegative val="0"/>
          <c:dLbls>
            <c:numFmt formatCode="&quot;$&quot;0;;;" sourceLinked="0"/>
            <c:txPr>
              <a:bodyPr/>
              <a:lstStyle/>
              <a:p>
                <a:pPr>
                  <a:defRPr b="1" i="0" strike="noStrike" sz="1500" u="none">
                    <a:solidFill>
                      <a:srgbClr val="FFFFFF"/>
                    </a:solidFill>
                    <a:latin typeface="+mn-lt"/>
                  </a:defRPr>
                </a:pPr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Current Price</c:v>
                  </c:pt>
                  <c:pt idx="1">
                    <c:v>Core ex-Power</c:v>
                  </c:pt>
                  <c:pt idx="2">
                    <c:v>Power</c:v>
                  </c:pt>
                  <c:pt idx="3">
                    <c:v>SOTP</c:v>
                  </c:pt>
                </c:lvl>
              </c:multiLvlStrCache>
            </c:multiLvl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51.9</c:v>
                </c:pt>
                <c:pt idx="3">
                  <c:v>0</c:v>
                </c:pt>
              </c:numCache>
            </c:numRef>
          </c:val>
        </c:ser>
        <c:dLbls>
          <c:numFmt formatCode="&quot;$&quot;0;;;" sourceLinked="0"/>
          <c:txPr>
            <a:bodyPr/>
            <a:lstStyle/>
            <a:p>
              <a:pPr>
                <a:defRPr b="1" i="0" strike="noStrike" sz="1500" u="none">
                  <a:solidFill>
                    <a:srgbClr val="FFFFFF"/>
                  </a:solidFill>
                  <a:latin typeface="+mn-lt"/>
                </a:defRPr>
              </a:pPr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35"/>
        <c:overlap val="10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BFBFBF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A1A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330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Price as of 10/2/26. Target is the base-case blended DCF: 50% perpetuity growth ($281) and 50% exit multiple ($335). R/R = 132% bull blended upside vs. 39% bear blended downside.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Reported quarterly Aerospace Products Adj. EBITDA margins from the RPM tab. Q4'25 34.6% to Q1'26 29.9% = -470 bps. Mix example is management's: a 6,000-cycle engine sold for ~$6M earns ~$2.5M; a 10,000-cycle engine sold for ~$12M earns ~$3M; one of each blends to ~30%.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EV of $20.56B at $167.03 (10/2/26) over Jefferies Adj. EBITDA of $1,289M (FY26E), $2,099M (FY27E) and $3,023M (FY28E).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SOTP on FY27E EBITDA: Aerospace Products $1,541M at 16x ($237/sh), Power $450M at 12x ($52/sh, low end of guide), Aviation Leasing + SCI $455M at 9x ($39/sh), less corporate (-$28/sh), net debt (-$23/sh) and preferred (-$1/sh) = $277/sh. Ex-Power = $225/sh vs. $167.03 current (10/2/26), a 26% discount.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Return math uses the base-case FY27E sum of the parts ($276.65/share): Aerospace 16x, Power 12x, Leasing + SCI 9x, less corporate, net debt and preferred. Attribution re-runs the full model for all 8 on/off combinations of the three theses. Margins = OEM escalator, pass-through, Aerospace margin ex-PMA and PMA rows. Volume = FTAI share of MRO and SCI aircraft rows. Power = Mod-1 units delivered (off = 0, i.e. what the market prices today). Bear case with no Power = $171.86 vs. $167.03 today (+$4.83). Shapley contributions: margins +$17.04, volume +$32.66, Power +$55.08 (the $51.90 SOTP value plus ~$3 of FY27 Power cash that lowers net debt). Total $276.64.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Module Factory example (FTAI): three unserviceable engines worth $2.0M, $2.5M and $2.0M each still hold modules with life left (cycles shown per Fan / Core / LPT). FTAI splits them into nine modules, adds $3.5M of MRO work, and reassembles two serviceable engines ($8.5M at 7k/7k/7k and $6.0M at 4k/4k/4k) plus one run-out core ($1.5M): $16.0M out vs. $10.0M in, $6.0M of value created.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3-1.jpeg"/><Relationship Id="rId2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4-1.jpeg"/><Relationship Id="rId2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GPS Content Subtitl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320040" y="868680"/>
            <a:ext cx="8503920" cy="0"/>
          </a:xfrm>
          <a:prstGeom prst="line">
            <a:avLst/>
          </a:prstGeom>
          <a:noFill/>
          <a:ln w="15875">
            <a:solidFill>
              <a:srgbClr val="0A1C58"/>
            </a:solidFill>
            <a:prstDash val="solid"/>
          </a:ln>
        </p:spPr>
      </p:sp>
      <p:pic>
        <p:nvPicPr>
          <p:cNvPr id="3" name="Image 0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19872" y="6144768"/>
            <a:ext cx="621792" cy="566928"/>
          </a:xfrm>
          <a:prstGeom prst="rect">
            <a:avLst/>
          </a:prstGeom>
        </p:spPr>
      </p:pic>
      <p:sp>
        <p:nvSpPr>
          <p:cNvPr id="4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5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700" b="1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3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4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mpany name"/>
          <p:cNvSpPr txBox="1"/>
          <p:nvPr/>
        </p:nvSpPr>
        <p:spPr>
          <a:xfrm>
            <a:off x="548640" y="320040"/>
            <a:ext cx="6400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chemeClr val="tx2"/>
                </a:solidFill>
              </a:rPr>
              <a:t>FTAI Aviation</a:t>
            </a:r>
            <a:endParaRPr lang="en-US" sz="3400" dirty="0"/>
          </a:p>
          <a:p>
            <a:pPr indent="0" marL="0">
              <a:buNone/>
            </a:pPr>
            <a:r>
              <a:rPr lang="en-US" sz="3000" dirty="0">
                <a:solidFill>
                  <a:schemeClr val="tx2"/>
                </a:solidFill>
              </a:rPr>
              <a:t>(NASDAQ: FTAI)</a:t>
            </a:r>
            <a:endParaRPr lang="en-US" sz="3400" dirty="0"/>
          </a:p>
        </p:txBody>
      </p:sp>
      <p:sp>
        <p:nvSpPr>
          <p:cNvPr id="3" name="Recommendation"/>
          <p:cNvSpPr txBox="1"/>
          <p:nvPr/>
        </p:nvSpPr>
        <p:spPr>
          <a:xfrm>
            <a:off x="548640" y="1508760"/>
            <a:ext cx="6400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</a:rPr>
              <a:t>Long Recommendation</a:t>
            </a:r>
            <a:endParaRPr lang="en-US" sz="2800" dirty="0"/>
          </a:p>
        </p:txBody>
      </p:sp>
      <p:sp>
        <p:nvSpPr>
          <p:cNvPr id="4" name="Stat 1 value"/>
          <p:cNvSpPr txBox="1"/>
          <p:nvPr/>
        </p:nvSpPr>
        <p:spPr>
          <a:xfrm>
            <a:off x="54864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$167</a:t>
            </a:r>
            <a:endParaRPr lang="en-US" sz="4800" dirty="0"/>
          </a:p>
        </p:txBody>
      </p:sp>
      <p:sp>
        <p:nvSpPr>
          <p:cNvPr id="5" name="Stat 1 label"/>
          <p:cNvSpPr txBox="1"/>
          <p:nvPr/>
        </p:nvSpPr>
        <p:spPr>
          <a:xfrm>
            <a:off x="54864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Current Price</a:t>
            </a:r>
            <a:endParaRPr lang="en-US" sz="1600" dirty="0"/>
          </a:p>
        </p:txBody>
      </p:sp>
      <p:sp>
        <p:nvSpPr>
          <p:cNvPr id="6" name="Stat 2 value"/>
          <p:cNvSpPr txBox="1"/>
          <p:nvPr/>
        </p:nvSpPr>
        <p:spPr>
          <a:xfrm>
            <a:off x="256032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$308</a:t>
            </a:r>
            <a:endParaRPr lang="en-US" sz="4800" dirty="0"/>
          </a:p>
        </p:txBody>
      </p:sp>
      <p:sp>
        <p:nvSpPr>
          <p:cNvPr id="7" name="Stat 2 label"/>
          <p:cNvSpPr txBox="1"/>
          <p:nvPr/>
        </p:nvSpPr>
        <p:spPr>
          <a:xfrm>
            <a:off x="256032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Target Price</a:t>
            </a:r>
            <a:endParaRPr lang="en-US" sz="1600" dirty="0"/>
          </a:p>
        </p:txBody>
      </p:sp>
      <p:sp>
        <p:nvSpPr>
          <p:cNvPr id="8" name="Stat divider 1"/>
          <p:cNvSpPr/>
          <p:nvPr/>
        </p:nvSpPr>
        <p:spPr>
          <a:xfrm>
            <a:off x="256032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9" name="Stat 3 value"/>
          <p:cNvSpPr txBox="1"/>
          <p:nvPr/>
        </p:nvSpPr>
        <p:spPr>
          <a:xfrm>
            <a:off x="457200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84%</a:t>
            </a:r>
            <a:endParaRPr lang="en-US" sz="4800" dirty="0"/>
          </a:p>
        </p:txBody>
      </p:sp>
      <p:sp>
        <p:nvSpPr>
          <p:cNvPr id="10" name="Stat 3 label"/>
          <p:cNvSpPr txBox="1"/>
          <p:nvPr/>
        </p:nvSpPr>
        <p:spPr>
          <a:xfrm>
            <a:off x="457200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Upside</a:t>
            </a:r>
            <a:endParaRPr lang="en-US" sz="1600" dirty="0"/>
          </a:p>
        </p:txBody>
      </p:sp>
      <p:sp>
        <p:nvSpPr>
          <p:cNvPr id="11" name="Stat divider 2"/>
          <p:cNvSpPr/>
          <p:nvPr/>
        </p:nvSpPr>
        <p:spPr>
          <a:xfrm>
            <a:off x="457200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2" name="Stat 4 value"/>
          <p:cNvSpPr txBox="1"/>
          <p:nvPr/>
        </p:nvSpPr>
        <p:spPr>
          <a:xfrm>
            <a:off x="6583680" y="2514600"/>
            <a:ext cx="20116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4800" b="1" dirty="0">
                <a:solidFill>
                  <a:schemeClr val="tx2"/>
                </a:solidFill>
              </a:rPr>
              <a:t>3.4x</a:t>
            </a:r>
            <a:endParaRPr lang="en-US" sz="4800" dirty="0"/>
          </a:p>
        </p:txBody>
      </p:sp>
      <p:sp>
        <p:nvSpPr>
          <p:cNvPr id="13" name="Stat 4 label"/>
          <p:cNvSpPr txBox="1"/>
          <p:nvPr/>
        </p:nvSpPr>
        <p:spPr>
          <a:xfrm>
            <a:off x="6583680" y="3429000"/>
            <a:ext cx="2011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accent2"/>
                </a:solidFill>
              </a:rPr>
              <a:t>Reward / Risk</a:t>
            </a:r>
            <a:endParaRPr lang="en-US" sz="1600" dirty="0"/>
          </a:p>
        </p:txBody>
      </p:sp>
      <p:sp>
        <p:nvSpPr>
          <p:cNvPr id="14" name="Stat divider 3"/>
          <p:cNvSpPr/>
          <p:nvPr/>
        </p:nvSpPr>
        <p:spPr>
          <a:xfrm>
            <a:off x="6583680" y="2697480"/>
            <a:ext cx="0" cy="10515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5" name="Quote"/>
          <p:cNvSpPr txBox="1"/>
          <p:nvPr/>
        </p:nvSpPr>
        <p:spPr>
          <a:xfrm>
            <a:off x="411480" y="4206240"/>
            <a:ext cx="8321040" cy="73152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127000" tIns="50800" rIns="127000" bIns="5080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1A1A1A"/>
                </a:solidFill>
              </a:rPr>
              <a:t>“Be fearful when others are greedy and greedy when others are fearful.”</a:t>
            </a:r>
            <a:endParaRPr lang="en-US" sz="1900" dirty="0"/>
          </a:p>
        </p:txBody>
      </p:sp>
      <p:sp>
        <p:nvSpPr>
          <p:cNvPr id="16" name="Quote attribution"/>
          <p:cNvSpPr txBox="1"/>
          <p:nvPr/>
        </p:nvSpPr>
        <p:spPr>
          <a:xfrm>
            <a:off x="411480" y="5029200"/>
            <a:ext cx="8321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i="1" dirty="0">
                <a:solidFill>
                  <a:srgbClr val="1A1A1A"/>
                </a:solidFill>
              </a:rPr>
              <a:t>— Warren Buffett</a:t>
            </a:r>
            <a:endParaRPr lang="en-US" sz="1900" dirty="0"/>
          </a:p>
        </p:txBody>
      </p:sp>
      <p:sp>
        <p:nvSpPr>
          <p:cNvPr id="17" name="Pitch details"/>
          <p:cNvSpPr txBox="1"/>
          <p:nvPr/>
        </p:nvSpPr>
        <p:spPr>
          <a:xfrm>
            <a:off x="548640" y="5760720"/>
            <a:ext cx="47548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Date: October 2026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Current Price: $167.03 (10/2/26)</a:t>
            </a:r>
            <a:endParaRPr lang="en-US" sz="15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500" dirty="0">
                <a:solidFill>
                  <a:srgbClr val="1A1A1A"/>
                </a:solidFill>
              </a:rPr>
              <a:t>Target Price: $308.03 (84% upside, 3.4x R/R)</a:t>
            </a:r>
            <a:endParaRPr lang="en-US" sz="1500" dirty="0"/>
          </a:p>
        </p:txBody>
      </p:sp>
      <p:pic>
        <p:nvPicPr>
          <p:cNvPr id="18" name="GPS logo" descr="/home/user/SPOT/deck/gps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897880" y="5532120"/>
            <a:ext cx="1234440" cy="1133856"/>
          </a:xfrm>
          <a:prstGeom prst="rect">
            <a:avLst/>
          </a:prstGeom>
        </p:spPr>
      </p:pic>
      <p:sp>
        <p:nvSpPr>
          <p:cNvPr id="19" name="Logo divider"/>
          <p:cNvSpPr/>
          <p:nvPr/>
        </p:nvSpPr>
        <p:spPr>
          <a:xfrm>
            <a:off x="7360920" y="5577840"/>
            <a:ext cx="0" cy="1097280"/>
          </a:xfrm>
          <a:prstGeom prst="line">
            <a:avLst/>
          </a:prstGeom>
          <a:noFill/>
          <a:ln w="12700">
            <a:solidFill>
              <a:srgbClr val="847C7A"/>
            </a:solidFill>
            <a:prstDash val="solid"/>
          </a:ln>
        </p:spPr>
      </p:sp>
      <p:sp>
        <p:nvSpPr>
          <p:cNvPr id="20" name="Presenter"/>
          <p:cNvSpPr txBox="1"/>
          <p:nvPr/>
        </p:nvSpPr>
        <p:spPr>
          <a:xfrm>
            <a:off x="7452360" y="5669280"/>
            <a:ext cx="1417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Presenter</a:t>
            </a:r>
            <a:endParaRPr lang="en-US" sz="1800" dirty="0"/>
          </a:p>
          <a:p>
            <a:pPr algn="ctr" indent="0" marL="0">
              <a:buNone/>
            </a:pPr>
            <a:r>
              <a:rPr lang="en-US" sz="1800" b="1" dirty="0">
                <a:solidFill>
                  <a:schemeClr val="accent2"/>
                </a:solidFill>
              </a:rPr>
              <a:t>Name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</a:t>
            </a:r>
            <a:endParaRPr lang="en-US" sz="3200" dirty="0"/>
          </a:p>
        </p:txBody>
      </p:sp>
      <p:sp>
        <p:nvSpPr>
          <p:cNvPr id="3" name="Point 1"/>
          <p:cNvSpPr txBox="1"/>
          <p:nvPr/>
        </p:nvSpPr>
        <p:spPr>
          <a:xfrm>
            <a:off x="1600200" y="1188720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1Q26 margins compressed 500 bps, and management guided EBITDA margins down from 40% to 30% for two years.</a:t>
            </a:r>
            <a:endParaRPr lang="en-US" sz="1500" dirty="0"/>
          </a:p>
        </p:txBody>
      </p:sp>
      <p:sp>
        <p:nvSpPr>
          <p:cNvPr id="4" name="Point 1 number"/>
          <p:cNvSpPr/>
          <p:nvPr/>
        </p:nvSpPr>
        <p:spPr>
          <a:xfrm>
            <a:off x="1120140" y="1211580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1</a:t>
            </a:r>
            <a:endParaRPr lang="en-US" sz="2600" dirty="0"/>
          </a:p>
        </p:txBody>
      </p:sp>
      <p:sp>
        <p:nvSpPr>
          <p:cNvPr id="5" name="Point 2"/>
          <p:cNvSpPr txBox="1"/>
          <p:nvPr/>
        </p:nvSpPr>
        <p:spPr>
          <a:xfrm>
            <a:off x="1600200" y="2304288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A fraud overhang from the 2025 short report leaves the market doubting this is the bottom: it still sees FTAI as over-earning.</a:t>
            </a:r>
            <a:endParaRPr lang="en-US" sz="1500" dirty="0"/>
          </a:p>
        </p:txBody>
      </p:sp>
      <p:sp>
        <p:nvSpPr>
          <p:cNvPr id="6" name="Point 2 number"/>
          <p:cNvSpPr/>
          <p:nvPr/>
        </p:nvSpPr>
        <p:spPr>
          <a:xfrm>
            <a:off x="1120140" y="2327148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2</a:t>
            </a:r>
            <a:endParaRPr lang="en-US" sz="2600" dirty="0"/>
          </a:p>
        </p:txBody>
      </p:sp>
      <p:sp>
        <p:nvSpPr>
          <p:cNvPr id="7" name="Point 3"/>
          <p:cNvSpPr txBox="1"/>
          <p:nvPr/>
        </p:nvSpPr>
        <p:spPr>
          <a:xfrm>
            <a:off x="1600200" y="3419856"/>
            <a:ext cx="6629400" cy="91440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5588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We believe FTAI has reached steady state: margins have bottomed and share gains will drive volume growth.</a:t>
            </a:r>
            <a:endParaRPr lang="en-US" sz="1500" dirty="0"/>
          </a:p>
        </p:txBody>
      </p:sp>
      <p:sp>
        <p:nvSpPr>
          <p:cNvPr id="8" name="Point 3 number"/>
          <p:cNvSpPr/>
          <p:nvPr/>
        </p:nvSpPr>
        <p:spPr>
          <a:xfrm>
            <a:off x="1120140" y="3442716"/>
            <a:ext cx="868680" cy="868680"/>
          </a:xfrm>
          <a:prstGeom prst="ellipse">
            <a:avLst/>
          </a:prstGeom>
          <a:solidFill>
            <a:srgbClr val="FFFFFF"/>
          </a:solidFill>
          <a:ln w="25400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600" b="1" dirty="0">
                <a:solidFill>
                  <a:schemeClr val="tx2"/>
                </a:solidFill>
              </a:rPr>
              <a:t>3</a:t>
            </a:r>
            <a:endParaRPr lang="en-US" sz="2600" dirty="0"/>
          </a:p>
        </p:txBody>
      </p:sp>
      <p:sp>
        <p:nvSpPr>
          <p:cNvPr id="9" name="Funnel"/>
          <p:cNvSpPr/>
          <p:nvPr/>
        </p:nvSpPr>
        <p:spPr>
          <a:xfrm flipV="1">
            <a:off x="1188720" y="4553712"/>
            <a:ext cx="7040880" cy="411480"/>
          </a:xfrm>
          <a:prstGeom prst="triangle">
            <a:avLst/>
          </a:prstGeom>
          <a:solidFill>
            <a:srgbClr val="DCD8D3"/>
          </a:solidFill>
          <a:ln/>
        </p:spPr>
      </p:sp>
      <p:sp>
        <p:nvSpPr>
          <p:cNvPr id="10" name="Conclusion"/>
          <p:cNvSpPr txBox="1"/>
          <p:nvPr/>
        </p:nvSpPr>
        <p:spPr>
          <a:xfrm>
            <a:off x="1188720" y="5120640"/>
            <a:ext cx="7040880" cy="77724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is pricing a trough as a cliff. We see 84% upside, with Power as a free call option.</a:t>
            </a:r>
            <a:endParaRPr lang="en-US" sz="1700" dirty="0"/>
          </a:p>
        </p:txBody>
      </p:sp>
      <p:sp>
        <p:nvSpPr>
          <p:cNvPr id="11" name="Source"/>
          <p:cNvSpPr txBox="1"/>
          <p:nvPr/>
        </p:nvSpPr>
        <p:spPr>
          <a:xfrm>
            <a:off x="320040" y="63550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Company filings, earnings calls, GPS estimates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(1/3)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In one quarter, Aerospace margins fell ~470 bps, and management guided ~30% for two years.</a:t>
            </a:r>
            <a:endParaRPr lang="en-US" sz="1700" dirty="0"/>
          </a:p>
        </p:txBody>
      </p:sp>
      <p:sp>
        <p:nvSpPr>
          <p:cNvPr id="4" name="Margin chart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Aerospace Products Adj. EBITDA Margin</a:t>
            </a:r>
            <a:endParaRPr lang="en-US" sz="1600" dirty="0"/>
          </a:p>
        </p:txBody>
      </p:sp>
      <p:sp>
        <p:nvSpPr>
          <p:cNvPr id="5" name="Margin chart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Margin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Guide label"/>
          <p:cNvSpPr txBox="1"/>
          <p:nvPr/>
        </p:nvSpPr>
        <p:spPr>
          <a:xfrm>
            <a:off x="4206240" y="278892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Mgmt. guide</a:t>
            </a:r>
            <a:endParaRPr lang="en-US" sz="1200" dirty="0"/>
          </a:p>
        </p:txBody>
      </p:sp>
      <p:sp>
        <p:nvSpPr>
          <p:cNvPr id="8" name="Compression callout"/>
          <p:cNvSpPr/>
          <p:nvPr/>
        </p:nvSpPr>
        <p:spPr>
          <a:xfrm>
            <a:off x="2606040" y="2103120"/>
            <a:ext cx="1097280" cy="109728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–470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bps q/q</a:t>
            </a:r>
            <a:endParaRPr lang="en-US" sz="2000" dirty="0"/>
          </a:p>
        </p:txBody>
      </p:sp>
      <p:sp>
        <p:nvSpPr>
          <p:cNvPr id="9" name="Mix chart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Management: “It's Mix”</a:t>
            </a:r>
            <a:endParaRPr lang="en-US" sz="1600" dirty="0"/>
          </a:p>
        </p:txBody>
      </p:sp>
      <p:sp>
        <p:nvSpPr>
          <p:cNvPr id="10" name="Mix chart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1" name="Mix chart" descr=""/>
          <p:cNvGraphicFramePr/>
          <p:nvPr/>
        </p:nvGraphicFramePr>
        <p:xfrm>
          <a:off x="5897880" y="2103120"/>
          <a:ext cx="2926080" cy="21945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2" name="Mix detail"/>
          <p:cNvSpPr txBox="1"/>
          <p:nvPr/>
        </p:nvSpPr>
        <p:spPr>
          <a:xfrm>
            <a:off x="5897880" y="4370832"/>
            <a:ext cx="29260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Light: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$6M sale, $2.5M profit</a:t>
            </a:r>
            <a:endParaRPr lang="en-US" sz="1200" dirty="0"/>
          </a:p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</a:rPr>
              <a:t>Heavy: 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$12M sale, $3.0M profit</a:t>
            </a:r>
            <a:endParaRPr lang="en-US" sz="1200" dirty="0"/>
          </a:p>
        </p:txBody>
      </p:sp>
      <p:sp>
        <p:nvSpPr>
          <p:cNvPr id="13" name="Mix kicker"/>
          <p:cNvSpPr txBox="1"/>
          <p:nvPr/>
        </p:nvSpPr>
        <p:spPr>
          <a:xfrm>
            <a:off x="5897880" y="4983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chemeClr val="tx2"/>
                </a:solidFill>
              </a:rPr>
              <a:t>Lower margin, more dollars per job</a:t>
            </a:r>
            <a:endParaRPr lang="en-US" sz="1300" dirty="0"/>
          </a:p>
        </p:txBody>
      </p:sp>
      <p:sp>
        <p:nvSpPr>
          <p:cNvPr id="14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drop is real. Is ~30% the floor, or just a waypoint?</a:t>
            </a:r>
            <a:endParaRPr lang="en-US" sz="1700" dirty="0"/>
          </a:p>
        </p:txBody>
      </p:sp>
      <p:sp>
        <p:nvSpPr>
          <p:cNvPr id="15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(2/3)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A 2025 short report gave the market a darker explanation, and it stuck.</a:t>
            </a:r>
            <a:endParaRPr lang="en-US" sz="1700" dirty="0"/>
          </a:p>
        </p:txBody>
      </p:sp>
      <p:sp>
        <p:nvSpPr>
          <p:cNvPr id="4" name="Short thesis header"/>
          <p:cNvSpPr txBox="1"/>
          <p:nvPr/>
        </p:nvSpPr>
        <p:spPr>
          <a:xfrm>
            <a:off x="320040" y="15544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The Short Thesis (Jan. 2025)</a:t>
            </a:r>
            <a:endParaRPr lang="en-US" sz="1600" dirty="0"/>
          </a:p>
        </p:txBody>
      </p:sp>
      <p:sp>
        <p:nvSpPr>
          <p:cNvPr id="5" name="Short thesis header rule"/>
          <p:cNvSpPr/>
          <p:nvPr/>
        </p:nvSpPr>
        <p:spPr>
          <a:xfrm>
            <a:off x="320040" y="1975104"/>
            <a:ext cx="45720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Short step 1"/>
          <p:cNvSpPr txBox="1"/>
          <p:nvPr/>
        </p:nvSpPr>
        <p:spPr>
          <a:xfrm>
            <a:off x="548640" y="2148840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Leasing engines sit on the books at depreciated value</a:t>
            </a:r>
            <a:endParaRPr lang="en-US" sz="1500" dirty="0"/>
          </a:p>
        </p:txBody>
      </p:sp>
      <p:sp>
        <p:nvSpPr>
          <p:cNvPr id="7" name="Short arrow 1"/>
          <p:cNvSpPr/>
          <p:nvPr/>
        </p:nvSpPr>
        <p:spPr>
          <a:xfrm>
            <a:off x="2395728" y="2907792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8" name="Short step 2"/>
          <p:cNvSpPr txBox="1"/>
          <p:nvPr/>
        </p:nvSpPr>
        <p:spPr>
          <a:xfrm>
            <a:off x="548640" y="3227832"/>
            <a:ext cx="4114800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They are moved into Aerospace Products as inventory</a:t>
            </a:r>
            <a:endParaRPr lang="en-US" sz="1500" dirty="0"/>
          </a:p>
        </p:txBody>
      </p:sp>
      <p:sp>
        <p:nvSpPr>
          <p:cNvPr id="9" name="Short arrow 2"/>
          <p:cNvSpPr/>
          <p:nvPr/>
        </p:nvSpPr>
        <p:spPr>
          <a:xfrm>
            <a:off x="2395728" y="3986784"/>
            <a:ext cx="420624" cy="292608"/>
          </a:xfrm>
          <a:prstGeom prst="downArrow">
            <a:avLst/>
          </a:prstGeom>
          <a:solidFill>
            <a:srgbClr val="847C7A"/>
          </a:solidFill>
          <a:ln/>
        </p:spPr>
      </p:sp>
      <p:sp>
        <p:nvSpPr>
          <p:cNvPr id="10" name="Short step 3"/>
          <p:cNvSpPr txBox="1"/>
          <p:nvPr/>
        </p:nvSpPr>
        <p:spPr>
          <a:xfrm>
            <a:off x="548640" y="4306824"/>
            <a:ext cx="4114800" cy="731520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27000" tIns="25400" rIns="127000" bIns="254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Sold at market prices, the low cost basis inflates AP margins</a:t>
            </a:r>
            <a:endParaRPr lang="en-US" sz="1500" dirty="0"/>
          </a:p>
        </p:txBody>
      </p:sp>
      <p:sp>
        <p:nvSpPr>
          <p:cNvPr id="11" name="Multiple header"/>
          <p:cNvSpPr txBox="1"/>
          <p:nvPr/>
        </p:nvSpPr>
        <p:spPr>
          <a:xfrm>
            <a:off x="5257800" y="155448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…So the Market Won't Pay Up</a:t>
            </a:r>
            <a:endParaRPr lang="en-US" sz="1600" dirty="0"/>
          </a:p>
        </p:txBody>
      </p:sp>
      <p:sp>
        <p:nvSpPr>
          <p:cNvPr id="12" name="Multiple header rule"/>
          <p:cNvSpPr/>
          <p:nvPr/>
        </p:nvSpPr>
        <p:spPr>
          <a:xfrm>
            <a:off x="5257800" y="1975104"/>
            <a:ext cx="356616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13" name="Multiple chart" descr=""/>
          <p:cNvGraphicFramePr/>
          <p:nvPr/>
        </p:nvGraphicFramePr>
        <p:xfrm>
          <a:off x="5257800" y="2103120"/>
          <a:ext cx="35661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14" name="FY28 highlight"/>
          <p:cNvSpPr/>
          <p:nvPr/>
        </p:nvSpPr>
        <p:spPr>
          <a:xfrm>
            <a:off x="7644384" y="3383280"/>
            <a:ext cx="1024128" cy="1481328"/>
          </a:xfrm>
          <a:prstGeom prst="rect">
            <a:avLst/>
          </a:prstGeom>
          <a:ln w="25400">
            <a:solidFill>
              <a:schemeClr val="accent2"/>
            </a:solidFill>
            <a:prstDash val="dash"/>
          </a:ln>
        </p:spPr>
      </p:sp>
      <p:sp>
        <p:nvSpPr>
          <p:cNvPr id="15" name="Multiple caption"/>
          <p:cNvSpPr txBox="1"/>
          <p:nvPr/>
        </p:nvSpPr>
        <p:spPr>
          <a:xfrm>
            <a:off x="5257800" y="5102352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chemeClr val="accent2"/>
                </a:solidFill>
              </a:rPr>
              <a:t>EV / Adj. EBITDA (Jefferies estimates)</a:t>
            </a:r>
            <a:endParaRPr lang="en-US" sz="1200" dirty="0"/>
          </a:p>
        </p:txBody>
      </p:sp>
      <p:sp>
        <p:nvSpPr>
          <p:cNvPr id="16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The market reads the margin reset as the short thesis unwinding, and prices FTAI as if it's still over-earning.</a:t>
            </a:r>
            <a:endParaRPr lang="en-US" sz="1700" dirty="0"/>
          </a:p>
        </p:txBody>
      </p:sp>
      <p:sp>
        <p:nvSpPr>
          <p:cNvPr id="17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Muddy Waters Research (Jan. 2025), Jefferies (8/2/26), FTAI filings,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The Opportunity (3/3)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The market assigns no value to Power: the stock trades below the core business alone.</a:t>
            </a:r>
            <a:endParaRPr lang="en-US" sz="1700" dirty="0"/>
          </a:p>
        </p:txBody>
      </p:sp>
      <p:sp>
        <p:nvSpPr>
          <p:cNvPr id="4" name="SOTP header"/>
          <p:cNvSpPr txBox="1"/>
          <p:nvPr/>
        </p:nvSpPr>
        <p:spPr>
          <a:xfrm>
            <a:off x="320040" y="1554480"/>
            <a:ext cx="5257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FY27E Sum of the Parts ($ / Share)</a:t>
            </a:r>
            <a:endParaRPr lang="en-US" sz="1600" dirty="0"/>
          </a:p>
        </p:txBody>
      </p:sp>
      <p:sp>
        <p:nvSpPr>
          <p:cNvPr id="5" name="SOTP header rule"/>
          <p:cNvSpPr/>
          <p:nvPr/>
        </p:nvSpPr>
        <p:spPr>
          <a:xfrm>
            <a:off x="320040" y="1975104"/>
            <a:ext cx="525780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graphicFrame>
        <p:nvGraphicFramePr>
          <p:cNvPr id="6" name="SOTP chart" descr=""/>
          <p:cNvGraphicFramePr/>
          <p:nvPr/>
        </p:nvGraphicFramePr>
        <p:xfrm>
          <a:off x="320040" y="2103120"/>
          <a:ext cx="5257800" cy="32004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7" name="Discount callout"/>
          <p:cNvSpPr/>
          <p:nvPr/>
        </p:nvSpPr>
        <p:spPr>
          <a:xfrm>
            <a:off x="548640" y="2148840"/>
            <a:ext cx="1051560" cy="105156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chemeClr val="bg1"/>
                </a:solidFill>
              </a:rPr>
              <a:t>26%</a:t>
            </a:r>
            <a:endParaRPr lang="en-US" sz="2000" dirty="0"/>
          </a:p>
          <a:p>
            <a:pPr algn="ctr" indent="0" marL="0">
              <a:buNone/>
            </a:pPr>
            <a:r>
              <a:rPr lang="en-US" sz="1100" b="1" dirty="0">
                <a:solidFill>
                  <a:schemeClr val="bg1"/>
                </a:solidFill>
              </a:rPr>
              <a:t>below core</a:t>
            </a:r>
            <a:endParaRPr lang="en-US" sz="2000" dirty="0"/>
          </a:p>
        </p:txBody>
      </p:sp>
      <p:sp>
        <p:nvSpPr>
          <p:cNvPr id="8" name="Power label"/>
          <p:cNvSpPr txBox="1"/>
          <p:nvPr/>
        </p:nvSpPr>
        <p:spPr>
          <a:xfrm>
            <a:off x="2971800" y="2286000"/>
            <a:ext cx="1325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i="1" dirty="0">
                <a:solidFill>
                  <a:schemeClr val="accent2"/>
                </a:solidFill>
              </a:rPr>
              <a:t>Free call option</a:t>
            </a:r>
            <a:endParaRPr lang="en-US" sz="1200" dirty="0"/>
          </a:p>
        </p:txBody>
      </p:sp>
      <p:sp>
        <p:nvSpPr>
          <p:cNvPr id="9" name="Power stats header"/>
          <p:cNvSpPr txBox="1"/>
          <p:nvPr/>
        </p:nvSpPr>
        <p:spPr>
          <a:xfrm>
            <a:off x="5897880" y="1554480"/>
            <a:ext cx="2926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FTAI Power at a Glance</a:t>
            </a:r>
            <a:endParaRPr lang="en-US" sz="1600" dirty="0"/>
          </a:p>
        </p:txBody>
      </p:sp>
      <p:sp>
        <p:nvSpPr>
          <p:cNvPr id="10" name="Power stats header rule"/>
          <p:cNvSpPr/>
          <p:nvPr/>
        </p:nvSpPr>
        <p:spPr>
          <a:xfrm>
            <a:off x="5897880" y="1975104"/>
            <a:ext cx="29260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11" name="Power stat 1"/>
          <p:cNvSpPr txBox="1"/>
          <p:nvPr/>
        </p:nvSpPr>
        <p:spPr>
          <a:xfrm>
            <a:off x="5897880" y="2148840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$1.465B</a:t>
            </a:r>
            <a:endParaRPr lang="en-US" sz="3000" dirty="0"/>
          </a:p>
        </p:txBody>
      </p:sp>
      <p:sp>
        <p:nvSpPr>
          <p:cNvPr id="12" name="Power stat 1 label"/>
          <p:cNvSpPr txBox="1"/>
          <p:nvPr/>
        </p:nvSpPr>
        <p:spPr>
          <a:xfrm>
            <a:off x="5897880" y="269748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First hyperscaler order, via the J&amp;F JV</a:t>
            </a:r>
            <a:endParaRPr lang="en-US" sz="1300" dirty="0"/>
          </a:p>
        </p:txBody>
      </p:sp>
      <p:sp>
        <p:nvSpPr>
          <p:cNvPr id="13" name="Power stat 2"/>
          <p:cNvSpPr txBox="1"/>
          <p:nvPr/>
        </p:nvSpPr>
        <p:spPr>
          <a:xfrm>
            <a:off x="5897880" y="3227832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$450–750M</a:t>
            </a:r>
            <a:endParaRPr lang="en-US" sz="3000" dirty="0"/>
          </a:p>
        </p:txBody>
      </p:sp>
      <p:sp>
        <p:nvSpPr>
          <p:cNvPr id="14" name="Power stat 2 label"/>
          <p:cNvSpPr txBox="1"/>
          <p:nvPr/>
        </p:nvSpPr>
        <p:spPr>
          <a:xfrm>
            <a:off x="5897880" y="377647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FY27 Power EBITDA guide</a:t>
            </a:r>
            <a:endParaRPr lang="en-US" sz="1300" dirty="0"/>
          </a:p>
        </p:txBody>
      </p:sp>
      <p:sp>
        <p:nvSpPr>
          <p:cNvPr id="15" name="Power stat 3"/>
          <p:cNvSpPr txBox="1"/>
          <p:nvPr/>
        </p:nvSpPr>
        <p:spPr>
          <a:xfrm>
            <a:off x="5897880" y="4306824"/>
            <a:ext cx="2926080" cy="530352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3000" b="1" dirty="0">
                <a:solidFill>
                  <a:schemeClr val="tx2"/>
                </a:solidFill>
              </a:rPr>
              <a:t>25 MW</a:t>
            </a:r>
            <a:endParaRPr lang="en-US" sz="3000" dirty="0"/>
          </a:p>
        </p:txBody>
      </p:sp>
      <p:sp>
        <p:nvSpPr>
          <p:cNvPr id="16" name="Power stat 3 label"/>
          <p:cNvSpPr txBox="1"/>
          <p:nvPr/>
        </p:nvSpPr>
        <p:spPr>
          <a:xfrm>
            <a:off x="5897880" y="48554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chemeClr val="accent2"/>
                </a:solidFill>
              </a:rPr>
              <a:t>Per unit, built from CFM56 cores</a:t>
            </a:r>
            <a:endParaRPr lang="en-US" sz="1300" dirty="0"/>
          </a:p>
        </p:txBody>
      </p:sp>
      <p:sp>
        <p:nvSpPr>
          <p:cNvPr id="1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Even with Power at zero, FTAI is cheap. Power is a free call option on top.</a:t>
            </a:r>
            <a:endParaRPr lang="en-US" sz="1700" dirty="0"/>
          </a:p>
        </p:txBody>
      </p:sp>
      <p:sp>
        <p:nvSpPr>
          <p:cNvPr id="1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SOTP (FY27E EBITDA × segment multiples)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Returns Summary</a:t>
            </a:r>
            <a:endParaRPr lang="en-US" sz="3200" dirty="0"/>
          </a:p>
        </p:txBody>
      </p:sp>
      <p:sp>
        <p:nvSpPr>
          <p:cNvPr id="3" name="Headline banner"/>
          <p:cNvSpPr txBox="1"/>
          <p:nvPr/>
        </p:nvSpPr>
        <p:spPr>
          <a:xfrm>
            <a:off x="320040" y="1024128"/>
            <a:ext cx="8503920" cy="512064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At $167, the market prices the bear case. Our three theses add $110 of upside.</a:t>
            </a:r>
            <a:endParaRPr lang="en-US" sz="1700" dirty="0"/>
          </a:p>
        </p:txBody>
      </p:sp>
      <p:sp>
        <p:nvSpPr>
          <p:cNvPr id="4" name="Sub banner"/>
          <p:cNvSpPr txBox="1"/>
          <p:nvPr/>
        </p:nvSpPr>
        <p:spPr>
          <a:xfrm>
            <a:off x="320040" y="1627632"/>
            <a:ext cx="8503920" cy="38404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chemeClr val="bg1"/>
                </a:solidFill>
              </a:rPr>
              <a:t>What Each Thesis Adds to the Target Price</a:t>
            </a:r>
            <a:endParaRPr lang="en-US" sz="1600" dirty="0"/>
          </a:p>
        </p:txBody>
      </p:sp>
      <p:sp>
        <p:nvSpPr>
          <p:cNvPr id="5" name="Thesis 1 box"/>
          <p:cNvSpPr txBox="1"/>
          <p:nvPr/>
        </p:nvSpPr>
        <p:spPr>
          <a:xfrm>
            <a:off x="320040" y="2176272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1a) Margins Have Bottomed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PMA parts, OEM-linked pricing and technician productivity lift Aerospace margins from ~30% to ~32.5% by FY31.</a:t>
            </a:r>
            <a:endParaRPr lang="en-US" sz="1500" dirty="0"/>
          </a:p>
        </p:txBody>
      </p:sp>
      <p:sp>
        <p:nvSpPr>
          <p:cNvPr id="6" name="Thesis 1 contribution"/>
          <p:cNvSpPr txBox="1"/>
          <p:nvPr/>
        </p:nvSpPr>
        <p:spPr>
          <a:xfrm>
            <a:off x="6583680" y="2176272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+$17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+10% upside</a:t>
            </a:r>
            <a:endParaRPr lang="en-US" sz="1300" dirty="0"/>
          </a:p>
        </p:txBody>
      </p:sp>
      <p:sp>
        <p:nvSpPr>
          <p:cNvPr id="7" name="Thesis 2 box"/>
          <p:cNvSpPr txBox="1"/>
          <p:nvPr/>
        </p:nvSpPr>
        <p:spPr>
          <a:xfrm>
            <a:off x="320040" y="3145536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1b) Volume Grows With Share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New capacity, OEMs moving to LEAP and faster turnaround lift FTAI's CFM56 module share from ~12% to 20% by FY30.</a:t>
            </a:r>
            <a:endParaRPr lang="en-US" sz="1500" dirty="0"/>
          </a:p>
        </p:txBody>
      </p:sp>
      <p:sp>
        <p:nvSpPr>
          <p:cNvPr id="8" name="Thesis 2 contribution"/>
          <p:cNvSpPr txBox="1"/>
          <p:nvPr/>
        </p:nvSpPr>
        <p:spPr>
          <a:xfrm>
            <a:off x="6583680" y="3145536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+$33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+20% upside</a:t>
            </a:r>
            <a:endParaRPr lang="en-US" sz="1300" dirty="0"/>
          </a:p>
        </p:txBody>
      </p:sp>
      <p:sp>
        <p:nvSpPr>
          <p:cNvPr id="9" name="Thesis 3 box"/>
          <p:cNvSpPr txBox="1"/>
          <p:nvPr/>
        </p:nvSpPr>
        <p:spPr>
          <a:xfrm>
            <a:off x="320040" y="4114800"/>
            <a:ext cx="5623560" cy="859536"/>
          </a:xfrm>
          <a:prstGeom prst="rect">
            <a:avLst/>
          </a:prstGeom>
          <a:noFill/>
          <a:ln w="12700">
            <a:solidFill>
              <a:srgbClr val="1A1A1A"/>
            </a:solidFill>
            <a:prstDash val="dash"/>
          </a:ln>
        </p:spPr>
        <p:txBody>
          <a:bodyPr wrap="square" lIns="101600" tIns="38100" rIns="1016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tx2"/>
                </a:solidFill>
              </a:rPr>
              <a:t>Thesis 2) Power Is a Call Option</a:t>
            </a:r>
            <a:endParaRPr lang="en-US" sz="15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1A1A1A"/>
                </a:solidFill>
              </a:rPr>
              <a:t>Mod-1 deliveries ramp from 45 units in FY27 to 110 by FY29 at ~40% EBITDA margins.</a:t>
            </a:r>
            <a:endParaRPr lang="en-US" sz="1500" dirty="0"/>
          </a:p>
        </p:txBody>
      </p:sp>
      <p:sp>
        <p:nvSpPr>
          <p:cNvPr id="10" name="Thesis 3 contribution"/>
          <p:cNvSpPr txBox="1"/>
          <p:nvPr/>
        </p:nvSpPr>
        <p:spPr>
          <a:xfrm>
            <a:off x="6583680" y="4114800"/>
            <a:ext cx="2240280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Contribution:</a:t>
            </a:r>
            <a:endParaRPr lang="en-US" sz="1300" dirty="0"/>
          </a:p>
          <a:p>
            <a:pPr algn="ctr" indent="0" marL="0">
              <a:buNone/>
            </a:pPr>
            <a:r>
              <a:rPr lang="en-US" sz="2400" b="1" dirty="0">
                <a:solidFill>
                  <a:schemeClr val="tx2"/>
                </a:solidFill>
              </a:rPr>
              <a:t>+$55</a:t>
            </a:r>
            <a:endParaRPr lang="en-US" sz="13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+33% upside</a:t>
            </a:r>
            <a:endParaRPr lang="en-US" sz="1300" dirty="0"/>
          </a:p>
        </p:txBody>
      </p:sp>
      <p:sp>
        <p:nvSpPr>
          <p:cNvPr id="11" name="Chevron"/>
          <p:cNvSpPr/>
          <p:nvPr/>
        </p:nvSpPr>
        <p:spPr>
          <a:xfrm>
            <a:off x="6053328" y="2176272"/>
            <a:ext cx="420624" cy="2798064"/>
          </a:xfrm>
          <a:prstGeom prst="chevron">
            <a:avLst/>
          </a:prstGeom>
          <a:solidFill>
            <a:srgbClr val="DCD8D3"/>
          </a:solidFill>
          <a:ln/>
        </p:spPr>
      </p:sp>
      <p:sp>
        <p:nvSpPr>
          <p:cNvPr id="12" name="Baseline note"/>
          <p:cNvSpPr txBox="1"/>
          <p:nvPr/>
        </p:nvSpPr>
        <p:spPr>
          <a:xfrm>
            <a:off x="320040" y="512064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Bear case (bear margins and share, no Power) is worth $172 on our SOTP, just above today's $167.</a:t>
            </a:r>
            <a:endParaRPr lang="en-US" sz="1200" dirty="0"/>
          </a:p>
        </p:txBody>
      </p:sp>
      <p:sp>
        <p:nvSpPr>
          <p:cNvPr id="13" name="Base case bridge"/>
          <p:cNvSpPr txBox="1"/>
          <p:nvPr/>
        </p:nvSpPr>
        <p:spPr>
          <a:xfrm>
            <a:off x="320040" y="5468112"/>
            <a:ext cx="8503920" cy="512064"/>
          </a:xfrm>
          <a:prstGeom prst="rect">
            <a:avLst/>
          </a:prstGeom>
          <a:solidFill>
            <a:srgbClr val="EFEDEA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$167 today + $5 to bear value + $17 margins + $33 volume + $55 Power = </a:t>
            </a:r>
            <a:pPr algn="ctr" indent="0" marL="0">
              <a:buNone/>
            </a:pPr>
            <a:r>
              <a:rPr lang="en-US" sz="1300" b="1" dirty="0">
                <a:solidFill>
                  <a:srgbClr val="1A1A1A"/>
                </a:solidFill>
              </a:rPr>
              <a:t>$277 SOTP</a:t>
            </a:r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 (+66%)</a:t>
            </a:r>
            <a:endParaRPr lang="en-US" sz="1300" dirty="0"/>
          </a:p>
        </p:txBody>
      </p:sp>
      <p:sp>
        <p:nvSpPr>
          <p:cNvPr id="14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GPS model: base-case FY27E SOTP; thesis drivers switched Bear vs. Base (Power off = 0 units), Shapley average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Overview (1/2)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keeps the world's best-selling jet engine flying, and turns old ones into power.</a:t>
            </a:r>
            <a:endParaRPr lang="en-US" sz="1700" dirty="0"/>
          </a:p>
        </p:txBody>
      </p:sp>
      <p:pic>
        <p:nvPicPr>
          <p:cNvPr id="4" name="Aerospace Products illustration" descr="/home/user/SPOT/deck/img/cfm56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600200"/>
            <a:ext cx="2377440" cy="1344168"/>
          </a:xfrm>
          <a:prstGeom prst="rect">
            <a:avLst/>
          </a:prstGeom>
        </p:spPr>
      </p:pic>
      <p:sp>
        <p:nvSpPr>
          <p:cNvPr id="5" name="Aerospace Products name"/>
          <p:cNvSpPr txBox="1"/>
          <p:nvPr/>
        </p:nvSpPr>
        <p:spPr>
          <a:xfrm>
            <a:off x="32004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Aerospace Products</a:t>
            </a:r>
            <a:endParaRPr lang="en-US" sz="1800" dirty="0"/>
          </a:p>
        </p:txBody>
      </p:sp>
      <p:sp>
        <p:nvSpPr>
          <p:cNvPr id="6" name="Aerospace Products description"/>
          <p:cNvSpPr txBox="1"/>
          <p:nvPr/>
        </p:nvSpPr>
        <p:spPr>
          <a:xfrm>
            <a:off x="32004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Restores and swaps CFM56 engine modules, so airlines get engines back in days, not months.</a:t>
            </a:r>
            <a:endParaRPr lang="en-US" sz="1300" dirty="0"/>
          </a:p>
        </p:txBody>
      </p:sp>
      <p:sp>
        <p:nvSpPr>
          <p:cNvPr id="7" name="Aerospace Products stat"/>
          <p:cNvSpPr txBox="1"/>
          <p:nvPr/>
        </p:nvSpPr>
        <p:spPr>
          <a:xfrm>
            <a:off x="50292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757 → 1,200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Modules, 2025 → 2026E</a:t>
            </a:r>
            <a:endParaRPr lang="en-US" sz="2200" dirty="0"/>
          </a:p>
        </p:txBody>
      </p:sp>
      <p:pic>
        <p:nvPicPr>
          <p:cNvPr id="8" name="FTAI Power illustration" descr="/home/user/SPOT/deck/img/pow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83280" y="1600200"/>
            <a:ext cx="2377440" cy="1344168"/>
          </a:xfrm>
          <a:prstGeom prst="rect">
            <a:avLst/>
          </a:prstGeom>
        </p:spPr>
      </p:pic>
      <p:sp>
        <p:nvSpPr>
          <p:cNvPr id="9" name="FTAI Power name"/>
          <p:cNvSpPr txBox="1"/>
          <p:nvPr/>
        </p:nvSpPr>
        <p:spPr>
          <a:xfrm>
            <a:off x="324612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FTAI Power</a:t>
            </a:r>
            <a:endParaRPr lang="en-US" sz="1800" dirty="0"/>
          </a:p>
        </p:txBody>
      </p:sp>
      <p:sp>
        <p:nvSpPr>
          <p:cNvPr id="10" name="FTAI Power description"/>
          <p:cNvSpPr txBox="1"/>
          <p:nvPr/>
        </p:nvSpPr>
        <p:spPr>
          <a:xfrm>
            <a:off x="324612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Converts CFM56 cores into 25 MW mobile gas turbines that power data centers.</a:t>
            </a:r>
            <a:endParaRPr lang="en-US" sz="1300" dirty="0"/>
          </a:p>
        </p:txBody>
      </p:sp>
      <p:sp>
        <p:nvSpPr>
          <p:cNvPr id="11" name="FTAI Power stat"/>
          <p:cNvSpPr txBox="1"/>
          <p:nvPr/>
        </p:nvSpPr>
        <p:spPr>
          <a:xfrm>
            <a:off x="342900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$450–750M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FY27 EBITDA guide</a:t>
            </a:r>
            <a:endParaRPr lang="en-US" sz="2200" dirty="0"/>
          </a:p>
        </p:txBody>
      </p:sp>
      <p:sp>
        <p:nvSpPr>
          <p:cNvPr id="12" name="Column divider 1"/>
          <p:cNvSpPr/>
          <p:nvPr/>
        </p:nvSpPr>
        <p:spPr>
          <a:xfrm>
            <a:off x="310896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pic>
        <p:nvPicPr>
          <p:cNvPr id="13" name="Leasing + SCI illustration" descr="/home/user/SPOT/deck/img/aircraf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09360" y="1600200"/>
            <a:ext cx="2377440" cy="1344168"/>
          </a:xfrm>
          <a:prstGeom prst="rect">
            <a:avLst/>
          </a:prstGeom>
        </p:spPr>
      </p:pic>
      <p:sp>
        <p:nvSpPr>
          <p:cNvPr id="14" name="Leasing + SCI name"/>
          <p:cNvSpPr txBox="1"/>
          <p:nvPr/>
        </p:nvSpPr>
        <p:spPr>
          <a:xfrm>
            <a:off x="6172200" y="3035808"/>
            <a:ext cx="2651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Leasing + SCI</a:t>
            </a:r>
            <a:endParaRPr lang="en-US" sz="1800" dirty="0"/>
          </a:p>
        </p:txBody>
      </p:sp>
      <p:sp>
        <p:nvSpPr>
          <p:cNvPr id="15" name="Leasing + SCI description"/>
          <p:cNvSpPr txBox="1"/>
          <p:nvPr/>
        </p:nvSpPr>
        <p:spPr>
          <a:xfrm>
            <a:off x="6172200" y="3429000"/>
            <a:ext cx="2651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A1A1A"/>
                </a:solidFill>
              </a:rPr>
              <a:t>Leases jets and engines. The SCI partnership buys mid-life jets and sends all engine work to FTAI.</a:t>
            </a:r>
            <a:endParaRPr lang="en-US" sz="1300" dirty="0"/>
          </a:p>
        </p:txBody>
      </p:sp>
      <p:sp>
        <p:nvSpPr>
          <p:cNvPr id="16" name="Leasing + SCI stat"/>
          <p:cNvSpPr txBox="1"/>
          <p:nvPr/>
        </p:nvSpPr>
        <p:spPr>
          <a:xfrm>
            <a:off x="6355080" y="4434840"/>
            <a:ext cx="2286000" cy="868680"/>
          </a:xfrm>
          <a:prstGeom prst="rect">
            <a:avLst/>
          </a:prstGeom>
          <a:solidFill>
            <a:srgbClr val="EFEDEA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chemeClr val="tx2"/>
                </a:solidFill>
              </a:rPr>
              <a:t>316</a:t>
            </a:r>
            <a:endParaRPr lang="en-US" sz="2200" dirty="0"/>
          </a:p>
          <a:p>
            <a:pPr algn="ctr" indent="0" marL="0">
              <a:buNone/>
            </a:pPr>
            <a:r>
              <a:rPr lang="en-US" sz="1200" dirty="0">
                <a:solidFill>
                  <a:schemeClr val="accent2"/>
                </a:solidFill>
              </a:rPr>
              <a:t>SCI aircraft, YE26E</a:t>
            </a:r>
            <a:endParaRPr lang="en-US" sz="2200" dirty="0"/>
          </a:p>
        </p:txBody>
      </p:sp>
      <p:sp>
        <p:nvSpPr>
          <p:cNvPr id="17" name="Column divider 2"/>
          <p:cNvSpPr/>
          <p:nvPr/>
        </p:nvSpPr>
        <p:spPr>
          <a:xfrm>
            <a:off x="6035040" y="1691640"/>
            <a:ext cx="0" cy="3566160"/>
          </a:xfrm>
          <a:prstGeom prst="line">
            <a:avLst/>
          </a:prstGeom>
          <a:noFill/>
          <a:ln w="12700">
            <a:solidFill>
              <a:srgbClr val="DCD8D3"/>
            </a:solidFill>
            <a:prstDash val="solid"/>
          </a:ln>
        </p:spPr>
      </p:sp>
      <p:sp>
        <p:nvSpPr>
          <p:cNvPr id="18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One engine, three ways to earn: fix it, power with it, and own the planes it flies on.</a:t>
            </a:r>
            <a:endParaRPr lang="en-US" sz="1700" dirty="0"/>
          </a:p>
        </p:txBody>
      </p:sp>
      <p:sp>
        <p:nvSpPr>
          <p:cNvPr id="19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filings and earnings calls, GPS model. Illustrations are schematic.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title" hasCustomPrompt="1"/>
          </p:nvPr>
        </p:nvSpPr>
        <p:spPr>
          <a:xfrm>
            <a:off x="320040" y="182880"/>
            <a:ext cx="71323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chemeClr val="tx2"/>
                </a:solidFill>
              </a:rPr>
              <a:t>Business Overview (2/2)</a:t>
            </a:r>
            <a:endParaRPr lang="en-US" sz="3200" dirty="0"/>
          </a:p>
        </p:txBody>
      </p:sp>
      <p:sp>
        <p:nvSpPr>
          <p:cNvPr id="3" name="Text 1"/>
          <p:cNvSpPr/>
          <p:nvPr>
            <p:ph idx="103" type="body" hasCustomPrompt="1"/>
          </p:nvPr>
        </p:nvSpPr>
        <p:spPr>
          <a:xfrm>
            <a:off x="320040" y="932688"/>
            <a:ext cx="8503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700" b="1" dirty="0">
                <a:solidFill>
                  <a:schemeClr val="tx2"/>
                </a:solidFill>
              </a:rPr>
              <a:t>FTAI swaps worn modules for restored ones from its own pool, so airlines skip the shop queue.</a:t>
            </a:r>
            <a:endParaRPr lang="en-US" sz="1700" dirty="0"/>
          </a:p>
        </p:txBody>
      </p:sp>
      <p:sp>
        <p:nvSpPr>
          <p:cNvPr id="4" name="Loop header"/>
          <p:cNvSpPr txBox="1"/>
          <p:nvPr/>
        </p:nvSpPr>
        <p:spPr>
          <a:xfrm>
            <a:off x="320040" y="1554480"/>
            <a:ext cx="39319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How an Exchange Works</a:t>
            </a:r>
            <a:endParaRPr lang="en-US" sz="1600" dirty="0"/>
          </a:p>
        </p:txBody>
      </p:sp>
      <p:sp>
        <p:nvSpPr>
          <p:cNvPr id="5" name="Loop header rule"/>
          <p:cNvSpPr/>
          <p:nvPr/>
        </p:nvSpPr>
        <p:spPr>
          <a:xfrm>
            <a:off x="320040" y="1975104"/>
            <a:ext cx="393192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6" name="Loop ring"/>
          <p:cNvSpPr/>
          <p:nvPr/>
        </p:nvSpPr>
        <p:spPr>
          <a:xfrm>
            <a:off x="914400" y="2514600"/>
            <a:ext cx="2743200" cy="2231136"/>
          </a:xfrm>
          <a:prstGeom prst="ellipse">
            <a:avLst/>
          </a:prstGeom>
          <a:ln w="38100">
            <a:solidFill>
              <a:srgbClr val="B5AEA9"/>
            </a:solidFill>
            <a:prstDash val="solid"/>
          </a:ln>
        </p:spPr>
      </p:sp>
      <p:sp>
        <p:nvSpPr>
          <p:cNvPr id="7" name="Loop arrow 1"/>
          <p:cNvSpPr/>
          <p:nvPr/>
        </p:nvSpPr>
        <p:spPr>
          <a:xfrm rot="8100000">
            <a:off x="3146140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8" name="Loop arrow 2"/>
          <p:cNvSpPr/>
          <p:nvPr/>
        </p:nvSpPr>
        <p:spPr>
          <a:xfrm rot="13500000">
            <a:off x="3146140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9" name="Loop arrow 3"/>
          <p:cNvSpPr/>
          <p:nvPr/>
        </p:nvSpPr>
        <p:spPr>
          <a:xfrm rot="18900000">
            <a:off x="1206404" y="4309266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0" name="Loop arrow 4"/>
          <p:cNvSpPr/>
          <p:nvPr/>
        </p:nvSpPr>
        <p:spPr>
          <a:xfrm rot="2700000">
            <a:off x="1206404" y="2731614"/>
            <a:ext cx="219456" cy="219456"/>
          </a:xfrm>
          <a:prstGeom prst="triangle">
            <a:avLst/>
          </a:prstGeom>
          <a:solidFill>
            <a:srgbClr val="847C7A"/>
          </a:solidFill>
          <a:ln/>
        </p:spPr>
      </p:sp>
      <p:sp>
        <p:nvSpPr>
          <p:cNvPr id="11" name="Module pool"/>
          <p:cNvSpPr/>
          <p:nvPr/>
        </p:nvSpPr>
        <p:spPr>
          <a:xfrm>
            <a:off x="1783080" y="3127248"/>
            <a:ext cx="1005840" cy="1005840"/>
          </a:xfrm>
          <a:prstGeom prst="ellipse">
            <a:avLst/>
          </a:prstGeom>
          <a:solidFill>
            <a:srgbClr val="0A1C58"/>
          </a:solidFill>
          <a:ln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Module</a:t>
            </a:r>
            <a:endParaRPr lang="en-US" sz="1300" dirty="0"/>
          </a:p>
          <a:p>
            <a:pPr algn="ct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pool</a:t>
            </a:r>
            <a:endParaRPr lang="en-US" sz="1300" dirty="0"/>
          </a:p>
        </p:txBody>
      </p:sp>
      <p:sp>
        <p:nvSpPr>
          <p:cNvPr id="12" name="Loop step 1"/>
          <p:cNvSpPr txBox="1"/>
          <p:nvPr/>
        </p:nvSpPr>
        <p:spPr>
          <a:xfrm>
            <a:off x="1682496" y="2148840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needs a shop visit</a:t>
            </a:r>
            <a:endParaRPr lang="en-US" sz="1200" dirty="0"/>
          </a:p>
        </p:txBody>
      </p:sp>
      <p:sp>
        <p:nvSpPr>
          <p:cNvPr id="13" name="Loop step 1 number"/>
          <p:cNvSpPr/>
          <p:nvPr/>
        </p:nvSpPr>
        <p:spPr>
          <a:xfrm>
            <a:off x="1499616" y="1965960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1</a:t>
            </a:r>
            <a:endParaRPr lang="en-US" sz="1200" dirty="0"/>
          </a:p>
        </p:txBody>
      </p:sp>
      <p:sp>
        <p:nvSpPr>
          <p:cNvPr id="14" name="Loop step 2"/>
          <p:cNvSpPr txBox="1"/>
          <p:nvPr/>
        </p:nvSpPr>
        <p:spPr>
          <a:xfrm>
            <a:off x="30540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FTAI swaps in a restored module</a:t>
            </a:r>
            <a:endParaRPr lang="en-US" sz="1200" dirty="0"/>
          </a:p>
        </p:txBody>
      </p:sp>
      <p:sp>
        <p:nvSpPr>
          <p:cNvPr id="15" name="Loop step 2 number"/>
          <p:cNvSpPr/>
          <p:nvPr/>
        </p:nvSpPr>
        <p:spPr>
          <a:xfrm>
            <a:off x="28712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2</a:t>
            </a:r>
            <a:endParaRPr lang="en-US" sz="1200" dirty="0"/>
          </a:p>
        </p:txBody>
      </p:sp>
      <p:sp>
        <p:nvSpPr>
          <p:cNvPr id="16" name="Loop step 3"/>
          <p:cNvSpPr txBox="1"/>
          <p:nvPr/>
        </p:nvSpPr>
        <p:spPr>
          <a:xfrm>
            <a:off x="1682496" y="4379976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Engine back in service in days</a:t>
            </a:r>
            <a:endParaRPr lang="en-US" sz="1200" dirty="0"/>
          </a:p>
        </p:txBody>
      </p:sp>
      <p:sp>
        <p:nvSpPr>
          <p:cNvPr id="17" name="Loop step 3 number"/>
          <p:cNvSpPr/>
          <p:nvPr/>
        </p:nvSpPr>
        <p:spPr>
          <a:xfrm>
            <a:off x="1499616" y="4197096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3</a:t>
            </a:r>
            <a:endParaRPr lang="en-US" sz="1200" dirty="0"/>
          </a:p>
        </p:txBody>
      </p:sp>
      <p:sp>
        <p:nvSpPr>
          <p:cNvPr id="18" name="Loop step 4"/>
          <p:cNvSpPr txBox="1"/>
          <p:nvPr/>
        </p:nvSpPr>
        <p:spPr>
          <a:xfrm>
            <a:off x="310896" y="3264408"/>
            <a:ext cx="1207008" cy="731520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76200" tIns="25400" rIns="50800" bIns="2540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2"/>
                </a:solidFill>
              </a:rPr>
              <a:t>Worn module restored for the pool</a:t>
            </a:r>
            <a:endParaRPr lang="en-US" sz="1200" dirty="0"/>
          </a:p>
        </p:txBody>
      </p:sp>
      <p:sp>
        <p:nvSpPr>
          <p:cNvPr id="19" name="Loop step 4 number"/>
          <p:cNvSpPr/>
          <p:nvPr/>
        </p:nvSpPr>
        <p:spPr>
          <a:xfrm>
            <a:off x="128016" y="3081528"/>
            <a:ext cx="310896" cy="310896"/>
          </a:xfrm>
          <a:prstGeom prst="ellipse">
            <a:avLst/>
          </a:prstGeom>
          <a:solidFill>
            <a:srgbClr val="0A1C58"/>
          </a:solidFill>
          <a:ln w="19050">
            <a:solidFill>
              <a:srgbClr val="FFFFF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bg1"/>
                </a:solidFill>
              </a:rPr>
              <a:t>4</a:t>
            </a:r>
            <a:endParaRPr lang="en-US" sz="1200" dirty="0"/>
          </a:p>
        </p:txBody>
      </p:sp>
      <p:sp>
        <p:nvSpPr>
          <p:cNvPr id="20" name="Factory header"/>
          <p:cNvSpPr txBox="1"/>
          <p:nvPr/>
        </p:nvSpPr>
        <p:spPr>
          <a:xfrm>
            <a:off x="4526280" y="1554480"/>
            <a:ext cx="42976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1A1A"/>
                </a:solidFill>
              </a:rPr>
              <a:t>Why It Pays: The Module Factory</a:t>
            </a:r>
            <a:endParaRPr lang="en-US" sz="1600" dirty="0"/>
          </a:p>
        </p:txBody>
      </p:sp>
      <p:sp>
        <p:nvSpPr>
          <p:cNvPr id="21" name="Factory header rule"/>
          <p:cNvSpPr/>
          <p:nvPr/>
        </p:nvSpPr>
        <p:spPr>
          <a:xfrm>
            <a:off x="4526280" y="1975104"/>
            <a:ext cx="4297680" cy="0"/>
          </a:xfrm>
          <a:prstGeom prst="line">
            <a:avLst/>
          </a:prstGeom>
          <a:noFill/>
          <a:ln w="12700">
            <a:solidFill>
              <a:srgbClr val="1A1A1A"/>
            </a:solidFill>
            <a:prstDash val="solid"/>
          </a:ln>
        </p:spPr>
      </p:sp>
      <p:sp>
        <p:nvSpPr>
          <p:cNvPr id="22" name="Before label"/>
          <p:cNvSpPr txBox="1"/>
          <p:nvPr/>
        </p:nvSpPr>
        <p:spPr>
          <a:xfrm>
            <a:off x="4526280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3 worn engines in</a:t>
            </a:r>
            <a:endParaRPr lang="en-US" sz="1300" dirty="0"/>
          </a:p>
        </p:txBody>
      </p:sp>
      <p:sp>
        <p:nvSpPr>
          <p:cNvPr id="23" name="Before engine 1 value"/>
          <p:cNvSpPr txBox="1"/>
          <p:nvPr/>
        </p:nvSpPr>
        <p:spPr>
          <a:xfrm>
            <a:off x="4526280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24" name="Before engine 1 module 1"/>
          <p:cNvSpPr/>
          <p:nvPr/>
        </p:nvSpPr>
        <p:spPr>
          <a:xfrm>
            <a:off x="5221224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25" name="Before engine 1 module 2"/>
          <p:cNvSpPr/>
          <p:nvPr/>
        </p:nvSpPr>
        <p:spPr>
          <a:xfrm>
            <a:off x="5641848" y="2395728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26" name="Before engine 1 module 3"/>
          <p:cNvSpPr/>
          <p:nvPr/>
        </p:nvSpPr>
        <p:spPr>
          <a:xfrm>
            <a:off x="6062472" y="2395728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27" name="Before engine 2 value"/>
          <p:cNvSpPr txBox="1"/>
          <p:nvPr/>
        </p:nvSpPr>
        <p:spPr>
          <a:xfrm>
            <a:off x="4526280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$2.5M</a:t>
            </a:r>
            <a:endParaRPr lang="en-US" sz="1400" dirty="0"/>
          </a:p>
        </p:txBody>
      </p:sp>
      <p:sp>
        <p:nvSpPr>
          <p:cNvPr id="28" name="Before engine 2 module 1"/>
          <p:cNvSpPr/>
          <p:nvPr/>
        </p:nvSpPr>
        <p:spPr>
          <a:xfrm>
            <a:off x="5221224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29" name="Before engine 2 module 2"/>
          <p:cNvSpPr/>
          <p:nvPr/>
        </p:nvSpPr>
        <p:spPr>
          <a:xfrm>
            <a:off x="5641848" y="3108960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0" name="Before engine 2 module 3"/>
          <p:cNvSpPr/>
          <p:nvPr/>
        </p:nvSpPr>
        <p:spPr>
          <a:xfrm>
            <a:off x="6062472" y="3108960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1" name="Before engine 3 value"/>
          <p:cNvSpPr txBox="1"/>
          <p:nvPr/>
        </p:nvSpPr>
        <p:spPr>
          <a:xfrm>
            <a:off x="4526280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$2.0M</a:t>
            </a:r>
            <a:endParaRPr lang="en-US" sz="1400" dirty="0"/>
          </a:p>
        </p:txBody>
      </p:sp>
      <p:sp>
        <p:nvSpPr>
          <p:cNvPr id="32" name="Before engine 3 module 1"/>
          <p:cNvSpPr/>
          <p:nvPr/>
        </p:nvSpPr>
        <p:spPr>
          <a:xfrm>
            <a:off x="5221224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33" name="Before engine 3 module 2"/>
          <p:cNvSpPr/>
          <p:nvPr/>
        </p:nvSpPr>
        <p:spPr>
          <a:xfrm>
            <a:off x="5641848" y="3822192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34" name="Before engine 3 module 3"/>
          <p:cNvSpPr/>
          <p:nvPr/>
        </p:nvSpPr>
        <p:spPr>
          <a:xfrm>
            <a:off x="6062472" y="3822192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35" name="Before Fan caption"/>
          <p:cNvSpPr txBox="1"/>
          <p:nvPr/>
        </p:nvSpPr>
        <p:spPr>
          <a:xfrm>
            <a:off x="5175504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36" name="Before Core caption"/>
          <p:cNvSpPr txBox="1"/>
          <p:nvPr/>
        </p:nvSpPr>
        <p:spPr>
          <a:xfrm>
            <a:off x="5596128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37" name="Before LPT caption"/>
          <p:cNvSpPr txBox="1"/>
          <p:nvPr/>
        </p:nvSpPr>
        <p:spPr>
          <a:xfrm>
            <a:off x="601675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38" name="After label"/>
          <p:cNvSpPr txBox="1"/>
          <p:nvPr/>
        </p:nvSpPr>
        <p:spPr>
          <a:xfrm>
            <a:off x="6922008" y="2011680"/>
            <a:ext cx="19019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i="1" dirty="0">
                <a:solidFill>
                  <a:schemeClr val="accent2"/>
                </a:solidFill>
              </a:rPr>
              <a:t>Engines out</a:t>
            </a:r>
            <a:endParaRPr lang="en-US" sz="1300" dirty="0"/>
          </a:p>
        </p:txBody>
      </p:sp>
      <p:sp>
        <p:nvSpPr>
          <p:cNvPr id="39" name="After engine 1 value"/>
          <p:cNvSpPr txBox="1"/>
          <p:nvPr/>
        </p:nvSpPr>
        <p:spPr>
          <a:xfrm>
            <a:off x="6922008" y="2395728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$8.5M</a:t>
            </a:r>
            <a:endParaRPr lang="en-US" sz="1400" dirty="0"/>
          </a:p>
        </p:txBody>
      </p:sp>
      <p:sp>
        <p:nvSpPr>
          <p:cNvPr id="40" name="After engine 1 module 1"/>
          <p:cNvSpPr/>
          <p:nvPr/>
        </p:nvSpPr>
        <p:spPr>
          <a:xfrm>
            <a:off x="7616952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1" name="After engine 1 module 2"/>
          <p:cNvSpPr/>
          <p:nvPr/>
        </p:nvSpPr>
        <p:spPr>
          <a:xfrm>
            <a:off x="8037576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2" name="After engine 1 module 3"/>
          <p:cNvSpPr/>
          <p:nvPr/>
        </p:nvSpPr>
        <p:spPr>
          <a:xfrm>
            <a:off x="8458200" y="2395728"/>
            <a:ext cx="365760" cy="365760"/>
          </a:xfrm>
          <a:prstGeom prst="rect">
            <a:avLst/>
          </a:prstGeom>
          <a:solidFill>
            <a:srgbClr val="0A1C58"/>
          </a:solidFill>
          <a:ln w="15875">
            <a:solidFill>
              <a:srgbClr val="0A1C58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</a:rPr>
              <a:t>7k</a:t>
            </a:r>
            <a:endParaRPr lang="en-US" sz="1100" dirty="0"/>
          </a:p>
        </p:txBody>
      </p:sp>
      <p:sp>
        <p:nvSpPr>
          <p:cNvPr id="43" name="After engine 2 value"/>
          <p:cNvSpPr txBox="1"/>
          <p:nvPr/>
        </p:nvSpPr>
        <p:spPr>
          <a:xfrm>
            <a:off x="6922008" y="3108960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$6.0M</a:t>
            </a:r>
            <a:endParaRPr lang="en-US" sz="1400" dirty="0"/>
          </a:p>
        </p:txBody>
      </p:sp>
      <p:sp>
        <p:nvSpPr>
          <p:cNvPr id="44" name="After engine 2 module 1"/>
          <p:cNvSpPr/>
          <p:nvPr/>
        </p:nvSpPr>
        <p:spPr>
          <a:xfrm>
            <a:off x="7616952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5" name="After engine 2 module 2"/>
          <p:cNvSpPr/>
          <p:nvPr/>
        </p:nvSpPr>
        <p:spPr>
          <a:xfrm>
            <a:off x="8037576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6" name="After engine 2 module 3"/>
          <p:cNvSpPr/>
          <p:nvPr/>
        </p:nvSpPr>
        <p:spPr>
          <a:xfrm>
            <a:off x="8458200" y="3108960"/>
            <a:ext cx="365760" cy="365760"/>
          </a:xfrm>
          <a:prstGeom prst="rect">
            <a:avLst/>
          </a:prstGeom>
          <a:solidFill>
            <a:srgbClr val="B5AEA9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1C58"/>
                </a:solidFill>
              </a:rPr>
              <a:t>4k</a:t>
            </a:r>
            <a:endParaRPr lang="en-US" sz="1100" dirty="0"/>
          </a:p>
        </p:txBody>
      </p:sp>
      <p:sp>
        <p:nvSpPr>
          <p:cNvPr id="47" name="After engine 3 value"/>
          <p:cNvSpPr txBox="1"/>
          <p:nvPr/>
        </p:nvSpPr>
        <p:spPr>
          <a:xfrm>
            <a:off x="6922008" y="3822192"/>
            <a:ext cx="6583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chemeClr val="tx2"/>
                </a:solidFill>
              </a:rPr>
              <a:t>$1.5M</a:t>
            </a:r>
            <a:endParaRPr lang="en-US" sz="1400" dirty="0"/>
          </a:p>
        </p:txBody>
      </p:sp>
      <p:sp>
        <p:nvSpPr>
          <p:cNvPr id="48" name="After engine 3 module 1"/>
          <p:cNvSpPr/>
          <p:nvPr/>
        </p:nvSpPr>
        <p:spPr>
          <a:xfrm>
            <a:off x="7616952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49" name="After engine 3 module 2"/>
          <p:cNvSpPr/>
          <p:nvPr/>
        </p:nvSpPr>
        <p:spPr>
          <a:xfrm>
            <a:off x="8037576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0" name="After engine 3 module 3"/>
          <p:cNvSpPr/>
          <p:nvPr/>
        </p:nvSpPr>
        <p:spPr>
          <a:xfrm>
            <a:off x="8458200" y="3822192"/>
            <a:ext cx="365760" cy="365760"/>
          </a:xfrm>
          <a:prstGeom prst="rect">
            <a:avLst/>
          </a:prstGeom>
          <a:solidFill>
            <a:srgbClr val="FFFFFF"/>
          </a:solidFill>
          <a:ln w="15875">
            <a:solidFill>
              <a:srgbClr val="B5AEA9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847C7A"/>
                </a:solidFill>
              </a:rPr>
              <a:t>0k</a:t>
            </a:r>
            <a:endParaRPr lang="en-US" sz="1100" dirty="0"/>
          </a:p>
        </p:txBody>
      </p:sp>
      <p:sp>
        <p:nvSpPr>
          <p:cNvPr id="51" name="After Fan caption"/>
          <p:cNvSpPr txBox="1"/>
          <p:nvPr/>
        </p:nvSpPr>
        <p:spPr>
          <a:xfrm>
            <a:off x="7571232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Fan</a:t>
            </a:r>
            <a:endParaRPr lang="en-US" sz="1000" dirty="0"/>
          </a:p>
        </p:txBody>
      </p:sp>
      <p:sp>
        <p:nvSpPr>
          <p:cNvPr id="52" name="After Core caption"/>
          <p:cNvSpPr txBox="1"/>
          <p:nvPr/>
        </p:nvSpPr>
        <p:spPr>
          <a:xfrm>
            <a:off x="7991856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Core</a:t>
            </a:r>
            <a:endParaRPr lang="en-US" sz="1000" dirty="0"/>
          </a:p>
        </p:txBody>
      </p:sp>
      <p:sp>
        <p:nvSpPr>
          <p:cNvPr id="53" name="After LPT caption"/>
          <p:cNvSpPr txBox="1"/>
          <p:nvPr/>
        </p:nvSpPr>
        <p:spPr>
          <a:xfrm>
            <a:off x="8412480" y="4242816"/>
            <a:ext cx="457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chemeClr val="accent2"/>
                </a:solidFill>
              </a:rPr>
              <a:t>LPT</a:t>
            </a:r>
            <a:endParaRPr lang="en-US" sz="1000" dirty="0"/>
          </a:p>
        </p:txBody>
      </p:sp>
      <p:sp>
        <p:nvSpPr>
          <p:cNvPr id="54" name="Factory arrow"/>
          <p:cNvSpPr/>
          <p:nvPr/>
        </p:nvSpPr>
        <p:spPr>
          <a:xfrm>
            <a:off x="6492240" y="3108960"/>
            <a:ext cx="365760" cy="329184"/>
          </a:xfrm>
          <a:prstGeom prst="rightArrow">
            <a:avLst/>
          </a:prstGeom>
          <a:solidFill>
            <a:srgbClr val="847C7A"/>
          </a:solidFill>
          <a:ln/>
        </p:spPr>
      </p:sp>
      <p:sp>
        <p:nvSpPr>
          <p:cNvPr id="55" name="Before total"/>
          <p:cNvSpPr txBox="1"/>
          <p:nvPr/>
        </p:nvSpPr>
        <p:spPr>
          <a:xfrm>
            <a:off x="4526280" y="4645152"/>
            <a:ext cx="1901952" cy="658368"/>
          </a:xfrm>
          <a:prstGeom prst="rect">
            <a:avLst/>
          </a:prstGeom>
          <a:solidFill>
            <a:srgbClr val="DCD8D3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tx2"/>
                </a:solidFill>
              </a:rPr>
              <a:t>$6.5M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engines + $3.5M of work</a:t>
            </a:r>
            <a:endParaRPr lang="en-US" sz="1800" dirty="0"/>
          </a:p>
        </p:txBody>
      </p:sp>
      <p:sp>
        <p:nvSpPr>
          <p:cNvPr id="56" name="After total"/>
          <p:cNvSpPr txBox="1"/>
          <p:nvPr/>
        </p:nvSpPr>
        <p:spPr>
          <a:xfrm>
            <a:off x="6922008" y="4645152"/>
            <a:ext cx="1901952" cy="65836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$16.0M</a:t>
            </a:r>
            <a:endParaRPr lang="en-US" sz="18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+$6.0M of value created</a:t>
            </a:r>
            <a:endParaRPr lang="en-US" sz="1800" dirty="0"/>
          </a:p>
        </p:txBody>
      </p:sp>
      <p:sp>
        <p:nvSpPr>
          <p:cNvPr id="57" name="Takeaway"/>
          <p:cNvSpPr txBox="1"/>
          <p:nvPr/>
        </p:nvSpPr>
        <p:spPr>
          <a:xfrm>
            <a:off x="320040" y="5504688"/>
            <a:ext cx="8503920" cy="566928"/>
          </a:xfrm>
          <a:prstGeom prst="rect">
            <a:avLst/>
          </a:prstGeom>
          <a:solidFill>
            <a:srgbClr val="0A1C58"/>
          </a:solidFill>
          <a:ln/>
        </p:spPr>
        <p:txBody>
          <a:bodyPr wrap="square" lIns="101600" tIns="25400" rIns="101600" bIns="2540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chemeClr val="bg1"/>
                </a:solidFill>
              </a:rPr>
              <a:t>FTAI sells speed to airlines and harvests cycles from engines no one else can use.</a:t>
            </a:r>
            <a:endParaRPr lang="en-US" sz="1700" dirty="0"/>
          </a:p>
        </p:txBody>
      </p:sp>
      <p:sp>
        <p:nvSpPr>
          <p:cNvPr id="58" name="Source"/>
          <p:cNvSpPr txBox="1"/>
          <p:nvPr/>
        </p:nvSpPr>
        <p:spPr>
          <a:xfrm>
            <a:off x="320040" y="6355080"/>
            <a:ext cx="7132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1A"/>
                </a:solidFill>
              </a:rPr>
              <a:t>Source: </a:t>
            </a:r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</a:rPr>
              <a:t>FTAI investor materials (Module Factory example), GPS analysis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7635240" y="6327648"/>
            <a:ext cx="4114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100">
                <a:solidFill>
                  <a:srgbClr val="1A1A1A"/>
                </a:solidFill>
              </a:defRPr>
            </a:lvl1pPr>
          </a:lstStyle>
          <a:p>
            <a:pPr algn="r"/>
            <a:fld id="{F7021451-1387-4CA6-816F-3879F97B5CBC}" type="slidenum">
              <a:rPr b="1" lang="en-US"/>
              <a:t>8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lobal Platinum Securities">
  <a:themeElements>
    <a:clrScheme name="Global Platinum Securities">
      <a:dk1>
        <a:srgbClr val="1A1A1A"/>
      </a:dk1>
      <a:lt1>
        <a:srgbClr val="FFFFFF"/>
      </a:lt1>
      <a:dk2>
        <a:srgbClr val="0A1C58"/>
      </a:dk2>
      <a:lt2>
        <a:srgbClr val="EFEDEA"/>
      </a:lt2>
      <a:accent1>
        <a:srgbClr val="0A1C58"/>
      </a:accent1>
      <a:accent2>
        <a:srgbClr val="847C7A"/>
      </a:accent2>
      <a:accent3>
        <a:srgbClr val="DCD8D3"/>
      </a:accent3>
      <a:accent4>
        <a:srgbClr val="3B4C82"/>
      </a:accent4>
      <a:accent5>
        <a:srgbClr val="B5AEA9"/>
      </a:accent5>
      <a:accent6>
        <a:srgbClr val="5A5350"/>
      </a:accent6>
      <a:hlink>
        <a:srgbClr val="0A1C58"/>
      </a:hlink>
      <a:folHlink>
        <a:srgbClr val="847C7A"/>
      </a:folHlink>
    </a:clrScheme>
    <a:fontScheme name="Global Platinum Securities">
      <a:majorFont>
        <a:latin typeface="Garamond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Garamond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Global Platinum Securities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FTAI Aviation — Long Recommendation</dc:title>
  <dc:subject>PptxGenJS Presentation</dc:subject>
  <dc:creator>PptxGenJS</dc:creator>
  <cp:lastModifiedBy>PptxGenJS</cp:lastModifiedBy>
  <cp:revision>1</cp:revision>
  <dcterms:created xsi:type="dcterms:W3CDTF">2026-10-08T22:13:11Z</dcterms:created>
  <dcterms:modified xsi:type="dcterms:W3CDTF">2026-10-08T22:13:11Z</dcterms:modified>
</cp:coreProperties>
</file>