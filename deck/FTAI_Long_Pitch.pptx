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26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d398163-26c0-9c7c-deb4-7452ce90050e}">
          <p14:sldIdLst>
            <p14:sldId id="256"/>
          </p14:sldIdLst>
        </p14:section>
        <p14:section name="Business Overview" id="{fc189fb5-8b89-c2fc-5831-f6d3fcd7d85e}">
          <p14:sldIdLst>
            <p14:sldId id="257"/>
            <p14:sldId id="258"/>
          </p14:sldIdLst>
        </p14:section>
        <p14:section name="The Opportunity" id="{6bcba024-1ec5-b6bf-b0de-eea0d9fe749f}">
          <p14:sldIdLst>
            <p14:sldId id="259"/>
            <p14:sldId id="260"/>
            <p14:sldId id="261"/>
            <p14:sldId id="262"/>
          </p14:sldIdLst>
        </p14:section>
        <p14:section name="Returns" id="{9461481d-6f6f-b167-d69c-b2132535039a}">
          <p14:sldIdLst>
            <p14:sldId id="263"/>
          </p14:sldIdLst>
        </p14:section>
        <p14:section name="Thesis 1a" id="{b21300ff-1322-703a-6d54-a93b69a305d5}">
          <p14:sldIdLst>
            <p14:sldId id="264"/>
            <p14:sldId id="265"/>
            <p14:sldId id="266"/>
            <p14:sldId id="267"/>
            <p14:sldId id="268"/>
          </p14:sldIdLst>
        </p14:section>
        <p14:section name="Thesis 1b" id="{18277308-455b-738a-307d-1e56f9b014ae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Thesis 2" id="{28ed87bf-33f1-ca9b-d149-d82bec25c3b6}">
          <p14:sldIdLst>
            <p14:sldId id="277"/>
            <p14:sldId id="278"/>
            <p14:sldId id="279"/>
            <p14:sldId id="280"/>
            <p14:sldId id="281"/>
          </p14:sldIdLst>
        </p14:section>
        <p14:section name="Valuation" id="{1469239e-541a-b9c4-2dfb-6cbe03b9109b}">
          <p14:sldIdLst>
            <p14:sldId id="282"/>
            <p14:sldId id="283"/>
          </p14:sldIdLst>
        </p14:section>
        <p14:section name="Catalysts" id="{d47f00f5-7145-8d28-d20c-9bf69f3b416c}">
          <p14:sldIdLst>
            <p14:sldId id="284"/>
          </p14:sldIdLst>
        </p14:section>
        <p14:section name="Risks" id="{987ef2b5-2e13-edca-4f43-555968643aee}">
          <p14:sldIdLst>
            <p14:sldId id="285"/>
          </p14:sldIdLst>
        </p14:section>
        <p14:section name="Q&amp;A" id="{25394c97-bf72-9797-b075-d0287a5789df}">
          <p14:sldIdLst>
            <p14:sldId id="286"/>
          </p14:sldIdLst>
        </p14:section>
        <p14:section name="Appendix" id="{ae45bdcd-5721-b96b-f52e-f9b75839087c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</c:v>
                  </c:pt>
                  <c:pt idx="1">
                    <c:v>Power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0.35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167</c:v>
                </c:pt>
                <c:pt idx="2">
                  <c:v>186.8</c:v>
                </c:pt>
                <c:pt idx="3">
                  <c:v>224.8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19.8</c:v>
                </c:pt>
                <c:pt idx="2">
                  <c:v>37.9</c:v>
                </c:pt>
                <c:pt idx="3">
                  <c:v>51.9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Peak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2400</c:v>
                </c:pt>
                <c:pt idx="2">
                  <c:v>2400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Shop visits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2350</c:v>
                </c:pt>
                <c:pt idx="1">
                  <c:v/>
                </c:pt>
                <c:pt idx="2">
                  <c:v/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Fraud quote"/>
          <p:cNvSpPr txBox="1"/>
          <p:nvPr/>
        </p:nvSpPr>
        <p:spPr>
          <a:xfrm>
            <a:off x="426709" y="1481328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“Why are you looking at FTAI, isn't that a fraud?”</a:t>
            </a:r>
            <a:pPr algn="ctr" indent="0" marL="0">
              <a:buNone/>
            </a:pPr>
            <a:r>
              <a:rPr lang="en-US" sz="1300" i="1" dirty="0">
                <a:solidFill>
                  <a:srgbClr val="1A1A1A"/>
                </a:solidFill>
              </a:rPr>
              <a:t>   — Teddy Wallen, GPS '24</a:t>
            </a:r>
            <a:endParaRPr lang="en-US" sz="1600" dirty="0"/>
          </a:p>
        </p:txBody>
      </p:sp>
      <p:sp>
        <p:nvSpPr>
          <p:cNvPr id="5" name="Short thesis header"/>
          <p:cNvSpPr txBox="1"/>
          <p:nvPr/>
        </p:nvSpPr>
        <p:spPr>
          <a:xfrm>
            <a:off x="426709" y="2121408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6" name="Short thesis header rule"/>
          <p:cNvSpPr/>
          <p:nvPr/>
        </p:nvSpPr>
        <p:spPr>
          <a:xfrm>
            <a:off x="426709" y="2542032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7" name="Short step 1"/>
          <p:cNvSpPr txBox="1"/>
          <p:nvPr/>
        </p:nvSpPr>
        <p:spPr>
          <a:xfrm>
            <a:off x="731502" y="2724912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400" dirty="0"/>
          </a:p>
        </p:txBody>
      </p:sp>
      <p:sp>
        <p:nvSpPr>
          <p:cNvPr id="8" name="Short arrow 1"/>
          <p:cNvSpPr/>
          <p:nvPr/>
        </p:nvSpPr>
        <p:spPr>
          <a:xfrm>
            <a:off x="3230799" y="3364992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9" name="Short step 2"/>
          <p:cNvSpPr txBox="1"/>
          <p:nvPr/>
        </p:nvSpPr>
        <p:spPr>
          <a:xfrm>
            <a:off x="731502" y="3621024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400" dirty="0"/>
          </a:p>
        </p:txBody>
      </p:sp>
      <p:sp>
        <p:nvSpPr>
          <p:cNvPr id="10" name="Short arrow 2"/>
          <p:cNvSpPr/>
          <p:nvPr/>
        </p:nvSpPr>
        <p:spPr>
          <a:xfrm>
            <a:off x="3230799" y="4261104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1" name="Short step 3"/>
          <p:cNvSpPr txBox="1"/>
          <p:nvPr/>
        </p:nvSpPr>
        <p:spPr>
          <a:xfrm>
            <a:off x="731502" y="4517136"/>
            <a:ext cx="5486263" cy="62179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400" dirty="0"/>
          </a:p>
        </p:txBody>
      </p:sp>
      <p:sp>
        <p:nvSpPr>
          <p:cNvPr id="12" name="Readings header"/>
          <p:cNvSpPr txBox="1"/>
          <p:nvPr/>
        </p:nvSpPr>
        <p:spPr>
          <a:xfrm>
            <a:off x="7010225" y="2121408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3" name="Readings header rule"/>
          <p:cNvSpPr/>
          <p:nvPr/>
        </p:nvSpPr>
        <p:spPr>
          <a:xfrm>
            <a:off x="7010225" y="2542032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anagement reading"/>
          <p:cNvSpPr txBox="1"/>
          <p:nvPr/>
        </p:nvSpPr>
        <p:spPr>
          <a:xfrm>
            <a:off x="7010225" y="2724912"/>
            <a:ext cx="4754761" cy="1133856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Management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→ Temporary: margins recover</a:t>
            </a:r>
            <a:endParaRPr lang="en-US" sz="1400" dirty="0"/>
          </a:p>
        </p:txBody>
      </p:sp>
      <p:sp>
        <p:nvSpPr>
          <p:cNvPr id="15" name="The Bears reading"/>
          <p:cNvSpPr txBox="1"/>
          <p:nvPr/>
        </p:nvSpPr>
        <p:spPr>
          <a:xfrm>
            <a:off x="7010225" y="4023360"/>
            <a:ext cx="4754761" cy="113385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The Bears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→ Structural: margins keep falling</a:t>
            </a:r>
            <a:endParaRPr lang="en-US" sz="1400" dirty="0"/>
          </a:p>
        </p:txBody>
      </p:sp>
      <p:sp>
        <p:nvSpPr>
          <p:cNvPr id="16" name="Readings vs"/>
          <p:cNvSpPr txBox="1"/>
          <p:nvPr/>
        </p:nvSpPr>
        <p:spPr>
          <a:xfrm>
            <a:off x="8960896" y="3849624"/>
            <a:ext cx="8534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+$20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+12%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+23%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+$52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+31%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Today's $167 is roughly our bear case ($172: bear margins and share, no Power).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$20 margins + $38 volume + $52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eled point box"/>
          <p:cNvSpPr/>
          <p:nvPr/>
        </p:nvSpPr>
        <p:spPr>
          <a:xfrm>
            <a:off x="9265688" y="2926080"/>
            <a:ext cx="573010" cy="530352"/>
          </a:xfrm>
          <a:prstGeom prst="roundRect">
            <a:avLst>
              <a:gd name="adj" fmla="val 10345"/>
            </a:avLst>
          </a:prstGeom>
          <a:ln w="28575">
            <a:solidFill>
              <a:srgbClr val="EE6E25"/>
            </a:solidFill>
            <a:prstDash val="solid"/>
          </a:ln>
        </p:spPr>
      </p:sp>
      <p:sp>
        <p:nvSpPr>
          <p:cNvPr id="16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Margins have found their floor and rebuild from here.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bear case is nearly spent: under 8% of cheap leasing stock is left, so ~30% is the floor.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Price catch-up, PMA parts and a late-cycle return of light work rebuild margins over time.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~30% → 32.5%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$876K → $1.14M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EBITDA per module, FY26E → FY31E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+$20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+12%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Margins don't need to recover to the old 35%+ for this thesis to pay.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Speed and capacity win share, with SCI as a contracted floor.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wins on turnaround (5–25 days vs. 120–180) as OEMs pivot to LEAP and independents clog.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 rises from ~12% to 20% by FY30, half its historical pace, using ~70% of announced capacity.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1,193 → 1,687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Modules, FY26E → FY27E (target: 1,700)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~12% → 20%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CFM56 module share, FY26E → FY30E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+$38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+23%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LEAP isn't in our target. Matching CFM56 share on LEAP adds ~35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bridge the market isn't paying for.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grid falls short from 2029 and new turbines are sold out, so mobile units bridge the gap.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signed $1.465B order already covers the $450M low end of FY27 guidance.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$450M → $1.3B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Power EBITDA,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12x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FY27E multiple, below Aerospace's 16x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+$52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+31%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new contracts needed for our target. Each one FTAI signs adds ~20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is that side's share of the $110 upside ($58 + $52)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755885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2218889" y="2797969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+$20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681892" y="2492888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+$38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5144895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+$52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6607899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2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3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5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6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$52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Aviation alone adds $58 a share (+35%). Power's signed order takes it to 66%.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Revenue Build</a:t>
            </a:r>
            <a:endParaRPr lang="en-US" sz="3000" dirty="0"/>
          </a:p>
        </p:txBody>
      </p:sp>
      <p:pic>
        <p:nvPicPr>
          <p:cNvPr id="3" name="RPM revenue build" descr="/home/user/SPOT/deck/img/app_rpm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711" y="1097280"/>
            <a:ext cx="10748274" cy="512064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Revenue build,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Adj. EBITDA Build</a:t>
            </a:r>
            <a:endParaRPr lang="en-US" sz="3000" dirty="0"/>
          </a:p>
        </p:txBody>
      </p:sp>
      <p:pic>
        <p:nvPicPr>
          <p:cNvPr id="3" name="RPM EBITDA build" descr="/home/user/SPOT/deck/img/app_rpm_ebit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097280"/>
            <a:ext cx="11338277" cy="4813419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Adj. EBITDA build,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Trading Comps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On FY26 FTAI screens rich, but on guided FY27 EBITDA it's the cheapest aftermarket name.</a:t>
            </a:r>
            <a:endParaRPr lang="en-US" sz="1700" dirty="0"/>
          </a:p>
        </p:txBody>
      </p:sp>
      <p:sp>
        <p:nvSpPr>
          <p:cNvPr id="4" name="Comps header"/>
          <p:cNvSpPr txBox="1"/>
          <p:nvPr/>
        </p:nvSpPr>
        <p:spPr>
          <a:xfrm>
            <a:off x="426709" y="1554480"/>
            <a:ext cx="75588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Aftermarket &amp; Aviation Peers</a:t>
            </a:r>
            <a:endParaRPr lang="en-US" sz="1600" dirty="0"/>
          </a:p>
        </p:txBody>
      </p:sp>
      <p:sp>
        <p:nvSpPr>
          <p:cNvPr id="5" name="Comps header rule"/>
          <p:cNvSpPr/>
          <p:nvPr/>
        </p:nvSpPr>
        <p:spPr>
          <a:xfrm>
            <a:off x="426709" y="1975104"/>
            <a:ext cx="755885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40" name="Comp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6709" y="2121408"/>
          <a:ext cx="7558851" cy="914400"/>
        </p:xfrm>
        <a:graphic>
          <a:graphicData uri="http://schemas.openxmlformats.org/drawingml/2006/table">
            <a:tbl>
              <a:tblPr/>
              <a:tblGrid>
                <a:gridCol w="2438339"/>
                <a:gridCol w="1219170"/>
                <a:gridCol w="2560256"/>
                <a:gridCol w="1341086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Company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Mkt Cap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EV / EBITDA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Fwd P/E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FTAI at $167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$17.2B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13.3x FY26 / 8.8x FY27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n/m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StandardAero (SARO)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$6.7B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~10x FY26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~16x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AAR (AIR)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$4.1B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~12x LTM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~15x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HEICO (HEI)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$42B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~27x LTM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~45x+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GE Aerospace (GE)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$317B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~36x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AerCap (AER)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$22B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n/m (lessor)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~8x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eer vs header"/>
          <p:cNvSpPr txBox="1"/>
          <p:nvPr/>
        </p:nvSpPr>
        <p:spPr>
          <a:xfrm>
            <a:off x="8351311" y="1554480"/>
            <a:ext cx="34136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vs. Closest Peer</a:t>
            </a:r>
            <a:endParaRPr lang="en-US" sz="1600" dirty="0"/>
          </a:p>
        </p:txBody>
      </p:sp>
      <p:sp>
        <p:nvSpPr>
          <p:cNvPr id="8" name="Peer vs header rule"/>
          <p:cNvSpPr/>
          <p:nvPr/>
        </p:nvSpPr>
        <p:spPr>
          <a:xfrm>
            <a:off x="8351311" y="1975104"/>
            <a:ext cx="341367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9" name="Comp stat 1"/>
          <p:cNvSpPr txBox="1"/>
          <p:nvPr/>
        </p:nvSpPr>
        <p:spPr>
          <a:xfrm>
            <a:off x="8351311" y="2121408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8.8x</a:t>
            </a:r>
            <a:endParaRPr lang="en-US" sz="2800" dirty="0"/>
          </a:p>
        </p:txBody>
      </p:sp>
      <p:sp>
        <p:nvSpPr>
          <p:cNvPr id="10" name="Comp stat 1 label"/>
          <p:cNvSpPr txBox="1"/>
          <p:nvPr/>
        </p:nvSpPr>
        <p:spPr>
          <a:xfrm>
            <a:off x="8351311" y="2615184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FTAI EV / FY27 guided EBITDA ($2.3B)</a:t>
            </a:r>
            <a:endParaRPr lang="en-US" sz="1200" dirty="0"/>
          </a:p>
        </p:txBody>
      </p:sp>
      <p:sp>
        <p:nvSpPr>
          <p:cNvPr id="11" name="Comp stat 2"/>
          <p:cNvSpPr txBox="1"/>
          <p:nvPr/>
        </p:nvSpPr>
        <p:spPr>
          <a:xfrm>
            <a:off x="8351311" y="3200400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1C58"/>
                </a:solidFill>
              </a:rPr>
              <a:t>~10x</a:t>
            </a:r>
            <a:endParaRPr lang="en-US" sz="2800" dirty="0"/>
          </a:p>
        </p:txBody>
      </p:sp>
      <p:sp>
        <p:nvSpPr>
          <p:cNvPr id="12" name="Comp stat 2 label"/>
          <p:cNvSpPr txBox="1"/>
          <p:nvPr/>
        </p:nvSpPr>
        <p:spPr>
          <a:xfrm>
            <a:off x="8351311" y="3694176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StandardAero EV / FY26 EBITDA, the pure-play CFM56 MRO</a:t>
            </a:r>
            <a:endParaRPr lang="en-US" sz="1200" dirty="0"/>
          </a:p>
        </p:txBody>
      </p:sp>
      <p:sp>
        <p:nvSpPr>
          <p:cNvPr id="13" name="Comp stat 3"/>
          <p:cNvSpPr txBox="1"/>
          <p:nvPr/>
        </p:nvSpPr>
        <p:spPr>
          <a:xfrm>
            <a:off x="8351311" y="4279392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+51%</a:t>
            </a:r>
            <a:endParaRPr lang="en-US" sz="2800" dirty="0"/>
          </a:p>
        </p:txBody>
      </p:sp>
      <p:sp>
        <p:nvSpPr>
          <p:cNvPr id="14" name="Comp stat 3 label"/>
          <p:cNvSpPr txBox="1"/>
          <p:nvPr/>
        </p:nvSpPr>
        <p:spPr>
          <a:xfrm>
            <a:off x="8351311" y="4773168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FTAI guided EBITDA growth, FY26 → FY27</a:t>
            </a:r>
            <a:endParaRPr lang="en-US" sz="12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paying a peer multiple for FY26 and getting FY27's growth for free.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Prices Oct-26; FTAI net debt $3.1B (6/30/26), excl. preferred; FTAI FY26–27 guidance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Gas Turbine Pricing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New gas capacity costs ~3x what it did in 2022, and the OEMs are still raising prices.</a:t>
            </a:r>
            <a:endParaRPr lang="en-US" sz="1700" dirty="0"/>
          </a:p>
        </p:txBody>
      </p:sp>
      <p:sp>
        <p:nvSpPr>
          <p:cNvPr id="4" name="Build cost header"/>
          <p:cNvSpPr txBox="1"/>
          <p:nvPr/>
        </p:nvSpPr>
        <p:spPr>
          <a:xfrm>
            <a:off x="426709" y="1554480"/>
            <a:ext cx="64615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Combined-Cycle Build Cost ($/kW)</a:t>
            </a:r>
            <a:endParaRPr lang="en-US" sz="1600" dirty="0"/>
          </a:p>
        </p:txBody>
      </p:sp>
      <p:sp>
        <p:nvSpPr>
          <p:cNvPr id="5" name="Build cost header rule"/>
          <p:cNvSpPr/>
          <p:nvPr/>
        </p:nvSpPr>
        <p:spPr>
          <a:xfrm>
            <a:off x="426709" y="1975104"/>
            <a:ext cx="646159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Cost bar 1"/>
          <p:cNvSpPr/>
          <p:nvPr/>
        </p:nvSpPr>
        <p:spPr>
          <a:xfrm>
            <a:off x="755885" y="3717798"/>
            <a:ext cx="950952" cy="59817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7" name="Cost label 1"/>
          <p:cNvSpPr txBox="1"/>
          <p:nvPr/>
        </p:nvSpPr>
        <p:spPr>
          <a:xfrm>
            <a:off x="451093" y="340690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$785</a:t>
            </a:r>
            <a:endParaRPr lang="en-US" sz="1400" dirty="0"/>
          </a:p>
        </p:txBody>
      </p:sp>
      <p:sp>
        <p:nvSpPr>
          <p:cNvPr id="8" name="Cost cat 1"/>
          <p:cNvSpPr txBox="1"/>
          <p:nvPr/>
        </p:nvSpPr>
        <p:spPr>
          <a:xfrm>
            <a:off x="45109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2022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last plant</a:t>
            </a:r>
            <a:endParaRPr lang="en-US" sz="1300" dirty="0"/>
          </a:p>
        </p:txBody>
      </p:sp>
      <p:sp>
        <p:nvSpPr>
          <p:cNvPr id="9" name="Cost bar 2"/>
          <p:cNvSpPr/>
          <p:nvPr/>
        </p:nvSpPr>
        <p:spPr>
          <a:xfrm>
            <a:off x="2304230" y="3172968"/>
            <a:ext cx="950952" cy="114300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10" name="Cost label 2"/>
          <p:cNvSpPr txBox="1"/>
          <p:nvPr/>
        </p:nvSpPr>
        <p:spPr>
          <a:xfrm>
            <a:off x="1999438" y="28620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~$1,500</a:t>
            </a:r>
            <a:endParaRPr lang="en-US" sz="1400" dirty="0"/>
          </a:p>
        </p:txBody>
      </p:sp>
      <p:sp>
        <p:nvSpPr>
          <p:cNvPr id="11" name="Cost cat 2"/>
          <p:cNvSpPr txBox="1"/>
          <p:nvPr/>
        </p:nvSpPr>
        <p:spPr>
          <a:xfrm>
            <a:off x="1999438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2023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2" name="Cost bar 3"/>
          <p:cNvSpPr/>
          <p:nvPr/>
        </p:nvSpPr>
        <p:spPr>
          <a:xfrm>
            <a:off x="3852576" y="2672334"/>
            <a:ext cx="950952" cy="1643634"/>
          </a:xfrm>
          <a:prstGeom prst="rect">
            <a:avLst/>
          </a:prstGeom>
          <a:solidFill>
            <a:srgbClr val="0A1C58"/>
          </a:solidFill>
          <a:ln w="12700">
            <a:solidFill>
              <a:srgbClr val="0A1C58"/>
            </a:solidFill>
            <a:prstDash val="solid"/>
          </a:ln>
        </p:spPr>
      </p:sp>
      <p:sp>
        <p:nvSpPr>
          <p:cNvPr id="13" name="Cost label 3"/>
          <p:cNvSpPr txBox="1"/>
          <p:nvPr/>
        </p:nvSpPr>
        <p:spPr>
          <a:xfrm>
            <a:off x="3547783" y="2361438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$2,157</a:t>
            </a:r>
            <a:endParaRPr lang="en-US" sz="1400" dirty="0"/>
          </a:p>
        </p:txBody>
      </p:sp>
      <p:sp>
        <p:nvSpPr>
          <p:cNvPr id="14" name="Cost cat 3"/>
          <p:cNvSpPr txBox="1"/>
          <p:nvPr/>
        </p:nvSpPr>
        <p:spPr>
          <a:xfrm>
            <a:off x="354778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5" name="Cost bar 4"/>
          <p:cNvSpPr/>
          <p:nvPr/>
        </p:nvSpPr>
        <p:spPr>
          <a:xfrm>
            <a:off x="5400921" y="2487168"/>
            <a:ext cx="950952" cy="1828800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16" name="Cost label 4"/>
          <p:cNvSpPr txBox="1"/>
          <p:nvPr/>
        </p:nvSpPr>
        <p:spPr>
          <a:xfrm>
            <a:off x="5096129" y="21762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6E25"/>
                </a:solidFill>
              </a:rPr>
              <a:t>$2,400</a:t>
            </a:r>
            <a:endParaRPr lang="en-US" sz="1400" dirty="0"/>
          </a:p>
        </p:txBody>
      </p:sp>
      <p:sp>
        <p:nvSpPr>
          <p:cNvPr id="17" name="Cost cat 4"/>
          <p:cNvSpPr txBox="1"/>
          <p:nvPr/>
        </p:nvSpPr>
        <p:spPr>
          <a:xfrm>
            <a:off x="5096129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same plant</a:t>
            </a:r>
            <a:endParaRPr lang="en-US" sz="1300" dirty="0"/>
          </a:p>
        </p:txBody>
      </p:sp>
      <p:sp>
        <p:nvSpPr>
          <p:cNvPr id="18" name="Cost baseline"/>
          <p:cNvSpPr/>
          <p:nvPr/>
        </p:nvSpPr>
        <p:spPr>
          <a:xfrm>
            <a:off x="548626" y="4315968"/>
            <a:ext cx="6217765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9" name="Cost multiple"/>
          <p:cNvSpPr txBox="1"/>
          <p:nvPr/>
        </p:nvSpPr>
        <p:spPr>
          <a:xfrm>
            <a:off x="1036294" y="2103120"/>
            <a:ext cx="12191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~3x</a:t>
            </a:r>
            <a:endParaRPr lang="en-US" sz="1800" dirty="0"/>
          </a:p>
        </p:txBody>
      </p:sp>
      <p:sp>
        <p:nvSpPr>
          <p:cNvPr id="20" name="Cost arrow"/>
          <p:cNvSpPr/>
          <p:nvPr/>
        </p:nvSpPr>
        <p:spPr>
          <a:xfrm flipV="1">
            <a:off x="1341086" y="2194560"/>
            <a:ext cx="2133547" cy="502920"/>
          </a:xfrm>
          <a:prstGeom prst="line">
            <a:avLst/>
          </a:prstGeom>
          <a:noFill/>
          <a:ln w="2540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21" name="Equipment callout"/>
          <p:cNvSpPr txBox="1"/>
          <p:nvPr/>
        </p:nvSpPr>
        <p:spPr>
          <a:xfrm>
            <a:off x="426709" y="4919472"/>
            <a:ext cx="6461598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Turbine equipment alone: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~$200/kW (2019) → $600/kW (2027E), +195%</a:t>
            </a:r>
            <a:endParaRPr lang="en-US" sz="1300" dirty="0"/>
          </a:p>
        </p:txBody>
      </p:sp>
      <p:sp>
        <p:nvSpPr>
          <p:cNvPr id="22" name="OEM header"/>
          <p:cNvSpPr txBox="1"/>
          <p:nvPr/>
        </p:nvSpPr>
        <p:spPr>
          <a:xfrm>
            <a:off x="7254059" y="1554480"/>
            <a:ext cx="45109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the OEMs Are Saying</a:t>
            </a:r>
            <a:endParaRPr lang="en-US" sz="1600" dirty="0"/>
          </a:p>
        </p:txBody>
      </p:sp>
      <p:sp>
        <p:nvSpPr>
          <p:cNvPr id="23" name="OEM header rule"/>
          <p:cNvSpPr/>
          <p:nvPr/>
        </p:nvSpPr>
        <p:spPr>
          <a:xfrm>
            <a:off x="7254059" y="1975104"/>
            <a:ext cx="451092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4" name="GE Vernova accent"/>
          <p:cNvSpPr/>
          <p:nvPr/>
        </p:nvSpPr>
        <p:spPr>
          <a:xfrm>
            <a:off x="7254059" y="2103120"/>
            <a:ext cx="85342" cy="950976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25" name="GE Vernova card"/>
          <p:cNvSpPr txBox="1"/>
          <p:nvPr/>
        </p:nvSpPr>
        <p:spPr>
          <a:xfrm>
            <a:off x="7436934" y="2103120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GE Vernova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1H26 orders priced 10–20 pts higher per kW than 4Q25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Slots sold into 2031; reservation fees up to $25M</a:t>
            </a:r>
            <a:endParaRPr lang="en-US" sz="1400" dirty="0"/>
          </a:p>
        </p:txBody>
      </p:sp>
      <p:sp>
        <p:nvSpPr>
          <p:cNvPr id="26" name="Siemens Energy accent"/>
          <p:cNvSpPr/>
          <p:nvPr/>
        </p:nvSpPr>
        <p:spPr>
          <a:xfrm>
            <a:off x="7254059" y="3182112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7" name="Siemens Energy card"/>
          <p:cNvSpPr txBox="1"/>
          <p:nvPr/>
        </p:nvSpPr>
        <p:spPr>
          <a:xfrm>
            <a:off x="7436934" y="3182112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Siemens Energy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New-unit margins “improved significantly” vs. backlog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69 GW gas backlog; 3+ year lead times</a:t>
            </a:r>
            <a:endParaRPr lang="en-US" sz="1400" dirty="0"/>
          </a:p>
        </p:txBody>
      </p:sp>
      <p:sp>
        <p:nvSpPr>
          <p:cNvPr id="28" name="Mitsubishi accent"/>
          <p:cNvSpPr/>
          <p:nvPr/>
        </p:nvSpPr>
        <p:spPr>
          <a:xfrm>
            <a:off x="7254059" y="4261104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9" name="Mitsubishi card"/>
          <p:cNvSpPr txBox="1"/>
          <p:nvPr/>
        </p:nvSpPr>
        <p:spPr>
          <a:xfrm>
            <a:off x="7436934" y="4261104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Mitsubishi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“Improving profitability on new orders”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Large-frame backlog 23 → 35 GW in a year</a:t>
            </a:r>
            <a:endParaRPr lang="en-US" sz="1400" dirty="0"/>
          </a:p>
        </p:txBody>
      </p:sp>
      <p:sp>
        <p:nvSpPr>
          <p:cNvPr id="3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New turbine capacity is scarce and getting pricier. That's the market FTAI Power sells into.</a:t>
            </a:r>
            <a:endParaRPr lang="en-US" sz="1700" dirty="0"/>
          </a:p>
        </p:txBody>
      </p:sp>
      <p:sp>
        <p:nvSpPr>
          <p:cNvPr id="3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Wood Mackenzie; BNEF; NextEra (CERAWeek '25); GE Vernova Q1'26; Siemens Energy Q2–Q3 FY26; MHI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Short Report Claims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20 months on: no restatement, no regulator action, and EBITDA has kept growing.</a:t>
            </a:r>
            <a:endParaRPr lang="en-US" sz="1700" dirty="0"/>
          </a:p>
        </p:txBody>
      </p:sp>
      <p:sp>
        <p:nvSpPr>
          <p:cNvPr id="4" name="Claim header"/>
          <p:cNvSpPr txBox="1"/>
          <p:nvPr/>
        </p:nvSpPr>
        <p:spPr>
          <a:xfrm>
            <a:off x="426709" y="1536192"/>
            <a:ext cx="34746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Claim</a:t>
            </a:r>
            <a:endParaRPr lang="en-US" sz="1300" dirty="0"/>
          </a:p>
        </p:txBody>
      </p:sp>
      <p:sp>
        <p:nvSpPr>
          <p:cNvPr id="5" name="FTAI&amp;apos;s Response header"/>
          <p:cNvSpPr txBox="1"/>
          <p:nvPr/>
        </p:nvSpPr>
        <p:spPr>
          <a:xfrm>
            <a:off x="4023259" y="1536192"/>
            <a:ext cx="3108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FTAI's Response</a:t>
            </a:r>
            <a:endParaRPr lang="en-US" sz="1300" dirty="0"/>
          </a:p>
        </p:txBody>
      </p:sp>
      <p:sp>
        <p:nvSpPr>
          <p:cNvPr id="6" name="What Happened Since header"/>
          <p:cNvSpPr txBox="1"/>
          <p:nvPr/>
        </p:nvSpPr>
        <p:spPr>
          <a:xfrm>
            <a:off x="7254059" y="1536192"/>
            <a:ext cx="3108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What Happened Since</a:t>
            </a:r>
            <a:endParaRPr lang="en-US" sz="1300" dirty="0"/>
          </a:p>
        </p:txBody>
      </p:sp>
      <p:sp>
        <p:nvSpPr>
          <p:cNvPr id="7" name="Our Read header"/>
          <p:cNvSpPr txBox="1"/>
          <p:nvPr/>
        </p:nvSpPr>
        <p:spPr>
          <a:xfrm>
            <a:off x="10484858" y="1536192"/>
            <a:ext cx="128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Our Read</a:t>
            </a:r>
            <a:endParaRPr lang="en-US" sz="1300" dirty="0"/>
          </a:p>
        </p:txBody>
      </p:sp>
      <p:sp>
        <p:nvSpPr>
          <p:cNvPr id="8" name="Claims rule"/>
          <p:cNvSpPr/>
          <p:nvPr/>
        </p:nvSpPr>
        <p:spPr>
          <a:xfrm>
            <a:off x="426709" y="1828800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9" name="Claim 1"/>
          <p:cNvSpPr txBox="1"/>
          <p:nvPr/>
        </p:nvSpPr>
        <p:spPr>
          <a:xfrm>
            <a:off x="426709" y="190195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~80% of Aerospace EBITDA is whole-engine sales dressed up as module / MRO revenue</a:t>
            </a:r>
            <a:endParaRPr lang="en-US" sz="1100" dirty="0"/>
          </a:p>
        </p:txBody>
      </p:sp>
      <p:sp>
        <p:nvSpPr>
          <p:cNvPr id="10" name="Response 1"/>
          <p:cNvSpPr txBox="1"/>
          <p:nvPr/>
        </p:nvSpPr>
        <p:spPr>
          <a:xfrm>
            <a:off x="4023259" y="190195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Audit Committee review with outside forensic accountants: “without merit” (Feb-25)</a:t>
            </a:r>
            <a:endParaRPr lang="en-US" sz="1100" dirty="0"/>
          </a:p>
        </p:txBody>
      </p:sp>
      <p:sp>
        <p:nvSpPr>
          <p:cNvPr id="11" name="Since 1"/>
          <p:cNvSpPr txBox="1"/>
          <p:nvPr/>
        </p:nvSpPr>
        <p:spPr>
          <a:xfrm>
            <a:off x="7254059" y="190195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Aerospace EBITDA $381M (FY24) → $671M (FY25) → ~$1.05B FY26 guide</a:t>
            </a:r>
            <a:endParaRPr lang="en-US" sz="1100" dirty="0"/>
          </a:p>
        </p:txBody>
      </p:sp>
      <p:sp>
        <p:nvSpPr>
          <p:cNvPr id="12" name="Read 1"/>
          <p:cNvSpPr txBox="1"/>
          <p:nvPr/>
        </p:nvSpPr>
        <p:spPr>
          <a:xfrm>
            <a:off x="10484858" y="1901952"/>
            <a:ext cx="1280128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Rejected</a:t>
            </a:r>
            <a:endParaRPr lang="en-US" sz="1100" dirty="0"/>
          </a:p>
        </p:txBody>
      </p:sp>
      <p:sp>
        <p:nvSpPr>
          <p:cNvPr id="13" name="Claim 2"/>
          <p:cNvSpPr txBox="1"/>
          <p:nvPr/>
        </p:nvSpPr>
        <p:spPr>
          <a:xfrm>
            <a:off x="426709" y="263347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Fast leasing depreciation moves cheap engines into Aerospace and flatters margins</a:t>
            </a:r>
            <a:endParaRPr lang="en-US" sz="1100" dirty="0"/>
          </a:p>
        </p:txBody>
      </p:sp>
      <p:sp>
        <p:nvSpPr>
          <p:cNvPr id="14" name="Response 2"/>
          <p:cNvSpPr txBox="1"/>
          <p:nvPr/>
        </p:nvSpPr>
        <p:spPr>
          <a:xfrm>
            <a:off x="4023259" y="263347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Policy unchanged since the 2015 IPO; GAAP, in line with lessor peers</a:t>
            </a:r>
            <a:endParaRPr lang="en-US" sz="1100" dirty="0"/>
          </a:p>
        </p:txBody>
      </p:sp>
      <p:sp>
        <p:nvSpPr>
          <p:cNvPr id="15" name="Since 2"/>
          <p:cNvSpPr txBox="1"/>
          <p:nvPr/>
        </p:nvSpPr>
        <p:spPr>
          <a:xfrm>
            <a:off x="7254059" y="263347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Cheap stock ran out and margins reset to ~30%. Our floor assumes none left</a:t>
            </a:r>
            <a:endParaRPr lang="en-US" sz="1100" dirty="0"/>
          </a:p>
        </p:txBody>
      </p:sp>
      <p:sp>
        <p:nvSpPr>
          <p:cNvPr id="16" name="Read 2"/>
          <p:cNvSpPr txBox="1"/>
          <p:nvPr/>
        </p:nvSpPr>
        <p:spPr>
          <a:xfrm>
            <a:off x="10484858" y="2633472"/>
            <a:ext cx="1280128" cy="658368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Partly right, priced in</a:t>
            </a:r>
            <a:endParaRPr lang="en-US" sz="1100" dirty="0"/>
          </a:p>
        </p:txBody>
      </p:sp>
      <p:sp>
        <p:nvSpPr>
          <p:cNvPr id="17" name="Claim 3"/>
          <p:cNvSpPr txBox="1"/>
          <p:nvPr/>
        </p:nvSpPr>
        <p:spPr>
          <a:xfrm>
            <a:off x="426709" y="336499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Iran: FTAI-packaged CFM56 engines seen at a Tehran shop (Mar-25)</a:t>
            </a:r>
            <a:endParaRPr lang="en-US" sz="1100" dirty="0"/>
          </a:p>
        </p:txBody>
      </p:sp>
      <p:sp>
        <p:nvSpPr>
          <p:cNvPr id="18" name="Response 3"/>
          <p:cNvSpPr txBox="1"/>
          <p:nvPr/>
        </p:nvSpPr>
        <p:spPr>
          <a:xfrm>
            <a:off x="4023259" y="336499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No public comment</a:t>
            </a:r>
            <a:endParaRPr lang="en-US" sz="1100" dirty="0"/>
          </a:p>
        </p:txBody>
      </p:sp>
      <p:sp>
        <p:nvSpPr>
          <p:cNvPr id="19" name="Since 3"/>
          <p:cNvSpPr txBox="1"/>
          <p:nvPr/>
        </p:nvSpPr>
        <p:spPr>
          <a:xfrm>
            <a:off x="7254059" y="336499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No OFAC action or disclosed inquiry</a:t>
            </a:r>
            <a:endParaRPr lang="en-US" sz="1100" dirty="0"/>
          </a:p>
        </p:txBody>
      </p:sp>
      <p:sp>
        <p:nvSpPr>
          <p:cNvPr id="20" name="Read 3"/>
          <p:cNvSpPr txBox="1"/>
          <p:nvPr/>
        </p:nvSpPr>
        <p:spPr>
          <a:xfrm>
            <a:off x="10484858" y="3364992"/>
            <a:ext cx="1280128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 follow-through</a:t>
            </a:r>
            <a:endParaRPr lang="en-US" sz="1100" dirty="0"/>
          </a:p>
        </p:txBody>
      </p:sp>
      <p:sp>
        <p:nvSpPr>
          <p:cNvPr id="21" name="Claim 4"/>
          <p:cNvSpPr txBox="1"/>
          <p:nvPr/>
        </p:nvSpPr>
        <p:spPr>
          <a:xfrm>
            <a:off x="426709" y="409651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EBITDA isn't cash (Snowcap)</a:t>
            </a:r>
            <a:endParaRPr lang="en-US" sz="1100" dirty="0"/>
          </a:p>
        </p:txBody>
      </p:sp>
      <p:sp>
        <p:nvSpPr>
          <p:cNvPr id="22" name="Response 4"/>
          <p:cNvSpPr txBox="1"/>
          <p:nvPr/>
        </p:nvSpPr>
        <p:spPr>
          <a:xfrm>
            <a:off x="4023259" y="409651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Adjusted FCF guidance: $878M for FY26</a:t>
            </a:r>
            <a:endParaRPr lang="en-US" sz="1100" dirty="0"/>
          </a:p>
        </p:txBody>
      </p:sp>
      <p:sp>
        <p:nvSpPr>
          <p:cNvPr id="23" name="Since 4"/>
          <p:cNvSpPr txBox="1"/>
          <p:nvPr/>
        </p:nvSpPr>
        <p:spPr>
          <a:xfrm>
            <a:off x="7254059" y="409651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GAAP operating cash flow still weighed down by inventory build</a:t>
            </a:r>
            <a:endParaRPr lang="en-US" sz="1100" dirty="0"/>
          </a:p>
        </p:txBody>
      </p:sp>
      <p:sp>
        <p:nvSpPr>
          <p:cNvPr id="24" name="Read 4"/>
          <p:cNvSpPr txBox="1"/>
          <p:nvPr/>
        </p:nvSpPr>
        <p:spPr>
          <a:xfrm>
            <a:off x="10484858" y="4096512"/>
            <a:ext cx="1280128" cy="658368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Open: watch</a:t>
            </a:r>
            <a:endParaRPr lang="en-US" sz="1100" dirty="0"/>
          </a:p>
        </p:txBody>
      </p:sp>
      <p:sp>
        <p:nvSpPr>
          <p:cNvPr id="25" name="Also since"/>
          <p:cNvSpPr txBox="1"/>
          <p:nvPr/>
        </p:nvSpPr>
        <p:spPr>
          <a:xfrm>
            <a:off x="426709" y="4901184"/>
            <a:ext cx="11338277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Also since: </a:t>
            </a:r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10-K filed on time · auditor moved EY → KPMG, no disagreements · class action at motion-to-dismiss · no SEC action disclosed</a:t>
            </a:r>
            <a:endParaRPr lang="en-US" sz="1200" dirty="0"/>
          </a:p>
        </p:txBody>
      </p:sp>
      <p:sp>
        <p:nvSpPr>
          <p:cNvPr id="2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one real point, cheap stock flattering margins, is already in our numbers.</a:t>
            </a:r>
            <a:endParaRPr lang="en-US" sz="1700" dirty="0"/>
          </a:p>
        </p:txBody>
      </p:sp>
      <p:sp>
        <p:nvSpPr>
          <p:cNvPr id="2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(Jan-25, Mar-25); Snowcap (Jan-25); FTAI releases, 10-K, 8-Ks; Shannahan v. FTAI (S.D.N.Y.)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Management &amp; Turnover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CEO stayed, and most changes since the report are internal promotions.</a:t>
            </a:r>
            <a:endParaRPr lang="en-US" sz="1700" dirty="0"/>
          </a:p>
        </p:txBody>
      </p:sp>
      <p:sp>
        <p:nvSpPr>
          <p:cNvPr id="4" name="Date header"/>
          <p:cNvSpPr txBox="1"/>
          <p:nvPr/>
        </p:nvSpPr>
        <p:spPr>
          <a:xfrm>
            <a:off x="426709" y="1536192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Date</a:t>
            </a:r>
            <a:endParaRPr lang="en-US" sz="1300" dirty="0"/>
          </a:p>
        </p:txBody>
      </p:sp>
      <p:sp>
        <p:nvSpPr>
          <p:cNvPr id="5" name="Change header"/>
          <p:cNvSpPr txBox="1"/>
          <p:nvPr/>
        </p:nvSpPr>
        <p:spPr>
          <a:xfrm>
            <a:off x="1767796" y="1536192"/>
            <a:ext cx="6461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Change</a:t>
            </a:r>
            <a:endParaRPr lang="en-US" sz="1300" dirty="0"/>
          </a:p>
        </p:txBody>
      </p:sp>
      <p:sp>
        <p:nvSpPr>
          <p:cNvPr id="6" name="Read header"/>
          <p:cNvSpPr txBox="1"/>
          <p:nvPr/>
        </p:nvSpPr>
        <p:spPr>
          <a:xfrm>
            <a:off x="8412270" y="1536192"/>
            <a:ext cx="3352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Our Read</a:t>
            </a:r>
            <a:endParaRPr lang="en-US" sz="1300" dirty="0"/>
          </a:p>
        </p:txBody>
      </p:sp>
      <p:sp>
        <p:nvSpPr>
          <p:cNvPr id="7" name="Header rule"/>
          <p:cNvSpPr/>
          <p:nvPr/>
        </p:nvSpPr>
        <p:spPr>
          <a:xfrm>
            <a:off x="426709" y="1828800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8" name="Date 1"/>
          <p:cNvSpPr txBox="1"/>
          <p:nvPr/>
        </p:nvSpPr>
        <p:spPr>
          <a:xfrm>
            <a:off x="426709" y="1901952"/>
            <a:ext cx="1158211" cy="438912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Jan-25</a:t>
            </a:r>
            <a:endParaRPr lang="en-US" sz="1300" dirty="0"/>
          </a:p>
        </p:txBody>
      </p:sp>
      <p:sp>
        <p:nvSpPr>
          <p:cNvPr id="9" name="Change 1"/>
          <p:cNvSpPr txBox="1"/>
          <p:nvPr/>
        </p:nvSpPr>
        <p:spPr>
          <a:xfrm>
            <a:off x="1767796" y="1901952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Muddy Waters publishes its short report</a:t>
            </a:r>
            <a:endParaRPr lang="en-US" sz="1200" dirty="0"/>
          </a:p>
        </p:txBody>
      </p:sp>
      <p:sp>
        <p:nvSpPr>
          <p:cNvPr id="10" name="Read 1"/>
          <p:cNvSpPr txBox="1"/>
          <p:nvPr/>
        </p:nvSpPr>
        <p:spPr>
          <a:xfrm>
            <a:off x="8412270" y="1901952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6E25"/>
                </a:solidFill>
              </a:rPr>
              <a:t>The starting point</a:t>
            </a:r>
            <a:endParaRPr lang="en-US" sz="1200" dirty="0"/>
          </a:p>
        </p:txBody>
      </p:sp>
      <p:sp>
        <p:nvSpPr>
          <p:cNvPr id="11" name="Row rule 1"/>
          <p:cNvSpPr/>
          <p:nvPr/>
        </p:nvSpPr>
        <p:spPr>
          <a:xfrm>
            <a:off x="1767796" y="2372868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12" name="Date 2"/>
          <p:cNvSpPr txBox="1"/>
          <p:nvPr/>
        </p:nvSpPr>
        <p:spPr>
          <a:xfrm>
            <a:off x="426709" y="2409444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May-25</a:t>
            </a:r>
            <a:endParaRPr lang="en-US" sz="1300" dirty="0"/>
          </a:p>
        </p:txBody>
      </p:sp>
      <p:sp>
        <p:nvSpPr>
          <p:cNvPr id="13" name="Change 2"/>
          <p:cNvSpPr txBox="1"/>
          <p:nvPr/>
        </p:nvSpPr>
        <p:spPr>
          <a:xfrm>
            <a:off x="1767796" y="2409444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Shyam Gidumal joins the board as an independent director on the Audit Committee; Judith Hannaway named lead independent director</a:t>
            </a:r>
            <a:endParaRPr lang="en-US" sz="1200" dirty="0"/>
          </a:p>
        </p:txBody>
      </p:sp>
      <p:sp>
        <p:nvSpPr>
          <p:cNvPr id="14" name="Read 2"/>
          <p:cNvSpPr txBox="1"/>
          <p:nvPr/>
        </p:nvSpPr>
        <p:spPr>
          <a:xfrm>
            <a:off x="8412270" y="2409444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More independent oversight</a:t>
            </a:r>
            <a:endParaRPr lang="en-US" sz="1200" dirty="0"/>
          </a:p>
        </p:txBody>
      </p:sp>
      <p:sp>
        <p:nvSpPr>
          <p:cNvPr id="15" name="Row rule 2"/>
          <p:cNvSpPr/>
          <p:nvPr/>
        </p:nvSpPr>
        <p:spPr>
          <a:xfrm>
            <a:off x="1767796" y="2880360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16" name="Date 3"/>
          <p:cNvSpPr txBox="1"/>
          <p:nvPr/>
        </p:nvSpPr>
        <p:spPr>
          <a:xfrm>
            <a:off x="426709" y="2916936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May-25</a:t>
            </a:r>
            <a:endParaRPr lang="en-US" sz="1300" dirty="0"/>
          </a:p>
        </p:txBody>
      </p:sp>
      <p:sp>
        <p:nvSpPr>
          <p:cNvPr id="17" name="Change 3"/>
          <p:cNvSpPr txBox="1"/>
          <p:nvPr/>
        </p:nvSpPr>
        <p:spPr>
          <a:xfrm>
            <a:off x="1767796" y="2916936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CEO Joe Adams and COO David Moreno buy shares on the open market</a:t>
            </a:r>
            <a:endParaRPr lang="en-US" sz="1200" dirty="0"/>
          </a:p>
        </p:txBody>
      </p:sp>
      <p:sp>
        <p:nvSpPr>
          <p:cNvPr id="18" name="Read 3"/>
          <p:cNvSpPr txBox="1"/>
          <p:nvPr/>
        </p:nvSpPr>
        <p:spPr>
          <a:xfrm>
            <a:off x="8412270" y="2916936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Insiders buying, not selling</a:t>
            </a:r>
            <a:endParaRPr lang="en-US" sz="1200" dirty="0"/>
          </a:p>
        </p:txBody>
      </p:sp>
      <p:sp>
        <p:nvSpPr>
          <p:cNvPr id="19" name="Row rule 3"/>
          <p:cNvSpPr/>
          <p:nvPr/>
        </p:nvSpPr>
        <p:spPr>
          <a:xfrm>
            <a:off x="1767796" y="3387852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0" name="Date 4"/>
          <p:cNvSpPr txBox="1"/>
          <p:nvPr/>
        </p:nvSpPr>
        <p:spPr>
          <a:xfrm>
            <a:off x="426709" y="3424428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Jun-25</a:t>
            </a:r>
            <a:endParaRPr lang="en-US" sz="1300" dirty="0"/>
          </a:p>
        </p:txBody>
      </p:sp>
      <p:sp>
        <p:nvSpPr>
          <p:cNvPr id="21" name="Change 4"/>
          <p:cNvSpPr txBox="1"/>
          <p:nvPr/>
        </p:nvSpPr>
        <p:spPr>
          <a:xfrm>
            <a:off x="1767796" y="3424428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Auditor changed from EY (since 2016) to KPMG</a:t>
            </a:r>
            <a:endParaRPr lang="en-US" sz="1200" dirty="0"/>
          </a:p>
        </p:txBody>
      </p:sp>
      <p:sp>
        <p:nvSpPr>
          <p:cNvPr id="22" name="Read 4"/>
          <p:cNvSpPr txBox="1"/>
          <p:nvPr/>
        </p:nvSpPr>
        <p:spPr>
          <a:xfrm>
            <a:off x="8412270" y="3424428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8-K: no disagreements or reportable events</a:t>
            </a:r>
            <a:endParaRPr lang="en-US" sz="1200" dirty="0"/>
          </a:p>
        </p:txBody>
      </p:sp>
      <p:sp>
        <p:nvSpPr>
          <p:cNvPr id="23" name="Row rule 4"/>
          <p:cNvSpPr/>
          <p:nvPr/>
        </p:nvSpPr>
        <p:spPr>
          <a:xfrm>
            <a:off x="1767796" y="3895344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4" name="Date 5"/>
          <p:cNvSpPr txBox="1"/>
          <p:nvPr/>
        </p:nvSpPr>
        <p:spPr>
          <a:xfrm>
            <a:off x="426709" y="3931920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Feb-26</a:t>
            </a:r>
            <a:endParaRPr lang="en-US" sz="1300" dirty="0"/>
          </a:p>
        </p:txBody>
      </p:sp>
      <p:sp>
        <p:nvSpPr>
          <p:cNvPr id="25" name="Change 5"/>
          <p:cNvSpPr txBox="1"/>
          <p:nvPr/>
        </p:nvSpPr>
        <p:spPr>
          <a:xfrm>
            <a:off x="1767796" y="3931920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David Moreno promoted to President; Stacy Kuperus promoted to COO</a:t>
            </a:r>
            <a:endParaRPr lang="en-US" sz="1200" dirty="0"/>
          </a:p>
        </p:txBody>
      </p:sp>
      <p:sp>
        <p:nvSpPr>
          <p:cNvPr id="26" name="Read 5"/>
          <p:cNvSpPr txBox="1"/>
          <p:nvPr/>
        </p:nvSpPr>
        <p:spPr>
          <a:xfrm>
            <a:off x="8412270" y="3931920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Promotions from within</a:t>
            </a:r>
            <a:endParaRPr lang="en-US" sz="1200" dirty="0"/>
          </a:p>
        </p:txBody>
      </p:sp>
      <p:sp>
        <p:nvSpPr>
          <p:cNvPr id="27" name="Row rule 5"/>
          <p:cNvSpPr/>
          <p:nvPr/>
        </p:nvSpPr>
        <p:spPr>
          <a:xfrm>
            <a:off x="1767796" y="4402836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8" name="Date 6"/>
          <p:cNvSpPr txBox="1"/>
          <p:nvPr/>
        </p:nvSpPr>
        <p:spPr>
          <a:xfrm>
            <a:off x="426709" y="4439412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Mar-26</a:t>
            </a:r>
            <a:endParaRPr lang="en-US" sz="1300" dirty="0"/>
          </a:p>
        </p:txBody>
      </p:sp>
      <p:sp>
        <p:nvSpPr>
          <p:cNvPr id="29" name="Change 6"/>
          <p:cNvSpPr txBox="1"/>
          <p:nvPr/>
        </p:nvSpPr>
        <p:spPr>
          <a:xfrm>
            <a:off x="1767796" y="4439412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CFO Angela Nam leaves after 12 years for a public company outside aviation; Nicholas McAleese (CFO) and Michael Hazan (CAO) promoted</a:t>
            </a:r>
            <a:endParaRPr lang="en-US" sz="1200" dirty="0"/>
          </a:p>
        </p:txBody>
      </p:sp>
      <p:sp>
        <p:nvSpPr>
          <p:cNvPr id="30" name="Read 6"/>
          <p:cNvSpPr txBox="1"/>
          <p:nvPr/>
        </p:nvSpPr>
        <p:spPr>
          <a:xfrm>
            <a:off x="8412270" y="4439412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8-K: not related to any accounting issue or disagreement</a:t>
            </a:r>
            <a:endParaRPr lang="en-US" sz="1200" dirty="0"/>
          </a:p>
        </p:txBody>
      </p:sp>
      <p:sp>
        <p:nvSpPr>
          <p:cNvPr id="31" name="Row rule 6"/>
          <p:cNvSpPr/>
          <p:nvPr/>
        </p:nvSpPr>
        <p:spPr>
          <a:xfrm>
            <a:off x="1767796" y="4910328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32" name="Date 7"/>
          <p:cNvSpPr txBox="1"/>
          <p:nvPr/>
        </p:nvSpPr>
        <p:spPr>
          <a:xfrm>
            <a:off x="426709" y="4946904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Aug-26</a:t>
            </a:r>
            <a:endParaRPr lang="en-US" sz="1300" dirty="0"/>
          </a:p>
        </p:txBody>
      </p:sp>
      <p:sp>
        <p:nvSpPr>
          <p:cNvPr id="33" name="Change 7"/>
          <p:cNvSpPr txBox="1"/>
          <p:nvPr/>
        </p:nvSpPr>
        <p:spPr>
          <a:xfrm>
            <a:off x="1767796" y="4946904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Head of IR Alan Andreini leaves after 10+ years; Charlie Arestia hired from CION</a:t>
            </a:r>
            <a:endParaRPr lang="en-US" sz="1200" dirty="0"/>
          </a:p>
        </p:txBody>
      </p:sp>
      <p:sp>
        <p:nvSpPr>
          <p:cNvPr id="34" name="Read 7"/>
          <p:cNvSpPr txBox="1"/>
          <p:nvPr/>
        </p:nvSpPr>
        <p:spPr>
          <a:xfrm>
            <a:off x="8412270" y="4946904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Routine succession</a:t>
            </a:r>
            <a:endParaRPr lang="en-US" sz="1200" dirty="0"/>
          </a:p>
        </p:txBody>
      </p:sp>
      <p:sp>
        <p:nvSpPr>
          <p:cNvPr id="3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departure since the report has come with a disclosed accounting disagreement.</a:t>
            </a:r>
            <a:endParaRPr lang="en-US" sz="1700" dirty="0"/>
          </a:p>
        </p:txBody>
      </p:sp>
      <p:sp>
        <p:nvSpPr>
          <p:cNvPr id="3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8-Ks and press releases (May-25 to Aug-26); SEC Form 4 filings; Muddy Waters (Jan-25)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Strategic Capital Initiative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 outside-funded aircraft fund: FTAI owns ~19%, and SCI's engines come to FTAI.</a:t>
            </a:r>
            <a:endParaRPr lang="en-US" sz="1700" dirty="0"/>
          </a:p>
        </p:txBody>
      </p:sp>
      <p:sp>
        <p:nvSpPr>
          <p:cNvPr id="4" name="SCI header"/>
          <p:cNvSpPr txBox="1"/>
          <p:nvPr/>
        </p:nvSpPr>
        <p:spPr>
          <a:xfrm>
            <a:off x="426709" y="1554480"/>
            <a:ext cx="719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SCI Works</a:t>
            </a:r>
            <a:endParaRPr lang="en-US" sz="1600" dirty="0"/>
          </a:p>
        </p:txBody>
      </p:sp>
      <p:sp>
        <p:nvSpPr>
          <p:cNvPr id="5" name="SCI header rule"/>
          <p:cNvSpPr/>
          <p:nvPr/>
        </p:nvSpPr>
        <p:spPr>
          <a:xfrm>
            <a:off x="426709" y="1975104"/>
            <a:ext cx="71931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CI fund 1"/>
          <p:cNvSpPr txBox="1"/>
          <p:nvPr/>
        </p:nvSpPr>
        <p:spPr>
          <a:xfrm>
            <a:off x="426709" y="2121408"/>
            <a:ext cx="2133547" cy="6400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Outside equity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~$1.6B (81%)</a:t>
            </a:r>
            <a:endParaRPr lang="en-US" sz="1200" dirty="0"/>
          </a:p>
        </p:txBody>
      </p:sp>
      <p:sp>
        <p:nvSpPr>
          <p:cNvPr id="7" name="SCI fund arrow 1"/>
          <p:cNvSpPr/>
          <p:nvPr/>
        </p:nvSpPr>
        <p:spPr>
          <a:xfrm>
            <a:off x="2584639" y="2441448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8" name="SCI fund 2"/>
          <p:cNvSpPr txBox="1"/>
          <p:nvPr/>
        </p:nvSpPr>
        <p:spPr>
          <a:xfrm>
            <a:off x="426709" y="2907792"/>
            <a:ext cx="2133547" cy="640080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FTAI co-invest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~$380M (19%)</a:t>
            </a:r>
            <a:endParaRPr lang="en-US" sz="1200" dirty="0"/>
          </a:p>
        </p:txBody>
      </p:sp>
      <p:sp>
        <p:nvSpPr>
          <p:cNvPr id="9" name="SCI fund arrow 2"/>
          <p:cNvSpPr/>
          <p:nvPr/>
        </p:nvSpPr>
        <p:spPr>
          <a:xfrm>
            <a:off x="2584639" y="3227832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SCI fund 3"/>
          <p:cNvSpPr txBox="1"/>
          <p:nvPr/>
        </p:nvSpPr>
        <p:spPr>
          <a:xfrm>
            <a:off x="426709" y="3694176"/>
            <a:ext cx="2133547" cy="6400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Asset-level debt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~$4B (Apollo / DB-led)</a:t>
            </a:r>
            <a:endParaRPr lang="en-US" sz="1200" dirty="0"/>
          </a:p>
        </p:txBody>
      </p:sp>
      <p:sp>
        <p:nvSpPr>
          <p:cNvPr id="11" name="SCI fund arrow 3"/>
          <p:cNvSpPr/>
          <p:nvPr/>
        </p:nvSpPr>
        <p:spPr>
          <a:xfrm>
            <a:off x="2584639" y="4014216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2" name="SCI box"/>
          <p:cNvSpPr txBox="1"/>
          <p:nvPr/>
        </p:nvSpPr>
        <p:spPr>
          <a:xfrm>
            <a:off x="3108882" y="2121408"/>
            <a:ext cx="1950671" cy="22128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SCI 1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~$6B, 300+ mid-life A320ceo / 737NG</a:t>
            </a:r>
            <a:endParaRPr lang="en-US" sz="1800" dirty="0"/>
          </a:p>
        </p:txBody>
      </p:sp>
      <p:sp>
        <p:nvSpPr>
          <p:cNvPr id="13" name="SCI back arrow 1"/>
          <p:cNvSpPr/>
          <p:nvPr/>
        </p:nvSpPr>
        <p:spPr>
          <a:xfrm>
            <a:off x="5096129" y="2441448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4" name="SCI back 1"/>
          <p:cNvSpPr txBox="1"/>
          <p:nvPr/>
        </p:nvSpPr>
        <p:spPr>
          <a:xfrm>
            <a:off x="5608180" y="2121408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Aircraft sales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sells on-lease aircraft into SCI</a:t>
            </a:r>
            <a:endParaRPr lang="en-US" sz="1200" dirty="0"/>
          </a:p>
        </p:txBody>
      </p:sp>
      <p:sp>
        <p:nvSpPr>
          <p:cNvPr id="15" name="SCI back arrow 2"/>
          <p:cNvSpPr/>
          <p:nvPr/>
        </p:nvSpPr>
        <p:spPr>
          <a:xfrm>
            <a:off x="5096129" y="3227832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6" name="SCI back 2"/>
          <p:cNvSpPr txBox="1"/>
          <p:nvPr/>
        </p:nvSpPr>
        <p:spPr>
          <a:xfrm>
            <a:off x="5608180" y="2907792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Fees + equity income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Servicing fees and its ~19% share</a:t>
            </a:r>
            <a:endParaRPr lang="en-US" sz="1200" dirty="0"/>
          </a:p>
        </p:txBody>
      </p:sp>
      <p:sp>
        <p:nvSpPr>
          <p:cNvPr id="17" name="SCI back arrow 3"/>
          <p:cNvSpPr/>
          <p:nvPr/>
        </p:nvSpPr>
        <p:spPr>
          <a:xfrm>
            <a:off x="5096129" y="4014216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8" name="SCI back 3"/>
          <p:cNvSpPr txBox="1"/>
          <p:nvPr/>
        </p:nvSpPr>
        <p:spPr>
          <a:xfrm>
            <a:off x="5608180" y="3694176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Captive engine work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All SCI engines go to FTAI's modules</a:t>
            </a:r>
            <a:endParaRPr lang="en-US" sz="1200" dirty="0"/>
          </a:p>
        </p:txBody>
      </p:sp>
      <p:sp>
        <p:nvSpPr>
          <p:cNvPr id="19" name="SCI accounting"/>
          <p:cNvSpPr txBox="1"/>
          <p:nvPr/>
        </p:nvSpPr>
        <p:spPr>
          <a:xfrm>
            <a:off x="426709" y="4663440"/>
            <a:ext cx="7193100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Accounting: </a:t>
            </a:r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equity method, not consolidated. FTAI's share of profit on sales to SCI is eliminated.</a:t>
            </a:r>
            <a:endParaRPr lang="en-US" sz="1200" dirty="0"/>
          </a:p>
        </p:txBody>
      </p:sp>
      <p:sp>
        <p:nvSpPr>
          <p:cNvPr id="20" name="SCI value header"/>
          <p:cNvSpPr txBox="1"/>
          <p:nvPr/>
        </p:nvSpPr>
        <p:spPr>
          <a:xfrm>
            <a:off x="8046519" y="1554480"/>
            <a:ext cx="37184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It's Worth to FTAI</a:t>
            </a:r>
            <a:endParaRPr lang="en-US" sz="1600" dirty="0"/>
          </a:p>
        </p:txBody>
      </p:sp>
      <p:sp>
        <p:nvSpPr>
          <p:cNvPr id="21" name="SCI value header rule"/>
          <p:cNvSpPr/>
          <p:nvPr/>
        </p:nvSpPr>
        <p:spPr>
          <a:xfrm>
            <a:off x="8046519" y="1975104"/>
            <a:ext cx="371846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SCI stat 1"/>
          <p:cNvSpPr txBox="1"/>
          <p:nvPr/>
        </p:nvSpPr>
        <p:spPr>
          <a:xfrm>
            <a:off x="8046519" y="2121408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$35M</a:t>
            </a:r>
            <a:endParaRPr lang="en-US" sz="2800" dirty="0"/>
          </a:p>
        </p:txBody>
      </p:sp>
      <p:sp>
        <p:nvSpPr>
          <p:cNvPr id="23" name="SCI stat 1 label"/>
          <p:cNvSpPr txBox="1"/>
          <p:nvPr/>
        </p:nvSpPr>
        <p:spPr>
          <a:xfrm>
            <a:off x="8046519" y="2596896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Leasing EBITDA in Q2'26 ($7M fees + $28M co-invest return)</a:t>
            </a:r>
            <a:endParaRPr lang="en-US" sz="1200" dirty="0"/>
          </a:p>
        </p:txBody>
      </p:sp>
      <p:sp>
        <p:nvSpPr>
          <p:cNvPr id="24" name="SCI stat 2"/>
          <p:cNvSpPr txBox="1"/>
          <p:nvPr/>
        </p:nvSpPr>
        <p:spPr>
          <a:xfrm>
            <a:off x="8046519" y="3200400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$183M</a:t>
            </a:r>
            <a:endParaRPr lang="en-US" sz="2800" dirty="0"/>
          </a:p>
        </p:txBody>
      </p:sp>
      <p:sp>
        <p:nvSpPr>
          <p:cNvPr id="25" name="SCI stat 2 label"/>
          <p:cNvSpPr txBox="1"/>
          <p:nvPr/>
        </p:nvSpPr>
        <p:spPr>
          <a:xfrm>
            <a:off x="8046519" y="3675888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Q2'26 Aerospace exchange revenue from SCI</a:t>
            </a:r>
            <a:endParaRPr lang="en-US" sz="1200" dirty="0"/>
          </a:p>
        </p:txBody>
      </p:sp>
      <p:sp>
        <p:nvSpPr>
          <p:cNvPr id="26" name="SCI stat 3"/>
          <p:cNvSpPr txBox="1"/>
          <p:nvPr/>
        </p:nvSpPr>
        <p:spPr>
          <a:xfrm>
            <a:off x="8046519" y="4279392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~$6B</a:t>
            </a:r>
            <a:endParaRPr lang="en-US" sz="2800" dirty="0"/>
          </a:p>
        </p:txBody>
      </p:sp>
      <p:sp>
        <p:nvSpPr>
          <p:cNvPr id="27" name="SCI stat 3 label"/>
          <p:cNvSpPr txBox="1"/>
          <p:nvPr/>
        </p:nvSpPr>
        <p:spPr>
          <a:xfrm>
            <a:off x="8046519" y="4754880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2 target; $2.0B warehouse closed Aug-26</a:t>
            </a:r>
            <a:endParaRPr lang="en-US" sz="1200" dirty="0"/>
          </a:p>
        </p:txBody>
      </p:sp>
      <p:sp>
        <p:nvSpPr>
          <p:cNvPr id="2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SCI turns leasing into fees plus captive module volume. That's our floor.</a:t>
            </a:r>
            <a:endParaRPr lang="en-US" sz="1700" dirty="0"/>
          </a:p>
        </p:txBody>
      </p:sp>
      <p:sp>
        <p:nvSpPr>
          <p:cNvPr id="2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releases (Dec-24, Feb-25, Oct-25, Aug-26); Q2'26 earnings supplement and call; Q2'26 10-Q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Market Share Build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FY26–27 share is what module guidance implies. After that, we slow it down.</a:t>
            </a:r>
            <a:endParaRPr lang="en-US" sz="1700" dirty="0"/>
          </a:p>
        </p:txBody>
      </p:sp>
      <p:sp>
        <p:nvSpPr>
          <p:cNvPr id="4" name="Share build header"/>
          <p:cNvSpPr txBox="1"/>
          <p:nvPr/>
        </p:nvSpPr>
        <p:spPr>
          <a:xfrm>
            <a:off x="426709" y="1554480"/>
            <a:ext cx="7375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CFM56 Demand to FTAI Modules</a:t>
            </a:r>
            <a:endParaRPr lang="en-US" sz="1600" dirty="0"/>
          </a:p>
        </p:txBody>
      </p:sp>
      <p:sp>
        <p:nvSpPr>
          <p:cNvPr id="5" name="Share build header rule"/>
          <p:cNvSpPr/>
          <p:nvPr/>
        </p:nvSpPr>
        <p:spPr>
          <a:xfrm>
            <a:off x="426709" y="1975104"/>
            <a:ext cx="737597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46" name="Share build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6709" y="2121408"/>
          <a:ext cx="7375976" cy="914400"/>
        </p:xfrm>
        <a:graphic>
          <a:graphicData uri="http://schemas.openxmlformats.org/drawingml/2006/table">
            <a:tbl>
              <a:tblPr/>
              <a:tblGrid>
                <a:gridCol w="2401764"/>
                <a:gridCol w="829035"/>
                <a:gridCol w="829035"/>
                <a:gridCol w="829035"/>
                <a:gridCol w="829035"/>
                <a:gridCol w="829035"/>
                <a:gridCol w="829035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FY26E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FY27E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FY28E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FY29E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FY30E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FY31E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CFM56 shop visits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2,385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2,386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2,318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2,219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2,120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2,056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Module demand (× 3)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7,156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7,159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6,953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6,656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6,359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6,168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FTAI third-party share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12.1%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16.8%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19.0%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19.5%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20.0%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20.0%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= Third-party modules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865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1,206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1,321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1,298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1,272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1,234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+ SCI (captive) modules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328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482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660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780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840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900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= FTAI modules produced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1,193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1,687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1,981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2,078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2,112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2,134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</a:tbl>
          </a:graphicData>
        </a:graphic>
      </p:graphicFrame>
      <p:sp>
        <p:nvSpPr>
          <p:cNvPr id="7" name="Guidance note"/>
          <p:cNvSpPr txBox="1"/>
          <p:nvPr/>
        </p:nvSpPr>
        <p:spPr>
          <a:xfrm>
            <a:off x="2316422" y="4882896"/>
            <a:ext cx="26821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Matches ~1,200 / ~1,700 guidance</a:t>
            </a:r>
            <a:endParaRPr lang="en-US" sz="1000" dirty="0"/>
          </a:p>
        </p:txBody>
      </p:sp>
      <p:sp>
        <p:nvSpPr>
          <p:cNvPr id="8" name="Guidance bracket"/>
          <p:cNvSpPr/>
          <p:nvPr/>
        </p:nvSpPr>
        <p:spPr>
          <a:xfrm>
            <a:off x="2865048" y="4837176"/>
            <a:ext cx="1584920" cy="0"/>
          </a:xfrm>
          <a:prstGeom prst="line">
            <a:avLst/>
          </a:prstGeom>
          <a:noFill/>
          <a:ln w="25400">
            <a:solidFill>
              <a:srgbClr val="EE6E25"/>
            </a:solidFill>
            <a:prstDash val="solid"/>
          </a:ln>
        </p:spPr>
      </p:sp>
      <p:sp>
        <p:nvSpPr>
          <p:cNvPr id="9" name="Conservative header"/>
          <p:cNvSpPr txBox="1"/>
          <p:nvPr/>
        </p:nvSpPr>
        <p:spPr>
          <a:xfrm>
            <a:off x="8168436" y="1554480"/>
            <a:ext cx="35965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It's Conservative</a:t>
            </a:r>
            <a:endParaRPr lang="en-US" sz="1600" dirty="0"/>
          </a:p>
        </p:txBody>
      </p:sp>
      <p:sp>
        <p:nvSpPr>
          <p:cNvPr id="10" name="Conservative header rule"/>
          <p:cNvSpPr/>
          <p:nvPr/>
        </p:nvSpPr>
        <p:spPr>
          <a:xfrm>
            <a:off x="8168436" y="1975104"/>
            <a:ext cx="359655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hare stat 1"/>
          <p:cNvSpPr txBox="1"/>
          <p:nvPr/>
        </p:nvSpPr>
        <p:spPr>
          <a:xfrm>
            <a:off x="8168436" y="2121408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~4 → 0 pts</a:t>
            </a:r>
            <a:endParaRPr lang="en-US" sz="2600" dirty="0"/>
          </a:p>
        </p:txBody>
      </p:sp>
      <p:sp>
        <p:nvSpPr>
          <p:cNvPr id="12" name="Share stat 1 label"/>
          <p:cNvSpPr txBox="1"/>
          <p:nvPr/>
        </p:nvSpPr>
        <p:spPr>
          <a:xfrm>
            <a:off x="8168436" y="2596896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Gains per year after FY27, vs. ~4 pts a year historically</a:t>
            </a:r>
            <a:endParaRPr lang="en-US" sz="1200" dirty="0"/>
          </a:p>
        </p:txBody>
      </p:sp>
      <p:sp>
        <p:nvSpPr>
          <p:cNvPr id="13" name="Share stat 2"/>
          <p:cNvSpPr txBox="1"/>
          <p:nvPr/>
        </p:nvSpPr>
        <p:spPr>
          <a:xfrm>
            <a:off x="8168436" y="3200400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~70%</a:t>
            </a:r>
            <a:endParaRPr lang="en-US" sz="2600" dirty="0"/>
          </a:p>
        </p:txBody>
      </p:sp>
      <p:sp>
        <p:nvSpPr>
          <p:cNvPr id="14" name="Share stat 2 label"/>
          <p:cNvSpPr txBox="1"/>
          <p:nvPr/>
        </p:nvSpPr>
        <p:spPr>
          <a:xfrm>
            <a:off x="8168436" y="3675888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Share of FTAI's announced 3,000-module capacity needed by FY31</a:t>
            </a:r>
            <a:endParaRPr lang="en-US" sz="1200" dirty="0"/>
          </a:p>
        </p:txBody>
      </p:sp>
      <p:sp>
        <p:nvSpPr>
          <p:cNvPr id="15" name="Share stat 3"/>
          <p:cNvSpPr txBox="1"/>
          <p:nvPr/>
        </p:nvSpPr>
        <p:spPr>
          <a:xfrm>
            <a:off x="8168436" y="4279392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15% / 25%</a:t>
            </a:r>
            <a:endParaRPr lang="en-US" sz="2600" dirty="0"/>
          </a:p>
        </p:txBody>
      </p:sp>
      <p:sp>
        <p:nvSpPr>
          <p:cNvPr id="16" name="Share stat 3 label"/>
          <p:cNvSpPr txBox="1"/>
          <p:nvPr/>
        </p:nvSpPr>
        <p:spPr>
          <a:xfrm>
            <a:off x="8168436" y="4754880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Bear / bull FY31 share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 take guidance, strip out SCI, and slow the historical pace by half or more.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counts (Safran, MTU, GE) × engine-level shop-visit rates; FTAI module guidance;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CFM56 Fleet &amp; Shop Visits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Shop visits peak in 2026–27 and fade slowly, and the OEMs keep pushing the peak out.</a:t>
            </a:r>
            <a:endParaRPr lang="en-US" sz="1700" dirty="0"/>
          </a:p>
        </p:txBody>
      </p:sp>
      <p:sp>
        <p:nvSpPr>
          <p:cNvPr id="4" name="SV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CFM56-5B / -7B Shop Visits per Year</a:t>
            </a:r>
            <a:endParaRPr lang="en-US" sz="1600" dirty="0"/>
          </a:p>
        </p:txBody>
      </p:sp>
      <p:sp>
        <p:nvSpPr>
          <p:cNvPr id="5" name="SV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Shop visit chart" descr=""/>
          <p:cNvGraphicFramePr/>
          <p:nvPr/>
        </p:nvGraphicFramePr>
        <p:xfrm>
          <a:off x="426709" y="2103120"/>
          <a:ext cx="701022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callout"/>
          <p:cNvSpPr txBox="1"/>
          <p:nvPr/>
        </p:nvSpPr>
        <p:spPr>
          <a:xfrm>
            <a:off x="426709" y="4919472"/>
            <a:ext cx="7010225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Peak keeps moving out: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~2025 (GE, 2024) → 2027–28 (GE, Safran, 2026)</a:t>
            </a:r>
            <a:endParaRPr lang="en-US" sz="1300" dirty="0"/>
          </a:p>
        </p:txBody>
      </p:sp>
      <p:sp>
        <p:nvSpPr>
          <p:cNvPr id="8" name="Slow mel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Melts Slowly</a:t>
            </a:r>
            <a:endParaRPr lang="en-US" sz="1600" dirty="0"/>
          </a:p>
        </p:txBody>
      </p:sp>
      <p:sp>
        <p:nvSpPr>
          <p:cNvPr id="9" name="Slow mel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SV stat 1"/>
          <p:cNvSpPr txBox="1"/>
          <p:nvPr/>
        </p:nvSpPr>
        <p:spPr>
          <a:xfrm>
            <a:off x="7863643" y="2121408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~87%</a:t>
            </a:r>
            <a:endParaRPr lang="en-US" sz="2800" dirty="0"/>
          </a:p>
        </p:txBody>
      </p:sp>
      <p:sp>
        <p:nvSpPr>
          <p:cNvPr id="11" name="SV stat 1 label"/>
          <p:cNvSpPr txBox="1"/>
          <p:nvPr/>
        </p:nvSpPr>
        <p:spPr>
          <a:xfrm>
            <a:off x="7863643" y="2615184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FY31 shop visits as a share of the peak</a:t>
            </a:r>
            <a:endParaRPr lang="en-US" sz="1200" dirty="0"/>
          </a:p>
        </p:txBody>
      </p:sp>
      <p:sp>
        <p:nvSpPr>
          <p:cNvPr id="12" name="SV stat 2"/>
          <p:cNvSpPr txBox="1"/>
          <p:nvPr/>
        </p:nvSpPr>
        <p:spPr>
          <a:xfrm>
            <a:off x="7863643" y="3200400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&lt;2%</a:t>
            </a:r>
            <a:endParaRPr lang="en-US" sz="2800" dirty="0"/>
          </a:p>
        </p:txBody>
      </p:sp>
      <p:sp>
        <p:nvSpPr>
          <p:cNvPr id="13" name="SV stat 2 label"/>
          <p:cNvSpPr txBox="1"/>
          <p:nvPr/>
        </p:nvSpPr>
        <p:spPr>
          <a:xfrm>
            <a:off x="7863643" y="3694176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Annual fleet retirements (GE run rate, 2026)</a:t>
            </a:r>
            <a:endParaRPr lang="en-US" sz="1200" dirty="0"/>
          </a:p>
        </p:txBody>
      </p:sp>
      <p:sp>
        <p:nvSpPr>
          <p:cNvPr id="14" name="SV stat 3"/>
          <p:cNvSpPr txBox="1"/>
          <p:nvPr/>
        </p:nvSpPr>
        <p:spPr>
          <a:xfrm>
            <a:off x="7863643" y="4279392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–16%</a:t>
            </a:r>
            <a:endParaRPr lang="en-US" sz="2800" dirty="0"/>
          </a:p>
        </p:txBody>
      </p:sp>
      <p:sp>
        <p:nvSpPr>
          <p:cNvPr id="15" name="SV stat 3 label"/>
          <p:cNvSpPr txBox="1"/>
          <p:nvPr/>
        </p:nvSpPr>
        <p:spPr>
          <a:xfrm>
            <a:off x="7863643" y="4773168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Airbus Q1'26 deliveries y/y, held back by LEAP engines</a:t>
            </a:r>
            <a:endParaRPr lang="en-US" sz="12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ice cube melts slowly: 2031 shop visits are still ~87% of peak.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CFM/OEM shop-visit outlook (GE, Safran); GE Investor Day (Mar-24), Q2'26 call; Airbus Q1'26; Aviation Week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Pricing &amp; Scope Mix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Holding price was a land grab, and a heavier mix lowers the margin but raises profit per job.</a:t>
            </a:r>
            <a:endParaRPr lang="en-US" sz="1700" dirty="0"/>
          </a:p>
        </p:txBody>
      </p:sp>
      <p:sp>
        <p:nvSpPr>
          <p:cNvPr id="4" name="Held price header"/>
          <p:cNvSpPr txBox="1"/>
          <p:nvPr/>
        </p:nvSpPr>
        <p:spPr>
          <a:xfrm>
            <a:off x="426709" y="1554480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FTAI Held Price</a:t>
            </a:r>
            <a:endParaRPr lang="en-US" sz="1600" dirty="0"/>
          </a:p>
        </p:txBody>
      </p:sp>
      <p:sp>
        <p:nvSpPr>
          <p:cNvPr id="5" name="Held price header rule"/>
          <p:cNvSpPr/>
          <p:nvPr/>
        </p:nvSpPr>
        <p:spPr>
          <a:xfrm>
            <a:off x="426709" y="1975104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Why 1 num"/>
          <p:cNvSpPr txBox="1"/>
          <p:nvPr/>
        </p:nvSpPr>
        <p:spPr>
          <a:xfrm>
            <a:off x="502902" y="2212848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Why 1"/>
          <p:cNvSpPr txBox="1"/>
          <p:nvPr/>
        </p:nvSpPr>
        <p:spPr>
          <a:xfrm>
            <a:off x="1194786" y="2103120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Challenger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Airlines rarely switch engine shops. A widening price gap wins the first contract, and the swap's speed keeps it.</a:t>
            </a:r>
            <a:endParaRPr lang="en-US" sz="1400" dirty="0"/>
          </a:p>
        </p:txBody>
      </p:sp>
      <p:sp>
        <p:nvSpPr>
          <p:cNvPr id="8" name="Why 2 num"/>
          <p:cNvSpPr txBox="1"/>
          <p:nvPr/>
        </p:nvSpPr>
        <p:spPr>
          <a:xfrm>
            <a:off x="502902" y="2999232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Why 2"/>
          <p:cNvSpPr txBox="1"/>
          <p:nvPr/>
        </p:nvSpPr>
        <p:spPr>
          <a:xfrm>
            <a:off x="1194786" y="2889504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Price-sensitive customers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Growth came from regional and smaller carriers, who feel OEM escalators most.</a:t>
            </a:r>
            <a:endParaRPr lang="en-US" sz="1400" dirty="0"/>
          </a:p>
        </p:txBody>
      </p:sp>
      <p:sp>
        <p:nvSpPr>
          <p:cNvPr id="10" name="Why 3 num"/>
          <p:cNvSpPr txBox="1"/>
          <p:nvPr/>
        </p:nvSpPr>
        <p:spPr>
          <a:xfrm>
            <a:off x="502902" y="3785616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Why 3"/>
          <p:cNvSpPr txBox="1"/>
          <p:nvPr/>
        </p:nvSpPr>
        <p:spPr>
          <a:xfrm>
            <a:off x="1194786" y="3675888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Capacity to fill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ramping toward 3,000 modules. Full shops at a lower price beat half-empty ones.</a:t>
            </a:r>
            <a:endParaRPr lang="en-US" sz="1400" dirty="0"/>
          </a:p>
        </p:txBody>
      </p:sp>
      <p:sp>
        <p:nvSpPr>
          <p:cNvPr id="12" name="Why 4 num"/>
          <p:cNvSpPr txBox="1"/>
          <p:nvPr/>
        </p:nvSpPr>
        <p:spPr>
          <a:xfrm>
            <a:off x="502902" y="4572000"/>
            <a:ext cx="457200" cy="457200"/>
          </a:xfrm>
          <a:prstGeom prst="ellipse">
            <a:avLst/>
          </a:prstGeom>
          <a:solidFill>
            <a:srgbClr val="EE6E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3" name="Why 4"/>
          <p:cNvSpPr txBox="1"/>
          <p:nvPr/>
        </p:nvSpPr>
        <p:spPr>
          <a:xfrm>
            <a:off x="1194786" y="4462272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 gap compounds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Flat vs. ~7% OEM increases is a ~14% discount after two years, without cutting price.</a:t>
            </a:r>
            <a:endParaRPr lang="en-US" sz="1400" dirty="0"/>
          </a:p>
        </p:txBody>
      </p:sp>
      <p:sp>
        <p:nvSpPr>
          <p:cNvPr id="14" name="Heavy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If FTAI Went All Heavy? (Profit per Job)</a:t>
            </a:r>
            <a:endParaRPr lang="en-US" sz="1600" dirty="0"/>
          </a:p>
        </p:txBody>
      </p:sp>
      <p:sp>
        <p:nvSpPr>
          <p:cNvPr id="15" name="Heavy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6" name="Mix bar 1"/>
          <p:cNvSpPr/>
          <p:nvPr/>
        </p:nvSpPr>
        <p:spPr>
          <a:xfrm>
            <a:off x="6766391" y="2971800"/>
            <a:ext cx="1158211" cy="160020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17" name="Mix value 1"/>
          <p:cNvSpPr txBox="1"/>
          <p:nvPr/>
        </p:nvSpPr>
        <p:spPr>
          <a:xfrm>
            <a:off x="6522557" y="266090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$2.5M</a:t>
            </a:r>
            <a:endParaRPr lang="en-US" sz="1500" dirty="0"/>
          </a:p>
        </p:txBody>
      </p:sp>
      <p:sp>
        <p:nvSpPr>
          <p:cNvPr id="18" name="Mix margin 1"/>
          <p:cNvSpPr txBox="1"/>
          <p:nvPr/>
        </p:nvSpPr>
        <p:spPr>
          <a:xfrm>
            <a:off x="6766391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42% margin</a:t>
            </a:r>
            <a:endParaRPr lang="en-US" sz="1100" dirty="0"/>
          </a:p>
        </p:txBody>
      </p:sp>
      <p:sp>
        <p:nvSpPr>
          <p:cNvPr id="19" name="Mix label 1"/>
          <p:cNvSpPr txBox="1"/>
          <p:nvPr/>
        </p:nvSpPr>
        <p:spPr>
          <a:xfrm>
            <a:off x="6522557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All light</a:t>
            </a:r>
            <a:endParaRPr lang="en-US" sz="1200" dirty="0"/>
          </a:p>
        </p:txBody>
      </p:sp>
      <p:sp>
        <p:nvSpPr>
          <p:cNvPr id="20" name="Mix bar 2"/>
          <p:cNvSpPr/>
          <p:nvPr/>
        </p:nvSpPr>
        <p:spPr>
          <a:xfrm>
            <a:off x="8473228" y="2811780"/>
            <a:ext cx="1158211" cy="1760220"/>
          </a:xfrm>
          <a:prstGeom prst="rect">
            <a:avLst/>
          </a:prstGeom>
          <a:solidFill>
            <a:srgbClr val="0A1C58"/>
          </a:solidFill>
          <a:ln w="12700">
            <a:solidFill>
              <a:srgbClr val="0A1C58"/>
            </a:solidFill>
            <a:prstDash val="solid"/>
          </a:ln>
        </p:spPr>
      </p:sp>
      <p:sp>
        <p:nvSpPr>
          <p:cNvPr id="21" name="Mix value 2"/>
          <p:cNvSpPr txBox="1"/>
          <p:nvPr/>
        </p:nvSpPr>
        <p:spPr>
          <a:xfrm>
            <a:off x="8229394" y="250088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$2.75M</a:t>
            </a:r>
            <a:endParaRPr lang="en-US" sz="1500" dirty="0"/>
          </a:p>
        </p:txBody>
      </p:sp>
      <p:sp>
        <p:nvSpPr>
          <p:cNvPr id="22" name="Mix margin 2"/>
          <p:cNvSpPr txBox="1"/>
          <p:nvPr/>
        </p:nvSpPr>
        <p:spPr>
          <a:xfrm>
            <a:off x="8473228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31% margin</a:t>
            </a:r>
            <a:endParaRPr lang="en-US" sz="1100" dirty="0"/>
          </a:p>
        </p:txBody>
      </p:sp>
      <p:sp>
        <p:nvSpPr>
          <p:cNvPr id="23" name="Mix label 2"/>
          <p:cNvSpPr txBox="1"/>
          <p:nvPr/>
        </p:nvSpPr>
        <p:spPr>
          <a:xfrm>
            <a:off x="8229394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~50/50 today</a:t>
            </a:r>
            <a:endParaRPr lang="en-US" sz="1200" dirty="0"/>
          </a:p>
        </p:txBody>
      </p:sp>
      <p:sp>
        <p:nvSpPr>
          <p:cNvPr id="24" name="Mix bar 3"/>
          <p:cNvSpPr/>
          <p:nvPr/>
        </p:nvSpPr>
        <p:spPr>
          <a:xfrm>
            <a:off x="10180065" y="2651760"/>
            <a:ext cx="1158211" cy="1920240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25" name="Mix value 3"/>
          <p:cNvSpPr txBox="1"/>
          <p:nvPr/>
        </p:nvSpPr>
        <p:spPr>
          <a:xfrm>
            <a:off x="9936232" y="2340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E6E25"/>
                </a:solidFill>
              </a:rPr>
              <a:t>$3.0M</a:t>
            </a:r>
            <a:endParaRPr lang="en-US" sz="1500" dirty="0"/>
          </a:p>
        </p:txBody>
      </p:sp>
      <p:sp>
        <p:nvSpPr>
          <p:cNvPr id="26" name="Mix margin 3"/>
          <p:cNvSpPr txBox="1"/>
          <p:nvPr/>
        </p:nvSpPr>
        <p:spPr>
          <a:xfrm>
            <a:off x="10180065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25% margin</a:t>
            </a:r>
            <a:endParaRPr lang="en-US" sz="1100" dirty="0"/>
          </a:p>
        </p:txBody>
      </p:sp>
      <p:sp>
        <p:nvSpPr>
          <p:cNvPr id="27" name="Mix label 3"/>
          <p:cNvSpPr txBox="1"/>
          <p:nvPr/>
        </p:nvSpPr>
        <p:spPr>
          <a:xfrm>
            <a:off x="9936232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All heavy</a:t>
            </a:r>
            <a:endParaRPr lang="en-US" sz="1200" dirty="0"/>
          </a:p>
        </p:txBody>
      </p:sp>
      <p:sp>
        <p:nvSpPr>
          <p:cNvPr id="28" name="Mix baseline"/>
          <p:cNvSpPr/>
          <p:nvPr/>
        </p:nvSpPr>
        <p:spPr>
          <a:xfrm>
            <a:off x="6522557" y="4572000"/>
            <a:ext cx="5120512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9" name="Network note"/>
          <p:cNvSpPr txBox="1"/>
          <p:nvPr/>
        </p:nvSpPr>
        <p:spPr>
          <a:xfrm>
            <a:off x="6400640" y="4956048"/>
            <a:ext cx="5364346" cy="41148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Built for both: Jakarta heavy, Cairo light, other sites both</a:t>
            </a:r>
            <a:endParaRPr lang="en-US" sz="1100" dirty="0"/>
          </a:p>
        </p:txBody>
      </p:sp>
      <p:sp>
        <p:nvSpPr>
          <p:cNvPr id="3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 value EBITDA dollars, not margin %. Either mix grows earnings.</a:t>
            </a:r>
            <a:endParaRPr lang="en-US" sz="1700" dirty="0"/>
          </a:p>
        </p:txBody>
      </p:sp>
      <p:sp>
        <p:nvSpPr>
          <p:cNvPr id="3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(light vs. heavy job economics: $6M / $2.5M light, $12M / $3.0M heavy); CFM catalogue pricing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2026-10-09T17:27:10Z</dcterms:created>
  <dcterms:modified xsi:type="dcterms:W3CDTF">2026-10-09T17:27:10Z</dcterms:modified>
</cp:coreProperties>
</file>