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ffd4f27-c31f-d0cb-5452-fb02623e0fe3}">
          <p14:sldIdLst>
            <p14:sldId id="256"/>
          </p14:sldIdLst>
        </p14:section>
        <p14:section name="The Opportunity" id="{a1178cb2-dccc-3cdc-87b5-7a51b9b7fcd8}">
          <p14:sldIdLst>
            <p14:sldId id="257"/>
            <p14:sldId id="258"/>
            <p14:sldId id="259"/>
            <p14:sldId id="260"/>
          </p14:sldIdLst>
        </p14:section>
        <p14:section name="Returns" id="{f212884c-3b81-cec2-43d9-2e7d55c1b3c8}">
          <p14:sldIdLst>
            <p14:sldId id="261"/>
          </p14:sldIdLst>
        </p14:section>
        <p14:section name="Business Overview" id="{ad9d2193-f4cc-aec5-024b-cd11bd9a2a7f}">
          <p14:sldIdLst>
            <p14:sldId id="262"/>
            <p14:sldId id="263"/>
          </p14:sldIdLst>
        </p14:section>
        <p14:section name="Thesis 1a" id="{2f433f06-1571-add6-d201-12d0ae18282b}">
          <p14:sldIdLst>
            <p14:sldId id="264"/>
            <p14:sldId id="265"/>
            <p14:sldId id="266"/>
            <p14:sldId id="267"/>
          </p14:sldIdLst>
        </p14:section>
        <p14:section name="Thesis 1b" id="{549743e6-4626-5aa2-994a-e9c8eff43ae9}">
          <p14:sldIdLst>
            <p14:sldId id="268"/>
            <p14:sldId id="269"/>
            <p14:sldId id="270"/>
            <p14:sldId id="271"/>
            <p14:sldId id="272"/>
            <p14:sldId id="273"/>
            <p14:sldId id="274"/>
          </p14:sldIdLst>
        </p14:section>
        <p14:section name="Thesis 2" id="{dc24b398-b216-0c03-d7c2-bacd5993f49d}">
          <p14:sldIdLst>
            <p14:sldId id="275"/>
            <p14:sldId id="276"/>
            <p14:sldId id="277"/>
            <p14:sldId id="278"/>
          </p14:sldIdLst>
        </p14:section>
        <p14:section name="Valuation" id="{07db6d18-2b85-a65d-73ae-bdc3af90c326}">
          <p14:sldIdLst>
            <p14:sldId id="279"/>
            <p14:sldId id="280"/>
          </p14:sldIdLst>
        </p14:section>
        <p14:section name="Catalysts" id="{108443e4-644c-43d3-d453-9fbf37491f63}">
          <p14:sldIdLst>
            <p14:sldId id="281"/>
          </p14:sldIdLst>
        </p14:section>
        <p14:section name="Risks" id="{89e37f1c-5270-a044-c5d0-852b3b67f10b}">
          <p14:sldIdLst>
            <p14:sldId id="282"/>
          </p14:sldIdLst>
        </p14:section>
        <p14:section name="Q&amp;A" id="{76c781fa-6694-c344-52d1-e9641aa959a7}">
          <p14:sldIdLst>
            <p14:sldId id="283"/>
          </p14:sldIdLst>
        </p14:section>
        <p14:section name="Appendix" id="{0f9186f4-ba18-6ac2-fe80-381333b19c69}">
          <p14:sldIdLst>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2E93AE"/>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2E93AE"/>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 Vernova</c:v>
                </c:pt>
              </c:strCache>
            </c:strRef>
          </c:tx>
          <c:spPr>
            <a:solidFill>
              <a:srgbClr val="0A1C58"/>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Sheet1!$B$2:$B$3</c:f>
              <c:numCache>
                <c:formatCode>General</c:formatCode>
                <c:ptCount val="2"/>
                <c:pt idx="0">
                  <c:v>55</c:v>
                </c:pt>
                <c:pt idx="1">
                  <c:v>116</c:v>
                </c:pt>
              </c:numCache>
            </c:numRef>
          </c:val>
        </c:ser>
        <c:ser>
          <c:idx val="1"/>
          <c:order val="1"/>
          <c:tx>
            <c:strRef>
              <c:f>Sheet1!$C$1</c:f>
              <c:strCache>
                <c:ptCount val="1"/>
                <c:pt idx="0">
                  <c:v>Siemens Energy</c:v>
                </c:pt>
              </c:strCache>
            </c:strRef>
          </c:tx>
          <c:spPr>
            <a:solidFill>
              <a:srgbClr val="3B4C82"/>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Sheet1!$C$2:$C$3</c:f>
              <c:numCache>
                <c:formatCode>General</c:formatCode>
                <c:ptCount val="2"/>
                <c:pt idx="0">
                  <c:v>37</c:v>
                </c:pt>
                <c:pt idx="1">
                  <c:v>69</c:v>
                </c:pt>
              </c:numCache>
            </c:numRef>
          </c:val>
        </c:ser>
        <c:ser>
          <c:idx val="2"/>
          <c:order val="2"/>
          <c:tx>
            <c:strRef>
              <c:f>Sheet1!$D$1</c:f>
              <c:strCache>
                <c:ptCount val="1"/>
                <c:pt idx="0">
                  <c:v>Mitsubishi</c:v>
                </c:pt>
              </c:strCache>
            </c:strRef>
          </c:tx>
          <c:spPr>
            <a:solidFill>
              <a:srgbClr val="2E93AE"/>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Sheet1!$D$2:$D$3</c:f>
              <c:numCache>
                <c:formatCode>General</c:formatCode>
                <c:ptCount val="2"/>
                <c:pt idx="0">
                  <c:v>23</c:v>
                </c:pt>
                <c:pt idx="1">
                  <c:v>35</c:v>
                </c:pt>
              </c:numCache>
            </c:numRef>
          </c:val>
        </c:ser>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11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2E93AE"/>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2E93AE"/>
            </a:solidFill>
            <a:ln w="38100" cap="flat">
              <a:solidFill>
                <a:srgbClr val="2E93AE"/>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2E93AE"/>
              </a:solidFill>
              <a:ln w="9525" cap="flat">
                <a:solidFill>
                  <a:srgbClr val="2E93AE"/>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2E93AE"/>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2E93AE"/>
            </a:solidFill>
            <a:ln w="44450" cap="flat">
              <a:solidFill>
                <a:srgbClr val="2E93A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E93AE"/>
              </a:solidFill>
              <a:ln w="9525" cap="flat">
                <a:solidFill>
                  <a:srgbClr val="2E93AE"/>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2E93AE"/>
            </a:solidFill>
            <a:ln w="31750" cap="flat">
              <a:solidFill>
                <a:srgbClr val="2E93AE"/>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2E93AE"/>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2E93AE"/>
            </a:solidFill>
            <a:ln w="38100" cap="flat">
              <a:solidFill>
                <a:srgbClr val="2E93AE"/>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2E93AE"/>
              </a:solidFill>
              <a:ln w="9525" cap="flat">
                <a:solidFill>
                  <a:srgbClr val="2E93AE"/>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2E93AE"/>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2E93AE"/>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2E93AE"/>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2E93AE"/>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EE6E25"/>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2E93AE"/>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2E93AE"/>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2E93AE"/>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Sheet1!$B$2:$B$7</c:f>
              <c:numCache>
                <c:formatCode>General</c:formatCode>
                <c:ptCount val="6"/>
                <c:pt idx="0">
                  <c:v>0</c:v>
                </c:pt>
                <c:pt idx="1">
                  <c:v>167</c:v>
                </c:pt>
                <c:pt idx="2">
                  <c:v>171.9</c:v>
                </c:pt>
                <c:pt idx="3">
                  <c:v>188.9</c:v>
                </c:pt>
                <c:pt idx="4">
                  <c:v>221.6</c:v>
                </c:pt>
                <c:pt idx="5">
                  <c:v>0</c:v>
                </c:pt>
              </c:numCache>
            </c:numRef>
          </c:val>
        </c:ser>
        <c:ser>
          <c:idx val="1"/>
          <c:order val="1"/>
          <c:tx>
            <c:strRef>
              <c:f>Sheet1!$C$1</c:f>
              <c:strCache>
                <c:ptCount val="1"/>
                <c:pt idx="0">
                  <c:v>Today</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Sheet1!$C$2:$C$7</c:f>
              <c:numCache>
                <c:formatCode>General</c:formatCode>
                <c:ptCount val="6"/>
                <c:pt idx="0">
                  <c:v>167</c:v>
                </c:pt>
                <c:pt idx="1">
                  <c:v>0</c:v>
                </c:pt>
                <c:pt idx="2">
                  <c:v>0</c:v>
                </c:pt>
                <c:pt idx="3">
                  <c:v>0</c:v>
                </c:pt>
                <c:pt idx="4">
                  <c:v>0</c:v>
                </c:pt>
                <c:pt idx="5">
                  <c:v>0</c:v>
                </c:pt>
              </c:numCache>
            </c:numRef>
          </c:val>
        </c:ser>
        <c:ser>
          <c:idx val="2"/>
          <c:order val="2"/>
          <c:tx>
            <c:strRef>
              <c:f>Sheet1!$D$1</c:f>
              <c:strCache>
                <c:ptCount val="1"/>
                <c:pt idx="0">
                  <c:v>Theses</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Sheet1!$D$2:$D$7</c:f>
              <c:numCache>
                <c:formatCode>General</c:formatCode>
                <c:ptCount val="6"/>
                <c:pt idx="0">
                  <c:v>0</c:v>
                </c:pt>
                <c:pt idx="1">
                  <c:v>4.8</c:v>
                </c:pt>
                <c:pt idx="2">
                  <c:v>17</c:v>
                </c:pt>
                <c:pt idx="3">
                  <c:v>32.7</c:v>
                </c:pt>
                <c:pt idx="4">
                  <c:v>55.1</c:v>
                </c:pt>
                <c:pt idx="5">
                  <c:v>0</c:v>
                </c:pt>
              </c:numCache>
            </c:numRef>
          </c:val>
        </c:ser>
        <c:ser>
          <c:idx val="3"/>
          <c:order val="3"/>
          <c:tx>
            <c:strRef>
              <c:f>Sheet1!$E$1</c:f>
              <c:strCache>
                <c:ptCount val="1"/>
                <c:pt idx="0">
                  <c:v>Base case</c:v>
                </c:pt>
              </c:strCache>
            </c:strRef>
          </c:tx>
          <c:spPr>
            <a:solidFill>
              <a:srgbClr val="EE6E25"/>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Sheet1!$E$2:$E$7</c:f>
              <c:numCache>
                <c:formatCode>General</c:formatCode>
                <c:ptCount val="6"/>
                <c:pt idx="0">
                  <c:v>0</c:v>
                </c:pt>
                <c:pt idx="1">
                  <c:v>0</c:v>
                </c:pt>
                <c:pt idx="2">
                  <c:v>0</c:v>
                </c:pt>
                <c:pt idx="3">
                  <c:v>0</c:v>
                </c:pt>
                <c:pt idx="4">
                  <c:v>0</c:v>
                </c:pt>
                <c:pt idx="5">
                  <c:v>276.6</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backlog: GE Vernova gas backlog + slot reservations 55 GW (Q2'25) → 116 GW (Q2'26; ≥125 GW guided for YE26); Siemens Energy firm gas turbine backlog 37 GW (Q3 FY25) → 69 GW (Q3 FY26); Mitsubishi large-frame backlog 23 GW → 35 GW. Definitions differ (GEV includes reservations; Siemens firm only; MHI large-frame only), so treat the total as indicative. End-2024 GW figures were not disclosed.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Waterfall: today $167.03; bear case (bear margins and share, no Power) SOTP $171.86 (+$4.83); Shapley contributions on the SOTP: margins +$17.04, share +$32.66, Power +$55.08 = $276.65 (+66%). Base-case SOTP build: Aerospace $1,541M × 16x = $237; Power $450M × 12x = $52; Leasing + SCI $455M × 9x = $39; corporate −$28; net debt and preferred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Q3'26 (late Oct. 2026) and Q4'26 (~Feb. 2027) prints: Aerospace Adj. EBITDA margin holding at ~30% confirms the floor; watch PMA usage and parts 4/5 approval commentary. 2) Capacity (1H'27) and 3) Power (2H'27), reordered. Power: management moved first Mod-1 deliveries from Q4'26 to 'prudent to expect deliveries in 2027'; delivery cadence or a follow-on order (Jereh must disclose large contracts) moves Power toward the top of the $450–750M FY27 guide. 3) Capacity: partner sites in Jakarta (GMF) and Cairo (EgyptAir) plus Lisbon ramp in 2027; network capacity 3,000 modules vs. a 1,700-module 2027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LEAP: GE says the LEAP installed base more than doubles 2025–2030 and LEAP shop visits grow ~25% a year; CFM expects LEAP visits to triple by 2030; IATA sees 600–800 visits in 2025 rising to 5,000+ by 2040 and says capacity alone will not be enough. GE is spending ~$500M to roughly double internal LEAP capacity, and third-party shops' share of LEAP visits rises from 10% (2024) to ~15% today and ~30% by 2030. 2) Short-report discount: the bear-case SOTP ($172) is roughly today's price; with &lt;8% of depreciated leasing inventory left in Aerospace Products, margins now reflect the core business; Q3/Q4 '26 prints are the test. 3) Technicians: no public description of an FTAI academy was found; job postings show dedicated engine-module technical trainers in Montreal and Miami. Partners: GMF ~200 and EgyptAir ~120 technicians. FTAI cited Palantir workflow tools and a productivity lag from rapid hiring. Confirm academy details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value bridge (mid-year convention, 0.5 stub for FY26) and both terminal-value methods: perpetuity growth at 3.0% ($281) and 13.0x exit multiple ($335), both at a 9.5% WACC.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Supports the OEM escalator assumption on Thesis 1a (2/4): matched catalogue parts rose a median 6.1–6.2% per year (2024–25 and 2025–26), with only 1 of ~3,400 matched parts falling.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pic>
        <p:nvPicPr>
          <p:cNvPr id="4" name="Image 1" descr="/home/user/SPOT/deck/img/ftai_logo.png">    </p:cNvPr>
          <p:cNvPicPr>
            <a:picLocks noChangeAspect="1"/>
          </p:cNvPicPr>
          <p:nvPr/>
        </p:nvPicPr>
        <p:blipFill>
          <a:blip r:embed="rId2"/>
          <a:stretch>
            <a:fillRect/>
          </a:stretch>
        </p:blipFill>
        <p:spPr>
          <a:xfrm>
            <a:off x="7452360" y="246888"/>
            <a:ext cx="1371600" cy="522923"/>
          </a:xfrm>
          <a:prstGeom prst="rect">
            <a:avLst/>
          </a:prstGeom>
        </p:spPr>
      </p:pic>
      <p:sp>
        <p:nvSpPr>
          <p:cNvPr id="5" name="Text 1"/>
          <p:cNvSpPr/>
          <p:nvPr>
            <p:ph idx="103" type="title" hasCustomPrompt="1"/>
          </p:nvPr>
        </p:nvSpPr>
        <p:spPr>
          <a:xfrm>
            <a:off x="320040" y="182880"/>
            <a:ext cx="704088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pic>
        <p:nvPicPr>
          <p:cNvPr id="4" name="Image 1" descr="/home/user/SPOT/deck/img/ftai_logo.png">    </p:cNvPr>
          <p:cNvPicPr>
            <a:picLocks noChangeAspect="1"/>
          </p:cNvPicPr>
          <p:nvPr/>
        </p:nvPicPr>
        <p:blipFill>
          <a:blip r:embed="rId2"/>
          <a:stretch>
            <a:fillRect/>
          </a:stretch>
        </p:blipFill>
        <p:spPr>
          <a:xfrm>
            <a:off x="7452360" y="246888"/>
            <a:ext cx="1371600" cy="522923"/>
          </a:xfrm>
          <a:prstGeom prst="rect">
            <a:avLst/>
          </a:prstGeom>
        </p:spPr>
      </p:pic>
      <p:sp>
        <p:nvSpPr>
          <p:cNvPr id="5" name="Text 1"/>
          <p:cNvSpPr/>
          <p:nvPr>
            <p:ph idx="103" type="title" hasCustomPrompt="1"/>
          </p:nvPr>
        </p:nvSpPr>
        <p:spPr>
          <a:xfrm>
            <a:off x="320040" y="182880"/>
            <a:ext cx="704088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6" name="Text 1"/>
          <p:cNvSpPr/>
          <p:nvPr>
            <p:ph idx="104"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e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jpe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e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3.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pic>
        <p:nvPicPr>
          <p:cNvPr id="3" name="FTAI logo" descr="/home/user/SPOT/deck/img/ftai_logo.png">    </p:cNvPr>
          <p:cNvPicPr>
            <a:picLocks noChangeAspect="1"/>
          </p:cNvPicPr>
          <p:nvPr/>
        </p:nvPicPr>
        <p:blipFill>
          <a:blip r:embed="rId1"/>
          <a:stretch>
            <a:fillRect/>
          </a:stretch>
        </p:blipFill>
        <p:spPr>
          <a:xfrm>
            <a:off x="6766560" y="365760"/>
            <a:ext cx="2011680" cy="766953"/>
          </a:xfrm>
          <a:prstGeom prst="rect">
            <a:avLst/>
          </a:prstGeom>
        </p:spPr>
      </p:pic>
      <p:sp>
        <p:nvSpPr>
          <p:cNvPr id="4"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rgbClr val="EE6E25"/>
                </a:solidFill>
              </a:rPr>
              <a:t>Long Recommendation</a:t>
            </a:r>
            <a:endParaRPr lang="en-US" sz="2800" dirty="0"/>
          </a:p>
        </p:txBody>
      </p:sp>
      <p:sp>
        <p:nvSpPr>
          <p:cNvPr id="5"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6"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7"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8"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9" name="Stat divider 1"/>
          <p:cNvSpPr/>
          <p:nvPr/>
        </p:nvSpPr>
        <p:spPr>
          <a:xfrm>
            <a:off x="2560320" y="2697480"/>
            <a:ext cx="0" cy="1051560"/>
          </a:xfrm>
          <a:prstGeom prst="line">
            <a:avLst/>
          </a:prstGeom>
          <a:noFill/>
          <a:ln w="12700">
            <a:solidFill>
              <a:srgbClr val="DCD8D3"/>
            </a:solidFill>
            <a:prstDash val="solid"/>
          </a:ln>
        </p:spPr>
      </p:sp>
      <p:sp>
        <p:nvSpPr>
          <p:cNvPr id="10"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rgbClr val="EE6E25"/>
                </a:solidFill>
              </a:rPr>
              <a:t>84%</a:t>
            </a:r>
            <a:endParaRPr lang="en-US" sz="4800" dirty="0"/>
          </a:p>
        </p:txBody>
      </p:sp>
      <p:sp>
        <p:nvSpPr>
          <p:cNvPr id="11"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2" name="Stat divider 2"/>
          <p:cNvSpPr/>
          <p:nvPr/>
        </p:nvSpPr>
        <p:spPr>
          <a:xfrm>
            <a:off x="4572000" y="2697480"/>
            <a:ext cx="0" cy="1051560"/>
          </a:xfrm>
          <a:prstGeom prst="line">
            <a:avLst/>
          </a:prstGeom>
          <a:noFill/>
          <a:ln w="12700">
            <a:solidFill>
              <a:srgbClr val="DCD8D3"/>
            </a:solidFill>
            <a:prstDash val="solid"/>
          </a:ln>
        </p:spPr>
      </p:sp>
      <p:sp>
        <p:nvSpPr>
          <p:cNvPr id="13"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rgbClr val="EE6E25"/>
                </a:solidFill>
              </a:rPr>
              <a:t>3.4x</a:t>
            </a:r>
            <a:endParaRPr lang="en-US" sz="4800" dirty="0"/>
          </a:p>
        </p:txBody>
      </p:sp>
      <p:sp>
        <p:nvSpPr>
          <p:cNvPr id="14"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5" name="Stat divider 3"/>
          <p:cNvSpPr/>
          <p:nvPr/>
        </p:nvSpPr>
        <p:spPr>
          <a:xfrm>
            <a:off x="6583680" y="2697480"/>
            <a:ext cx="0" cy="1051560"/>
          </a:xfrm>
          <a:prstGeom prst="line">
            <a:avLst/>
          </a:prstGeom>
          <a:noFill/>
          <a:ln w="12700">
            <a:solidFill>
              <a:srgbClr val="DCD8D3"/>
            </a:solidFill>
            <a:prstDash val="solid"/>
          </a:ln>
        </p:spPr>
      </p:sp>
      <p:sp>
        <p:nvSpPr>
          <p:cNvPr id="16"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7"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8"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9" name="GPS logo" descr="/home/user/SPOT/deck/gps_logo.jpeg">    </p:cNvPr>
          <p:cNvPicPr>
            <a:picLocks noChangeAspect="1"/>
          </p:cNvPicPr>
          <p:nvPr/>
        </p:nvPicPr>
        <p:blipFill>
          <a:blip r:embed="rId2"/>
          <a:stretch>
            <a:fillRect/>
          </a:stretch>
        </p:blipFill>
        <p:spPr>
          <a:xfrm>
            <a:off x="5897880" y="5532120"/>
            <a:ext cx="1234440" cy="1133856"/>
          </a:xfrm>
          <a:prstGeom prst="rect">
            <a:avLst/>
          </a:prstGeom>
        </p:spPr>
      </p:pic>
      <p:sp>
        <p:nvSpPr>
          <p:cNvPr id="20" name="Logo divider"/>
          <p:cNvSpPr/>
          <p:nvPr/>
        </p:nvSpPr>
        <p:spPr>
          <a:xfrm>
            <a:off x="7360920" y="5577840"/>
            <a:ext cx="0" cy="1097280"/>
          </a:xfrm>
          <a:prstGeom prst="line">
            <a:avLst/>
          </a:prstGeom>
          <a:noFill/>
          <a:ln w="12700">
            <a:solidFill>
              <a:srgbClr val="847C7A"/>
            </a:solidFill>
            <a:prstDash val="solid"/>
          </a:ln>
        </p:spPr>
      </p:sp>
      <p:sp>
        <p:nvSpPr>
          <p:cNvPr id="21"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a:t>
            </a:r>
            <a:endParaRPr lang="en-US" sz="30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 (1/3)</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9050">
            <a:solidFill>
              <a:srgbClr val="2E93AE"/>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9050">
            <a:solidFill>
              <a:srgbClr val="2E93AE"/>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 (2/3)</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9050">
            <a:solidFill>
              <a:srgbClr val="2E93AE"/>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9050">
            <a:solidFill>
              <a:srgbClr val="2E93AE"/>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 (3/3)</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Turbine makers are sold out for years, yet the market assigns no value to FTAI's Power.</a:t>
            </a:r>
            <a:endParaRPr lang="en-US" sz="1700" dirty="0"/>
          </a:p>
        </p:txBody>
      </p:sp>
      <p:sp>
        <p:nvSpPr>
          <p:cNvPr id="4" name="Backlog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Combined Gas Turbine Backlog (GW)</a:t>
            </a:r>
            <a:endParaRPr lang="en-US" sz="1600" dirty="0"/>
          </a:p>
        </p:txBody>
      </p:sp>
      <p:sp>
        <p:nvSpPr>
          <p:cNvPr id="5" name="Backlog header rule"/>
          <p:cNvSpPr/>
          <p:nvPr/>
        </p:nvSpPr>
        <p:spPr>
          <a:xfrm>
            <a:off x="320040" y="1975104"/>
            <a:ext cx="5257800" cy="0"/>
          </a:xfrm>
          <a:prstGeom prst="line">
            <a:avLst/>
          </a:prstGeom>
          <a:noFill/>
          <a:ln w="19050">
            <a:solidFill>
              <a:srgbClr val="2E93AE"/>
            </a:solidFill>
            <a:prstDash val="solid"/>
          </a:ln>
        </p:spPr>
      </p:sp>
      <p:graphicFrame>
        <p:nvGraphicFramePr>
          <p:cNvPr id="6" name="Combined backlog chart" descr=""/>
          <p:cNvGraphicFramePr/>
          <p:nvPr/>
        </p:nvGraphicFramePr>
        <p:xfrm>
          <a:off x="320040" y="2103120"/>
          <a:ext cx="5257800" cy="2651760"/>
        </p:xfrm>
        <a:graphic xmlns:a="http://schemas.openxmlformats.org/drawingml/2006/main">
          <a:graphicData uri="http://schemas.openxmlformats.org/drawingml/2006/chart">
            <c:chart xmlns:c="http://schemas.openxmlformats.org/drawingml/2006/chart" r:id="rId1"/>
          </a:graphicData>
        </a:graphic>
      </p:graphicFrame>
      <p:sp>
        <p:nvSpPr>
          <p:cNvPr id="7" name="Total 2025"/>
          <p:cNvSpPr txBox="1"/>
          <p:nvPr/>
        </p:nvSpPr>
        <p:spPr>
          <a:xfrm>
            <a:off x="1097280" y="301752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115 GW</a:t>
            </a:r>
            <a:endParaRPr lang="en-US" sz="1600" dirty="0"/>
          </a:p>
        </p:txBody>
      </p:sp>
      <p:sp>
        <p:nvSpPr>
          <p:cNvPr id="8" name="Total 2026"/>
          <p:cNvSpPr txBox="1"/>
          <p:nvPr/>
        </p:nvSpPr>
        <p:spPr>
          <a:xfrm>
            <a:off x="3749040" y="205740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220 GW</a:t>
            </a:r>
            <a:endParaRPr lang="en-US" sz="1600" dirty="0"/>
          </a:p>
        </p:txBody>
      </p:sp>
      <p:sp>
        <p:nvSpPr>
          <p:cNvPr id="9" name="Backlog arrow"/>
          <p:cNvSpPr/>
          <p:nvPr/>
        </p:nvSpPr>
        <p:spPr>
          <a:xfrm flipV="1">
            <a:off x="2331720" y="2377440"/>
            <a:ext cx="1371600" cy="777240"/>
          </a:xfrm>
          <a:prstGeom prst="line">
            <a:avLst/>
          </a:prstGeom>
          <a:noFill/>
          <a:ln w="31750">
            <a:solidFill>
              <a:srgbClr val="0A1C58"/>
            </a:solidFill>
            <a:prstDash val="solid"/>
            <a:tailEnd type="triangle"/>
          </a:ln>
        </p:spPr>
      </p:sp>
      <p:sp>
        <p:nvSpPr>
          <p:cNvPr id="10" name="Growth label"/>
          <p:cNvSpPr txBox="1"/>
          <p:nvPr/>
        </p:nvSpPr>
        <p:spPr>
          <a:xfrm>
            <a:off x="2057400" y="2331720"/>
            <a:ext cx="914400" cy="310896"/>
          </a:xfrm>
          <a:prstGeom prst="rect">
            <a:avLst/>
          </a:prstGeom>
          <a:noFill/>
          <a:ln/>
        </p:spPr>
        <p:txBody>
          <a:bodyPr wrap="square" lIns="0" tIns="0" rIns="0" bIns="0" rtlCol="0" anchor="ctr"/>
          <a:lstStyle/>
          <a:p>
            <a:pPr algn="ctr" indent="0" marL="0">
              <a:buNone/>
            </a:pPr>
            <a:r>
              <a:rPr lang="en-US" sz="1800" b="1" dirty="0">
                <a:solidFill>
                  <a:schemeClr val="tx2"/>
                </a:solidFill>
              </a:rPr>
              <a:t>~1.9x</a:t>
            </a:r>
            <a:endParaRPr lang="en-US" sz="1800" dirty="0"/>
          </a:p>
        </p:txBody>
      </p:sp>
      <p:sp>
        <p:nvSpPr>
          <p:cNvPr id="11" name="Backlog legend"/>
          <p:cNvSpPr txBox="1"/>
          <p:nvPr/>
        </p:nvSpPr>
        <p:spPr>
          <a:xfrm>
            <a:off x="320040" y="4754880"/>
            <a:ext cx="5257800" cy="237744"/>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GE Vernova  </a:t>
            </a:r>
            <a:pPr algn="ctr" indent="0" marL="0">
              <a:buNone/>
            </a:pPr>
            <a:r>
              <a:rPr lang="en-US" sz="1100" dirty="0">
                <a:solidFill>
                  <a:srgbClr val="3B4C82"/>
                </a:solidFill>
              </a:rPr>
              <a:t>■ </a:t>
            </a:r>
            <a:pPr algn="ctr" indent="0" marL="0">
              <a:buNone/>
            </a:pPr>
            <a:r>
              <a:rPr lang="en-US" sz="1100" dirty="0">
                <a:solidFill>
                  <a:srgbClr val="1A1A1A"/>
                </a:solidFill>
              </a:rPr>
              <a:t>Siemens Energy  </a:t>
            </a:r>
            <a:pPr algn="ctr" indent="0" marL="0">
              <a:buNone/>
            </a:pPr>
            <a:r>
              <a:rPr lang="en-US" sz="1100" dirty="0">
                <a:solidFill>
                  <a:srgbClr val="2E93AE"/>
                </a:solidFill>
              </a:rPr>
              <a:t>■ </a:t>
            </a:r>
            <a:pPr algn="ctr" indent="0" marL="0">
              <a:buNone/>
            </a:pPr>
            <a:r>
              <a:rPr lang="en-US" sz="1100" dirty="0">
                <a:solidFill>
                  <a:srgbClr val="1A1A1A"/>
                </a:solidFill>
              </a:rPr>
              <a:t>Mitsubishi</a:t>
            </a:r>
            <a:endParaRPr lang="en-US" sz="1100" dirty="0"/>
          </a:p>
        </p:txBody>
      </p:sp>
      <p:sp>
        <p:nvSpPr>
          <p:cNvPr id="12" name="Backlog caption"/>
          <p:cNvSpPr txBox="1"/>
          <p:nvPr/>
        </p:nvSpPr>
        <p:spPr>
          <a:xfrm>
            <a:off x="320040" y="5010912"/>
            <a:ext cx="5257800" cy="274320"/>
          </a:xfrm>
          <a:prstGeom prst="rect">
            <a:avLst/>
          </a:prstGeom>
          <a:noFill/>
          <a:ln/>
        </p:spPr>
        <p:txBody>
          <a:bodyPr wrap="square" lIns="0" tIns="0" rIns="0" bIns="0" rtlCol="0" anchor="ctr"/>
          <a:lstStyle/>
          <a:p>
            <a:pPr algn="ctr" indent="0" marL="0">
              <a:buNone/>
            </a:pPr>
            <a:r>
              <a:rPr lang="en-US" sz="1000" i="1" dirty="0">
                <a:solidFill>
                  <a:schemeClr val="accent2"/>
                </a:solidFill>
              </a:rPr>
              <a:t>GE Vernova booking out to 2031; Siemens lead times 3+ years</a:t>
            </a:r>
            <a:endParaRPr lang="en-US" sz="1000" dirty="0"/>
          </a:p>
        </p:txBody>
      </p:sp>
      <p:sp>
        <p:nvSpPr>
          <p:cNvPr id="13"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4" name="Power stats header rule"/>
          <p:cNvSpPr/>
          <p:nvPr/>
        </p:nvSpPr>
        <p:spPr>
          <a:xfrm>
            <a:off x="5897880" y="1975104"/>
            <a:ext cx="2926080" cy="0"/>
          </a:xfrm>
          <a:prstGeom prst="line">
            <a:avLst/>
          </a:prstGeom>
          <a:noFill/>
          <a:ln w="19050">
            <a:solidFill>
              <a:srgbClr val="2E93AE"/>
            </a:solidFill>
            <a:prstDash val="solid"/>
          </a:ln>
        </p:spPr>
      </p:sp>
      <p:sp>
        <p:nvSpPr>
          <p:cNvPr id="15"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rgbClr val="EE6E25"/>
                </a:solidFill>
              </a:rPr>
              <a:t>$1.465B</a:t>
            </a:r>
            <a:endParaRPr lang="en-US" sz="3000" dirty="0"/>
          </a:p>
        </p:txBody>
      </p:sp>
      <p:sp>
        <p:nvSpPr>
          <p:cNvPr id="16"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7"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rgbClr val="EE6E25"/>
                </a:solidFill>
              </a:rPr>
              <a:t>$450–750M</a:t>
            </a:r>
            <a:endParaRPr lang="en-US" sz="3000" dirty="0"/>
          </a:p>
        </p:txBody>
      </p:sp>
      <p:sp>
        <p:nvSpPr>
          <p:cNvPr id="18"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9"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rgbClr val="EE6E25"/>
                </a:solidFill>
              </a:rPr>
              <a:t>25 MW</a:t>
            </a:r>
            <a:endParaRPr lang="en-US" sz="3000" dirty="0"/>
          </a:p>
        </p:txBody>
      </p:sp>
      <p:sp>
        <p:nvSpPr>
          <p:cNvPr id="20"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2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2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Vernova, Siemens Energy and MHI results, mid-2025 vs. mid-2026 (via Utility Dive, Industrial Info); FTAI filings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Returns Summary</a:t>
            </a:r>
            <a:endParaRPr lang="en-US" sz="30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rgbClr val="EE6E25"/>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rgbClr val="EE6E25"/>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rgbClr val="EE6E25"/>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2E93AE"/>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Business Overview (1/2)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rgbClr val="EE6E25"/>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rgbClr val="EE6E25"/>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rgbClr val="EE6E25"/>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Business Overview (2/2)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9050">
            <a:solidFill>
              <a:srgbClr val="2E93AE"/>
            </a:solidFill>
            <a:prstDash val="solid"/>
          </a:ln>
        </p:spPr>
      </p:sp>
      <p:sp>
        <p:nvSpPr>
          <p:cNvPr id="6" name="Loop ring"/>
          <p:cNvSpPr/>
          <p:nvPr/>
        </p:nvSpPr>
        <p:spPr>
          <a:xfrm>
            <a:off x="914400" y="2514600"/>
            <a:ext cx="2743200" cy="2231136"/>
          </a:xfrm>
          <a:prstGeom prst="ellipse">
            <a:avLst/>
          </a:prstGeom>
          <a:ln w="38100">
            <a:solidFill>
              <a:srgbClr val="2E93AE"/>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9050">
            <a:solidFill>
              <a:srgbClr val="2E93AE"/>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45" name="After engine 2 module 2"/>
          <p:cNvSpPr/>
          <p:nvPr/>
        </p:nvSpPr>
        <p:spPr>
          <a:xfrm>
            <a:off x="8037576"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46" name="After engine 2 module 3"/>
          <p:cNvSpPr/>
          <p:nvPr/>
        </p:nvSpPr>
        <p:spPr>
          <a:xfrm>
            <a:off x="8458200"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(1/4)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9050">
            <a:solidFill>
              <a:srgbClr val="2E93AE"/>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9050">
            <a:solidFill>
              <a:srgbClr val="2E93AE"/>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(2/4)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9050">
            <a:solidFill>
              <a:srgbClr val="2E93AE"/>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9050">
            <a:solidFill>
              <a:srgbClr val="2E93AE"/>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(3/4)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9050">
            <a:solidFill>
              <a:srgbClr val="2E93AE"/>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rgbClr val="2E93AE"/>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EE6E25"/>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EE6E25"/>
          </a:solidFill>
          <a:ln>
            <a:solidFill>
              <a:srgbClr val="EE6E25"/>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9050">
            <a:solidFill>
              <a:srgbClr val="2E93AE"/>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(4/4)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9050">
            <a:solidFill>
              <a:srgbClr val="2E93AE"/>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9050">
            <a:solidFill>
              <a:srgbClr val="2E93AE"/>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(1/5)</a:t>
            </a:r>
            <a:endParaRPr lang="en-US" sz="30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(2/5)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9050">
            <a:solidFill>
              <a:srgbClr val="2E93AE"/>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9050">
            <a:solidFill>
              <a:srgbClr val="2E93AE"/>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2E93AE"/>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rgbClr val="EE6E25"/>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rgbClr val="EE6E25"/>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(3/5)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2E93AE"/>
          </a:solidFill>
          <a:ln/>
        </p:spPr>
        <p:txBody>
          <a:bodyPr wrap="square" lIns="0" tIns="0" rIns="0" bIns="0" rtlCol="0" anchor="ctr"/>
          <a:lstStyle/>
          <a:p>
            <a:pPr algn="ctr" indent="0" marL="0">
              <a:buNone/>
            </a:pPr>
            <a:r>
              <a:rPr lang="en-US" sz="900" b="1" dirty="0">
                <a:solidFill>
                  <a:schemeClr val="bg1"/>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2E93AE"/>
          </a:solidFill>
          <a:ln/>
        </p:spPr>
        <p:txBody>
          <a:bodyPr wrap="square" lIns="0" tIns="0" rIns="0" bIns="0" rtlCol="0" anchor="ctr"/>
          <a:lstStyle/>
          <a:p>
            <a:pPr algn="ctr" indent="0" marL="0">
              <a:buNone/>
            </a:pPr>
            <a:r>
              <a:rPr lang="en-US" sz="900" b="1" dirty="0">
                <a:solidFill>
                  <a:schemeClr val="bg1"/>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2E93AE"/>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9050">
            <a:solidFill>
              <a:srgbClr val="2E93AE"/>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2E93AE"/>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(4/5)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9050">
            <a:solidFill>
              <a:srgbClr val="2E93AE"/>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2E93AE"/>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9050">
            <a:solidFill>
              <a:srgbClr val="2E93AE"/>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(5/5)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9050">
            <a:solidFill>
              <a:srgbClr val="2E93AE"/>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9050">
            <a:solidFill>
              <a:srgbClr val="2E93AE"/>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2E93AE"/>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LEAP Upside (1/2)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EE6E25"/>
          </a:solidFill>
          <a:ln w="31750">
            <a:solidFill>
              <a:srgbClr val="EE6E25"/>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LEAP Upside (2/2)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(1/4)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9050">
            <a:solidFill>
              <a:srgbClr val="2E93AE"/>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9050">
            <a:solidFill>
              <a:srgbClr val="2E93AE"/>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(2/4)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9050">
            <a:solidFill>
              <a:srgbClr val="2E93AE"/>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331720" y="2103120"/>
            <a:ext cx="960120" cy="96012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9050">
            <a:solidFill>
              <a:srgbClr val="2E93AE"/>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(3/4)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9050">
            <a:solidFill>
              <a:srgbClr val="2E93AE"/>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2E93AE"/>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9050">
            <a:solidFill>
              <a:srgbClr val="2E93AE"/>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2E93AE"/>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2E93AE"/>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(4/4)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9050">
            <a:solidFill>
              <a:srgbClr val="2E93AE"/>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2E93AE"/>
          </a:solidFill>
          <a:ln/>
        </p:spPr>
        <p:txBody>
          <a:bodyPr wrap="square" lIns="25400" tIns="25400" rIns="25400" bIns="25400" rtlCol="0" anchor="ctr"/>
          <a:lstStyle/>
          <a:p>
            <a:pPr algn="ctr" indent="0" marL="0">
              <a:buNone/>
            </a:pPr>
            <a:r>
              <a:rPr lang="en-US" sz="1400" b="1" dirty="0">
                <a:solidFill>
                  <a:schemeClr val="bg1"/>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9050">
            <a:solidFill>
              <a:srgbClr val="2E93AE"/>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What You Need to Believe</a:t>
            </a:r>
            <a:endParaRPr lang="en-US" sz="3000" dirty="0"/>
          </a:p>
        </p:txBody>
      </p:sp>
      <p:sp>
        <p:nvSpPr>
          <p:cNvPr id="3" name="Belief 1 number"/>
          <p:cNvSpPr/>
          <p:nvPr/>
        </p:nvSpPr>
        <p:spPr>
          <a:xfrm>
            <a:off x="1051560" y="1170432"/>
            <a:ext cx="457200" cy="45720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Valuation: Sum of the Parts</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At $167 the market prices our bear case. Each thesis builds from there to $277.</a:t>
            </a:r>
            <a:endParaRPr lang="en-US" sz="1700" dirty="0"/>
          </a:p>
        </p:txBody>
      </p:sp>
      <p:sp>
        <p:nvSpPr>
          <p:cNvPr id="4" name="Waterfall header"/>
          <p:cNvSpPr txBox="1"/>
          <p:nvPr/>
        </p:nvSpPr>
        <p:spPr>
          <a:xfrm>
            <a:off x="320040" y="1554480"/>
            <a:ext cx="5715000" cy="365760"/>
          </a:xfrm>
          <a:prstGeom prst="rect">
            <a:avLst/>
          </a:prstGeom>
          <a:noFill/>
          <a:ln/>
        </p:spPr>
        <p:txBody>
          <a:bodyPr wrap="square" lIns="0" tIns="0" rIns="0" bIns="0" rtlCol="0" anchor="b"/>
          <a:lstStyle/>
          <a:p>
            <a:pPr algn="ctr" indent="0" marL="0">
              <a:buNone/>
            </a:pPr>
            <a:r>
              <a:rPr lang="en-US" sz="1600" b="1" dirty="0">
                <a:solidFill>
                  <a:srgbClr val="1A1A1A"/>
                </a:solidFill>
              </a:rPr>
              <a:t>From Today to Our Base Case ($ / Share)</a:t>
            </a:r>
            <a:endParaRPr lang="en-US" sz="1600" dirty="0"/>
          </a:p>
        </p:txBody>
      </p:sp>
      <p:sp>
        <p:nvSpPr>
          <p:cNvPr id="5" name="Waterfall header rule"/>
          <p:cNvSpPr/>
          <p:nvPr/>
        </p:nvSpPr>
        <p:spPr>
          <a:xfrm>
            <a:off x="320040" y="1975104"/>
            <a:ext cx="5715000" cy="0"/>
          </a:xfrm>
          <a:prstGeom prst="line">
            <a:avLst/>
          </a:prstGeom>
          <a:noFill/>
          <a:ln w="19050">
            <a:solidFill>
              <a:srgbClr val="2E93AE"/>
            </a:solidFill>
            <a:prstDash val="solid"/>
          </a:ln>
        </p:spPr>
      </p:sp>
      <p:graphicFrame>
        <p:nvGraphicFramePr>
          <p:cNvPr id="6" name="Thesis waterfall" descr=""/>
          <p:cNvGraphicFramePr/>
          <p:nvPr/>
        </p:nvGraphicFramePr>
        <p:xfrm>
          <a:off x="320040" y="2103120"/>
          <a:ext cx="5715000" cy="2971800"/>
        </p:xfrm>
        <a:graphic xmlns:a="http://schemas.openxmlformats.org/drawingml/2006/main">
          <a:graphicData uri="http://schemas.openxmlformats.org/drawingml/2006/chart">
            <c:chart xmlns:c="http://schemas.openxmlformats.org/drawingml/2006/chart" r:id="rId1"/>
          </a:graphicData>
        </a:graphic>
      </p:graphicFrame>
      <p:sp>
        <p:nvSpPr>
          <p:cNvPr id="7" name="Waterfall label 1"/>
          <p:cNvSpPr txBox="1"/>
          <p:nvPr/>
        </p:nvSpPr>
        <p:spPr>
          <a:xfrm>
            <a:off x="475488" y="2956932"/>
            <a:ext cx="822960" cy="237744"/>
          </a:xfrm>
          <a:prstGeom prst="rect">
            <a:avLst/>
          </a:prstGeom>
          <a:noFill/>
          <a:ln/>
        </p:spPr>
        <p:txBody>
          <a:bodyPr wrap="square" lIns="0" tIns="0" rIns="0" bIns="0" rtlCol="0" anchor="b"/>
          <a:lstStyle/>
          <a:p>
            <a:pPr algn="ctr" indent="0" marL="0">
              <a:buNone/>
            </a:pPr>
            <a:r>
              <a:rPr lang="en-US" sz="1300" b="1" dirty="0">
                <a:solidFill>
                  <a:srgbClr val="1A1A1A"/>
                </a:solidFill>
              </a:rPr>
              <a:t>$167</a:t>
            </a:r>
            <a:endParaRPr lang="en-US" sz="1300" dirty="0"/>
          </a:p>
        </p:txBody>
      </p:sp>
      <p:sp>
        <p:nvSpPr>
          <p:cNvPr id="8" name="Waterfall label 2"/>
          <p:cNvSpPr txBox="1"/>
          <p:nvPr/>
        </p:nvSpPr>
        <p:spPr>
          <a:xfrm>
            <a:off x="1389888" y="291759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a:t>
            </a:r>
            <a:endParaRPr lang="en-US" sz="1300" dirty="0"/>
          </a:p>
        </p:txBody>
      </p:sp>
      <p:sp>
        <p:nvSpPr>
          <p:cNvPr id="9" name="Waterfall label 3"/>
          <p:cNvSpPr txBox="1"/>
          <p:nvPr/>
        </p:nvSpPr>
        <p:spPr>
          <a:xfrm>
            <a:off x="2304288" y="278110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+$17</a:t>
            </a:r>
            <a:endParaRPr lang="en-US" sz="1300" dirty="0"/>
          </a:p>
        </p:txBody>
      </p:sp>
      <p:sp>
        <p:nvSpPr>
          <p:cNvPr id="10" name="Waterfall label 4"/>
          <p:cNvSpPr txBox="1"/>
          <p:nvPr/>
        </p:nvSpPr>
        <p:spPr>
          <a:xfrm>
            <a:off x="3218688" y="251857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+$33</a:t>
            </a:r>
            <a:endParaRPr lang="en-US" sz="1300" dirty="0"/>
          </a:p>
        </p:txBody>
      </p:sp>
      <p:sp>
        <p:nvSpPr>
          <p:cNvPr id="11" name="Waterfall label 5"/>
          <p:cNvSpPr txBox="1"/>
          <p:nvPr/>
        </p:nvSpPr>
        <p:spPr>
          <a:xfrm>
            <a:off x="4133088" y="207621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+$55</a:t>
            </a:r>
            <a:endParaRPr lang="en-US" sz="1300" dirty="0"/>
          </a:p>
        </p:txBody>
      </p:sp>
      <p:sp>
        <p:nvSpPr>
          <p:cNvPr id="12" name="Waterfall label 6"/>
          <p:cNvSpPr txBox="1"/>
          <p:nvPr/>
        </p:nvSpPr>
        <p:spPr>
          <a:xfrm>
            <a:off x="5047488" y="2077016"/>
            <a:ext cx="822960" cy="237744"/>
          </a:xfrm>
          <a:prstGeom prst="rect">
            <a:avLst/>
          </a:prstGeom>
          <a:noFill/>
          <a:ln/>
        </p:spPr>
        <p:txBody>
          <a:bodyPr wrap="square" lIns="0" tIns="0" rIns="0" bIns="0" rtlCol="0" anchor="b"/>
          <a:lstStyle/>
          <a:p>
            <a:pPr algn="ctr" indent="0" marL="0">
              <a:buNone/>
            </a:pPr>
            <a:r>
              <a:rPr lang="en-US" sz="1300" b="1" dirty="0">
                <a:solidFill>
                  <a:srgbClr val="EE6E25"/>
                </a:solidFill>
              </a:rPr>
              <a:t>$277</a:t>
            </a:r>
            <a:endParaRPr lang="en-US" sz="1300" dirty="0"/>
          </a:p>
        </p:txBody>
      </p:sp>
      <p:sp>
        <p:nvSpPr>
          <p:cNvPr id="13" name="Waterfall caption"/>
          <p:cNvSpPr txBox="1"/>
          <p:nvPr/>
        </p:nvSpPr>
        <p:spPr>
          <a:xfrm>
            <a:off x="320040" y="5074920"/>
            <a:ext cx="5715000" cy="256032"/>
          </a:xfrm>
          <a:prstGeom prst="rect">
            <a:avLst/>
          </a:prstGeom>
          <a:noFill/>
          <a:ln/>
        </p:spPr>
        <p:txBody>
          <a:bodyPr wrap="square" lIns="0" tIns="0" rIns="0" bIns="0" rtlCol="0" anchor="ctr"/>
          <a:lstStyle/>
          <a:p>
            <a:pPr algn="ctr" indent="0" marL="0">
              <a:buNone/>
            </a:pPr>
            <a:r>
              <a:rPr lang="en-US" sz="1000" i="1" dirty="0">
                <a:solidFill>
                  <a:schemeClr val="accent2"/>
                </a:solidFill>
              </a:rPr>
              <a:t>FY27E SOTP; each thesis switched from our bear case to base (Shapley average)</a:t>
            </a:r>
            <a:endParaRPr lang="en-US" sz="1000" dirty="0"/>
          </a:p>
        </p:txBody>
      </p:sp>
      <p:sp>
        <p:nvSpPr>
          <p:cNvPr id="14" name="Means header"/>
          <p:cNvSpPr txBox="1"/>
          <p:nvPr/>
        </p:nvSpPr>
        <p:spPr>
          <a:xfrm>
            <a:off x="6309360" y="1554480"/>
            <a:ext cx="2514600" cy="365760"/>
          </a:xfrm>
          <a:prstGeom prst="rect">
            <a:avLst/>
          </a:prstGeom>
          <a:noFill/>
          <a:ln/>
        </p:spPr>
        <p:txBody>
          <a:bodyPr wrap="square" lIns="0" tIns="0" rIns="0" bIns="0" rtlCol="0" anchor="b"/>
          <a:lstStyle/>
          <a:p>
            <a:pPr algn="ctr" indent="0" marL="0">
              <a:buNone/>
            </a:pPr>
            <a:r>
              <a:rPr lang="en-US" sz="1600" b="1" dirty="0">
                <a:solidFill>
                  <a:srgbClr val="1A1A1A"/>
                </a:solidFill>
              </a:rPr>
              <a:t>What It Means</a:t>
            </a:r>
            <a:endParaRPr lang="en-US" sz="1600" dirty="0"/>
          </a:p>
        </p:txBody>
      </p:sp>
      <p:sp>
        <p:nvSpPr>
          <p:cNvPr id="15" name="Means header rule"/>
          <p:cNvSpPr/>
          <p:nvPr/>
        </p:nvSpPr>
        <p:spPr>
          <a:xfrm>
            <a:off x="6309360" y="1975104"/>
            <a:ext cx="2514600" cy="0"/>
          </a:xfrm>
          <a:prstGeom prst="line">
            <a:avLst/>
          </a:prstGeom>
          <a:noFill/>
          <a:ln w="19050">
            <a:solidFill>
              <a:srgbClr val="2E93AE"/>
            </a:solidFill>
            <a:prstDash val="solid"/>
          </a:ln>
        </p:spPr>
      </p:sp>
      <p:sp>
        <p:nvSpPr>
          <p:cNvPr id="16" name="Means stat 1"/>
          <p:cNvSpPr txBox="1"/>
          <p:nvPr/>
        </p:nvSpPr>
        <p:spPr>
          <a:xfrm>
            <a:off x="6309360" y="2103120"/>
            <a:ext cx="2514600" cy="914400"/>
          </a:xfrm>
          <a:prstGeom prst="rect">
            <a:avLst/>
          </a:prstGeom>
          <a:noFill/>
          <a:ln/>
        </p:spPr>
        <p:txBody>
          <a:bodyPr wrap="square" lIns="0" tIns="0" rIns="0" bIns="0" rtlCol="0" anchor="ctr"/>
          <a:lstStyle/>
          <a:p>
            <a:pPr algn="ctr" indent="0" marL="0">
              <a:buNone/>
            </a:pPr>
            <a:r>
              <a:rPr lang="en-US" sz="2800" b="1" dirty="0">
                <a:solidFill>
                  <a:srgbClr val="EE6E25"/>
                </a:solidFill>
              </a:rPr>
              <a:t>+66%</a:t>
            </a:r>
            <a:endParaRPr lang="en-US" sz="2800" dirty="0"/>
          </a:p>
          <a:p>
            <a:pPr algn="ctr" indent="0" marL="0">
              <a:buNone/>
            </a:pPr>
            <a:r>
              <a:rPr lang="en-US" sz="1200" dirty="0">
                <a:solidFill>
                  <a:srgbClr val="1A1A1A"/>
                </a:solidFill>
              </a:rPr>
              <a:t>upside to our $277 base case</a:t>
            </a:r>
            <a:endParaRPr lang="en-US" sz="2800" dirty="0"/>
          </a:p>
        </p:txBody>
      </p:sp>
      <p:sp>
        <p:nvSpPr>
          <p:cNvPr id="17" name="Means stat 2"/>
          <p:cNvSpPr txBox="1"/>
          <p:nvPr/>
        </p:nvSpPr>
        <p:spPr>
          <a:xfrm>
            <a:off x="6309360" y="3108960"/>
            <a:ext cx="2514600" cy="914400"/>
          </a:xfrm>
          <a:prstGeom prst="rect">
            <a:avLst/>
          </a:prstGeom>
          <a:noFill/>
          <a:ln/>
        </p:spPr>
        <p:txBody>
          <a:bodyPr wrap="square" lIns="0" tIns="0" rIns="0" bIns="0" rtlCol="0" anchor="ctr"/>
          <a:lstStyle/>
          <a:p>
            <a:pPr algn="ctr" indent="0" marL="0">
              <a:buNone/>
            </a:pPr>
            <a:r>
              <a:rPr lang="en-US" sz="2800" b="1" dirty="0">
                <a:solidFill>
                  <a:srgbClr val="EE6E25"/>
                </a:solidFill>
              </a:rPr>
              <a:t>$50</a:t>
            </a:r>
            <a:endParaRPr lang="en-US" sz="2800" dirty="0"/>
          </a:p>
          <a:p>
            <a:pPr algn="ctr" indent="0" marL="0">
              <a:buNone/>
            </a:pPr>
            <a:r>
              <a:rPr lang="en-US" sz="1200" dirty="0">
                <a:solidFill>
                  <a:srgbClr val="1A1A1A"/>
                </a:solidFill>
              </a:rPr>
              <a:t>from the aviation theses: margins and share</a:t>
            </a:r>
            <a:endParaRPr lang="en-US" sz="2800" dirty="0"/>
          </a:p>
        </p:txBody>
      </p:sp>
      <p:sp>
        <p:nvSpPr>
          <p:cNvPr id="18" name="Means stat 3"/>
          <p:cNvSpPr txBox="1"/>
          <p:nvPr/>
        </p:nvSpPr>
        <p:spPr>
          <a:xfrm>
            <a:off x="6309360" y="4114800"/>
            <a:ext cx="2514600" cy="914400"/>
          </a:xfrm>
          <a:prstGeom prst="rect">
            <a:avLst/>
          </a:prstGeom>
          <a:noFill/>
          <a:ln/>
        </p:spPr>
        <p:txBody>
          <a:bodyPr wrap="square" lIns="0" tIns="0" rIns="0" bIns="0" rtlCol="0" anchor="ctr"/>
          <a:lstStyle/>
          <a:p>
            <a:pPr algn="ctr" indent="0" marL="0">
              <a:buNone/>
            </a:pPr>
            <a:r>
              <a:rPr lang="en-US" sz="2800" b="1" dirty="0">
                <a:solidFill>
                  <a:srgbClr val="EE6E25"/>
                </a:solidFill>
              </a:rPr>
              <a:t>$55</a:t>
            </a:r>
            <a:endParaRPr lang="en-US" sz="2800" dirty="0"/>
          </a:p>
          <a:p>
            <a:pPr algn="ctr" indent="0" marL="0">
              <a:buNone/>
            </a:pPr>
            <a:r>
              <a:rPr lang="en-US" sz="1200" dirty="0">
                <a:solidFill>
                  <a:srgbClr val="1A1A1A"/>
                </a:solidFill>
              </a:rPr>
              <a:t>from Power, on just the signed order</a:t>
            </a:r>
            <a:endParaRPr lang="en-US" sz="2800" dirty="0"/>
          </a:p>
        </p:txBody>
      </p:sp>
      <p:sp>
        <p:nvSpPr>
          <p:cNvPr id="1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Get the aviation theses right and you make 33%. Power on just the signed order takes it to 66%.</a:t>
            </a:r>
            <a:endParaRPr lang="en-US" sz="1700" dirty="0"/>
          </a:p>
        </p:txBody>
      </p:sp>
      <p:sp>
        <p:nvSpPr>
          <p:cNvPr id="2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Aerospace 16x, Power 12x, Leasing + SCI 9x FY27E EBITDA); thesis attribution re-runs; price $167.03 (10/2/26)</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Catalysts</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Three catalysts over the next 12–15 months, one for each thesis.</a:t>
            </a:r>
            <a:endParaRPr lang="en-US" sz="1700" dirty="0"/>
          </a:p>
        </p:txBody>
      </p:sp>
      <p:sp>
        <p:nvSpPr>
          <p:cNvPr id="4" name="Timeline arrow"/>
          <p:cNvSpPr/>
          <p:nvPr/>
        </p:nvSpPr>
        <p:spPr>
          <a:xfrm>
            <a:off x="4315968" y="1554480"/>
            <a:ext cx="512064" cy="3840480"/>
          </a:xfrm>
          <a:prstGeom prst="downArrow">
            <a:avLst/>
          </a:prstGeom>
          <a:solidFill>
            <a:srgbClr val="0A1C58"/>
          </a:solidFill>
          <a:ln/>
        </p:spPr>
      </p:sp>
      <p:sp>
        <p:nvSpPr>
          <p:cNvPr id="5" name="Catalyst 1 band"/>
          <p:cNvSpPr/>
          <p:nvPr/>
        </p:nvSpPr>
        <p:spPr>
          <a:xfrm>
            <a:off x="320040" y="1691640"/>
            <a:ext cx="8503920" cy="987552"/>
          </a:xfrm>
          <a:prstGeom prst="rect">
            <a:avLst/>
          </a:prstGeom>
          <a:solidFill>
            <a:srgbClr val="EFEDEA"/>
          </a:solidFill>
          <a:ln/>
        </p:spPr>
      </p:sp>
      <p:sp>
        <p:nvSpPr>
          <p:cNvPr id="6" name="Catalyst 1 head"/>
          <p:cNvSpPr txBox="1"/>
          <p:nvPr/>
        </p:nvSpPr>
        <p:spPr>
          <a:xfrm>
            <a:off x="457200" y="1691640"/>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Two quarters of stable margins</a:t>
            </a:r>
            <a:endParaRPr lang="en-US" sz="1500" dirty="0"/>
          </a:p>
        </p:txBody>
      </p:sp>
      <p:sp>
        <p:nvSpPr>
          <p:cNvPr id="7" name="Catalyst 1 date"/>
          <p:cNvSpPr txBox="1"/>
          <p:nvPr/>
        </p:nvSpPr>
        <p:spPr>
          <a:xfrm>
            <a:off x="3794760" y="1865376"/>
            <a:ext cx="1554480" cy="640080"/>
          </a:xfrm>
          <a:prstGeom prst="rect">
            <a:avLst/>
          </a:prstGeom>
          <a:solidFill>
            <a:srgbClr val="FFFFFF"/>
          </a:solidFill>
          <a:ln w="31750">
            <a:solidFill>
              <a:srgbClr val="EE6E25"/>
            </a:solidFill>
          </a:ln>
        </p:spPr>
        <p:txBody>
          <a:bodyPr wrap="square" lIns="0" tIns="0" rIns="0" bIns="0" rtlCol="0" anchor="ctr"/>
          <a:lstStyle/>
          <a:p>
            <a:pPr algn="ctr" indent="0" marL="0">
              <a:buNone/>
            </a:pPr>
            <a:r>
              <a:rPr lang="en-US" sz="1500" b="1" dirty="0">
                <a:solidFill>
                  <a:schemeClr val="tx2"/>
                </a:solidFill>
              </a:rPr>
              <a:t>Q3 &amp; Q4 '26 prints</a:t>
            </a:r>
            <a:endParaRPr lang="en-US" sz="1500" dirty="0"/>
          </a:p>
        </p:txBody>
      </p:sp>
      <p:sp>
        <p:nvSpPr>
          <p:cNvPr id="8" name="Catalyst 1 watch"/>
          <p:cNvSpPr txBox="1"/>
          <p:nvPr/>
        </p:nvSpPr>
        <p:spPr>
          <a:xfrm>
            <a:off x="5486400" y="1691640"/>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Aerospace margins hold at ~30% or better, plus early PMA usage commentary on the Q3 call (late Oct.)</a:t>
            </a:r>
            <a:endParaRPr lang="en-US" sz="1200" dirty="0"/>
          </a:p>
        </p:txBody>
      </p:sp>
      <p:sp>
        <p:nvSpPr>
          <p:cNvPr id="9" name="Catalyst 2 band"/>
          <p:cNvSpPr/>
          <p:nvPr/>
        </p:nvSpPr>
        <p:spPr>
          <a:xfrm>
            <a:off x="320040" y="2907792"/>
            <a:ext cx="8503920" cy="987552"/>
          </a:xfrm>
          <a:prstGeom prst="rect">
            <a:avLst/>
          </a:prstGeom>
          <a:solidFill>
            <a:srgbClr val="EFEDEA"/>
          </a:solidFill>
          <a:ln/>
        </p:spPr>
      </p:sp>
      <p:sp>
        <p:nvSpPr>
          <p:cNvPr id="10" name="Catalyst 2 head"/>
          <p:cNvSpPr txBox="1"/>
          <p:nvPr/>
        </p:nvSpPr>
        <p:spPr>
          <a:xfrm>
            <a:off x="457200" y="2907792"/>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New facilities ramp up</a:t>
            </a:r>
            <a:endParaRPr lang="en-US" sz="1500" dirty="0"/>
          </a:p>
        </p:txBody>
      </p:sp>
      <p:sp>
        <p:nvSpPr>
          <p:cNvPr id="11" name="Catalyst 2 date"/>
          <p:cNvSpPr txBox="1"/>
          <p:nvPr/>
        </p:nvSpPr>
        <p:spPr>
          <a:xfrm>
            <a:off x="3794760" y="3081528"/>
            <a:ext cx="1554480" cy="640080"/>
          </a:xfrm>
          <a:prstGeom prst="rect">
            <a:avLst/>
          </a:prstGeom>
          <a:solidFill>
            <a:srgbClr val="FFFFFF"/>
          </a:solidFill>
          <a:ln w="31750">
            <a:solidFill>
              <a:srgbClr val="EE6E25"/>
            </a:solidFill>
          </a:ln>
        </p:spPr>
        <p:txBody>
          <a:bodyPr wrap="square" lIns="0" tIns="0" rIns="0" bIns="0" rtlCol="0" anchor="ctr"/>
          <a:lstStyle/>
          <a:p>
            <a:pPr algn="ctr" indent="0" marL="0">
              <a:buNone/>
            </a:pPr>
            <a:r>
              <a:rPr lang="en-US" sz="1500" b="1" dirty="0">
                <a:solidFill>
                  <a:schemeClr val="tx2"/>
                </a:solidFill>
              </a:rPr>
              <a:t>1H '27</a:t>
            </a:r>
            <a:endParaRPr lang="en-US" sz="1500" dirty="0"/>
          </a:p>
        </p:txBody>
      </p:sp>
      <p:sp>
        <p:nvSpPr>
          <p:cNvPr id="12" name="Catalyst 2 watch"/>
          <p:cNvSpPr txBox="1"/>
          <p:nvPr/>
        </p:nvSpPr>
        <p:spPr>
          <a:xfrm>
            <a:off x="5486400" y="2907792"/>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Jakarta, Cairo and Lisbon come online, putting FTAI on track for its 1,700-module target</a:t>
            </a:r>
            <a:endParaRPr lang="en-US" sz="1200" dirty="0"/>
          </a:p>
        </p:txBody>
      </p:sp>
      <p:sp>
        <p:nvSpPr>
          <p:cNvPr id="13" name="Catalyst 3 band"/>
          <p:cNvSpPr/>
          <p:nvPr/>
        </p:nvSpPr>
        <p:spPr>
          <a:xfrm>
            <a:off x="320040" y="4123944"/>
            <a:ext cx="8503920" cy="987552"/>
          </a:xfrm>
          <a:prstGeom prst="rect">
            <a:avLst/>
          </a:prstGeom>
          <a:solidFill>
            <a:srgbClr val="EFEDEA"/>
          </a:solidFill>
          <a:ln/>
        </p:spPr>
      </p:sp>
      <p:sp>
        <p:nvSpPr>
          <p:cNvPr id="14" name="Catalyst 3 head"/>
          <p:cNvSpPr txBox="1"/>
          <p:nvPr/>
        </p:nvSpPr>
        <p:spPr>
          <a:xfrm>
            <a:off x="457200" y="4123944"/>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Power units deliver, or a new contract</a:t>
            </a:r>
            <a:endParaRPr lang="en-US" sz="1500" dirty="0"/>
          </a:p>
        </p:txBody>
      </p:sp>
      <p:sp>
        <p:nvSpPr>
          <p:cNvPr id="15" name="Catalyst 3 date"/>
          <p:cNvSpPr txBox="1"/>
          <p:nvPr/>
        </p:nvSpPr>
        <p:spPr>
          <a:xfrm>
            <a:off x="3794760" y="4297680"/>
            <a:ext cx="1554480" cy="640080"/>
          </a:xfrm>
          <a:prstGeom prst="rect">
            <a:avLst/>
          </a:prstGeom>
          <a:solidFill>
            <a:srgbClr val="FFFFFF"/>
          </a:solidFill>
          <a:ln w="31750">
            <a:solidFill>
              <a:srgbClr val="EE6E25"/>
            </a:solidFill>
          </a:ln>
        </p:spPr>
        <p:txBody>
          <a:bodyPr wrap="square" lIns="0" tIns="0" rIns="0" bIns="0" rtlCol="0" anchor="ctr"/>
          <a:lstStyle/>
          <a:p>
            <a:pPr algn="ctr" indent="0" marL="0">
              <a:buNone/>
            </a:pPr>
            <a:r>
              <a:rPr lang="en-US" sz="1500" b="1" dirty="0">
                <a:solidFill>
                  <a:schemeClr val="tx2"/>
                </a:solidFill>
              </a:rPr>
              <a:t>2H '27</a:t>
            </a:r>
            <a:endParaRPr lang="en-US" sz="1500" dirty="0"/>
          </a:p>
        </p:txBody>
      </p:sp>
      <p:sp>
        <p:nvSpPr>
          <p:cNvPr id="16" name="Catalyst 3 watch"/>
          <p:cNvSpPr txBox="1"/>
          <p:nvPr/>
        </p:nvSpPr>
        <p:spPr>
          <a:xfrm>
            <a:off x="5486400" y="4123944"/>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Mod-1 deliveries on schedule, or a follow-on order that pushes FY27 Power EBITDA toward $750M</a:t>
            </a:r>
            <a:endParaRPr lang="en-US" sz="12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Each catalyst tests one thesis directly, and all three land by the end of 2027.</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and Q2'26 supplement (1,700-module 2027 target; FY27 Power guide $450–750M);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Risks / Mitigants</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risks are real, but each is either priced in or being closed.</a:t>
            </a:r>
            <a:endParaRPr lang="en-US" sz="1700" dirty="0"/>
          </a:p>
        </p:txBody>
      </p:sp>
      <p:sp>
        <p:nvSpPr>
          <p:cNvPr id="4" name="Risk 1 number"/>
          <p:cNvSpPr/>
          <p:nvPr/>
        </p:nvSpPr>
        <p:spPr>
          <a:xfrm>
            <a:off x="320040" y="1527048"/>
            <a:ext cx="530352" cy="530352"/>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5" name="Risk 1 head"/>
          <p:cNvSpPr txBox="1"/>
          <p:nvPr/>
        </p:nvSpPr>
        <p:spPr>
          <a:xfrm>
            <a:off x="868680" y="1600200"/>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Locked Out of LEAP</a:t>
            </a:r>
            <a:endParaRPr lang="en-US" sz="1500" dirty="0"/>
          </a:p>
        </p:txBody>
      </p:sp>
      <p:sp>
        <p:nvSpPr>
          <p:cNvPr id="6" name="Risk 1 detail"/>
          <p:cNvSpPr txBox="1"/>
          <p:nvPr/>
        </p:nvSpPr>
        <p:spPr>
          <a:xfrm>
            <a:off x="868680" y="1984248"/>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CFM keeps LEAP work in-house through service contracts and licenses.</a:t>
            </a:r>
            <a:endParaRPr lang="en-US" sz="1200" dirty="0"/>
          </a:p>
        </p:txBody>
      </p:sp>
      <p:sp>
        <p:nvSpPr>
          <p:cNvPr id="7" name="Risk 1 mitigants"/>
          <p:cNvSpPr/>
          <p:nvPr/>
        </p:nvSpPr>
        <p:spPr>
          <a:xfrm flipH="1">
            <a:off x="4206240" y="1554480"/>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LEAP visits ~3x by 2030; 5,000+ a year by 2040</a:t>
            </a:r>
            <a:endParaRPr lang="en-US" sz="1100" dirty="0"/>
          </a:p>
          <a:p>
            <a:pPr algn="l" marL="152400" indent="-152400">
              <a:spcAft>
                <a:spcPts val="300"/>
              </a:spcAft>
              <a:buSzPct val="100000"/>
              <a:buChar char="•"/>
            </a:pPr>
            <a:r>
              <a:rPr lang="en-US" sz="1100" dirty="0">
                <a:solidFill>
                  <a:srgbClr val="1A1A1A"/>
                </a:solidFill>
              </a:rPr>
              <a:t>GE is doubling LEAP capacity, yet IATA says it won't be enough</a:t>
            </a:r>
            <a:endParaRPr lang="en-US" sz="1100" dirty="0"/>
          </a:p>
          <a:p>
            <a:pPr algn="l" marL="152400" indent="-152400">
              <a:spcAft>
                <a:spcPts val="300"/>
              </a:spcAft>
              <a:buSzPct val="100000"/>
              <a:buChar char="•"/>
            </a:pPr>
            <a:r>
              <a:rPr lang="en-US" sz="1100" dirty="0">
                <a:solidFill>
                  <a:srgbClr val="1A1A1A"/>
                </a:solidFill>
              </a:rPr>
              <a:t>Third parties: 10% → ~30% of LEAP visits by 2030</a:t>
            </a:r>
            <a:endParaRPr lang="en-US" sz="1100" dirty="0"/>
          </a:p>
        </p:txBody>
      </p:sp>
      <p:sp>
        <p:nvSpPr>
          <p:cNvPr id="8" name="Risk 2 number"/>
          <p:cNvSpPr/>
          <p:nvPr/>
        </p:nvSpPr>
        <p:spPr>
          <a:xfrm>
            <a:off x="320040" y="2825496"/>
            <a:ext cx="530352" cy="530352"/>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9" name="Risk 2 head"/>
          <p:cNvSpPr txBox="1"/>
          <p:nvPr/>
        </p:nvSpPr>
        <p:spPr>
          <a:xfrm>
            <a:off x="868680" y="2898648"/>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Short-Report Overhang</a:t>
            </a:r>
            <a:endParaRPr lang="en-US" sz="1500" dirty="0"/>
          </a:p>
        </p:txBody>
      </p:sp>
      <p:sp>
        <p:nvSpPr>
          <p:cNvPr id="10" name="Risk 2 detail"/>
          <p:cNvSpPr txBox="1"/>
          <p:nvPr/>
        </p:nvSpPr>
        <p:spPr>
          <a:xfrm>
            <a:off x="868680" y="3282696"/>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The market keeps a fraud discount on FTAI's multiple.</a:t>
            </a:r>
            <a:endParaRPr lang="en-US" sz="1200" dirty="0"/>
          </a:p>
        </p:txBody>
      </p:sp>
      <p:sp>
        <p:nvSpPr>
          <p:cNvPr id="11" name="Risk 2 mitigants"/>
          <p:cNvSpPr/>
          <p:nvPr/>
        </p:nvSpPr>
        <p:spPr>
          <a:xfrm flipH="1">
            <a:off x="4206240" y="2852928"/>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Priced in: at $167 the market pays our bear case</a:t>
            </a:r>
            <a:endParaRPr lang="en-US" sz="1100" dirty="0"/>
          </a:p>
          <a:p>
            <a:pPr algn="l" marL="152400" indent="-152400">
              <a:spcAft>
                <a:spcPts val="300"/>
              </a:spcAft>
              <a:buSzPct val="100000"/>
              <a:buChar char="•"/>
            </a:pPr>
            <a:r>
              <a:rPr lang="en-US" sz="1100" dirty="0">
                <a:solidFill>
                  <a:srgbClr val="1A1A1A"/>
                </a:solidFill>
              </a:rPr>
              <a:t>&lt;8% cheap stock left: margins now show the core business</a:t>
            </a:r>
            <a:endParaRPr lang="en-US" sz="1100" dirty="0"/>
          </a:p>
          <a:p>
            <a:pPr algn="l" marL="152400" indent="-152400">
              <a:spcAft>
                <a:spcPts val="300"/>
              </a:spcAft>
              <a:buSzPct val="100000"/>
              <a:buChar char="•"/>
            </a:pPr>
            <a:r>
              <a:rPr lang="en-US" sz="1100" dirty="0">
                <a:solidFill>
                  <a:srgbClr val="1A1A1A"/>
                </a:solidFill>
              </a:rPr>
              <a:t>Each clean print (Q3 &amp; Q4 '26) shrinks the discount</a:t>
            </a:r>
            <a:endParaRPr lang="en-US" sz="1100" dirty="0"/>
          </a:p>
        </p:txBody>
      </p:sp>
      <p:sp>
        <p:nvSpPr>
          <p:cNvPr id="12" name="Risk 3 number"/>
          <p:cNvSpPr/>
          <p:nvPr/>
        </p:nvSpPr>
        <p:spPr>
          <a:xfrm>
            <a:off x="320040" y="4123944"/>
            <a:ext cx="530352" cy="530352"/>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13" name="Risk 3 head"/>
          <p:cNvSpPr txBox="1"/>
          <p:nvPr/>
        </p:nvSpPr>
        <p:spPr>
          <a:xfrm>
            <a:off x="868680" y="4197096"/>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Technician Shortage</a:t>
            </a:r>
            <a:endParaRPr lang="en-US" sz="1500" dirty="0"/>
          </a:p>
        </p:txBody>
      </p:sp>
      <p:sp>
        <p:nvSpPr>
          <p:cNvPr id="14" name="Risk 3 detail"/>
          <p:cNvSpPr txBox="1"/>
          <p:nvPr/>
        </p:nvSpPr>
        <p:spPr>
          <a:xfrm>
            <a:off x="868680" y="4581144"/>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Too few skilled techs caps how many modules FTAI can turn.</a:t>
            </a:r>
            <a:endParaRPr lang="en-US" sz="1200" dirty="0"/>
          </a:p>
        </p:txBody>
      </p:sp>
      <p:sp>
        <p:nvSpPr>
          <p:cNvPr id="15" name="Risk 3 mitigants"/>
          <p:cNvSpPr/>
          <p:nvPr/>
        </p:nvSpPr>
        <p:spPr>
          <a:xfrm flipH="1">
            <a:off x="4206240" y="4151376"/>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FTAI's academy trains its own techs (trainers in Montreal, Miami)</a:t>
            </a:r>
            <a:endParaRPr lang="en-US" sz="1100" dirty="0"/>
          </a:p>
          <a:p>
            <a:pPr algn="l" marL="152400" indent="-152400">
              <a:spcAft>
                <a:spcPts val="300"/>
              </a:spcAft>
              <a:buSzPct val="100000"/>
              <a:buChar char="•"/>
            </a:pPr>
            <a:r>
              <a:rPr lang="en-US" sz="1100" dirty="0">
                <a:solidFill>
                  <a:srgbClr val="1A1A1A"/>
                </a:solidFill>
              </a:rPr>
              <a:t>Partners add ~320 techs in Jakarta and Cairo</a:t>
            </a:r>
            <a:endParaRPr lang="en-US" sz="1100" dirty="0"/>
          </a:p>
          <a:p>
            <a:pPr algn="l" marL="152400" indent="-152400">
              <a:spcAft>
                <a:spcPts val="300"/>
              </a:spcAft>
              <a:buSzPct val="100000"/>
              <a:buChar char="•"/>
            </a:pPr>
            <a:r>
              <a:rPr lang="en-US" sz="1100" dirty="0">
                <a:solidFill>
                  <a:srgbClr val="1A1A1A"/>
                </a:solidFill>
              </a:rPr>
              <a:t>New hires speed up with experience and Palantir tools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None of these risks is new to the market. The bear case is already in the price.</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Q2'26 call; CFM via StandardAero; IATA (Jun-26); GPS model; FTAI Q2'26 supplement; FTAI job postings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Company name"/>
          <p:cNvSpPr txBox="1"/>
          <p:nvPr/>
        </p:nvSpPr>
        <p:spPr>
          <a:xfrm>
            <a:off x="548640" y="320040"/>
            <a:ext cx="6400800" cy="1051560"/>
          </a:xfrm>
          <a:prstGeom prst="rect">
            <a:avLst/>
          </a:prstGeom>
          <a:noFill/>
          <a:ln/>
        </p:spPr>
        <p:txBody>
          <a:bodyPr wrap="square" lIns="0" tIns="0" rIns="0" bIns="0" rtlCol="0" anchor="t"/>
          <a:lstStyle/>
          <a:p>
            <a:pPr indent="0" marL="0">
              <a:buNone/>
            </a:pPr>
            <a:r>
              <a:rPr lang="en-US" sz="3000" b="1" dirty="0">
                <a:solidFill>
                  <a:schemeClr val="tx2"/>
                </a:solidFill>
              </a:rPr>
              <a:t>FTAI Aviation</a:t>
            </a:r>
            <a:endParaRPr lang="en-US" sz="3000" dirty="0"/>
          </a:p>
          <a:p>
            <a:pPr indent="0" marL="0">
              <a:buNone/>
            </a:pPr>
            <a:r>
              <a:rPr lang="en-US" sz="2600" dirty="0">
                <a:solidFill>
                  <a:schemeClr val="tx2"/>
                </a:solidFill>
              </a:rPr>
              <a:t>(NASDAQ: FTAI)</a:t>
            </a:r>
            <a:endParaRPr lang="en-US" sz="3000" dirty="0"/>
          </a:p>
        </p:txBody>
      </p:sp>
      <p:pic>
        <p:nvPicPr>
          <p:cNvPr id="3" name="FTAI logo" descr="/home/user/SPOT/deck/img/ftai_logo.png">    </p:cNvPr>
          <p:cNvPicPr>
            <a:picLocks noChangeAspect="1"/>
          </p:cNvPicPr>
          <p:nvPr/>
        </p:nvPicPr>
        <p:blipFill>
          <a:blip r:embed="rId1"/>
          <a:stretch>
            <a:fillRect/>
          </a:stretch>
        </p:blipFill>
        <p:spPr>
          <a:xfrm>
            <a:off x="6766560" y="365760"/>
            <a:ext cx="2011680" cy="766953"/>
          </a:xfrm>
          <a:prstGeom prst="rect">
            <a:avLst/>
          </a:prstGeom>
        </p:spPr>
      </p:pic>
      <p:sp>
        <p:nvSpPr>
          <p:cNvPr id="4" name="Cover label"/>
          <p:cNvSpPr txBox="1"/>
          <p:nvPr/>
        </p:nvSpPr>
        <p:spPr>
          <a:xfrm>
            <a:off x="548640" y="2926080"/>
            <a:ext cx="8046720" cy="822960"/>
          </a:xfrm>
          <a:prstGeom prst="rect">
            <a:avLst/>
          </a:prstGeom>
          <a:noFill/>
          <a:ln/>
        </p:spPr>
        <p:txBody>
          <a:bodyPr wrap="square" lIns="0" tIns="0" rIns="0" bIns="0" rtlCol="0" anchor="ctr"/>
          <a:lstStyle/>
          <a:p>
            <a:pPr algn="ctr" indent="0" marL="0">
              <a:buNone/>
            </a:pPr>
            <a:r>
              <a:rPr lang="en-US" sz="4400" b="1" dirty="0">
                <a:solidFill>
                  <a:schemeClr val="tx2"/>
                </a:solidFill>
              </a:rPr>
              <a:t>Q&amp;A</a:t>
            </a:r>
            <a:endParaRPr lang="en-US" sz="4400" dirty="0"/>
          </a:p>
        </p:txBody>
      </p:sp>
      <p:pic>
        <p:nvPicPr>
          <p:cNvPr id="5" name="GPS logo" descr="/home/user/SPOT/deck/gps_logo.jpeg">    </p:cNvPr>
          <p:cNvPicPr>
            <a:picLocks noChangeAspect="1"/>
          </p:cNvPicPr>
          <p:nvPr/>
        </p:nvPicPr>
        <p:blipFill>
          <a:blip r:embed="rId2"/>
          <a:stretch>
            <a:fillRect/>
          </a:stretch>
        </p:blipFill>
        <p:spPr>
          <a:xfrm>
            <a:off x="5897880" y="5532120"/>
            <a:ext cx="1234440" cy="1133856"/>
          </a:xfrm>
          <a:prstGeom prst="rect">
            <a:avLst/>
          </a:prstGeom>
        </p:spPr>
      </p:pic>
      <p:sp>
        <p:nvSpPr>
          <p:cNvPr id="6" name="Logo divider"/>
          <p:cNvSpPr/>
          <p:nvPr/>
        </p:nvSpPr>
        <p:spPr>
          <a:xfrm>
            <a:off x="7360920" y="5577840"/>
            <a:ext cx="0" cy="1097280"/>
          </a:xfrm>
          <a:prstGeom prst="line">
            <a:avLst/>
          </a:prstGeom>
          <a:noFill/>
          <a:ln w="12700">
            <a:solidFill>
              <a:srgbClr val="847C7A"/>
            </a:solidFill>
            <a:prstDash val="solid"/>
          </a:ln>
        </p:spPr>
      </p:sp>
      <p:sp>
        <p:nvSpPr>
          <p:cNvPr id="7"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Company name"/>
          <p:cNvSpPr txBox="1"/>
          <p:nvPr/>
        </p:nvSpPr>
        <p:spPr>
          <a:xfrm>
            <a:off x="548640" y="320040"/>
            <a:ext cx="6400800" cy="1051560"/>
          </a:xfrm>
          <a:prstGeom prst="rect">
            <a:avLst/>
          </a:prstGeom>
          <a:noFill/>
          <a:ln/>
        </p:spPr>
        <p:txBody>
          <a:bodyPr wrap="square" lIns="0" tIns="0" rIns="0" bIns="0" rtlCol="0" anchor="t"/>
          <a:lstStyle/>
          <a:p>
            <a:pPr indent="0" marL="0">
              <a:buNone/>
            </a:pPr>
            <a:r>
              <a:rPr lang="en-US" sz="3000" b="1" dirty="0">
                <a:solidFill>
                  <a:schemeClr val="tx2"/>
                </a:solidFill>
              </a:rPr>
              <a:t>FTAI Aviation</a:t>
            </a:r>
            <a:endParaRPr lang="en-US" sz="3000" dirty="0"/>
          </a:p>
          <a:p>
            <a:pPr indent="0" marL="0">
              <a:buNone/>
            </a:pPr>
            <a:r>
              <a:rPr lang="en-US" sz="2600" dirty="0">
                <a:solidFill>
                  <a:schemeClr val="tx2"/>
                </a:solidFill>
              </a:rPr>
              <a:t>(NASDAQ: FTAI)</a:t>
            </a:r>
            <a:endParaRPr lang="en-US" sz="3000" dirty="0"/>
          </a:p>
        </p:txBody>
      </p:sp>
      <p:pic>
        <p:nvPicPr>
          <p:cNvPr id="3" name="FTAI logo" descr="/home/user/SPOT/deck/img/ftai_logo.png">    </p:cNvPr>
          <p:cNvPicPr>
            <a:picLocks noChangeAspect="1"/>
          </p:cNvPicPr>
          <p:nvPr/>
        </p:nvPicPr>
        <p:blipFill>
          <a:blip r:embed="rId1"/>
          <a:stretch>
            <a:fillRect/>
          </a:stretch>
        </p:blipFill>
        <p:spPr>
          <a:xfrm>
            <a:off x="6766560" y="365760"/>
            <a:ext cx="2011680" cy="766953"/>
          </a:xfrm>
          <a:prstGeom prst="rect">
            <a:avLst/>
          </a:prstGeom>
        </p:spPr>
      </p:pic>
      <p:sp>
        <p:nvSpPr>
          <p:cNvPr id="4" name="Cover label"/>
          <p:cNvSpPr txBox="1"/>
          <p:nvPr/>
        </p:nvSpPr>
        <p:spPr>
          <a:xfrm>
            <a:off x="548640" y="2926080"/>
            <a:ext cx="8046720" cy="822960"/>
          </a:xfrm>
          <a:prstGeom prst="rect">
            <a:avLst/>
          </a:prstGeom>
          <a:noFill/>
          <a:ln/>
        </p:spPr>
        <p:txBody>
          <a:bodyPr wrap="square" lIns="0" tIns="0" rIns="0" bIns="0" rtlCol="0" anchor="ctr"/>
          <a:lstStyle/>
          <a:p>
            <a:pPr algn="ctr" indent="0" marL="0">
              <a:buNone/>
            </a:pPr>
            <a:r>
              <a:rPr lang="en-US" sz="4400" b="1" dirty="0">
                <a:solidFill>
                  <a:schemeClr val="tx2"/>
                </a:solidFill>
              </a:rPr>
              <a:t>Appendix</a:t>
            </a:r>
            <a:endParaRPr lang="en-US" sz="4400" dirty="0"/>
          </a:p>
        </p:txBody>
      </p:sp>
      <p:pic>
        <p:nvPicPr>
          <p:cNvPr id="5" name="GPS logo" descr="/home/user/SPOT/deck/gps_logo.jpeg">    </p:cNvPr>
          <p:cNvPicPr>
            <a:picLocks noChangeAspect="1"/>
          </p:cNvPicPr>
          <p:nvPr/>
        </p:nvPicPr>
        <p:blipFill>
          <a:blip r:embed="rId2"/>
          <a:stretch>
            <a:fillRect/>
          </a:stretch>
        </p:blipFill>
        <p:spPr>
          <a:xfrm>
            <a:off x="5897880" y="5532120"/>
            <a:ext cx="1234440" cy="1133856"/>
          </a:xfrm>
          <a:prstGeom prst="rect">
            <a:avLst/>
          </a:prstGeom>
        </p:spPr>
      </p:pic>
      <p:sp>
        <p:nvSpPr>
          <p:cNvPr id="6" name="Logo divider"/>
          <p:cNvSpPr/>
          <p:nvPr/>
        </p:nvSpPr>
        <p:spPr>
          <a:xfrm>
            <a:off x="7360920" y="5577840"/>
            <a:ext cx="0" cy="1097280"/>
          </a:xfrm>
          <a:prstGeom prst="line">
            <a:avLst/>
          </a:prstGeom>
          <a:noFill/>
          <a:ln w="12700">
            <a:solidFill>
              <a:srgbClr val="847C7A"/>
            </a:solidFill>
            <a:prstDash val="solid"/>
          </a:ln>
        </p:spPr>
      </p:sp>
      <p:sp>
        <p:nvSpPr>
          <p:cNvPr id="7"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DCF (1/2)</a:t>
            </a:r>
            <a:endParaRPr lang="en-US" sz="3000" dirty="0"/>
          </a:p>
        </p:txBody>
      </p:sp>
      <p:pic>
        <p:nvPicPr>
          <p:cNvPr id="3" name="PV bridge" descr="/home/user/SPOT/deck/img/app_pv.png">    </p:cNvPr>
          <p:cNvPicPr>
            <a:picLocks noChangeAspect="1"/>
          </p:cNvPicPr>
          <p:nvPr/>
        </p:nvPicPr>
        <p:blipFill>
          <a:blip r:embed="rId1"/>
          <a:stretch>
            <a:fillRect/>
          </a:stretch>
        </p:blipFill>
        <p:spPr>
          <a:xfrm>
            <a:off x="320040" y="1188720"/>
            <a:ext cx="8503920" cy="1907905"/>
          </a:xfrm>
          <a:prstGeom prst="rect">
            <a:avLst/>
          </a:prstGeom>
        </p:spPr>
      </p:pic>
      <p:pic>
        <p:nvPicPr>
          <p:cNvPr id="4" name="Blended valuation" descr="/home/user/SPOT/deck/img/app_blend.png">    </p:cNvPr>
          <p:cNvPicPr>
            <a:picLocks noChangeAspect="1"/>
          </p:cNvPicPr>
          <p:nvPr/>
        </p:nvPicPr>
        <p:blipFill>
          <a:blip r:embed="rId2"/>
          <a:stretch>
            <a:fillRect/>
          </a:stretch>
        </p:blipFill>
        <p:spPr>
          <a:xfrm>
            <a:off x="1143000" y="3657600"/>
            <a:ext cx="6858000" cy="1403968"/>
          </a:xfrm>
          <a:prstGeom prst="rect">
            <a:avLst/>
          </a:prstGeom>
        </p:spPr>
      </p:pic>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base case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DCF (2/2)</a:t>
            </a:r>
            <a:endParaRPr lang="en-US" sz="3000" dirty="0"/>
          </a:p>
        </p:txBody>
      </p:sp>
      <p:pic>
        <p:nvPicPr>
          <p:cNvPr id="3" name="Valuation methods" descr="/home/user/SPOT/deck/img/app_methods.png">    </p:cNvPr>
          <p:cNvPicPr>
            <a:picLocks noChangeAspect="1"/>
          </p:cNvPicPr>
          <p:nvPr/>
        </p:nvPicPr>
        <p:blipFill>
          <a:blip r:embed="rId1"/>
          <a:stretch>
            <a:fillRect/>
          </a:stretch>
        </p:blipFill>
        <p:spPr>
          <a:xfrm>
            <a:off x="320040" y="1143000"/>
            <a:ext cx="8503920" cy="3760294"/>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base case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DCF Sensitivities</a:t>
            </a:r>
            <a:endParaRPr lang="en-US" sz="3000" dirty="0"/>
          </a:p>
        </p:txBody>
      </p:sp>
      <p:pic>
        <p:nvPicPr>
          <p:cNvPr id="3" name="Sensitivity tables" descr="/home/user/SPOT/deck/img/app_sens.png">    </p:cNvPr>
          <p:cNvPicPr>
            <a:picLocks noChangeAspect="1"/>
          </p:cNvPicPr>
          <p:nvPr/>
        </p:nvPicPr>
        <p:blipFill>
          <a:blip r:embed="rId1"/>
          <a:stretch>
            <a:fillRect/>
          </a:stretch>
        </p:blipFill>
        <p:spPr>
          <a:xfrm>
            <a:off x="1188720" y="1097280"/>
            <a:ext cx="6766560" cy="4127018"/>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implied share price by WACC, terminal growth and exit multiple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Sum of the Parts</a:t>
            </a:r>
            <a:endParaRPr lang="en-US" sz="3000" dirty="0"/>
          </a:p>
        </p:txBody>
      </p:sp>
      <p:pic>
        <p:nvPicPr>
          <p:cNvPr id="3" name="SOTP table" descr="/home/user/SPOT/deck/img/app_sotp.png">    </p:cNvPr>
          <p:cNvPicPr>
            <a:picLocks noChangeAspect="1"/>
          </p:cNvPicPr>
          <p:nvPr/>
        </p:nvPicPr>
        <p:blipFill>
          <a:blip r:embed="rId1"/>
          <a:stretch>
            <a:fillRect/>
          </a:stretch>
        </p:blipFill>
        <p:spPr>
          <a:xfrm>
            <a:off x="320040" y="1188720"/>
            <a:ext cx="8503920" cy="2627390"/>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FY27E SOTP</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Power Model</a:t>
            </a:r>
            <a:endParaRPr lang="en-US" sz="3000" dirty="0"/>
          </a:p>
        </p:txBody>
      </p:sp>
      <p:pic>
        <p:nvPicPr>
          <p:cNvPr id="3" name="Mod-1 build" descr="/home/user/SPOT/deck/img/app_power.png">    </p:cNvPr>
          <p:cNvPicPr>
            <a:picLocks noChangeAspect="1"/>
          </p:cNvPicPr>
          <p:nvPr/>
        </p:nvPicPr>
        <p:blipFill>
          <a:blip r:embed="rId1"/>
          <a:stretch>
            <a:fillRect/>
          </a:stretch>
        </p:blipFill>
        <p:spPr>
          <a:xfrm>
            <a:off x="320040" y="1097280"/>
            <a:ext cx="8503920" cy="1845190"/>
          </a:xfrm>
          <a:prstGeom prst="rect">
            <a:avLst/>
          </a:prstGeom>
        </p:spPr>
      </p:pic>
      <p:pic>
        <p:nvPicPr>
          <p:cNvPr id="4" name="Power shortfall" descr="/home/user/SPOT/deck/img/app_shortfall.png">    </p:cNvPr>
          <p:cNvPicPr>
            <a:picLocks noChangeAspect="1"/>
          </p:cNvPicPr>
          <p:nvPr/>
        </p:nvPicPr>
        <p:blipFill>
          <a:blip r:embed="rId2"/>
          <a:stretch>
            <a:fillRect/>
          </a:stretch>
        </p:blipFill>
        <p:spPr>
          <a:xfrm>
            <a:off x="1463040" y="3246120"/>
            <a:ext cx="6217920" cy="1571670"/>
          </a:xfrm>
          <a:prstGeom prst="rect">
            <a:avLst/>
          </a:prstGeom>
        </p:spPr>
      </p:pic>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Mod-1 build; Power outlook tab, NERC 2025 LTRA inputs)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Repair Pricing</a:t>
            </a:r>
            <a:endParaRPr lang="en-US" sz="3000" dirty="0"/>
          </a:p>
        </p:txBody>
      </p:sp>
      <p:pic>
        <p:nvPicPr>
          <p:cNvPr id="3" name="Pricing summary" descr="/home/user/SPOT/deck/img/app_pricing.png">    </p:cNvPr>
          <p:cNvPicPr>
            <a:picLocks noChangeAspect="1"/>
          </p:cNvPicPr>
          <p:nvPr/>
        </p:nvPicPr>
        <p:blipFill>
          <a:blip r:embed="rId1"/>
          <a:stretch>
            <a:fillRect/>
          </a:stretch>
        </p:blipFill>
        <p:spPr>
          <a:xfrm>
            <a:off x="320040" y="1097280"/>
            <a:ext cx="8503920" cy="2802382"/>
          </a:xfrm>
          <a:prstGeom prst="rect">
            <a:avLst/>
          </a:prstGeom>
        </p:spPr>
      </p:pic>
      <p:sp>
        <p:nvSpPr>
          <p:cNvPr id="4" name="Pricing takeaway"/>
          <p:cNvSpPr txBox="1"/>
          <p:nvPr/>
        </p:nvSpPr>
        <p:spPr>
          <a:xfrm>
            <a:off x="320040" y="4343400"/>
            <a:ext cx="8503920" cy="548640"/>
          </a:xfrm>
          <a:prstGeom prst="rect">
            <a:avLst/>
          </a:prstGeom>
          <a:solidFill>
            <a:srgbClr val="EFEDEA"/>
          </a:solidFill>
          <a:ln w="19050">
            <a:solidFill>
              <a:srgbClr val="EE6E25"/>
            </a:solidFill>
          </a:ln>
        </p:spPr>
        <p:txBody>
          <a:bodyPr wrap="square" lIns="0" tIns="0" rIns="0" bIns="0" rtlCol="0" anchor="ctr"/>
          <a:lstStyle/>
          <a:p>
            <a:pPr algn="ctr" indent="0" marL="0">
              <a:buNone/>
            </a:pPr>
            <a:r>
              <a:rPr lang="en-US" sz="1500" b="1" dirty="0">
                <a:solidFill>
                  <a:schemeClr val="tx2"/>
                </a:solidFill>
              </a:rPr>
              <a:t>OEM list prices rose a median ~6% a year across ~3,400 matched parts, with almost none falling.</a:t>
            </a:r>
            <a:endParaRPr lang="en-US" sz="1500" dirty="0"/>
          </a:p>
        </p:txBody>
      </p:sp>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(Pricing Data tab): matched OEM catalogue parts, CFM56-5B and -7B</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35</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2E93AE"/>
      </a:accent5>
      <a:accent6>
        <a:srgbClr val="EE6E25"/>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2026-10-09T00:31:18Z</dcterms:created>
  <dcterms:modified xsi:type="dcterms:W3CDTF">2026-10-09T00:31:18Z</dcterms:modified>
</cp:coreProperties>
</file>