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5.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8.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9.xml" ContentType="application/vnd.openxmlformats-officedocument.drawingml.chart+xml"/>
  <Override PartName="/ppt/charts/chart20.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ef9a274-41b0-15ac-a40c-a84b429d1340}">
          <p14:sldIdLst>
            <p14:sldId id="256"/>
          </p14:sldIdLst>
        </p14:section>
        <p14:section name="The Opportunity" id="{0f54f866-d4af-f9b1-8d4c-956d93e509d7}">
          <p14:sldIdLst>
            <p14:sldId id="257"/>
            <p14:sldId id="258"/>
            <p14:sldId id="259"/>
            <p14:sldId id="260"/>
          </p14:sldIdLst>
        </p14:section>
        <p14:section name="Returns" id="{7035c914-4958-b97b-7686-1eb44966f5db}">
          <p14:sldIdLst>
            <p14:sldId id="261"/>
          </p14:sldIdLst>
        </p14:section>
        <p14:section name="Business Overview" id="{bad53780-ab08-e9de-344e-d4339d9482b2}">
          <p14:sldIdLst>
            <p14:sldId id="262"/>
            <p14:sldId id="263"/>
          </p14:sldIdLst>
        </p14:section>
        <p14:section name="Thesis 1a" id="{62bedd59-2703-f1a7-25a0-aec12d6ec2d2}">
          <p14:sldIdLst>
            <p14:sldId id="264"/>
            <p14:sldId id="265"/>
            <p14:sldId id="266"/>
            <p14:sldId id="267"/>
          </p14:sldIdLst>
        </p14:section>
        <p14:section name="Thesis 1b" id="{42d6ebdc-7453-3810-590f-6d8f3790a9e7}">
          <p14:sldIdLst>
            <p14:sldId id="268"/>
            <p14:sldId id="269"/>
            <p14:sldId id="270"/>
            <p14:sldId id="271"/>
            <p14:sldId id="272"/>
            <p14:sldId id="273"/>
            <p14:sldId id="274"/>
          </p14:sldIdLst>
        </p14:section>
        <p14:section name="Thesis 2" id="{8c73d488-36bc-fbb8-c0d1-a5866e7f59ed}">
          <p14:sldIdLst>
            <p14:sldId id="275"/>
            <p14:sldId id="276"/>
            <p14:sldId id="277"/>
            <p14:sldId id="278"/>
          </p14:sldIdLst>
        </p14:section>
        <p14:section name="Valuation" id="{e7e24352-03ed-84b9-6112-5be7e530e8c7}">
          <p14:sldIdLst>
            <p14:sldId id="279"/>
            <p14:sldId id="280"/>
          </p14:sldIdLst>
        </p14:section>
        <p14:section name="Catalysts" id="{3d83b702-591d-dc1d-e888-1143abc162c4}">
          <p14:sldIdLst>
            <p14:sldId id="281"/>
          </p14:sldIdLst>
        </p14:section>
        <p14:section name="Risks" id="{6cf972a9-4830-1a42-3f5d-92e1654e1075}">
          <p14:sldIdLst>
            <p14:sldId id="282"/>
          </p14:sldIdLst>
        </p14:section>
        <p14:section name="Q&amp;A" id="{c6e14a51-ebdc-1aa6-5a5f-40e2683739ee}">
          <p14:sldIdLst>
            <p14:sldId id="283"/>
          </p14:sldIdLst>
        </p14:section>
        <p14:section name="Appendix" id="{b827c6dc-d93b-45a9-d8a5-8f6b355aa416}">
          <p14:sldIdLst>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B5AEA9"/>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847C7A"/>
            </a:solidFill>
            <a:ln w="44450" cap="flat">
              <a:solidFill>
                <a:srgbClr val="847C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847C7A"/>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847C7A"/>
            </a:solidFill>
            <a:ln w="31750" cap="flat">
              <a:solidFill>
                <a:srgbClr val="847C7A"/>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847C7A"/>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B5AEA9"/>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B5AEA9"/>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B5AEA9"/>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B5AEA9"/>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chart" Target="/ppt/charts/chart20.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2700">
            <a:solidFill>
              <a:srgbClr val="1A1A1A"/>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B5AEA9"/>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2700">
            <a:solidFill>
              <a:srgbClr val="1A1A1A"/>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chemeClr val="accent2"/>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0A1C58"/>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0A1C58"/>
          </a:solidFill>
          <a:ln>
            <a:solidFill>
              <a:srgbClr val="0A1C58"/>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2700">
            <a:solidFill>
              <a:srgbClr val="1A1A1A"/>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(1/5)</a:t>
            </a:r>
            <a:endParaRPr lang="en-US" sz="32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(2/5)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2700">
            <a:solidFill>
              <a:srgbClr val="1A1A1A"/>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2700">
            <a:solidFill>
              <a:srgbClr val="1A1A1A"/>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B5AEA9"/>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chemeClr val="tx2"/>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(3/5)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B5AEA9"/>
          </a:solidFill>
          <a:ln/>
        </p:spPr>
        <p:txBody>
          <a:bodyPr wrap="square" lIns="0" tIns="0" rIns="0" bIns="0" rtlCol="0" anchor="ctr"/>
          <a:lstStyle/>
          <a:p>
            <a:pPr algn="ctr" indent="0" marL="0">
              <a:buNone/>
            </a:pPr>
            <a:r>
              <a:rPr lang="en-US" sz="900" b="1" dirty="0">
                <a:solidFill>
                  <a:schemeClr val="tx2"/>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B5AEA9"/>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2700">
            <a:solidFill>
              <a:srgbClr val="1A1A1A"/>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B5AEA9"/>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(4/5)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2700">
            <a:solidFill>
              <a:srgbClr val="1A1A1A"/>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B5AEA9"/>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2700">
            <a:solidFill>
              <a:srgbClr val="1A1A1A"/>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Share Gains (5/5)</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2700">
            <a:solidFill>
              <a:srgbClr val="1A1A1A"/>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2700">
            <a:solidFill>
              <a:srgbClr val="1A1A1A"/>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B5AEA9"/>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0A1C58"/>
          </a:solidFill>
          <a:ln w="25400">
            <a:solidFill>
              <a:srgbClr val="0A1C58"/>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1b: The LEAP Option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2700">
            <a:solidFill>
              <a:srgbClr val="1A1A1A"/>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2700">
            <a:solidFill>
              <a:srgbClr val="1A1A1A"/>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2700">
            <a:solidFill>
              <a:srgbClr val="1A1A1A"/>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697480" y="2103120"/>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2700">
            <a:solidFill>
              <a:srgbClr val="1A1A1A"/>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2700">
            <a:solidFill>
              <a:srgbClr val="1A1A1A"/>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B5AEA9"/>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2700">
            <a:solidFill>
              <a:srgbClr val="1A1A1A"/>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B5AEA9"/>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B5AEA9"/>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2: Power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2700">
            <a:solidFill>
              <a:srgbClr val="1A1A1A"/>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B5AEA9"/>
          </a:solidFill>
          <a:ln/>
        </p:spPr>
        <p:txBody>
          <a:bodyPr wrap="square" lIns="25400" tIns="25400" rIns="25400" bIns="25400" rtlCol="0" anchor="ctr"/>
          <a:lstStyle/>
          <a:p>
            <a:pPr algn="ctr" indent="0" marL="0">
              <a:buNone/>
            </a:pPr>
            <a:r>
              <a:rPr lang="en-US" sz="1400" b="1" dirty="0">
                <a:solidFill>
                  <a:schemeClr val="tx2"/>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2700">
            <a:solidFill>
              <a:srgbClr val="1A1A1A"/>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What You Need to Believe</a:t>
            </a:r>
            <a:endParaRPr lang="en-US" sz="3200" dirty="0"/>
          </a:p>
        </p:txBody>
      </p:sp>
      <p:sp>
        <p:nvSpPr>
          <p:cNvPr id="3" name="Belief 1 number"/>
          <p:cNvSpPr/>
          <p:nvPr/>
        </p:nvSpPr>
        <p:spPr>
          <a:xfrm>
            <a:off x="1051560" y="1170432"/>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Valuation: Sum of the Parts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2700">
            <a:solidFill>
              <a:srgbClr val="1A1A1A"/>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2700">
            <a:solidFill>
              <a:srgbClr val="1A1A1A"/>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chemeClr val="tx2"/>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Catalysts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Risks / Mitigants</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sp>
        <p:nvSpPr>
          <p:cNvPr id="3"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4"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5" name="Logo divider"/>
          <p:cNvSpPr/>
          <p:nvPr/>
        </p:nvSpPr>
        <p:spPr>
          <a:xfrm>
            <a:off x="7360920" y="5577840"/>
            <a:ext cx="0" cy="1097280"/>
          </a:xfrm>
          <a:prstGeom prst="line">
            <a:avLst/>
          </a:prstGeom>
          <a:noFill/>
          <a:ln w="12700">
            <a:solidFill>
              <a:srgbClr val="847C7A"/>
            </a:solidFill>
            <a:prstDash val="solid"/>
          </a:ln>
        </p:spPr>
      </p:sp>
      <p:sp>
        <p:nvSpPr>
          <p:cNvPr id="6"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sp>
        <p:nvSpPr>
          <p:cNvPr id="3"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4"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5" name="Logo divider"/>
          <p:cNvSpPr/>
          <p:nvPr/>
        </p:nvSpPr>
        <p:spPr>
          <a:xfrm>
            <a:off x="7360920" y="5577840"/>
            <a:ext cx="0" cy="1097280"/>
          </a:xfrm>
          <a:prstGeom prst="line">
            <a:avLst/>
          </a:prstGeom>
          <a:noFill/>
          <a:ln w="12700">
            <a:solidFill>
              <a:srgbClr val="847C7A"/>
            </a:solidFill>
            <a:prstDash val="solid"/>
          </a:ln>
        </p:spPr>
      </p:sp>
      <p:sp>
        <p:nvSpPr>
          <p:cNvPr id="6"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(1/2)</a:t>
            </a:r>
            <a:endParaRPr lang="en-US" sz="32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(2/2)</a:t>
            </a:r>
            <a:endParaRPr lang="en-US" sz="3200" dirty="0"/>
          </a:p>
        </p:txBody>
      </p:sp>
      <p:pic>
        <p:nvPicPr>
          <p:cNvPr id="3" name="Valuation methods" descr="/home/user/SPOT/deck/img/app_methods.png">    </p:cNvPr>
          <p:cNvPicPr>
            <a:picLocks noChangeAspect="1"/>
          </p:cNvPicPr>
          <p:nvPr/>
        </p:nvPicPr>
        <p:blipFill>
          <a:blip r:embed="rId1"/>
          <a:stretch>
            <a:fillRect/>
          </a:stretch>
        </p:blipFill>
        <p:spPr>
          <a:xfrm>
            <a:off x="685800" y="1097280"/>
            <a:ext cx="7772400" cy="4071475"/>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DCF Sensitivities</a:t>
            </a:r>
            <a:endParaRPr lang="en-US" sz="32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Sum of the Parts</a:t>
            </a:r>
            <a:endParaRPr lang="en-US" sz="3200" dirty="0"/>
          </a:p>
        </p:txBody>
      </p:sp>
      <p:pic>
        <p:nvPicPr>
          <p:cNvPr id="3" name="SOTP table" descr="/home/user/SPOT/deck/img/app_sotp.png">    </p:cNvPr>
          <p:cNvPicPr>
            <a:picLocks noChangeAspect="1"/>
          </p:cNvPicPr>
          <p:nvPr/>
        </p:nvPicPr>
        <p:blipFill>
          <a:blip r:embed="rId1"/>
          <a:stretch>
            <a:fillRect/>
          </a:stretch>
        </p:blipFill>
        <p:spPr>
          <a:xfrm>
            <a:off x="685800" y="1188720"/>
            <a:ext cx="7772400" cy="313456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Power Model</a:t>
            </a:r>
            <a:endParaRPr lang="en-US" sz="32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Appendix: CFM56 Repair Pricing</a:t>
            </a:r>
            <a:endParaRPr lang="en-US" sz="3200" dirty="0"/>
          </a:p>
        </p:txBody>
      </p:sp>
      <p:pic>
        <p:nvPicPr>
          <p:cNvPr id="3" name="Pricing summary" descr="/home/user/SPOT/deck/img/app_pricing.png">    </p:cNvPr>
          <p:cNvPicPr>
            <a:picLocks noChangeAspect="1"/>
          </p:cNvPicPr>
          <p:nvPr/>
        </p:nvPicPr>
        <p:blipFill>
          <a:blip r:embed="rId1"/>
          <a:stretch>
            <a:fillRect/>
          </a:stretch>
        </p:blipFill>
        <p:spPr>
          <a:xfrm>
            <a:off x="320040" y="1143000"/>
            <a:ext cx="8503920" cy="2753766"/>
          </a:xfrm>
          <a:prstGeom prst="rect">
            <a:avLst/>
          </a:prstGeom>
        </p:spPr>
      </p:pic>
      <p:sp>
        <p:nvSpPr>
          <p:cNvPr id="4" name="Pricing takeaway"/>
          <p:cNvSpPr txBox="1"/>
          <p:nvPr/>
        </p:nvSpPr>
        <p:spPr>
          <a:xfrm>
            <a:off x="320040" y="4206240"/>
            <a:ext cx="8503920" cy="548640"/>
          </a:xfrm>
          <a:prstGeom prst="rect">
            <a:avLst/>
          </a:prstGeom>
          <a:solidFill>
            <a:srgbClr val="EFEDEA"/>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2026-10-09T00:21:05Z</dcterms:created>
  <dcterms:modified xsi:type="dcterms:W3CDTF">2026-10-09T00:21:05Z</dcterms:modified>
</cp:coreProperties>
</file>