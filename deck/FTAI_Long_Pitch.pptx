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2705436-ddce-998a-1756-2a541f623af6}">
          <p14:sldIdLst>
            <p14:sldId id="256"/>
          </p14:sldIdLst>
        </p14:section>
        <p14:section name="The Opportunity" id="{cba44336-b71d-c1d1-b8cb-ed1dfc49c328}">
          <p14:sldIdLst>
            <p14:sldId id="257"/>
            <p14:sldId id="258"/>
            <p14:sldId id="259"/>
            <p14:sldId id="260"/>
          </p14:sldIdLst>
        </p14:section>
        <p14:section name="Returns" id="{8328ddc0-0000-7807-2cd9-ee2dee3219a3}">
          <p14:sldIdLst>
            <p14:sldId id="261"/>
          </p14:sldIdLst>
        </p14:section>
        <p14:section name="Business Overview" id="{f37bf03f-47b6-2779-1806-cf1756e9fae6}">
          <p14:sldIdLst>
            <p14:sldId id="262"/>
            <p14:sldId id="263"/>
          </p14:sldIdLst>
        </p14:section>
        <p14:section name="Thesis 1a" id="{8ae213d0-a27a-b6af-60cf-ca8e4e549833}">
          <p14:sldIdLst>
            <p14:sldId id="264"/>
            <p14:sldId id="265"/>
            <p14:sldId id="266"/>
            <p14:sldId id="267"/>
          </p14:sldIdLst>
        </p14:section>
        <p14:section name="Thesis 1b" id="{71c8aaa0-a77a-a516-c1e2-c28557a592e8}">
          <p14:sldIdLst>
            <p14:sldId id="268"/>
            <p14:sldId id="269"/>
            <p14:sldId id="270"/>
            <p14:sldId id="271"/>
            <p14:sldId id="272"/>
            <p14:sldId id="273"/>
            <p14:sldId id="274"/>
          </p14:sldIdLst>
        </p14:section>
        <p14:section name="Thesis 2" id="{ab1b00b5-eb3d-663b-91ad-614c0b4ba2b3}">
          <p14:sldIdLst>
            <p14:sldId id="275"/>
            <p14:sldId id="276"/>
            <p14:sldId id="277"/>
            <p14:sldId id="278"/>
          </p14:sldIdLst>
        </p14:section>
        <p14:section name="Valuation" id="{3c49455b-0fc7-a165-edee-7386465ae37d}">
          <p14:sldIdLst>
            <p14:sldId id="279"/>
            <p14:sldId id="280"/>
          </p14:sldIdLst>
        </p14:section>
        <p14:section name="Catalysts" id="{0187b013-d1c3-4c7d-e445-42949a4caef1}">
          <p14:sldIdLst>
            <p14:sldId id="281"/>
          </p14:sldIdLst>
        </p14:section>
        <p14:section name="Risks" id="{e7275125-8c97-b464-6e65-f910f303ab46}">
          <p14:sldIdLst>
            <p14:sldId id="282"/>
          </p14:sldIdLst>
        </p14:section>
        <p14:section name="Q&amp;A" id="{ac74a738-7486-8e2d-cfb5-69d04b5f3a4c}">
          <p14:sldIdLst>
            <p14:sldId id="283"/>
          </p14:sldIdLst>
        </p14:section>
        <p14:section name="Appendix" id="{9e30361f-34c3-52d9-8e6c-6bf9f02963b8}">
          <p14:sldIdLst>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2E93AE"/>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2E93AE"/>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2E93AE"/>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2E93AE"/>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2E93AE"/>
            </a:solidFill>
            <a:ln w="38100" cap="flat">
              <a:solidFill>
                <a:srgbClr val="2E93AE"/>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2E93AE"/>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2E93AE"/>
            </a:solidFill>
            <a:ln w="44450" cap="flat">
              <a:solidFill>
                <a:srgbClr val="2E93A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93AE"/>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2E93AE"/>
            </a:solidFill>
            <a:ln w="31750" cap="flat">
              <a:solidFill>
                <a:srgbClr val="2E93A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2E93AE"/>
            </a:solidFill>
            <a:ln w="38100" cap="flat">
              <a:solidFill>
                <a:srgbClr val="2E93AE"/>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2E93AE"/>
              </a:solidFill>
              <a:ln w="9525" cap="flat">
                <a:solidFill>
                  <a:srgbClr val="2E93AE"/>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2E93AE"/>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value bridge (mid-year convention, 0.5 stub for FY26) and both terminal-value methods: perpetuity growth at 3.0% ($281) and 13.0x exit multiple ($335), both at a 9.5% WACC.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 the OEM escalator assumption on Thesis 1a (2/4): matched catalogue parts rose a median 6.1–6.2% per year (2024–25 and 2025–26), with only 1 of ~3,400 matched parts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6" name="Text 1"/>
          <p:cNvSpPr/>
          <p:nvPr>
            <p:ph idx="104"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e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e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3.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rgbClr val="EE6E25"/>
                </a:solidFill>
              </a:rPr>
              <a:t>Long Recommendation</a:t>
            </a:r>
            <a:endParaRPr lang="en-US" sz="2800" dirty="0"/>
          </a:p>
        </p:txBody>
      </p:sp>
      <p:sp>
        <p:nvSpPr>
          <p:cNvPr id="5"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6"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7"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8"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9" name="Stat divider 1"/>
          <p:cNvSpPr/>
          <p:nvPr/>
        </p:nvSpPr>
        <p:spPr>
          <a:xfrm>
            <a:off x="2560320" y="2697480"/>
            <a:ext cx="0" cy="1051560"/>
          </a:xfrm>
          <a:prstGeom prst="line">
            <a:avLst/>
          </a:prstGeom>
          <a:noFill/>
          <a:ln w="12700">
            <a:solidFill>
              <a:srgbClr val="DCD8D3"/>
            </a:solidFill>
            <a:prstDash val="solid"/>
          </a:ln>
        </p:spPr>
      </p:sp>
      <p:sp>
        <p:nvSpPr>
          <p:cNvPr id="10"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1"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2" name="Stat divider 2"/>
          <p:cNvSpPr/>
          <p:nvPr/>
        </p:nvSpPr>
        <p:spPr>
          <a:xfrm>
            <a:off x="4572000" y="2697480"/>
            <a:ext cx="0" cy="1051560"/>
          </a:xfrm>
          <a:prstGeom prst="line">
            <a:avLst/>
          </a:prstGeom>
          <a:noFill/>
          <a:ln w="12700">
            <a:solidFill>
              <a:srgbClr val="DCD8D3"/>
            </a:solidFill>
            <a:prstDash val="solid"/>
          </a:ln>
        </p:spPr>
      </p:sp>
      <p:sp>
        <p:nvSpPr>
          <p:cNvPr id="13"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4"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5" name="Stat divider 3"/>
          <p:cNvSpPr/>
          <p:nvPr/>
        </p:nvSpPr>
        <p:spPr>
          <a:xfrm>
            <a:off x="6583680" y="2697480"/>
            <a:ext cx="0" cy="1051560"/>
          </a:xfrm>
          <a:prstGeom prst="line">
            <a:avLst/>
          </a:prstGeom>
          <a:noFill/>
          <a:ln w="12700">
            <a:solidFill>
              <a:srgbClr val="DCD8D3"/>
            </a:solidFill>
            <a:prstDash val="solid"/>
          </a:ln>
        </p:spPr>
      </p:sp>
      <p:sp>
        <p:nvSpPr>
          <p:cNvPr id="16"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7"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8"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9"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20" name="Logo divider"/>
          <p:cNvSpPr/>
          <p:nvPr/>
        </p:nvSpPr>
        <p:spPr>
          <a:xfrm>
            <a:off x="7360920" y="5577840"/>
            <a:ext cx="0" cy="1097280"/>
          </a:xfrm>
          <a:prstGeom prst="line">
            <a:avLst/>
          </a:prstGeom>
          <a:noFill/>
          <a:ln w="12700">
            <a:solidFill>
              <a:srgbClr val="847C7A"/>
            </a:solidFill>
            <a:prstDash val="solid"/>
          </a:ln>
        </p:spPr>
      </p:sp>
      <p:sp>
        <p:nvSpPr>
          <p:cNvPr id="21"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a:t>
            </a:r>
            <a:endParaRPr lang="en-US" sz="30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(1/3)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9050">
            <a:solidFill>
              <a:srgbClr val="2E93AE"/>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9050">
            <a:solidFill>
              <a:srgbClr val="2E93AE"/>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(2/3)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9050">
            <a:solidFill>
              <a:srgbClr val="2E93AE"/>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9050">
            <a:solidFill>
              <a:srgbClr val="2E93AE"/>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(3/3)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9050">
            <a:solidFill>
              <a:srgbClr val="2E93AE"/>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2E93AE"/>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9050">
            <a:solidFill>
              <a:srgbClr val="2E93AE"/>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Returns Summary</a:t>
            </a:r>
            <a:endParaRPr lang="en-US" sz="30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2E93AE"/>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9050">
            <a:solidFill>
              <a:srgbClr val="2E93AE"/>
            </a:solidFill>
            <a:prstDash val="solid"/>
          </a:ln>
        </p:spPr>
      </p:sp>
      <p:sp>
        <p:nvSpPr>
          <p:cNvPr id="6" name="Loop ring"/>
          <p:cNvSpPr/>
          <p:nvPr/>
        </p:nvSpPr>
        <p:spPr>
          <a:xfrm>
            <a:off x="914400" y="2514600"/>
            <a:ext cx="2743200" cy="2231136"/>
          </a:xfrm>
          <a:prstGeom prst="ellipse">
            <a:avLst/>
          </a:prstGeom>
          <a:ln w="38100">
            <a:solidFill>
              <a:srgbClr val="2E93AE"/>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9050">
            <a:solidFill>
              <a:srgbClr val="2E93AE"/>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5" name="After engine 2 module 2"/>
          <p:cNvSpPr/>
          <p:nvPr/>
        </p:nvSpPr>
        <p:spPr>
          <a:xfrm>
            <a:off x="8037576"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6" name="After engine 2 module 3"/>
          <p:cNvSpPr/>
          <p:nvPr/>
        </p:nvSpPr>
        <p:spPr>
          <a:xfrm>
            <a:off x="8458200"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9050">
            <a:solidFill>
              <a:srgbClr val="2E93AE"/>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9050">
            <a:solidFill>
              <a:srgbClr val="2E93AE"/>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9050">
            <a:solidFill>
              <a:srgbClr val="2E93AE"/>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9050">
            <a:solidFill>
              <a:srgbClr val="2E93AE"/>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9050">
            <a:solidFill>
              <a:srgbClr val="2E93AE"/>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rgbClr val="2E93AE"/>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EE6E25"/>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EE6E25"/>
          </a:solidFill>
          <a:ln>
            <a:solidFill>
              <a:srgbClr val="EE6E25"/>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9050">
            <a:solidFill>
              <a:srgbClr val="2E93AE"/>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9050">
            <a:solidFill>
              <a:srgbClr val="2E93AE"/>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9050">
            <a:solidFill>
              <a:srgbClr val="2E93AE"/>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(1/5)</a:t>
            </a:r>
            <a:endParaRPr lang="en-US" sz="30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(2/5)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9050">
            <a:solidFill>
              <a:srgbClr val="2E93AE"/>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9050">
            <a:solidFill>
              <a:srgbClr val="2E93AE"/>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2E93AE"/>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(3/5)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2E93AE"/>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9050">
            <a:solidFill>
              <a:srgbClr val="2E93AE"/>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2E93AE"/>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(4/5)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9050">
            <a:solidFill>
              <a:srgbClr val="2E93AE"/>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2E93AE"/>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9050">
            <a:solidFill>
              <a:srgbClr val="2E93AE"/>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(5/5)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9050">
            <a:solidFill>
              <a:srgbClr val="2E93AE"/>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9050">
            <a:solidFill>
              <a:srgbClr val="2E93AE"/>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2E93AE"/>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9050">
            <a:solidFill>
              <a:srgbClr val="2E93AE"/>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9050">
            <a:solidFill>
              <a:srgbClr val="2E93AE"/>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9050">
            <a:solidFill>
              <a:srgbClr val="2E93AE"/>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9050">
            <a:solidFill>
              <a:srgbClr val="2E93AE"/>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9050">
            <a:solidFill>
              <a:srgbClr val="2E93AE"/>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2E93AE"/>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9050">
            <a:solidFill>
              <a:srgbClr val="2E93AE"/>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2E93AE"/>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2E93AE"/>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9050">
            <a:solidFill>
              <a:srgbClr val="2E93AE"/>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2E93AE"/>
          </a:solidFill>
          <a:ln/>
        </p:spPr>
        <p:txBody>
          <a:bodyPr wrap="square" lIns="25400" tIns="25400" rIns="25400" bIns="25400" rtlCol="0" anchor="ctr"/>
          <a:lstStyle/>
          <a:p>
            <a:pPr algn="ctr" indent="0" marL="0">
              <a:buNone/>
            </a:pPr>
            <a:r>
              <a:rPr lang="en-US" sz="1400" b="1" dirty="0">
                <a:solidFill>
                  <a:schemeClr val="bg1"/>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9050">
            <a:solidFill>
              <a:srgbClr val="2E93AE"/>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What You Need to Believe</a:t>
            </a:r>
            <a:endParaRPr lang="en-US" sz="3000" dirty="0"/>
          </a:p>
        </p:txBody>
      </p:sp>
      <p:sp>
        <p:nvSpPr>
          <p:cNvPr id="3" name="Belief 1 number"/>
          <p:cNvSpPr/>
          <p:nvPr/>
        </p:nvSpPr>
        <p:spPr>
          <a:xfrm>
            <a:off x="1051560" y="1170432"/>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Valuation: Sum of the Parts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9050">
            <a:solidFill>
              <a:srgbClr val="2E93AE"/>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9050">
            <a:solidFill>
              <a:srgbClr val="2E93AE"/>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Catalysts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Risks / Mitigants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Q&amp;A</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Appendix</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(1/2)</a:t>
            </a:r>
            <a:endParaRPr lang="en-US" sz="3000" dirty="0"/>
          </a:p>
        </p:txBody>
      </p:sp>
      <p:pic>
        <p:nvPicPr>
          <p:cNvPr id="3" name="PV bridge" descr="/home/user/SPOT/deck/img/app_pv.png">    </p:cNvPr>
          <p:cNvPicPr>
            <a:picLocks noChangeAspect="1"/>
          </p:cNvPicPr>
          <p:nvPr/>
        </p:nvPicPr>
        <p:blipFill>
          <a:blip r:embed="rId1"/>
          <a:stretch>
            <a:fillRect/>
          </a:stretch>
        </p:blipFill>
        <p:spPr>
          <a:xfrm>
            <a:off x="320040" y="1188720"/>
            <a:ext cx="8503920" cy="1907905"/>
          </a:xfrm>
          <a:prstGeom prst="rect">
            <a:avLst/>
          </a:prstGeom>
        </p:spPr>
      </p:pic>
      <p:pic>
        <p:nvPicPr>
          <p:cNvPr id="4" name="Blended valuation" descr="/home/user/SPOT/deck/img/app_blend.png">    </p:cNvPr>
          <p:cNvPicPr>
            <a:picLocks noChangeAspect="1"/>
          </p:cNvPicPr>
          <p:nvPr/>
        </p:nvPicPr>
        <p:blipFill>
          <a:blip r:embed="rId2"/>
          <a:stretch>
            <a:fillRect/>
          </a:stretch>
        </p:blipFill>
        <p:spPr>
          <a:xfrm>
            <a:off x="1143000" y="3657600"/>
            <a:ext cx="6858000" cy="1403968"/>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(2/2)</a:t>
            </a:r>
            <a:endParaRPr lang="en-US" sz="3000" dirty="0"/>
          </a:p>
        </p:txBody>
      </p:sp>
      <p:pic>
        <p:nvPicPr>
          <p:cNvPr id="3" name="Valuation methods" descr="/home/user/SPOT/deck/img/app_methods.png">    </p:cNvPr>
          <p:cNvPicPr>
            <a:picLocks noChangeAspect="1"/>
          </p:cNvPicPr>
          <p:nvPr/>
        </p:nvPicPr>
        <p:blipFill>
          <a:blip r:embed="rId1"/>
          <a:stretch>
            <a:fillRect/>
          </a:stretch>
        </p:blipFill>
        <p:spPr>
          <a:xfrm>
            <a:off x="685800" y="1097280"/>
            <a:ext cx="7772400" cy="4071475"/>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Sensitivities</a:t>
            </a:r>
            <a:endParaRPr lang="en-US" sz="3000" dirty="0"/>
          </a:p>
        </p:txBody>
      </p:sp>
      <p:pic>
        <p:nvPicPr>
          <p:cNvPr id="3" name="Sensitivity tables" descr="/home/user/SPOT/deck/img/app_sens.png">    </p:cNvPr>
          <p:cNvPicPr>
            <a:picLocks noChangeAspect="1"/>
          </p:cNvPicPr>
          <p:nvPr/>
        </p:nvPicPr>
        <p:blipFill>
          <a:blip r:embed="rId1"/>
          <a:stretch>
            <a:fillRect/>
          </a:stretch>
        </p:blipFill>
        <p:spPr>
          <a:xfrm>
            <a:off x="1188720" y="1097280"/>
            <a:ext cx="6766560" cy="412701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implied share price by WACC, terminal growth and exit multiple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Sum of the Parts</a:t>
            </a:r>
            <a:endParaRPr lang="en-US" sz="3000" dirty="0"/>
          </a:p>
        </p:txBody>
      </p:sp>
      <p:pic>
        <p:nvPicPr>
          <p:cNvPr id="3" name="SOTP table" descr="/home/user/SPOT/deck/img/app_sotp.png">    </p:cNvPr>
          <p:cNvPicPr>
            <a:picLocks noChangeAspect="1"/>
          </p:cNvPicPr>
          <p:nvPr/>
        </p:nvPicPr>
        <p:blipFill>
          <a:blip r:embed="rId1"/>
          <a:stretch>
            <a:fillRect/>
          </a:stretch>
        </p:blipFill>
        <p:spPr>
          <a:xfrm>
            <a:off x="685800" y="1188720"/>
            <a:ext cx="7772400" cy="313456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Power Model</a:t>
            </a:r>
            <a:endParaRPr lang="en-US" sz="3000" dirty="0"/>
          </a:p>
        </p:txBody>
      </p:sp>
      <p:pic>
        <p:nvPicPr>
          <p:cNvPr id="3" name="Mod-1 build" descr="/home/user/SPOT/deck/img/app_power.png">    </p:cNvPr>
          <p:cNvPicPr>
            <a:picLocks noChangeAspect="1"/>
          </p:cNvPicPr>
          <p:nvPr/>
        </p:nvPicPr>
        <p:blipFill>
          <a:blip r:embed="rId1"/>
          <a:stretch>
            <a:fillRect/>
          </a:stretch>
        </p:blipFill>
        <p:spPr>
          <a:xfrm>
            <a:off x="320040" y="1097280"/>
            <a:ext cx="8503920" cy="1845190"/>
          </a:xfrm>
          <a:prstGeom prst="rect">
            <a:avLst/>
          </a:prstGeom>
        </p:spPr>
      </p:pic>
      <p:pic>
        <p:nvPicPr>
          <p:cNvPr id="4" name="Power shortfall" descr="/home/user/SPOT/deck/img/app_shortfall.png">    </p:cNvPr>
          <p:cNvPicPr>
            <a:picLocks noChangeAspect="1"/>
          </p:cNvPicPr>
          <p:nvPr/>
        </p:nvPicPr>
        <p:blipFill>
          <a:blip r:embed="rId2"/>
          <a:stretch>
            <a:fillRect/>
          </a:stretch>
        </p:blipFill>
        <p:spPr>
          <a:xfrm>
            <a:off x="1463040" y="3246120"/>
            <a:ext cx="6217920" cy="1571670"/>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Mod-1 build; Power outlook tab, NERC 2025 LTRA inputs)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Repair Pricing</a:t>
            </a:r>
            <a:endParaRPr lang="en-US" sz="3000" dirty="0"/>
          </a:p>
        </p:txBody>
      </p:sp>
      <p:pic>
        <p:nvPicPr>
          <p:cNvPr id="3" name="Pricing summary" descr="/home/user/SPOT/deck/img/app_pricing.png">    </p:cNvPr>
          <p:cNvPicPr>
            <a:picLocks noChangeAspect="1"/>
          </p:cNvPicPr>
          <p:nvPr/>
        </p:nvPicPr>
        <p:blipFill>
          <a:blip r:embed="rId1"/>
          <a:stretch>
            <a:fillRect/>
          </a:stretch>
        </p:blipFill>
        <p:spPr>
          <a:xfrm>
            <a:off x="320040" y="1143000"/>
            <a:ext cx="8503920" cy="2753766"/>
          </a:xfrm>
          <a:prstGeom prst="rect">
            <a:avLst/>
          </a:prstGeom>
        </p:spPr>
      </p:pic>
      <p:sp>
        <p:nvSpPr>
          <p:cNvPr id="4" name="Pricing takeaway"/>
          <p:cNvSpPr txBox="1"/>
          <p:nvPr/>
        </p:nvSpPr>
        <p:spPr>
          <a:xfrm>
            <a:off x="320040" y="4206240"/>
            <a:ext cx="8503920" cy="548640"/>
          </a:xfrm>
          <a:prstGeom prst="rect">
            <a:avLst/>
          </a:prstGeom>
          <a:solidFill>
            <a:srgbClr val="EFEDEA"/>
          </a:solidFill>
          <a:ln/>
        </p:spPr>
        <p:txBody>
          <a:bodyPr wrap="square" lIns="0" tIns="0" rIns="0" bIns="0" rtlCol="0" anchor="ctr"/>
          <a:lstStyle/>
          <a:p>
            <a:pPr algn="ctr" indent="0" marL="0">
              <a:buNone/>
            </a:pPr>
            <a:r>
              <a:rPr lang="en-US" sz="1500" b="1" dirty="0">
                <a:solidFill>
                  <a:schemeClr val="tx2"/>
                </a:solidFill>
              </a:rPr>
              <a:t>OEM list prices rose a median ~6% a year across ~3,400 matched parts, with almost none falling.</a:t>
            </a:r>
            <a:endParaRPr lang="en-US" sz="1500" dirty="0"/>
          </a:p>
        </p:txBody>
      </p:sp>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(Pricing Data tab): matched OEM catalogue parts, CFM56-5B and -7B</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2E93AE"/>
      </a:accent5>
      <a:accent6>
        <a:srgbClr val="EE6E25"/>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2026-10-09T00:25:23Z</dcterms:created>
  <dcterms:modified xsi:type="dcterms:W3CDTF">2026-10-09T00:25:23Z</dcterms:modified>
</cp:coreProperties>
</file>