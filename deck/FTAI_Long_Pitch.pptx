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4.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21a0a08-6f00-4716-1c91-46879e85d60b}">
          <p14:sldIdLst>
            <p14:sldId id="256"/>
          </p14:sldIdLst>
        </p14:section>
        <p14:section name="The Opportunity" id="{e0588550-a3e6-9f24-f11a-2e9c2e45d3b6}">
          <p14:sldIdLst>
            <p14:sldId id="257"/>
            <p14:sldId id="258"/>
            <p14:sldId id="259"/>
            <p14:sldId id="260"/>
          </p14:sldIdLst>
        </p14:section>
        <p14:section name="Returns" id="{99be9918-2b75-31a4-eeb3-326badff4c8a}">
          <p14:sldIdLst>
            <p14:sldId id="261"/>
          </p14:sldIdLst>
        </p14:section>
        <p14:section name="Business Overview" id="{aad7b70c-2e9d-8c95-306b-b37654ad27c0}">
          <p14:sldIdLst>
            <p14:sldId id="262"/>
            <p14:sldId id="263"/>
          </p14:sldIdLst>
        </p14:section>
        <p14:section name="Thesis 1a" id="{8d2e1e4c-3e59-a2c1-8933-74c459b2938d}">
          <p14:sldIdLst>
            <p14:sldId id="264"/>
            <p14:sldId id="265"/>
            <p14:sldId id="266"/>
            <p14:sldId id="267"/>
          </p14:sldIdLst>
        </p14:section>
        <p14:section name="Thesis 1b" id="{68aaf3e8-725b-b34b-df3e-a28c2a10ae6b}">
          <p14:sldIdLst>
            <p14:sldId id="268"/>
            <p14:sldId id="269"/>
            <p14:sldId id="270"/>
            <p14:sldId id="271"/>
            <p14:sldId id="272"/>
            <p14:sldId id="273"/>
            <p14:sldId id="274"/>
          </p14:sldIdLst>
        </p14:section>
        <p14:section name="Thesis 2" id="{ba72955d-35a5-ab74-88c9-1b61a6865f41}">
          <p14:sldIdLst>
            <p14:sldId id="275"/>
            <p14:sldId id="276"/>
            <p14:sldId id="277"/>
            <p14:sldId id="278"/>
          </p14:sldIdLst>
        </p14:section>
        <p14:section name="Valuation" id="{c20e748a-7beb-0ab2-441b-bc6656b0e584}">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Firm backlog</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GE Vernova</c:v>
                  </c:pt>
                  <c:pt idx="1">
                    <c:v>Siemens Energy</c:v>
                  </c:pt>
                  <c:pt idx="2">
                    <c:v>Mitsubishi</c:v>
                  </c:pt>
                </c:lvl>
              </c:multiLvlStrCache>
            </c:multiLvlStrRef>
          </c:cat>
          <c:val>
            <c:numRef>
              <c:f>Sheet1!$B$2:$B$4</c:f>
              <c:numCache>
                <c:formatCode>General</c:formatCode>
                <c:ptCount val="3"/>
                <c:pt idx="0">
                  <c:v>53</c:v>
                </c:pt>
                <c:pt idx="1">
                  <c:v>69</c:v>
                </c:pt>
                <c:pt idx="2">
                  <c:v>35</c:v>
                </c:pt>
              </c:numCache>
            </c:numRef>
          </c:val>
        </c:ser>
        <c:ser>
          <c:idx val="1"/>
          <c:order val="1"/>
          <c:tx>
            <c:strRef>
              <c:f>Sheet1!$C$1</c:f>
              <c:strCache>
                <c:ptCount val="1"/>
                <c:pt idx="0">
                  <c:v>Slot reservations</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GE Vernova</c:v>
                  </c:pt>
                  <c:pt idx="1">
                    <c:v>Siemens Energy</c:v>
                  </c:pt>
                  <c:pt idx="2">
                    <c:v>Mitsubishi</c:v>
                  </c:pt>
                </c:lvl>
              </c:multiLvlStrCache>
            </c:multiLvlStrRef>
          </c:cat>
          <c:val>
            <c:numRef>
              <c:f>Sheet1!$C$2:$C$4</c:f>
              <c:numCache>
                <c:formatCode>General</c:formatCode>
                <c:ptCount val="3"/>
                <c:pt idx="0">
                  <c:v>63</c:v>
                </c:pt>
                <c:pt idx="1">
                  <c:v/>
                </c:pt>
                <c:pt idx="2">
                  <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0A1C58"/>
            </a:solidFill>
            <a:effectLst/>
          </c:spPr>
          <c:invertIfNegative val="0"/>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Margins + share only</c:v>
                  </c:pt>
                  <c:pt idx="1">
                    <c:v>Power only</c:v>
                  </c:pt>
                </c:lvl>
              </c:multiLvlStrCache>
            </c:multiLvlStrRef>
          </c:cat>
          <c:val>
            <c:numRef>
              <c:f>Sheet1!$B$2:$B$3</c:f>
              <c:numCache>
                <c:formatCode>General</c:formatCode>
                <c:ptCount val="2"/>
                <c:pt idx="0">
                  <c:v>0.33</c:v>
                </c:pt>
                <c:pt idx="1">
                  <c:v>0.36</c:v>
                </c:pt>
              </c:numCache>
            </c:numRef>
          </c:val>
        </c:ser>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Sheet1!$B$2:$B$7</c:f>
              <c:numCache>
                <c:formatCode>General</c:formatCode>
                <c:ptCount val="6"/>
                <c:pt idx="0">
                  <c:v>0</c:v>
                </c:pt>
                <c:pt idx="1">
                  <c:v>167</c:v>
                </c:pt>
                <c:pt idx="2">
                  <c:v>171.9</c:v>
                </c:pt>
                <c:pt idx="3">
                  <c:v>188.9</c:v>
                </c:pt>
                <c:pt idx="4">
                  <c:v>221.6</c:v>
                </c:pt>
                <c:pt idx="5">
                  <c:v>0</c:v>
                </c:pt>
              </c:numCache>
            </c:numRef>
          </c:val>
        </c:ser>
        <c:ser>
          <c:idx val="1"/>
          <c:order val="1"/>
          <c:tx>
            <c:strRef>
              <c:f>Sheet1!$C$1</c:f>
              <c:strCache>
                <c:ptCount val="1"/>
                <c:pt idx="0">
                  <c:v>Today</c:v>
                </c:pt>
              </c:strCache>
            </c:strRef>
          </c:tx>
          <c:spPr>
            <a:solidFill>
              <a:srgbClr val="847C7A"/>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Sheet1!$C$2:$C$7</c:f>
              <c:numCache>
                <c:formatCode>General</c:formatCode>
                <c:ptCount val="6"/>
                <c:pt idx="0">
                  <c:v>167</c:v>
                </c:pt>
                <c:pt idx="1">
                  <c:v>0</c:v>
                </c:pt>
                <c:pt idx="2">
                  <c:v>0</c:v>
                </c:pt>
                <c:pt idx="3">
                  <c:v>0</c:v>
                </c:pt>
                <c:pt idx="4">
                  <c:v>0</c:v>
                </c:pt>
                <c:pt idx="5">
                  <c:v>0</c:v>
                </c:pt>
              </c:numCache>
            </c:numRef>
          </c:val>
        </c:ser>
        <c:ser>
          <c:idx val="2"/>
          <c:order val="2"/>
          <c:tx>
            <c:strRef>
              <c:f>Sheet1!$D$1</c:f>
              <c:strCache>
                <c:ptCount val="1"/>
                <c:pt idx="0">
                  <c:v>Theses</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Sheet1!$D$2:$D$7</c:f>
              <c:numCache>
                <c:formatCode>General</c:formatCode>
                <c:ptCount val="6"/>
                <c:pt idx="0">
                  <c:v>0</c:v>
                </c:pt>
                <c:pt idx="1">
                  <c:v>4.8</c:v>
                </c:pt>
                <c:pt idx="2">
                  <c:v>17</c:v>
                </c:pt>
                <c:pt idx="3">
                  <c:v>32.7</c:v>
                </c:pt>
                <c:pt idx="4">
                  <c:v>55.1</c:v>
                </c:pt>
                <c:pt idx="5">
                  <c:v>0</c:v>
                </c:pt>
              </c:numCache>
            </c:numRef>
          </c:val>
        </c:ser>
        <c:ser>
          <c:idx val="3"/>
          <c:order val="3"/>
          <c:tx>
            <c:strRef>
              <c:f>Sheet1!$E$1</c:f>
              <c:strCache>
                <c:ptCount val="1"/>
                <c:pt idx="0">
                  <c:v>Base case</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Sheet1!$E$2:$E$7</c:f>
              <c:numCache>
                <c:formatCode>General</c:formatCode>
                <c:ptCount val="6"/>
                <c:pt idx="0">
                  <c:v>0</c:v>
                </c:pt>
                <c:pt idx="1">
                  <c:v>0</c:v>
                </c:pt>
                <c:pt idx="2">
                  <c:v>0</c:v>
                </c:pt>
                <c:pt idx="3">
                  <c:v>0</c:v>
                </c:pt>
                <c:pt idx="4">
                  <c:v>0</c:v>
                </c:pt>
                <c:pt idx="5">
                  <c:v>276.6</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 base-case SOTP with one thesis on and the others off (bear-case margins/share rows, Power units = 0), at base multiples, vs. $167.03: margins + share only (no Power) $222 (+33%); Power (signed order) only, with bear-case margins and share, $227 (+36%). All three = $277 (+66%). Share path: ~4% (2024) → ~8% (2025) → ~12% (2026E), i.e. ~4 pts a year; the model reaches 20% by FY30, ~2 pts a year. With all three off, the SOTP is $172, about today's price: the market is pricing the bear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Waterfall: today $167.03; bear case (bear margins and share, no Power) SOTP $171.86 (+$4.83); Shapley contributions on the SOTP: margins +$17.04, share +$32.66, Power +$55.08 = $276.65 (+66%). Base-case SOTP build: Aerospace $1,541M × 16x = $237; Power $450M × 12x = $52; Leasing + SCI $455M × 9x = $39; corporate −$28; net debt and preferred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Turbine makers are sold out for years, yet the market assigns no value to FTAI's Power.</a:t>
            </a:r>
            <a:endParaRPr lang="en-US" sz="1700" dirty="0"/>
          </a:p>
        </p:txBody>
      </p:sp>
      <p:sp>
        <p:nvSpPr>
          <p:cNvPr id="4" name="Backlog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Gas Turbine Backlogs (GW)</a:t>
            </a:r>
            <a:endParaRPr lang="en-US" sz="1600" dirty="0"/>
          </a:p>
        </p:txBody>
      </p:sp>
      <p:sp>
        <p:nvSpPr>
          <p:cNvPr id="5" name="Backlog header rule"/>
          <p:cNvSpPr/>
          <p:nvPr/>
        </p:nvSpPr>
        <p:spPr>
          <a:xfrm>
            <a:off x="320040" y="1975104"/>
            <a:ext cx="5257800" cy="0"/>
          </a:xfrm>
          <a:prstGeom prst="line">
            <a:avLst/>
          </a:prstGeom>
          <a:noFill/>
          <a:ln w="12700">
            <a:solidFill>
              <a:srgbClr val="1A1A1A"/>
            </a:solidFill>
            <a:prstDash val="solid"/>
          </a:ln>
        </p:spPr>
      </p:sp>
      <p:graphicFrame>
        <p:nvGraphicFramePr>
          <p:cNvPr id="6" name="Turbine backlog chart" descr=""/>
          <p:cNvGraphicFramePr/>
          <p:nvPr/>
        </p:nvGraphicFramePr>
        <p:xfrm>
          <a:off x="320040" y="2103120"/>
          <a:ext cx="5257800" cy="2606040"/>
        </p:xfrm>
        <a:graphic xmlns:a="http://schemas.openxmlformats.org/drawingml/2006/main">
          <a:graphicData uri="http://schemas.openxmlformats.org/drawingml/2006/chart">
            <c:chart xmlns:c="http://schemas.openxmlformats.org/drawingml/2006/chart" r:id="rId1"/>
          </a:graphicData>
        </a:graphic>
      </p:graphicFrame>
      <p:sp>
        <p:nvSpPr>
          <p:cNvPr id="7" name="GEV total label"/>
          <p:cNvSpPr txBox="1"/>
          <p:nvPr/>
        </p:nvSpPr>
        <p:spPr>
          <a:xfrm>
            <a:off x="685800" y="2103120"/>
            <a:ext cx="1463040" cy="256032"/>
          </a:xfrm>
          <a:prstGeom prst="rect">
            <a:avLst/>
          </a:prstGeom>
          <a:noFill/>
          <a:ln/>
        </p:spPr>
        <p:txBody>
          <a:bodyPr wrap="square" lIns="0" tIns="0" rIns="0" bIns="0" rtlCol="0" anchor="ctr"/>
          <a:lstStyle/>
          <a:p>
            <a:pPr algn="ctr" indent="0" marL="0">
              <a:buNone/>
            </a:pPr>
            <a:r>
              <a:rPr lang="en-US" sz="1200" b="1" dirty="0">
                <a:solidFill>
                  <a:schemeClr val="tx2"/>
                </a:solidFill>
              </a:rPr>
              <a:t>116 total</a:t>
            </a:r>
            <a:endParaRPr lang="en-US" sz="1200" dirty="0"/>
          </a:p>
        </p:txBody>
      </p:sp>
      <p:sp>
        <p:nvSpPr>
          <p:cNvPr id="8" name="Backlog legend"/>
          <p:cNvSpPr txBox="1"/>
          <p:nvPr/>
        </p:nvSpPr>
        <p:spPr>
          <a:xfrm>
            <a:off x="320040" y="4727448"/>
            <a:ext cx="5257800" cy="237744"/>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Firm backlog   </a:t>
            </a:r>
            <a:pPr algn="ctr" indent="0" marL="0">
              <a:buNone/>
            </a:pPr>
            <a:r>
              <a:rPr lang="en-US" sz="1100" dirty="0">
                <a:solidFill>
                  <a:srgbClr val="B5AEA9"/>
                </a:solidFill>
              </a:rPr>
              <a:t>■ </a:t>
            </a:r>
            <a:pPr algn="ctr" indent="0" marL="0">
              <a:buNone/>
            </a:pPr>
            <a:r>
              <a:rPr lang="en-US" sz="1100" dirty="0">
                <a:solidFill>
                  <a:srgbClr val="1A1A1A"/>
                </a:solidFill>
              </a:rPr>
              <a:t>Slot reservations</a:t>
            </a:r>
            <a:endParaRPr lang="en-US" sz="1100" dirty="0"/>
          </a:p>
        </p:txBody>
      </p:sp>
      <p:sp>
        <p:nvSpPr>
          <p:cNvPr id="9" name="Backlog caption"/>
          <p:cNvSpPr txBox="1"/>
          <p:nvPr/>
        </p:nvSpPr>
        <p:spPr>
          <a:xfrm>
            <a:off x="320040" y="4983480"/>
            <a:ext cx="5257800" cy="365760"/>
          </a:xfrm>
          <a:prstGeom prst="rect">
            <a:avLst/>
          </a:prstGeom>
          <a:noFill/>
          <a:ln/>
        </p:spPr>
        <p:txBody>
          <a:bodyPr wrap="square" lIns="0" tIns="0" rIns="0" bIns="0" rtlCol="0" anchor="ctr"/>
          <a:lstStyle/>
          <a:p>
            <a:pPr algn="ctr" indent="0" marL="0">
              <a:buNone/>
            </a:pPr>
            <a:r>
              <a:rPr lang="en-US" sz="1000" i="1" dirty="0">
                <a:solidFill>
                  <a:schemeClr val="accent2"/>
                </a:solidFill>
              </a:rPr>
              <a:t>Booking out to 2031 (GEV) · lead times 3+ years (Siemens) · new orders deliver 2028–30 (MHI)</a:t>
            </a:r>
            <a:endParaRPr lang="en-US" sz="1000" dirty="0"/>
          </a:p>
        </p:txBody>
      </p:sp>
      <p:sp>
        <p:nvSpPr>
          <p:cNvPr id="10"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1" name="Power stats header rule"/>
          <p:cNvSpPr/>
          <p:nvPr/>
        </p:nvSpPr>
        <p:spPr>
          <a:xfrm>
            <a:off x="5897880" y="1975104"/>
            <a:ext cx="2926080" cy="0"/>
          </a:xfrm>
          <a:prstGeom prst="line">
            <a:avLst/>
          </a:prstGeom>
          <a:noFill/>
          <a:ln w="12700">
            <a:solidFill>
              <a:srgbClr val="1A1A1A"/>
            </a:solidFill>
            <a:prstDash val="solid"/>
          </a:ln>
        </p:spPr>
      </p:sp>
      <p:sp>
        <p:nvSpPr>
          <p:cNvPr id="12"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3"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4"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5"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6"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7"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Vernova Q2'26, Siemens Energy Q3 FY26 and MHI Q1 FY26 results (via Utility Dive); FTAI filings and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2700">
            <a:solidFill>
              <a:srgbClr val="1A1A1A"/>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B5AEA9"/>
          </a:solidFill>
          <a:ln/>
        </p:spPr>
        <p:txBody>
          <a:bodyPr wrap="square" lIns="25400" tIns="25400" rIns="25400" bIns="25400" rtlCol="0" anchor="ctr"/>
          <a:lstStyle/>
          <a:p>
            <a:pPr algn="ctr" indent="0" marL="0">
              <a:buNone/>
            </a:pPr>
            <a:r>
              <a:rPr lang="en-US" sz="1400" b="1" dirty="0">
                <a:solidFill>
                  <a:schemeClr val="tx2"/>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2700">
            <a:solidFill>
              <a:srgbClr val="1A1A1A"/>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What You Need to Believe</a:t>
            </a:r>
            <a:endParaRPr lang="en-US" sz="3200" dirty="0"/>
          </a:p>
        </p:txBody>
      </p:sp>
      <p:sp>
        <p:nvSpPr>
          <p:cNvPr id="3" name="Belief 1 number"/>
          <p:cNvSpPr/>
          <p:nvPr/>
        </p:nvSpPr>
        <p:spPr>
          <a:xfrm>
            <a:off x="1051560" y="1170432"/>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Belief 1"/>
          <p:cNvSpPr txBox="1"/>
          <p:nvPr/>
        </p:nvSpPr>
        <p:spPr>
          <a:xfrm>
            <a:off x="1691640" y="1097280"/>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Margins: ~30% is the floor, and PMA parts, OEM-linked pricing and returning light work rebuild them.</a:t>
            </a:r>
            <a:endParaRPr lang="en-US" sz="1600" dirty="0"/>
          </a:p>
        </p:txBody>
      </p:sp>
      <p:sp>
        <p:nvSpPr>
          <p:cNvPr id="5" name="Belief 2 number"/>
          <p:cNvSpPr/>
          <p:nvPr/>
        </p:nvSpPr>
        <p:spPr>
          <a:xfrm>
            <a:off x="1051560" y="1883664"/>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Belief 2"/>
          <p:cNvSpPr txBox="1"/>
          <p:nvPr/>
        </p:nvSpPr>
        <p:spPr>
          <a:xfrm>
            <a:off x="1691640" y="1810512"/>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Share: FTAI reaches 20% of CFM56 work by FY30, at half the ~4 pts a year it has already been growing.</a:t>
            </a:r>
            <a:endParaRPr lang="en-US" sz="1600" dirty="0"/>
          </a:p>
        </p:txBody>
      </p:sp>
      <p:sp>
        <p:nvSpPr>
          <p:cNvPr id="7" name="Belief 3 number"/>
          <p:cNvSpPr/>
          <p:nvPr/>
        </p:nvSpPr>
        <p:spPr>
          <a:xfrm>
            <a:off x="1051560" y="2596896"/>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Belief 3"/>
          <p:cNvSpPr txBox="1"/>
          <p:nvPr/>
        </p:nvSpPr>
        <p:spPr>
          <a:xfrm>
            <a:off x="1691640" y="2523744"/>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Power: FTAI delivers the order it has already signed.</a:t>
            </a:r>
            <a:endParaRPr lang="en-US" sz="1600" dirty="0"/>
          </a:p>
        </p:txBody>
      </p:sp>
      <p:sp>
        <p:nvSpPr>
          <p:cNvPr id="9" name="Pick one"/>
          <p:cNvSpPr txBox="1"/>
          <p:nvPr/>
        </p:nvSpPr>
        <p:spPr>
          <a:xfrm>
            <a:off x="320040" y="3310128"/>
            <a:ext cx="8503920" cy="384048"/>
          </a:xfrm>
          <a:prstGeom prst="rect">
            <a:avLst/>
          </a:prstGeom>
          <a:noFill/>
          <a:ln/>
        </p:spPr>
        <p:txBody>
          <a:bodyPr wrap="square" lIns="0" tIns="0" rIns="0" bIns="0" rtlCol="0" anchor="ctr"/>
          <a:lstStyle/>
          <a:p>
            <a:pPr algn="ctr" indent="0" marL="0">
              <a:buNone/>
            </a:pPr>
            <a:r>
              <a:rPr lang="en-US" sz="2000" b="1" dirty="0">
                <a:solidFill>
                  <a:srgbClr val="1A1A1A"/>
                </a:solidFill>
              </a:rPr>
              <a:t>Or… just pick one:</a:t>
            </a:r>
            <a:endParaRPr lang="en-US" sz="2000" dirty="0"/>
          </a:p>
        </p:txBody>
      </p:sp>
      <p:graphicFrame>
        <p:nvGraphicFramePr>
          <p:cNvPr id="10" name="Pick one chart" descr=""/>
          <p:cNvGraphicFramePr/>
          <p:nvPr/>
        </p:nvGraphicFramePr>
        <p:xfrm>
          <a:off x="2331720" y="3703320"/>
          <a:ext cx="4480560" cy="2057400"/>
        </p:xfrm>
        <a:graphic xmlns:a="http://schemas.openxmlformats.org/drawingml/2006/main">
          <a:graphicData uri="http://schemas.openxmlformats.org/drawingml/2006/chart">
            <c:chart xmlns:c="http://schemas.openxmlformats.org/drawingml/2006/chart" r:id="rId1"/>
          </a:graphicData>
        </a:graphic>
      </p:graphicFrame>
      <p:sp>
        <p:nvSpPr>
          <p:cNvPr id="11" name="Pick one caption"/>
          <p:cNvSpPr txBox="1"/>
          <p:nvPr/>
        </p:nvSpPr>
        <p:spPr>
          <a:xfrm>
            <a:off x="2331720" y="5760720"/>
            <a:ext cx="4480560" cy="256032"/>
          </a:xfrm>
          <a:prstGeom prst="rect">
            <a:avLst/>
          </a:prstGeom>
          <a:noFill/>
          <a:ln/>
        </p:spPr>
        <p:txBody>
          <a:bodyPr wrap="square" lIns="0" tIns="0" rIns="0" bIns="0" rtlCol="0" anchor="ctr"/>
          <a:lstStyle/>
          <a:p>
            <a:pPr algn="ctr" indent="0" marL="0">
              <a:buNone/>
            </a:pPr>
            <a:r>
              <a:rPr lang="en-US" sz="1100" i="1" dirty="0">
                <a:solidFill>
                  <a:schemeClr val="accent2"/>
                </a:solidFill>
              </a:rPr>
              <a:t>Your return if only one comes true</a:t>
            </a:r>
            <a:endParaRPr lang="en-US" sz="1100" dirty="0"/>
          </a:p>
        </p:txBody>
      </p:sp>
      <p:sp>
        <p:nvSpPr>
          <p:cNvPr id="12" name="Left assumption box"/>
          <p:cNvSpPr txBox="1"/>
          <p:nvPr/>
        </p:nvSpPr>
        <p:spPr>
          <a:xfrm>
            <a:off x="32004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200" b="1" dirty="0">
                <a:solidFill>
                  <a:schemeClr val="tx2"/>
                </a:solidFill>
              </a:rPr>
              <a:t>Each bar holds the other side at our bear case</a:t>
            </a:r>
            <a:endParaRPr lang="en-US" sz="1200" dirty="0"/>
          </a:p>
        </p:txBody>
      </p:sp>
      <p:sp>
        <p:nvSpPr>
          <p:cNvPr id="13" name="Right assumption box"/>
          <p:cNvSpPr txBox="1"/>
          <p:nvPr/>
        </p:nvSpPr>
        <p:spPr>
          <a:xfrm>
            <a:off x="699516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300" b="1" dirty="0">
                <a:solidFill>
                  <a:schemeClr val="tx2"/>
                </a:solidFill>
              </a:rPr>
              <a:t>All three:</a:t>
            </a:r>
            <a:endParaRPr lang="en-US" sz="1300" dirty="0"/>
          </a:p>
          <a:p>
            <a:pPr algn="ctr" indent="0" marL="0">
              <a:buNone/>
            </a:pPr>
            <a:r>
              <a:rPr lang="en-US" sz="2000" b="1" dirty="0">
                <a:solidFill>
                  <a:schemeClr val="tx2"/>
                </a:solidFill>
              </a:rPr>
              <a:t>+66%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(FY27E EBITDA, base multiples), aviation theses vs. Power switched on separately; share history per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Sum of the Parts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At $167 the market prices our bear case. Each thesis builds from there to $277.</a:t>
            </a:r>
            <a:endParaRPr lang="en-US" sz="1700" dirty="0"/>
          </a:p>
        </p:txBody>
      </p:sp>
      <p:sp>
        <p:nvSpPr>
          <p:cNvPr id="4" name="Waterfall header"/>
          <p:cNvSpPr txBox="1"/>
          <p:nvPr/>
        </p:nvSpPr>
        <p:spPr>
          <a:xfrm>
            <a:off x="320040" y="1554480"/>
            <a:ext cx="5715000" cy="365760"/>
          </a:xfrm>
          <a:prstGeom prst="rect">
            <a:avLst/>
          </a:prstGeom>
          <a:noFill/>
          <a:ln/>
        </p:spPr>
        <p:txBody>
          <a:bodyPr wrap="square" lIns="0" tIns="0" rIns="0" bIns="0" rtlCol="0" anchor="b"/>
          <a:lstStyle/>
          <a:p>
            <a:pPr algn="ctr" indent="0" marL="0">
              <a:buNone/>
            </a:pPr>
            <a:r>
              <a:rPr lang="en-US" sz="1600" b="1" dirty="0">
                <a:solidFill>
                  <a:srgbClr val="1A1A1A"/>
                </a:solidFill>
              </a:rPr>
              <a:t>From Today to Our Base Case ($ / Share)</a:t>
            </a:r>
            <a:endParaRPr lang="en-US" sz="1600" dirty="0"/>
          </a:p>
        </p:txBody>
      </p:sp>
      <p:sp>
        <p:nvSpPr>
          <p:cNvPr id="5" name="Waterfall header rule"/>
          <p:cNvSpPr/>
          <p:nvPr/>
        </p:nvSpPr>
        <p:spPr>
          <a:xfrm>
            <a:off x="320040" y="1975104"/>
            <a:ext cx="5715000" cy="0"/>
          </a:xfrm>
          <a:prstGeom prst="line">
            <a:avLst/>
          </a:prstGeom>
          <a:noFill/>
          <a:ln w="12700">
            <a:solidFill>
              <a:srgbClr val="1A1A1A"/>
            </a:solidFill>
            <a:prstDash val="solid"/>
          </a:ln>
        </p:spPr>
      </p:sp>
      <p:graphicFrame>
        <p:nvGraphicFramePr>
          <p:cNvPr id="6" name="Thesis waterfall" descr=""/>
          <p:cNvGraphicFramePr/>
          <p:nvPr/>
        </p:nvGraphicFramePr>
        <p:xfrm>
          <a:off x="320040" y="2103120"/>
          <a:ext cx="5715000" cy="2971800"/>
        </p:xfrm>
        <a:graphic xmlns:a="http://schemas.openxmlformats.org/drawingml/2006/main">
          <a:graphicData uri="http://schemas.openxmlformats.org/drawingml/2006/chart">
            <c:chart xmlns:c="http://schemas.openxmlformats.org/drawingml/2006/chart" r:id="rId1"/>
          </a:graphicData>
        </a:graphic>
      </p:graphicFrame>
      <p:sp>
        <p:nvSpPr>
          <p:cNvPr id="7" name="Waterfall label 1"/>
          <p:cNvSpPr txBox="1"/>
          <p:nvPr/>
        </p:nvSpPr>
        <p:spPr>
          <a:xfrm>
            <a:off x="475488" y="2956932"/>
            <a:ext cx="822960" cy="237744"/>
          </a:xfrm>
          <a:prstGeom prst="rect">
            <a:avLst/>
          </a:prstGeom>
          <a:noFill/>
          <a:ln/>
        </p:spPr>
        <p:txBody>
          <a:bodyPr wrap="square" lIns="0" tIns="0" rIns="0" bIns="0" rtlCol="0" anchor="b"/>
          <a:lstStyle/>
          <a:p>
            <a:pPr algn="ctr" indent="0" marL="0">
              <a:buNone/>
            </a:pPr>
            <a:r>
              <a:rPr lang="en-US" sz="1300" b="1" dirty="0">
                <a:solidFill>
                  <a:srgbClr val="1A1A1A"/>
                </a:solidFill>
              </a:rPr>
              <a:t>$167</a:t>
            </a:r>
            <a:endParaRPr lang="en-US" sz="1300" dirty="0"/>
          </a:p>
        </p:txBody>
      </p:sp>
      <p:sp>
        <p:nvSpPr>
          <p:cNvPr id="8" name="Waterfall label 2"/>
          <p:cNvSpPr txBox="1"/>
          <p:nvPr/>
        </p:nvSpPr>
        <p:spPr>
          <a:xfrm>
            <a:off x="1389888" y="291759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a:t>
            </a:r>
            <a:endParaRPr lang="en-US" sz="1300" dirty="0"/>
          </a:p>
        </p:txBody>
      </p:sp>
      <p:sp>
        <p:nvSpPr>
          <p:cNvPr id="9" name="Waterfall label 3"/>
          <p:cNvSpPr txBox="1"/>
          <p:nvPr/>
        </p:nvSpPr>
        <p:spPr>
          <a:xfrm>
            <a:off x="2304288" y="278110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+$17</a:t>
            </a:r>
            <a:endParaRPr lang="en-US" sz="1300" dirty="0"/>
          </a:p>
        </p:txBody>
      </p:sp>
      <p:sp>
        <p:nvSpPr>
          <p:cNvPr id="10" name="Waterfall label 4"/>
          <p:cNvSpPr txBox="1"/>
          <p:nvPr/>
        </p:nvSpPr>
        <p:spPr>
          <a:xfrm>
            <a:off x="3218688" y="251857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+$33</a:t>
            </a:r>
            <a:endParaRPr lang="en-US" sz="1300" dirty="0"/>
          </a:p>
        </p:txBody>
      </p:sp>
      <p:sp>
        <p:nvSpPr>
          <p:cNvPr id="11" name="Waterfall label 5"/>
          <p:cNvSpPr txBox="1"/>
          <p:nvPr/>
        </p:nvSpPr>
        <p:spPr>
          <a:xfrm>
            <a:off x="4133088" y="207621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+$55</a:t>
            </a:r>
            <a:endParaRPr lang="en-US" sz="1300" dirty="0"/>
          </a:p>
        </p:txBody>
      </p:sp>
      <p:sp>
        <p:nvSpPr>
          <p:cNvPr id="12" name="Waterfall label 6"/>
          <p:cNvSpPr txBox="1"/>
          <p:nvPr/>
        </p:nvSpPr>
        <p:spPr>
          <a:xfrm>
            <a:off x="5047488" y="2077016"/>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$277</a:t>
            </a:r>
            <a:endParaRPr lang="en-US" sz="1300" dirty="0"/>
          </a:p>
        </p:txBody>
      </p:sp>
      <p:sp>
        <p:nvSpPr>
          <p:cNvPr id="13" name="Waterfall caption"/>
          <p:cNvSpPr txBox="1"/>
          <p:nvPr/>
        </p:nvSpPr>
        <p:spPr>
          <a:xfrm>
            <a:off x="320040" y="5074920"/>
            <a:ext cx="5715000" cy="256032"/>
          </a:xfrm>
          <a:prstGeom prst="rect">
            <a:avLst/>
          </a:prstGeom>
          <a:noFill/>
          <a:ln/>
        </p:spPr>
        <p:txBody>
          <a:bodyPr wrap="square" lIns="0" tIns="0" rIns="0" bIns="0" rtlCol="0" anchor="ctr"/>
          <a:lstStyle/>
          <a:p>
            <a:pPr algn="ctr" indent="0" marL="0">
              <a:buNone/>
            </a:pPr>
            <a:r>
              <a:rPr lang="en-US" sz="1000" i="1" dirty="0">
                <a:solidFill>
                  <a:schemeClr val="accent2"/>
                </a:solidFill>
              </a:rPr>
              <a:t>FY27E SOTP; each thesis switched from our bear case to base (Shapley average)</a:t>
            </a:r>
            <a:endParaRPr lang="en-US" sz="1000" dirty="0"/>
          </a:p>
        </p:txBody>
      </p:sp>
      <p:sp>
        <p:nvSpPr>
          <p:cNvPr id="14" name="Means header"/>
          <p:cNvSpPr txBox="1"/>
          <p:nvPr/>
        </p:nvSpPr>
        <p:spPr>
          <a:xfrm>
            <a:off x="6309360" y="1554480"/>
            <a:ext cx="2514600" cy="365760"/>
          </a:xfrm>
          <a:prstGeom prst="rect">
            <a:avLst/>
          </a:prstGeom>
          <a:noFill/>
          <a:ln/>
        </p:spPr>
        <p:txBody>
          <a:bodyPr wrap="square" lIns="0" tIns="0" rIns="0" bIns="0" rtlCol="0" anchor="b"/>
          <a:lstStyle/>
          <a:p>
            <a:pPr algn="ctr" indent="0" marL="0">
              <a:buNone/>
            </a:pPr>
            <a:r>
              <a:rPr lang="en-US" sz="1600" b="1" dirty="0">
                <a:solidFill>
                  <a:srgbClr val="1A1A1A"/>
                </a:solidFill>
              </a:rPr>
              <a:t>What It Means</a:t>
            </a:r>
            <a:endParaRPr lang="en-US" sz="1600" dirty="0"/>
          </a:p>
        </p:txBody>
      </p:sp>
      <p:sp>
        <p:nvSpPr>
          <p:cNvPr id="15" name="Means header rule"/>
          <p:cNvSpPr/>
          <p:nvPr/>
        </p:nvSpPr>
        <p:spPr>
          <a:xfrm>
            <a:off x="6309360" y="1975104"/>
            <a:ext cx="2514600" cy="0"/>
          </a:xfrm>
          <a:prstGeom prst="line">
            <a:avLst/>
          </a:prstGeom>
          <a:noFill/>
          <a:ln w="12700">
            <a:solidFill>
              <a:srgbClr val="1A1A1A"/>
            </a:solidFill>
            <a:prstDash val="solid"/>
          </a:ln>
        </p:spPr>
      </p:sp>
      <p:sp>
        <p:nvSpPr>
          <p:cNvPr id="16" name="Means stat 1"/>
          <p:cNvSpPr txBox="1"/>
          <p:nvPr/>
        </p:nvSpPr>
        <p:spPr>
          <a:xfrm>
            <a:off x="6309360" y="210312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+66%</a:t>
            </a:r>
            <a:endParaRPr lang="en-US" sz="2800" dirty="0"/>
          </a:p>
          <a:p>
            <a:pPr algn="ctr" indent="0" marL="0">
              <a:buNone/>
            </a:pPr>
            <a:r>
              <a:rPr lang="en-US" sz="1200" dirty="0">
                <a:solidFill>
                  <a:srgbClr val="1A1A1A"/>
                </a:solidFill>
              </a:rPr>
              <a:t>upside to our $277 base case</a:t>
            </a:r>
            <a:endParaRPr lang="en-US" sz="2800" dirty="0"/>
          </a:p>
        </p:txBody>
      </p:sp>
      <p:sp>
        <p:nvSpPr>
          <p:cNvPr id="17" name="Means stat 2"/>
          <p:cNvSpPr txBox="1"/>
          <p:nvPr/>
        </p:nvSpPr>
        <p:spPr>
          <a:xfrm>
            <a:off x="6309360" y="310896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$50</a:t>
            </a:r>
            <a:endParaRPr lang="en-US" sz="2800" dirty="0"/>
          </a:p>
          <a:p>
            <a:pPr algn="ctr" indent="0" marL="0">
              <a:buNone/>
            </a:pPr>
            <a:r>
              <a:rPr lang="en-US" sz="1200" dirty="0">
                <a:solidFill>
                  <a:srgbClr val="1A1A1A"/>
                </a:solidFill>
              </a:rPr>
              <a:t>from the aviation theses: margins and share</a:t>
            </a:r>
            <a:endParaRPr lang="en-US" sz="2800" dirty="0"/>
          </a:p>
        </p:txBody>
      </p:sp>
      <p:sp>
        <p:nvSpPr>
          <p:cNvPr id="18" name="Means stat 3"/>
          <p:cNvSpPr txBox="1"/>
          <p:nvPr/>
        </p:nvSpPr>
        <p:spPr>
          <a:xfrm>
            <a:off x="6309360" y="411480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$55</a:t>
            </a:r>
            <a:endParaRPr lang="en-US" sz="2800" dirty="0"/>
          </a:p>
          <a:p>
            <a:pPr algn="ctr" indent="0" marL="0">
              <a:buNone/>
            </a:pPr>
            <a:r>
              <a:rPr lang="en-US" sz="1200" dirty="0">
                <a:solidFill>
                  <a:srgbClr val="1A1A1A"/>
                </a:solidFill>
              </a:rPr>
              <a:t>from Power, on just the signed order</a:t>
            </a:r>
            <a:endParaRPr lang="en-US" sz="2800" dirty="0"/>
          </a:p>
        </p:txBody>
      </p:sp>
      <p:sp>
        <p:nvSpPr>
          <p:cNvPr id="1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Get the aviation theses right and you make 33%. Power on just the signed order takes it to 66%.</a:t>
            </a:r>
            <a:endParaRPr lang="en-US" sz="1700" dirty="0"/>
          </a:p>
        </p:txBody>
      </p:sp>
      <p:sp>
        <p:nvSpPr>
          <p:cNvPr id="2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Aerospace 16x, Power 12x, Leasing + SCI 9x FY27E EBITDA); thesis attribution re-runs; price $167.03 (10/2/26)</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25</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2026-10-08T23:55:54Z</dcterms:created>
  <dcterms:modified xsi:type="dcterms:W3CDTF">2026-10-08T23:55:54Z</dcterms:modified>
</cp:coreProperties>
</file>