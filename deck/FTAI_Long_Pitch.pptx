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5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1745a73-3a77-5be4-7741-8ee25cd3a26a}">
          <p14:sldIdLst>
            <p14:sldId id="256"/>
          </p14:sldIdLst>
        </p14:section>
        <p14:section name="The Opportunity" id="{bc8910a8-d2a1-3c2e-34f6-b60d43b0ad6e}">
          <p14:sldIdLst>
            <p14:sldId id="257"/>
            <p14:sldId id="258"/>
            <p14:sldId id="259"/>
            <p14:sldId id="260"/>
          </p14:sldIdLst>
        </p14:section>
        <p14:section name="Returns" id="{5909228e-9529-a264-7643-0d2b79299a09}">
          <p14:sldIdLst>
            <p14:sldId id="261"/>
          </p14:sldIdLst>
        </p14:section>
        <p14:section name="Business Overview" id="{8dd6634e-bf9f-755f-b71e-e65b2032c620}">
          <p14:sldIdLst>
            <p14:sldId id="262"/>
            <p14:sldId id="263"/>
          </p14:sldIdLst>
        </p14:section>
        <p14:section name="Thesis 1a" id="{a8176c2d-e272-ad84-0003-47d0fc69b916}">
          <p14:sldIdLst>
            <p14:sldId id="264"/>
            <p14:sldId id="265"/>
            <p14:sldId id="266"/>
            <p14:sldId id="267"/>
          </p14:sldIdLst>
        </p14:section>
        <p14:section name="Thesis 1b" id="{617ca761-4659-2546-700a-5c4a76874992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hesis 2" id="{02b013bb-f070-ec13-5c45-69d0cfaa608d}">
          <p14:sldIdLst>
            <p14:sldId id="275"/>
            <p14:sldId id="276"/>
            <p14:sldId id="277"/>
            <p14:sldId id="278"/>
          </p14:sldIdLst>
        </p14:section>
        <p14:section name="Valuation" id="{529374e8-1ea3-d5ca-3009-c9b571110821}">
          <p14:sldIdLst>
            <p14:sldId id="279"/>
            <p14:sldId id="280"/>
          </p14:sldIdLst>
        </p14:section>
        <p14:section name="Catalysts" id="{d456fd0a-7ff5-6819-051d-6a0dab3b261f}">
          <p14:sldIdLst>
            <p14:sldId id="281"/>
          </p14:sldIdLst>
        </p14:section>
        <p14:section name="Risks" id="{2731f7df-8a65-bc22-5ed1-212080a85a05}">
          <p14:sldIdLst>
            <p14:sldId id="282"/>
          </p14:sldIdLst>
        </p14:section>
        <p14:section name="Q&amp;A" id="{4dd3d3b6-4a3c-a354-d711-17c131f94f62}">
          <p14:sldIdLst>
            <p14:sldId id="283"/>
          </p14:sldIdLst>
        </p14:section>
        <p14:section name="Appendix" id="{37e8be28-1738-306f-d185-386d5af3eb4f}">
          <p14:sldIdLst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167</c:v>
                </c:pt>
                <c:pt idx="2">
                  <c:v>171.9</c:v>
                </c:pt>
                <c:pt idx="3">
                  <c:v>188.9</c:v>
                </c:pt>
                <c:pt idx="4">
                  <c:v>221.6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4.8</c:v>
                </c:pt>
                <c:pt idx="2">
                  <c:v>17</c:v>
                </c:pt>
                <c:pt idx="3">
                  <c:v>32.7</c:v>
                </c:pt>
                <c:pt idx="4">
                  <c:v>55.1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548640" y="1508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548640" y="2011680"/>
          <a:ext cx="548640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4183609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4311625" y="3366115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5537204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4961132" y="19519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6263640" y="2103120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6263640" y="26791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7562088" y="2103120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7562088" y="26791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6263640" y="3090672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6263640" y="3666744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7562088" y="3090672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7562088" y="3666744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7562088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6355080" y="3044952"/>
            <a:ext cx="2377440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411480" y="4206240"/>
            <a:ext cx="8321040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411480" y="50292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548640" y="5760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1600200" y="1188720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120140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1600200" y="2304288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120140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1600200" y="3419856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120140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188720" y="4553712"/>
            <a:ext cx="7040880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188720" y="5120640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filings, earnings calls,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4206240" y="2788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2606040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5897880" y="2103120"/>
          <a:ext cx="2926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5897880" y="4370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5897880" y="4983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3200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320040" y="1975104"/>
            <a:ext cx="45720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548640" y="2148840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2395728" y="2907792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548640" y="3227832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2395728" y="3986784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548640" y="4306824"/>
            <a:ext cx="4114800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Readings header"/>
          <p:cNvSpPr txBox="1"/>
          <p:nvPr/>
        </p:nvSpPr>
        <p:spPr>
          <a:xfrm>
            <a:off x="525780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2" name="Readings header rule"/>
          <p:cNvSpPr/>
          <p:nvPr/>
        </p:nvSpPr>
        <p:spPr>
          <a:xfrm>
            <a:off x="5257800" y="1975104"/>
            <a:ext cx="356616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3" name="Management reading"/>
          <p:cNvSpPr txBox="1"/>
          <p:nvPr/>
        </p:nvSpPr>
        <p:spPr>
          <a:xfrm>
            <a:off x="5257800" y="2148840"/>
            <a:ext cx="3566160" cy="13258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Management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→ Temporary: margins recover</a:t>
            </a:r>
            <a:endParaRPr lang="en-US" sz="1500" dirty="0"/>
          </a:p>
        </p:txBody>
      </p:sp>
      <p:sp>
        <p:nvSpPr>
          <p:cNvPr id="14" name="The Bears reading"/>
          <p:cNvSpPr txBox="1"/>
          <p:nvPr/>
        </p:nvSpPr>
        <p:spPr>
          <a:xfrm>
            <a:off x="5257800" y="3721608"/>
            <a:ext cx="3566160" cy="13258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The Bears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→ Structural: margins keep falling</a:t>
            </a:r>
            <a:endParaRPr lang="en-US" sz="1500" dirty="0"/>
          </a:p>
        </p:txBody>
      </p:sp>
      <p:sp>
        <p:nvSpPr>
          <p:cNvPr id="15" name="Readings vs"/>
          <p:cNvSpPr txBox="1"/>
          <p:nvPr/>
        </p:nvSpPr>
        <p:spPr>
          <a:xfrm>
            <a:off x="6720840" y="347472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320040" y="2103120"/>
          <a:ext cx="5257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097280" y="30175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3749040" y="2057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2331720" y="2377440"/>
            <a:ext cx="1371600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057400" y="233172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320040" y="475488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5897880" y="214884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5897880" y="2697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5897880" y="322783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5897880" y="3776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5897880" y="43068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5897880" y="48554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320040" y="1024128"/>
            <a:ext cx="8503920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320040" y="1627632"/>
            <a:ext cx="8503920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320040" y="2176272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6583680" y="2176272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+$17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+10%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320040" y="3145536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6583680" y="314553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+$33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320040" y="4114800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6583680" y="4114800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+$55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+33%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6053328" y="2176272"/>
            <a:ext cx="420624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320040" y="51206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case (bear margins and share, no Power) is worth $172 on our SOTP, just above today's $167.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320040" y="5468112"/>
            <a:ext cx="8503920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$5 to bear value + $17 margins + $33 volume + $55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32004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32004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50292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324612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324612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342900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310896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617220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617220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635508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603504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320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320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914400" y="2514600"/>
            <a:ext cx="2743200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3146140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3146140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206404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206404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1783080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1682496" y="2148840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1499616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30540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28712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1682496" y="4379976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1499616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3108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1280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4526280" y="1554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4526280" y="1975104"/>
            <a:ext cx="42976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4526280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4526280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5221224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5641848" y="2395728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6062472" y="2395728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4526280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5221224" y="3108960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5641848" y="3108960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6062472" y="3108960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4526280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5221224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5641848" y="3822192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6062472" y="3822192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5175504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5596128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601675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6922008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6922008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7616952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8037576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8458200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6922008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7616952" y="3108960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8037576" y="3108960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8458200" y="3108960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6922008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7616952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8037576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8458200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757123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7991856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8412480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6492240" y="3108960"/>
            <a:ext cx="365760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4526280" y="4645152"/>
            <a:ext cx="1901952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6922008" y="4645152"/>
            <a:ext cx="1901952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32004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320040" y="1975104"/>
            <a:ext cx="356616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548640" y="2103120"/>
          <a:ext cx="3108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188720" y="30632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416052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4160520" y="1975104"/>
            <a:ext cx="46634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4160520" y="2103120"/>
          <a:ext cx="4663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6766560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3200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320040" y="1975104"/>
            <a:ext cx="42062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320040" y="2103120"/>
          <a:ext cx="42062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26974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269748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4892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4892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4892040" y="2103120"/>
          <a:ext cx="39319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320040" y="15544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320040" y="1975104"/>
            <a:ext cx="43434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320040" y="2103120"/>
          <a:ext cx="43434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868680" y="21031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868680" y="43159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4206240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3246120" y="3520440"/>
            <a:ext cx="1371600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320040" y="495604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4892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4892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4892040" y="210312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ix caption"/>
          <p:cNvSpPr txBox="1"/>
          <p:nvPr/>
        </p:nvSpPr>
        <p:spPr>
          <a:xfrm>
            <a:off x="4892040" y="4892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3200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320040" y="1975104"/>
            <a:ext cx="42062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320040" y="208483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320040" y="2240280"/>
          <a:ext cx="420624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320040" y="32004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320040" y="3383280"/>
          <a:ext cx="4206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4892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4892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4892040" y="210312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4892040" y="4892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1600200" y="1097280"/>
            <a:ext cx="6629400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161288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1600200" y="2011680"/>
            <a:ext cx="6629400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161288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1600200" y="2926080"/>
            <a:ext cx="6629400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161288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1600200" y="3840480"/>
            <a:ext cx="6629400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161288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188720" y="4709160"/>
            <a:ext cx="7040880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188720" y="5193792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32004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320040" y="1975104"/>
            <a:ext cx="402336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548640" y="2240280"/>
          <a:ext cx="228600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685800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1737360" y="2103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548640" y="413308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2880360" y="251460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480060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4800600" y="1975104"/>
            <a:ext cx="402336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4892040" y="2240280"/>
          <a:ext cx="224028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4892040" y="413308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7178040" y="22402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7178040" y="32461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320040" y="4526280"/>
            <a:ext cx="850392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GPS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148840" y="153619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1488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18745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32156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29413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42824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40081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53492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50749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64160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61417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74828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72085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85496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82753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320040" y="1828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148840" y="1856232"/>
            <a:ext cx="1532128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3571240" y="1856232"/>
            <a:ext cx="1105408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4566920" y="1856232"/>
            <a:ext cx="1532128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5989320" y="1856232"/>
            <a:ext cx="1247648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7127240" y="1856232"/>
            <a:ext cx="465328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Test</a:t>
            </a: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7482840" y="1929384"/>
            <a:ext cx="1066800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228600" y="2560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148840" y="2587752"/>
            <a:ext cx="998728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3266440" y="25877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7589520" y="2423160"/>
            <a:ext cx="1051560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320040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320040" y="4005072"/>
            <a:ext cx="41605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320040" y="416052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103120" y="4160520"/>
            <a:ext cx="1737360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3913632" y="416052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320040" y="463600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103120" y="4636008"/>
            <a:ext cx="232588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2408860" y="463600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4709160" y="3657600"/>
            <a:ext cx="4114800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expert, GPS expert call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GPS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3200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320040" y="1975104"/>
            <a:ext cx="42062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320040" y="2103120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1828800" y="2103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320040" y="5047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4892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4892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4892040" y="2103120"/>
            <a:ext cx="1920240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6903720" y="2103120"/>
            <a:ext cx="1920240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4892040" y="3090672"/>
            <a:ext cx="1920240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6903720" y="3090672"/>
            <a:ext cx="1920240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4892040" y="4078224"/>
            <a:ext cx="1920240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6903720" y="4078224"/>
            <a:ext cx="1920240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4892040" y="50474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GPS estimates (E)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320040" y="1600200"/>
            <a:ext cx="1572768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048256" y="1600200"/>
            <a:ext cx="1572768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3776472" y="1600200"/>
            <a:ext cx="1572768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5504688" y="1600200"/>
            <a:ext cx="1572768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7232904" y="1600200"/>
            <a:ext cx="1572768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320040" y="2606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320040" y="3026664"/>
            <a:ext cx="42062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320040" y="3108960"/>
          <a:ext cx="42062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4892040" y="2606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4892040" y="302666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4892040" y="3108960"/>
          <a:ext cx="39319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4892040" y="51206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2024–25 share per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320040" y="1783080"/>
            <a:ext cx="8503920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685800" y="1627632"/>
            <a:ext cx="210312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45720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3520440" y="1627632"/>
            <a:ext cx="210312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329184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6355080" y="1627632"/>
            <a:ext cx="210312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612648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320040" y="3291840"/>
            <a:ext cx="2706624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411480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1618488" y="35204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457200" y="4572000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3218688" y="3291840"/>
            <a:ext cx="2706624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3310128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4517136" y="35204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3355848" y="4572000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6117336" y="3291840"/>
            <a:ext cx="2706624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6208776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7415784" y="35204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6254496" y="4572000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GPS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822960" y="1627632"/>
            <a:ext cx="749808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4206240" y="25420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960120" y="2926080"/>
          <a:ext cx="76809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960120" y="5102352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GPS analysis: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3200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320040" y="1975104"/>
            <a:ext cx="42062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320040" y="2103120"/>
          <a:ext cx="42062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4892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4892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4892040" y="2103120"/>
          <a:ext cx="39319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3200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320040" y="1975104"/>
            <a:ext cx="45720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320040" y="2103120"/>
          <a:ext cx="4572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2331720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5212080" y="15544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5212080" y="1975104"/>
            <a:ext cx="36118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5212080" y="2148840"/>
            <a:ext cx="361188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6830568" y="2971800"/>
            <a:ext cx="365760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5212080" y="3172968"/>
            <a:ext cx="361188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6830568" y="3995928"/>
            <a:ext cx="365760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5212080" y="4197096"/>
            <a:ext cx="361188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320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320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320040" y="2240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240280" y="2240280"/>
            <a:ext cx="1371600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3685032" y="2240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32004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240280" y="3017520"/>
            <a:ext cx="171450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2484882" y="3017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320040" y="3931920"/>
            <a:ext cx="3931920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4572000" y="15544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4572000" y="1975104"/>
            <a:ext cx="425196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6172200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5897880" y="4617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7214616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6940296" y="4617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8257032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7982712" y="4617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4572000" y="22860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6589166" y="2359152"/>
            <a:ext cx="625450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4572000" y="306324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7214616" y="3136392"/>
            <a:ext cx="151150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4572000" y="38404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7735824" y="3913632"/>
            <a:ext cx="1042416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320040" y="1554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320040" y="1975104"/>
            <a:ext cx="34290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1691640" y="20299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2697480" y="202996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320040" y="2304288"/>
            <a:ext cx="1325880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1691640" y="230428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2697480" y="2304288"/>
            <a:ext cx="1051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320040" y="3172968"/>
            <a:ext cx="1325880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1691640" y="317296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2697480" y="3172968"/>
            <a:ext cx="1051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320040" y="4041648"/>
            <a:ext cx="1325880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1691640" y="404164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2697480" y="4041648"/>
            <a:ext cx="1051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4069080" y="1554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4069080" y="1975104"/>
            <a:ext cx="47548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4069080" y="2103120"/>
          <a:ext cx="47548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051560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1691640" y="1097280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051560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1691640" y="181051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051560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1691640" y="2523744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320040" y="3310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2331720" y="3703320"/>
          <a:ext cx="44805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320040" y="4251960"/>
            <a:ext cx="1828800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6995160" y="4251960"/>
            <a:ext cx="1828800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share history per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320040" y="155448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320040" y="1975104"/>
            <a:ext cx="57150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320040" y="2103120"/>
          <a:ext cx="57150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475488" y="29569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1389888" y="2917593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2304288" y="2781109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+$17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3218688" y="2518579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+$33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4133088" y="2076213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+$55</a:t>
            </a:r>
            <a:endParaRPr lang="en-US" sz="1300" dirty="0"/>
          </a:p>
        </p:txBody>
      </p:sp>
      <p:sp>
        <p:nvSpPr>
          <p:cNvPr id="12" name="Waterfall label 6"/>
          <p:cNvSpPr txBox="1"/>
          <p:nvPr/>
        </p:nvSpPr>
        <p:spPr>
          <a:xfrm>
            <a:off x="5047488" y="207701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3" name="Means header"/>
          <p:cNvSpPr txBox="1"/>
          <p:nvPr/>
        </p:nvSpPr>
        <p:spPr>
          <a:xfrm>
            <a:off x="6309360" y="1554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4" name="Means header rule"/>
          <p:cNvSpPr/>
          <p:nvPr/>
        </p:nvSpPr>
        <p:spPr>
          <a:xfrm>
            <a:off x="6309360" y="1975104"/>
            <a:ext cx="25146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Means stat 1"/>
          <p:cNvSpPr txBox="1"/>
          <p:nvPr/>
        </p:nvSpPr>
        <p:spPr>
          <a:xfrm>
            <a:off x="6309360" y="21031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6" name="Means stat 2"/>
          <p:cNvSpPr txBox="1"/>
          <p:nvPr/>
        </p:nvSpPr>
        <p:spPr>
          <a:xfrm>
            <a:off x="6309360" y="310896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$50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7" name="Means stat 3"/>
          <p:cNvSpPr txBox="1"/>
          <p:nvPr/>
        </p:nvSpPr>
        <p:spPr>
          <a:xfrm>
            <a:off x="6309360" y="41148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$55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Get the aviation theses right and you make 33%. Power on just the signed order takes it to 66%.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315968" y="1554480"/>
            <a:ext cx="512064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320040" y="1691640"/>
            <a:ext cx="8503920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457200" y="1691640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3794760" y="1865376"/>
            <a:ext cx="1554480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5486400" y="1691640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320040" y="2907792"/>
            <a:ext cx="8503920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457200" y="2907792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3794760" y="3081528"/>
            <a:ext cx="1554480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5486400" y="2907792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320040" y="4123944"/>
            <a:ext cx="8503920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457200" y="4123944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3794760" y="4297680"/>
            <a:ext cx="1554480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5486400" y="4123944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$450–750M);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320040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868680" y="1600200"/>
            <a:ext cx="3154680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868680" y="1984248"/>
            <a:ext cx="3154680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4206240" y="1554480"/>
            <a:ext cx="4617720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320040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868680" y="2898648"/>
            <a:ext cx="3154680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868680" y="3282696"/>
            <a:ext cx="3154680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4206240" y="2852928"/>
            <a:ext cx="4617720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320040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868680" y="4197096"/>
            <a:ext cx="3154680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868680" y="4581144"/>
            <a:ext cx="3154680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4206240" y="4151376"/>
            <a:ext cx="4617720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548640" y="2926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548640" y="2926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88720"/>
            <a:ext cx="8503920" cy="1907905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657600"/>
            <a:ext cx="6858000" cy="140396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43000"/>
            <a:ext cx="8503920" cy="3760294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097280"/>
            <a:ext cx="6766560" cy="4127018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88720"/>
            <a:ext cx="8503920" cy="262739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97280"/>
            <a:ext cx="8503920" cy="184519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246120"/>
            <a:ext cx="6217920" cy="1571670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97280"/>
            <a:ext cx="8503920" cy="2802382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320040" y="4343400"/>
            <a:ext cx="8503920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2026-10-09T00:51:58Z</dcterms:created>
  <dcterms:modified xsi:type="dcterms:W3CDTF">2026-10-09T00:51:58Z</dcterms:modified>
</cp:coreProperties>
</file>