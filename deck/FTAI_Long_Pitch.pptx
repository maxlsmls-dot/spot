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76fea45-b14a-1512-ea2d-bef77923eb73}">
          <p14:sldIdLst>
            <p14:sldId id="256"/>
          </p14:sldIdLst>
        </p14:section>
        <p14:section name="The Opportunity" id="{8db79388-ceb6-bd2f-81a6-eb4abd615ca7}">
          <p14:sldIdLst>
            <p14:sldId id="257"/>
            <p14:sldId id="258"/>
            <p14:sldId id="259"/>
            <p14:sldId id="260"/>
          </p14:sldIdLst>
        </p14:section>
        <p14:section name="Returns" id="{0dc8e47b-d8a3-e13b-f548-b9b2a22b38e3}">
          <p14:sldIdLst>
            <p14:sldId id="261"/>
          </p14:sldIdLst>
        </p14:section>
        <p14:section name="Business Overview" id="{3430fd40-ebf8-b7c0-0a3d-ba5be19fc6d3}">
          <p14:sldIdLst>
            <p14:sldId id="262"/>
            <p14:sldId id="263"/>
          </p14:sldIdLst>
        </p14:section>
        <p14:section name="Thesis 1a" id="{2b9189bd-ca1a-8860-24bf-faff119e94e3}">
          <p14:sldIdLst>
            <p14:sldId id="264"/>
            <p14:sldId id="265"/>
            <p14:sldId id="266"/>
            <p14:sldId id="267"/>
          </p14:sldIdLst>
        </p14:section>
        <p14:section name="Thesis 1b" id="{23bb6a3a-d838-b2c5-8954-15250207a032}">
          <p14:sldIdLst>
            <p14:sldId id="268"/>
            <p14:sldId id="269"/>
            <p14:sldId id="270"/>
            <p14:sldId id="271"/>
            <p14:sldId id="272"/>
            <p14:sldId id="273"/>
            <p14:sldId id="274"/>
          </p14:sldIdLst>
        </p14:section>
        <p14:section name="Thesis 2" id="{a411c942-a2d4-007a-8486-28a3cc52f26f}">
          <p14:sldIdLst>
            <p14:sldId id="275"/>
            <p14:sldId id="276"/>
            <p14:sldId id="277"/>
            <p14:sldId id="278"/>
          </p14:sldIdLst>
        </p14:section>
        <p14:section name="Valuation" id="{640a6f4d-c480-52f6-6348-16bd8a437c71}">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Bear</c:v>
                </c:pt>
              </c:strCache>
            </c:strRef>
          </c:tx>
          <c:spPr>
            <a:solidFill>
              <a:srgbClr val="B5AEA9"/>
            </a:solidFill>
            <a:effectLst/>
          </c:spPr>
          <c:invertIfNegative val="0"/>
          <c:dLbls>
            <c:numFmt formatCode="&quot;$&quot;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Bear</c:v>
                  </c:pt>
                  <c:pt idx="1">
                    <c:v>Base</c:v>
                  </c:pt>
                  <c:pt idx="2">
                    <c:v>Bull</c:v>
                  </c:pt>
                </c:lvl>
              </c:multiLvlStrCache>
            </c:multiLvlStrRef>
          </c:cat>
          <c:val>
            <c:numRef>
              <c:f>Sheet1!$B$2:$B$4</c:f>
              <c:numCache>
                <c:formatCode>General</c:formatCode>
                <c:ptCount val="3"/>
                <c:pt idx="0">
                  <c:v>126</c:v>
                </c:pt>
                <c:pt idx="1">
                  <c:v/>
                </c:pt>
                <c:pt idx="2">
                  <c:v/>
                </c:pt>
              </c:numCache>
            </c:numRef>
          </c:val>
        </c:ser>
        <c:ser>
          <c:idx val="1"/>
          <c:order val="1"/>
          <c:tx>
            <c:strRef>
              <c:f>Sheet1!$C$1</c:f>
              <c:strCache>
                <c:ptCount val="1"/>
                <c:pt idx="0">
                  <c:v>Base / Bull</c:v>
                </c:pt>
              </c:strCache>
            </c:strRef>
          </c:tx>
          <c:spPr>
            <a:solidFill>
              <a:srgbClr val="0A1C58"/>
            </a:solidFill>
            <a:effectLst/>
          </c:spPr>
          <c:invertIfNegative val="0"/>
          <c:dLbls>
            <c:numFmt formatCode="&quot;$&quot;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Bear</c:v>
                  </c:pt>
                  <c:pt idx="1">
                    <c:v>Base</c:v>
                  </c:pt>
                  <c:pt idx="2">
                    <c:v>Bull</c:v>
                  </c:pt>
                </c:lvl>
              </c:multiLvlStrCache>
            </c:multiLvlStrRef>
          </c:cat>
          <c:val>
            <c:numRef>
              <c:f>Sheet1!$C$2:$C$4</c:f>
              <c:numCache>
                <c:formatCode>General</c:formatCode>
                <c:ptCount val="3"/>
                <c:pt idx="0">
                  <c:v/>
                </c:pt>
                <c:pt idx="1">
                  <c:v>277</c:v>
                </c:pt>
                <c:pt idx="2">
                  <c:v>352</c:v>
                </c:pt>
              </c:numCache>
            </c:numRef>
          </c:val>
        </c:ser>
        <c:dLbls>
          <c:numFmt formatCode="&quot;$&quot;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Adj. EBITDA from each model case (DCF!C3 toggle). Base multiples from the model: Aerospace 16x, Power 12x, Leasing + SCI 9x; corporate costs at the blended segment multiple. Bear: model Bear EBITDA (Aerospace $1,168M, Power $113M, Leasing $400M) at de-rated 12x / 8x / 8x = $126 (-24%). Bull: model Bull EBITDA ($1,669M / $550M / $455M) at 18x / 14x / 10x = $352 (+111%). Reward/risk = 66% / 24% = 2.7x. Holding base multiples in the bear case gives $173, so the bear case also assumes the market keeps punishing the multiple. Note: the title slide still shows the blended DCF target ($308, 84%, 3.4x).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Base case of $277 (+66%), with 2.7x more upside than downside.</a:t>
            </a:r>
            <a:endParaRPr lang="en-US" sz="1700" dirty="0"/>
          </a:p>
        </p:txBody>
      </p:sp>
      <p:graphicFrame>
        <p:nvGraphicFramePr>
          <p:cNvPr id="25" name="SOTP table"/>
          <p:cNvGraphicFramePr>
            <a:graphicFrameLocks noGrp="1"/>
          </p:cNvGraphicFramePr>
          <p:nvPr>
            <p:extLst>
              <p:ext uri="{D42A27DB-BD31-4B8C-83A1-F6EECF244321}">
                <p14:modId xmlns:p14="http://schemas.microsoft.com/office/powerpoint/2010/main" val="1579011935"/>
              </p:ext>
            </p:extLst>
          </p:nvPr>
        </p:nvGraphicFramePr>
        <p:xfrm>
          <a:off x="320040" y="1600200"/>
          <a:ext cx="5029200" cy="914400"/>
        </p:xfrm>
        <a:graphic>
          <a:graphicData uri="http://schemas.openxmlformats.org/drawingml/2006/table">
            <a:tbl>
              <a:tblPr/>
              <a:tblGrid>
                <a:gridCol w="1737360"/>
                <a:gridCol w="1097280"/>
                <a:gridCol w="1097280"/>
                <a:gridCol w="1097280"/>
              </a:tblGrid>
              <a:tr h="347472">
                <a:tc>
                  <a:txBody>
                    <a:bodyPr/>
                    <a:lstStyle/>
                    <a:p>
                      <a:pPr algn="l" indent="0" marL="0">
                        <a:buNone/>
                      </a:pP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0A1C58"/>
                          </a:solidFill>
                        </a:rPr>
                        <a:t>Bear</a:t>
                      </a:r>
                      <a:endParaRPr lang="en-US" sz="13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solidFill>
                      <a:srgbClr val="DCD8D3"/>
                    </a:solidFill>
                  </a:tcPr>
                </a:tc>
                <a:tc>
                  <a:txBody>
                    <a:bodyPr/>
                    <a:lstStyle/>
                    <a:p>
                      <a:pPr algn="ctr" indent="0" marL="0">
                        <a:buNone/>
                      </a:pPr>
                      <a:r>
                        <a:rPr lang="en-US" sz="1300" b="1" dirty="0">
                          <a:solidFill>
                            <a:srgbClr val="FFFFFF"/>
                          </a:solidFill>
                        </a:rPr>
                        <a:t>Base</a:t>
                      </a:r>
                      <a:endParaRPr lang="en-US" sz="13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solidFill>
                      <a:srgbClr val="0A1C58"/>
                    </a:solidFill>
                  </a:tcPr>
                </a:tc>
                <a:tc>
                  <a:txBody>
                    <a:bodyPr/>
                    <a:lstStyle/>
                    <a:p>
                      <a:pPr algn="ctr" indent="0" marL="0">
                        <a:buNone/>
                      </a:pPr>
                      <a:r>
                        <a:rPr lang="en-US" sz="1300" b="1" dirty="0">
                          <a:solidFill>
                            <a:srgbClr val="0A1C58"/>
                          </a:solidFill>
                        </a:rPr>
                        <a:t>Bull</a:t>
                      </a:r>
                      <a:endParaRPr lang="en-US" sz="13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solidFill>
                      <a:srgbClr val="DCD8D3"/>
                    </a:solidFill>
                  </a:tcPr>
                </a:tc>
              </a:tr>
              <a:tr h="475488">
                <a:tc>
                  <a:txBody>
                    <a:bodyPr/>
                    <a:lstStyle/>
                    <a:p>
                      <a:pPr algn="l" indent="0" marL="0">
                        <a:buNone/>
                      </a:pPr>
                      <a:r>
                        <a:rPr lang="en-US" sz="1200" b="1" dirty="0">
                          <a:solidFill>
                            <a:srgbClr val="1A1A1A"/>
                          </a:solidFill>
                        </a:rPr>
                        <a:t>Aerospace Products</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$135</a:t>
                      </a:r>
                      <a:endParaRPr lang="en-US" sz="1200" dirty="0"/>
                    </a:p>
                    <a:p>
                      <a:pPr algn="ctr" indent="0" marL="0">
                        <a:buNone/>
                      </a:pPr>
                      <a:r>
                        <a:rPr lang="en-US" sz="900" dirty="0">
                          <a:solidFill>
                            <a:srgbClr val="847C7A"/>
                          </a:solidFill>
                        </a:rPr>
                        <a:t>12x · $1,168M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$237</a:t>
                      </a:r>
                      <a:endParaRPr lang="en-US" sz="1200" dirty="0"/>
                    </a:p>
                    <a:p>
                      <a:pPr algn="ctr" indent="0" marL="0">
                        <a:buNone/>
                      </a:pPr>
                      <a:r>
                        <a:rPr lang="en-US" sz="900" dirty="0">
                          <a:solidFill>
                            <a:srgbClr val="847C7A"/>
                          </a:solidFill>
                        </a:rPr>
                        <a:t>16x · $1,541M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$289</a:t>
                      </a:r>
                      <a:endParaRPr lang="en-US" sz="1200" dirty="0"/>
                    </a:p>
                    <a:p>
                      <a:pPr algn="ctr" indent="0" marL="0">
                        <a:buNone/>
                      </a:pPr>
                      <a:r>
                        <a:rPr lang="en-US" sz="900" dirty="0">
                          <a:solidFill>
                            <a:srgbClr val="847C7A"/>
                          </a:solidFill>
                        </a:rPr>
                        <a:t>18x · $1,669M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r>
              <a:tr h="475488">
                <a:tc>
                  <a:txBody>
                    <a:bodyPr/>
                    <a:lstStyle/>
                    <a:p>
                      <a:pPr algn="l" indent="0" marL="0">
                        <a:buNone/>
                      </a:pPr>
                      <a:r>
                        <a:rPr lang="en-US" sz="1200" b="1" dirty="0">
                          <a:solidFill>
                            <a:srgbClr val="1A1A1A"/>
                          </a:solidFill>
                        </a:rPr>
                        <a:t>FTAI Power</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$9</a:t>
                      </a:r>
                      <a:endParaRPr lang="en-US" sz="1200" dirty="0"/>
                    </a:p>
                    <a:p>
                      <a:pPr algn="ctr" indent="0" marL="0">
                        <a:buNone/>
                      </a:pPr>
                      <a:r>
                        <a:rPr lang="en-US" sz="900" dirty="0">
                          <a:solidFill>
                            <a:srgbClr val="847C7A"/>
                          </a:solidFill>
                        </a:rPr>
                        <a:t>8x · $113M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$52</a:t>
                      </a:r>
                      <a:endParaRPr lang="en-US" sz="1200" dirty="0"/>
                    </a:p>
                    <a:p>
                      <a:pPr algn="ctr" indent="0" marL="0">
                        <a:buNone/>
                      </a:pPr>
                      <a:r>
                        <a:rPr lang="en-US" sz="900" dirty="0">
                          <a:solidFill>
                            <a:srgbClr val="847C7A"/>
                          </a:solidFill>
                        </a:rPr>
                        <a:t>12x · $450M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$74</a:t>
                      </a:r>
                      <a:endParaRPr lang="en-US" sz="1200" dirty="0"/>
                    </a:p>
                    <a:p>
                      <a:pPr algn="ctr" indent="0" marL="0">
                        <a:buNone/>
                      </a:pPr>
                      <a:r>
                        <a:rPr lang="en-US" sz="900" dirty="0">
                          <a:solidFill>
                            <a:srgbClr val="847C7A"/>
                          </a:solidFill>
                        </a:rPr>
                        <a:t>14x · $550M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r>
              <a:tr h="475488">
                <a:tc>
                  <a:txBody>
                    <a:bodyPr/>
                    <a:lstStyle/>
                    <a:p>
                      <a:pPr algn="l" indent="0" marL="0">
                        <a:buNone/>
                      </a:pPr>
                      <a:r>
                        <a:rPr lang="en-US" sz="1200" b="1" dirty="0">
                          <a:solidFill>
                            <a:srgbClr val="1A1A1A"/>
                          </a:solidFill>
                        </a:rPr>
                        <a:t>Leasing + SCI</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$31</a:t>
                      </a:r>
                      <a:endParaRPr lang="en-US" sz="1200" dirty="0"/>
                    </a:p>
                    <a:p>
                      <a:pPr algn="ctr" indent="0" marL="0">
                        <a:buNone/>
                      </a:pPr>
                      <a:r>
                        <a:rPr lang="en-US" sz="900" dirty="0">
                          <a:solidFill>
                            <a:srgbClr val="847C7A"/>
                          </a:solidFill>
                        </a:rPr>
                        <a:t>8x · $400M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$39</a:t>
                      </a:r>
                      <a:endParaRPr lang="en-US" sz="1200" dirty="0"/>
                    </a:p>
                    <a:p>
                      <a:pPr algn="ctr" indent="0" marL="0">
                        <a:buNone/>
                      </a:pPr>
                      <a:r>
                        <a:rPr lang="en-US" sz="900" dirty="0">
                          <a:solidFill>
                            <a:srgbClr val="847C7A"/>
                          </a:solidFill>
                        </a:rPr>
                        <a:t>9x · $455M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$44</a:t>
                      </a:r>
                      <a:endParaRPr lang="en-US" sz="1200" dirty="0"/>
                    </a:p>
                    <a:p>
                      <a:pPr algn="ctr" indent="0" marL="0">
                        <a:buNone/>
                      </a:pPr>
                      <a:r>
                        <a:rPr lang="en-US" sz="900" dirty="0">
                          <a:solidFill>
                            <a:srgbClr val="847C7A"/>
                          </a:solidFill>
                        </a:rPr>
                        <a:t>10x · $455M</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r>
              <a:tr h="365760">
                <a:tc>
                  <a:txBody>
                    <a:bodyPr/>
                    <a:lstStyle/>
                    <a:p>
                      <a:pPr algn="l" indent="0" marL="0">
                        <a:buNone/>
                      </a:pPr>
                      <a:r>
                        <a:rPr lang="en-US" sz="1200" b="1" dirty="0">
                          <a:solidFill>
                            <a:srgbClr val="1A1A1A"/>
                          </a:solidFill>
                        </a:rPr>
                        <a:t>Corporate</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($21)</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($28)</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($31)</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r>
              <a:tr h="365760">
                <a:tc>
                  <a:txBody>
                    <a:bodyPr/>
                    <a:lstStyle/>
                    <a:p>
                      <a:pPr algn="l" indent="0" marL="0">
                        <a:buNone/>
                      </a:pPr>
                      <a:r>
                        <a:rPr lang="en-US" sz="1200" b="1" dirty="0">
                          <a:solidFill>
                            <a:srgbClr val="1A1A1A"/>
                          </a:solidFill>
                        </a:rPr>
                        <a:t>Net debt + preferred</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($26)</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($24)</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($23)</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r>
              <a:tr h="411480">
                <a:tc>
                  <a:txBody>
                    <a:bodyPr/>
                    <a:lstStyle/>
                    <a:p>
                      <a:pPr algn="l" indent="0" marL="0">
                        <a:buNone/>
                      </a:pPr>
                      <a:r>
                        <a:rPr lang="en-US" sz="1300" b="1" dirty="0">
                          <a:solidFill>
                            <a:srgbClr val="1A1A1A"/>
                          </a:solidFill>
                        </a:rPr>
                        <a:t>Price per share</a:t>
                      </a:r>
                      <a:endParaRPr lang="en-US" sz="13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1A1A1A"/>
                          </a:solidFill>
                        </a:rPr>
                        <a:t>$126</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solidFill>
                      <a:srgbClr val="EFEDEA"/>
                    </a:solidFill>
                  </a:tcPr>
                </a:tc>
                <a:tc>
                  <a:txBody>
                    <a:bodyPr/>
                    <a:lstStyle/>
                    <a:p>
                      <a:pPr algn="ctr" indent="0" marL="0">
                        <a:buNone/>
                      </a:pPr>
                      <a:r>
                        <a:rPr lang="en-US" sz="1300" b="1" dirty="0">
                          <a:solidFill>
                            <a:srgbClr val="1A1A1A"/>
                          </a:solidFill>
                        </a:rPr>
                        <a:t>$277</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solidFill>
                      <a:srgbClr val="EFEDEA"/>
                    </a:solidFill>
                  </a:tcPr>
                </a:tc>
                <a:tc>
                  <a:txBody>
                    <a:bodyPr/>
                    <a:lstStyle/>
                    <a:p>
                      <a:pPr algn="ctr" indent="0" marL="0">
                        <a:buNone/>
                      </a:pPr>
                      <a:r>
                        <a:rPr lang="en-US" sz="1300" b="1" dirty="0">
                          <a:solidFill>
                            <a:srgbClr val="1A1A1A"/>
                          </a:solidFill>
                        </a:rPr>
                        <a:t>$352</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solidFill>
                      <a:srgbClr val="EFEDEA"/>
                    </a:solidFill>
                  </a:tcPr>
                </a:tc>
              </a:tr>
              <a:tr h="365760">
                <a:tc>
                  <a:txBody>
                    <a:bodyPr/>
                    <a:lstStyle/>
                    <a:p>
                      <a:pPr algn="l" indent="0" marL="0">
                        <a:buNone/>
                      </a:pPr>
                      <a:r>
                        <a:rPr lang="en-US" sz="1200" i="1" dirty="0">
                          <a:solidFill>
                            <a:srgbClr val="1A1A1A"/>
                          </a:solidFill>
                        </a:rPr>
                        <a:t>vs. $167 today</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847C7A"/>
                          </a:solidFill>
                        </a:rPr>
                        <a:t>–24%</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0A1C58"/>
                          </a:solidFill>
                        </a:rPr>
                        <a:t>+66%</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c>
                  <a:txBody>
                    <a:bodyPr/>
                    <a:lstStyle/>
                    <a:p>
                      <a:pPr algn="ctr" indent="0" marL="0">
                        <a:buNone/>
                      </a:pPr>
                      <a:r>
                        <a:rPr lang="en-US" sz="1300" b="1" dirty="0">
                          <a:solidFill>
                            <a:srgbClr val="0A1C58"/>
                          </a:solidFill>
                        </a:rPr>
                        <a:t>+111%</a:t>
                      </a:r>
                      <a:endParaRPr lang="en-US" sz="1200" dirty="0"/>
                    </a:p>
                  </a:txBody>
                  <a:tcPr marL="36576" marR="36576" marT="36576" marB="36576" anchor="ctr">
                    <a:lnL w="6350" cap="flat" cmpd="sng" algn="ctr">
                      <a:solidFill>
                        <a:srgbClr val="E3E0DC"/>
                      </a:solidFill>
                      <a:prstDash val="solid"/>
                      <a:round/>
                      <a:headEnd type="none" w="med" len="med"/>
                      <a:tailEnd type="none" w="med" len="med"/>
                    </a:lnL>
                    <a:lnR w="6350" cap="flat" cmpd="sng" algn="ctr">
                      <a:solidFill>
                        <a:srgbClr val="E3E0DC"/>
                      </a:solidFill>
                      <a:prstDash val="solid"/>
                      <a:round/>
                      <a:headEnd type="none" w="med" len="med"/>
                      <a:tailEnd type="none" w="med" len="med"/>
                    </a:lnR>
                    <a:lnT w="6350" cap="flat" cmpd="sng" algn="ctr">
                      <a:solidFill>
                        <a:srgbClr val="E3E0DC"/>
                      </a:solidFill>
                      <a:prstDash val="solid"/>
                      <a:round/>
                      <a:headEnd type="none" w="med" len="med"/>
                      <a:tailEnd type="none" w="med" len="med"/>
                    </a:lnT>
                    <a:lnB w="6350" cap="flat" cmpd="sng" algn="ctr">
                      <a:solidFill>
                        <a:srgbClr val="E3E0DC"/>
                      </a:solidFill>
                      <a:prstDash val="solid"/>
                      <a:round/>
                      <a:headEnd type="none" w="med" len="med"/>
                      <a:tailEnd type="none" w="med" len="med"/>
                    </a:lnB>
                  </a:tcPr>
                </a:tc>
              </a:tr>
            </a:tbl>
          </a:graphicData>
        </a:graphic>
      </p:graphicFrame>
      <p:sp>
        <p:nvSpPr>
          <p:cNvPr id="5" name="Scenario chart header"/>
          <p:cNvSpPr txBox="1"/>
          <p:nvPr/>
        </p:nvSpPr>
        <p:spPr>
          <a:xfrm>
            <a:off x="5623560" y="1554480"/>
            <a:ext cx="3200400" cy="365760"/>
          </a:xfrm>
          <a:prstGeom prst="rect">
            <a:avLst/>
          </a:prstGeom>
          <a:noFill/>
          <a:ln/>
        </p:spPr>
        <p:txBody>
          <a:bodyPr wrap="square" lIns="0" tIns="0" rIns="0" bIns="0" rtlCol="0" anchor="b"/>
          <a:lstStyle/>
          <a:p>
            <a:pPr algn="ctr" indent="0" marL="0">
              <a:buNone/>
            </a:pPr>
            <a:r>
              <a:rPr lang="en-US" sz="1600" b="1" dirty="0">
                <a:solidFill>
                  <a:srgbClr val="1A1A1A"/>
                </a:solidFill>
              </a:rPr>
              <a:t>Price per Share by Scenario</a:t>
            </a:r>
            <a:endParaRPr lang="en-US" sz="1600" dirty="0"/>
          </a:p>
        </p:txBody>
      </p:sp>
      <p:sp>
        <p:nvSpPr>
          <p:cNvPr id="6" name="Scenario chart header rule"/>
          <p:cNvSpPr/>
          <p:nvPr/>
        </p:nvSpPr>
        <p:spPr>
          <a:xfrm>
            <a:off x="5623560" y="1975104"/>
            <a:ext cx="3200400" cy="0"/>
          </a:xfrm>
          <a:prstGeom prst="line">
            <a:avLst/>
          </a:prstGeom>
          <a:noFill/>
          <a:ln w="12700">
            <a:solidFill>
              <a:srgbClr val="1A1A1A"/>
            </a:solidFill>
            <a:prstDash val="solid"/>
          </a:ln>
        </p:spPr>
      </p:sp>
      <p:graphicFrame>
        <p:nvGraphicFramePr>
          <p:cNvPr id="7" name="Scenario chart" descr=""/>
          <p:cNvGraphicFramePr/>
          <p:nvPr/>
        </p:nvGraphicFramePr>
        <p:xfrm>
          <a:off x="5623560" y="2103120"/>
          <a:ext cx="3200400" cy="2514600"/>
        </p:xfrm>
        <a:graphic xmlns:a="http://schemas.openxmlformats.org/drawingml/2006/main">
          <a:graphicData uri="http://schemas.openxmlformats.org/drawingml/2006/chart">
            <c:chart xmlns:c="http://schemas.openxmlformats.org/drawingml/2006/chart" r:id="rId1"/>
          </a:graphicData>
        </a:graphic>
      </p:graphicFrame>
      <p:sp>
        <p:nvSpPr>
          <p:cNvPr id="8" name="Reward risk callout"/>
          <p:cNvSpPr/>
          <p:nvPr/>
        </p:nvSpPr>
        <p:spPr>
          <a:xfrm>
            <a:off x="5715000" y="210312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2.7x</a:t>
            </a:r>
            <a:endParaRPr lang="en-US" sz="2200" dirty="0"/>
          </a:p>
          <a:p>
            <a:pPr algn="ctr" indent="0" marL="0">
              <a:buNone/>
            </a:pPr>
            <a:r>
              <a:rPr lang="en-US" sz="1000" b="1" dirty="0">
                <a:solidFill>
                  <a:schemeClr val="bg1"/>
                </a:solidFill>
              </a:rPr>
              <a:t>reward / risk</a:t>
            </a:r>
            <a:endParaRPr lang="en-US" sz="2200" dirty="0"/>
          </a:p>
        </p:txBody>
      </p:sp>
      <p:sp>
        <p:nvSpPr>
          <p:cNvPr id="9" name="Scenario caption"/>
          <p:cNvSpPr txBox="1"/>
          <p:nvPr/>
        </p:nvSpPr>
        <p:spPr>
          <a:xfrm>
            <a:off x="5623560" y="4663440"/>
            <a:ext cx="3200400" cy="274320"/>
          </a:xfrm>
          <a:prstGeom prst="rect">
            <a:avLst/>
          </a:prstGeom>
          <a:noFill/>
          <a:ln/>
        </p:spPr>
        <p:txBody>
          <a:bodyPr wrap="square" lIns="0" tIns="0" rIns="0" bIns="0" rtlCol="0" anchor="ctr"/>
          <a:lstStyle/>
          <a:p>
            <a:pPr algn="ctr" indent="0" marL="0">
              <a:buNone/>
            </a:pPr>
            <a:r>
              <a:rPr lang="en-US" sz="1000" i="1" dirty="0">
                <a:solidFill>
                  <a:schemeClr val="accent2"/>
                </a:solidFill>
              </a:rPr>
              <a:t>FY27E EBITDA × multiple; today's price $167</a:t>
            </a:r>
            <a:endParaRPr lang="en-US" sz="1000" dirty="0"/>
          </a:p>
        </p:txBody>
      </p:sp>
      <p:sp>
        <p:nvSpPr>
          <p:cNvPr id="1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bear-case EBITDA and compressed multiples, downside is 24%. The base case offers 66%.</a:t>
            </a:r>
            <a:endParaRPr lang="en-US" sz="1700" dirty="0"/>
          </a:p>
        </p:txBody>
      </p:sp>
      <p:sp>
        <p:nvSpPr>
          <p:cNvPr id="1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(Bear/Base/Bull cases, FY27E segment EBITDA, YE27E net debt); bear and bull multiples are GPS assumptions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2026-10-08T23:34:16Z</dcterms:created>
  <dcterms:modified xsi:type="dcterms:W3CDTF">2026-10-08T23:34:16Z</dcterms:modified>
</cp:coreProperties>
</file>