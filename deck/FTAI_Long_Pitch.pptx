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bacf59-bc49-521a-5688-7ddf7172204a}">
          <p14:sldIdLst>
            <p14:sldId id="256"/>
          </p14:sldIdLst>
        </p14:section>
        <p14:section name="The Opportunity" id="{2b9b1524-e7a7-6147-7c0a-385b191f52f4}">
          <p14:sldIdLst>
            <p14:sldId id="257"/>
            <p14:sldId id="258"/>
            <p14:sldId id="259"/>
            <p14:sldId id="260"/>
          </p14:sldIdLst>
        </p14:section>
        <p14:section name="Returns" id="{44f69d21-d0e6-5e7e-912e-88188952ae45}">
          <p14:sldIdLst>
            <p14:sldId id="261"/>
          </p14:sldIdLst>
        </p14:section>
        <p14:section name="Business Overview" id="{e7242bed-7c86-fb68-691c-13559dc401cf}">
          <p14:sldIdLst>
            <p14:sldId id="262"/>
            <p14:sldId id="263"/>
          </p14:sldIdLst>
        </p14:section>
        <p14:section name="Thesis 1a" id="{065aeb3e-0226-c9e0-6fce-4e9e82e66afa}">
          <p14:sldIdLst>
            <p14:sldId id="264"/>
            <p14:sldId id="265"/>
            <p14:sldId id="266"/>
            <p14:sldId id="267"/>
          </p14:sldIdLst>
        </p14:section>
        <p14:section name="Thesis 1b" id="{565f1643-15b5-e946-3159-d525c0bd6b54}">
          <p14:sldIdLst>
            <p14:sldId id="268"/>
            <p14:sldId id="269"/>
            <p14:sldId id="270"/>
            <p14:sldId id="271"/>
            <p14:sldId id="272"/>
            <p14:sldId id="273"/>
            <p14:sldId id="274"/>
          </p14:sldIdLst>
        </p14:section>
        <p14:section name="Thesis 2" id="{e8087e0f-b1d3-e503-9e3a-5797c2be117e}">
          <p14:sldIdLst>
            <p14:sldId id="275"/>
            <p14:sldId id="276"/>
            <p14:sldId id="277"/>
            <p14:sldId id="278"/>
          </p14:sldIdLst>
        </p14:section>
        <p14:section name="Valuation" id="{2ac877be-88ac-2a1f-bef7-d103c1241777}">
          <p14:sldIdLst>
            <p14:sldId id="279"/>
            <p14:sldId id="280"/>
          </p14:sldIdLst>
        </p14:section>
        <p14:section name="Catalysts" id="{8d939d74-2c6f-35c1-3183-f9c7ad866ebd}">
          <p14:sldIdLst>
            <p14:sldId id="281"/>
          </p14:sldIdLst>
        </p14:section>
        <p14:section name="Risks" id="{4e6ab534-49aa-eca5-42cf-983306596000}">
          <p14:sldIdLst>
            <p14:sldId id="282"/>
          </p14:sldIdLst>
        </p14:section>
        <p14:section name="Q&amp;A" id="{e4b6f8b5-5c82-6c96-27e9-0586448b1125}">
          <p14:sldIdLst>
            <p14:sldId id="283"/>
          </p14:sldIdLst>
        </p14:section>
        <p14:section name="Appendix" id="{f898f7fb-f5c1-85e3-1dbc-1a8b00ebfbd4}">
          <p14:sldIdLst>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B5AEA9"/>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3.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B5AEA9"/>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2700">
            <a:solidFill>
              <a:srgbClr val="1A1A1A"/>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Catalysts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Risks / Mitigants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sp>
        <p:nvSpPr>
          <p:cNvPr id="3"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4"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5" name="Logo divider"/>
          <p:cNvSpPr/>
          <p:nvPr/>
        </p:nvSpPr>
        <p:spPr>
          <a:xfrm>
            <a:off x="7360920" y="5577840"/>
            <a:ext cx="0" cy="1097280"/>
          </a:xfrm>
          <a:prstGeom prst="line">
            <a:avLst/>
          </a:prstGeom>
          <a:noFill/>
          <a:ln w="12700">
            <a:solidFill>
              <a:srgbClr val="847C7A"/>
            </a:solidFill>
            <a:prstDash val="solid"/>
          </a:ln>
        </p:spPr>
      </p:sp>
      <p:sp>
        <p:nvSpPr>
          <p:cNvPr id="6"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sp>
        <p:nvSpPr>
          <p:cNvPr id="3"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4"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5" name="Logo divider"/>
          <p:cNvSpPr/>
          <p:nvPr/>
        </p:nvSpPr>
        <p:spPr>
          <a:xfrm>
            <a:off x="7360920" y="5577840"/>
            <a:ext cx="0" cy="1097280"/>
          </a:xfrm>
          <a:prstGeom prst="line">
            <a:avLst/>
          </a:prstGeom>
          <a:noFill/>
          <a:ln w="12700">
            <a:solidFill>
              <a:srgbClr val="847C7A"/>
            </a:solidFill>
            <a:prstDash val="solid"/>
          </a:ln>
        </p:spPr>
      </p:sp>
      <p:sp>
        <p:nvSpPr>
          <p:cNvPr id="6"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(1/2)</a:t>
            </a:r>
            <a:endParaRPr lang="en-US" sz="32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(2/2)</a:t>
            </a:r>
            <a:endParaRPr lang="en-US" sz="3200" dirty="0"/>
          </a:p>
        </p:txBody>
      </p:sp>
      <p:pic>
        <p:nvPicPr>
          <p:cNvPr id="3" name="Valuation methods" descr="/home/user/SPOT/deck/img/app_methods.png">    </p:cNvPr>
          <p:cNvPicPr>
            <a:picLocks noChangeAspect="1"/>
          </p:cNvPicPr>
          <p:nvPr/>
        </p:nvPicPr>
        <p:blipFill>
          <a:blip r:embed="rId1"/>
          <a:stretch>
            <a:fillRect/>
          </a:stretch>
        </p:blipFill>
        <p:spPr>
          <a:xfrm>
            <a:off x="685800" y="1097280"/>
            <a:ext cx="7772400" cy="4071475"/>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Sensitivities</a:t>
            </a:r>
            <a:endParaRPr lang="en-US" sz="32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Sum of the Parts</a:t>
            </a:r>
            <a:endParaRPr lang="en-US" sz="3200" dirty="0"/>
          </a:p>
        </p:txBody>
      </p:sp>
      <p:pic>
        <p:nvPicPr>
          <p:cNvPr id="3" name="SOTP table" descr="/home/user/SPOT/deck/img/app_sotp.png">    </p:cNvPr>
          <p:cNvPicPr>
            <a:picLocks noChangeAspect="1"/>
          </p:cNvPicPr>
          <p:nvPr/>
        </p:nvPicPr>
        <p:blipFill>
          <a:blip r:embed="rId1"/>
          <a:stretch>
            <a:fillRect/>
          </a:stretch>
        </p:blipFill>
        <p:spPr>
          <a:xfrm>
            <a:off x="685800" y="1188720"/>
            <a:ext cx="7772400" cy="313456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Operating Build</a:t>
            </a:r>
            <a:endParaRPr lang="en-US" sz="3200" dirty="0"/>
          </a:p>
        </p:txBody>
      </p:sp>
      <p:pic>
        <p:nvPicPr>
          <p:cNvPr id="3" name="Operating build" descr="/home/user/SPOT/deck/img/app_opbuild.png">    </p:cNvPr>
          <p:cNvPicPr>
            <a:picLocks noChangeAspect="1"/>
          </p:cNvPicPr>
          <p:nvPr/>
        </p:nvPicPr>
        <p:blipFill>
          <a:blip r:embed="rId1"/>
          <a:stretch>
            <a:fillRect/>
          </a:stretch>
        </p:blipFill>
        <p:spPr>
          <a:xfrm>
            <a:off x="320040" y="1143000"/>
            <a:ext cx="8503920" cy="3609695"/>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(Operating Model tab), $ millions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Unlevered Free Cash Flow</a:t>
            </a:r>
            <a:endParaRPr lang="en-US" sz="3200" dirty="0"/>
          </a:p>
        </p:txBody>
      </p:sp>
      <p:pic>
        <p:nvPicPr>
          <p:cNvPr id="3" name="UFCF build" descr="/home/user/SPOT/deck/img/app_ufcf.png">    </p:cNvPr>
          <p:cNvPicPr>
            <a:picLocks noChangeAspect="1"/>
          </p:cNvPicPr>
          <p:nvPr/>
        </p:nvPicPr>
        <p:blipFill>
          <a:blip r:embed="rId1"/>
          <a:stretch>
            <a:fillRect/>
          </a:stretch>
        </p:blipFill>
        <p:spPr>
          <a:xfrm>
            <a:off x="320040" y="1143000"/>
            <a:ext cx="8503920" cy="3174743"/>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(Operating Model tab), $ millions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Power Model</a:t>
            </a:r>
            <a:endParaRPr lang="en-US" sz="32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CFM56 Repair Pricing</a:t>
            </a:r>
            <a:endParaRPr lang="en-US" sz="3200" dirty="0"/>
          </a:p>
        </p:txBody>
      </p:sp>
      <p:pic>
        <p:nvPicPr>
          <p:cNvPr id="3" name="Pricing summary" descr="/home/user/SPOT/deck/img/app_pricing.png">    </p:cNvPr>
          <p:cNvPicPr>
            <a:picLocks noChangeAspect="1"/>
          </p:cNvPicPr>
          <p:nvPr/>
        </p:nvPicPr>
        <p:blipFill>
          <a:blip r:embed="rId1"/>
          <a:stretch>
            <a:fillRect/>
          </a:stretch>
        </p:blipFill>
        <p:spPr>
          <a:xfrm>
            <a:off x="320040" y="1143000"/>
            <a:ext cx="8503920" cy="2753766"/>
          </a:xfrm>
          <a:prstGeom prst="rect">
            <a:avLst/>
          </a:prstGeom>
        </p:spPr>
      </p:pic>
      <p:sp>
        <p:nvSpPr>
          <p:cNvPr id="4" name="Pricing takeaway"/>
          <p:cNvSpPr txBox="1"/>
          <p:nvPr/>
        </p:nvSpPr>
        <p:spPr>
          <a:xfrm>
            <a:off x="320040" y="4206240"/>
            <a:ext cx="8503920" cy="548640"/>
          </a:xfrm>
          <a:prstGeom prst="rect">
            <a:avLst/>
          </a:prstGeom>
          <a:solidFill>
            <a:srgbClr val="EFEDEA"/>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37</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2026-10-09T00:18:05Z</dcterms:created>
  <dcterms:modified xsi:type="dcterms:W3CDTF">2026-10-09T00:18:05Z</dcterms:modified>
</cp:coreProperties>
</file>