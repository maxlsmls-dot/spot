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6874f80-4d71-d0a9-f658-ae55353e5e7b}">
          <p14:sldIdLst>
            <p14:sldId id="256"/>
          </p14:sldIdLst>
        </p14:section>
        <p14:section name="The Opportunity" id="{042e9f46-9e83-59f4-d0ed-4a5a8bb6af77}">
          <p14:sldIdLst>
            <p14:sldId id="257"/>
            <p14:sldId id="258"/>
            <p14:sldId id="259"/>
            <p14:sldId id="260"/>
          </p14:sldIdLst>
        </p14:section>
        <p14:section name="Returns" id="{f14cb231-a1d1-2c4c-384a-80d71f0b0bbd}">
          <p14:sldIdLst>
            <p14:sldId id="261"/>
          </p14:sldIdLst>
        </p14:section>
        <p14:section name="Business Overview" id="{3e1a021a-5d6f-5cff-a771-3f3210bf669e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AEA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.0&quot;x&quot;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Market Today</c:v>
                  </c:pt>
                  <c:pt idx="1">
                    <c:v>Our SOTP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9.2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SOTP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&quot;x&quot;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Market Today</c:v>
                  </c:pt>
                  <c:pt idx="1">
                    <c:v>Our SOTP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14</c:v>
                </c:pt>
              </c:numCache>
            </c:numRef>
          </c:val>
        </c:ser>
        <c:dLbls>
          <c:numFmt formatCode="0.0&quot;x&quot;;;;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224.75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167.03</c:v>
                </c:pt>
                <c:pt idx="1">
                  <c:v>224.75</c:v>
                </c:pt>
                <c:pt idx="2">
                  <c:v>0</c:v>
                </c:pt>
                <c:pt idx="3">
                  <c:v>276.65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Power</c:v>
                </c:pt>
              </c:strCache>
            </c:strRef>
          </c:tx>
          <c:spPr>
            <a:solidFill>
              <a:srgbClr val="847C7A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51.9</c:v>
                </c:pt>
                <c:pt idx="3">
                  <c:v>0</c:v>
                </c:pt>
              </c:numCache>
            </c:numRef>
          </c:val>
        </c:ser>
        <c:dLbls>
          <c:numFmt formatCode="&quot;$&quot;0;;;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as of 10/2/26. Target is the base-case blended DCF: 50% perpetuity growth ($281) and 50% exit multiple ($335). R/R = 132% bull blended upside vs. 39% bear blended downside.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Reported quarterly Aerospace Products Adj. EBITDA margins from the RPM tab. Q4'25 34.6% to Q1'26 29.9% = -470 bps. Mix example is management's: a 6,000-cycle engine sold for ~$6M earns ~$2.5M; a 10,000-cycle engine sold for ~$12M earns ~$3M; one of each blends to ~30%.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Market: EV of $20.56B at $167.03 (10/2/26) over GPS FY27E Adj. EBITDA of $2,239M = 9.2x (9.8x on Jefferies FY27E of $2,099M; ~16x on FY26E). Our SOTP: $31.3B implied EV over the same $2,239M = 14.0x blended (Aerospace 16x, Power 12x, Leasing + SCI 9x).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SOTP on FY27E EBITDA: Aerospace Products $1,541M at 16x ($237/sh), Power $450M at 12x ($52/sh, low end of guide), Aviation Leasing + SCI $455M at 9x ($39/sh), less corporate (-$28/sh), net debt (-$23/sh) and preferred (-$1/sh) = $277/sh. Ex-Power = $225/sh vs. $167.03 current (10/2/26), a 26% discount.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 math uses the base-case FY27E sum of the parts ($276.65/share): Aerospace 16x, Power 12x, Leasing + SCI 9x, less corporate, net debt and preferred. Attribution re-runs the full model for all 8 on/off combinations of the three theses. Margins = OEM escalator, pass-through, Aerospace margin ex-PMA and PMA rows. Volume = FTAI share of MRO and SCI aircraft rows. Power = Mod-1 units delivered (off = 0, i.e. what the market prices today). Bear case with no Power = $171.86 vs. $167.03 today (+$4.83). Shapley contributions: margins +$17.04, volume +$32.66, Power +$55.08 (the $51.90 SOTP value plus ~$3 of FY27 Power cash that lowers net debt). Total $276.64.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Factory example (FTAI): three unserviceable engines worth $2.0M, $2.5M and $2.0M each still hold modules with life left (cycles shown per Fan / Core / LPT). FTAI splits them into nine modules, adds $3.5M of MRO work, and reassembles two serviceable engines ($8.5M at 7k/7k/7k and $6.0M at 4k/4k/4k) plus one run-out core ($1.5M): $16.0M out vs. $10.0M in, $6.0M of value created.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sp>
        <p:nvSpPr>
          <p:cNvPr id="3" name="Recommendation"/>
          <p:cNvSpPr txBox="1"/>
          <p:nvPr/>
        </p:nvSpPr>
        <p:spPr>
          <a:xfrm>
            <a:off x="548640" y="1508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Long Recommendation</a:t>
            </a:r>
            <a:endParaRPr lang="en-US" sz="2800" dirty="0"/>
          </a:p>
        </p:txBody>
      </p:sp>
      <p:sp>
        <p:nvSpPr>
          <p:cNvPr id="4" name="Stat 1 value"/>
          <p:cNvSpPr txBox="1"/>
          <p:nvPr/>
        </p:nvSpPr>
        <p:spPr>
          <a:xfrm>
            <a:off x="54864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$167</a:t>
            </a:r>
            <a:endParaRPr lang="en-US" sz="4800" dirty="0"/>
          </a:p>
        </p:txBody>
      </p:sp>
      <p:sp>
        <p:nvSpPr>
          <p:cNvPr id="5" name="Stat 1 label"/>
          <p:cNvSpPr txBox="1"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Current Price</a:t>
            </a:r>
            <a:endParaRPr lang="en-US" sz="1600" dirty="0"/>
          </a:p>
        </p:txBody>
      </p:sp>
      <p:sp>
        <p:nvSpPr>
          <p:cNvPr id="6" name="Stat 2 value"/>
          <p:cNvSpPr txBox="1"/>
          <p:nvPr/>
        </p:nvSpPr>
        <p:spPr>
          <a:xfrm>
            <a:off x="256032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$308</a:t>
            </a:r>
            <a:endParaRPr lang="en-US" sz="4800" dirty="0"/>
          </a:p>
        </p:txBody>
      </p:sp>
      <p:sp>
        <p:nvSpPr>
          <p:cNvPr id="7" name="Stat 2 label"/>
          <p:cNvSpPr txBox="1"/>
          <p:nvPr/>
        </p:nvSpPr>
        <p:spPr>
          <a:xfrm>
            <a:off x="256032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Target Price</a:t>
            </a:r>
            <a:endParaRPr lang="en-US" sz="1600" dirty="0"/>
          </a:p>
        </p:txBody>
      </p:sp>
      <p:sp>
        <p:nvSpPr>
          <p:cNvPr id="8" name="Stat divider 1"/>
          <p:cNvSpPr/>
          <p:nvPr/>
        </p:nvSpPr>
        <p:spPr>
          <a:xfrm>
            <a:off x="256032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9" name="Stat 3 value"/>
          <p:cNvSpPr txBox="1"/>
          <p:nvPr/>
        </p:nvSpPr>
        <p:spPr>
          <a:xfrm>
            <a:off x="457200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84%</a:t>
            </a:r>
            <a:endParaRPr lang="en-US" sz="4800" dirty="0"/>
          </a:p>
        </p:txBody>
      </p:sp>
      <p:sp>
        <p:nvSpPr>
          <p:cNvPr id="10" name="Stat 3 label"/>
          <p:cNvSpPr txBox="1"/>
          <p:nvPr/>
        </p:nvSpPr>
        <p:spPr>
          <a:xfrm>
            <a:off x="457200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Upside</a:t>
            </a:r>
            <a:endParaRPr lang="en-US" sz="1600" dirty="0"/>
          </a:p>
        </p:txBody>
      </p:sp>
      <p:sp>
        <p:nvSpPr>
          <p:cNvPr id="11" name="Stat divider 2"/>
          <p:cNvSpPr/>
          <p:nvPr/>
        </p:nvSpPr>
        <p:spPr>
          <a:xfrm>
            <a:off x="457200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2" name="Stat 4 value"/>
          <p:cNvSpPr txBox="1"/>
          <p:nvPr/>
        </p:nvSpPr>
        <p:spPr>
          <a:xfrm>
            <a:off x="658368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3.4x</a:t>
            </a:r>
            <a:endParaRPr lang="en-US" sz="4800" dirty="0"/>
          </a:p>
        </p:txBody>
      </p:sp>
      <p:sp>
        <p:nvSpPr>
          <p:cNvPr id="13" name="Stat 4 label"/>
          <p:cNvSpPr txBox="1"/>
          <p:nvPr/>
        </p:nvSpPr>
        <p:spPr>
          <a:xfrm>
            <a:off x="658368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Reward / Risk</a:t>
            </a:r>
            <a:endParaRPr lang="en-US" sz="1600" dirty="0"/>
          </a:p>
        </p:txBody>
      </p:sp>
      <p:sp>
        <p:nvSpPr>
          <p:cNvPr id="14" name="Stat divider 3"/>
          <p:cNvSpPr/>
          <p:nvPr/>
        </p:nvSpPr>
        <p:spPr>
          <a:xfrm>
            <a:off x="658368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Quote"/>
          <p:cNvSpPr txBox="1"/>
          <p:nvPr/>
        </p:nvSpPr>
        <p:spPr>
          <a:xfrm>
            <a:off x="411480" y="4206240"/>
            <a:ext cx="8321040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16" name="Quote attribution"/>
          <p:cNvSpPr txBox="1"/>
          <p:nvPr/>
        </p:nvSpPr>
        <p:spPr>
          <a:xfrm>
            <a:off x="411480" y="50292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17" name="Pitch details"/>
          <p:cNvSpPr txBox="1"/>
          <p:nvPr/>
        </p:nvSpPr>
        <p:spPr>
          <a:xfrm>
            <a:off x="548640" y="5760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$308.03 (84% upside, 3.4x R/R)</a:t>
            </a:r>
            <a:endParaRPr lang="en-US" sz="1500" dirty="0"/>
          </a:p>
        </p:txBody>
      </p:sp>
      <p:pic>
        <p:nvPicPr>
          <p:cNvPr id="18" name="GPS logo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19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0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Presenter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Name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</a:t>
            </a:r>
            <a:endParaRPr lang="en-US" sz="3200" dirty="0"/>
          </a:p>
        </p:txBody>
      </p:sp>
      <p:sp>
        <p:nvSpPr>
          <p:cNvPr id="3" name="Point 1"/>
          <p:cNvSpPr txBox="1"/>
          <p:nvPr/>
        </p:nvSpPr>
        <p:spPr>
          <a:xfrm>
            <a:off x="1600200" y="1188720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120140" y="12115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1600200" y="2304288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120140" y="232714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1600200" y="3419856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120140" y="3442716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188720" y="4553712"/>
            <a:ext cx="7040880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188720" y="5120640"/>
            <a:ext cx="7040880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84%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3200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filings, earnings calls,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(1/3)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4206240" y="2788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2606040" y="2103120"/>
            <a:ext cx="1097280" cy="109728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5897880" y="2103120"/>
          <a:ext cx="29260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5897880" y="4370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5897880" y="4983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model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(2/3)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3200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320040" y="1975104"/>
            <a:ext cx="45720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548640" y="2148840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2395728" y="2907792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548640" y="3227832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2395728" y="3986784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548640" y="4306824"/>
            <a:ext cx="4114800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Multiple header"/>
          <p:cNvSpPr txBox="1"/>
          <p:nvPr/>
        </p:nvSpPr>
        <p:spPr>
          <a:xfrm>
            <a:off x="525780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…So the Market Won't Pay Up</a:t>
            </a:r>
            <a:endParaRPr lang="en-US" sz="1600" dirty="0"/>
          </a:p>
        </p:txBody>
      </p:sp>
      <p:sp>
        <p:nvSpPr>
          <p:cNvPr id="12" name="Multiple header rule"/>
          <p:cNvSpPr/>
          <p:nvPr/>
        </p:nvSpPr>
        <p:spPr>
          <a:xfrm>
            <a:off x="5257800" y="1975104"/>
            <a:ext cx="356616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13" name="Multiple chart" descr=""/>
          <p:cNvGraphicFramePr/>
          <p:nvPr/>
        </p:nvGraphicFramePr>
        <p:xfrm>
          <a:off x="5257800" y="2103120"/>
          <a:ext cx="35661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Multiple caption"/>
          <p:cNvSpPr txBox="1"/>
          <p:nvPr/>
        </p:nvSpPr>
        <p:spPr>
          <a:xfrm>
            <a:off x="5257800" y="4937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EV / FY27E Adj. EBITDA (GPS model)</a:t>
            </a:r>
            <a:endParaRPr lang="en-US" sz="1200" dirty="0"/>
          </a:p>
        </p:txBody>
      </p:sp>
      <p:sp>
        <p:nvSpPr>
          <p:cNvPr id="15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filings, GPS model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(3/3)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market assigns no value to Power: the stock trades below the core business alone.</a:t>
            </a:r>
            <a:endParaRPr lang="en-US" sz="1700" dirty="0"/>
          </a:p>
        </p:txBody>
      </p:sp>
      <p:sp>
        <p:nvSpPr>
          <p:cNvPr id="4" name="SOTP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FY27E Sum of the Parts ($ / Share)</a:t>
            </a:r>
            <a:endParaRPr lang="en-US" sz="1600" dirty="0"/>
          </a:p>
        </p:txBody>
      </p:sp>
      <p:sp>
        <p:nvSpPr>
          <p:cNvPr id="5" name="SOTP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6" name="SOTP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iscount callout"/>
          <p:cNvSpPr/>
          <p:nvPr/>
        </p:nvSpPr>
        <p:spPr>
          <a:xfrm>
            <a:off x="548640" y="2148840"/>
            <a:ext cx="1051560" cy="105156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26%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below core</a:t>
            </a:r>
            <a:endParaRPr lang="en-US" sz="2000" dirty="0"/>
          </a:p>
        </p:txBody>
      </p:sp>
      <p:sp>
        <p:nvSpPr>
          <p:cNvPr id="8" name="Power label"/>
          <p:cNvSpPr txBox="1"/>
          <p:nvPr/>
        </p:nvSpPr>
        <p:spPr>
          <a:xfrm>
            <a:off x="297180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Free call option</a:t>
            </a:r>
            <a:endParaRPr lang="en-US" sz="1200" dirty="0"/>
          </a:p>
        </p:txBody>
      </p:sp>
      <p:sp>
        <p:nvSpPr>
          <p:cNvPr id="9" name="Power stats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0" name="Power stats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1" name="Power stat 1"/>
          <p:cNvSpPr txBox="1"/>
          <p:nvPr/>
        </p:nvSpPr>
        <p:spPr>
          <a:xfrm>
            <a:off x="5897880" y="214884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$1.465B</a:t>
            </a:r>
            <a:endParaRPr lang="en-US" sz="3000" dirty="0"/>
          </a:p>
        </p:txBody>
      </p:sp>
      <p:sp>
        <p:nvSpPr>
          <p:cNvPr id="12" name="Power stat 1 label"/>
          <p:cNvSpPr txBox="1"/>
          <p:nvPr/>
        </p:nvSpPr>
        <p:spPr>
          <a:xfrm>
            <a:off x="5897880" y="2697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3" name="Power stat 2"/>
          <p:cNvSpPr txBox="1"/>
          <p:nvPr/>
        </p:nvSpPr>
        <p:spPr>
          <a:xfrm>
            <a:off x="5897880" y="322783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4" name="Power stat 2 label"/>
          <p:cNvSpPr txBox="1"/>
          <p:nvPr/>
        </p:nvSpPr>
        <p:spPr>
          <a:xfrm>
            <a:off x="5897880" y="37764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5" name="Power stat 3"/>
          <p:cNvSpPr txBox="1"/>
          <p:nvPr/>
        </p:nvSpPr>
        <p:spPr>
          <a:xfrm>
            <a:off x="5897880" y="43068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25 MW</a:t>
            </a:r>
            <a:endParaRPr lang="en-US" sz="3000" dirty="0"/>
          </a:p>
        </p:txBody>
      </p:sp>
      <p:sp>
        <p:nvSpPr>
          <p:cNvPr id="16" name="Power stat 3 label"/>
          <p:cNvSpPr txBox="1"/>
          <p:nvPr/>
        </p:nvSpPr>
        <p:spPr>
          <a:xfrm>
            <a:off x="5897880" y="48554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1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SOTP (FY27E EBITDA × segment multiples)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Returns Summary</a:t>
            </a:r>
            <a:endParaRPr lang="en-US" sz="32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320040" y="1024128"/>
            <a:ext cx="8503920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320040" y="1627632"/>
            <a:ext cx="8503920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320040" y="2176272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6583680" y="2176272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+$17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+10%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320040" y="3145536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6583680" y="3145536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+$33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320040" y="4114800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6583680" y="4114800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+$55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+33%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6053328" y="2176272"/>
            <a:ext cx="420624" cy="2798064"/>
          </a:xfrm>
          <a:prstGeom prst="chevron">
            <a:avLst/>
          </a:prstGeom>
          <a:solidFill>
            <a:srgbClr val="DCD8D3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320040" y="51206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Bear case (bear margins and share, no Power) is worth $172 on our SOTP, just above today's $167.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320040" y="5468112"/>
            <a:ext cx="8503920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$5 to bear value + $17 margins + $33 volume + $55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GPS model: base-case FY27E SOTP; thesis drivers switched Bear vs. Base (Power off = 0 units), Shapley average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Business Overview (1/2)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32004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32004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50292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324612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324612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342900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310896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617220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617220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635508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603504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model.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Business Overview (2/2)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320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320040" y="1975104"/>
            <a:ext cx="39319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914400" y="2514600"/>
            <a:ext cx="2743200" cy="2231136"/>
          </a:xfrm>
          <a:prstGeom prst="ellipse">
            <a:avLst/>
          </a:prstGeom>
          <a:ln w="38100">
            <a:solidFill>
              <a:srgbClr val="B5AEA9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3146140" y="2731614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3146140" y="4309266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206404" y="4309266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206404" y="2731614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1783080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1682496" y="2148840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1499616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3054096" y="3264408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2871216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1682496" y="4379976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1499616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310896" y="3264408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128016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4526280" y="1554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4526280" y="1975104"/>
            <a:ext cx="42976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4526280" y="20116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4526280" y="23957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5221224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5641848" y="2395728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6062472" y="2395728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4526280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5221224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5641848" y="3108960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6062472" y="3108960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4526280" y="382219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5221224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5641848" y="3822192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6062472" y="3822192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5175504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5596128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6016752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6922008" y="20116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6922008" y="23957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7616952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8037576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8458200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6922008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7616952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8037576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8458200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6922008" y="382219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7616952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8037576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8458200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7571232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7991856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8412480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6492240" y="3108960"/>
            <a:ext cx="365760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4526280" y="4645152"/>
            <a:ext cx="1901952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6922008" y="4645152"/>
            <a:ext cx="1901952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B5AEA9"/>
      </a:accent5>
      <a:accent6>
        <a:srgbClr val="5A5350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2026-10-08T22:16:07Z</dcterms:created>
  <dcterms:modified xsi:type="dcterms:W3CDTF">2026-10-08T22:16:07Z</dcterms:modified>
</cp:coreProperties>
</file>