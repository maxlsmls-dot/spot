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5.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6.xml" ContentType="application/vnd.openxmlformats-officedocument.drawingml.chart+xml"/>
  <Override PartName="/ppt/charts/chart17.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e8d0fafb-aa79-2d9e-319a-5074e0734d6e}">
          <p14:sldIdLst>
            <p14:sldId id="256"/>
          </p14:sldIdLst>
        </p14:section>
        <p14:section name="The Opportunity" id="{ffa3a2c2-6418-8007-74be-4e074fb0831f}">
          <p14:sldIdLst>
            <p14:sldId id="257"/>
            <p14:sldId id="258"/>
            <p14:sldId id="259"/>
            <p14:sldId id="260"/>
          </p14:sldIdLst>
        </p14:section>
        <p14:section name="Returns" id="{6b03a5ca-8056-a30a-1f33-b2683c32ada5}">
          <p14:sldIdLst>
            <p14:sldId id="261"/>
          </p14:sldIdLst>
        </p14:section>
        <p14:section name="Business Overview" id="{f184f02e-8139-5bf3-ce8d-ce3a5f36f9d8}">
          <p14:sldIdLst>
            <p14:sldId id="262"/>
            <p14:sldId id="263"/>
          </p14:sldIdLst>
        </p14:section>
        <p14:section name="Thesis 1a" id="{7c20b910-f9d8-2779-2ec1-ccb12651d875}">
          <p14:sldIdLst>
            <p14:sldId id="264"/>
            <p14:sldId id="265"/>
            <p14:sldId id="266"/>
            <p14:sldId id="267"/>
          </p14:sldIdLst>
        </p14:section>
        <p14:section name="Thesis 1b" id="{59a5d50f-3134-8ce3-1f73-e2c1220fd11a}">
          <p14:sldIdLst>
            <p14:sldId id="268"/>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Reported</c:v>
                </c:pt>
              </c:strCache>
            </c:strRef>
          </c:tx>
          <c:spPr>
            <a:solidFill>
              <a:srgbClr val="0A1C58"/>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Sheet1!$B$2:$B$9</c:f>
              <c:numCache>
                <c:formatCode>General</c:formatCode>
                <c:ptCount val="8"/>
                <c:pt idx="0">
                  <c:v>0.359</c:v>
                </c:pt>
                <c:pt idx="1">
                  <c:v>0.336</c:v>
                </c:pt>
                <c:pt idx="2">
                  <c:v>0.348</c:v>
                </c:pt>
                <c:pt idx="3">
                  <c:v>0.346</c:v>
                </c:pt>
                <c:pt idx="4">
                  <c:v>0.299</c:v>
                </c:pt>
                <c:pt idx="5">
                  <c:v>0.285</c:v>
                </c:pt>
                <c:pt idx="6">
                  <c:v/>
                </c:pt>
                <c:pt idx="7">
                  <c:v/>
                </c:pt>
              </c:numCache>
            </c:numRef>
          </c:val>
        </c:ser>
        <c:ser>
          <c:idx val="1"/>
          <c:order val="1"/>
          <c:tx>
            <c:strRef>
              <c:f>Sheet1!$C$1</c:f>
              <c:strCache>
                <c:ptCount val="1"/>
                <c:pt idx="0">
                  <c:v>Mgmt. guide</c:v>
                </c:pt>
              </c:strCache>
            </c:strRef>
          </c:tx>
          <c:spPr>
            <a:solidFill>
              <a:srgbClr val="B5AEA9"/>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Sheet1!$C$2:$C$9</c:f>
              <c:numCache>
                <c:formatCode>General</c:formatCode>
                <c:ptCount val="8"/>
                <c:pt idx="0">
                  <c:v/>
                </c:pt>
                <c:pt idx="1">
                  <c:v/>
                </c:pt>
                <c:pt idx="2">
                  <c:v/>
                </c:pt>
                <c:pt idx="3">
                  <c:v/>
                </c:pt>
                <c:pt idx="4">
                  <c:v/>
                </c:pt>
                <c:pt idx="5">
                  <c:v/>
                </c:pt>
                <c:pt idx="6">
                  <c:v>0.3</c:v>
                </c:pt>
                <c:pt idx="7">
                  <c:v>0.3</c:v>
                </c:pt>
              </c:numCache>
            </c:numRef>
          </c:val>
        </c:ser>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Margin</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B5AEA9"/>
              </a:solidFill>
              <a:effectLst/>
            </c:spPr>
          </c:dPt>
          <c:dPt>
            <c:idx val="1"/>
            <c:invertIfNegative val="0"/>
            <c:bubble3D val="0"/>
            <c:spPr>
              <a:solidFill>
                <a:srgbClr val="0A1C58"/>
              </a:solidFill>
              <a:effectLst/>
            </c:spPr>
          </c:dPt>
          <c:dPt>
            <c:idx val="2"/>
            <c:invertIfNegative val="0"/>
            <c:bubble3D val="0"/>
            <c:spPr>
              <a:solidFill>
                <a:srgbClr val="5A5350"/>
              </a:solidFill>
              <a:effectLst/>
            </c:spPr>
          </c:dPt>
          <c:cat>
            <c:multiLvlStrRef>
              <c:f>Sheet1!$A$2:$A$4</c:f>
              <c:multiLvlStrCache>
                <c:ptCount val="3"/>
                <c:lvl>
                  <c:pt idx="0">
                    <c:v>Light</c:v>
                  </c:pt>
                  <c:pt idx="1">
                    <c:v>Heavy</c:v>
                  </c:pt>
                  <c:pt idx="2">
                    <c:v>Blended</c:v>
                  </c:pt>
                </c:lvl>
              </c:multiLvlStrCache>
            </c:multiLvlStrRef>
          </c:cat>
          <c:val>
            <c:numRef>
              <c:f>Sheet1!$B$2:$B$4</c:f>
              <c:numCache>
                <c:formatCode>General</c:formatCode>
                <c:ptCount val="3"/>
                <c:pt idx="0">
                  <c:v>0.417</c:v>
                </c:pt>
                <c:pt idx="1">
                  <c:v>0.25</c:v>
                </c:pt>
                <c:pt idx="2">
                  <c:v>0.306</c:v>
                </c:pt>
              </c:numCache>
            </c:numRef>
          </c:val>
        </c:ser>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Base</c:v>
                </c:pt>
              </c:strCache>
            </c:strRef>
          </c:tx>
          <c:spPr>
            <a:solidFill>
              <a:srgbClr val="FFFFFF"/>
            </a:solidFill>
            <a:effectLst/>
          </c:spPr>
          <c:invertIfNegative val="0"/>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Current Price</c:v>
                  </c:pt>
                  <c:pt idx="1">
                    <c:v>Core ex-Power</c:v>
                  </c:pt>
                  <c:pt idx="2">
                    <c:v>Power</c:v>
                  </c:pt>
                  <c:pt idx="3">
                    <c:v>SOTP</c:v>
                  </c:pt>
                </c:lvl>
              </c:multiLvlStrCache>
            </c:multiLvlStrRef>
          </c:cat>
          <c:val>
            <c:numRef>
              <c:f>Sheet1!$B$2:$B$5</c:f>
              <c:numCache>
                <c:formatCode>General</c:formatCode>
                <c:ptCount val="4"/>
                <c:pt idx="0">
                  <c:v>0</c:v>
                </c:pt>
                <c:pt idx="1">
                  <c:v>0</c:v>
                </c:pt>
                <c:pt idx="2">
                  <c:v>224.75</c:v>
                </c:pt>
                <c:pt idx="3">
                  <c:v>0</c:v>
                </c:pt>
              </c:numCache>
            </c:numRef>
          </c:val>
        </c:ser>
        <c:ser>
          <c:idx val="1"/>
          <c:order val="1"/>
          <c:tx>
            <c:strRef>
              <c:f>Sheet1!$C$1</c:f>
              <c:strCache>
                <c:ptCount val="1"/>
                <c:pt idx="0">
                  <c:v>Value</c:v>
                </c:pt>
              </c:strCache>
            </c:strRef>
          </c:tx>
          <c:spPr>
            <a:solidFill>
              <a:srgbClr val="0A1C58"/>
            </a:solidFill>
            <a:effectLst/>
          </c:spPr>
          <c:invertIfNegative val="0"/>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Current Price</c:v>
                  </c:pt>
                  <c:pt idx="1">
                    <c:v>Core ex-Power</c:v>
                  </c:pt>
                  <c:pt idx="2">
                    <c:v>Power</c:v>
                  </c:pt>
                  <c:pt idx="3">
                    <c:v>SOTP</c:v>
                  </c:pt>
                </c:lvl>
              </c:multiLvlStrCache>
            </c:multiLvlStrRef>
          </c:cat>
          <c:val>
            <c:numRef>
              <c:f>Sheet1!$C$2:$C$5</c:f>
              <c:numCache>
                <c:formatCode>General</c:formatCode>
                <c:ptCount val="4"/>
                <c:pt idx="0">
                  <c:v>167.03</c:v>
                </c:pt>
                <c:pt idx="1">
                  <c:v>224.75</c:v>
                </c:pt>
                <c:pt idx="2">
                  <c:v>0</c:v>
                </c:pt>
                <c:pt idx="3">
                  <c:v>276.65</c:v>
                </c:pt>
              </c:numCache>
            </c:numRef>
          </c:val>
        </c:ser>
        <c:ser>
          <c:idx val="2"/>
          <c:order val="2"/>
          <c:tx>
            <c:strRef>
              <c:f>Sheet1!$D$1</c:f>
              <c:strCache>
                <c:ptCount val="1"/>
                <c:pt idx="0">
                  <c:v>Power</c:v>
                </c:pt>
              </c:strCache>
            </c:strRef>
          </c:tx>
          <c:spPr>
            <a:solidFill>
              <a:srgbClr val="847C7A"/>
            </a:solidFill>
            <a:effectLst/>
          </c:spPr>
          <c:invertIfNegative val="0"/>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Current Price</c:v>
                  </c:pt>
                  <c:pt idx="1">
                    <c:v>Core ex-Power</c:v>
                  </c:pt>
                  <c:pt idx="2">
                    <c:v>Power</c:v>
                  </c:pt>
                  <c:pt idx="3">
                    <c:v>SOTP</c:v>
                  </c:pt>
                </c:lvl>
              </c:multiLvlStrCache>
            </c:multiLvlStrRef>
          </c:cat>
          <c:val>
            <c:numRef>
              <c:f>Sheet1!$D$2:$D$5</c:f>
              <c:numCache>
                <c:formatCode>General</c:formatCode>
                <c:ptCount val="4"/>
                <c:pt idx="0">
                  <c:v>0</c:v>
                </c:pt>
                <c:pt idx="1">
                  <c:v>0</c:v>
                </c:pt>
                <c:pt idx="2">
                  <c:v>51.9</c:v>
                </c:pt>
                <c:pt idx="3">
                  <c:v>0</c:v>
                </c:pt>
              </c:numCache>
            </c:numRef>
          </c:val>
        </c:ser>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33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AP inventory</c:v>
                </c:pt>
              </c:strCache>
            </c:strRef>
          </c:tx>
          <c:spPr>
            <a:solidFill>
              <a:schemeClr val="accent1"/>
            </a:solidFill>
            <a:ln w="9525" cap="flat">
              <a:solidFill>
                <a:srgbClr val="F9F9F9"/>
              </a:solidFill>
              <a:prstDash val="solid"/>
              <a:round/>
            </a:ln>
            <a:effectLst/>
          </c:spPr>
          <c:dPt>
            <c:idx val="0"/>
            <c:bubble3D val="0"/>
            <c:spPr>
              <a:solidFill>
                <a:srgbClr val="0A1C58"/>
              </a:solidFill>
              <a:ln w="12700" cap="flat">
                <a:solidFill>
                  <a:srgbClr val="FFFFFF"/>
                </a:solidFill>
                <a:prstDash val="solid"/>
                <a:round/>
              </a:ln>
              <a:effectLst/>
            </c:spPr>
          </c:dPt>
          <c:dPt>
            <c:idx val="1"/>
            <c:bubble3D val="0"/>
            <c:spPr>
              <a:solidFill>
                <a:srgbClr val="DCD8D3"/>
              </a:solidFill>
              <a:ln w="127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Depreciated leasing stock</c:v>
                </c:pt>
                <c:pt idx="1">
                  <c:v>Everything else</c:v>
                </c:pt>
              </c:strCache>
            </c:strRef>
          </c:cat>
          <c:val>
            <c:numRef>
              <c:f>Sheet1!$B$2:$B$3</c:f>
              <c:numCache>
                <c:ptCount val="2"/>
                <c:pt idx="0">
                  <c:v>8</c:v>
                </c:pt>
                <c:pt idx="1">
                  <c:v>92</c:v>
                </c:pt>
              </c:numCache>
            </c:numRef>
          </c:val>
        </c:ser>
        <c:firstSliceAng val="0"/>
        <c:holeSize val="68"/>
      </c:doughnutChart>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0A1C58"/>
            </a:solidFill>
            <a:effectLst/>
          </c:spPr>
          <c:invertIfNegative val="0"/>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FY25</c:v>
                  </c:pt>
                  <c:pt idx="1">
                    <c:v>Q1'26</c:v>
                  </c:pt>
                  <c:pt idx="2">
                    <c:v>Q2'26</c:v>
                  </c:pt>
                  <c:pt idx="3">
                    <c:v>FY26E</c:v>
                  </c:pt>
                  <c:pt idx="4">
                    <c:v>FY27E</c:v>
                  </c:pt>
                  <c:pt idx="5">
                    <c:v>FY28E</c:v>
                  </c:pt>
                  <c:pt idx="6">
                    <c:v>FY29E</c:v>
                  </c:pt>
                  <c:pt idx="7">
                    <c:v>FY30E</c:v>
                  </c:pt>
                  <c:pt idx="8">
                    <c:v>FY31E</c:v>
                  </c:pt>
                </c:lvl>
              </c:multiLvlStrCache>
            </c:multiLvlStrRef>
          </c:cat>
          <c:val>
            <c:numRef>
              <c:f>Sheet1!$B$2:$B$10</c:f>
              <c:numCache>
                <c:formatCode>General</c:formatCode>
                <c:ptCount val="9"/>
                <c:pt idx="0">
                  <c:v>0.347</c:v>
                </c:pt>
                <c:pt idx="1">
                  <c:v>0.299</c:v>
                </c:pt>
                <c:pt idx="2">
                  <c:v>0.285</c:v>
                </c:pt>
                <c:pt idx="3">
                  <c:v/>
                </c:pt>
                <c:pt idx="4">
                  <c:v/>
                </c:pt>
                <c:pt idx="5">
                  <c:v/>
                </c:pt>
                <c:pt idx="6">
                  <c:v/>
                </c:pt>
                <c:pt idx="7">
                  <c:v/>
                </c:pt>
                <c:pt idx="8">
                  <c:v/>
                </c:pt>
              </c:numCache>
            </c:numRef>
          </c:val>
        </c:ser>
        <c:ser>
          <c:idx val="1"/>
          <c:order val="1"/>
          <c:tx>
            <c:strRef>
              <c:f>Sheet1!$C$1</c:f>
              <c:strCache>
                <c:ptCount val="1"/>
                <c:pt idx="0">
                  <c:v>GPS model</c:v>
                </c:pt>
              </c:strCache>
            </c:strRef>
          </c:tx>
          <c:spPr>
            <a:solidFill>
              <a:srgbClr val="B5AEA9"/>
            </a:solidFill>
            <a:effectLst/>
          </c:spPr>
          <c:invertIfNegative val="0"/>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FY25</c:v>
                  </c:pt>
                  <c:pt idx="1">
                    <c:v>Q1'26</c:v>
                  </c:pt>
                  <c:pt idx="2">
                    <c:v>Q2'26</c:v>
                  </c:pt>
                  <c:pt idx="3">
                    <c:v>FY26E</c:v>
                  </c:pt>
                  <c:pt idx="4">
                    <c:v>FY27E</c:v>
                  </c:pt>
                  <c:pt idx="5">
                    <c:v>FY28E</c:v>
                  </c:pt>
                  <c:pt idx="6">
                    <c:v>FY29E</c:v>
                  </c:pt>
                  <c:pt idx="7">
                    <c:v>FY30E</c:v>
                  </c:pt>
                  <c:pt idx="8">
                    <c:v>FY31E</c:v>
                  </c:pt>
                </c:lvl>
              </c:multiLvlStrCache>
            </c:multiLvlStrRef>
          </c:cat>
          <c:val>
            <c:numRef>
              <c:f>Sheet1!$C$2:$C$10</c:f>
              <c:numCache>
                <c:formatCode>General</c:formatCode>
                <c:ptCount val="9"/>
                <c:pt idx="0">
                  <c:v/>
                </c:pt>
                <c:pt idx="1">
                  <c:v/>
                </c:pt>
                <c:pt idx="2">
                  <c:v/>
                </c:pt>
                <c:pt idx="3">
                  <c:v>0.301</c:v>
                </c:pt>
                <c:pt idx="4">
                  <c:v>0.299</c:v>
                </c:pt>
                <c:pt idx="5">
                  <c:v>0.307</c:v>
                </c:pt>
                <c:pt idx="6">
                  <c:v>0.314</c:v>
                </c:pt>
                <c:pt idx="7">
                  <c:v>0.32</c:v>
                </c:pt>
                <c:pt idx="8">
                  <c:v>0.325</c:v>
                </c:pt>
              </c:numCache>
            </c:numRef>
          </c:val>
        </c:ser>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OEM list price</c:v>
                </c:pt>
              </c:strCache>
            </c:strRef>
          </c:tx>
          <c:spPr>
            <a:solidFill>
              <a:srgbClr val="0A1C58"/>
            </a:solidFill>
            <a:ln w="38100" cap="flat">
              <a:solidFill>
                <a:srgbClr val="0A1C58"/>
              </a:solidFill>
              <a:prstDash val="solid"/>
              <a:round/>
            </a:ln>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Sheet1!$A$2:$A$8</c:f>
              <c:multiLvlStrCache>
                <c:ptCount val="7"/>
                <c:lvl>
                  <c:pt idx="0">
                    <c:v>2025</c:v>
                  </c:pt>
                  <c:pt idx="1">
                    <c:v>2026</c:v>
                  </c:pt>
                  <c:pt idx="2">
                    <c:v>2027</c:v>
                  </c:pt>
                  <c:pt idx="3">
                    <c:v>2028</c:v>
                  </c:pt>
                  <c:pt idx="4">
                    <c:v>2029</c:v>
                  </c:pt>
                  <c:pt idx="5">
                    <c:v>2030</c:v>
                  </c:pt>
                  <c:pt idx="6">
                    <c:v>2031</c:v>
                  </c:pt>
                </c:lvl>
              </c:multiLvlStrCache>
            </c:multiLvlStrRef>
          </c:cat>
          <c:val>
            <c:numRef>
              <c:f>Sheet1!$B$2:$B$8</c:f>
              <c:numCache>
                <c:formatCode>General</c:formatCode>
                <c:ptCount val="7"/>
                <c:pt idx="0">
                  <c:v>100</c:v>
                </c:pt>
                <c:pt idx="1">
                  <c:v>107</c:v>
                </c:pt>
                <c:pt idx="2">
                  <c:v>114</c:v>
                </c:pt>
                <c:pt idx="3">
                  <c:v>121.9</c:v>
                </c:pt>
                <c:pt idx="4">
                  <c:v>130.5</c:v>
                </c:pt>
                <c:pt idx="5">
                  <c:v>139.6</c:v>
                </c:pt>
                <c:pt idx="6">
                  <c:v>149.4</c:v>
                </c:pt>
              </c:numCache>
            </c:numRef>
          </c:val>
          <c:smooth val="0"/>
        </c:ser>
        <c:ser>
          <c:idx val="1"/>
          <c:order val="1"/>
          <c:tx>
            <c:strRef>
              <c:f>Sheet1!$C$1</c:f>
              <c:strCache>
                <c:ptCount val="1"/>
                <c:pt idx="0">
                  <c:v>FTAI price</c:v>
                </c:pt>
              </c:strCache>
            </c:strRef>
          </c:tx>
          <c:spPr>
            <a:solidFill>
              <a:srgbClr val="B5AEA9"/>
            </a:solidFill>
            <a:ln w="38100" cap="flat">
              <a:solidFill>
                <a:srgbClr val="B5AEA9"/>
              </a:solidFill>
              <a:prstDash val="solid"/>
              <a:round/>
            </a:ln>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c:symbol val="circle"/>
            <c:size val="7"/>
            <c:spPr>
              <a:solidFill>
                <a:srgbClr val="B5AEA9"/>
              </a:solidFill>
              <a:ln w="9525" cap="flat">
                <a:solidFill>
                  <a:srgbClr val="B5AEA9"/>
                </a:solidFill>
                <a:prstDash val="solid"/>
                <a:round/>
              </a:ln>
              <a:effectLst/>
            </c:spPr>
          </c:marker>
          <c:cat>
            <c:multiLvlStrRef>
              <c:f>Sheet1!$A$2:$A$8</c:f>
              <c:multiLvlStrCache>
                <c:ptCount val="7"/>
                <c:lvl>
                  <c:pt idx="0">
                    <c:v>2025</c:v>
                  </c:pt>
                  <c:pt idx="1">
                    <c:v>2026</c:v>
                  </c:pt>
                  <c:pt idx="2">
                    <c:v>2027</c:v>
                  </c:pt>
                  <c:pt idx="3">
                    <c:v>2028</c:v>
                  </c:pt>
                  <c:pt idx="4">
                    <c:v>2029</c:v>
                  </c:pt>
                  <c:pt idx="5">
                    <c:v>2030</c:v>
                  </c:pt>
                  <c:pt idx="6">
                    <c:v>2031</c:v>
                  </c:pt>
                </c:lvl>
              </c:multiLvlStrCache>
            </c:multiLvlStrRef>
          </c:cat>
          <c:val>
            <c:numRef>
              <c:f>Sheet1!$C$2:$C$8</c:f>
              <c:numCache>
                <c:formatCode>General</c:formatCode>
                <c:ptCount val="7"/>
                <c:pt idx="0">
                  <c:v>100</c:v>
                </c:pt>
                <c:pt idx="1">
                  <c:v>100</c:v>
                </c:pt>
                <c:pt idx="2">
                  <c:v>103.3</c:v>
                </c:pt>
                <c:pt idx="3">
                  <c:v>106.9</c:v>
                </c:pt>
                <c:pt idx="4">
                  <c:v>110.6</c:v>
                </c:pt>
                <c:pt idx="5">
                  <c:v>114.5</c:v>
                </c:pt>
                <c:pt idx="6">
                  <c:v>118.5</c:v>
                </c:pt>
              </c:numCache>
            </c:numRef>
          </c:val>
          <c:smooth val="0"/>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0"/>
          <c:min val="9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Trough</c:v>
                </c:pt>
              </c:strCache>
            </c:strRef>
          </c:tx>
          <c:spPr>
            <a:solidFill>
              <a:srgbClr val="B5AEA9"/>
            </a:solidFill>
            <a:effectLst/>
          </c:spPr>
          <c:invertIfNegative val="0"/>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FY25</c:v>
                  </c:pt>
                  <c:pt idx="1">
                    <c:v>FY26E</c:v>
                  </c:pt>
                  <c:pt idx="2">
                    <c:v>FY27E</c:v>
                  </c:pt>
                  <c:pt idx="3">
                    <c:v>FY28E</c:v>
                  </c:pt>
                  <c:pt idx="4">
                    <c:v>FY29E</c:v>
                  </c:pt>
                  <c:pt idx="5">
                    <c:v>FY30E</c:v>
                  </c:pt>
                  <c:pt idx="6">
                    <c:v>FY31E</c:v>
                  </c:pt>
                </c:lvl>
              </c:multiLvlStrCache>
            </c:multiLvlStrRef>
          </c:cat>
          <c:val>
            <c:numRef>
              <c:f>Sheet1!$B$2:$B$8</c:f>
              <c:numCache>
                <c:formatCode>General</c:formatCode>
                <c:ptCount val="7"/>
                <c:pt idx="0">
                  <c:v/>
                </c:pt>
                <c:pt idx="1">
                  <c:v>876</c:v>
                </c:pt>
                <c:pt idx="2">
                  <c:v/>
                </c:pt>
                <c:pt idx="3">
                  <c:v/>
                </c:pt>
                <c:pt idx="4">
                  <c:v/>
                </c:pt>
                <c:pt idx="5">
                  <c:v/>
                </c:pt>
                <c:pt idx="6">
                  <c:v/>
                </c:pt>
              </c:numCache>
            </c:numRef>
          </c:val>
        </c:ser>
        <c:ser>
          <c:idx val="1"/>
          <c:order val="1"/>
          <c:tx>
            <c:strRef>
              <c:f>Sheet1!$C$1</c:f>
              <c:strCache>
                <c:ptCount val="1"/>
                <c:pt idx="0">
                  <c:v>EBITDA / module</c:v>
                </c:pt>
              </c:strCache>
            </c:strRef>
          </c:tx>
          <c:spPr>
            <a:solidFill>
              <a:srgbClr val="0A1C58"/>
            </a:solidFill>
            <a:effectLst/>
          </c:spPr>
          <c:invertIfNegative val="0"/>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FY25</c:v>
                  </c:pt>
                  <c:pt idx="1">
                    <c:v>FY26E</c:v>
                  </c:pt>
                  <c:pt idx="2">
                    <c:v>FY27E</c:v>
                  </c:pt>
                  <c:pt idx="3">
                    <c:v>FY28E</c:v>
                  </c:pt>
                  <c:pt idx="4">
                    <c:v>FY29E</c:v>
                  </c:pt>
                  <c:pt idx="5">
                    <c:v>FY30E</c:v>
                  </c:pt>
                  <c:pt idx="6">
                    <c:v>FY31E</c:v>
                  </c:pt>
                </c:lvl>
              </c:multiLvlStrCache>
            </c:multiLvlStrRef>
          </c:cat>
          <c:val>
            <c:numRef>
              <c:f>Sheet1!$C$2:$C$8</c:f>
              <c:numCache>
                <c:formatCode>General</c:formatCode>
                <c:ptCount val="7"/>
                <c:pt idx="0">
                  <c:v>887</c:v>
                </c:pt>
                <c:pt idx="1">
                  <c:v/>
                </c:pt>
                <c:pt idx="2">
                  <c:v>913</c:v>
                </c:pt>
                <c:pt idx="3">
                  <c:v>969</c:v>
                </c:pt>
                <c:pt idx="4">
                  <c:v>1027</c:v>
                </c:pt>
                <c:pt idx="5">
                  <c:v>1084</c:v>
                </c:pt>
                <c:pt idx="6">
                  <c:v>1139</c:v>
                </c:pt>
              </c:numCache>
            </c:numRef>
          </c:val>
        </c:ser>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Second visits (heaviest)</c:v>
                </c:pt>
              </c:strCache>
            </c:strRef>
          </c:tx>
          <c:spPr>
            <a:solidFill>
              <a:srgbClr val="0A1C58"/>
            </a:solidFill>
            <a:ln w="44450" cap="flat">
              <a:solidFill>
                <a:srgbClr val="0A1C5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Sheet1!$B$2:$B$9</c:f>
              <c:numCache>
                <c:formatCode>General</c:formatCode>
                <c:ptCount val="8"/>
                <c:pt idx="0">
                  <c:v>842</c:v>
                </c:pt>
                <c:pt idx="1">
                  <c:v>891</c:v>
                </c:pt>
                <c:pt idx="2">
                  <c:v>914</c:v>
                </c:pt>
                <c:pt idx="3">
                  <c:v>908</c:v>
                </c:pt>
                <c:pt idx="4">
                  <c:v>874</c:v>
                </c:pt>
                <c:pt idx="5">
                  <c:v>832</c:v>
                </c:pt>
                <c:pt idx="6">
                  <c:v/>
                </c:pt>
                <c:pt idx="7">
                  <c:v/>
                </c:pt>
              </c:numCache>
            </c:numRef>
          </c:val>
          <c:smooth val="0"/>
        </c:ser>
        <c:ser>
          <c:idx val="1"/>
          <c:order val="1"/>
          <c:tx>
            <c:strRef>
              <c:f>Sheet1!$C$1</c:f>
              <c:strCache>
                <c:ptCount val="1"/>
                <c:pt idx="0">
                  <c:v>Third+ visits (late life, lighter)</c:v>
                </c:pt>
              </c:strCache>
            </c:strRef>
          </c:tx>
          <c:spPr>
            <a:solidFill>
              <a:srgbClr val="847C7A"/>
            </a:solidFill>
            <a:ln w="44450" cap="flat">
              <a:solidFill>
                <a:srgbClr val="847C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847C7A"/>
              </a:solidFill>
              <a:ln w="9525" cap="flat">
                <a:solidFill>
                  <a:srgbClr val="847C7A"/>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Sheet1!$C$2:$C$9</c:f>
              <c:numCache>
                <c:formatCode>General</c:formatCode>
                <c:ptCount val="8"/>
                <c:pt idx="0">
                  <c:v>532</c:v>
                </c:pt>
                <c:pt idx="1">
                  <c:v>597</c:v>
                </c:pt>
                <c:pt idx="2">
                  <c:v>641</c:v>
                </c:pt>
                <c:pt idx="3">
                  <c:v>679</c:v>
                </c:pt>
                <c:pt idx="4">
                  <c:v>700</c:v>
                </c:pt>
                <c:pt idx="5">
                  <c:v>720</c:v>
                </c:pt>
                <c:pt idx="6">
                  <c:v/>
                </c:pt>
                <c:pt idx="7">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2"/>
          <c:order val="2"/>
          <c:tx>
            <c:strRef>
              <c:f>Sheet1!$D$1</c:f>
              <c:strCache>
                <c:ptCount val="1"/>
                <c:pt idx="0">
                  <c:v>Second trend</c:v>
                </c:pt>
              </c:strCache>
            </c:strRef>
          </c:tx>
          <c:spPr>
            <a:solidFill>
              <a:srgbClr val="0A1C58"/>
            </a:solidFill>
            <a:ln w="31750" cap="flat">
              <a:solidFill>
                <a:srgbClr val="0A1C58"/>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A1C58"/>
              </a:solidFill>
              <a:ln w="9525" cap="flat">
                <a:solidFill>
                  <a:srgbClr val="0A1C58"/>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Sheet1!$D$2:$D$9</c:f>
              <c:numCache>
                <c:formatCode>General</c:formatCode>
                <c:ptCount val="8"/>
                <c:pt idx="0">
                  <c:v/>
                </c:pt>
                <c:pt idx="1">
                  <c:v/>
                </c:pt>
                <c:pt idx="2">
                  <c:v/>
                </c:pt>
                <c:pt idx="3">
                  <c:v/>
                </c:pt>
                <c:pt idx="4">
                  <c:v/>
                </c:pt>
                <c:pt idx="5">
                  <c:v>832</c:v>
                </c:pt>
                <c:pt idx="6">
                  <c:v>790</c:v>
                </c:pt>
                <c:pt idx="7">
                  <c:v>748</c:v>
                </c:pt>
              </c:numCache>
            </c:numRef>
          </c:val>
          <c:smooth val="0"/>
        </c:ser>
        <c:ser>
          <c:idx val="3"/>
          <c:order val="3"/>
          <c:tx>
            <c:strRef>
              <c:f>Sheet1!$E$1</c:f>
              <c:strCache>
                <c:ptCount val="1"/>
                <c:pt idx="0">
                  <c:v>Third+ trend</c:v>
                </c:pt>
              </c:strCache>
            </c:strRef>
          </c:tx>
          <c:spPr>
            <a:solidFill>
              <a:srgbClr val="847C7A"/>
            </a:solidFill>
            <a:ln w="31750" cap="flat">
              <a:solidFill>
                <a:srgbClr val="847C7A"/>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47C7A"/>
              </a:solidFill>
              <a:ln w="9525" cap="flat">
                <a:solidFill>
                  <a:srgbClr val="847C7A"/>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Sheet1!$E$2:$E$9</c:f>
              <c:numCache>
                <c:formatCode>General</c:formatCode>
                <c:ptCount val="8"/>
                <c:pt idx="0">
                  <c:v/>
                </c:pt>
                <c:pt idx="1">
                  <c:v/>
                </c:pt>
                <c:pt idx="2">
                  <c:v/>
                </c:pt>
                <c:pt idx="3">
                  <c:v/>
                </c:pt>
                <c:pt idx="4">
                  <c:v/>
                </c:pt>
                <c:pt idx="5">
                  <c:v>720</c:v>
                </c:pt>
                <c:pt idx="6">
                  <c:v>740</c:v>
                </c:pt>
                <c:pt idx="7">
                  <c:v>760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000"/>
          <c:min val="45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Blended margin</c:v>
                </c:pt>
              </c:strCache>
            </c:strRef>
          </c:tx>
          <c:spPr>
            <a:solidFill>
              <a:srgbClr val="0A1C58"/>
            </a:solidFill>
            <a:ln w="38100" cap="flat">
              <a:solidFill>
                <a:srgbClr val="0A1C58"/>
              </a:solidFill>
              <a:prstDash val="solid"/>
              <a:round/>
            </a:ln>
            <a:effectLst/>
          </c:spPr>
          <c:invertIfNegative val="0"/>
          <c:dLbls>
            <c:numFmt formatCode="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Sheet1!$A$2:$A$7</c:f>
              <c:multiLvlStrCache>
                <c:ptCount val="6"/>
                <c:lvl>
                  <c:pt idx="0">
                    <c:v>30%</c:v>
                  </c:pt>
                  <c:pt idx="1">
                    <c:v>40%</c:v>
                  </c:pt>
                  <c:pt idx="2">
                    <c:v>50%</c:v>
                  </c:pt>
                  <c:pt idx="3">
                    <c:v>60%</c:v>
                  </c:pt>
                  <c:pt idx="4">
                    <c:v>70%</c:v>
                  </c:pt>
                  <c:pt idx="5">
                    <c:v>80%</c:v>
                  </c:pt>
                </c:lvl>
              </c:multiLvlStrCache>
            </c:multiLvlStrRef>
          </c:cat>
          <c:val>
            <c:numRef>
              <c:f>Sheet1!$B$2:$B$7</c:f>
              <c:numCache>
                <c:formatCode>General</c:formatCode>
                <c:ptCount val="6"/>
                <c:pt idx="0">
                  <c:v>0.279</c:v>
                </c:pt>
                <c:pt idx="1">
                  <c:v>0.292</c:v>
                </c:pt>
                <c:pt idx="2">
                  <c:v>0.306</c:v>
                </c:pt>
                <c:pt idx="3">
                  <c:v>0.321</c:v>
                </c:pt>
                <c:pt idx="4">
                  <c:v>0.34</c:v>
                </c:pt>
                <c:pt idx="5">
                  <c:v>0.361</c:v>
                </c:pt>
              </c:numCache>
            </c:numRef>
          </c:val>
          <c:smooth val="0"/>
        </c:ser>
        <c:dLbls>
          <c:numFmt formatCode="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39"/>
          <c:min val="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PMA adoption</c:v>
                </c:pt>
              </c:strCache>
            </c:strRef>
          </c:tx>
          <c:spPr>
            <a:solidFill>
              <a:srgbClr val="B5AEA9"/>
            </a:solidFill>
            <a:ln w="38100" cap="flat">
              <a:solidFill>
                <a:srgbClr val="B5AEA9"/>
              </a:solidFill>
              <a:prstDash val="solid"/>
              <a:round/>
            </a:ln>
            <a:effectLst/>
          </c:spPr>
          <c:invertIfNegative val="0"/>
          <c:dLbls>
            <c:numFmt formatCode="0.0" sourceLinked="0"/>
            <c:txPr>
              <a:bodyPr/>
              <a:lstStyle/>
              <a:p>
                <a:pPr>
                  <a:defRPr b="1" i="0" strike="noStrike" sz="1100" u="none">
                    <a:solidFill>
                      <a:srgbClr val="847C7A"/>
                    </a:solidFill>
                    <a:latin typeface="+mn-lt"/>
                  </a:defRPr>
                </a:pPr>
              </a:p>
            </c:txPr>
            <c:dLblPos val="t"/>
            <c:showLegendKey val="0"/>
            <c:showVal val="1"/>
            <c:showCatName val="0"/>
            <c:showSerName val="0"/>
            <c:showPercent val="0"/>
            <c:showBubbleSize val="0"/>
            <c:showLeaderLines val="0"/>
          </c:dLbls>
          <c:marker>
            <c:symbol val="circle"/>
            <c:size val="8"/>
            <c:spPr>
              <a:solidFill>
                <a:srgbClr val="B5AEA9"/>
              </a:solidFill>
              <a:ln w="9525" cap="flat">
                <a:solidFill>
                  <a:srgbClr val="B5AEA9"/>
                </a:solidFill>
                <a:prstDash val="solid"/>
                <a:round/>
              </a:ln>
              <a:effectLst/>
            </c:spPr>
          </c:marker>
          <c:cat>
            <c:multiLvlStrRef>
              <c:f>Sheet1!$A$2:$A$6</c:f>
              <c:multiLvlStrCache>
                <c:ptCount val="5"/>
                <c:lvl>
                  <c:pt idx="0">
                    <c:v>FY27E</c:v>
                  </c:pt>
                  <c:pt idx="1">
                    <c:v>FY28E</c:v>
                  </c:pt>
                  <c:pt idx="2">
                    <c:v>FY29E</c:v>
                  </c:pt>
                  <c:pt idx="3">
                    <c:v>FY30E</c:v>
                  </c:pt>
                  <c:pt idx="4">
                    <c:v>FY31E</c:v>
                  </c:pt>
                </c:lvl>
              </c:multiLvlStrCache>
            </c:multiLvlStrRef>
          </c:cat>
          <c:val>
            <c:numRef>
              <c:f>Sheet1!$B$2:$B$6</c:f>
              <c:numCache>
                <c:formatCode>General</c:formatCode>
                <c:ptCount val="5"/>
                <c:pt idx="0">
                  <c:v>0.9</c:v>
                </c:pt>
                <c:pt idx="1">
                  <c:v>3</c:v>
                </c:pt>
                <c:pt idx="2">
                  <c:v>5</c:v>
                </c:pt>
                <c:pt idx="3">
                  <c:v>7</c:v>
                </c:pt>
                <c:pt idx="4">
                  <c:v>9</c:v>
                </c:pt>
              </c:numCache>
            </c:numRef>
          </c:val>
          <c:smooth val="0"/>
        </c:ser>
        <c:dLbls>
          <c:numFmt formatCode="0.0" sourceLinked="0"/>
          <c:txPr>
            <a:bodyPr/>
            <a:lstStyle/>
            <a:p>
              <a:pPr>
                <a:defRPr b="1" i="0" strike="noStrike" sz="1100" u="none">
                  <a:solidFill>
                    <a:srgbClr val="847C7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3"/>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PMA EBITDA uplift</c:v>
                </c:pt>
              </c:strCache>
            </c:strRef>
          </c:tx>
          <c:spPr>
            <a:solidFill>
              <a:srgbClr val="0A1C58"/>
            </a:solidFill>
            <a:effectLst/>
          </c:spPr>
          <c:invertIfNegative val="0"/>
          <c:dLbls>
            <c:numFmt formatCode="&quot;$&quot;0&quot;M&quot;"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FY27E</c:v>
                  </c:pt>
                  <c:pt idx="1">
                    <c:v>FY28E</c:v>
                  </c:pt>
                  <c:pt idx="2">
                    <c:v>FY29E</c:v>
                  </c:pt>
                  <c:pt idx="3">
                    <c:v>FY30E</c:v>
                  </c:pt>
                  <c:pt idx="4">
                    <c:v>FY31E</c:v>
                  </c:pt>
                </c:lvl>
              </c:multiLvlStrCache>
            </c:multiLvlStrRef>
          </c:cat>
          <c:val>
            <c:numRef>
              <c:f>Sheet1!$B$2:$B$6</c:f>
              <c:numCache>
                <c:formatCode>General</c:formatCode>
                <c:ptCount val="5"/>
                <c:pt idx="0">
                  <c:v>6</c:v>
                </c:pt>
                <c:pt idx="1">
                  <c:v>24</c:v>
                </c:pt>
                <c:pt idx="2">
                  <c:v>42</c:v>
                </c:pt>
                <c:pt idx="3">
                  <c:v>59</c:v>
                </c:pt>
                <c:pt idx="4">
                  <c:v>77</c:v>
                </c:pt>
              </c:numCache>
            </c:numRef>
          </c:val>
        </c:ser>
        <c:dLbls>
          <c:numFmt formatCode="&quot;$&quot;0&quot;M&quot;"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AP EBITDA ($M)</c:v>
                </c:pt>
              </c:strCache>
            </c:strRef>
          </c:tx>
          <c:spPr>
            <a:solidFill>
              <a:srgbClr val="0A1C58"/>
            </a:solidFill>
            <a:ln w="38100" cap="flat">
              <a:solidFill>
                <a:srgbClr val="0A1C58"/>
              </a:solidFill>
              <a:prstDash val="solid"/>
              <a:round/>
            </a:ln>
            <a:effectLst/>
          </c:spPr>
          <c:invertIfNegative val="0"/>
          <c:dLbls>
            <c:numFmt formatCode="&quot;$&quot;#,##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Sheet1!$A$2:$A$7</c:f>
              <c:multiLvlStrCache>
                <c:ptCount val="6"/>
                <c:lvl>
                  <c:pt idx="0">
                    <c:v>0%</c:v>
                  </c:pt>
                  <c:pt idx="1">
                    <c:v>10%</c:v>
                  </c:pt>
                  <c:pt idx="2">
                    <c:v>20%</c:v>
                  </c:pt>
                  <c:pt idx="3">
                    <c:v>30%</c:v>
                  </c:pt>
                  <c:pt idx="4">
                    <c:v>40%</c:v>
                  </c:pt>
                  <c:pt idx="5">
                    <c:v>50%</c:v>
                  </c:pt>
                </c:lvl>
              </c:multiLvlStrCache>
            </c:multiLvlStrRef>
          </c:cat>
          <c:val>
            <c:numRef>
              <c:f>Sheet1!$B$2:$B$7</c:f>
              <c:numCache>
                <c:formatCode>General</c:formatCode>
                <c:ptCount val="6"/>
                <c:pt idx="0">
                  <c:v>1132</c:v>
                </c:pt>
                <c:pt idx="1">
                  <c:v>1225</c:v>
                </c:pt>
                <c:pt idx="2">
                  <c:v>1318</c:v>
                </c:pt>
                <c:pt idx="3">
                  <c:v>1411</c:v>
                </c:pt>
                <c:pt idx="4">
                  <c:v>1504</c:v>
                </c:pt>
                <c:pt idx="5">
                  <c:v>1597</c:v>
                </c:pt>
              </c:numCache>
            </c:numRef>
          </c:val>
          <c:smooth val="0"/>
        </c:ser>
        <c:dLbls>
          <c:numFmt formatCode="&quot;$&quot;#,##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700"/>
          <c:min val="1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Pre-COVID</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Sheet1!$B$2:$B$3</c:f>
              <c:numCache>
                <c:formatCode>General</c:formatCode>
                <c:ptCount val="2"/>
                <c:pt idx="0">
                  <c:v>60</c:v>
                </c:pt>
                <c:pt idx="1">
                  <c:v/>
                </c:pt>
              </c:numCache>
            </c:numRef>
          </c:val>
        </c:ser>
        <c:ser>
          <c:idx val="1"/>
          <c:order val="1"/>
          <c:tx>
            <c:strRef>
              <c:f>Sheet1!$C$1</c:f>
              <c:strCache>
                <c:ptCount val="1"/>
                <c:pt idx="0">
                  <c:v>Today (low)</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Sheet1!$C$2:$C$3</c:f>
              <c:numCache>
                <c:formatCode>General</c:formatCode>
                <c:ptCount val="2"/>
                <c:pt idx="0">
                  <c:v/>
                </c:pt>
                <c:pt idx="1">
                  <c:v>90</c:v>
                </c:pt>
              </c:numCache>
            </c:numRef>
          </c:val>
        </c:ser>
        <c:ser>
          <c:idx val="2"/>
          <c:order val="2"/>
          <c:tx>
            <c:strRef>
              <c:f>Sheet1!$D$1</c:f>
              <c:strCache>
                <c:ptCount val="1"/>
                <c:pt idx="0">
                  <c:v>Today (range)</c:v>
                </c:pt>
              </c:strCache>
            </c:strRef>
          </c:tx>
          <c:spPr>
            <a:solidFill>
              <a:srgbClr val="3B4C82"/>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Sheet1!$D$2:$D$3</c:f>
              <c:numCache>
                <c:formatCode>General</c:formatCode>
                <c:ptCount val="2"/>
                <c:pt idx="0">
                  <c:v/>
                </c:pt>
                <c:pt idx="1">
                  <c:v>30</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4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LEAP installed base</c:v>
                </c:pt>
              </c:strCache>
            </c:strRef>
          </c:tx>
          <c:spPr>
            <a:solidFill>
              <a:srgbClr val="0A1C58"/>
            </a:solidFill>
            <a:effectLst/>
          </c:spPr>
          <c:invertIfNegative val="0"/>
          <c:dLbls>
            <c:numFmt formatCode="0&quot;x&quot;" sourceLinked="0"/>
            <c:txPr>
              <a:bodyPr/>
              <a:lstStyle/>
              <a:p>
                <a:pPr>
                  <a:defRPr b="1" i="0" strike="noStrike" sz="1600" u="none">
                    <a:solidFill>
                      <a:srgbClr val="1A1A1A"/>
                    </a:solidFill>
                    <a:latin typeface="+mn-lt"/>
                  </a:defRPr>
                </a:pPr>
              </a:p>
            </c:txPr>
            <c:showLegendKey val="0"/>
            <c:showVal val="1"/>
            <c:showCatName val="0"/>
            <c:showSerName val="0"/>
            <c:showPercent val="0"/>
            <c:showBubbleSize val="0"/>
            <c:showLeaderLines val="0"/>
          </c:dLbls>
          <c:cat>
            <c:multiLvlStrRef>
              <c:f>Sheet1!$A$2:$A$3</c:f>
              <c:multiLvlStrCache>
                <c:ptCount val="2"/>
                <c:lvl>
                  <c:pt idx="0">
                    <c:v>2024</c:v>
                  </c:pt>
                  <c:pt idx="1">
                    <c:v>2030E</c:v>
                  </c:pt>
                </c:lvl>
              </c:multiLvlStrCache>
            </c:multiLvlStrRef>
          </c:cat>
          <c:val>
            <c:numRef>
              <c:f>Sheet1!$B$2:$B$3</c:f>
              <c:numCache>
                <c:formatCode>General</c:formatCode>
                <c:ptCount val="2"/>
                <c:pt idx="0">
                  <c:v>1</c:v>
                </c:pt>
                <c:pt idx="1">
                  <c:v>3</c:v>
                </c:pt>
              </c:numCache>
            </c:numRef>
          </c:val>
        </c:ser>
        <c:dLbls>
          <c:numFmt formatCode="0&quot;x&quot;" sourceLinked="0"/>
          <c:txPr>
            <a:bodyPr/>
            <a:lstStyle/>
            <a:p>
              <a:pPr>
                <a:defRPr b="1" i="0" strike="noStrike" sz="16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3.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Output</c:v>
                </c:pt>
              </c:strCache>
            </c:strRef>
          </c:tx>
          <c:spPr>
            <a:solidFill>
              <a:srgbClr val="0A1C58"/>
            </a:solidFill>
            <a:effectLst/>
          </c:spPr>
          <c:invertIfNegative val="0"/>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2025</c:v>
                  </c:pt>
                  <c:pt idx="1">
                    <c:v>2026E</c:v>
                  </c:pt>
                  <c:pt idx="2">
                    <c:v>2027E</c:v>
                  </c:pt>
                </c:lvl>
              </c:multiLvlStrCache>
            </c:multiLvlStrRef>
          </c:cat>
          <c:val>
            <c:numRef>
              <c:f>Sheet1!$B$2:$B$4</c:f>
              <c:numCache>
                <c:formatCode>General</c:formatCode>
                <c:ptCount val="3"/>
                <c:pt idx="0">
                  <c:v>757</c:v>
                </c:pt>
                <c:pt idx="1">
                  <c:v>1200</c:v>
                </c:pt>
                <c:pt idx="2">
                  <c:v>1700</c:v>
                </c:pt>
              </c:numCache>
            </c:numRef>
          </c:val>
        </c:ser>
        <c:ser>
          <c:idx val="1"/>
          <c:order val="1"/>
          <c:tx>
            <c:strRef>
              <c:f>Sheet1!$C$1</c:f>
              <c:strCache>
                <c:ptCount val="1"/>
                <c:pt idx="0">
                  <c:v>Unused capacity</c:v>
                </c:pt>
              </c:strCache>
            </c:strRef>
          </c:tx>
          <c:spPr>
            <a:solidFill>
              <a:srgbClr val="B5AEA9"/>
            </a:solidFill>
            <a:effectLst/>
          </c:spPr>
          <c:invertIfNegative val="0"/>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2025</c:v>
                  </c:pt>
                  <c:pt idx="1">
                    <c:v>2026E</c:v>
                  </c:pt>
                  <c:pt idx="2">
                    <c:v>2027E</c:v>
                  </c:pt>
                </c:lvl>
              </c:multiLvlStrCache>
            </c:multiLvlStrRef>
          </c:cat>
          <c:val>
            <c:numRef>
              <c:f>Sheet1!$C$2:$C$4</c:f>
              <c:numCache>
                <c:formatCode>General</c:formatCode>
                <c:ptCount val="3"/>
                <c:pt idx="0">
                  <c:v/>
                </c:pt>
                <c:pt idx="1">
                  <c:v>1800</c:v>
                </c:pt>
                <c:pt idx="2">
                  <c:v>1300</c:v>
                </c:pt>
              </c:numCache>
            </c:numRef>
          </c:val>
        </c:ser>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3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0A1C58"/>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2024</c:v>
                  </c:pt>
                  <c:pt idx="1">
                    <c:v>2025</c:v>
                  </c:pt>
                  <c:pt idx="2">
                    <c:v>2026E</c:v>
                  </c:pt>
                  <c:pt idx="3">
                    <c:v>2027E</c:v>
                  </c:pt>
                  <c:pt idx="4">
                    <c:v>2028E</c:v>
                  </c:pt>
                  <c:pt idx="5">
                    <c:v>2029E</c:v>
                  </c:pt>
                  <c:pt idx="6">
                    <c:v>2030E</c:v>
                  </c:pt>
                </c:lvl>
              </c:multiLvlStrCache>
            </c:multiLvlStrRef>
          </c:cat>
          <c:val>
            <c:numRef>
              <c:f>Sheet1!$B$2:$B$8</c:f>
              <c:numCache>
                <c:formatCode>General</c:formatCode>
                <c:ptCount val="7"/>
                <c:pt idx="0">
                  <c:v>0.04</c:v>
                </c:pt>
                <c:pt idx="1">
                  <c:v>0.08</c:v>
                </c:pt>
                <c:pt idx="2">
                  <c:v/>
                </c:pt>
                <c:pt idx="3">
                  <c:v/>
                </c:pt>
                <c:pt idx="4">
                  <c:v/>
                </c:pt>
                <c:pt idx="5">
                  <c:v/>
                </c:pt>
                <c:pt idx="6">
                  <c:v/>
                </c:pt>
              </c:numCache>
            </c:numRef>
          </c:val>
        </c:ser>
        <c:ser>
          <c:idx val="1"/>
          <c:order val="1"/>
          <c:tx>
            <c:strRef>
              <c:f>Sheet1!$C$1</c:f>
              <c:strCache>
                <c:ptCount val="1"/>
                <c:pt idx="0">
                  <c:v>GPS model</c:v>
                </c:pt>
              </c:strCache>
            </c:strRef>
          </c:tx>
          <c:spPr>
            <a:solidFill>
              <a:srgbClr val="B5AEA9"/>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2024</c:v>
                  </c:pt>
                  <c:pt idx="1">
                    <c:v>2025</c:v>
                  </c:pt>
                  <c:pt idx="2">
                    <c:v>2026E</c:v>
                  </c:pt>
                  <c:pt idx="3">
                    <c:v>2027E</c:v>
                  </c:pt>
                  <c:pt idx="4">
                    <c:v>2028E</c:v>
                  </c:pt>
                  <c:pt idx="5">
                    <c:v>2029E</c:v>
                  </c:pt>
                  <c:pt idx="6">
                    <c:v>2030E</c:v>
                  </c:pt>
                </c:lvl>
              </c:multiLvlStrCache>
            </c:multiLvlStrRef>
          </c:cat>
          <c:val>
            <c:numRef>
              <c:f>Sheet1!$C$2:$C$8</c:f>
              <c:numCache>
                <c:formatCode>General</c:formatCode>
                <c:ptCount val="7"/>
                <c:pt idx="0">
                  <c:v/>
                </c:pt>
                <c:pt idx="1">
                  <c:v/>
                </c:pt>
                <c:pt idx="2">
                  <c:v>0.124</c:v>
                </c:pt>
                <c:pt idx="3">
                  <c:v>0.168</c:v>
                </c:pt>
                <c:pt idx="4">
                  <c:v>0.19</c:v>
                </c:pt>
                <c:pt idx="5">
                  <c:v>0.195</c:v>
                </c:pt>
                <c:pt idx="6">
                  <c:v>0.2</c:v>
                </c:pt>
              </c:numCache>
            </c:numRef>
          </c:val>
        </c:ser>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Third-party</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2025</c:v>
                  </c:pt>
                  <c:pt idx="1">
                    <c:v>2026E</c:v>
                  </c:pt>
                  <c:pt idx="2">
                    <c:v>2027E</c:v>
                  </c:pt>
                  <c:pt idx="3">
                    <c:v>2028E</c:v>
                  </c:pt>
                  <c:pt idx="4">
                    <c:v>2029E</c:v>
                  </c:pt>
                  <c:pt idx="5">
                    <c:v>2030E</c:v>
                  </c:pt>
                </c:lvl>
              </c:multiLvlStrCache>
            </c:multiLvlStrRef>
          </c:cat>
          <c:val>
            <c:numRef>
              <c:f>Sheet1!$B$2:$B$7</c:f>
              <c:numCache>
                <c:formatCode>General</c:formatCode>
                <c:ptCount val="6"/>
                <c:pt idx="0">
                  <c:v>675</c:v>
                </c:pt>
                <c:pt idx="1">
                  <c:v>866</c:v>
                </c:pt>
                <c:pt idx="2">
                  <c:v>1206</c:v>
                </c:pt>
                <c:pt idx="3">
                  <c:v>1321</c:v>
                </c:pt>
                <c:pt idx="4">
                  <c:v>1298</c:v>
                </c:pt>
                <c:pt idx="5">
                  <c:v>1272</c:v>
                </c:pt>
              </c:numCache>
            </c:numRef>
          </c:val>
        </c:ser>
        <c:ser>
          <c:idx val="1"/>
          <c:order val="1"/>
          <c:tx>
            <c:strRef>
              <c:f>Sheet1!$C$1</c:f>
              <c:strCache>
                <c:ptCount val="1"/>
                <c:pt idx="0">
                  <c:v>SCI (contracted)</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2025</c:v>
                  </c:pt>
                  <c:pt idx="1">
                    <c:v>2026E</c:v>
                  </c:pt>
                  <c:pt idx="2">
                    <c:v>2027E</c:v>
                  </c:pt>
                  <c:pt idx="3">
                    <c:v>2028E</c:v>
                  </c:pt>
                  <c:pt idx="4">
                    <c:v>2029E</c:v>
                  </c:pt>
                  <c:pt idx="5">
                    <c:v>2030E</c:v>
                  </c:pt>
                </c:lvl>
              </c:multiLvlStrCache>
            </c:multiLvlStrRef>
          </c:cat>
          <c:val>
            <c:numRef>
              <c:f>Sheet1!$C$2:$C$7</c:f>
              <c:numCache>
                <c:formatCode>General</c:formatCode>
                <c:ptCount val="6"/>
                <c:pt idx="0">
                  <c:v>82</c:v>
                </c:pt>
                <c:pt idx="1">
                  <c:v>328</c:v>
                </c:pt>
                <c:pt idx="2">
                  <c:v>482</c:v>
                </c:pt>
                <c:pt idx="3">
                  <c:v>660</c:v>
                </c:pt>
                <c:pt idx="4">
                  <c:v>780</c:v>
                </c:pt>
                <c:pt idx="5">
                  <c:v>840</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Price as of 10/2/26. Target is the base-case blended DCF: 50% perpetuity growth ($281) and 50% exit multiple ($335). R/R = 132% bull blended upside vs. 39% bear blended downside.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Reported quarterly Aerospace Products Adj. EBITDA margins from the RPM tab. Q4'25 34.6% to Q1'26 29.9% = -470 bps. Mix example is management's: a 6,000-cycle engine sold for ~$6M earns ~$2.5M; a 10,000-cycle engine sold for ~$12M earns ~$3M; one of each blends to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readings explain the same 1Q26 drop. Management cites heavier-scope work, new facilities and technician productivity still ramping, and pricing held below OEM escalators to take share. The bear reading, following the short report, is that depreciated leasing inventory moved into Aerospace Products had been propping up margins and is running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SOTP on FY27E EBITDA: Aerospace Products $1,541M at 16x ($237/sh), Power $450M at 12x ($52/sh, low end of guide), Aviation Leasing + SCI $455M at 9x ($39/sh), less corporate (-$28/sh), net debt (-$23/sh) and preferred (-$1/sh) = $277/sh. Ex-Power = $225/sh vs. $167.03 current (10/2/26), a 26% discount.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math uses the base-case FY27E sum of the parts ($276.65/share): Aerospace 16x, Power 12x, Leasing + SCI 9x, less corporate, net debt and preferred. Attribution re-runs the full model for all 8 on/off combinations of the three theses. Margins = OEM escalator, pass-through, Aerospace margin ex-PMA and PMA rows. Volume = FTAI share of MRO and SCI aircraft rows. Power = Mod-1 units delivered (off = 0, i.e. what the market prices today). Bear case with no Power = $171.86 vs. $167.03 today (+$4.83). Shapley contributions: margins +$17.04, volume +$32.66, Power +$55.08 (the $51.90 SOTP value plus ~$3 of FY27 Power cash that lowers net debt). Total $276.64.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Factory example (FTAI): three unserviceable engines worth $2.0M, $2.5M and $2.0M each still hold modules with life left (cycles shown per Fan / Core / LPT). FTAI splits them into nine modules, adds $3.5M of MRO work, and reassembles two serviceable engines ($8.5M at 7k/7k/7k and $6.0M at 4k/4k/4k) plus one run-out core ($1.5M): $16.0M out vs. $10.0M in, $6.0M of value created.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Depreciated leasing inventory remaining in Aerospace Products is under 8% (GPS analysis), so even on the short report's logic there is little left to compress margins. Margin path: FY25 34.7%, Q1'26 29.9%, Q2'26 28.5% reported; GPS model 30.1% FY26E, 29.9% FY27E, then 30.7% / 31.4% / 32.0% / 32.5% FY28E–FY31E.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OEM index compounds the CFM escalator (7% in 2026, 6.5% in 2027, 7% thereafter). FTAI index applies the model's pass-through: 0% in 2026, then 50% of the escalator. EBITDA per module: $887K FY25, $876K FY26E trough, $913K FY27E, $969K FY28E, $1,027K FY29E, $1,084K FY30E, $1,139K FY31E (+30% vs. FY26E).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roll-forward (central): first visits fall 976 → 598 (2025–2030) as the last 737NG / A320ceo deliveries pass their first run; second visits, typically the heaviest, peak at 914 in 2027; third-and-later visits rise 532 → 720. Dashed lines extend the 2029–30 slopes (-42/yr and +20/yr), which cross around 2032. Late-life engines increasingly get green-time-only restorations (model assumes 100% / 90% / 70% of due engines get a full visit at &lt;20 / 20–25 / 25+ years). Mix curve uses management's example: light job ~$6M revenue / ~$2.5M profit, heavy ~$12M / ~$3.0M; blended margin by share of jobs. Caveat: the model's broader-work share still rises from 48% to 52% through 2030, so the light-scope return is a late-cycle (2030+)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model: PMA penetration 0.9% FY27E rising to 9% FY31E at $0.4M EBITDA uplift per PMA module = $6M to $77M. Jefferies estimates ~$0.8M uplift per PMA module and ~$43M of 2026E Aerospace EBITDA per 5 pts of adoption, so our case is conservative on both rate and uplift. Chromalloy JV program: 3 of 5 parts approved (LPT stage 1 vane 2021, HPT stage 1 vane Oct 2024, HPT stage 1 blade Oct 2025), covering ~80% of targeted savings; 2 in FAA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CFM56 full overhaul ~60 days pre-pandemic vs. 90–120 days now (Aviation Business News, 2025; secondary source). Slot waits up 2–6 months (Bain, 2024; 2025 market summaries). GE: LEAP shop visits up &gt;50% in Q1 and Q2 2026; LEAP installed base to roughly triple 2024–2030; ~$500M of &gt;$1B MRO investment to LEAP, roughly doubling internal LEAP capacity. Former MRO executive: 'the variability in capital investment required to capture the LEAP is extremely low versus what it took them to capture the CFM.'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FTAI (Q2'24 call, as reported by third parties): average CFM56 engine turnaround ~120–180 days vs. 5–25 days for a module swap. Midpoints 150 vs. ~20 days = ~7x. Step lengths within the shop visit are illustrative; slot waits of 2–6 months and HPT blade shortages drive most of the delay. Caveat: the fastest swaps apply where the core does not need to be opened; roughly half of shop visits require core disassembly.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 output 757 modules in 2025, 1,200 guided for 2026 (Montreal 450, Miami 475, Europe 275) and 1,700 targeted for 2027 including GMF and EgyptAir. Network capacity raised from 2,000 to 3,000 modules in 2026. Montreal capacity up to 900 (377 output in 2025). Jakarta 300–450 and Cairo 150–180 are GPS estimates; partners are ~7–18% of 2027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math (FY27E, GPS model): 2,386 CFM56 shop visits × 3 modules = 7,159 modules of demand × 16.8% FTAI share = 1,206 third-party modules, plus 482 SCI modules (450 aircraft × 2 engines × 20% shop-visit rate × 3 modules, approx.) = 1,687, vs. FTAI's 1,700 target. Share path 12.4% FY26E → 20% by FY30E. 2025 split approximates SCI at 82 modules and the remainder third-party.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PS 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PS 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868680"/>
            <a:ext cx="8503920" cy="0"/>
          </a:xfrm>
          <a:prstGeom prst="line">
            <a:avLst/>
          </a:prstGeom>
          <a:noFill/>
          <a:ln w="15875">
            <a:solidFill>
              <a:srgbClr val="0A1C58"/>
            </a:solidFill>
            <a:prstDash val="solid"/>
          </a:ln>
        </p:spPr>
      </p:sp>
      <p:pic>
        <p:nvPicPr>
          <p:cNvPr id="3" name="Image 0" descr="/home/user/SPOT/deck/gps_logo.jpeg">    </p:cNvPr>
          <p:cNvPicPr>
            <a:picLocks noChangeAspect="1"/>
          </p:cNvPicPr>
          <p:nvPr/>
        </p:nvPicPr>
        <p:blipFill>
          <a:blip r:embed="rId1"/>
          <a:stretch>
            <a:fillRect/>
          </a:stretch>
        </p:blipFill>
        <p:spPr>
          <a:xfrm>
            <a:off x="8119872" y="6144768"/>
            <a:ext cx="621792" cy="566928"/>
          </a:xfrm>
          <a:prstGeom prst="rect">
            <a:avLst/>
          </a:prstGeom>
        </p:spPr>
      </p:pic>
      <p:sp>
        <p:nvSpPr>
          <p:cNvPr id="4" name="Text 1"/>
          <p:cNvSpPr/>
          <p:nvPr>
            <p:ph idx="102" type="title" hasCustomPrompt="1"/>
          </p:nvPr>
        </p:nvSpPr>
        <p:spPr>
          <a:xfrm>
            <a:off x="320040" y="182880"/>
            <a:ext cx="8503920" cy="64008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GPS Content Sub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868680"/>
            <a:ext cx="8503920" cy="0"/>
          </a:xfrm>
          <a:prstGeom prst="line">
            <a:avLst/>
          </a:prstGeom>
          <a:noFill/>
          <a:ln w="15875">
            <a:solidFill>
              <a:srgbClr val="0A1C58"/>
            </a:solidFill>
            <a:prstDash val="solid"/>
          </a:ln>
        </p:spPr>
      </p:sp>
      <p:pic>
        <p:nvPicPr>
          <p:cNvPr id="3" name="Image 0" descr="/home/user/SPOT/deck/gps_logo.jpeg">    </p:cNvPr>
          <p:cNvPicPr>
            <a:picLocks noChangeAspect="1"/>
          </p:cNvPicPr>
          <p:nvPr/>
        </p:nvPicPr>
        <p:blipFill>
          <a:blip r:embed="rId1"/>
          <a:stretch>
            <a:fillRect/>
          </a:stretch>
        </p:blipFill>
        <p:spPr>
          <a:xfrm>
            <a:off x="8119872" y="6144768"/>
            <a:ext cx="621792" cy="566928"/>
          </a:xfrm>
          <a:prstGeom prst="rect">
            <a:avLst/>
          </a:prstGeom>
        </p:spPr>
      </p:pic>
      <p:sp>
        <p:nvSpPr>
          <p:cNvPr id="4" name="Text 1"/>
          <p:cNvSpPr/>
          <p:nvPr>
            <p:ph idx="102" type="title" hasCustomPrompt="1"/>
          </p:nvPr>
        </p:nvSpPr>
        <p:spPr>
          <a:xfrm>
            <a:off x="320040" y="182880"/>
            <a:ext cx="8503920" cy="64008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5" name="Text 1"/>
          <p:cNvSpPr/>
          <p:nvPr>
            <p:ph idx="103" type="body" hasCustomPrompt="1"/>
          </p:nvPr>
        </p:nvSpPr>
        <p:spPr>
          <a:xfrm>
            <a:off x="320040" y="932688"/>
            <a:ext cx="8503920" cy="566928"/>
          </a:xfrm>
          <a:prstGeom prst="rect">
            <a:avLst/>
          </a:prstGeom>
          <a:noFill/>
          <a:ln/>
        </p:spPr>
        <p:txBody>
          <a:bodyPr wrap="square" rtlCol="0"/>
          <a:lstStyle>
            <a:lvl1pPr algn="l" indent="0" marL="0">
              <a:buNone/>
              <a:defRPr lang="en-US" sz="1700" b="1" dirty="0">
                <a:solidFill>
                  <a:schemeClr val="tx2"/>
                </a:solidFill>
              </a:defRPr>
            </a:lvl1pPr>
          </a:lstStyle>
          <a:p>
            <a:pPr algn="l" indent="0" marL="0">
              <a:buNone/>
            </a:pPr>
            <a:endParaRPr lang="en-US" sz="17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chart" Target="/ppt/charts/chart12.xml"/><Relationship Id="rId4" Type="http://schemas.openxmlformats.org/officeDocument/2006/relationships/slideLayout" Target="../slideLayouts/slideLayout4.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4.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chart" Target="/ppt/charts/chart17.xml"/><Relationship Id="rId3" Type="http://schemas.openxmlformats.org/officeDocument/2006/relationships/slideLayout" Target="../slideLayouts/slideLayout4.xml"/><Relationship Id="rId4"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mpany name"/>
          <p:cNvSpPr txBox="1"/>
          <p:nvPr/>
        </p:nvSpPr>
        <p:spPr>
          <a:xfrm>
            <a:off x="548640" y="320040"/>
            <a:ext cx="6400800" cy="1143000"/>
          </a:xfrm>
          <a:prstGeom prst="rect">
            <a:avLst/>
          </a:prstGeom>
          <a:noFill/>
          <a:ln/>
        </p:spPr>
        <p:txBody>
          <a:bodyPr wrap="square" lIns="0" tIns="0" rIns="0" bIns="0" rtlCol="0" anchor="t"/>
          <a:lstStyle/>
          <a:p>
            <a:pPr indent="0" marL="0">
              <a:buNone/>
            </a:pPr>
            <a:r>
              <a:rPr lang="en-US" sz="3400" b="1" dirty="0">
                <a:solidFill>
                  <a:schemeClr val="tx2"/>
                </a:solidFill>
              </a:rPr>
              <a:t>FTAI Aviation</a:t>
            </a:r>
            <a:endParaRPr lang="en-US" sz="3400" dirty="0"/>
          </a:p>
          <a:p>
            <a:pPr indent="0" marL="0">
              <a:buNone/>
            </a:pPr>
            <a:r>
              <a:rPr lang="en-US" sz="3000" dirty="0">
                <a:solidFill>
                  <a:schemeClr val="tx2"/>
                </a:solidFill>
              </a:rPr>
              <a:t>(NASDAQ: FTAI)</a:t>
            </a:r>
            <a:endParaRPr lang="en-US" sz="3400" dirty="0"/>
          </a:p>
        </p:txBody>
      </p:sp>
      <p:sp>
        <p:nvSpPr>
          <p:cNvPr id="3" name="Recommendation"/>
          <p:cNvSpPr txBox="1"/>
          <p:nvPr/>
        </p:nvSpPr>
        <p:spPr>
          <a:xfrm>
            <a:off x="548640" y="1508760"/>
            <a:ext cx="6400800" cy="502920"/>
          </a:xfrm>
          <a:prstGeom prst="rect">
            <a:avLst/>
          </a:prstGeom>
          <a:noFill/>
          <a:ln/>
        </p:spPr>
        <p:txBody>
          <a:bodyPr wrap="square" lIns="0" tIns="0" rIns="0" bIns="0" rtlCol="0" anchor="ctr"/>
          <a:lstStyle/>
          <a:p>
            <a:pPr indent="0" marL="0">
              <a:buNone/>
            </a:pPr>
            <a:r>
              <a:rPr lang="en-US" sz="2800" b="1" dirty="0">
                <a:solidFill>
                  <a:schemeClr val="accent2"/>
                </a:solidFill>
              </a:rPr>
              <a:t>Long Recommendation</a:t>
            </a:r>
            <a:endParaRPr lang="en-US" sz="2800" dirty="0"/>
          </a:p>
        </p:txBody>
      </p:sp>
      <p:sp>
        <p:nvSpPr>
          <p:cNvPr id="4" name="Stat 1 value"/>
          <p:cNvSpPr txBox="1"/>
          <p:nvPr/>
        </p:nvSpPr>
        <p:spPr>
          <a:xfrm>
            <a:off x="54864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$167</a:t>
            </a:r>
            <a:endParaRPr lang="en-US" sz="4800" dirty="0"/>
          </a:p>
        </p:txBody>
      </p:sp>
      <p:sp>
        <p:nvSpPr>
          <p:cNvPr id="5" name="Stat 1 label"/>
          <p:cNvSpPr txBox="1"/>
          <p:nvPr/>
        </p:nvSpPr>
        <p:spPr>
          <a:xfrm>
            <a:off x="54864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Current Price</a:t>
            </a:r>
            <a:endParaRPr lang="en-US" sz="1600" dirty="0"/>
          </a:p>
        </p:txBody>
      </p:sp>
      <p:sp>
        <p:nvSpPr>
          <p:cNvPr id="6" name="Stat 2 value"/>
          <p:cNvSpPr txBox="1"/>
          <p:nvPr/>
        </p:nvSpPr>
        <p:spPr>
          <a:xfrm>
            <a:off x="256032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$308</a:t>
            </a:r>
            <a:endParaRPr lang="en-US" sz="4800" dirty="0"/>
          </a:p>
        </p:txBody>
      </p:sp>
      <p:sp>
        <p:nvSpPr>
          <p:cNvPr id="7" name="Stat 2 label"/>
          <p:cNvSpPr txBox="1"/>
          <p:nvPr/>
        </p:nvSpPr>
        <p:spPr>
          <a:xfrm>
            <a:off x="256032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Target Price</a:t>
            </a:r>
            <a:endParaRPr lang="en-US" sz="1600" dirty="0"/>
          </a:p>
        </p:txBody>
      </p:sp>
      <p:sp>
        <p:nvSpPr>
          <p:cNvPr id="8" name="Stat divider 1"/>
          <p:cNvSpPr/>
          <p:nvPr/>
        </p:nvSpPr>
        <p:spPr>
          <a:xfrm>
            <a:off x="2560320" y="2697480"/>
            <a:ext cx="0" cy="1051560"/>
          </a:xfrm>
          <a:prstGeom prst="line">
            <a:avLst/>
          </a:prstGeom>
          <a:noFill/>
          <a:ln w="12700">
            <a:solidFill>
              <a:srgbClr val="DCD8D3"/>
            </a:solidFill>
            <a:prstDash val="solid"/>
          </a:ln>
        </p:spPr>
      </p:sp>
      <p:sp>
        <p:nvSpPr>
          <p:cNvPr id="9" name="Stat 3 value"/>
          <p:cNvSpPr txBox="1"/>
          <p:nvPr/>
        </p:nvSpPr>
        <p:spPr>
          <a:xfrm>
            <a:off x="457200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84%</a:t>
            </a:r>
            <a:endParaRPr lang="en-US" sz="4800" dirty="0"/>
          </a:p>
        </p:txBody>
      </p:sp>
      <p:sp>
        <p:nvSpPr>
          <p:cNvPr id="10" name="Stat 3 label"/>
          <p:cNvSpPr txBox="1"/>
          <p:nvPr/>
        </p:nvSpPr>
        <p:spPr>
          <a:xfrm>
            <a:off x="457200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Upside</a:t>
            </a:r>
            <a:endParaRPr lang="en-US" sz="1600" dirty="0"/>
          </a:p>
        </p:txBody>
      </p:sp>
      <p:sp>
        <p:nvSpPr>
          <p:cNvPr id="11" name="Stat divider 2"/>
          <p:cNvSpPr/>
          <p:nvPr/>
        </p:nvSpPr>
        <p:spPr>
          <a:xfrm>
            <a:off x="4572000" y="2697480"/>
            <a:ext cx="0" cy="1051560"/>
          </a:xfrm>
          <a:prstGeom prst="line">
            <a:avLst/>
          </a:prstGeom>
          <a:noFill/>
          <a:ln w="12700">
            <a:solidFill>
              <a:srgbClr val="DCD8D3"/>
            </a:solidFill>
            <a:prstDash val="solid"/>
          </a:ln>
        </p:spPr>
      </p:sp>
      <p:sp>
        <p:nvSpPr>
          <p:cNvPr id="12" name="Stat 4 value"/>
          <p:cNvSpPr txBox="1"/>
          <p:nvPr/>
        </p:nvSpPr>
        <p:spPr>
          <a:xfrm>
            <a:off x="658368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3.4x</a:t>
            </a:r>
            <a:endParaRPr lang="en-US" sz="4800" dirty="0"/>
          </a:p>
        </p:txBody>
      </p:sp>
      <p:sp>
        <p:nvSpPr>
          <p:cNvPr id="13" name="Stat 4 label"/>
          <p:cNvSpPr txBox="1"/>
          <p:nvPr/>
        </p:nvSpPr>
        <p:spPr>
          <a:xfrm>
            <a:off x="658368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Reward / Risk</a:t>
            </a:r>
            <a:endParaRPr lang="en-US" sz="1600" dirty="0"/>
          </a:p>
        </p:txBody>
      </p:sp>
      <p:sp>
        <p:nvSpPr>
          <p:cNvPr id="14" name="Stat divider 3"/>
          <p:cNvSpPr/>
          <p:nvPr/>
        </p:nvSpPr>
        <p:spPr>
          <a:xfrm>
            <a:off x="6583680" y="2697480"/>
            <a:ext cx="0" cy="1051560"/>
          </a:xfrm>
          <a:prstGeom prst="line">
            <a:avLst/>
          </a:prstGeom>
          <a:noFill/>
          <a:ln w="12700">
            <a:solidFill>
              <a:srgbClr val="DCD8D3"/>
            </a:solidFill>
            <a:prstDash val="solid"/>
          </a:ln>
        </p:spPr>
      </p:sp>
      <p:sp>
        <p:nvSpPr>
          <p:cNvPr id="15" name="Quote"/>
          <p:cNvSpPr txBox="1"/>
          <p:nvPr/>
        </p:nvSpPr>
        <p:spPr>
          <a:xfrm>
            <a:off x="411480" y="4206240"/>
            <a:ext cx="8321040" cy="731520"/>
          </a:xfrm>
          <a:prstGeom prst="rect">
            <a:avLst/>
          </a:prstGeom>
          <a:solidFill>
            <a:srgbClr val="EFEDEA"/>
          </a:solidFill>
          <a:ln/>
        </p:spPr>
        <p:txBody>
          <a:bodyPr wrap="square" lIns="127000" tIns="50800" rIns="127000" bIns="50800" rtlCol="0" anchor="ctr"/>
          <a:lstStyle/>
          <a:p>
            <a:pPr algn="ctr" indent="0" marL="0">
              <a:buNone/>
            </a:pPr>
            <a:r>
              <a:rPr lang="en-US" sz="1900" b="1" dirty="0">
                <a:solidFill>
                  <a:srgbClr val="1A1A1A"/>
                </a:solidFill>
              </a:rPr>
              <a:t>“Be fearful when others are greedy and greedy when others are fearful.”</a:t>
            </a:r>
            <a:endParaRPr lang="en-US" sz="1900" dirty="0"/>
          </a:p>
        </p:txBody>
      </p:sp>
      <p:sp>
        <p:nvSpPr>
          <p:cNvPr id="16" name="Quote attribution"/>
          <p:cNvSpPr txBox="1"/>
          <p:nvPr/>
        </p:nvSpPr>
        <p:spPr>
          <a:xfrm>
            <a:off x="411480" y="5029200"/>
            <a:ext cx="8321040" cy="365760"/>
          </a:xfrm>
          <a:prstGeom prst="rect">
            <a:avLst/>
          </a:prstGeom>
          <a:noFill/>
          <a:ln/>
        </p:spPr>
        <p:txBody>
          <a:bodyPr wrap="square" lIns="0" tIns="0" rIns="0" bIns="0" rtlCol="0" anchor="ctr"/>
          <a:lstStyle/>
          <a:p>
            <a:pPr algn="ctr" indent="0" marL="0">
              <a:buNone/>
            </a:pPr>
            <a:r>
              <a:rPr lang="en-US" sz="1900" b="1" i="1" dirty="0">
                <a:solidFill>
                  <a:srgbClr val="1A1A1A"/>
                </a:solidFill>
              </a:rPr>
              <a:t>— Warren Buffett</a:t>
            </a:r>
            <a:endParaRPr lang="en-US" sz="1900" dirty="0"/>
          </a:p>
        </p:txBody>
      </p:sp>
      <p:sp>
        <p:nvSpPr>
          <p:cNvPr id="17" name="Pitch details"/>
          <p:cNvSpPr txBox="1"/>
          <p:nvPr/>
        </p:nvSpPr>
        <p:spPr>
          <a:xfrm>
            <a:off x="548640" y="5760720"/>
            <a:ext cx="4754880" cy="868680"/>
          </a:xfrm>
          <a:prstGeom prst="rect">
            <a:avLst/>
          </a:prstGeom>
          <a:noFill/>
          <a:ln/>
        </p:spPr>
        <p:txBody>
          <a:bodyPr wrap="square" lIns="0" tIns="0" rIns="0" bIns="0" rtlCol="0" anchor="t"/>
          <a:lstStyle/>
          <a:p>
            <a:pPr indent="0" marL="0">
              <a:spcAft>
                <a:spcPts val="200"/>
              </a:spcAft>
              <a:buNone/>
            </a:pPr>
            <a:r>
              <a:rPr lang="en-US" sz="1500" dirty="0">
                <a:solidFill>
                  <a:srgbClr val="1A1A1A"/>
                </a:solidFill>
              </a:rPr>
              <a:t>Date: October 2026</a:t>
            </a:r>
            <a:endParaRPr lang="en-US" sz="1500" dirty="0"/>
          </a:p>
          <a:p>
            <a:pPr indent="0" marL="0">
              <a:spcAft>
                <a:spcPts val="200"/>
              </a:spcAft>
              <a:buNone/>
            </a:pPr>
            <a:r>
              <a:rPr lang="en-US" sz="1500" dirty="0">
                <a:solidFill>
                  <a:srgbClr val="1A1A1A"/>
                </a:solidFill>
              </a:rPr>
              <a:t>Current Price: $167.03 (10/2/26)</a:t>
            </a:r>
            <a:endParaRPr lang="en-US" sz="1500" dirty="0"/>
          </a:p>
          <a:p>
            <a:pPr indent="0" marL="0">
              <a:spcAft>
                <a:spcPts val="200"/>
              </a:spcAft>
              <a:buNone/>
            </a:pPr>
            <a:r>
              <a:rPr lang="en-US" sz="1500" dirty="0">
                <a:solidFill>
                  <a:srgbClr val="1A1A1A"/>
                </a:solidFill>
              </a:rPr>
              <a:t>Target Price: $308.03 (84% upside, 3.4x R/R)</a:t>
            </a:r>
            <a:endParaRPr lang="en-US" sz="1500" dirty="0"/>
          </a:p>
        </p:txBody>
      </p:sp>
      <p:pic>
        <p:nvPicPr>
          <p:cNvPr id="18" name="GPS logo" descr="/home/user/SPOT/deck/gps_logo.jpeg">    </p:cNvPr>
          <p:cNvPicPr>
            <a:picLocks noChangeAspect="1"/>
          </p:cNvPicPr>
          <p:nvPr/>
        </p:nvPicPr>
        <p:blipFill>
          <a:blip r:embed="rId1"/>
          <a:stretch>
            <a:fillRect/>
          </a:stretch>
        </p:blipFill>
        <p:spPr>
          <a:xfrm>
            <a:off x="5897880" y="5532120"/>
            <a:ext cx="1234440" cy="1133856"/>
          </a:xfrm>
          <a:prstGeom prst="rect">
            <a:avLst/>
          </a:prstGeom>
        </p:spPr>
      </p:pic>
      <p:sp>
        <p:nvSpPr>
          <p:cNvPr id="19" name="Logo divider"/>
          <p:cNvSpPr/>
          <p:nvPr/>
        </p:nvSpPr>
        <p:spPr>
          <a:xfrm>
            <a:off x="7360920" y="5577840"/>
            <a:ext cx="0" cy="1097280"/>
          </a:xfrm>
          <a:prstGeom prst="line">
            <a:avLst/>
          </a:prstGeom>
          <a:noFill/>
          <a:ln w="12700">
            <a:solidFill>
              <a:srgbClr val="847C7A"/>
            </a:solidFill>
            <a:prstDash val="solid"/>
          </a:ln>
        </p:spPr>
      </p:sp>
      <p:sp>
        <p:nvSpPr>
          <p:cNvPr id="20" name="Presenter"/>
          <p:cNvSpPr txBox="1"/>
          <p:nvPr/>
        </p:nvSpPr>
        <p:spPr>
          <a:xfrm>
            <a:off x="7452360" y="5669280"/>
            <a:ext cx="1417320" cy="868680"/>
          </a:xfrm>
          <a:prstGeom prst="rect">
            <a:avLst/>
          </a:prstGeom>
          <a:noFill/>
          <a:ln/>
        </p:spPr>
        <p:txBody>
          <a:bodyPr wrap="square" lIns="0" tIns="0" rIns="0" bIns="0" rtlCol="0" anchor="ctr"/>
          <a:lstStyle/>
          <a:p>
            <a:pPr algn="ctr" indent="0" marL="0">
              <a:buNone/>
            </a:pPr>
            <a:r>
              <a:rPr lang="en-US" sz="1800" b="1" dirty="0">
                <a:solidFill>
                  <a:schemeClr val="accent2"/>
                </a:solidFill>
              </a:rPr>
              <a:t>Presenter</a:t>
            </a:r>
            <a:endParaRPr lang="en-US" sz="1800" dirty="0"/>
          </a:p>
          <a:p>
            <a:pPr algn="ctr" indent="0" marL="0">
              <a:buNone/>
            </a:pPr>
            <a:r>
              <a:rPr lang="en-US" sz="1800" b="1" dirty="0">
                <a:solidFill>
                  <a:schemeClr val="accent2"/>
                </a:solidFill>
              </a:rPr>
              <a:t>Name</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a:t>
            </a:r>
            <a:endParaRPr lang="en-US" sz="3200" dirty="0"/>
          </a:p>
        </p:txBody>
      </p:sp>
      <p:sp>
        <p:nvSpPr>
          <p:cNvPr id="3" name="Point 1"/>
          <p:cNvSpPr txBox="1"/>
          <p:nvPr/>
        </p:nvSpPr>
        <p:spPr>
          <a:xfrm>
            <a:off x="1600200" y="1188720"/>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1Q26 margins compressed 500 bps, and management guided EBITDA margins down from 40% to 30% for two years.</a:t>
            </a:r>
            <a:endParaRPr lang="en-US" sz="1500" dirty="0"/>
          </a:p>
        </p:txBody>
      </p:sp>
      <p:sp>
        <p:nvSpPr>
          <p:cNvPr id="4" name="Point 1 number"/>
          <p:cNvSpPr/>
          <p:nvPr/>
        </p:nvSpPr>
        <p:spPr>
          <a:xfrm>
            <a:off x="1120140" y="1211580"/>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1</a:t>
            </a:r>
            <a:endParaRPr lang="en-US" sz="2600" dirty="0"/>
          </a:p>
        </p:txBody>
      </p:sp>
      <p:sp>
        <p:nvSpPr>
          <p:cNvPr id="5" name="Point 2"/>
          <p:cNvSpPr txBox="1"/>
          <p:nvPr/>
        </p:nvSpPr>
        <p:spPr>
          <a:xfrm>
            <a:off x="1600200" y="2304288"/>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A fraud overhang from the 2025 short report leaves the market doubting this is the bottom: it still sees FTAI as over-earning.</a:t>
            </a:r>
            <a:endParaRPr lang="en-US" sz="1500" dirty="0"/>
          </a:p>
        </p:txBody>
      </p:sp>
      <p:sp>
        <p:nvSpPr>
          <p:cNvPr id="6" name="Point 2 number"/>
          <p:cNvSpPr/>
          <p:nvPr/>
        </p:nvSpPr>
        <p:spPr>
          <a:xfrm>
            <a:off x="1120140" y="2327148"/>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2</a:t>
            </a:r>
            <a:endParaRPr lang="en-US" sz="2600" dirty="0"/>
          </a:p>
        </p:txBody>
      </p:sp>
      <p:sp>
        <p:nvSpPr>
          <p:cNvPr id="7" name="Point 3"/>
          <p:cNvSpPr txBox="1"/>
          <p:nvPr/>
        </p:nvSpPr>
        <p:spPr>
          <a:xfrm>
            <a:off x="1600200" y="3419856"/>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We believe FTAI has reached steady state: margins have bottomed and share gains will drive volume growth.</a:t>
            </a:r>
            <a:endParaRPr lang="en-US" sz="1500" dirty="0"/>
          </a:p>
        </p:txBody>
      </p:sp>
      <p:sp>
        <p:nvSpPr>
          <p:cNvPr id="8" name="Point 3 number"/>
          <p:cNvSpPr/>
          <p:nvPr/>
        </p:nvSpPr>
        <p:spPr>
          <a:xfrm>
            <a:off x="1120140" y="3442716"/>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3</a:t>
            </a:r>
            <a:endParaRPr lang="en-US" sz="2600" dirty="0"/>
          </a:p>
        </p:txBody>
      </p:sp>
      <p:sp>
        <p:nvSpPr>
          <p:cNvPr id="9" name="Funnel"/>
          <p:cNvSpPr/>
          <p:nvPr/>
        </p:nvSpPr>
        <p:spPr>
          <a:xfrm flipV="1">
            <a:off x="1188720" y="4553712"/>
            <a:ext cx="7040880" cy="411480"/>
          </a:xfrm>
          <a:prstGeom prst="triangle">
            <a:avLst/>
          </a:prstGeom>
          <a:solidFill>
            <a:srgbClr val="DCD8D3"/>
          </a:solidFill>
          <a:ln/>
        </p:spPr>
      </p:sp>
      <p:sp>
        <p:nvSpPr>
          <p:cNvPr id="10" name="Conclusion"/>
          <p:cNvSpPr txBox="1"/>
          <p:nvPr/>
        </p:nvSpPr>
        <p:spPr>
          <a:xfrm>
            <a:off x="1188720" y="5120640"/>
            <a:ext cx="7040880" cy="777240"/>
          </a:xfrm>
          <a:prstGeom prst="rect">
            <a:avLst/>
          </a:prstGeom>
          <a:solidFill>
            <a:srgbClr val="0A1C58"/>
          </a:solidFill>
          <a:ln/>
        </p:spPr>
        <p:txBody>
          <a:bodyPr wrap="square" lIns="127000" tIns="25400" rIns="127000" bIns="25400" rtlCol="0" anchor="ctr"/>
          <a:lstStyle/>
          <a:p>
            <a:pPr algn="ctr" indent="0" marL="0">
              <a:buNone/>
            </a:pPr>
            <a:r>
              <a:rPr lang="en-US" sz="1700" b="1" dirty="0">
                <a:solidFill>
                  <a:schemeClr val="bg1"/>
                </a:solidFill>
              </a:rPr>
              <a:t>The market is pricing a trough as a cliff. We see 84% upside, with Power as a free call option.</a:t>
            </a:r>
            <a:endParaRPr lang="en-US" sz="1700" dirty="0"/>
          </a:p>
        </p:txBody>
      </p:sp>
      <p:sp>
        <p:nvSpPr>
          <p:cNvPr id="11" name="Source"/>
          <p:cNvSpPr txBox="1"/>
          <p:nvPr/>
        </p:nvSpPr>
        <p:spPr>
          <a:xfrm>
            <a:off x="320040" y="6355080"/>
            <a:ext cx="548640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Company filings, earnings calls, GPS estimates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(1/3)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In one quarter, Aerospace margins fell ~470 bps, and management guided ~30% for two years.</a:t>
            </a:r>
            <a:endParaRPr lang="en-US" sz="1700" dirty="0"/>
          </a:p>
        </p:txBody>
      </p:sp>
      <p:sp>
        <p:nvSpPr>
          <p:cNvPr id="4" name="Margin chart header"/>
          <p:cNvSpPr txBox="1"/>
          <p:nvPr/>
        </p:nvSpPr>
        <p:spPr>
          <a:xfrm>
            <a:off x="320040" y="1554480"/>
            <a:ext cx="5257800" cy="365760"/>
          </a:xfrm>
          <a:prstGeom prst="rect">
            <a:avLst/>
          </a:prstGeom>
          <a:noFill/>
          <a:ln/>
        </p:spPr>
        <p:txBody>
          <a:bodyPr wrap="square" lIns="0" tIns="0" rIns="0" bIns="0" rtlCol="0" anchor="b"/>
          <a:lstStyle/>
          <a:p>
            <a:pPr algn="ctr" indent="0" marL="0">
              <a:buNone/>
            </a:pPr>
            <a:r>
              <a:rPr lang="en-US" sz="1600" b="1" dirty="0">
                <a:solidFill>
                  <a:srgbClr val="1A1A1A"/>
                </a:solidFill>
              </a:rPr>
              <a:t>Aerospace Products Adj. EBITDA Margin</a:t>
            </a:r>
            <a:endParaRPr lang="en-US" sz="1600" dirty="0"/>
          </a:p>
        </p:txBody>
      </p:sp>
      <p:sp>
        <p:nvSpPr>
          <p:cNvPr id="5" name="Margin chart header rule"/>
          <p:cNvSpPr/>
          <p:nvPr/>
        </p:nvSpPr>
        <p:spPr>
          <a:xfrm>
            <a:off x="320040" y="1975104"/>
            <a:ext cx="5257800" cy="0"/>
          </a:xfrm>
          <a:prstGeom prst="line">
            <a:avLst/>
          </a:prstGeom>
          <a:noFill/>
          <a:ln w="12700">
            <a:solidFill>
              <a:srgbClr val="1A1A1A"/>
            </a:solidFill>
            <a:prstDash val="solid"/>
          </a:ln>
        </p:spPr>
      </p:sp>
      <p:graphicFrame>
        <p:nvGraphicFramePr>
          <p:cNvPr id="6" name="Margin chart" descr=""/>
          <p:cNvGraphicFramePr/>
          <p:nvPr/>
        </p:nvGraphicFramePr>
        <p:xfrm>
          <a:off x="320040" y="2103120"/>
          <a:ext cx="5257800" cy="3200400"/>
        </p:xfrm>
        <a:graphic xmlns:a="http://schemas.openxmlformats.org/drawingml/2006/main">
          <a:graphicData uri="http://schemas.openxmlformats.org/drawingml/2006/chart">
            <c:chart xmlns:c="http://schemas.openxmlformats.org/drawingml/2006/chart" r:id="rId1"/>
          </a:graphicData>
        </a:graphic>
      </p:graphicFrame>
      <p:sp>
        <p:nvSpPr>
          <p:cNvPr id="7" name="Guide label"/>
          <p:cNvSpPr txBox="1"/>
          <p:nvPr/>
        </p:nvSpPr>
        <p:spPr>
          <a:xfrm>
            <a:off x="4206240" y="2788920"/>
            <a:ext cx="132588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Mgmt. guide</a:t>
            </a:r>
            <a:endParaRPr lang="en-US" sz="1200" dirty="0"/>
          </a:p>
        </p:txBody>
      </p:sp>
      <p:sp>
        <p:nvSpPr>
          <p:cNvPr id="8" name="Compression callout"/>
          <p:cNvSpPr/>
          <p:nvPr/>
        </p:nvSpPr>
        <p:spPr>
          <a:xfrm>
            <a:off x="2606040" y="2103120"/>
            <a:ext cx="1097280" cy="109728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000" b="1" dirty="0">
                <a:solidFill>
                  <a:schemeClr val="bg1"/>
                </a:solidFill>
              </a:rPr>
              <a:t>–470</a:t>
            </a:r>
            <a:endParaRPr lang="en-US" sz="2000" dirty="0"/>
          </a:p>
          <a:p>
            <a:pPr algn="ctr" indent="0" marL="0">
              <a:buNone/>
            </a:pPr>
            <a:r>
              <a:rPr lang="en-US" sz="1100" b="1" dirty="0">
                <a:solidFill>
                  <a:schemeClr val="bg1"/>
                </a:solidFill>
              </a:rPr>
              <a:t>bps q/q</a:t>
            </a:r>
            <a:endParaRPr lang="en-US" sz="2000" dirty="0"/>
          </a:p>
        </p:txBody>
      </p:sp>
      <p:sp>
        <p:nvSpPr>
          <p:cNvPr id="9" name="Mix chart header"/>
          <p:cNvSpPr txBox="1"/>
          <p:nvPr/>
        </p:nvSpPr>
        <p:spPr>
          <a:xfrm>
            <a:off x="5897880" y="1554480"/>
            <a:ext cx="2926080" cy="365760"/>
          </a:xfrm>
          <a:prstGeom prst="rect">
            <a:avLst/>
          </a:prstGeom>
          <a:noFill/>
          <a:ln/>
        </p:spPr>
        <p:txBody>
          <a:bodyPr wrap="square" lIns="0" tIns="0" rIns="0" bIns="0" rtlCol="0" anchor="b"/>
          <a:lstStyle/>
          <a:p>
            <a:pPr algn="ctr" indent="0" marL="0">
              <a:buNone/>
            </a:pPr>
            <a:r>
              <a:rPr lang="en-US" sz="1600" b="1" dirty="0">
                <a:solidFill>
                  <a:srgbClr val="1A1A1A"/>
                </a:solidFill>
              </a:rPr>
              <a:t>Management: “It's Mix”</a:t>
            </a:r>
            <a:endParaRPr lang="en-US" sz="1600" dirty="0"/>
          </a:p>
        </p:txBody>
      </p:sp>
      <p:sp>
        <p:nvSpPr>
          <p:cNvPr id="10" name="Mix chart header rule"/>
          <p:cNvSpPr/>
          <p:nvPr/>
        </p:nvSpPr>
        <p:spPr>
          <a:xfrm>
            <a:off x="5897880" y="1975104"/>
            <a:ext cx="2926080" cy="0"/>
          </a:xfrm>
          <a:prstGeom prst="line">
            <a:avLst/>
          </a:prstGeom>
          <a:noFill/>
          <a:ln w="12700">
            <a:solidFill>
              <a:srgbClr val="1A1A1A"/>
            </a:solidFill>
            <a:prstDash val="solid"/>
          </a:ln>
        </p:spPr>
      </p:sp>
      <p:graphicFrame>
        <p:nvGraphicFramePr>
          <p:cNvPr id="11" name="Mix chart" descr=""/>
          <p:cNvGraphicFramePr/>
          <p:nvPr/>
        </p:nvGraphicFramePr>
        <p:xfrm>
          <a:off x="5897880" y="2103120"/>
          <a:ext cx="2926080" cy="2194560"/>
        </p:xfrm>
        <a:graphic xmlns:a="http://schemas.openxmlformats.org/drawingml/2006/main">
          <a:graphicData uri="http://schemas.openxmlformats.org/drawingml/2006/chart">
            <c:chart xmlns:c="http://schemas.openxmlformats.org/drawingml/2006/chart" r:id="rId2"/>
          </a:graphicData>
        </a:graphic>
      </p:graphicFrame>
      <p:sp>
        <p:nvSpPr>
          <p:cNvPr id="12" name="Mix detail"/>
          <p:cNvSpPr txBox="1"/>
          <p:nvPr/>
        </p:nvSpPr>
        <p:spPr>
          <a:xfrm>
            <a:off x="5897880" y="4370832"/>
            <a:ext cx="2926080" cy="566928"/>
          </a:xfrm>
          <a:prstGeom prst="rect">
            <a:avLst/>
          </a:prstGeom>
          <a:noFill/>
          <a:ln/>
        </p:spPr>
        <p:txBody>
          <a:bodyPr wrap="square" lIns="0" tIns="0" rIns="0" bIns="0" rtlCol="0" anchor="t"/>
          <a:lstStyle/>
          <a:p>
            <a:pPr indent="0" marL="0">
              <a:buNone/>
            </a:pPr>
            <a:r>
              <a:rPr lang="en-US" sz="1200" b="1" dirty="0">
                <a:solidFill>
                  <a:srgbClr val="1A1A1A"/>
                </a:solidFill>
              </a:rPr>
              <a:t>Light: </a:t>
            </a:r>
            <a:pPr indent="0" marL="0">
              <a:buNone/>
            </a:pPr>
            <a:r>
              <a:rPr lang="en-US" sz="1200" dirty="0">
                <a:solidFill>
                  <a:srgbClr val="1A1A1A"/>
                </a:solidFill>
              </a:rPr>
              <a:t>$6M sale, $2.5M profit</a:t>
            </a:r>
            <a:endParaRPr lang="en-US" sz="1200" dirty="0"/>
          </a:p>
          <a:p>
            <a:pPr indent="0" marL="0">
              <a:buNone/>
            </a:pPr>
            <a:r>
              <a:rPr lang="en-US" sz="1200" b="1" dirty="0">
                <a:solidFill>
                  <a:srgbClr val="1A1A1A"/>
                </a:solidFill>
              </a:rPr>
              <a:t>Heavy: </a:t>
            </a:r>
            <a:pPr indent="0" marL="0">
              <a:buNone/>
            </a:pPr>
            <a:r>
              <a:rPr lang="en-US" sz="1200" dirty="0">
                <a:solidFill>
                  <a:srgbClr val="1A1A1A"/>
                </a:solidFill>
              </a:rPr>
              <a:t>$12M sale, $3.0M profit</a:t>
            </a:r>
            <a:endParaRPr lang="en-US" sz="1200" dirty="0"/>
          </a:p>
        </p:txBody>
      </p:sp>
      <p:sp>
        <p:nvSpPr>
          <p:cNvPr id="13" name="Mix kicker"/>
          <p:cNvSpPr txBox="1"/>
          <p:nvPr/>
        </p:nvSpPr>
        <p:spPr>
          <a:xfrm>
            <a:off x="5897880" y="4983480"/>
            <a:ext cx="2926080" cy="320040"/>
          </a:xfrm>
          <a:prstGeom prst="rect">
            <a:avLst/>
          </a:prstGeom>
          <a:noFill/>
          <a:ln/>
        </p:spPr>
        <p:txBody>
          <a:bodyPr wrap="square" lIns="0" tIns="0" rIns="0" bIns="0" rtlCol="0" anchor="ctr"/>
          <a:lstStyle/>
          <a:p>
            <a:pPr indent="0" marL="0">
              <a:buNone/>
            </a:pPr>
            <a:r>
              <a:rPr lang="en-US" sz="1300" b="1" i="1" dirty="0">
                <a:solidFill>
                  <a:schemeClr val="tx2"/>
                </a:solidFill>
              </a:rPr>
              <a:t>Lower margin, more dollars per job</a:t>
            </a:r>
            <a:endParaRPr lang="en-US" sz="1300" dirty="0"/>
          </a:p>
        </p:txBody>
      </p:sp>
      <p:sp>
        <p:nvSpPr>
          <p:cNvPr id="14"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The drop is real. Is ~30% the floor, or just a waypoint?</a:t>
            </a:r>
            <a:endParaRPr lang="en-US" sz="1700" dirty="0"/>
          </a:p>
        </p:txBody>
      </p:sp>
      <p:sp>
        <p:nvSpPr>
          <p:cNvPr id="1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(2/3)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 2025 short report gave the market a darker explanation, and it stuck.</a:t>
            </a:r>
            <a:endParaRPr lang="en-US" sz="1700" dirty="0"/>
          </a:p>
        </p:txBody>
      </p:sp>
      <p:sp>
        <p:nvSpPr>
          <p:cNvPr id="4" name="Short thesis header"/>
          <p:cNvSpPr txBox="1"/>
          <p:nvPr/>
        </p:nvSpPr>
        <p:spPr>
          <a:xfrm>
            <a:off x="320040" y="1554480"/>
            <a:ext cx="4572000" cy="365760"/>
          </a:xfrm>
          <a:prstGeom prst="rect">
            <a:avLst/>
          </a:prstGeom>
          <a:noFill/>
          <a:ln/>
        </p:spPr>
        <p:txBody>
          <a:bodyPr wrap="square" lIns="0" tIns="0" rIns="0" bIns="0" rtlCol="0" anchor="b"/>
          <a:lstStyle/>
          <a:p>
            <a:pPr algn="ctr" indent="0" marL="0">
              <a:buNone/>
            </a:pPr>
            <a:r>
              <a:rPr lang="en-US" sz="1600" b="1" dirty="0">
                <a:solidFill>
                  <a:srgbClr val="1A1A1A"/>
                </a:solidFill>
              </a:rPr>
              <a:t>The Short Thesis (Jan. 2025)</a:t>
            </a:r>
            <a:endParaRPr lang="en-US" sz="1600" dirty="0"/>
          </a:p>
        </p:txBody>
      </p:sp>
      <p:sp>
        <p:nvSpPr>
          <p:cNvPr id="5" name="Short thesis header rule"/>
          <p:cNvSpPr/>
          <p:nvPr/>
        </p:nvSpPr>
        <p:spPr>
          <a:xfrm>
            <a:off x="320040" y="1975104"/>
            <a:ext cx="4572000" cy="0"/>
          </a:xfrm>
          <a:prstGeom prst="line">
            <a:avLst/>
          </a:prstGeom>
          <a:noFill/>
          <a:ln w="12700">
            <a:solidFill>
              <a:srgbClr val="1A1A1A"/>
            </a:solidFill>
            <a:prstDash val="solid"/>
          </a:ln>
        </p:spPr>
      </p:sp>
      <p:sp>
        <p:nvSpPr>
          <p:cNvPr id="6" name="Short step 1"/>
          <p:cNvSpPr txBox="1"/>
          <p:nvPr/>
        </p:nvSpPr>
        <p:spPr>
          <a:xfrm>
            <a:off x="548640" y="2148840"/>
            <a:ext cx="4114800" cy="731520"/>
          </a:xfrm>
          <a:prstGeom prst="rect">
            <a:avLst/>
          </a:prstGeom>
          <a:solidFill>
            <a:srgbClr val="DCD8D3"/>
          </a:solidFill>
          <a:ln/>
        </p:spPr>
        <p:txBody>
          <a:bodyPr wrap="square" lIns="127000" tIns="25400" rIns="127000" bIns="25400" rtlCol="0" anchor="ctr"/>
          <a:lstStyle/>
          <a:p>
            <a:pPr algn="ctr" indent="0" marL="0">
              <a:buNone/>
            </a:pPr>
            <a:r>
              <a:rPr lang="en-US" sz="1500" b="1" dirty="0">
                <a:solidFill>
                  <a:schemeClr val="tx2"/>
                </a:solidFill>
              </a:rPr>
              <a:t>Leasing engines sit on the books at depreciated value</a:t>
            </a:r>
            <a:endParaRPr lang="en-US" sz="1500" dirty="0"/>
          </a:p>
        </p:txBody>
      </p:sp>
      <p:sp>
        <p:nvSpPr>
          <p:cNvPr id="7" name="Short arrow 1"/>
          <p:cNvSpPr/>
          <p:nvPr/>
        </p:nvSpPr>
        <p:spPr>
          <a:xfrm>
            <a:off x="2395728" y="2907792"/>
            <a:ext cx="420624" cy="292608"/>
          </a:xfrm>
          <a:prstGeom prst="downArrow">
            <a:avLst/>
          </a:prstGeom>
          <a:solidFill>
            <a:srgbClr val="847C7A"/>
          </a:solidFill>
          <a:ln/>
        </p:spPr>
      </p:sp>
      <p:sp>
        <p:nvSpPr>
          <p:cNvPr id="8" name="Short step 2"/>
          <p:cNvSpPr txBox="1"/>
          <p:nvPr/>
        </p:nvSpPr>
        <p:spPr>
          <a:xfrm>
            <a:off x="548640" y="3227832"/>
            <a:ext cx="4114800" cy="731520"/>
          </a:xfrm>
          <a:prstGeom prst="rect">
            <a:avLst/>
          </a:prstGeom>
          <a:solidFill>
            <a:srgbClr val="DCD8D3"/>
          </a:solidFill>
          <a:ln/>
        </p:spPr>
        <p:txBody>
          <a:bodyPr wrap="square" lIns="127000" tIns="25400" rIns="127000" bIns="25400" rtlCol="0" anchor="ctr"/>
          <a:lstStyle/>
          <a:p>
            <a:pPr algn="ctr" indent="0" marL="0">
              <a:buNone/>
            </a:pPr>
            <a:r>
              <a:rPr lang="en-US" sz="1500" b="1" dirty="0">
                <a:solidFill>
                  <a:schemeClr val="tx2"/>
                </a:solidFill>
              </a:rPr>
              <a:t>They are moved into Aerospace Products as inventory</a:t>
            </a:r>
            <a:endParaRPr lang="en-US" sz="1500" dirty="0"/>
          </a:p>
        </p:txBody>
      </p:sp>
      <p:sp>
        <p:nvSpPr>
          <p:cNvPr id="9" name="Short arrow 2"/>
          <p:cNvSpPr/>
          <p:nvPr/>
        </p:nvSpPr>
        <p:spPr>
          <a:xfrm>
            <a:off x="2395728" y="3986784"/>
            <a:ext cx="420624" cy="292608"/>
          </a:xfrm>
          <a:prstGeom prst="downArrow">
            <a:avLst/>
          </a:prstGeom>
          <a:solidFill>
            <a:srgbClr val="847C7A"/>
          </a:solidFill>
          <a:ln/>
        </p:spPr>
      </p:sp>
      <p:sp>
        <p:nvSpPr>
          <p:cNvPr id="10" name="Short step 3"/>
          <p:cNvSpPr txBox="1"/>
          <p:nvPr/>
        </p:nvSpPr>
        <p:spPr>
          <a:xfrm>
            <a:off x="548640" y="4306824"/>
            <a:ext cx="4114800" cy="731520"/>
          </a:xfrm>
          <a:prstGeom prst="rect">
            <a:avLst/>
          </a:prstGeom>
          <a:solidFill>
            <a:srgbClr val="0A1C58"/>
          </a:solidFill>
          <a:ln/>
        </p:spPr>
        <p:txBody>
          <a:bodyPr wrap="square" lIns="127000" tIns="25400" rIns="127000" bIns="25400" rtlCol="0" anchor="ctr"/>
          <a:lstStyle/>
          <a:p>
            <a:pPr algn="ctr" indent="0" marL="0">
              <a:buNone/>
            </a:pPr>
            <a:r>
              <a:rPr lang="en-US" sz="1500" b="1" dirty="0">
                <a:solidFill>
                  <a:schemeClr val="bg1"/>
                </a:solidFill>
              </a:rPr>
              <a:t>Sold at market prices, the low cost basis inflates AP margins</a:t>
            </a:r>
            <a:endParaRPr lang="en-US" sz="1500" dirty="0"/>
          </a:p>
        </p:txBody>
      </p:sp>
      <p:sp>
        <p:nvSpPr>
          <p:cNvPr id="11" name="Readings header"/>
          <p:cNvSpPr txBox="1"/>
          <p:nvPr/>
        </p:nvSpPr>
        <p:spPr>
          <a:xfrm>
            <a:off x="5257800" y="1554480"/>
            <a:ext cx="3566160" cy="365760"/>
          </a:xfrm>
          <a:prstGeom prst="rect">
            <a:avLst/>
          </a:prstGeom>
          <a:noFill/>
          <a:ln/>
        </p:spPr>
        <p:txBody>
          <a:bodyPr wrap="square" lIns="0" tIns="0" rIns="0" bIns="0" rtlCol="0" anchor="b"/>
          <a:lstStyle/>
          <a:p>
            <a:pPr algn="ctr" indent="0" marL="0">
              <a:buNone/>
            </a:pPr>
            <a:r>
              <a:rPr lang="en-US" sz="1600" b="1" dirty="0">
                <a:solidFill>
                  <a:srgbClr val="1A1A1A"/>
                </a:solidFill>
              </a:rPr>
              <a:t>Two Readings of the Drop</a:t>
            </a:r>
            <a:endParaRPr lang="en-US" sz="1600" dirty="0"/>
          </a:p>
        </p:txBody>
      </p:sp>
      <p:sp>
        <p:nvSpPr>
          <p:cNvPr id="12" name="Readings header rule"/>
          <p:cNvSpPr/>
          <p:nvPr/>
        </p:nvSpPr>
        <p:spPr>
          <a:xfrm>
            <a:off x="5257800" y="1975104"/>
            <a:ext cx="3566160" cy="0"/>
          </a:xfrm>
          <a:prstGeom prst="line">
            <a:avLst/>
          </a:prstGeom>
          <a:noFill/>
          <a:ln w="12700">
            <a:solidFill>
              <a:srgbClr val="1A1A1A"/>
            </a:solidFill>
            <a:prstDash val="solid"/>
          </a:ln>
        </p:spPr>
      </p:sp>
      <p:sp>
        <p:nvSpPr>
          <p:cNvPr id="13" name="Management reading"/>
          <p:cNvSpPr txBox="1"/>
          <p:nvPr/>
        </p:nvSpPr>
        <p:spPr>
          <a:xfrm>
            <a:off x="5257800" y="2148840"/>
            <a:ext cx="3566160" cy="1325880"/>
          </a:xfrm>
          <a:prstGeom prst="rect">
            <a:avLst/>
          </a:prstGeom>
          <a:solidFill>
            <a:srgbClr val="DCD8D3"/>
          </a:solidFill>
          <a:ln/>
        </p:spPr>
        <p:txBody>
          <a:bodyPr wrap="square" lIns="127000" tIns="50800" rIns="127000" bIns="50800" rtlCol="0" anchor="ctr"/>
          <a:lstStyle/>
          <a:p>
            <a:pPr algn="ctr" indent="0" marL="0">
              <a:spcAft>
                <a:spcPts val="400"/>
              </a:spcAft>
              <a:buNone/>
            </a:pPr>
            <a:r>
              <a:rPr lang="en-US" sz="1500" b="1" dirty="0">
                <a:solidFill>
                  <a:schemeClr val="tx2"/>
                </a:solidFill>
              </a:rPr>
              <a:t>Management</a:t>
            </a:r>
            <a:endParaRPr lang="en-US" sz="1500" dirty="0"/>
          </a:p>
          <a:p>
            <a:pPr algn="ctr" indent="0" marL="0">
              <a:spcAft>
                <a:spcPts val="400"/>
              </a:spcAft>
              <a:buNone/>
            </a:pPr>
            <a:r>
              <a:rPr lang="en-US" sz="1200" dirty="0">
                <a:solidFill>
                  <a:schemeClr val="tx2"/>
                </a:solidFill>
              </a:rPr>
              <a:t>Heavier-scope work, new shops still ramping, and prices held below OEM to win share.</a:t>
            </a:r>
            <a:endParaRPr lang="en-US" sz="1500" dirty="0"/>
          </a:p>
          <a:p>
            <a:pPr algn="ctr" indent="0" marL="0">
              <a:spcAft>
                <a:spcPts val="400"/>
              </a:spcAft>
              <a:buNone/>
            </a:pPr>
            <a:r>
              <a:rPr lang="en-US" sz="1300" b="1" i="1" dirty="0">
                <a:solidFill>
                  <a:schemeClr val="tx2"/>
                </a:solidFill>
              </a:rPr>
              <a:t>→ Temporary: margins recover</a:t>
            </a:r>
            <a:endParaRPr lang="en-US" sz="1500" dirty="0"/>
          </a:p>
        </p:txBody>
      </p:sp>
      <p:sp>
        <p:nvSpPr>
          <p:cNvPr id="14" name="The Bears reading"/>
          <p:cNvSpPr txBox="1"/>
          <p:nvPr/>
        </p:nvSpPr>
        <p:spPr>
          <a:xfrm>
            <a:off x="5257800" y="3721608"/>
            <a:ext cx="3566160" cy="1325880"/>
          </a:xfrm>
          <a:prstGeom prst="rect">
            <a:avLst/>
          </a:prstGeom>
          <a:solidFill>
            <a:srgbClr val="0A1C58"/>
          </a:solidFill>
          <a:ln/>
        </p:spPr>
        <p:txBody>
          <a:bodyPr wrap="square" lIns="127000" tIns="50800" rIns="127000" bIns="50800" rtlCol="0" anchor="ctr"/>
          <a:lstStyle/>
          <a:p>
            <a:pPr algn="ctr" indent="0" marL="0">
              <a:spcAft>
                <a:spcPts val="400"/>
              </a:spcAft>
              <a:buNone/>
            </a:pPr>
            <a:r>
              <a:rPr lang="en-US" sz="1500" b="1" dirty="0">
                <a:solidFill>
                  <a:schemeClr val="bg1"/>
                </a:solidFill>
              </a:rPr>
              <a:t>The Bears</a:t>
            </a:r>
            <a:endParaRPr lang="en-US" sz="1500" dirty="0"/>
          </a:p>
          <a:p>
            <a:pPr algn="ctr" indent="0" marL="0">
              <a:spcAft>
                <a:spcPts val="400"/>
              </a:spcAft>
              <a:buNone/>
            </a:pPr>
            <a:r>
              <a:rPr lang="en-US" sz="1200" dirty="0">
                <a:solidFill>
                  <a:schemeClr val="bg1"/>
                </a:solidFill>
              </a:rPr>
              <a:t>The cheap, depreciated leasing engines that flattered margins are running out.</a:t>
            </a:r>
            <a:endParaRPr lang="en-US" sz="1500" dirty="0"/>
          </a:p>
          <a:p>
            <a:pPr algn="ctr" indent="0" marL="0">
              <a:spcAft>
                <a:spcPts val="400"/>
              </a:spcAft>
              <a:buNone/>
            </a:pPr>
            <a:r>
              <a:rPr lang="en-US" sz="1300" b="1" i="1" dirty="0">
                <a:solidFill>
                  <a:schemeClr val="bg1"/>
                </a:solidFill>
              </a:rPr>
              <a:t>→ Structural: margins keep falling</a:t>
            </a:r>
            <a:endParaRPr lang="en-US" sz="1500" dirty="0"/>
          </a:p>
        </p:txBody>
      </p:sp>
      <p:sp>
        <p:nvSpPr>
          <p:cNvPr id="15" name="Readings vs"/>
          <p:cNvSpPr txBox="1"/>
          <p:nvPr/>
        </p:nvSpPr>
        <p:spPr>
          <a:xfrm>
            <a:off x="6720840" y="3474720"/>
            <a:ext cx="640080" cy="246888"/>
          </a:xfrm>
          <a:prstGeom prst="rect">
            <a:avLst/>
          </a:prstGeom>
          <a:noFill/>
          <a:ln/>
        </p:spPr>
        <p:txBody>
          <a:bodyPr wrap="square" lIns="0" tIns="0" rIns="0" bIns="0" rtlCol="0" anchor="ctr"/>
          <a:lstStyle/>
          <a:p>
            <a:pPr algn="ctr" indent="0" marL="0">
              <a:buNone/>
            </a:pPr>
            <a:r>
              <a:rPr lang="en-US" sz="1400" b="1" i="1" dirty="0">
                <a:solidFill>
                  <a:schemeClr val="accent2"/>
                </a:solidFill>
              </a:rPr>
              <a:t>vs.</a:t>
            </a:r>
            <a:endParaRPr lang="en-US" sz="14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The market reads the margin reset as the short thesis unwinding, and prices FTAI as if it's still over-earning.</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Muddy Waters Research (Jan. 2025), FTAI filings and earnings calls,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(3/3)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The market assigns no value to Power: the stock trades below the core business alone.</a:t>
            </a:r>
            <a:endParaRPr lang="en-US" sz="1700" dirty="0"/>
          </a:p>
        </p:txBody>
      </p:sp>
      <p:sp>
        <p:nvSpPr>
          <p:cNvPr id="4" name="SOTP header"/>
          <p:cNvSpPr txBox="1"/>
          <p:nvPr/>
        </p:nvSpPr>
        <p:spPr>
          <a:xfrm>
            <a:off x="320040" y="1554480"/>
            <a:ext cx="5257800" cy="365760"/>
          </a:xfrm>
          <a:prstGeom prst="rect">
            <a:avLst/>
          </a:prstGeom>
          <a:noFill/>
          <a:ln/>
        </p:spPr>
        <p:txBody>
          <a:bodyPr wrap="square" lIns="0" tIns="0" rIns="0" bIns="0" rtlCol="0" anchor="b"/>
          <a:lstStyle/>
          <a:p>
            <a:pPr algn="ctr" indent="0" marL="0">
              <a:buNone/>
            </a:pPr>
            <a:r>
              <a:rPr lang="en-US" sz="1600" b="1" dirty="0">
                <a:solidFill>
                  <a:srgbClr val="1A1A1A"/>
                </a:solidFill>
              </a:rPr>
              <a:t>FY27E Sum of the Parts ($ / Share)</a:t>
            </a:r>
            <a:endParaRPr lang="en-US" sz="1600" dirty="0"/>
          </a:p>
        </p:txBody>
      </p:sp>
      <p:sp>
        <p:nvSpPr>
          <p:cNvPr id="5" name="SOTP header rule"/>
          <p:cNvSpPr/>
          <p:nvPr/>
        </p:nvSpPr>
        <p:spPr>
          <a:xfrm>
            <a:off x="320040" y="1975104"/>
            <a:ext cx="5257800" cy="0"/>
          </a:xfrm>
          <a:prstGeom prst="line">
            <a:avLst/>
          </a:prstGeom>
          <a:noFill/>
          <a:ln w="12700">
            <a:solidFill>
              <a:srgbClr val="1A1A1A"/>
            </a:solidFill>
            <a:prstDash val="solid"/>
          </a:ln>
        </p:spPr>
      </p:sp>
      <p:graphicFrame>
        <p:nvGraphicFramePr>
          <p:cNvPr id="6" name="SOTP chart" descr=""/>
          <p:cNvGraphicFramePr/>
          <p:nvPr/>
        </p:nvGraphicFramePr>
        <p:xfrm>
          <a:off x="320040" y="2103120"/>
          <a:ext cx="5257800" cy="3200400"/>
        </p:xfrm>
        <a:graphic xmlns:a="http://schemas.openxmlformats.org/drawingml/2006/main">
          <a:graphicData uri="http://schemas.openxmlformats.org/drawingml/2006/chart">
            <c:chart xmlns:c="http://schemas.openxmlformats.org/drawingml/2006/chart" r:id="rId1"/>
          </a:graphicData>
        </a:graphic>
      </p:graphicFrame>
      <p:sp>
        <p:nvSpPr>
          <p:cNvPr id="7" name="Discount callout"/>
          <p:cNvSpPr/>
          <p:nvPr/>
        </p:nvSpPr>
        <p:spPr>
          <a:xfrm>
            <a:off x="548640" y="2148840"/>
            <a:ext cx="1051560" cy="105156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000" b="1" dirty="0">
                <a:solidFill>
                  <a:schemeClr val="bg1"/>
                </a:solidFill>
              </a:rPr>
              <a:t>26%</a:t>
            </a:r>
            <a:endParaRPr lang="en-US" sz="2000" dirty="0"/>
          </a:p>
          <a:p>
            <a:pPr algn="ctr" indent="0" marL="0">
              <a:buNone/>
            </a:pPr>
            <a:r>
              <a:rPr lang="en-US" sz="1100" b="1" dirty="0">
                <a:solidFill>
                  <a:schemeClr val="bg1"/>
                </a:solidFill>
              </a:rPr>
              <a:t>below core</a:t>
            </a:r>
            <a:endParaRPr lang="en-US" sz="2000" dirty="0"/>
          </a:p>
        </p:txBody>
      </p:sp>
      <p:sp>
        <p:nvSpPr>
          <p:cNvPr id="8" name="Power label"/>
          <p:cNvSpPr txBox="1"/>
          <p:nvPr/>
        </p:nvSpPr>
        <p:spPr>
          <a:xfrm>
            <a:off x="2971800" y="2286000"/>
            <a:ext cx="132588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Free call option</a:t>
            </a:r>
            <a:endParaRPr lang="en-US" sz="1200" dirty="0"/>
          </a:p>
        </p:txBody>
      </p:sp>
      <p:sp>
        <p:nvSpPr>
          <p:cNvPr id="9" name="Power stats header"/>
          <p:cNvSpPr txBox="1"/>
          <p:nvPr/>
        </p:nvSpPr>
        <p:spPr>
          <a:xfrm>
            <a:off x="5897880" y="1554480"/>
            <a:ext cx="2926080" cy="365760"/>
          </a:xfrm>
          <a:prstGeom prst="rect">
            <a:avLst/>
          </a:prstGeom>
          <a:noFill/>
          <a:ln/>
        </p:spPr>
        <p:txBody>
          <a:bodyPr wrap="square" lIns="0" tIns="0" rIns="0" bIns="0" rtlCol="0" anchor="b"/>
          <a:lstStyle/>
          <a:p>
            <a:pPr algn="ctr" indent="0" marL="0">
              <a:buNone/>
            </a:pPr>
            <a:r>
              <a:rPr lang="en-US" sz="1600" b="1" dirty="0">
                <a:solidFill>
                  <a:srgbClr val="1A1A1A"/>
                </a:solidFill>
              </a:rPr>
              <a:t>FTAI Power at a Glance</a:t>
            </a:r>
            <a:endParaRPr lang="en-US" sz="1600" dirty="0"/>
          </a:p>
        </p:txBody>
      </p:sp>
      <p:sp>
        <p:nvSpPr>
          <p:cNvPr id="10" name="Power stats header rule"/>
          <p:cNvSpPr/>
          <p:nvPr/>
        </p:nvSpPr>
        <p:spPr>
          <a:xfrm>
            <a:off x="5897880" y="1975104"/>
            <a:ext cx="2926080" cy="0"/>
          </a:xfrm>
          <a:prstGeom prst="line">
            <a:avLst/>
          </a:prstGeom>
          <a:noFill/>
          <a:ln w="12700">
            <a:solidFill>
              <a:srgbClr val="1A1A1A"/>
            </a:solidFill>
            <a:prstDash val="solid"/>
          </a:ln>
        </p:spPr>
      </p:sp>
      <p:sp>
        <p:nvSpPr>
          <p:cNvPr id="11" name="Power stat 1"/>
          <p:cNvSpPr txBox="1"/>
          <p:nvPr/>
        </p:nvSpPr>
        <p:spPr>
          <a:xfrm>
            <a:off x="5897880" y="2148840"/>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$1.465B</a:t>
            </a:r>
            <a:endParaRPr lang="en-US" sz="3000" dirty="0"/>
          </a:p>
        </p:txBody>
      </p:sp>
      <p:sp>
        <p:nvSpPr>
          <p:cNvPr id="12" name="Power stat 1 label"/>
          <p:cNvSpPr txBox="1"/>
          <p:nvPr/>
        </p:nvSpPr>
        <p:spPr>
          <a:xfrm>
            <a:off x="5897880" y="2697480"/>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First hyperscaler order, via the J&amp;F JV</a:t>
            </a:r>
            <a:endParaRPr lang="en-US" sz="1300" dirty="0"/>
          </a:p>
        </p:txBody>
      </p:sp>
      <p:sp>
        <p:nvSpPr>
          <p:cNvPr id="13" name="Power stat 2"/>
          <p:cNvSpPr txBox="1"/>
          <p:nvPr/>
        </p:nvSpPr>
        <p:spPr>
          <a:xfrm>
            <a:off x="5897880" y="3227832"/>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$450–750M</a:t>
            </a:r>
            <a:endParaRPr lang="en-US" sz="3000" dirty="0"/>
          </a:p>
        </p:txBody>
      </p:sp>
      <p:sp>
        <p:nvSpPr>
          <p:cNvPr id="14" name="Power stat 2 label"/>
          <p:cNvSpPr txBox="1"/>
          <p:nvPr/>
        </p:nvSpPr>
        <p:spPr>
          <a:xfrm>
            <a:off x="5897880" y="3776472"/>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FY27 Power EBITDA guide</a:t>
            </a:r>
            <a:endParaRPr lang="en-US" sz="1300" dirty="0"/>
          </a:p>
        </p:txBody>
      </p:sp>
      <p:sp>
        <p:nvSpPr>
          <p:cNvPr id="15" name="Power stat 3"/>
          <p:cNvSpPr txBox="1"/>
          <p:nvPr/>
        </p:nvSpPr>
        <p:spPr>
          <a:xfrm>
            <a:off x="5897880" y="4306824"/>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25 MW</a:t>
            </a:r>
            <a:endParaRPr lang="en-US" sz="3000" dirty="0"/>
          </a:p>
        </p:txBody>
      </p:sp>
      <p:sp>
        <p:nvSpPr>
          <p:cNvPr id="16" name="Power stat 3 label"/>
          <p:cNvSpPr txBox="1"/>
          <p:nvPr/>
        </p:nvSpPr>
        <p:spPr>
          <a:xfrm>
            <a:off x="5897880" y="4855464"/>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Per unit, built from CFM56 cores</a:t>
            </a:r>
            <a:endParaRPr lang="en-US" sz="1300" dirty="0"/>
          </a:p>
        </p:txBody>
      </p:sp>
      <p:sp>
        <p:nvSpPr>
          <p:cNvPr id="1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Even with Power at zero, FTAI is cheap. Power is a free call option on top.</a:t>
            </a:r>
            <a:endParaRPr lang="en-US" sz="1700" dirty="0"/>
          </a:p>
        </p:txBody>
      </p:sp>
      <p:sp>
        <p:nvSpPr>
          <p:cNvPr id="1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SOTP (FY27E EBITDA × segment multiples)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Returns Summary</a:t>
            </a:r>
            <a:endParaRPr lang="en-US" sz="3200" dirty="0"/>
          </a:p>
        </p:txBody>
      </p:sp>
      <p:sp>
        <p:nvSpPr>
          <p:cNvPr id="3" name="Headline banner"/>
          <p:cNvSpPr txBox="1"/>
          <p:nvPr/>
        </p:nvSpPr>
        <p:spPr>
          <a:xfrm>
            <a:off x="320040" y="1024128"/>
            <a:ext cx="8503920" cy="512064"/>
          </a:xfrm>
          <a:prstGeom prst="rect">
            <a:avLst/>
          </a:prstGeom>
          <a:solidFill>
            <a:srgbClr val="0A1C58"/>
          </a:solidFill>
          <a:ln/>
        </p:spPr>
        <p:txBody>
          <a:bodyPr wrap="square" lIns="0" tIns="0" rIns="0" bIns="0" rtlCol="0" anchor="ctr"/>
          <a:lstStyle/>
          <a:p>
            <a:pPr algn="ctr" indent="0" marL="0">
              <a:buNone/>
            </a:pPr>
            <a:r>
              <a:rPr lang="en-US" sz="1700" b="1" dirty="0">
                <a:solidFill>
                  <a:schemeClr val="bg1"/>
                </a:solidFill>
              </a:rPr>
              <a:t>At $167, the market prices the bear case. Our three theses add $110 of upside.</a:t>
            </a:r>
            <a:endParaRPr lang="en-US" sz="1700" dirty="0"/>
          </a:p>
        </p:txBody>
      </p:sp>
      <p:sp>
        <p:nvSpPr>
          <p:cNvPr id="4" name="Sub banner"/>
          <p:cNvSpPr txBox="1"/>
          <p:nvPr/>
        </p:nvSpPr>
        <p:spPr>
          <a:xfrm>
            <a:off x="320040" y="1627632"/>
            <a:ext cx="8503920" cy="384048"/>
          </a:xfrm>
          <a:prstGeom prst="rect">
            <a:avLst/>
          </a:prstGeom>
          <a:solidFill>
            <a:srgbClr val="0A1C58"/>
          </a:solidFill>
          <a:ln/>
        </p:spPr>
        <p:txBody>
          <a:bodyPr wrap="square" lIns="0" tIns="0" rIns="0" bIns="0" rtlCol="0" anchor="ctr"/>
          <a:lstStyle/>
          <a:p>
            <a:pPr algn="ctr" indent="0" marL="0">
              <a:buNone/>
            </a:pPr>
            <a:r>
              <a:rPr lang="en-US" sz="1600" dirty="0">
                <a:solidFill>
                  <a:schemeClr val="bg1"/>
                </a:solidFill>
              </a:rPr>
              <a:t>What Each Thesis Adds to the Target Price</a:t>
            </a:r>
            <a:endParaRPr lang="en-US" sz="1600" dirty="0"/>
          </a:p>
        </p:txBody>
      </p:sp>
      <p:sp>
        <p:nvSpPr>
          <p:cNvPr id="5" name="Thesis 1 box"/>
          <p:cNvSpPr txBox="1"/>
          <p:nvPr/>
        </p:nvSpPr>
        <p:spPr>
          <a:xfrm>
            <a:off x="320040" y="2176272"/>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1a) Margins Have Bottomed</a:t>
            </a:r>
            <a:endParaRPr lang="en-US" sz="1500" dirty="0"/>
          </a:p>
          <a:p>
            <a:pPr algn="ctr" indent="0" marL="0">
              <a:buNone/>
            </a:pPr>
            <a:r>
              <a:rPr lang="en-US" sz="1200" dirty="0">
                <a:solidFill>
                  <a:srgbClr val="1A1A1A"/>
                </a:solidFill>
              </a:rPr>
              <a:t>PMA parts, OEM-linked pricing and technician productivity lift Aerospace margins from ~30% to ~32.5% by FY31.</a:t>
            </a:r>
            <a:endParaRPr lang="en-US" sz="1500" dirty="0"/>
          </a:p>
        </p:txBody>
      </p:sp>
      <p:sp>
        <p:nvSpPr>
          <p:cNvPr id="6" name="Thesis 1 contribution"/>
          <p:cNvSpPr txBox="1"/>
          <p:nvPr/>
        </p:nvSpPr>
        <p:spPr>
          <a:xfrm>
            <a:off x="6583680" y="2176272"/>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+$17</a:t>
            </a:r>
            <a:endParaRPr lang="en-US" sz="1300" dirty="0"/>
          </a:p>
          <a:p>
            <a:pPr algn="ctr" indent="0" marL="0">
              <a:buNone/>
            </a:pPr>
            <a:r>
              <a:rPr lang="en-US" sz="1200" dirty="0">
                <a:solidFill>
                  <a:schemeClr val="accent2"/>
                </a:solidFill>
              </a:rPr>
              <a:t>+10% upside</a:t>
            </a:r>
            <a:endParaRPr lang="en-US" sz="1300" dirty="0"/>
          </a:p>
        </p:txBody>
      </p:sp>
      <p:sp>
        <p:nvSpPr>
          <p:cNvPr id="7" name="Thesis 2 box"/>
          <p:cNvSpPr txBox="1"/>
          <p:nvPr/>
        </p:nvSpPr>
        <p:spPr>
          <a:xfrm>
            <a:off x="320040" y="3145536"/>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1b) Volume Grows With Share</a:t>
            </a:r>
            <a:endParaRPr lang="en-US" sz="1500" dirty="0"/>
          </a:p>
          <a:p>
            <a:pPr algn="ctr" indent="0" marL="0">
              <a:buNone/>
            </a:pPr>
            <a:r>
              <a:rPr lang="en-US" sz="1200" dirty="0">
                <a:solidFill>
                  <a:srgbClr val="1A1A1A"/>
                </a:solidFill>
              </a:rPr>
              <a:t>New capacity, OEMs moving to LEAP and faster turnaround lift FTAI's CFM56 module share from ~12% to 20% by FY30.</a:t>
            </a:r>
            <a:endParaRPr lang="en-US" sz="1500" dirty="0"/>
          </a:p>
        </p:txBody>
      </p:sp>
      <p:sp>
        <p:nvSpPr>
          <p:cNvPr id="8" name="Thesis 2 contribution"/>
          <p:cNvSpPr txBox="1"/>
          <p:nvPr/>
        </p:nvSpPr>
        <p:spPr>
          <a:xfrm>
            <a:off x="6583680" y="3145536"/>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+$33</a:t>
            </a:r>
            <a:endParaRPr lang="en-US" sz="1300" dirty="0"/>
          </a:p>
          <a:p>
            <a:pPr algn="ctr" indent="0" marL="0">
              <a:buNone/>
            </a:pPr>
            <a:r>
              <a:rPr lang="en-US" sz="1200" dirty="0">
                <a:solidFill>
                  <a:schemeClr val="accent2"/>
                </a:solidFill>
              </a:rPr>
              <a:t>+20% upside</a:t>
            </a:r>
            <a:endParaRPr lang="en-US" sz="1300" dirty="0"/>
          </a:p>
        </p:txBody>
      </p:sp>
      <p:sp>
        <p:nvSpPr>
          <p:cNvPr id="9" name="Thesis 3 box"/>
          <p:cNvSpPr txBox="1"/>
          <p:nvPr/>
        </p:nvSpPr>
        <p:spPr>
          <a:xfrm>
            <a:off x="320040" y="4114800"/>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2) Power Is a Call Option</a:t>
            </a:r>
            <a:endParaRPr lang="en-US" sz="1500" dirty="0"/>
          </a:p>
          <a:p>
            <a:pPr algn="ctr" indent="0" marL="0">
              <a:buNone/>
            </a:pPr>
            <a:r>
              <a:rPr lang="en-US" sz="1200" dirty="0">
                <a:solidFill>
                  <a:srgbClr val="1A1A1A"/>
                </a:solidFill>
              </a:rPr>
              <a:t>Mod-1 deliveries ramp from 45 units in FY27 to 110 by FY29 at ~40% EBITDA margins.</a:t>
            </a:r>
            <a:endParaRPr lang="en-US" sz="1500" dirty="0"/>
          </a:p>
        </p:txBody>
      </p:sp>
      <p:sp>
        <p:nvSpPr>
          <p:cNvPr id="10" name="Thesis 3 contribution"/>
          <p:cNvSpPr txBox="1"/>
          <p:nvPr/>
        </p:nvSpPr>
        <p:spPr>
          <a:xfrm>
            <a:off x="6583680" y="4114800"/>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+$55</a:t>
            </a:r>
            <a:endParaRPr lang="en-US" sz="1300" dirty="0"/>
          </a:p>
          <a:p>
            <a:pPr algn="ctr" indent="0" marL="0">
              <a:buNone/>
            </a:pPr>
            <a:r>
              <a:rPr lang="en-US" sz="1200" dirty="0">
                <a:solidFill>
                  <a:schemeClr val="accent2"/>
                </a:solidFill>
              </a:rPr>
              <a:t>+33% upside</a:t>
            </a:r>
            <a:endParaRPr lang="en-US" sz="1300" dirty="0"/>
          </a:p>
        </p:txBody>
      </p:sp>
      <p:sp>
        <p:nvSpPr>
          <p:cNvPr id="11" name="Chevron"/>
          <p:cNvSpPr/>
          <p:nvPr/>
        </p:nvSpPr>
        <p:spPr>
          <a:xfrm>
            <a:off x="6053328" y="2176272"/>
            <a:ext cx="420624" cy="2798064"/>
          </a:xfrm>
          <a:prstGeom prst="chevron">
            <a:avLst/>
          </a:prstGeom>
          <a:solidFill>
            <a:srgbClr val="DCD8D3"/>
          </a:solidFill>
          <a:ln/>
        </p:spPr>
      </p:sp>
      <p:sp>
        <p:nvSpPr>
          <p:cNvPr id="12" name="Baseline note"/>
          <p:cNvSpPr txBox="1"/>
          <p:nvPr/>
        </p:nvSpPr>
        <p:spPr>
          <a:xfrm>
            <a:off x="320040" y="5120640"/>
            <a:ext cx="8503920" cy="274320"/>
          </a:xfrm>
          <a:prstGeom prst="rect">
            <a:avLst/>
          </a:prstGeom>
          <a:noFill/>
          <a:ln/>
        </p:spPr>
        <p:txBody>
          <a:bodyPr wrap="square" lIns="0" tIns="0" rIns="0" bIns="0" rtlCol="0" anchor="ctr"/>
          <a:lstStyle/>
          <a:p>
            <a:pPr algn="ctr" indent="0" marL="0">
              <a:buNone/>
            </a:pPr>
            <a:r>
              <a:rPr lang="en-US" sz="1200" dirty="0">
                <a:solidFill>
                  <a:schemeClr val="accent2"/>
                </a:solidFill>
              </a:rPr>
              <a:t>Bear case (bear margins and share, no Power) is worth $172 on our SOTP, just above today's $167.</a:t>
            </a:r>
            <a:endParaRPr lang="en-US" sz="1200" dirty="0"/>
          </a:p>
        </p:txBody>
      </p:sp>
      <p:sp>
        <p:nvSpPr>
          <p:cNvPr id="13" name="Base case bridge"/>
          <p:cNvSpPr txBox="1"/>
          <p:nvPr/>
        </p:nvSpPr>
        <p:spPr>
          <a:xfrm>
            <a:off x="320040" y="5468112"/>
            <a:ext cx="8503920" cy="512064"/>
          </a:xfrm>
          <a:prstGeom prst="rect">
            <a:avLst/>
          </a:prstGeom>
          <a:solidFill>
            <a:srgbClr val="EFEDEA"/>
          </a:solidFill>
          <a:ln w="15875">
            <a:solidFill>
              <a:srgbClr val="0A1C58"/>
            </a:solidFill>
          </a:ln>
        </p:spPr>
        <p:txBody>
          <a:bodyPr wrap="square" lIns="0" tIns="0" rIns="0" bIns="0" rtlCol="0" anchor="ctr"/>
          <a:lstStyle/>
          <a:p>
            <a:pPr algn="ctr" indent="0" marL="0">
              <a:buNone/>
            </a:pPr>
            <a:r>
              <a:rPr lang="en-US" sz="1300" dirty="0">
                <a:solidFill>
                  <a:srgbClr val="1A1A1A"/>
                </a:solidFill>
              </a:rPr>
              <a:t>$167 today + $5 to bear value + $17 margins + $33 volume + $55 Power = </a:t>
            </a:r>
            <a:pPr algn="ctr" indent="0" marL="0">
              <a:buNone/>
            </a:pPr>
            <a:r>
              <a:rPr lang="en-US" sz="1300" b="1" dirty="0">
                <a:solidFill>
                  <a:srgbClr val="1A1A1A"/>
                </a:solidFill>
              </a:rPr>
              <a:t>$277 SOTP</a:t>
            </a:r>
            <a:pPr algn="ctr" indent="0" marL="0">
              <a:buNone/>
            </a:pPr>
            <a:r>
              <a:rPr lang="en-US" sz="1300" dirty="0">
                <a:solidFill>
                  <a:srgbClr val="1A1A1A"/>
                </a:solidFill>
              </a:rPr>
              <a:t> (+66%)</a:t>
            </a:r>
            <a:endParaRPr lang="en-US" sz="13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base-case FY27E SOTP; thesis drivers switched Bear vs. Base (Power off = 0 units), Shapley average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Business Overview (1/2)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keeps the world's best-selling jet engine flying, and turns old ones into power.</a:t>
            </a:r>
            <a:endParaRPr lang="en-US" sz="1700" dirty="0"/>
          </a:p>
        </p:txBody>
      </p:sp>
      <p:pic>
        <p:nvPicPr>
          <p:cNvPr id="4" name="Aerospace Products illustration" descr="/home/user/SPOT/deck/img/cfm56.png">    </p:cNvPr>
          <p:cNvPicPr>
            <a:picLocks noChangeAspect="1"/>
          </p:cNvPicPr>
          <p:nvPr/>
        </p:nvPicPr>
        <p:blipFill>
          <a:blip r:embed="rId1"/>
          <a:stretch>
            <a:fillRect/>
          </a:stretch>
        </p:blipFill>
        <p:spPr>
          <a:xfrm>
            <a:off x="457200" y="1600200"/>
            <a:ext cx="2377440" cy="1344168"/>
          </a:xfrm>
          <a:prstGeom prst="rect">
            <a:avLst/>
          </a:prstGeom>
        </p:spPr>
      </p:pic>
      <p:sp>
        <p:nvSpPr>
          <p:cNvPr id="5" name="Aerospace Products name"/>
          <p:cNvSpPr txBox="1"/>
          <p:nvPr/>
        </p:nvSpPr>
        <p:spPr>
          <a:xfrm>
            <a:off x="32004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Aerospace Products</a:t>
            </a:r>
            <a:endParaRPr lang="en-US" sz="1800" dirty="0"/>
          </a:p>
        </p:txBody>
      </p:sp>
      <p:sp>
        <p:nvSpPr>
          <p:cNvPr id="6" name="Aerospace Products description"/>
          <p:cNvSpPr txBox="1"/>
          <p:nvPr/>
        </p:nvSpPr>
        <p:spPr>
          <a:xfrm>
            <a:off x="32004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Restores and swaps CFM56 engine modules, so airlines get engines back in days, not months.</a:t>
            </a:r>
            <a:endParaRPr lang="en-US" sz="1300" dirty="0"/>
          </a:p>
        </p:txBody>
      </p:sp>
      <p:sp>
        <p:nvSpPr>
          <p:cNvPr id="7" name="Aerospace Products stat"/>
          <p:cNvSpPr txBox="1"/>
          <p:nvPr/>
        </p:nvSpPr>
        <p:spPr>
          <a:xfrm>
            <a:off x="50292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757 → 1,200</a:t>
            </a:r>
            <a:endParaRPr lang="en-US" sz="2200" dirty="0"/>
          </a:p>
          <a:p>
            <a:pPr algn="ctr" indent="0" marL="0">
              <a:buNone/>
            </a:pPr>
            <a:r>
              <a:rPr lang="en-US" sz="1200" dirty="0">
                <a:solidFill>
                  <a:schemeClr val="accent2"/>
                </a:solidFill>
              </a:rPr>
              <a:t>Modules, 2025 → 2026E</a:t>
            </a:r>
            <a:endParaRPr lang="en-US" sz="2200" dirty="0"/>
          </a:p>
        </p:txBody>
      </p:sp>
      <p:pic>
        <p:nvPicPr>
          <p:cNvPr id="8" name="FTAI Power illustration" descr="/home/user/SPOT/deck/img/power.png">    </p:cNvPr>
          <p:cNvPicPr>
            <a:picLocks noChangeAspect="1"/>
          </p:cNvPicPr>
          <p:nvPr/>
        </p:nvPicPr>
        <p:blipFill>
          <a:blip r:embed="rId2"/>
          <a:stretch>
            <a:fillRect/>
          </a:stretch>
        </p:blipFill>
        <p:spPr>
          <a:xfrm>
            <a:off x="3383280" y="1600200"/>
            <a:ext cx="2377440" cy="1344168"/>
          </a:xfrm>
          <a:prstGeom prst="rect">
            <a:avLst/>
          </a:prstGeom>
        </p:spPr>
      </p:pic>
      <p:sp>
        <p:nvSpPr>
          <p:cNvPr id="9" name="FTAI Power name"/>
          <p:cNvSpPr txBox="1"/>
          <p:nvPr/>
        </p:nvSpPr>
        <p:spPr>
          <a:xfrm>
            <a:off x="324612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FTAI Power</a:t>
            </a:r>
            <a:endParaRPr lang="en-US" sz="1800" dirty="0"/>
          </a:p>
        </p:txBody>
      </p:sp>
      <p:sp>
        <p:nvSpPr>
          <p:cNvPr id="10" name="FTAI Power description"/>
          <p:cNvSpPr txBox="1"/>
          <p:nvPr/>
        </p:nvSpPr>
        <p:spPr>
          <a:xfrm>
            <a:off x="324612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Converts CFM56 cores into 25 MW mobile gas turbines that power data centers.</a:t>
            </a:r>
            <a:endParaRPr lang="en-US" sz="1300" dirty="0"/>
          </a:p>
        </p:txBody>
      </p:sp>
      <p:sp>
        <p:nvSpPr>
          <p:cNvPr id="11" name="FTAI Power stat"/>
          <p:cNvSpPr txBox="1"/>
          <p:nvPr/>
        </p:nvSpPr>
        <p:spPr>
          <a:xfrm>
            <a:off x="342900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$450–750M</a:t>
            </a:r>
            <a:endParaRPr lang="en-US" sz="2200" dirty="0"/>
          </a:p>
          <a:p>
            <a:pPr algn="ctr" indent="0" marL="0">
              <a:buNone/>
            </a:pPr>
            <a:r>
              <a:rPr lang="en-US" sz="1200" dirty="0">
                <a:solidFill>
                  <a:schemeClr val="accent2"/>
                </a:solidFill>
              </a:rPr>
              <a:t>FY27 EBITDA guide</a:t>
            </a:r>
            <a:endParaRPr lang="en-US" sz="2200" dirty="0"/>
          </a:p>
        </p:txBody>
      </p:sp>
      <p:sp>
        <p:nvSpPr>
          <p:cNvPr id="12" name="Column divider 1"/>
          <p:cNvSpPr/>
          <p:nvPr/>
        </p:nvSpPr>
        <p:spPr>
          <a:xfrm>
            <a:off x="3108960" y="1691640"/>
            <a:ext cx="0" cy="3566160"/>
          </a:xfrm>
          <a:prstGeom prst="line">
            <a:avLst/>
          </a:prstGeom>
          <a:noFill/>
          <a:ln w="12700">
            <a:solidFill>
              <a:srgbClr val="DCD8D3"/>
            </a:solidFill>
            <a:prstDash val="solid"/>
          </a:ln>
        </p:spPr>
      </p:sp>
      <p:pic>
        <p:nvPicPr>
          <p:cNvPr id="13" name="Leasing + SCI illustration" descr="/home/user/SPOT/deck/img/aircraft.png">    </p:cNvPr>
          <p:cNvPicPr>
            <a:picLocks noChangeAspect="1"/>
          </p:cNvPicPr>
          <p:nvPr/>
        </p:nvPicPr>
        <p:blipFill>
          <a:blip r:embed="rId3"/>
          <a:stretch>
            <a:fillRect/>
          </a:stretch>
        </p:blipFill>
        <p:spPr>
          <a:xfrm>
            <a:off x="6309360" y="1600200"/>
            <a:ext cx="2377440" cy="1344168"/>
          </a:xfrm>
          <a:prstGeom prst="rect">
            <a:avLst/>
          </a:prstGeom>
        </p:spPr>
      </p:pic>
      <p:sp>
        <p:nvSpPr>
          <p:cNvPr id="14" name="Leasing + SCI name"/>
          <p:cNvSpPr txBox="1"/>
          <p:nvPr/>
        </p:nvSpPr>
        <p:spPr>
          <a:xfrm>
            <a:off x="617220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Leasing + SCI</a:t>
            </a:r>
            <a:endParaRPr lang="en-US" sz="1800" dirty="0"/>
          </a:p>
        </p:txBody>
      </p:sp>
      <p:sp>
        <p:nvSpPr>
          <p:cNvPr id="15" name="Leasing + SCI description"/>
          <p:cNvSpPr txBox="1"/>
          <p:nvPr/>
        </p:nvSpPr>
        <p:spPr>
          <a:xfrm>
            <a:off x="617220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Leases jets and engines. The SCI partnership buys mid-life jets and sends all engine work to FTAI.</a:t>
            </a:r>
            <a:endParaRPr lang="en-US" sz="1300" dirty="0"/>
          </a:p>
        </p:txBody>
      </p:sp>
      <p:sp>
        <p:nvSpPr>
          <p:cNvPr id="16" name="Leasing + SCI stat"/>
          <p:cNvSpPr txBox="1"/>
          <p:nvPr/>
        </p:nvSpPr>
        <p:spPr>
          <a:xfrm>
            <a:off x="635508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316</a:t>
            </a:r>
            <a:endParaRPr lang="en-US" sz="2200" dirty="0"/>
          </a:p>
          <a:p>
            <a:pPr algn="ctr" indent="0" marL="0">
              <a:buNone/>
            </a:pPr>
            <a:r>
              <a:rPr lang="en-US" sz="1200" dirty="0">
                <a:solidFill>
                  <a:schemeClr val="accent2"/>
                </a:solidFill>
              </a:rPr>
              <a:t>SCI aircraft, YE26E</a:t>
            </a:r>
            <a:endParaRPr lang="en-US" sz="2200" dirty="0"/>
          </a:p>
        </p:txBody>
      </p:sp>
      <p:sp>
        <p:nvSpPr>
          <p:cNvPr id="17" name="Column divider 2"/>
          <p:cNvSpPr/>
          <p:nvPr/>
        </p:nvSpPr>
        <p:spPr>
          <a:xfrm>
            <a:off x="6035040" y="1691640"/>
            <a:ext cx="0" cy="3566160"/>
          </a:xfrm>
          <a:prstGeom prst="line">
            <a:avLst/>
          </a:prstGeom>
          <a:noFill/>
          <a:ln w="12700">
            <a:solidFill>
              <a:srgbClr val="DCD8D3"/>
            </a:solidFill>
            <a:prstDash val="solid"/>
          </a:ln>
        </p:spPr>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One engine, three ways to earn: fix it, power with it, and own the planes it flies on.</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 Illustrations are schematic.</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Business Overview (2/2)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swaps worn modules for restored ones from its own pool, so airlines skip the shop queue.</a:t>
            </a:r>
            <a:endParaRPr lang="en-US" sz="1700" dirty="0"/>
          </a:p>
        </p:txBody>
      </p:sp>
      <p:sp>
        <p:nvSpPr>
          <p:cNvPr id="4" name="Loop header"/>
          <p:cNvSpPr txBox="1"/>
          <p:nvPr/>
        </p:nvSpPr>
        <p:spPr>
          <a:xfrm>
            <a:off x="320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How an Exchange Works</a:t>
            </a:r>
            <a:endParaRPr lang="en-US" sz="1600" dirty="0"/>
          </a:p>
        </p:txBody>
      </p:sp>
      <p:sp>
        <p:nvSpPr>
          <p:cNvPr id="5" name="Loop header rule"/>
          <p:cNvSpPr/>
          <p:nvPr/>
        </p:nvSpPr>
        <p:spPr>
          <a:xfrm>
            <a:off x="320040" y="1975104"/>
            <a:ext cx="3931920" cy="0"/>
          </a:xfrm>
          <a:prstGeom prst="line">
            <a:avLst/>
          </a:prstGeom>
          <a:noFill/>
          <a:ln w="12700">
            <a:solidFill>
              <a:srgbClr val="1A1A1A"/>
            </a:solidFill>
            <a:prstDash val="solid"/>
          </a:ln>
        </p:spPr>
      </p:sp>
      <p:sp>
        <p:nvSpPr>
          <p:cNvPr id="6" name="Loop ring"/>
          <p:cNvSpPr/>
          <p:nvPr/>
        </p:nvSpPr>
        <p:spPr>
          <a:xfrm>
            <a:off x="914400" y="2514600"/>
            <a:ext cx="2743200" cy="2231136"/>
          </a:xfrm>
          <a:prstGeom prst="ellipse">
            <a:avLst/>
          </a:prstGeom>
          <a:ln w="38100">
            <a:solidFill>
              <a:srgbClr val="B5AEA9"/>
            </a:solidFill>
            <a:prstDash val="solid"/>
          </a:ln>
        </p:spPr>
      </p:sp>
      <p:sp>
        <p:nvSpPr>
          <p:cNvPr id="7" name="Loop arrow 1"/>
          <p:cNvSpPr/>
          <p:nvPr/>
        </p:nvSpPr>
        <p:spPr>
          <a:xfrm rot="8100000">
            <a:off x="3146140" y="2731614"/>
            <a:ext cx="219456" cy="219456"/>
          </a:xfrm>
          <a:prstGeom prst="triangle">
            <a:avLst/>
          </a:prstGeom>
          <a:solidFill>
            <a:srgbClr val="847C7A"/>
          </a:solidFill>
          <a:ln/>
        </p:spPr>
      </p:sp>
      <p:sp>
        <p:nvSpPr>
          <p:cNvPr id="8" name="Loop arrow 2"/>
          <p:cNvSpPr/>
          <p:nvPr/>
        </p:nvSpPr>
        <p:spPr>
          <a:xfrm rot="13500000">
            <a:off x="3146140" y="4309266"/>
            <a:ext cx="219456" cy="219456"/>
          </a:xfrm>
          <a:prstGeom prst="triangle">
            <a:avLst/>
          </a:prstGeom>
          <a:solidFill>
            <a:srgbClr val="847C7A"/>
          </a:solidFill>
          <a:ln/>
        </p:spPr>
      </p:sp>
      <p:sp>
        <p:nvSpPr>
          <p:cNvPr id="9" name="Loop arrow 3"/>
          <p:cNvSpPr/>
          <p:nvPr/>
        </p:nvSpPr>
        <p:spPr>
          <a:xfrm rot="18900000">
            <a:off x="1206404" y="4309266"/>
            <a:ext cx="219456" cy="219456"/>
          </a:xfrm>
          <a:prstGeom prst="triangle">
            <a:avLst/>
          </a:prstGeom>
          <a:solidFill>
            <a:srgbClr val="847C7A"/>
          </a:solidFill>
          <a:ln/>
        </p:spPr>
      </p:sp>
      <p:sp>
        <p:nvSpPr>
          <p:cNvPr id="10" name="Loop arrow 4"/>
          <p:cNvSpPr/>
          <p:nvPr/>
        </p:nvSpPr>
        <p:spPr>
          <a:xfrm rot="2700000">
            <a:off x="1206404" y="2731614"/>
            <a:ext cx="219456" cy="219456"/>
          </a:xfrm>
          <a:prstGeom prst="triangle">
            <a:avLst/>
          </a:prstGeom>
          <a:solidFill>
            <a:srgbClr val="847C7A"/>
          </a:solidFill>
          <a:ln/>
        </p:spPr>
      </p:sp>
      <p:sp>
        <p:nvSpPr>
          <p:cNvPr id="11" name="Module pool"/>
          <p:cNvSpPr/>
          <p:nvPr/>
        </p:nvSpPr>
        <p:spPr>
          <a:xfrm>
            <a:off x="1783080" y="3127248"/>
            <a:ext cx="1005840" cy="100584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300" b="1" dirty="0">
                <a:solidFill>
                  <a:schemeClr val="bg1"/>
                </a:solidFill>
              </a:rPr>
              <a:t>Module</a:t>
            </a:r>
            <a:endParaRPr lang="en-US" sz="1300" dirty="0"/>
          </a:p>
          <a:p>
            <a:pPr algn="ctr" indent="0" marL="0">
              <a:buNone/>
            </a:pPr>
            <a:r>
              <a:rPr lang="en-US" sz="1300" b="1" dirty="0">
                <a:solidFill>
                  <a:schemeClr val="bg1"/>
                </a:solidFill>
              </a:rPr>
              <a:t>pool</a:t>
            </a:r>
            <a:endParaRPr lang="en-US" sz="1300" dirty="0"/>
          </a:p>
        </p:txBody>
      </p:sp>
      <p:sp>
        <p:nvSpPr>
          <p:cNvPr id="12" name="Loop step 1"/>
          <p:cNvSpPr txBox="1"/>
          <p:nvPr/>
        </p:nvSpPr>
        <p:spPr>
          <a:xfrm>
            <a:off x="1682496" y="2148840"/>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Engine needs a shop visit</a:t>
            </a:r>
            <a:endParaRPr lang="en-US" sz="1200" dirty="0"/>
          </a:p>
        </p:txBody>
      </p:sp>
      <p:sp>
        <p:nvSpPr>
          <p:cNvPr id="13" name="Loop step 1 number"/>
          <p:cNvSpPr/>
          <p:nvPr/>
        </p:nvSpPr>
        <p:spPr>
          <a:xfrm>
            <a:off x="1499616" y="1965960"/>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4" name="Loop step 2"/>
          <p:cNvSpPr txBox="1"/>
          <p:nvPr/>
        </p:nvSpPr>
        <p:spPr>
          <a:xfrm>
            <a:off x="3054096" y="3264408"/>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FTAI swaps in a restored module</a:t>
            </a:r>
            <a:endParaRPr lang="en-US" sz="1200" dirty="0"/>
          </a:p>
        </p:txBody>
      </p:sp>
      <p:sp>
        <p:nvSpPr>
          <p:cNvPr id="15" name="Loop step 2 number"/>
          <p:cNvSpPr/>
          <p:nvPr/>
        </p:nvSpPr>
        <p:spPr>
          <a:xfrm>
            <a:off x="2871216" y="3081528"/>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6" name="Loop step 3"/>
          <p:cNvSpPr txBox="1"/>
          <p:nvPr/>
        </p:nvSpPr>
        <p:spPr>
          <a:xfrm>
            <a:off x="1682496" y="4379976"/>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Engine back in service in days</a:t>
            </a:r>
            <a:endParaRPr lang="en-US" sz="1200" dirty="0"/>
          </a:p>
        </p:txBody>
      </p:sp>
      <p:sp>
        <p:nvSpPr>
          <p:cNvPr id="17" name="Loop step 3 number"/>
          <p:cNvSpPr/>
          <p:nvPr/>
        </p:nvSpPr>
        <p:spPr>
          <a:xfrm>
            <a:off x="1499616" y="4197096"/>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8" name="Loop step 4"/>
          <p:cNvSpPr txBox="1"/>
          <p:nvPr/>
        </p:nvSpPr>
        <p:spPr>
          <a:xfrm>
            <a:off x="310896" y="3264408"/>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Worn module restored for the pool</a:t>
            </a:r>
            <a:endParaRPr lang="en-US" sz="1200" dirty="0"/>
          </a:p>
        </p:txBody>
      </p:sp>
      <p:sp>
        <p:nvSpPr>
          <p:cNvPr id="19" name="Loop step 4 number"/>
          <p:cNvSpPr/>
          <p:nvPr/>
        </p:nvSpPr>
        <p:spPr>
          <a:xfrm>
            <a:off x="128016" y="3081528"/>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0" name="Factory header"/>
          <p:cNvSpPr txBox="1"/>
          <p:nvPr/>
        </p:nvSpPr>
        <p:spPr>
          <a:xfrm>
            <a:off x="4526280" y="1554480"/>
            <a:ext cx="4297680" cy="365760"/>
          </a:xfrm>
          <a:prstGeom prst="rect">
            <a:avLst/>
          </a:prstGeom>
          <a:noFill/>
          <a:ln/>
        </p:spPr>
        <p:txBody>
          <a:bodyPr wrap="square" lIns="0" tIns="0" rIns="0" bIns="0" rtlCol="0" anchor="b"/>
          <a:lstStyle/>
          <a:p>
            <a:pPr algn="ctr" indent="0" marL="0">
              <a:buNone/>
            </a:pPr>
            <a:r>
              <a:rPr lang="en-US" sz="1600" b="1" dirty="0">
                <a:solidFill>
                  <a:srgbClr val="1A1A1A"/>
                </a:solidFill>
              </a:rPr>
              <a:t>Why It Pays: The Module Factory</a:t>
            </a:r>
            <a:endParaRPr lang="en-US" sz="1600" dirty="0"/>
          </a:p>
        </p:txBody>
      </p:sp>
      <p:sp>
        <p:nvSpPr>
          <p:cNvPr id="21" name="Factory header rule"/>
          <p:cNvSpPr/>
          <p:nvPr/>
        </p:nvSpPr>
        <p:spPr>
          <a:xfrm>
            <a:off x="4526280" y="1975104"/>
            <a:ext cx="4297680" cy="0"/>
          </a:xfrm>
          <a:prstGeom prst="line">
            <a:avLst/>
          </a:prstGeom>
          <a:noFill/>
          <a:ln w="12700">
            <a:solidFill>
              <a:srgbClr val="1A1A1A"/>
            </a:solidFill>
            <a:prstDash val="solid"/>
          </a:ln>
        </p:spPr>
      </p:sp>
      <p:sp>
        <p:nvSpPr>
          <p:cNvPr id="22" name="Before label"/>
          <p:cNvSpPr txBox="1"/>
          <p:nvPr/>
        </p:nvSpPr>
        <p:spPr>
          <a:xfrm>
            <a:off x="4526280" y="2011680"/>
            <a:ext cx="1901952" cy="274320"/>
          </a:xfrm>
          <a:prstGeom prst="rect">
            <a:avLst/>
          </a:prstGeom>
          <a:noFill/>
          <a:ln/>
        </p:spPr>
        <p:txBody>
          <a:bodyPr wrap="square" lIns="0" tIns="0" rIns="0" bIns="0" rtlCol="0" anchor="ctr"/>
          <a:lstStyle/>
          <a:p>
            <a:pPr algn="ctr" indent="0" marL="0">
              <a:buNone/>
            </a:pPr>
            <a:r>
              <a:rPr lang="en-US" sz="1300" b="1" i="1" dirty="0">
                <a:solidFill>
                  <a:schemeClr val="accent2"/>
                </a:solidFill>
              </a:rPr>
              <a:t>3 worn engines in</a:t>
            </a:r>
            <a:endParaRPr lang="en-US" sz="1300" dirty="0"/>
          </a:p>
        </p:txBody>
      </p:sp>
      <p:sp>
        <p:nvSpPr>
          <p:cNvPr id="23" name="Before engine 1 value"/>
          <p:cNvSpPr txBox="1"/>
          <p:nvPr/>
        </p:nvSpPr>
        <p:spPr>
          <a:xfrm>
            <a:off x="4526280" y="2395728"/>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$2.0M</a:t>
            </a:r>
            <a:endParaRPr lang="en-US" sz="1400" dirty="0"/>
          </a:p>
        </p:txBody>
      </p:sp>
      <p:sp>
        <p:nvSpPr>
          <p:cNvPr id="24" name="Before engine 1 module 1"/>
          <p:cNvSpPr/>
          <p:nvPr/>
        </p:nvSpPr>
        <p:spPr>
          <a:xfrm>
            <a:off x="5221224"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25" name="Before engine 1 module 2"/>
          <p:cNvSpPr/>
          <p:nvPr/>
        </p:nvSpPr>
        <p:spPr>
          <a:xfrm>
            <a:off x="5641848" y="2395728"/>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26" name="Before engine 1 module 3"/>
          <p:cNvSpPr/>
          <p:nvPr/>
        </p:nvSpPr>
        <p:spPr>
          <a:xfrm>
            <a:off x="6062472" y="2395728"/>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27" name="Before engine 2 value"/>
          <p:cNvSpPr txBox="1"/>
          <p:nvPr/>
        </p:nvSpPr>
        <p:spPr>
          <a:xfrm>
            <a:off x="4526280" y="3108960"/>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$2.5M</a:t>
            </a:r>
            <a:endParaRPr lang="en-US" sz="1400" dirty="0"/>
          </a:p>
        </p:txBody>
      </p:sp>
      <p:sp>
        <p:nvSpPr>
          <p:cNvPr id="28" name="Before engine 2 module 1"/>
          <p:cNvSpPr/>
          <p:nvPr/>
        </p:nvSpPr>
        <p:spPr>
          <a:xfrm>
            <a:off x="5221224"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29" name="Before engine 2 module 2"/>
          <p:cNvSpPr/>
          <p:nvPr/>
        </p:nvSpPr>
        <p:spPr>
          <a:xfrm>
            <a:off x="5641848" y="3108960"/>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30" name="Before engine 2 module 3"/>
          <p:cNvSpPr/>
          <p:nvPr/>
        </p:nvSpPr>
        <p:spPr>
          <a:xfrm>
            <a:off x="6062472" y="3108960"/>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31" name="Before engine 3 value"/>
          <p:cNvSpPr txBox="1"/>
          <p:nvPr/>
        </p:nvSpPr>
        <p:spPr>
          <a:xfrm>
            <a:off x="4526280" y="3822192"/>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$2.0M</a:t>
            </a:r>
            <a:endParaRPr lang="en-US" sz="1400" dirty="0"/>
          </a:p>
        </p:txBody>
      </p:sp>
      <p:sp>
        <p:nvSpPr>
          <p:cNvPr id="32" name="Before engine 3 module 1"/>
          <p:cNvSpPr/>
          <p:nvPr/>
        </p:nvSpPr>
        <p:spPr>
          <a:xfrm>
            <a:off x="5221224"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33" name="Before engine 3 module 2"/>
          <p:cNvSpPr/>
          <p:nvPr/>
        </p:nvSpPr>
        <p:spPr>
          <a:xfrm>
            <a:off x="5641848" y="3822192"/>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34" name="Before engine 3 module 3"/>
          <p:cNvSpPr/>
          <p:nvPr/>
        </p:nvSpPr>
        <p:spPr>
          <a:xfrm>
            <a:off x="6062472" y="3822192"/>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35" name="Before Fan caption"/>
          <p:cNvSpPr txBox="1"/>
          <p:nvPr/>
        </p:nvSpPr>
        <p:spPr>
          <a:xfrm>
            <a:off x="5175504"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Fan</a:t>
            </a:r>
            <a:endParaRPr lang="en-US" sz="1000" dirty="0"/>
          </a:p>
        </p:txBody>
      </p:sp>
      <p:sp>
        <p:nvSpPr>
          <p:cNvPr id="36" name="Before Core caption"/>
          <p:cNvSpPr txBox="1"/>
          <p:nvPr/>
        </p:nvSpPr>
        <p:spPr>
          <a:xfrm>
            <a:off x="5596128"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Core</a:t>
            </a:r>
            <a:endParaRPr lang="en-US" sz="1000" dirty="0"/>
          </a:p>
        </p:txBody>
      </p:sp>
      <p:sp>
        <p:nvSpPr>
          <p:cNvPr id="37" name="Before LPT caption"/>
          <p:cNvSpPr txBox="1"/>
          <p:nvPr/>
        </p:nvSpPr>
        <p:spPr>
          <a:xfrm>
            <a:off x="6016752"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LPT</a:t>
            </a:r>
            <a:endParaRPr lang="en-US" sz="1000" dirty="0"/>
          </a:p>
        </p:txBody>
      </p:sp>
      <p:sp>
        <p:nvSpPr>
          <p:cNvPr id="38" name="After label"/>
          <p:cNvSpPr txBox="1"/>
          <p:nvPr/>
        </p:nvSpPr>
        <p:spPr>
          <a:xfrm>
            <a:off x="6922008" y="2011680"/>
            <a:ext cx="1901952" cy="274320"/>
          </a:xfrm>
          <a:prstGeom prst="rect">
            <a:avLst/>
          </a:prstGeom>
          <a:noFill/>
          <a:ln/>
        </p:spPr>
        <p:txBody>
          <a:bodyPr wrap="square" lIns="0" tIns="0" rIns="0" bIns="0" rtlCol="0" anchor="ctr"/>
          <a:lstStyle/>
          <a:p>
            <a:pPr algn="ctr" indent="0" marL="0">
              <a:buNone/>
            </a:pPr>
            <a:r>
              <a:rPr lang="en-US" sz="1300" b="1" i="1" dirty="0">
                <a:solidFill>
                  <a:schemeClr val="accent2"/>
                </a:solidFill>
              </a:rPr>
              <a:t>Engines out</a:t>
            </a:r>
            <a:endParaRPr lang="en-US" sz="1300" dirty="0"/>
          </a:p>
        </p:txBody>
      </p:sp>
      <p:sp>
        <p:nvSpPr>
          <p:cNvPr id="39" name="After engine 1 value"/>
          <p:cNvSpPr txBox="1"/>
          <p:nvPr/>
        </p:nvSpPr>
        <p:spPr>
          <a:xfrm>
            <a:off x="6922008" y="2395728"/>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$8.5M</a:t>
            </a:r>
            <a:endParaRPr lang="en-US" sz="1400" dirty="0"/>
          </a:p>
        </p:txBody>
      </p:sp>
      <p:sp>
        <p:nvSpPr>
          <p:cNvPr id="40" name="After engine 1 module 1"/>
          <p:cNvSpPr/>
          <p:nvPr/>
        </p:nvSpPr>
        <p:spPr>
          <a:xfrm>
            <a:off x="7616952"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1" name="After engine 1 module 2"/>
          <p:cNvSpPr/>
          <p:nvPr/>
        </p:nvSpPr>
        <p:spPr>
          <a:xfrm>
            <a:off x="8037576"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2" name="After engine 1 module 3"/>
          <p:cNvSpPr/>
          <p:nvPr/>
        </p:nvSpPr>
        <p:spPr>
          <a:xfrm>
            <a:off x="8458200"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3" name="After engine 2 value"/>
          <p:cNvSpPr txBox="1"/>
          <p:nvPr/>
        </p:nvSpPr>
        <p:spPr>
          <a:xfrm>
            <a:off x="6922008" y="3108960"/>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$6.0M</a:t>
            </a:r>
            <a:endParaRPr lang="en-US" sz="1400" dirty="0"/>
          </a:p>
        </p:txBody>
      </p:sp>
      <p:sp>
        <p:nvSpPr>
          <p:cNvPr id="44" name="After engine 2 module 1"/>
          <p:cNvSpPr/>
          <p:nvPr/>
        </p:nvSpPr>
        <p:spPr>
          <a:xfrm>
            <a:off x="7616952"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5" name="After engine 2 module 2"/>
          <p:cNvSpPr/>
          <p:nvPr/>
        </p:nvSpPr>
        <p:spPr>
          <a:xfrm>
            <a:off x="8037576"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6" name="After engine 2 module 3"/>
          <p:cNvSpPr/>
          <p:nvPr/>
        </p:nvSpPr>
        <p:spPr>
          <a:xfrm>
            <a:off x="8458200"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7" name="After engine 3 value"/>
          <p:cNvSpPr txBox="1"/>
          <p:nvPr/>
        </p:nvSpPr>
        <p:spPr>
          <a:xfrm>
            <a:off x="6922008" y="3822192"/>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$1.5M</a:t>
            </a:r>
            <a:endParaRPr lang="en-US" sz="1400" dirty="0"/>
          </a:p>
        </p:txBody>
      </p:sp>
      <p:sp>
        <p:nvSpPr>
          <p:cNvPr id="48" name="After engine 3 module 1"/>
          <p:cNvSpPr/>
          <p:nvPr/>
        </p:nvSpPr>
        <p:spPr>
          <a:xfrm>
            <a:off x="7616952"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49" name="After engine 3 module 2"/>
          <p:cNvSpPr/>
          <p:nvPr/>
        </p:nvSpPr>
        <p:spPr>
          <a:xfrm>
            <a:off x="8037576"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50" name="After engine 3 module 3"/>
          <p:cNvSpPr/>
          <p:nvPr/>
        </p:nvSpPr>
        <p:spPr>
          <a:xfrm>
            <a:off x="8458200"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51" name="After Fan caption"/>
          <p:cNvSpPr txBox="1"/>
          <p:nvPr/>
        </p:nvSpPr>
        <p:spPr>
          <a:xfrm>
            <a:off x="7571232"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Fan</a:t>
            </a:r>
            <a:endParaRPr lang="en-US" sz="1000" dirty="0"/>
          </a:p>
        </p:txBody>
      </p:sp>
      <p:sp>
        <p:nvSpPr>
          <p:cNvPr id="52" name="After Core caption"/>
          <p:cNvSpPr txBox="1"/>
          <p:nvPr/>
        </p:nvSpPr>
        <p:spPr>
          <a:xfrm>
            <a:off x="7991856"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Core</a:t>
            </a:r>
            <a:endParaRPr lang="en-US" sz="1000" dirty="0"/>
          </a:p>
        </p:txBody>
      </p:sp>
      <p:sp>
        <p:nvSpPr>
          <p:cNvPr id="53" name="After LPT caption"/>
          <p:cNvSpPr txBox="1"/>
          <p:nvPr/>
        </p:nvSpPr>
        <p:spPr>
          <a:xfrm>
            <a:off x="8412480"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LPT</a:t>
            </a:r>
            <a:endParaRPr lang="en-US" sz="1000" dirty="0"/>
          </a:p>
        </p:txBody>
      </p:sp>
      <p:sp>
        <p:nvSpPr>
          <p:cNvPr id="54" name="Factory arrow"/>
          <p:cNvSpPr/>
          <p:nvPr/>
        </p:nvSpPr>
        <p:spPr>
          <a:xfrm>
            <a:off x="6492240" y="3108960"/>
            <a:ext cx="365760" cy="329184"/>
          </a:xfrm>
          <a:prstGeom prst="rightArrow">
            <a:avLst/>
          </a:prstGeom>
          <a:solidFill>
            <a:srgbClr val="847C7A"/>
          </a:solidFill>
          <a:ln/>
        </p:spPr>
      </p:sp>
      <p:sp>
        <p:nvSpPr>
          <p:cNvPr id="55" name="Before total"/>
          <p:cNvSpPr txBox="1"/>
          <p:nvPr/>
        </p:nvSpPr>
        <p:spPr>
          <a:xfrm>
            <a:off x="4526280" y="4645152"/>
            <a:ext cx="1901952" cy="658368"/>
          </a:xfrm>
          <a:prstGeom prst="rect">
            <a:avLst/>
          </a:prstGeom>
          <a:solidFill>
            <a:srgbClr val="DCD8D3"/>
          </a:solidFill>
          <a:ln/>
        </p:spPr>
        <p:txBody>
          <a:bodyPr wrap="square" lIns="0" tIns="0" rIns="0" bIns="0" rtlCol="0" anchor="ctr"/>
          <a:lstStyle/>
          <a:p>
            <a:pPr algn="ctr" indent="0" marL="0">
              <a:buNone/>
            </a:pPr>
            <a:r>
              <a:rPr lang="en-US" sz="1800" b="1" dirty="0">
                <a:solidFill>
                  <a:schemeClr val="tx2"/>
                </a:solidFill>
              </a:rPr>
              <a:t>$6.5M</a:t>
            </a:r>
            <a:endParaRPr lang="en-US" sz="1800" dirty="0"/>
          </a:p>
          <a:p>
            <a:pPr algn="ctr" indent="0" marL="0">
              <a:buNone/>
            </a:pPr>
            <a:r>
              <a:rPr lang="en-US" sz="1100" dirty="0">
                <a:solidFill>
                  <a:schemeClr val="tx2"/>
                </a:solidFill>
              </a:rPr>
              <a:t>engines + $3.5M of work</a:t>
            </a:r>
            <a:endParaRPr lang="en-US" sz="1800" dirty="0"/>
          </a:p>
        </p:txBody>
      </p:sp>
      <p:sp>
        <p:nvSpPr>
          <p:cNvPr id="56" name="After total"/>
          <p:cNvSpPr txBox="1"/>
          <p:nvPr/>
        </p:nvSpPr>
        <p:spPr>
          <a:xfrm>
            <a:off x="6922008" y="4645152"/>
            <a:ext cx="1901952" cy="658368"/>
          </a:xfrm>
          <a:prstGeom prst="rect">
            <a:avLst/>
          </a:prstGeom>
          <a:solidFill>
            <a:srgbClr val="0A1C58"/>
          </a:solidFill>
          <a:ln/>
        </p:spPr>
        <p:txBody>
          <a:bodyPr wrap="square" lIns="0" tIns="0" rIns="0" bIns="0" rtlCol="0" anchor="ctr"/>
          <a:lstStyle/>
          <a:p>
            <a:pPr algn="ctr" indent="0" marL="0">
              <a:buNone/>
            </a:pPr>
            <a:r>
              <a:rPr lang="en-US" sz="1800" b="1" dirty="0">
                <a:solidFill>
                  <a:schemeClr val="bg1"/>
                </a:solidFill>
              </a:rPr>
              <a:t>$16.0M</a:t>
            </a:r>
            <a:endParaRPr lang="en-US" sz="1800" dirty="0"/>
          </a:p>
          <a:p>
            <a:pPr algn="ctr" indent="0" marL="0">
              <a:buNone/>
            </a:pPr>
            <a:r>
              <a:rPr lang="en-US" sz="1100" dirty="0">
                <a:solidFill>
                  <a:schemeClr val="bg1"/>
                </a:solidFill>
              </a:rPr>
              <a:t>+$6.0M of value created</a:t>
            </a:r>
            <a:endParaRPr lang="en-US" sz="1800" dirty="0"/>
          </a:p>
        </p:txBody>
      </p:sp>
      <p:sp>
        <p:nvSpPr>
          <p:cNvPr id="5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FTAI sells speed to airlines and harvests cycles from engines no one else can use.</a:t>
            </a:r>
            <a:endParaRPr lang="en-US" sz="1700" dirty="0"/>
          </a:p>
        </p:txBody>
      </p:sp>
      <p:sp>
        <p:nvSpPr>
          <p:cNvPr id="5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investor materials (Module Factory example),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(1/4)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Even if the bears are right, too little cheap inventory is left to push margins lower.</a:t>
            </a:r>
            <a:endParaRPr lang="en-US" sz="1700" dirty="0"/>
          </a:p>
        </p:txBody>
      </p:sp>
      <p:sp>
        <p:nvSpPr>
          <p:cNvPr id="4" name="Donut header"/>
          <p:cNvSpPr txBox="1"/>
          <p:nvPr/>
        </p:nvSpPr>
        <p:spPr>
          <a:xfrm>
            <a:off x="320040" y="1554480"/>
            <a:ext cx="3566160" cy="365760"/>
          </a:xfrm>
          <a:prstGeom prst="rect">
            <a:avLst/>
          </a:prstGeom>
          <a:noFill/>
          <a:ln/>
        </p:spPr>
        <p:txBody>
          <a:bodyPr wrap="square" lIns="0" tIns="0" rIns="0" bIns="0" rtlCol="0" anchor="b"/>
          <a:lstStyle/>
          <a:p>
            <a:pPr algn="ctr" indent="0" marL="0">
              <a:buNone/>
            </a:pPr>
            <a:r>
              <a:rPr lang="en-US" sz="1600" b="1" dirty="0">
                <a:solidFill>
                  <a:srgbClr val="1A1A1A"/>
                </a:solidFill>
              </a:rPr>
              <a:t>Cheap Stock Left in AP</a:t>
            </a:r>
            <a:endParaRPr lang="en-US" sz="1600" dirty="0"/>
          </a:p>
        </p:txBody>
      </p:sp>
      <p:sp>
        <p:nvSpPr>
          <p:cNvPr id="5" name="Donut header rule"/>
          <p:cNvSpPr/>
          <p:nvPr/>
        </p:nvSpPr>
        <p:spPr>
          <a:xfrm>
            <a:off x="320040" y="1975104"/>
            <a:ext cx="3566160" cy="0"/>
          </a:xfrm>
          <a:prstGeom prst="line">
            <a:avLst/>
          </a:prstGeom>
          <a:noFill/>
          <a:ln w="12700">
            <a:solidFill>
              <a:srgbClr val="1A1A1A"/>
            </a:solidFill>
            <a:prstDash val="solid"/>
          </a:ln>
        </p:spPr>
      </p:sp>
      <p:graphicFrame>
        <p:nvGraphicFramePr>
          <p:cNvPr id="6" name="Inventory donut" descr=""/>
          <p:cNvGraphicFramePr/>
          <p:nvPr/>
        </p:nvGraphicFramePr>
        <p:xfrm>
          <a:off x="548640" y="2103120"/>
          <a:ext cx="3108960" cy="2834640"/>
        </p:xfrm>
        <a:graphic xmlns:a="http://schemas.openxmlformats.org/drawingml/2006/main">
          <a:graphicData uri="http://schemas.openxmlformats.org/drawingml/2006/chart">
            <c:chart xmlns:c="http://schemas.openxmlformats.org/drawingml/2006/chart" r:id="rId1"/>
          </a:graphicData>
        </a:graphic>
      </p:graphicFrame>
      <p:sp>
        <p:nvSpPr>
          <p:cNvPr id="7" name="Donut center"/>
          <p:cNvSpPr txBox="1"/>
          <p:nvPr/>
        </p:nvSpPr>
        <p:spPr>
          <a:xfrm>
            <a:off x="1188720" y="3063240"/>
            <a:ext cx="1828800" cy="914400"/>
          </a:xfrm>
          <a:prstGeom prst="rect">
            <a:avLst/>
          </a:prstGeom>
          <a:noFill/>
          <a:ln/>
        </p:spPr>
        <p:txBody>
          <a:bodyPr wrap="square" lIns="0" tIns="0" rIns="0" bIns="0" rtlCol="0" anchor="ctr"/>
          <a:lstStyle/>
          <a:p>
            <a:pPr algn="ctr" indent="0" marL="0">
              <a:buNone/>
            </a:pPr>
            <a:r>
              <a:rPr lang="en-US" sz="3400" b="1" dirty="0">
                <a:solidFill>
                  <a:schemeClr val="tx2"/>
                </a:solidFill>
              </a:rPr>
              <a:t>&lt;8%</a:t>
            </a:r>
            <a:endParaRPr lang="en-US" sz="3400" dirty="0"/>
          </a:p>
          <a:p>
            <a:pPr algn="ctr" indent="0" marL="0">
              <a:buNone/>
            </a:pPr>
            <a:r>
              <a:rPr lang="en-US" sz="1300" dirty="0">
                <a:solidFill>
                  <a:schemeClr val="accent2"/>
                </a:solidFill>
              </a:rPr>
              <a:t>left to unwind</a:t>
            </a:r>
            <a:endParaRPr lang="en-US" sz="3400" dirty="0"/>
          </a:p>
        </p:txBody>
      </p:sp>
      <p:sp>
        <p:nvSpPr>
          <p:cNvPr id="8" name="Margin path header"/>
          <p:cNvSpPr txBox="1"/>
          <p:nvPr/>
        </p:nvSpPr>
        <p:spPr>
          <a:xfrm>
            <a:off x="4160520" y="1554480"/>
            <a:ext cx="4663440" cy="365760"/>
          </a:xfrm>
          <a:prstGeom prst="rect">
            <a:avLst/>
          </a:prstGeom>
          <a:noFill/>
          <a:ln/>
        </p:spPr>
        <p:txBody>
          <a:bodyPr wrap="square" lIns="0" tIns="0" rIns="0" bIns="0" rtlCol="0" anchor="b"/>
          <a:lstStyle/>
          <a:p>
            <a:pPr algn="ctr" indent="0" marL="0">
              <a:buNone/>
            </a:pPr>
            <a:r>
              <a:rPr lang="en-US" sz="1600" b="1" dirty="0">
                <a:solidFill>
                  <a:srgbClr val="1A1A1A"/>
                </a:solidFill>
              </a:rPr>
              <a:t>Margin: Trough, Then Rebuild</a:t>
            </a:r>
            <a:endParaRPr lang="en-US" sz="1600" dirty="0"/>
          </a:p>
        </p:txBody>
      </p:sp>
      <p:sp>
        <p:nvSpPr>
          <p:cNvPr id="9" name="Margin path header rule"/>
          <p:cNvSpPr/>
          <p:nvPr/>
        </p:nvSpPr>
        <p:spPr>
          <a:xfrm>
            <a:off x="4160520" y="1975104"/>
            <a:ext cx="4663440" cy="0"/>
          </a:xfrm>
          <a:prstGeom prst="line">
            <a:avLst/>
          </a:prstGeom>
          <a:noFill/>
          <a:ln w="12700">
            <a:solidFill>
              <a:srgbClr val="1A1A1A"/>
            </a:solidFill>
            <a:prstDash val="solid"/>
          </a:ln>
        </p:spPr>
      </p:sp>
      <p:graphicFrame>
        <p:nvGraphicFramePr>
          <p:cNvPr id="10" name="Margin path chart" descr=""/>
          <p:cNvGraphicFramePr/>
          <p:nvPr/>
        </p:nvGraphicFramePr>
        <p:xfrm>
          <a:off x="4160520" y="2103120"/>
          <a:ext cx="4663440" cy="3200400"/>
        </p:xfrm>
        <a:graphic xmlns:a="http://schemas.openxmlformats.org/drawingml/2006/main">
          <a:graphicData uri="http://schemas.openxmlformats.org/drawingml/2006/chart">
            <c:chart xmlns:c="http://schemas.openxmlformats.org/drawingml/2006/chart" r:id="rId2"/>
          </a:graphicData>
        </a:graphic>
      </p:graphicFrame>
      <p:sp>
        <p:nvSpPr>
          <p:cNvPr id="11" name="Model label"/>
          <p:cNvSpPr txBox="1"/>
          <p:nvPr/>
        </p:nvSpPr>
        <p:spPr>
          <a:xfrm>
            <a:off x="6766560" y="2103120"/>
            <a:ext cx="146304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Our model</a:t>
            </a:r>
            <a:endParaRPr lang="en-US" sz="1200" dirty="0"/>
          </a:p>
        </p:txBody>
      </p:sp>
      <p:sp>
        <p:nvSpPr>
          <p:cNvPr id="12"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With little cheap stock left, ~30% is the floor, and margins rebuild from here.</a:t>
            </a:r>
            <a:endParaRPr lang="en-US" sz="1700" dirty="0"/>
          </a:p>
        </p:txBody>
      </p:sp>
      <p:sp>
        <p:nvSpPr>
          <p:cNvPr id="1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GPS analysis and model (Aerospace Adj. EBITDA margin incl. PMA)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(2/4)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held price to win share while OEM list prices rose ~7% a year. It can now catch up.</a:t>
            </a:r>
            <a:endParaRPr lang="en-US" sz="1700" dirty="0"/>
          </a:p>
        </p:txBody>
      </p:sp>
      <p:sp>
        <p:nvSpPr>
          <p:cNvPr id="4" name="Price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Price Index (2025 = 100)</a:t>
            </a:r>
            <a:endParaRPr lang="en-US" sz="1600" dirty="0"/>
          </a:p>
        </p:txBody>
      </p:sp>
      <p:sp>
        <p:nvSpPr>
          <p:cNvPr id="5" name="Price header rule"/>
          <p:cNvSpPr/>
          <p:nvPr/>
        </p:nvSpPr>
        <p:spPr>
          <a:xfrm>
            <a:off x="320040" y="1975104"/>
            <a:ext cx="4206240" cy="0"/>
          </a:xfrm>
          <a:prstGeom prst="line">
            <a:avLst/>
          </a:prstGeom>
          <a:noFill/>
          <a:ln w="12700">
            <a:solidFill>
              <a:srgbClr val="1A1A1A"/>
            </a:solidFill>
            <a:prstDash val="solid"/>
          </a:ln>
        </p:spPr>
      </p:sp>
      <p:graphicFrame>
        <p:nvGraphicFramePr>
          <p:cNvPr id="6" name="Price index chart" descr=""/>
          <p:cNvGraphicFramePr/>
          <p:nvPr/>
        </p:nvGraphicFramePr>
        <p:xfrm>
          <a:off x="320040" y="2103120"/>
          <a:ext cx="4206240" cy="2834640"/>
        </p:xfrm>
        <a:graphic xmlns:a="http://schemas.openxmlformats.org/drawingml/2006/main">
          <a:graphicData uri="http://schemas.openxmlformats.org/drawingml/2006/chart">
            <c:chart xmlns:c="http://schemas.openxmlformats.org/drawingml/2006/chart" r:id="rId1"/>
          </a:graphicData>
        </a:graphic>
      </p:graphicFrame>
      <p:sp>
        <p:nvSpPr>
          <p:cNvPr id="7" name="OEM line label"/>
          <p:cNvSpPr txBox="1"/>
          <p:nvPr/>
        </p:nvSpPr>
        <p:spPr>
          <a:xfrm>
            <a:off x="2697480" y="2148840"/>
            <a:ext cx="1737360" cy="274320"/>
          </a:xfrm>
          <a:prstGeom prst="rect">
            <a:avLst/>
          </a:prstGeom>
          <a:noFill/>
          <a:ln/>
        </p:spPr>
        <p:txBody>
          <a:bodyPr wrap="square" lIns="0" tIns="0" rIns="0" bIns="0" rtlCol="0" anchor="ctr"/>
          <a:lstStyle/>
          <a:p>
            <a:pPr algn="r" indent="0" marL="0">
              <a:buNone/>
            </a:pPr>
            <a:r>
              <a:rPr lang="en-US" sz="1200" b="1" dirty="0">
                <a:solidFill>
                  <a:schemeClr val="tx2"/>
                </a:solidFill>
              </a:rPr>
              <a:t>OEM list (+7%/yr)</a:t>
            </a:r>
            <a:endParaRPr lang="en-US" sz="1200" dirty="0"/>
          </a:p>
        </p:txBody>
      </p:sp>
      <p:sp>
        <p:nvSpPr>
          <p:cNvPr id="8" name="FTAI line label"/>
          <p:cNvSpPr txBox="1"/>
          <p:nvPr/>
        </p:nvSpPr>
        <p:spPr>
          <a:xfrm>
            <a:off x="2697480" y="3337560"/>
            <a:ext cx="1737360" cy="274320"/>
          </a:xfrm>
          <a:prstGeom prst="rect">
            <a:avLst/>
          </a:prstGeom>
          <a:noFill/>
          <a:ln/>
        </p:spPr>
        <p:txBody>
          <a:bodyPr wrap="square" lIns="0" tIns="0" rIns="0" bIns="0" rtlCol="0" anchor="ctr"/>
          <a:lstStyle/>
          <a:p>
            <a:pPr algn="r" indent="0" marL="0">
              <a:buNone/>
            </a:pPr>
            <a:r>
              <a:rPr lang="en-US" sz="1200" b="1" dirty="0">
                <a:solidFill>
                  <a:schemeClr val="accent2"/>
                </a:solidFill>
              </a:rPr>
              <a:t>FTAI (half of OEM)</a:t>
            </a:r>
            <a:endParaRPr lang="en-US" sz="1200" dirty="0"/>
          </a:p>
        </p:txBody>
      </p:sp>
      <p:sp>
        <p:nvSpPr>
          <p:cNvPr id="9" name="Price caption"/>
          <p:cNvSpPr txBox="1"/>
          <p:nvPr/>
        </p:nvSpPr>
        <p:spPr>
          <a:xfrm>
            <a:off x="320040" y="4983480"/>
            <a:ext cx="4206240" cy="274320"/>
          </a:xfrm>
          <a:prstGeom prst="rect">
            <a:avLst/>
          </a:prstGeom>
          <a:noFill/>
          <a:ln/>
        </p:spPr>
        <p:txBody>
          <a:bodyPr wrap="square" lIns="0" tIns="0" rIns="0" bIns="0" rtlCol="0" anchor="ctr"/>
          <a:lstStyle/>
          <a:p>
            <a:pPr algn="ctr" indent="0" marL="0">
              <a:buNone/>
            </a:pPr>
            <a:r>
              <a:rPr lang="en-US" sz="1200" i="1" dirty="0">
                <a:solidFill>
                  <a:schemeClr val="accent2"/>
                </a:solidFill>
              </a:rPr>
              <a:t>The gap is pricing room</a:t>
            </a:r>
            <a:endParaRPr lang="en-US" sz="1200" dirty="0"/>
          </a:p>
        </p:txBody>
      </p:sp>
      <p:sp>
        <p:nvSpPr>
          <p:cNvPr id="10" name="EPM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EBITDA per Module ($K)</a:t>
            </a:r>
            <a:endParaRPr lang="en-US" sz="1600" dirty="0"/>
          </a:p>
        </p:txBody>
      </p:sp>
      <p:sp>
        <p:nvSpPr>
          <p:cNvPr id="11" name="EPM header rule"/>
          <p:cNvSpPr/>
          <p:nvPr/>
        </p:nvSpPr>
        <p:spPr>
          <a:xfrm>
            <a:off x="4892040" y="1975104"/>
            <a:ext cx="3931920" cy="0"/>
          </a:xfrm>
          <a:prstGeom prst="line">
            <a:avLst/>
          </a:prstGeom>
          <a:noFill/>
          <a:ln w="12700">
            <a:solidFill>
              <a:srgbClr val="1A1A1A"/>
            </a:solidFill>
            <a:prstDash val="solid"/>
          </a:ln>
        </p:spPr>
      </p:sp>
      <p:graphicFrame>
        <p:nvGraphicFramePr>
          <p:cNvPr id="12" name="EBITDA per module chart" descr=""/>
          <p:cNvGraphicFramePr/>
          <p:nvPr/>
        </p:nvGraphicFramePr>
        <p:xfrm>
          <a:off x="4892040" y="2103120"/>
          <a:ext cx="3931920" cy="3200400"/>
        </p:xfrm>
        <a:graphic xmlns:a="http://schemas.openxmlformats.org/drawingml/2006/main">
          <a:graphicData uri="http://schemas.openxmlformats.org/drawingml/2006/chart">
            <c:chart xmlns:c="http://schemas.openxmlformats.org/drawingml/2006/chart" r:id="rId2"/>
          </a:graphicData>
        </a:graphic>
      </p:graphicFrame>
      <p:sp>
        <p:nvSpPr>
          <p:cNvPr id="13"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Passing through just half of OEM increases, plus PMA, lifts EBITDA per module ~30% by FY31.</a:t>
            </a:r>
            <a:endParaRPr lang="en-US" sz="17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CFM escalator 7%/yr, FTAI pass-through 50% from 2027; EBITDA per module incl. PMA)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(3/4)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Heavy second visits peak in 2027 while late-life, lighter visits keep rising, and they cross.</a:t>
            </a:r>
            <a:endParaRPr lang="en-US" sz="1700" dirty="0"/>
          </a:p>
        </p:txBody>
      </p:sp>
      <p:sp>
        <p:nvSpPr>
          <p:cNvPr id="4" name="Cohort header"/>
          <p:cNvSpPr txBox="1"/>
          <p:nvPr/>
        </p:nvSpPr>
        <p:spPr>
          <a:xfrm>
            <a:off x="320040" y="1554480"/>
            <a:ext cx="4343400" cy="365760"/>
          </a:xfrm>
          <a:prstGeom prst="rect">
            <a:avLst/>
          </a:prstGeom>
          <a:noFill/>
          <a:ln/>
        </p:spPr>
        <p:txBody>
          <a:bodyPr wrap="square" lIns="0" tIns="0" rIns="0" bIns="0" rtlCol="0" anchor="b"/>
          <a:lstStyle/>
          <a:p>
            <a:pPr algn="ctr" indent="0" marL="0">
              <a:buNone/>
            </a:pPr>
            <a:r>
              <a:rPr lang="en-US" sz="1600" b="1" dirty="0">
                <a:solidFill>
                  <a:srgbClr val="1A1A1A"/>
                </a:solidFill>
              </a:rPr>
              <a:t>Heavy vs. Late-Life Shop Visits</a:t>
            </a:r>
            <a:endParaRPr lang="en-US" sz="1600" dirty="0"/>
          </a:p>
        </p:txBody>
      </p:sp>
      <p:sp>
        <p:nvSpPr>
          <p:cNvPr id="5" name="Cohort header rule"/>
          <p:cNvSpPr/>
          <p:nvPr/>
        </p:nvSpPr>
        <p:spPr>
          <a:xfrm>
            <a:off x="320040" y="1975104"/>
            <a:ext cx="4343400" cy="0"/>
          </a:xfrm>
          <a:prstGeom prst="line">
            <a:avLst/>
          </a:prstGeom>
          <a:noFill/>
          <a:ln w="12700">
            <a:solidFill>
              <a:srgbClr val="1A1A1A"/>
            </a:solidFill>
            <a:prstDash val="solid"/>
          </a:ln>
        </p:spPr>
      </p:sp>
      <p:graphicFrame>
        <p:nvGraphicFramePr>
          <p:cNvPr id="6" name="Cohort chart" descr=""/>
          <p:cNvGraphicFramePr/>
          <p:nvPr/>
        </p:nvGraphicFramePr>
        <p:xfrm>
          <a:off x="320040" y="2103120"/>
          <a:ext cx="4343400" cy="2834640"/>
        </p:xfrm>
        <a:graphic xmlns:a="http://schemas.openxmlformats.org/drawingml/2006/main">
          <a:graphicData uri="http://schemas.openxmlformats.org/drawingml/2006/chart">
            <c:chart xmlns:c="http://schemas.openxmlformats.org/drawingml/2006/chart" r:id="rId1"/>
          </a:graphicData>
        </a:graphic>
      </p:graphicFrame>
      <p:sp>
        <p:nvSpPr>
          <p:cNvPr id="7" name="Peak label"/>
          <p:cNvSpPr txBox="1"/>
          <p:nvPr/>
        </p:nvSpPr>
        <p:spPr>
          <a:xfrm>
            <a:off x="868680" y="2103120"/>
            <a:ext cx="2286000" cy="256032"/>
          </a:xfrm>
          <a:prstGeom prst="rect">
            <a:avLst/>
          </a:prstGeom>
          <a:noFill/>
          <a:ln/>
        </p:spPr>
        <p:txBody>
          <a:bodyPr wrap="square" lIns="0" tIns="0" rIns="0" bIns="0" rtlCol="0" anchor="ctr"/>
          <a:lstStyle/>
          <a:p>
            <a:pPr algn="ctr" indent="0" marL="0">
              <a:buNone/>
            </a:pPr>
            <a:r>
              <a:rPr lang="en-US" sz="1200" b="1" dirty="0">
                <a:solidFill>
                  <a:schemeClr val="tx2"/>
                </a:solidFill>
              </a:rPr>
              <a:t>Heavy 2nd visits peak</a:t>
            </a:r>
            <a:endParaRPr lang="en-US" sz="1200" dirty="0"/>
          </a:p>
        </p:txBody>
      </p:sp>
      <p:sp>
        <p:nvSpPr>
          <p:cNvPr id="8" name="Late-life label"/>
          <p:cNvSpPr txBox="1"/>
          <p:nvPr/>
        </p:nvSpPr>
        <p:spPr>
          <a:xfrm>
            <a:off x="868680" y="4315968"/>
            <a:ext cx="3017520" cy="256032"/>
          </a:xfrm>
          <a:prstGeom prst="rect">
            <a:avLst/>
          </a:prstGeom>
          <a:noFill/>
          <a:ln/>
        </p:spPr>
        <p:txBody>
          <a:bodyPr wrap="square" lIns="0" tIns="0" rIns="0" bIns="0" rtlCol="0" anchor="ctr"/>
          <a:lstStyle/>
          <a:p>
            <a:pPr algn="l" indent="0" marL="0">
              <a:buNone/>
            </a:pPr>
            <a:r>
              <a:rPr lang="en-US" sz="1100" b="1" dirty="0">
                <a:solidFill>
                  <a:schemeClr val="accent2"/>
                </a:solidFill>
              </a:rPr>
              <a:t>Late-life, lighter visits keep rising</a:t>
            </a:r>
            <a:endParaRPr lang="en-US" sz="1100" dirty="0"/>
          </a:p>
        </p:txBody>
      </p:sp>
      <p:sp>
        <p:nvSpPr>
          <p:cNvPr id="9" name="Crossover dot"/>
          <p:cNvSpPr/>
          <p:nvPr/>
        </p:nvSpPr>
        <p:spPr>
          <a:xfrm>
            <a:off x="4206240" y="3145536"/>
            <a:ext cx="164592" cy="164592"/>
          </a:xfrm>
          <a:prstGeom prst="ellipse">
            <a:avLst/>
          </a:prstGeom>
          <a:solidFill>
            <a:srgbClr val="0A1C58"/>
          </a:solidFill>
          <a:ln w="19050">
            <a:solidFill>
              <a:srgbClr val="FFFFFF"/>
            </a:solidFill>
            <a:prstDash val="solid"/>
          </a:ln>
        </p:spPr>
      </p:sp>
      <p:sp>
        <p:nvSpPr>
          <p:cNvPr id="10" name="Crossover callout"/>
          <p:cNvSpPr/>
          <p:nvPr/>
        </p:nvSpPr>
        <p:spPr>
          <a:xfrm>
            <a:off x="3246120" y="3520440"/>
            <a:ext cx="1371600" cy="566928"/>
          </a:xfrm>
          <a:prstGeom prst="roundRect">
            <a:avLst>
              <a:gd name="adj" fmla="val 12903"/>
            </a:avLst>
          </a:prstGeom>
          <a:solidFill>
            <a:srgbClr val="0A1C58"/>
          </a:solidFill>
          <a:ln>
            <a:solidFill>
              <a:srgbClr val="0A1C58"/>
            </a:solidFill>
          </a:ln>
        </p:spPr>
        <p:txBody>
          <a:bodyPr wrap="square" lIns="0" tIns="0" rIns="0" bIns="0" rtlCol="0" anchor="ctr"/>
          <a:lstStyle/>
          <a:p>
            <a:pPr algn="ctr" indent="0" marL="0">
              <a:buNone/>
            </a:pPr>
            <a:r>
              <a:rPr lang="en-US" sz="1100" b="1" dirty="0">
                <a:solidFill>
                  <a:schemeClr val="bg1"/>
                </a:solidFill>
              </a:rPr>
              <a:t>Light work</a:t>
            </a:r>
            <a:endParaRPr lang="en-US" sz="1100" dirty="0"/>
          </a:p>
          <a:p>
            <a:pPr algn="ctr" indent="0" marL="0">
              <a:buNone/>
            </a:pPr>
            <a:r>
              <a:rPr lang="en-US" sz="1100" b="1" dirty="0">
                <a:solidFill>
                  <a:schemeClr val="bg1"/>
                </a:solidFill>
              </a:rPr>
              <a:t>overtakes ~2032</a:t>
            </a:r>
            <a:endParaRPr lang="en-US" sz="1100" dirty="0"/>
          </a:p>
        </p:txBody>
      </p:sp>
      <p:sp>
        <p:nvSpPr>
          <p:cNvPr id="11" name="Cohort caption"/>
          <p:cNvSpPr txBox="1"/>
          <p:nvPr/>
        </p:nvSpPr>
        <p:spPr>
          <a:xfrm>
            <a:off x="320040" y="4956048"/>
            <a:ext cx="4343400" cy="274320"/>
          </a:xfrm>
          <a:prstGeom prst="rect">
            <a:avLst/>
          </a:prstGeom>
          <a:noFill/>
          <a:ln/>
        </p:spPr>
        <p:txBody>
          <a:bodyPr wrap="square" lIns="0" tIns="0" rIns="0" bIns="0" rtlCol="0" anchor="ctr"/>
          <a:lstStyle/>
          <a:p>
            <a:pPr algn="ctr" indent="0" marL="0">
              <a:buNone/>
            </a:pPr>
            <a:r>
              <a:rPr lang="en-US" sz="1100" i="1" dirty="0">
                <a:solidFill>
                  <a:schemeClr val="accent2"/>
                </a:solidFill>
              </a:rPr>
              <a:t>Model through 2030; dashed = trend</a:t>
            </a:r>
            <a:endParaRPr lang="en-US" sz="1100" dirty="0"/>
          </a:p>
        </p:txBody>
      </p:sp>
      <p:sp>
        <p:nvSpPr>
          <p:cNvPr id="12" name="Mix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Margin vs. Light-Scope Mix</a:t>
            </a:r>
            <a:endParaRPr lang="en-US" sz="1600" dirty="0"/>
          </a:p>
        </p:txBody>
      </p:sp>
      <p:sp>
        <p:nvSpPr>
          <p:cNvPr id="13" name="Mix header rule"/>
          <p:cNvSpPr/>
          <p:nvPr/>
        </p:nvSpPr>
        <p:spPr>
          <a:xfrm>
            <a:off x="4892040" y="1975104"/>
            <a:ext cx="3931920" cy="0"/>
          </a:xfrm>
          <a:prstGeom prst="line">
            <a:avLst/>
          </a:prstGeom>
          <a:noFill/>
          <a:ln w="12700">
            <a:solidFill>
              <a:srgbClr val="1A1A1A"/>
            </a:solidFill>
            <a:prstDash val="solid"/>
          </a:ln>
        </p:spPr>
      </p:sp>
      <p:graphicFrame>
        <p:nvGraphicFramePr>
          <p:cNvPr id="14" name="Mix margin chart" descr=""/>
          <p:cNvGraphicFramePr/>
          <p:nvPr/>
        </p:nvGraphicFramePr>
        <p:xfrm>
          <a:off x="4892040" y="2103120"/>
          <a:ext cx="3931920" cy="2743200"/>
        </p:xfrm>
        <a:graphic xmlns:a="http://schemas.openxmlformats.org/drawingml/2006/main">
          <a:graphicData uri="http://schemas.openxmlformats.org/drawingml/2006/chart">
            <c:chart xmlns:c="http://schemas.openxmlformats.org/drawingml/2006/chart" r:id="rId2"/>
          </a:graphicData>
        </a:graphic>
      </p:graphicFrame>
      <p:sp>
        <p:nvSpPr>
          <p:cNvPr id="15" name="Mix caption"/>
          <p:cNvSpPr txBox="1"/>
          <p:nvPr/>
        </p:nvSpPr>
        <p:spPr>
          <a:xfrm>
            <a:off x="4892040" y="4892040"/>
            <a:ext cx="3931920" cy="411480"/>
          </a:xfrm>
          <a:prstGeom prst="rect">
            <a:avLst/>
          </a:prstGeom>
          <a:noFill/>
          <a:ln/>
        </p:spPr>
        <p:txBody>
          <a:bodyPr wrap="square" lIns="0" tIns="0" rIns="0" bIns="0" rtlCol="0" anchor="ctr"/>
          <a:lstStyle/>
          <a:p>
            <a:pPr algn="ctr" indent="0" marL="0">
              <a:buNone/>
            </a:pPr>
            <a:r>
              <a:rPr lang="en-US" sz="1100" i="1" dirty="0">
                <a:solidFill>
                  <a:schemeClr val="accent2"/>
                </a:solidFill>
              </a:rPr>
              <a:t>Light-scope share of jobs (management's job economics)</a:t>
            </a:r>
            <a:endParaRPr lang="en-US" sz="11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When light work returns, every 10 pts of mix adds ~1.5–2 pts of margin, above today's ~30%.</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(CFM56 Data tab: cohort roll-forward, central case); FTAI earnings call (light vs. heavy job economics)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(4/4)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Cheaper PMA parts add a new margin lever, and our base case uses it sparingly.</a:t>
            </a:r>
            <a:endParaRPr lang="en-US" sz="1700" dirty="0"/>
          </a:p>
        </p:txBody>
      </p:sp>
      <p:sp>
        <p:nvSpPr>
          <p:cNvPr id="4" name="PMA ramp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PMA Ramp in Our Model</a:t>
            </a:r>
            <a:endParaRPr lang="en-US" sz="1600" dirty="0"/>
          </a:p>
        </p:txBody>
      </p:sp>
      <p:sp>
        <p:nvSpPr>
          <p:cNvPr id="5" name="PMA ramp header rule"/>
          <p:cNvSpPr/>
          <p:nvPr/>
        </p:nvSpPr>
        <p:spPr>
          <a:xfrm>
            <a:off x="320040" y="1975104"/>
            <a:ext cx="4206240" cy="0"/>
          </a:xfrm>
          <a:prstGeom prst="line">
            <a:avLst/>
          </a:prstGeom>
          <a:noFill/>
          <a:ln w="12700">
            <a:solidFill>
              <a:srgbClr val="1A1A1A"/>
            </a:solidFill>
            <a:prstDash val="solid"/>
          </a:ln>
        </p:spPr>
      </p:sp>
      <p:sp>
        <p:nvSpPr>
          <p:cNvPr id="6" name="Adoption label"/>
          <p:cNvSpPr txBox="1"/>
          <p:nvPr/>
        </p:nvSpPr>
        <p:spPr>
          <a:xfrm>
            <a:off x="320040" y="2084832"/>
            <a:ext cx="4206240" cy="228600"/>
          </a:xfrm>
          <a:prstGeom prst="rect">
            <a:avLst/>
          </a:prstGeom>
          <a:noFill/>
          <a:ln/>
        </p:spPr>
        <p:txBody>
          <a:bodyPr wrap="square" lIns="0" tIns="0" rIns="0" bIns="0" rtlCol="0" anchor="ctr"/>
          <a:lstStyle/>
          <a:p>
            <a:pPr algn="l" indent="0" marL="0">
              <a:buNone/>
            </a:pPr>
            <a:r>
              <a:rPr lang="en-US" sz="1100" i="1" dirty="0">
                <a:solidFill>
                  <a:schemeClr val="accent2"/>
                </a:solidFill>
              </a:rPr>
              <a:t>Adoption (% of modules)</a:t>
            </a:r>
            <a:endParaRPr lang="en-US" sz="1100" dirty="0"/>
          </a:p>
        </p:txBody>
      </p:sp>
      <p:graphicFrame>
        <p:nvGraphicFramePr>
          <p:cNvPr id="7" name="PMA adoption chart" descr=""/>
          <p:cNvGraphicFramePr/>
          <p:nvPr/>
        </p:nvGraphicFramePr>
        <p:xfrm>
          <a:off x="320040" y="2240280"/>
          <a:ext cx="4206240" cy="960120"/>
        </p:xfrm>
        <a:graphic xmlns:a="http://schemas.openxmlformats.org/drawingml/2006/main">
          <a:graphicData uri="http://schemas.openxmlformats.org/drawingml/2006/chart">
            <c:chart xmlns:c="http://schemas.openxmlformats.org/drawingml/2006/chart" r:id="rId1"/>
          </a:graphicData>
        </a:graphic>
      </p:graphicFrame>
      <p:sp>
        <p:nvSpPr>
          <p:cNvPr id="8" name="Uplift label"/>
          <p:cNvSpPr txBox="1"/>
          <p:nvPr/>
        </p:nvSpPr>
        <p:spPr>
          <a:xfrm>
            <a:off x="320040" y="3200400"/>
            <a:ext cx="4206240" cy="228600"/>
          </a:xfrm>
          <a:prstGeom prst="rect">
            <a:avLst/>
          </a:prstGeom>
          <a:noFill/>
          <a:ln/>
        </p:spPr>
        <p:txBody>
          <a:bodyPr wrap="square" lIns="0" tIns="0" rIns="0" bIns="0" rtlCol="0" anchor="ctr"/>
          <a:lstStyle/>
          <a:p>
            <a:pPr algn="l" indent="0" marL="0">
              <a:buNone/>
            </a:pPr>
            <a:r>
              <a:rPr lang="en-US" sz="1100" i="1" dirty="0">
                <a:solidFill>
                  <a:schemeClr val="tx2"/>
                </a:solidFill>
              </a:rPr>
              <a:t>EBITDA uplift ($M)</a:t>
            </a:r>
            <a:endParaRPr lang="en-US" sz="1100" dirty="0"/>
          </a:p>
        </p:txBody>
      </p:sp>
      <p:graphicFrame>
        <p:nvGraphicFramePr>
          <p:cNvPr id="9" name="PMA uplift chart" descr=""/>
          <p:cNvGraphicFramePr/>
          <p:nvPr/>
        </p:nvGraphicFramePr>
        <p:xfrm>
          <a:off x="320040" y="3383280"/>
          <a:ext cx="4206240" cy="1920240"/>
        </p:xfrm>
        <a:graphic xmlns:a="http://schemas.openxmlformats.org/drawingml/2006/main">
          <a:graphicData uri="http://schemas.openxmlformats.org/drawingml/2006/chart">
            <c:chart xmlns:c="http://schemas.openxmlformats.org/drawingml/2006/chart" r:id="rId2"/>
          </a:graphicData>
        </a:graphic>
      </p:graphicFrame>
      <p:sp>
        <p:nvSpPr>
          <p:cNvPr id="10" name="Sensitivity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Upside If Adoption Runs Faster</a:t>
            </a:r>
            <a:endParaRPr lang="en-US" sz="1600" dirty="0"/>
          </a:p>
        </p:txBody>
      </p:sp>
      <p:sp>
        <p:nvSpPr>
          <p:cNvPr id="11" name="Sensitivity header rule"/>
          <p:cNvSpPr/>
          <p:nvPr/>
        </p:nvSpPr>
        <p:spPr>
          <a:xfrm>
            <a:off x="4892040" y="1975104"/>
            <a:ext cx="3931920" cy="0"/>
          </a:xfrm>
          <a:prstGeom prst="line">
            <a:avLst/>
          </a:prstGeom>
          <a:noFill/>
          <a:ln w="12700">
            <a:solidFill>
              <a:srgbClr val="1A1A1A"/>
            </a:solidFill>
            <a:prstDash val="solid"/>
          </a:ln>
        </p:spPr>
      </p:sp>
      <p:graphicFrame>
        <p:nvGraphicFramePr>
          <p:cNvPr id="12" name="PMA sensitivity chart" descr=""/>
          <p:cNvGraphicFramePr/>
          <p:nvPr/>
        </p:nvGraphicFramePr>
        <p:xfrm>
          <a:off x="4892040" y="2103120"/>
          <a:ext cx="3931920" cy="2743200"/>
        </p:xfrm>
        <a:graphic xmlns:a="http://schemas.openxmlformats.org/drawingml/2006/main">
          <a:graphicData uri="http://schemas.openxmlformats.org/drawingml/2006/chart">
            <c:chart xmlns:c="http://schemas.openxmlformats.org/drawingml/2006/chart" r:id="rId3"/>
          </a:graphicData>
        </a:graphic>
      </p:graphicFrame>
      <p:sp>
        <p:nvSpPr>
          <p:cNvPr id="13" name="Sensitivity caption"/>
          <p:cNvSpPr txBox="1"/>
          <p:nvPr/>
        </p:nvSpPr>
        <p:spPr>
          <a:xfrm>
            <a:off x="4892040" y="4892040"/>
            <a:ext cx="3931920" cy="411480"/>
          </a:xfrm>
          <a:prstGeom prst="rect">
            <a:avLst/>
          </a:prstGeom>
          <a:noFill/>
          <a:ln/>
        </p:spPr>
        <p:txBody>
          <a:bodyPr wrap="square" lIns="0" tIns="0" rIns="0" bIns="0" rtlCol="0" anchor="ctr"/>
          <a:lstStyle/>
          <a:p>
            <a:pPr algn="ctr" indent="0" marL="0">
              <a:buNone/>
            </a:pPr>
            <a:r>
              <a:rPr lang="en-US" sz="1100" i="1" dirty="0">
                <a:solidFill>
                  <a:schemeClr val="accent2"/>
                </a:solidFill>
              </a:rPr>
              <a:t>FY26E Aerospace EBITDA ($M) at 1,200 modules vs. PMA adoption (Jefferies)</a:t>
            </a:r>
            <a:endParaRPr lang="en-US" sz="1100" dirty="0"/>
          </a:p>
        </p:txBody>
      </p:sp>
      <p:sp>
        <p:nvSpPr>
          <p:cNvPr id="14"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3 of 5 Chromalloy parts are approved, and every 5 pts of adoption adds ~$43M of EBITDA.</a:t>
            </a:r>
            <a:endParaRPr lang="en-US" sz="1700" dirty="0"/>
          </a:p>
        </p:txBody>
      </p:sp>
      <p:sp>
        <p:nvSpPr>
          <p:cNvPr id="1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PMA penetration × $0.4M uplift per module); Jefferies estimates; FAA PMA data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(1/5)</a:t>
            </a:r>
            <a:endParaRPr lang="en-US" sz="3200" dirty="0"/>
          </a:p>
        </p:txBody>
      </p:sp>
      <p:sp>
        <p:nvSpPr>
          <p:cNvPr id="3" name="Reason 1"/>
          <p:cNvSpPr txBox="1"/>
          <p:nvPr/>
        </p:nvSpPr>
        <p:spPr>
          <a:xfrm>
            <a:off x="1600200" y="10972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OEM shops are moving their capacity to LEAP, leaving CFM56 work behind.</a:t>
            </a:r>
            <a:endParaRPr lang="en-US" sz="1500" dirty="0"/>
          </a:p>
        </p:txBody>
      </p:sp>
      <p:sp>
        <p:nvSpPr>
          <p:cNvPr id="4" name="Reason 1 number"/>
          <p:cNvSpPr/>
          <p:nvPr/>
        </p:nvSpPr>
        <p:spPr>
          <a:xfrm>
            <a:off x="1161288" y="10607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1</a:t>
            </a:r>
            <a:endParaRPr lang="en-US" sz="2400" dirty="0"/>
          </a:p>
        </p:txBody>
      </p:sp>
      <p:sp>
        <p:nvSpPr>
          <p:cNvPr id="5" name="Reason 2"/>
          <p:cNvSpPr txBox="1"/>
          <p:nvPr/>
        </p:nvSpPr>
        <p:spPr>
          <a:xfrm>
            <a:off x="1600200" y="20116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Independent MROs are clogged: CFM56 overhauls now take 90–120 days.</a:t>
            </a:r>
            <a:endParaRPr lang="en-US" sz="1500" dirty="0"/>
          </a:p>
        </p:txBody>
      </p:sp>
      <p:sp>
        <p:nvSpPr>
          <p:cNvPr id="6" name="Reason 2 number"/>
          <p:cNvSpPr/>
          <p:nvPr/>
        </p:nvSpPr>
        <p:spPr>
          <a:xfrm>
            <a:off x="1161288" y="19751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2</a:t>
            </a:r>
            <a:endParaRPr lang="en-US" sz="2400" dirty="0"/>
          </a:p>
        </p:txBody>
      </p:sp>
      <p:sp>
        <p:nvSpPr>
          <p:cNvPr id="7" name="Reason 3"/>
          <p:cNvSpPr txBox="1"/>
          <p:nvPr/>
        </p:nvSpPr>
        <p:spPr>
          <a:xfrm>
            <a:off x="1600200" y="29260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FTAI's module swap returns an engine in 5–25 days, not months.</a:t>
            </a:r>
            <a:endParaRPr lang="en-US" sz="1500" dirty="0"/>
          </a:p>
        </p:txBody>
      </p:sp>
      <p:sp>
        <p:nvSpPr>
          <p:cNvPr id="8" name="Reason 3 number"/>
          <p:cNvSpPr/>
          <p:nvPr/>
        </p:nvSpPr>
        <p:spPr>
          <a:xfrm>
            <a:off x="1161288" y="28895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3</a:t>
            </a:r>
            <a:endParaRPr lang="en-US" sz="2400" dirty="0"/>
          </a:p>
        </p:txBody>
      </p:sp>
      <p:sp>
        <p:nvSpPr>
          <p:cNvPr id="9" name="Reason 4"/>
          <p:cNvSpPr txBox="1"/>
          <p:nvPr/>
        </p:nvSpPr>
        <p:spPr>
          <a:xfrm>
            <a:off x="1600200" y="38404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New sites in Jakarta, Cairo and Lisbon lift capacity to 3,000 modules.</a:t>
            </a:r>
            <a:endParaRPr lang="en-US" sz="1500" dirty="0"/>
          </a:p>
        </p:txBody>
      </p:sp>
      <p:sp>
        <p:nvSpPr>
          <p:cNvPr id="10" name="Reason 4 number"/>
          <p:cNvSpPr/>
          <p:nvPr/>
        </p:nvSpPr>
        <p:spPr>
          <a:xfrm>
            <a:off x="1161288" y="38039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4</a:t>
            </a:r>
            <a:endParaRPr lang="en-US" sz="2400" dirty="0"/>
          </a:p>
        </p:txBody>
      </p:sp>
      <p:sp>
        <p:nvSpPr>
          <p:cNvPr id="11" name="Funnel"/>
          <p:cNvSpPr/>
          <p:nvPr/>
        </p:nvSpPr>
        <p:spPr>
          <a:xfrm flipV="1">
            <a:off x="1188720" y="4709160"/>
            <a:ext cx="7040880" cy="365760"/>
          </a:xfrm>
          <a:prstGeom prst="triangle">
            <a:avLst/>
          </a:prstGeom>
          <a:solidFill>
            <a:srgbClr val="DCD8D3"/>
          </a:solidFill>
          <a:ln/>
        </p:spPr>
      </p:sp>
      <p:sp>
        <p:nvSpPr>
          <p:cNvPr id="12" name="Conclusion"/>
          <p:cNvSpPr txBox="1"/>
          <p:nvPr/>
        </p:nvSpPr>
        <p:spPr>
          <a:xfrm>
            <a:off x="1188720" y="5193792"/>
            <a:ext cx="7040880" cy="777240"/>
          </a:xfrm>
          <a:prstGeom prst="rect">
            <a:avLst/>
          </a:prstGeom>
          <a:solidFill>
            <a:srgbClr val="0A1C58"/>
          </a:solidFill>
          <a:ln/>
        </p:spPr>
        <p:txBody>
          <a:bodyPr wrap="square" lIns="127000" tIns="25400" rIns="127000" bIns="25400" rtlCol="0" anchor="ctr"/>
          <a:lstStyle/>
          <a:p>
            <a:pPr algn="ctr" indent="0" marL="0">
              <a:buNone/>
            </a:pPr>
            <a:r>
              <a:rPr lang="en-US" sz="1600" b="1" dirty="0">
                <a:solidFill>
                  <a:schemeClr val="bg1"/>
                </a:solidFill>
              </a:rPr>
              <a:t>FTAI's share of CFM56 module work rises from ~12% to 20% by FY30, with every SCI aircraft as a contracted floor.</a:t>
            </a:r>
            <a:endParaRPr lang="en-US" sz="1600" dirty="0"/>
          </a:p>
        </p:txBody>
      </p:sp>
      <p:sp>
        <p:nvSpPr>
          <p:cNvPr id="1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GE Aerospace earnings calls (2026), Aviation Business News (2025), FTAI Q2'24 call and Q2'26 supplement, GPS model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(2/5)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Independent shops are clogged just as OEMs pivot to LEAP. CFM56 work needs a new home.</a:t>
            </a:r>
            <a:endParaRPr lang="en-US" sz="1700" dirty="0"/>
          </a:p>
        </p:txBody>
      </p:sp>
      <p:sp>
        <p:nvSpPr>
          <p:cNvPr id="4" name="MRO header"/>
          <p:cNvSpPr txBox="1"/>
          <p:nvPr/>
        </p:nvSpPr>
        <p:spPr>
          <a:xfrm>
            <a:off x="320040" y="1554480"/>
            <a:ext cx="4023360" cy="365760"/>
          </a:xfrm>
          <a:prstGeom prst="rect">
            <a:avLst/>
          </a:prstGeom>
          <a:noFill/>
          <a:ln/>
        </p:spPr>
        <p:txBody>
          <a:bodyPr wrap="square" lIns="0" tIns="0" rIns="0" bIns="0" rtlCol="0" anchor="b"/>
          <a:lstStyle/>
          <a:p>
            <a:pPr algn="ctr" indent="0" marL="0">
              <a:buNone/>
            </a:pPr>
            <a:r>
              <a:rPr lang="en-US" sz="1600" b="1" dirty="0">
                <a:solidFill>
                  <a:srgbClr val="1A1A1A"/>
                </a:solidFill>
              </a:rPr>
              <a:t>Independent Shops Are Clogged…</a:t>
            </a:r>
            <a:endParaRPr lang="en-US" sz="1600" dirty="0"/>
          </a:p>
        </p:txBody>
      </p:sp>
      <p:sp>
        <p:nvSpPr>
          <p:cNvPr id="5" name="MRO header rule"/>
          <p:cNvSpPr/>
          <p:nvPr/>
        </p:nvSpPr>
        <p:spPr>
          <a:xfrm>
            <a:off x="320040" y="1975104"/>
            <a:ext cx="4023360" cy="0"/>
          </a:xfrm>
          <a:prstGeom prst="line">
            <a:avLst/>
          </a:prstGeom>
          <a:noFill/>
          <a:ln w="12700">
            <a:solidFill>
              <a:srgbClr val="1A1A1A"/>
            </a:solidFill>
            <a:prstDash val="solid"/>
          </a:ln>
        </p:spPr>
      </p:sp>
      <p:graphicFrame>
        <p:nvGraphicFramePr>
          <p:cNvPr id="6" name="Overhaul days chart" descr=""/>
          <p:cNvGraphicFramePr/>
          <p:nvPr/>
        </p:nvGraphicFramePr>
        <p:xfrm>
          <a:off x="548640" y="2240280"/>
          <a:ext cx="2286000" cy="2514600"/>
        </p:xfrm>
        <a:graphic xmlns:a="http://schemas.openxmlformats.org/drawingml/2006/main">
          <a:graphicData uri="http://schemas.openxmlformats.org/drawingml/2006/chart">
            <c:chart xmlns:c="http://schemas.openxmlformats.org/drawingml/2006/chart" r:id="rId1"/>
          </a:graphicData>
        </a:graphic>
      </p:graphicFrame>
      <p:sp>
        <p:nvSpPr>
          <p:cNvPr id="7" name="Pre-COVID days"/>
          <p:cNvSpPr txBox="1"/>
          <p:nvPr/>
        </p:nvSpPr>
        <p:spPr>
          <a:xfrm>
            <a:off x="685800" y="3200400"/>
            <a:ext cx="914400" cy="320040"/>
          </a:xfrm>
          <a:prstGeom prst="rect">
            <a:avLst/>
          </a:prstGeom>
          <a:noFill/>
          <a:ln/>
        </p:spPr>
        <p:txBody>
          <a:bodyPr wrap="square" lIns="0" tIns="0" rIns="0" bIns="0" rtlCol="0" anchor="ctr"/>
          <a:lstStyle/>
          <a:p>
            <a:pPr algn="ctr" indent="0" marL="0">
              <a:buNone/>
            </a:pPr>
            <a:r>
              <a:rPr lang="en-US" sz="1600" b="1" dirty="0">
                <a:solidFill>
                  <a:srgbClr val="1A1A1A"/>
                </a:solidFill>
              </a:rPr>
              <a:t>~60</a:t>
            </a:r>
            <a:endParaRPr lang="en-US" sz="1600" dirty="0"/>
          </a:p>
        </p:txBody>
      </p:sp>
      <p:sp>
        <p:nvSpPr>
          <p:cNvPr id="8" name="Today days"/>
          <p:cNvSpPr txBox="1"/>
          <p:nvPr/>
        </p:nvSpPr>
        <p:spPr>
          <a:xfrm>
            <a:off x="1737360" y="2148840"/>
            <a:ext cx="1005840" cy="320040"/>
          </a:xfrm>
          <a:prstGeom prst="rect">
            <a:avLst/>
          </a:prstGeom>
          <a:noFill/>
          <a:ln/>
        </p:spPr>
        <p:txBody>
          <a:bodyPr wrap="square" lIns="0" tIns="0" rIns="0" bIns="0" rtlCol="0" anchor="ctr"/>
          <a:lstStyle/>
          <a:p>
            <a:pPr algn="ctr" indent="0" marL="0">
              <a:buNone/>
            </a:pPr>
            <a:r>
              <a:rPr lang="en-US" sz="1600" b="1" dirty="0">
                <a:solidFill>
                  <a:schemeClr val="tx2"/>
                </a:solidFill>
              </a:rPr>
              <a:t>90–120</a:t>
            </a:r>
            <a:endParaRPr lang="en-US" sz="1600" dirty="0"/>
          </a:p>
        </p:txBody>
      </p:sp>
      <p:sp>
        <p:nvSpPr>
          <p:cNvPr id="9" name="Days caption"/>
          <p:cNvSpPr txBox="1"/>
          <p:nvPr/>
        </p:nvSpPr>
        <p:spPr>
          <a:xfrm>
            <a:off x="548640" y="4773168"/>
            <a:ext cx="2286000" cy="256032"/>
          </a:xfrm>
          <a:prstGeom prst="rect">
            <a:avLst/>
          </a:prstGeom>
          <a:noFill/>
          <a:ln/>
        </p:spPr>
        <p:txBody>
          <a:bodyPr wrap="square" lIns="0" tIns="0" rIns="0" bIns="0" rtlCol="0" anchor="ctr"/>
          <a:lstStyle/>
          <a:p>
            <a:pPr algn="ctr" indent="0" marL="0">
              <a:buNone/>
            </a:pPr>
            <a:r>
              <a:rPr lang="en-US" sz="1100" i="1" dirty="0">
                <a:solidFill>
                  <a:schemeClr val="accent2"/>
                </a:solidFill>
              </a:rPr>
              <a:t>CFM56 overhaul, days</a:t>
            </a:r>
            <a:endParaRPr lang="en-US" sz="1100" dirty="0"/>
          </a:p>
        </p:txBody>
      </p:sp>
      <p:sp>
        <p:nvSpPr>
          <p:cNvPr id="10" name="Slot wait stat"/>
          <p:cNvSpPr txBox="1"/>
          <p:nvPr/>
        </p:nvSpPr>
        <p:spPr>
          <a:xfrm>
            <a:off x="2880360" y="2743200"/>
            <a:ext cx="1463040" cy="1280160"/>
          </a:xfrm>
          <a:prstGeom prst="rect">
            <a:avLst/>
          </a:prstGeom>
          <a:noFill/>
          <a:ln/>
        </p:spPr>
        <p:txBody>
          <a:bodyPr wrap="square" lIns="0" tIns="0" rIns="0" bIns="0" rtlCol="0" anchor="ctr"/>
          <a:lstStyle/>
          <a:p>
            <a:pPr algn="ctr" indent="0" marL="0">
              <a:buNone/>
            </a:pPr>
            <a:r>
              <a:rPr lang="en-US" sz="2600" b="1" dirty="0">
                <a:solidFill>
                  <a:schemeClr val="tx2"/>
                </a:solidFill>
              </a:rPr>
              <a:t>+2–6</a:t>
            </a:r>
            <a:endParaRPr lang="en-US" sz="2600" dirty="0"/>
          </a:p>
          <a:p>
            <a:pPr algn="ctr" indent="0" marL="0">
              <a:buNone/>
            </a:pPr>
            <a:r>
              <a:rPr lang="en-US" sz="1200" dirty="0">
                <a:solidFill>
                  <a:srgbClr val="1A1A1A"/>
                </a:solidFill>
              </a:rPr>
              <a:t>months just to get a shop slot</a:t>
            </a:r>
            <a:endParaRPr lang="en-US" sz="2600" dirty="0"/>
          </a:p>
        </p:txBody>
      </p:sp>
      <p:sp>
        <p:nvSpPr>
          <p:cNvPr id="11" name="OEM header"/>
          <p:cNvSpPr txBox="1"/>
          <p:nvPr/>
        </p:nvSpPr>
        <p:spPr>
          <a:xfrm>
            <a:off x="4800600" y="1554480"/>
            <a:ext cx="4023360" cy="365760"/>
          </a:xfrm>
          <a:prstGeom prst="rect">
            <a:avLst/>
          </a:prstGeom>
          <a:noFill/>
          <a:ln/>
        </p:spPr>
        <p:txBody>
          <a:bodyPr wrap="square" lIns="0" tIns="0" rIns="0" bIns="0" rtlCol="0" anchor="b"/>
          <a:lstStyle/>
          <a:p>
            <a:pPr algn="ctr" indent="0" marL="0">
              <a:buNone/>
            </a:pPr>
            <a:r>
              <a:rPr lang="en-US" sz="1600" b="1" dirty="0">
                <a:solidFill>
                  <a:srgbClr val="1A1A1A"/>
                </a:solidFill>
              </a:rPr>
              <a:t>…While OEMs Move to LEAP</a:t>
            </a:r>
            <a:endParaRPr lang="en-US" sz="1600" dirty="0"/>
          </a:p>
        </p:txBody>
      </p:sp>
      <p:sp>
        <p:nvSpPr>
          <p:cNvPr id="12" name="OEM header rule"/>
          <p:cNvSpPr/>
          <p:nvPr/>
        </p:nvSpPr>
        <p:spPr>
          <a:xfrm>
            <a:off x="4800600" y="1975104"/>
            <a:ext cx="4023360" cy="0"/>
          </a:xfrm>
          <a:prstGeom prst="line">
            <a:avLst/>
          </a:prstGeom>
          <a:noFill/>
          <a:ln w="12700">
            <a:solidFill>
              <a:srgbClr val="1A1A1A"/>
            </a:solidFill>
            <a:prstDash val="solid"/>
          </a:ln>
        </p:spPr>
      </p:sp>
      <p:graphicFrame>
        <p:nvGraphicFramePr>
          <p:cNvPr id="13" name="LEAP base chart" descr=""/>
          <p:cNvGraphicFramePr/>
          <p:nvPr/>
        </p:nvGraphicFramePr>
        <p:xfrm>
          <a:off x="4937760" y="2240280"/>
          <a:ext cx="2103120" cy="2514600"/>
        </p:xfrm>
        <a:graphic xmlns:a="http://schemas.openxmlformats.org/drawingml/2006/main">
          <a:graphicData uri="http://schemas.openxmlformats.org/drawingml/2006/chart">
            <c:chart xmlns:c="http://schemas.openxmlformats.org/drawingml/2006/chart" r:id="rId2"/>
          </a:graphicData>
        </a:graphic>
      </p:graphicFrame>
      <p:sp>
        <p:nvSpPr>
          <p:cNvPr id="14" name="LEAP caption"/>
          <p:cNvSpPr txBox="1"/>
          <p:nvPr/>
        </p:nvSpPr>
        <p:spPr>
          <a:xfrm>
            <a:off x="4937760" y="4773168"/>
            <a:ext cx="2103120" cy="256032"/>
          </a:xfrm>
          <a:prstGeom prst="rect">
            <a:avLst/>
          </a:prstGeom>
          <a:noFill/>
          <a:ln/>
        </p:spPr>
        <p:txBody>
          <a:bodyPr wrap="square" lIns="0" tIns="0" rIns="0" bIns="0" rtlCol="0" anchor="ctr"/>
          <a:lstStyle/>
          <a:p>
            <a:pPr algn="ctr" indent="0" marL="0">
              <a:buNone/>
            </a:pPr>
            <a:r>
              <a:rPr lang="en-US" sz="1100" i="1" dirty="0">
                <a:solidFill>
                  <a:schemeClr val="accent2"/>
                </a:solidFill>
              </a:rPr>
              <a:t>LEAP installed base</a:t>
            </a:r>
            <a:endParaRPr lang="en-US" sz="1100" dirty="0"/>
          </a:p>
        </p:txBody>
      </p:sp>
      <p:sp>
        <p:nvSpPr>
          <p:cNvPr id="15" name="LEAP stat 1"/>
          <p:cNvSpPr txBox="1"/>
          <p:nvPr/>
        </p:nvSpPr>
        <p:spPr>
          <a:xfrm>
            <a:off x="7132320" y="2331720"/>
            <a:ext cx="1691640" cy="1097280"/>
          </a:xfrm>
          <a:prstGeom prst="rect">
            <a:avLst/>
          </a:prstGeom>
          <a:noFill/>
          <a:ln/>
        </p:spPr>
        <p:txBody>
          <a:bodyPr wrap="square" lIns="0" tIns="0" rIns="0" bIns="0" rtlCol="0" anchor="ctr"/>
          <a:lstStyle/>
          <a:p>
            <a:pPr algn="ctr" indent="0" marL="0">
              <a:buNone/>
            </a:pPr>
            <a:r>
              <a:rPr lang="en-US" sz="2400" b="1" dirty="0">
                <a:solidFill>
                  <a:schemeClr val="tx2"/>
                </a:solidFill>
              </a:rPr>
              <a:t>+50%</a:t>
            </a:r>
            <a:endParaRPr lang="en-US" sz="2400" dirty="0"/>
          </a:p>
          <a:p>
            <a:pPr algn="ctr" indent="0" marL="0">
              <a:buNone/>
            </a:pPr>
            <a:r>
              <a:rPr lang="en-US" sz="1100" dirty="0">
                <a:solidFill>
                  <a:srgbClr val="1A1A1A"/>
                </a:solidFill>
              </a:rPr>
              <a:t>LEAP shop visits, y/y (GE, 2026)</a:t>
            </a:r>
            <a:endParaRPr lang="en-US" sz="2400" dirty="0"/>
          </a:p>
        </p:txBody>
      </p:sp>
      <p:sp>
        <p:nvSpPr>
          <p:cNvPr id="16" name="LEAP stat 2"/>
          <p:cNvSpPr txBox="1"/>
          <p:nvPr/>
        </p:nvSpPr>
        <p:spPr>
          <a:xfrm>
            <a:off x="7132320" y="3566160"/>
            <a:ext cx="1691640" cy="1097280"/>
          </a:xfrm>
          <a:prstGeom prst="rect">
            <a:avLst/>
          </a:prstGeom>
          <a:noFill/>
          <a:ln/>
        </p:spPr>
        <p:txBody>
          <a:bodyPr wrap="square" lIns="0" tIns="0" rIns="0" bIns="0" rtlCol="0" anchor="ctr"/>
          <a:lstStyle/>
          <a:p>
            <a:pPr algn="ctr" indent="0" marL="0">
              <a:buNone/>
            </a:pPr>
            <a:r>
              <a:rPr lang="en-US" sz="2400" b="1" dirty="0">
                <a:solidFill>
                  <a:schemeClr val="tx2"/>
                </a:solidFill>
              </a:rPr>
              <a:t>~2x</a:t>
            </a:r>
            <a:endParaRPr lang="en-US" sz="2400" dirty="0"/>
          </a:p>
          <a:p>
            <a:pPr algn="ctr" indent="0" marL="0">
              <a:buNone/>
            </a:pPr>
            <a:r>
              <a:rPr lang="en-US" sz="1100" dirty="0">
                <a:solidFill>
                  <a:srgbClr val="1A1A1A"/>
                </a:solidFill>
              </a:rPr>
              <a:t>GE's LEAP repair capacity, from ~$500M of spend</a:t>
            </a:r>
            <a:endParaRPr lang="en-US" sz="2400" dirty="0"/>
          </a:p>
        </p:txBody>
      </p:sp>
      <p:sp>
        <p:nvSpPr>
          <p:cNvPr id="1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OEM slots go to LEAP as independent shops clog. CFM56 owners need a faster option.</a:t>
            </a:r>
            <a:endParaRPr lang="en-US" sz="1700" dirty="0"/>
          </a:p>
        </p:txBody>
      </p:sp>
      <p:sp>
        <p:nvSpPr>
          <p:cNvPr id="1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Aviation Business News (2025); Bain (2024); GE Aerospace Q1/Q2'26 earnings calls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(3/5)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 shop visit grounds an engine for months. FTAI's module swap gets it flying in weeks.</a:t>
            </a:r>
            <a:endParaRPr lang="en-US" sz="1700" dirty="0"/>
          </a:p>
        </p:txBody>
      </p:sp>
      <p:sp>
        <p:nvSpPr>
          <p:cNvPr id="4" name="Timeline label"/>
          <p:cNvSpPr txBox="1"/>
          <p:nvPr/>
        </p:nvSpPr>
        <p:spPr>
          <a:xfrm>
            <a:off x="2148840" y="1600200"/>
            <a:ext cx="6400800" cy="274320"/>
          </a:xfrm>
          <a:prstGeom prst="rect">
            <a:avLst/>
          </a:prstGeom>
          <a:noFill/>
          <a:ln/>
        </p:spPr>
        <p:txBody>
          <a:bodyPr wrap="square" lIns="0" tIns="0" rIns="0" bIns="0" rtlCol="0" anchor="ctr"/>
          <a:lstStyle/>
          <a:p>
            <a:pPr algn="l" indent="0" marL="0">
              <a:buNone/>
            </a:pPr>
            <a:r>
              <a:rPr lang="en-US" sz="1200" i="1" dirty="0">
                <a:solidFill>
                  <a:schemeClr val="accent2"/>
                </a:solidFill>
              </a:rPr>
              <a:t>Days off wing</a:t>
            </a:r>
            <a:endParaRPr lang="en-US" sz="1200" dirty="0"/>
          </a:p>
        </p:txBody>
      </p:sp>
      <p:sp>
        <p:nvSpPr>
          <p:cNvPr id="5" name="Grid 0"/>
          <p:cNvSpPr/>
          <p:nvPr/>
        </p:nvSpPr>
        <p:spPr>
          <a:xfrm>
            <a:off x="2148840" y="1920240"/>
            <a:ext cx="0" cy="2743200"/>
          </a:xfrm>
          <a:prstGeom prst="line">
            <a:avLst/>
          </a:prstGeom>
          <a:noFill/>
          <a:ln w="9525">
            <a:solidFill>
              <a:srgbClr val="E3E0DC"/>
            </a:solidFill>
            <a:prstDash val="solid"/>
          </a:ln>
        </p:spPr>
      </p:sp>
      <p:sp>
        <p:nvSpPr>
          <p:cNvPr id="6" name="Tick 0"/>
          <p:cNvSpPr txBox="1"/>
          <p:nvPr/>
        </p:nvSpPr>
        <p:spPr>
          <a:xfrm>
            <a:off x="1874520" y="466344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0</a:t>
            </a:r>
            <a:endParaRPr lang="en-US" sz="1000" dirty="0"/>
          </a:p>
        </p:txBody>
      </p:sp>
      <p:sp>
        <p:nvSpPr>
          <p:cNvPr id="7" name="Grid 30"/>
          <p:cNvSpPr/>
          <p:nvPr/>
        </p:nvSpPr>
        <p:spPr>
          <a:xfrm>
            <a:off x="3215640" y="1920240"/>
            <a:ext cx="0" cy="2743200"/>
          </a:xfrm>
          <a:prstGeom prst="line">
            <a:avLst/>
          </a:prstGeom>
          <a:noFill/>
          <a:ln w="9525">
            <a:solidFill>
              <a:srgbClr val="E3E0DC"/>
            </a:solidFill>
            <a:prstDash val="solid"/>
          </a:ln>
        </p:spPr>
      </p:sp>
      <p:sp>
        <p:nvSpPr>
          <p:cNvPr id="8" name="Tick 30"/>
          <p:cNvSpPr txBox="1"/>
          <p:nvPr/>
        </p:nvSpPr>
        <p:spPr>
          <a:xfrm>
            <a:off x="2941320" y="466344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30</a:t>
            </a:r>
            <a:endParaRPr lang="en-US" sz="1000" dirty="0"/>
          </a:p>
        </p:txBody>
      </p:sp>
      <p:sp>
        <p:nvSpPr>
          <p:cNvPr id="9" name="Grid 60"/>
          <p:cNvSpPr/>
          <p:nvPr/>
        </p:nvSpPr>
        <p:spPr>
          <a:xfrm>
            <a:off x="4282440" y="1920240"/>
            <a:ext cx="0" cy="2743200"/>
          </a:xfrm>
          <a:prstGeom prst="line">
            <a:avLst/>
          </a:prstGeom>
          <a:noFill/>
          <a:ln w="9525">
            <a:solidFill>
              <a:srgbClr val="E3E0DC"/>
            </a:solidFill>
            <a:prstDash val="solid"/>
          </a:ln>
        </p:spPr>
      </p:sp>
      <p:sp>
        <p:nvSpPr>
          <p:cNvPr id="10" name="Tick 60"/>
          <p:cNvSpPr txBox="1"/>
          <p:nvPr/>
        </p:nvSpPr>
        <p:spPr>
          <a:xfrm>
            <a:off x="4008120" y="466344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60</a:t>
            </a:r>
            <a:endParaRPr lang="en-US" sz="1000" dirty="0"/>
          </a:p>
        </p:txBody>
      </p:sp>
      <p:sp>
        <p:nvSpPr>
          <p:cNvPr id="11" name="Grid 90"/>
          <p:cNvSpPr/>
          <p:nvPr/>
        </p:nvSpPr>
        <p:spPr>
          <a:xfrm>
            <a:off x="5349240" y="1920240"/>
            <a:ext cx="0" cy="2743200"/>
          </a:xfrm>
          <a:prstGeom prst="line">
            <a:avLst/>
          </a:prstGeom>
          <a:noFill/>
          <a:ln w="9525">
            <a:solidFill>
              <a:srgbClr val="E3E0DC"/>
            </a:solidFill>
            <a:prstDash val="solid"/>
          </a:ln>
        </p:spPr>
      </p:sp>
      <p:sp>
        <p:nvSpPr>
          <p:cNvPr id="12" name="Tick 90"/>
          <p:cNvSpPr txBox="1"/>
          <p:nvPr/>
        </p:nvSpPr>
        <p:spPr>
          <a:xfrm>
            <a:off x="5074920" y="466344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90</a:t>
            </a:r>
            <a:endParaRPr lang="en-US" sz="1000" dirty="0"/>
          </a:p>
        </p:txBody>
      </p:sp>
      <p:sp>
        <p:nvSpPr>
          <p:cNvPr id="13" name="Grid 120"/>
          <p:cNvSpPr/>
          <p:nvPr/>
        </p:nvSpPr>
        <p:spPr>
          <a:xfrm>
            <a:off x="6416040" y="1920240"/>
            <a:ext cx="0" cy="2743200"/>
          </a:xfrm>
          <a:prstGeom prst="line">
            <a:avLst/>
          </a:prstGeom>
          <a:noFill/>
          <a:ln w="9525">
            <a:solidFill>
              <a:srgbClr val="E3E0DC"/>
            </a:solidFill>
            <a:prstDash val="solid"/>
          </a:ln>
        </p:spPr>
      </p:sp>
      <p:sp>
        <p:nvSpPr>
          <p:cNvPr id="14" name="Tick 120"/>
          <p:cNvSpPr txBox="1"/>
          <p:nvPr/>
        </p:nvSpPr>
        <p:spPr>
          <a:xfrm>
            <a:off x="6141720" y="466344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120</a:t>
            </a:r>
            <a:endParaRPr lang="en-US" sz="1000" dirty="0"/>
          </a:p>
        </p:txBody>
      </p:sp>
      <p:sp>
        <p:nvSpPr>
          <p:cNvPr id="15" name="Grid 150"/>
          <p:cNvSpPr/>
          <p:nvPr/>
        </p:nvSpPr>
        <p:spPr>
          <a:xfrm>
            <a:off x="7482840" y="1920240"/>
            <a:ext cx="0" cy="2743200"/>
          </a:xfrm>
          <a:prstGeom prst="line">
            <a:avLst/>
          </a:prstGeom>
          <a:noFill/>
          <a:ln w="9525">
            <a:solidFill>
              <a:srgbClr val="E3E0DC"/>
            </a:solidFill>
            <a:prstDash val="solid"/>
          </a:ln>
        </p:spPr>
      </p:sp>
      <p:sp>
        <p:nvSpPr>
          <p:cNvPr id="16" name="Tick 150"/>
          <p:cNvSpPr txBox="1"/>
          <p:nvPr/>
        </p:nvSpPr>
        <p:spPr>
          <a:xfrm>
            <a:off x="7208520" y="466344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150</a:t>
            </a:r>
            <a:endParaRPr lang="en-US" sz="1000" dirty="0"/>
          </a:p>
        </p:txBody>
      </p:sp>
      <p:sp>
        <p:nvSpPr>
          <p:cNvPr id="17" name="Grid 180"/>
          <p:cNvSpPr/>
          <p:nvPr/>
        </p:nvSpPr>
        <p:spPr>
          <a:xfrm>
            <a:off x="8549640" y="1920240"/>
            <a:ext cx="0" cy="2743200"/>
          </a:xfrm>
          <a:prstGeom prst="line">
            <a:avLst/>
          </a:prstGeom>
          <a:noFill/>
          <a:ln w="9525">
            <a:solidFill>
              <a:srgbClr val="E3E0DC"/>
            </a:solidFill>
            <a:prstDash val="solid"/>
          </a:ln>
        </p:spPr>
      </p:sp>
      <p:sp>
        <p:nvSpPr>
          <p:cNvPr id="18" name="Tick 180"/>
          <p:cNvSpPr txBox="1"/>
          <p:nvPr/>
        </p:nvSpPr>
        <p:spPr>
          <a:xfrm>
            <a:off x="8275320" y="466344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180</a:t>
            </a:r>
            <a:endParaRPr lang="en-US" sz="1000" dirty="0"/>
          </a:p>
        </p:txBody>
      </p:sp>
      <p:sp>
        <p:nvSpPr>
          <p:cNvPr id="19" name="Shop visit label"/>
          <p:cNvSpPr txBox="1"/>
          <p:nvPr/>
        </p:nvSpPr>
        <p:spPr>
          <a:xfrm>
            <a:off x="320040" y="2103120"/>
            <a:ext cx="1737360" cy="685800"/>
          </a:xfrm>
          <a:prstGeom prst="rect">
            <a:avLst/>
          </a:prstGeom>
          <a:noFill/>
          <a:ln/>
        </p:spPr>
        <p:txBody>
          <a:bodyPr wrap="square" lIns="0" tIns="0" rIns="0" bIns="0" rtlCol="0" anchor="ctr"/>
          <a:lstStyle/>
          <a:p>
            <a:pPr algn="r" indent="0" marL="0">
              <a:buNone/>
            </a:pPr>
            <a:r>
              <a:rPr lang="en-US" sz="1400" b="1" dirty="0">
                <a:solidFill>
                  <a:srgbClr val="1A1A1A"/>
                </a:solidFill>
              </a:rPr>
              <a:t>Typical shop visit</a:t>
            </a:r>
            <a:endParaRPr lang="en-US" sz="1400" dirty="0"/>
          </a:p>
          <a:p>
            <a:pPr algn="r" indent="0" marL="0">
              <a:buNone/>
            </a:pPr>
            <a:r>
              <a:rPr lang="en-US" sz="1200" dirty="0">
                <a:solidFill>
                  <a:srgbClr val="1A1A1A"/>
                </a:solidFill>
              </a:rPr>
              <a:t>120–180 days</a:t>
            </a:r>
            <a:endParaRPr lang="en-US" sz="1400" dirty="0"/>
          </a:p>
        </p:txBody>
      </p:sp>
      <p:sp>
        <p:nvSpPr>
          <p:cNvPr id="20" name="Shop step 1"/>
          <p:cNvSpPr/>
          <p:nvPr/>
        </p:nvSpPr>
        <p:spPr>
          <a:xfrm>
            <a:off x="2148840" y="2148840"/>
            <a:ext cx="1532128" cy="59436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Wait for slot</a:t>
            </a:r>
            <a:endParaRPr lang="en-US" sz="900" dirty="0"/>
          </a:p>
        </p:txBody>
      </p:sp>
      <p:sp>
        <p:nvSpPr>
          <p:cNvPr id="21" name="Shop step 2"/>
          <p:cNvSpPr/>
          <p:nvPr/>
        </p:nvSpPr>
        <p:spPr>
          <a:xfrm>
            <a:off x="3571240" y="2148840"/>
            <a:ext cx="1105408" cy="594360"/>
          </a:xfrm>
          <a:prstGeom prst="chevron">
            <a:avLst/>
          </a:prstGeom>
          <a:solidFill>
            <a:srgbClr val="B5AEA9"/>
          </a:solidFill>
          <a:ln/>
        </p:spPr>
        <p:txBody>
          <a:bodyPr wrap="square" lIns="0" tIns="0" rIns="0" bIns="0" rtlCol="0" anchor="ctr"/>
          <a:lstStyle/>
          <a:p>
            <a:pPr algn="ctr" indent="0" marL="0">
              <a:buNone/>
            </a:pPr>
            <a:r>
              <a:rPr lang="en-US" sz="900" b="1" dirty="0">
                <a:solidFill>
                  <a:schemeClr val="tx2"/>
                </a:solidFill>
              </a:rPr>
              <a:t>Strip</a:t>
            </a:r>
            <a:endParaRPr lang="en-US" sz="900" dirty="0"/>
          </a:p>
        </p:txBody>
      </p:sp>
      <p:sp>
        <p:nvSpPr>
          <p:cNvPr id="22" name="Shop step 3"/>
          <p:cNvSpPr/>
          <p:nvPr/>
        </p:nvSpPr>
        <p:spPr>
          <a:xfrm>
            <a:off x="4566920" y="2148840"/>
            <a:ext cx="1532128" cy="59436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Wait for parts</a:t>
            </a:r>
            <a:endParaRPr lang="en-US" sz="900" dirty="0"/>
          </a:p>
        </p:txBody>
      </p:sp>
      <p:sp>
        <p:nvSpPr>
          <p:cNvPr id="23" name="Shop step 4"/>
          <p:cNvSpPr/>
          <p:nvPr/>
        </p:nvSpPr>
        <p:spPr>
          <a:xfrm>
            <a:off x="5989320" y="2148840"/>
            <a:ext cx="1247648" cy="594360"/>
          </a:xfrm>
          <a:prstGeom prst="chevron">
            <a:avLst/>
          </a:prstGeom>
          <a:solidFill>
            <a:srgbClr val="B5AEA9"/>
          </a:solidFill>
          <a:ln/>
        </p:spPr>
        <p:txBody>
          <a:bodyPr wrap="square" lIns="0" tIns="0" rIns="0" bIns="0" rtlCol="0" anchor="ctr"/>
          <a:lstStyle/>
          <a:p>
            <a:pPr algn="ctr" indent="0" marL="0">
              <a:buNone/>
            </a:pPr>
            <a:r>
              <a:rPr lang="en-US" sz="900" b="1" dirty="0">
                <a:solidFill>
                  <a:schemeClr val="tx2"/>
                </a:solidFill>
              </a:rPr>
              <a:t>Repair</a:t>
            </a:r>
            <a:endParaRPr lang="en-US" sz="900" dirty="0"/>
          </a:p>
        </p:txBody>
      </p:sp>
      <p:sp>
        <p:nvSpPr>
          <p:cNvPr id="24" name="Shop step 5"/>
          <p:cNvSpPr/>
          <p:nvPr/>
        </p:nvSpPr>
        <p:spPr>
          <a:xfrm>
            <a:off x="7127240" y="2148840"/>
            <a:ext cx="465328" cy="59436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Test</a:t>
            </a:r>
            <a:endParaRPr lang="en-US" sz="900" dirty="0"/>
          </a:p>
        </p:txBody>
      </p:sp>
      <p:sp>
        <p:nvSpPr>
          <p:cNvPr id="25" name="Shop visit range"/>
          <p:cNvSpPr/>
          <p:nvPr/>
        </p:nvSpPr>
        <p:spPr>
          <a:xfrm>
            <a:off x="7482840" y="2240280"/>
            <a:ext cx="1066800" cy="411480"/>
          </a:xfrm>
          <a:prstGeom prst="rect">
            <a:avLst/>
          </a:prstGeom>
          <a:ln w="15875">
            <a:solidFill>
              <a:srgbClr val="B5AEA9"/>
            </a:solidFill>
            <a:prstDash val="dash"/>
          </a:ln>
        </p:spPr>
      </p:sp>
      <p:sp>
        <p:nvSpPr>
          <p:cNvPr id="26" name="Swap label"/>
          <p:cNvSpPr txBox="1"/>
          <p:nvPr/>
        </p:nvSpPr>
        <p:spPr>
          <a:xfrm>
            <a:off x="320040" y="3337560"/>
            <a:ext cx="1737360" cy="685800"/>
          </a:xfrm>
          <a:prstGeom prst="rect">
            <a:avLst/>
          </a:prstGeom>
          <a:noFill/>
          <a:ln/>
        </p:spPr>
        <p:txBody>
          <a:bodyPr wrap="square" lIns="0" tIns="0" rIns="0" bIns="0" rtlCol="0" anchor="ctr"/>
          <a:lstStyle/>
          <a:p>
            <a:pPr algn="r" indent="0" marL="0">
              <a:buNone/>
            </a:pPr>
            <a:r>
              <a:rPr lang="en-US" sz="1400" b="1" dirty="0">
                <a:solidFill>
                  <a:schemeClr val="tx2"/>
                </a:solidFill>
              </a:rPr>
              <a:t>FTAI module swap</a:t>
            </a:r>
            <a:endParaRPr lang="en-US" sz="1400" dirty="0"/>
          </a:p>
          <a:p>
            <a:pPr algn="r" indent="0" marL="0">
              <a:buNone/>
            </a:pPr>
            <a:r>
              <a:rPr lang="en-US" sz="1200" dirty="0">
                <a:solidFill>
                  <a:schemeClr val="tx2"/>
                </a:solidFill>
              </a:rPr>
              <a:t>5–25 days</a:t>
            </a:r>
            <a:endParaRPr lang="en-US" sz="1400" dirty="0"/>
          </a:p>
        </p:txBody>
      </p:sp>
      <p:sp>
        <p:nvSpPr>
          <p:cNvPr id="27" name="Swap bar"/>
          <p:cNvSpPr/>
          <p:nvPr/>
        </p:nvSpPr>
        <p:spPr>
          <a:xfrm>
            <a:off x="2148840" y="3383280"/>
            <a:ext cx="998728" cy="594360"/>
          </a:xfrm>
          <a:prstGeom prst="chevron">
            <a:avLst/>
          </a:prstGeom>
          <a:solidFill>
            <a:srgbClr val="0A1C58"/>
          </a:solidFill>
          <a:ln/>
        </p:spPr>
      </p:sp>
      <p:sp>
        <p:nvSpPr>
          <p:cNvPr id="28" name="Swap description"/>
          <p:cNvSpPr txBox="1"/>
          <p:nvPr/>
        </p:nvSpPr>
        <p:spPr>
          <a:xfrm>
            <a:off x="3266440" y="3383280"/>
            <a:ext cx="3840480" cy="594360"/>
          </a:xfrm>
          <a:prstGeom prst="rect">
            <a:avLst/>
          </a:prstGeom>
          <a:noFill/>
          <a:ln/>
        </p:spPr>
        <p:txBody>
          <a:bodyPr wrap="square" lIns="0" tIns="0" rIns="0" bIns="0" rtlCol="0" anchor="ctr"/>
          <a:lstStyle/>
          <a:p>
            <a:pPr algn="l" indent="0" marL="0">
              <a:buNone/>
            </a:pPr>
            <a:r>
              <a:rPr lang="en-US" sz="1300" b="1" dirty="0">
                <a:solidFill>
                  <a:schemeClr val="tx2"/>
                </a:solidFill>
              </a:rPr>
              <a:t>Swap a restored module from FTAI's pool, test, fly</a:t>
            </a:r>
            <a:endParaRPr lang="en-US" sz="1300" dirty="0"/>
          </a:p>
        </p:txBody>
      </p:sp>
      <p:sp>
        <p:nvSpPr>
          <p:cNvPr id="29" name="Speed callout"/>
          <p:cNvSpPr/>
          <p:nvPr/>
        </p:nvSpPr>
        <p:spPr>
          <a:xfrm>
            <a:off x="7178040" y="3429000"/>
            <a:ext cx="1325880" cy="114300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600" b="1" dirty="0">
                <a:solidFill>
                  <a:schemeClr val="bg1"/>
                </a:solidFill>
              </a:rPr>
              <a:t>~7x</a:t>
            </a:r>
            <a:endParaRPr lang="en-US" sz="2600" dirty="0"/>
          </a:p>
          <a:p>
            <a:pPr algn="ctr" indent="0" marL="0">
              <a:buNone/>
            </a:pPr>
            <a:r>
              <a:rPr lang="en-US" sz="1200" b="1" dirty="0">
                <a:solidFill>
                  <a:schemeClr val="bg1"/>
                </a:solidFill>
              </a:rPr>
              <a:t>faster</a:t>
            </a:r>
            <a:endParaRPr lang="en-US" sz="2600" dirty="0"/>
          </a:p>
        </p:txBody>
      </p:sp>
      <p:sp>
        <p:nvSpPr>
          <p:cNvPr id="30" name="Why it works"/>
          <p:cNvSpPr txBox="1"/>
          <p:nvPr/>
        </p:nvSpPr>
        <p:spPr>
          <a:xfrm>
            <a:off x="320040" y="4983480"/>
            <a:ext cx="8503920" cy="365760"/>
          </a:xfrm>
          <a:prstGeom prst="rect">
            <a:avLst/>
          </a:prstGeom>
          <a:solidFill>
            <a:srgbClr val="EFEDEA"/>
          </a:solidFill>
          <a:ln/>
        </p:spPr>
        <p:txBody>
          <a:bodyPr wrap="square" lIns="0" tIns="0" rIns="0" bIns="0" rtlCol="0" anchor="ctr"/>
          <a:lstStyle/>
          <a:p>
            <a:pPr algn="ctr" indent="0" marL="0">
              <a:buNone/>
            </a:pPr>
            <a:r>
              <a:rPr lang="en-US" sz="1300" i="1" dirty="0">
                <a:solidFill>
                  <a:srgbClr val="1A1A1A"/>
                </a:solidFill>
              </a:rPr>
              <a:t>Why it works: FTAI keeps a pool of restored modules on the shelf, so the airline never waits for parts.</a:t>
            </a:r>
            <a:endParaRPr lang="en-US" sz="1300" dirty="0"/>
          </a:p>
        </p:txBody>
      </p:sp>
      <p:sp>
        <p:nvSpPr>
          <p:cNvPr id="31"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Every day an engine is off wing costs the airline a jet. FTAI sells that time back.</a:t>
            </a:r>
            <a:endParaRPr lang="en-US" sz="1700" dirty="0"/>
          </a:p>
        </p:txBody>
      </p:sp>
      <p:sp>
        <p:nvSpPr>
          <p:cNvPr id="32"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Q2'24 earnings call (120–180 vs. 5–25 days, via third-party analysis); shop-visit step lengths illustrative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(4/5)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built capacity ahead of demand. New sites leave room to keep taking share.</a:t>
            </a:r>
            <a:endParaRPr lang="en-US" sz="1700" dirty="0"/>
          </a:p>
        </p:txBody>
      </p:sp>
      <p:sp>
        <p:nvSpPr>
          <p:cNvPr id="4" name="Capacity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Output vs. Capacity (Modules)</a:t>
            </a:r>
            <a:endParaRPr lang="en-US" sz="1600" dirty="0"/>
          </a:p>
        </p:txBody>
      </p:sp>
      <p:sp>
        <p:nvSpPr>
          <p:cNvPr id="5" name="Capacity header rule"/>
          <p:cNvSpPr/>
          <p:nvPr/>
        </p:nvSpPr>
        <p:spPr>
          <a:xfrm>
            <a:off x="320040" y="1975104"/>
            <a:ext cx="4206240" cy="0"/>
          </a:xfrm>
          <a:prstGeom prst="line">
            <a:avLst/>
          </a:prstGeom>
          <a:noFill/>
          <a:ln w="12700">
            <a:solidFill>
              <a:srgbClr val="1A1A1A"/>
            </a:solidFill>
            <a:prstDash val="solid"/>
          </a:ln>
        </p:spPr>
      </p:sp>
      <p:graphicFrame>
        <p:nvGraphicFramePr>
          <p:cNvPr id="6" name="Capacity chart" descr=""/>
          <p:cNvGraphicFramePr/>
          <p:nvPr/>
        </p:nvGraphicFramePr>
        <p:xfrm>
          <a:off x="320040" y="2103120"/>
          <a:ext cx="4206240" cy="2926080"/>
        </p:xfrm>
        <a:graphic xmlns:a="http://schemas.openxmlformats.org/drawingml/2006/main">
          <a:graphicData uri="http://schemas.openxmlformats.org/drawingml/2006/chart">
            <c:chart xmlns:c="http://schemas.openxmlformats.org/drawingml/2006/chart" r:id="rId1"/>
          </a:graphicData>
        </a:graphic>
      </p:graphicFrame>
      <p:sp>
        <p:nvSpPr>
          <p:cNvPr id="7" name="Capacity label"/>
          <p:cNvSpPr txBox="1"/>
          <p:nvPr/>
        </p:nvSpPr>
        <p:spPr>
          <a:xfrm>
            <a:off x="1828800" y="2103120"/>
            <a:ext cx="265176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3,000 capacity</a:t>
            </a:r>
            <a:endParaRPr lang="en-US" sz="1200" dirty="0"/>
          </a:p>
        </p:txBody>
      </p:sp>
      <p:sp>
        <p:nvSpPr>
          <p:cNvPr id="8" name="Capacity legend"/>
          <p:cNvSpPr txBox="1"/>
          <p:nvPr/>
        </p:nvSpPr>
        <p:spPr>
          <a:xfrm>
            <a:off x="320040" y="5047488"/>
            <a:ext cx="4206240" cy="256032"/>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Output   </a:t>
            </a:r>
            <a:pPr algn="ctr" indent="0" marL="0">
              <a:buNone/>
            </a:pPr>
            <a:r>
              <a:rPr lang="en-US" sz="1100" dirty="0">
                <a:solidFill>
                  <a:srgbClr val="B5AEA9"/>
                </a:solidFill>
              </a:rPr>
              <a:t>■ </a:t>
            </a:r>
            <a:pPr algn="ctr" indent="0" marL="0">
              <a:buNone/>
            </a:pPr>
            <a:r>
              <a:rPr lang="en-US" sz="1100" dirty="0">
                <a:solidFill>
                  <a:srgbClr val="1A1A1A"/>
                </a:solidFill>
              </a:rPr>
              <a:t>Unused capacity</a:t>
            </a:r>
            <a:endParaRPr lang="en-US" sz="1100" dirty="0"/>
          </a:p>
        </p:txBody>
      </p:sp>
      <p:sp>
        <p:nvSpPr>
          <p:cNvPr id="9" name="Network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The Network</a:t>
            </a:r>
            <a:endParaRPr lang="en-US" sz="1600" dirty="0"/>
          </a:p>
        </p:txBody>
      </p:sp>
      <p:sp>
        <p:nvSpPr>
          <p:cNvPr id="10" name="Network header rule"/>
          <p:cNvSpPr/>
          <p:nvPr/>
        </p:nvSpPr>
        <p:spPr>
          <a:xfrm>
            <a:off x="4892040" y="1975104"/>
            <a:ext cx="3931920" cy="0"/>
          </a:xfrm>
          <a:prstGeom prst="line">
            <a:avLst/>
          </a:prstGeom>
          <a:noFill/>
          <a:ln w="12700">
            <a:solidFill>
              <a:srgbClr val="1A1A1A"/>
            </a:solidFill>
            <a:prstDash val="solid"/>
          </a:ln>
        </p:spPr>
      </p:sp>
      <p:sp>
        <p:nvSpPr>
          <p:cNvPr id="11" name="Site Montreal"/>
          <p:cNvSpPr txBox="1"/>
          <p:nvPr/>
        </p:nvSpPr>
        <p:spPr>
          <a:xfrm>
            <a:off x="4892040" y="2103120"/>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Montreal</a:t>
            </a:r>
            <a:endParaRPr lang="en-US" sz="1500" dirty="0"/>
          </a:p>
          <a:p>
            <a:pPr algn="ctr" indent="0" marL="0">
              <a:buNone/>
            </a:pPr>
            <a:r>
              <a:rPr lang="en-US" sz="1100" dirty="0">
                <a:solidFill>
                  <a:schemeClr val="tx2"/>
                </a:solidFill>
              </a:rPr>
              <a:t>Flagship, up to 900</a:t>
            </a:r>
            <a:endParaRPr lang="en-US" sz="1500" dirty="0"/>
          </a:p>
        </p:txBody>
      </p:sp>
      <p:sp>
        <p:nvSpPr>
          <p:cNvPr id="12" name="Site Miami"/>
          <p:cNvSpPr txBox="1"/>
          <p:nvPr/>
        </p:nvSpPr>
        <p:spPr>
          <a:xfrm>
            <a:off x="6903720" y="2103120"/>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Miami</a:t>
            </a:r>
            <a:endParaRPr lang="en-US" sz="1500" dirty="0"/>
          </a:p>
          <a:p>
            <a:pPr algn="ctr" indent="0" marL="0">
              <a:buNone/>
            </a:pPr>
            <a:r>
              <a:rPr lang="en-US" sz="1100" dirty="0">
                <a:solidFill>
                  <a:schemeClr val="tx2"/>
                </a:solidFill>
              </a:rPr>
              <a:t>~475 in 2026E</a:t>
            </a:r>
            <a:endParaRPr lang="en-US" sz="1500" dirty="0"/>
          </a:p>
        </p:txBody>
      </p:sp>
      <p:sp>
        <p:nvSpPr>
          <p:cNvPr id="13" name="Site Rome"/>
          <p:cNvSpPr txBox="1"/>
          <p:nvPr/>
        </p:nvSpPr>
        <p:spPr>
          <a:xfrm>
            <a:off x="4892040" y="3090672"/>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Rome</a:t>
            </a:r>
            <a:endParaRPr lang="en-US" sz="1500" dirty="0"/>
          </a:p>
          <a:p>
            <a:pPr algn="ctr" indent="0" marL="0">
              <a:buNone/>
            </a:pPr>
            <a:r>
              <a:rPr lang="en-US" sz="1100" dirty="0">
                <a:solidFill>
                  <a:schemeClr val="tx2"/>
                </a:solidFill>
              </a:rPr>
              <a:t>Ramping</a:t>
            </a:r>
            <a:endParaRPr lang="en-US" sz="1500" dirty="0"/>
          </a:p>
        </p:txBody>
      </p:sp>
      <p:sp>
        <p:nvSpPr>
          <p:cNvPr id="14" name="Site Lisbon"/>
          <p:cNvSpPr txBox="1"/>
          <p:nvPr/>
        </p:nvSpPr>
        <p:spPr>
          <a:xfrm>
            <a:off x="6903720" y="3090672"/>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Lisbon</a:t>
            </a:r>
            <a:endParaRPr lang="en-US" sz="1500" dirty="0"/>
          </a:p>
          <a:p>
            <a:pPr algn="ctr" indent="0" marL="0">
              <a:buNone/>
            </a:pPr>
            <a:r>
              <a:rPr lang="en-US" sz="1100" dirty="0">
                <a:solidFill>
                  <a:schemeClr val="bg1"/>
                </a:solidFill>
              </a:rPr>
              <a:t>Heading to 300+</a:t>
            </a:r>
            <a:endParaRPr lang="en-US" sz="1500" dirty="0"/>
          </a:p>
        </p:txBody>
      </p:sp>
      <p:sp>
        <p:nvSpPr>
          <p:cNvPr id="15" name="Site Jakarta"/>
          <p:cNvSpPr txBox="1"/>
          <p:nvPr/>
        </p:nvSpPr>
        <p:spPr>
          <a:xfrm>
            <a:off x="4892040" y="4078224"/>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Jakarta</a:t>
            </a:r>
            <a:endParaRPr lang="en-US" sz="1500" dirty="0"/>
          </a:p>
          <a:p>
            <a:pPr algn="ctr" indent="0" marL="0">
              <a:buNone/>
            </a:pPr>
            <a:r>
              <a:rPr lang="en-US" sz="1100" dirty="0">
                <a:solidFill>
                  <a:schemeClr val="bg1"/>
                </a:solidFill>
              </a:rPr>
              <a:t>Heavy work, 300–450 (E)</a:t>
            </a:r>
            <a:endParaRPr lang="en-US" sz="1500" dirty="0"/>
          </a:p>
        </p:txBody>
      </p:sp>
      <p:sp>
        <p:nvSpPr>
          <p:cNvPr id="16" name="Site Cairo"/>
          <p:cNvSpPr txBox="1"/>
          <p:nvPr/>
        </p:nvSpPr>
        <p:spPr>
          <a:xfrm>
            <a:off x="6903720" y="4078224"/>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Cairo</a:t>
            </a:r>
            <a:endParaRPr lang="en-US" sz="1500" dirty="0"/>
          </a:p>
          <a:p>
            <a:pPr algn="ctr" indent="0" marL="0">
              <a:buNone/>
            </a:pPr>
            <a:r>
              <a:rPr lang="en-US" sz="1100" dirty="0">
                <a:solidFill>
                  <a:schemeClr val="bg1"/>
                </a:solidFill>
              </a:rPr>
              <a:t>Light work, 150–180 (E)</a:t>
            </a:r>
            <a:endParaRPr lang="en-US" sz="1500" dirty="0"/>
          </a:p>
        </p:txBody>
      </p:sp>
      <p:sp>
        <p:nvSpPr>
          <p:cNvPr id="17" name="Network legend"/>
          <p:cNvSpPr txBox="1"/>
          <p:nvPr/>
        </p:nvSpPr>
        <p:spPr>
          <a:xfrm>
            <a:off x="4892040" y="5047488"/>
            <a:ext cx="3931920" cy="256032"/>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New sites   </a:t>
            </a:r>
            <a:pPr algn="ctr" indent="0" marL="0">
              <a:buNone/>
            </a:pPr>
            <a:r>
              <a:rPr lang="en-US" sz="1100" dirty="0">
                <a:solidFill>
                  <a:srgbClr val="DCD8D3"/>
                </a:solidFill>
              </a:rPr>
              <a:t>■ </a:t>
            </a:r>
            <a:pPr algn="ctr" indent="0" marL="0">
              <a:buNone/>
            </a:pPr>
            <a:r>
              <a:rPr lang="en-US" sz="1100" dirty="0">
                <a:solidFill>
                  <a:srgbClr val="1A1A1A"/>
                </a:solidFill>
              </a:rPr>
              <a:t>Existing (modules / yr)</a:t>
            </a:r>
            <a:endParaRPr lang="en-US" sz="1100" dirty="0"/>
          </a:p>
        </p:txBody>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With 3,000 modules of capacity against 1,700 planned, FTAI can absorb share gains.</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Q1/Q2'26 earnings supplements; GMF and EgyptAir reports; GPS estimates (E)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(5/5)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Share gains plus the SCI floor take FTAI to ~1,700 modules in FY27, in line with its target.</a:t>
            </a:r>
            <a:endParaRPr lang="en-US" sz="1700" dirty="0"/>
          </a:p>
        </p:txBody>
      </p:sp>
      <p:sp>
        <p:nvSpPr>
          <p:cNvPr id="4" name="Volume tile 1"/>
          <p:cNvSpPr txBox="1"/>
          <p:nvPr/>
        </p:nvSpPr>
        <p:spPr>
          <a:xfrm>
            <a:off x="320040"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2,386</a:t>
            </a:r>
            <a:endParaRPr lang="en-US" sz="2000" dirty="0"/>
          </a:p>
          <a:p>
            <a:pPr algn="ctr" indent="0" marL="0">
              <a:buNone/>
            </a:pPr>
            <a:r>
              <a:rPr lang="en-US" sz="1100" dirty="0">
                <a:solidFill>
                  <a:schemeClr val="tx2"/>
                </a:solidFill>
              </a:rPr>
              <a:t>CFM56 shop visits</a:t>
            </a:r>
            <a:endParaRPr lang="en-US" sz="2000" dirty="0"/>
          </a:p>
        </p:txBody>
      </p:sp>
      <p:sp>
        <p:nvSpPr>
          <p:cNvPr id="5" name="Volume tile 2"/>
          <p:cNvSpPr txBox="1"/>
          <p:nvPr/>
        </p:nvSpPr>
        <p:spPr>
          <a:xfrm>
            <a:off x="2048256"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3</a:t>
            </a:r>
            <a:endParaRPr lang="en-US" sz="2000" dirty="0"/>
          </a:p>
          <a:p>
            <a:pPr algn="ctr" indent="0" marL="0">
              <a:buNone/>
            </a:pPr>
            <a:r>
              <a:rPr lang="en-US" sz="1100" dirty="0">
                <a:solidFill>
                  <a:schemeClr val="tx2"/>
                </a:solidFill>
              </a:rPr>
              <a:t>modules each</a:t>
            </a:r>
            <a:endParaRPr lang="en-US" sz="2000" dirty="0"/>
          </a:p>
        </p:txBody>
      </p:sp>
      <p:sp>
        <p:nvSpPr>
          <p:cNvPr id="6" name="Volume tile 3"/>
          <p:cNvSpPr txBox="1"/>
          <p:nvPr/>
        </p:nvSpPr>
        <p:spPr>
          <a:xfrm>
            <a:off x="3776472"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16.8%</a:t>
            </a:r>
            <a:endParaRPr lang="en-US" sz="2000" dirty="0"/>
          </a:p>
          <a:p>
            <a:pPr algn="ctr" indent="0" marL="0">
              <a:buNone/>
            </a:pPr>
            <a:r>
              <a:rPr lang="en-US" sz="1100" dirty="0">
                <a:solidFill>
                  <a:schemeClr val="tx2"/>
                </a:solidFill>
              </a:rPr>
              <a:t>FTAI share</a:t>
            </a:r>
            <a:endParaRPr lang="en-US" sz="2000" dirty="0"/>
          </a:p>
        </p:txBody>
      </p:sp>
      <p:sp>
        <p:nvSpPr>
          <p:cNvPr id="7" name="Volume tile 4"/>
          <p:cNvSpPr txBox="1"/>
          <p:nvPr/>
        </p:nvSpPr>
        <p:spPr>
          <a:xfrm>
            <a:off x="5504688"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+ 482</a:t>
            </a:r>
            <a:endParaRPr lang="en-US" sz="2000" dirty="0"/>
          </a:p>
          <a:p>
            <a:pPr algn="ctr" indent="0" marL="0">
              <a:buNone/>
            </a:pPr>
            <a:r>
              <a:rPr lang="en-US" sz="1100" dirty="0">
                <a:solidFill>
                  <a:schemeClr val="tx2"/>
                </a:solidFill>
              </a:rPr>
              <a:t>SCI modules</a:t>
            </a:r>
            <a:endParaRPr lang="en-US" sz="2000" dirty="0"/>
          </a:p>
        </p:txBody>
      </p:sp>
      <p:sp>
        <p:nvSpPr>
          <p:cNvPr id="8" name="Volume tile 5"/>
          <p:cNvSpPr txBox="1"/>
          <p:nvPr/>
        </p:nvSpPr>
        <p:spPr>
          <a:xfrm>
            <a:off x="7232904" y="1600200"/>
            <a:ext cx="1572768" cy="868680"/>
          </a:xfrm>
          <a:prstGeom prst="rect">
            <a:avLst/>
          </a:prstGeom>
          <a:solidFill>
            <a:srgbClr val="0A1C58"/>
          </a:solidFill>
          <a:ln/>
        </p:spPr>
        <p:txBody>
          <a:bodyPr wrap="square" lIns="25400" tIns="25400" rIns="25400" bIns="25400" rtlCol="0" anchor="ctr"/>
          <a:lstStyle/>
          <a:p>
            <a:pPr algn="ctr" indent="0" marL="0">
              <a:buNone/>
            </a:pPr>
            <a:r>
              <a:rPr lang="en-US" sz="2000" b="1" dirty="0">
                <a:solidFill>
                  <a:schemeClr val="bg1"/>
                </a:solidFill>
              </a:rPr>
              <a:t>= 1,687</a:t>
            </a:r>
            <a:endParaRPr lang="en-US" sz="2000" dirty="0"/>
          </a:p>
          <a:p>
            <a:pPr algn="ctr" indent="0" marL="0">
              <a:buNone/>
            </a:pPr>
            <a:r>
              <a:rPr lang="en-US" sz="1100" dirty="0">
                <a:solidFill>
                  <a:schemeClr val="bg1"/>
                </a:solidFill>
              </a:rPr>
              <a:t>FY27E modules</a:t>
            </a:r>
            <a:endParaRPr lang="en-US" sz="2000" dirty="0"/>
          </a:p>
        </p:txBody>
      </p:sp>
      <p:sp>
        <p:nvSpPr>
          <p:cNvPr id="9" name="Share header"/>
          <p:cNvSpPr txBox="1"/>
          <p:nvPr/>
        </p:nvSpPr>
        <p:spPr>
          <a:xfrm>
            <a:off x="320040" y="260604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FTAI Share of CFM56 Module Work</a:t>
            </a:r>
            <a:endParaRPr lang="en-US" sz="1600" dirty="0"/>
          </a:p>
        </p:txBody>
      </p:sp>
      <p:sp>
        <p:nvSpPr>
          <p:cNvPr id="10" name="Share header rule"/>
          <p:cNvSpPr/>
          <p:nvPr/>
        </p:nvSpPr>
        <p:spPr>
          <a:xfrm>
            <a:off x="320040" y="3026664"/>
            <a:ext cx="4206240" cy="0"/>
          </a:xfrm>
          <a:prstGeom prst="line">
            <a:avLst/>
          </a:prstGeom>
          <a:noFill/>
          <a:ln w="12700">
            <a:solidFill>
              <a:srgbClr val="1A1A1A"/>
            </a:solidFill>
            <a:prstDash val="solid"/>
          </a:ln>
        </p:spPr>
      </p:sp>
      <p:graphicFrame>
        <p:nvGraphicFramePr>
          <p:cNvPr id="11" name="Share chart" descr=""/>
          <p:cNvGraphicFramePr/>
          <p:nvPr/>
        </p:nvGraphicFramePr>
        <p:xfrm>
          <a:off x="320040" y="3108960"/>
          <a:ext cx="4206240" cy="2240280"/>
        </p:xfrm>
        <a:graphic xmlns:a="http://schemas.openxmlformats.org/drawingml/2006/main">
          <a:graphicData uri="http://schemas.openxmlformats.org/drawingml/2006/chart">
            <c:chart xmlns:c="http://schemas.openxmlformats.org/drawingml/2006/chart" r:id="rId1"/>
          </a:graphicData>
        </a:graphic>
      </p:graphicFrame>
      <p:sp>
        <p:nvSpPr>
          <p:cNvPr id="12" name="Modules header"/>
          <p:cNvSpPr txBox="1"/>
          <p:nvPr/>
        </p:nvSpPr>
        <p:spPr>
          <a:xfrm>
            <a:off x="4892040" y="260604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FTAI Modules Produced</a:t>
            </a:r>
            <a:endParaRPr lang="en-US" sz="1600" dirty="0"/>
          </a:p>
        </p:txBody>
      </p:sp>
      <p:sp>
        <p:nvSpPr>
          <p:cNvPr id="13" name="Modules header rule"/>
          <p:cNvSpPr/>
          <p:nvPr/>
        </p:nvSpPr>
        <p:spPr>
          <a:xfrm>
            <a:off x="4892040" y="3026664"/>
            <a:ext cx="3931920" cy="0"/>
          </a:xfrm>
          <a:prstGeom prst="line">
            <a:avLst/>
          </a:prstGeom>
          <a:noFill/>
          <a:ln w="12700">
            <a:solidFill>
              <a:srgbClr val="1A1A1A"/>
            </a:solidFill>
            <a:prstDash val="solid"/>
          </a:ln>
        </p:spPr>
      </p:sp>
      <p:graphicFrame>
        <p:nvGraphicFramePr>
          <p:cNvPr id="14" name="Modules chart" descr=""/>
          <p:cNvGraphicFramePr/>
          <p:nvPr/>
        </p:nvGraphicFramePr>
        <p:xfrm>
          <a:off x="4892040" y="3108960"/>
          <a:ext cx="3931920" cy="2011680"/>
        </p:xfrm>
        <a:graphic xmlns:a="http://schemas.openxmlformats.org/drawingml/2006/main">
          <a:graphicData uri="http://schemas.openxmlformats.org/drawingml/2006/chart">
            <c:chart xmlns:c="http://schemas.openxmlformats.org/drawingml/2006/chart" r:id="rId2"/>
          </a:graphicData>
        </a:graphic>
      </p:graphicFrame>
      <p:sp>
        <p:nvSpPr>
          <p:cNvPr id="15" name="Modules legend"/>
          <p:cNvSpPr txBox="1"/>
          <p:nvPr/>
        </p:nvSpPr>
        <p:spPr>
          <a:xfrm>
            <a:off x="4892040" y="5120640"/>
            <a:ext cx="3931920" cy="228600"/>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Third-party   </a:t>
            </a:r>
            <a:pPr algn="ctr" indent="0" marL="0">
              <a:buNone/>
            </a:pPr>
            <a:r>
              <a:rPr lang="en-US" sz="1100" dirty="0">
                <a:solidFill>
                  <a:srgbClr val="B5AEA9"/>
                </a:solidFill>
              </a:rPr>
              <a:t>■ </a:t>
            </a:r>
            <a:pPr algn="ctr" indent="0" marL="0">
              <a:buNone/>
            </a:pPr>
            <a:r>
              <a:rPr lang="en-US" sz="1100" dirty="0">
                <a:solidFill>
                  <a:srgbClr val="1A1A1A"/>
                </a:solidFill>
              </a:rPr>
              <a:t>SCI floor</a:t>
            </a:r>
            <a:endParaRPr lang="en-US" sz="11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Even if share stalls, SCI's contracted fleet keeps adding volume: a floor under the thesis.</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2024–25 share per GPS analysis; FTAI 2027 target of 1,700 modules (Q2'26 supplement)</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17</a:t>
            </a:fld>
            <a:endParaRPr lang="en-US"/>
          </a:p>
        </p:txBody>
      </p:sp>
    </p:spTree>
  </p:cSld>
  <p:clrMapOvr>
    <a:masterClrMapping/>
  </p:clrMapOvr>
</p:sld>
</file>

<file path=ppt/theme/theme1.xml><?xml version="1.0" encoding="utf-8"?>
<a:theme xmlns:a="http://schemas.openxmlformats.org/drawingml/2006/main" name="Global Platinum Securities">
  <a:themeElements>
    <a:clrScheme name="Global Platinum Securities">
      <a:dk1>
        <a:srgbClr val="1A1A1A"/>
      </a:dk1>
      <a:lt1>
        <a:srgbClr val="FFFFFF"/>
      </a:lt1>
      <a:dk2>
        <a:srgbClr val="0A1C58"/>
      </a:dk2>
      <a:lt2>
        <a:srgbClr val="EFEDEA"/>
      </a:lt2>
      <a:accent1>
        <a:srgbClr val="0A1C58"/>
      </a:accent1>
      <a:accent2>
        <a:srgbClr val="847C7A"/>
      </a:accent2>
      <a:accent3>
        <a:srgbClr val="DCD8D3"/>
      </a:accent3>
      <a:accent4>
        <a:srgbClr val="3B4C82"/>
      </a:accent4>
      <a:accent5>
        <a:srgbClr val="B5AEA9"/>
      </a:accent5>
      <a:accent6>
        <a:srgbClr val="5A5350"/>
      </a:accent6>
      <a:hlink>
        <a:srgbClr val="0A1C58"/>
      </a:hlink>
      <a:folHlink>
        <a:srgbClr val="847C7A"/>
      </a:folHlink>
    </a:clrScheme>
    <a:fontScheme name="Global Platinum Securities">
      <a:majorFont>
        <a:latin typeface="Garamon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aramon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Global Platinum Securities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FTAI Aviation — Long Recommendation</dc:title>
  <dc:subject>PptxGenJS Presentation</dc:subject>
  <dc:creator>PptxGenJS</dc:creator>
  <cp:lastModifiedBy>PptxGenJS</cp:lastModifiedBy>
  <cp:revision>1</cp:revision>
  <dcterms:created xsi:type="dcterms:W3CDTF">2026-10-08T22:47:54Z</dcterms:created>
  <dcterms:modified xsi:type="dcterms:W3CDTF">2026-10-08T22:47:54Z</dcterms:modified>
</cp:coreProperties>
</file>