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4b27d7d-c1f1-06f1-06c4-f0414baf88e9}">
          <p14:sldIdLst>
            <p14:sldId id="256"/>
          </p14:sldIdLst>
        </p14:section>
        <p14:section name="The Opportunity" id="{9797a552-2527-f7ed-92d6-c6851ff2551f}">
          <p14:sldIdLst>
            <p14:sldId id="257"/>
            <p14:sldId id="258"/>
            <p14:sldId id="259"/>
            <p14:sldId id="260"/>
          </p14:sldIdLst>
        </p14:section>
        <p14:section name="Returns" id="{398f241b-a6a1-fd09-85e5-d8f590ed79b2}">
          <p14:sldIdLst>
            <p14:sldId id="261"/>
          </p14:sldIdLst>
        </p14:section>
        <p14:section name="Business Overview" id="{74a643fc-7c43-781d-1697-64518b20c19d}">
          <p14:sldIdLst>
            <p14:sldId id="262"/>
            <p14:sldId id="263"/>
          </p14:sldIdLst>
        </p14:section>
        <p14:section name="Thesis 1a" id="{8cfa63a4-192a-a850-9629-afba908b57d0}">
          <p14:sldIdLst>
            <p14:sldId id="264"/>
            <p14:sldId id="265"/>
            <p14:sldId id="266"/>
            <p14:sldId id="267"/>
          </p14:sldIdLst>
        </p14:section>
        <p14:section name="Thesis 1b" id="{a1c0ada0-0a46-8c1a-12f9-099c8d5d1a0c}">
          <p14:sldIdLst>
            <p14:sldId id="268"/>
            <p14:sldId id="269"/>
            <p14:sldId id="270"/>
            <p14:sldId id="271"/>
            <p14:sldId id="272"/>
            <p14:sldId id="273"/>
            <p14:sldId id="274"/>
          </p14:sldIdLst>
        </p14:section>
        <p14:section name="Thesis 2" id="{027334ae-35ea-e5b2-2bbd-5651263e45bc}">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Power EBITDA</c:v>
                </c:pt>
              </c:strCache>
            </c:strRef>
          </c:tx>
          <c:spPr>
            <a:solidFill>
              <a:srgbClr val="0A1C58"/>
            </a:solidFill>
            <a:effectLst/>
          </c:spPr>
          <c:invertIfNegative val="0"/>
          <c:dLbls>
            <c:numFmt formatCode="#,##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FY26E</c:v>
                  </c:pt>
                  <c:pt idx="1">
                    <c:v>FY27E</c:v>
                  </c:pt>
                  <c:pt idx="2">
                    <c:v>FY28E</c:v>
                  </c:pt>
                  <c:pt idx="3">
                    <c:v>FY29E</c:v>
                  </c:pt>
                  <c:pt idx="4">
                    <c:v>FY30E</c:v>
                  </c:pt>
                  <c:pt idx="5">
                    <c:v>FY31E</c:v>
                  </c:pt>
                </c:lvl>
              </c:multiLvlStrCache>
            </c:multiLvlStrRef>
          </c:cat>
          <c:val>
            <c:numRef>
              <c:f>Sheet1!$B$2:$B$7</c:f>
              <c:numCache>
                <c:formatCode>General</c:formatCode>
                <c:ptCount val="6"/>
                <c:pt idx="0">
                  <c:v>20</c:v>
                </c:pt>
                <c:pt idx="1">
                  <c:v>450</c:v>
                </c:pt>
                <c:pt idx="2">
                  <c:v>900</c:v>
                </c:pt>
                <c:pt idx="3">
                  <c:v>1100</c:v>
                </c:pt>
                <c:pt idx="4">
                  <c:v>1200</c:v>
                </c:pt>
                <c:pt idx="5">
                  <c:v>1300</c:v>
                </c:pt>
              </c:numCache>
            </c:numRef>
          </c:val>
        </c:ser>
        <c:dLbls>
          <c:numFmt formatCode="#,##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5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so four 25 MW Mod-1 units ≈ $100M (~8%).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Competitor cancellation is from GPS diligence: a competitor offering a similar aeroderivative product had its hyperscaler deal cancelled, with a later delivery date than FTAI's. Name and source to be added before presenting. FTAI's $1.465B order through the J&amp;F JV remains in place. Power EBITDA: units delivered 2 (FY26E), 45, 90, 110, 120, 130 × 25 MW × $1M/MW × 40% margin. Low-end FY27E guide $450M × 12x = ~$52/share in the SOTP.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777240"/>
          </a:xfrm>
          <a:prstGeom prst="rect">
            <a:avLst/>
          </a:prstGeom>
          <a:solidFill>
            <a:srgbClr val="DCD8D3"/>
          </a:solidFill>
          <a:ln/>
        </p:spPr>
        <p:txBody>
          <a:bodyPr wrap="square" lIns="76200" tIns="76200" rIns="76200" bIns="76200" rtlCol="0" anchor="ctr"/>
          <a:lstStyle/>
          <a:p>
            <a:pPr algn="ctr" indent="0" marL="0">
              <a:buNone/>
            </a:pPr>
            <a:r>
              <a:rPr lang="en-US" sz="1500" b="1" dirty="0">
                <a:solidFill>
                  <a:schemeClr val="tx2"/>
                </a:solidFill>
              </a:rPr>
              <a:t>Today</a:t>
            </a:r>
            <a:endParaRPr lang="en-US" sz="1500" dirty="0"/>
          </a:p>
          <a:p>
            <a:pPr algn="ctr" indent="0" marL="0">
              <a:buNone/>
            </a:pPr>
            <a:r>
              <a:rPr lang="en-US" sz="1200" dirty="0">
                <a:solidFill>
                  <a:schemeClr val="tx2"/>
                </a:solidFill>
              </a:rPr>
              <a:t>GPUs bought, data center shells built</a:t>
            </a:r>
            <a:endParaRPr lang="en-US" sz="1500" dirty="0"/>
          </a:p>
        </p:txBody>
      </p:sp>
      <p:sp>
        <p:nvSpPr>
          <p:cNvPr id="12" name="Bridge arrow 1"/>
          <p:cNvSpPr/>
          <p:nvPr/>
        </p:nvSpPr>
        <p:spPr>
          <a:xfrm>
            <a:off x="6830568" y="2944368"/>
            <a:ext cx="365760" cy="182880"/>
          </a:xfrm>
          <a:prstGeom prst="downArrow">
            <a:avLst/>
          </a:prstGeom>
          <a:solidFill>
            <a:srgbClr val="847C7A"/>
          </a:solidFill>
          <a:ln/>
        </p:spPr>
      </p:sp>
      <p:sp>
        <p:nvSpPr>
          <p:cNvPr id="13" name="Bridge step 2"/>
          <p:cNvSpPr txBox="1"/>
          <p:nvPr/>
        </p:nvSpPr>
        <p:spPr>
          <a:xfrm>
            <a:off x="5212080" y="3136392"/>
            <a:ext cx="3611880" cy="777240"/>
          </a:xfrm>
          <a:prstGeom prst="rect">
            <a:avLst/>
          </a:prstGeom>
          <a:solidFill>
            <a:srgbClr val="0A1C58"/>
          </a:solidFill>
          <a:ln/>
        </p:spPr>
        <p:txBody>
          <a:bodyPr wrap="square" lIns="76200" tIns="76200" rIns="76200" bIns="76200" rtlCol="0" anchor="ctr"/>
          <a:lstStyle/>
          <a:p>
            <a:pPr algn="ctr" indent="0" marL="0">
              <a:buNone/>
            </a:pPr>
            <a:r>
              <a:rPr lang="en-US" sz="1500" b="1" dirty="0">
                <a:solidFill>
                  <a:schemeClr val="bg1"/>
                </a:solidFill>
              </a:rPr>
              <a:t>2026–2029</a:t>
            </a:r>
            <a:endParaRPr lang="en-US" sz="1500" dirty="0"/>
          </a:p>
          <a:p>
            <a:pPr algn="ctr" indent="0" marL="0">
              <a:buNone/>
            </a:pPr>
            <a:r>
              <a:rPr lang="en-US" sz="1200" dirty="0">
                <a:solidFill>
                  <a:schemeClr val="bg1"/>
                </a:solidFill>
              </a:rPr>
              <a:t>FTAI's mobile turbines power the site</a:t>
            </a:r>
            <a:endParaRPr lang="en-US" sz="1500" dirty="0"/>
          </a:p>
        </p:txBody>
      </p:sp>
      <p:sp>
        <p:nvSpPr>
          <p:cNvPr id="14" name="Bridge arrow 2"/>
          <p:cNvSpPr/>
          <p:nvPr/>
        </p:nvSpPr>
        <p:spPr>
          <a:xfrm>
            <a:off x="6830568" y="3931920"/>
            <a:ext cx="365760" cy="182880"/>
          </a:xfrm>
          <a:prstGeom prst="downArrow">
            <a:avLst/>
          </a:prstGeom>
          <a:solidFill>
            <a:srgbClr val="847C7A"/>
          </a:solidFill>
          <a:ln/>
        </p:spPr>
      </p:sp>
      <p:sp>
        <p:nvSpPr>
          <p:cNvPr id="15" name="Bridge step 3"/>
          <p:cNvSpPr txBox="1"/>
          <p:nvPr/>
        </p:nvSpPr>
        <p:spPr>
          <a:xfrm>
            <a:off x="5212080" y="4123944"/>
            <a:ext cx="3611880" cy="777240"/>
          </a:xfrm>
          <a:prstGeom prst="rect">
            <a:avLst/>
          </a:prstGeom>
          <a:solidFill>
            <a:srgbClr val="DCD8D3"/>
          </a:solidFill>
          <a:ln/>
        </p:spPr>
        <p:txBody>
          <a:bodyPr wrap="square" lIns="76200" tIns="76200" rIns="76200" bIns="76200" rtlCol="0" anchor="ctr"/>
          <a:lstStyle/>
          <a:p>
            <a:pPr algn="ctr" indent="0" marL="0">
              <a:buNone/>
            </a:pPr>
            <a:r>
              <a:rPr lang="en-US" sz="1500" b="1" dirty="0">
                <a:solidFill>
                  <a:schemeClr val="tx2"/>
                </a:solidFill>
              </a:rPr>
              <a:t>2029+</a:t>
            </a:r>
            <a:endParaRPr lang="en-US" sz="1500" dirty="0"/>
          </a:p>
          <a:p>
            <a:pPr algn="ctr" indent="0" marL="0">
              <a:buNone/>
            </a:pPr>
            <a:r>
              <a:rPr lang="en-US" sz="1200" dirty="0">
                <a:solidFill>
                  <a:schemeClr val="tx2"/>
                </a:solidFill>
              </a:rPr>
              <a:t>Grid connections and new plants arrive</a:t>
            </a:r>
            <a:endParaRPr lang="en-US" sz="15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(4 units)</a:t>
            </a:r>
            <a:endParaRPr lang="en-US" sz="1200" dirty="0"/>
          </a:p>
        </p:txBody>
      </p:sp>
      <p:sp>
        <p:nvSpPr>
          <p:cNvPr id="10" name="Build cost bar 2"/>
          <p:cNvSpPr/>
          <p:nvPr/>
        </p:nvSpPr>
        <p:spPr>
          <a:xfrm>
            <a:off x="2240280" y="3017520"/>
            <a:ext cx="114300" cy="548640"/>
          </a:xfrm>
          <a:prstGeom prst="rect">
            <a:avLst/>
          </a:prstGeom>
          <a:solidFill>
            <a:srgbClr val="0A1C58"/>
          </a:solidFill>
          <a:ln/>
        </p:spPr>
      </p:sp>
      <p:sp>
        <p:nvSpPr>
          <p:cNvPr id="11" name="Build cost value 2"/>
          <p:cNvSpPr txBox="1"/>
          <p:nvPr/>
        </p:nvSpPr>
        <p:spPr>
          <a:xfrm>
            <a:off x="242773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$100M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~8%</a:t>
            </a:r>
            <a:endParaRPr lang="en-US" sz="2600" dirty="0"/>
          </a:p>
          <a:p>
            <a:pPr algn="ctr" indent="0" marL="0">
              <a:buNone/>
            </a:pPr>
            <a:r>
              <a:rPr lang="en-US" sz="1200" dirty="0">
                <a:solidFill>
                  <a:srgbClr val="1A1A1A"/>
                </a:solidFill>
              </a:rPr>
              <a:t>Power is a rounding error next to the stranded build cost,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(facility cost $12M/MW; FTAI ~$1M/MW, 25 MW units); CNBC (Jun-26); Tom's Hardware (Oct-25); FTAI earnings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hyperscaler cancelled a rival's later-dated order but kept FTAI's. That's a vote of confidence.</a:t>
            </a:r>
            <a:endParaRPr lang="en-US" sz="1700" dirty="0"/>
          </a:p>
        </p:txBody>
      </p:sp>
      <p:sp>
        <p:nvSpPr>
          <p:cNvPr id="4" name="Signal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Same Buyer, Different Outcome</a:t>
            </a:r>
            <a:endParaRPr lang="en-US" sz="1600" dirty="0"/>
          </a:p>
        </p:txBody>
      </p:sp>
      <p:sp>
        <p:nvSpPr>
          <p:cNvPr id="5" name="Signal header rule"/>
          <p:cNvSpPr/>
          <p:nvPr/>
        </p:nvSpPr>
        <p:spPr>
          <a:xfrm>
            <a:off x="320040" y="1975104"/>
            <a:ext cx="4206240" cy="0"/>
          </a:xfrm>
          <a:prstGeom prst="line">
            <a:avLst/>
          </a:prstGeom>
          <a:noFill/>
          <a:ln w="12700">
            <a:solidFill>
              <a:srgbClr val="1A1A1A"/>
            </a:solidFill>
            <a:prstDash val="solid"/>
          </a:ln>
        </p:spPr>
      </p:sp>
      <p:sp>
        <p:nvSpPr>
          <p:cNvPr id="6" name="Competitor card"/>
          <p:cNvSpPr txBox="1"/>
          <p:nvPr/>
        </p:nvSpPr>
        <p:spPr>
          <a:xfrm>
            <a:off x="320040" y="2148840"/>
            <a:ext cx="2029968" cy="1417320"/>
          </a:xfrm>
          <a:prstGeom prst="rect">
            <a:avLst/>
          </a:prstGeom>
          <a:solidFill>
            <a:srgbClr val="DCD8D3"/>
          </a:solidFill>
          <a:ln/>
        </p:spPr>
        <p:txBody>
          <a:bodyPr wrap="square" lIns="76200" tIns="76200" rIns="76200" bIns="76200" rtlCol="0" anchor="ctr"/>
          <a:lstStyle/>
          <a:p>
            <a:pPr algn="ctr" indent="0" marL="0">
              <a:buNone/>
            </a:pPr>
            <a:r>
              <a:rPr lang="en-US" sz="1700" b="1" dirty="0">
                <a:solidFill>
                  <a:schemeClr val="tx2"/>
                </a:solidFill>
              </a:rPr>
              <a:t>Competitor</a:t>
            </a:r>
            <a:endParaRPr lang="en-US" sz="1700" dirty="0"/>
          </a:p>
          <a:p>
            <a:pPr algn="ctr" indent="0" marL="0">
              <a:buNone/>
            </a:pPr>
            <a:r>
              <a:rPr lang="en-US" sz="1100" dirty="0">
                <a:solidFill>
                  <a:schemeClr val="tx2"/>
                </a:solidFill>
              </a:rPr>
              <a:t>Similar aeroderivative product</a:t>
            </a:r>
            <a:endParaRPr lang="en-US" sz="1700" dirty="0"/>
          </a:p>
          <a:p>
            <a:pPr algn="ctr" indent="0" marL="0">
              <a:buNone/>
            </a:pPr>
            <a:r>
              <a:rPr lang="en-US" sz="1100" dirty="0">
                <a:solidFill>
                  <a:schemeClr val="tx2"/>
                </a:solidFill>
              </a:rPr>
              <a:t>Later delivery date</a:t>
            </a:r>
            <a:endParaRPr lang="en-US" sz="1700" dirty="0"/>
          </a:p>
        </p:txBody>
      </p:sp>
      <p:sp>
        <p:nvSpPr>
          <p:cNvPr id="7" name="Competitor arrow"/>
          <p:cNvSpPr/>
          <p:nvPr/>
        </p:nvSpPr>
        <p:spPr>
          <a:xfrm>
            <a:off x="1152144" y="3611880"/>
            <a:ext cx="365760" cy="292608"/>
          </a:xfrm>
          <a:prstGeom prst="downArrow">
            <a:avLst/>
          </a:prstGeom>
          <a:solidFill>
            <a:srgbClr val="847C7A"/>
          </a:solidFill>
          <a:ln/>
        </p:spPr>
      </p:sp>
      <p:sp>
        <p:nvSpPr>
          <p:cNvPr id="8" name="Competitor result"/>
          <p:cNvSpPr txBox="1"/>
          <p:nvPr/>
        </p:nvSpPr>
        <p:spPr>
          <a:xfrm>
            <a:off x="320040" y="3950208"/>
            <a:ext cx="2029968" cy="566928"/>
          </a:xfrm>
          <a:prstGeom prst="rect">
            <a:avLst/>
          </a:prstGeom>
          <a:solidFill>
            <a:srgbClr val="FFFFFF"/>
          </a:solidFill>
          <a:ln w="19050">
            <a:solidFill>
              <a:srgbClr val="0A1C58"/>
            </a:solidFill>
          </a:ln>
        </p:spPr>
        <p:txBody>
          <a:bodyPr wrap="square" lIns="0" tIns="0" rIns="0" bIns="0" rtlCol="0" anchor="ctr"/>
          <a:lstStyle/>
          <a:p>
            <a:pPr algn="ctr" indent="0" marL="0">
              <a:buNone/>
            </a:pPr>
            <a:r>
              <a:rPr lang="en-US" sz="1500" b="1" dirty="0">
                <a:solidFill>
                  <a:schemeClr val="tx2"/>
                </a:solidFill>
              </a:rPr>
              <a:t>Cancelled</a:t>
            </a:r>
            <a:endParaRPr lang="en-US" sz="1500" dirty="0"/>
          </a:p>
        </p:txBody>
      </p:sp>
      <p:sp>
        <p:nvSpPr>
          <p:cNvPr id="9" name="FTAI card"/>
          <p:cNvSpPr txBox="1"/>
          <p:nvPr/>
        </p:nvSpPr>
        <p:spPr>
          <a:xfrm>
            <a:off x="2496312" y="2148840"/>
            <a:ext cx="2029968" cy="1417320"/>
          </a:xfrm>
          <a:prstGeom prst="rect">
            <a:avLst/>
          </a:prstGeom>
          <a:solidFill>
            <a:srgbClr val="0A1C58"/>
          </a:solidFill>
          <a:ln/>
        </p:spPr>
        <p:txBody>
          <a:bodyPr wrap="square" lIns="76200" tIns="76200" rIns="76200" bIns="76200" rtlCol="0" anchor="ctr"/>
          <a:lstStyle/>
          <a:p>
            <a:pPr algn="ctr" indent="0" marL="0">
              <a:buNone/>
            </a:pPr>
            <a:r>
              <a:rPr lang="en-US" sz="1700" b="1" dirty="0">
                <a:solidFill>
                  <a:schemeClr val="bg1"/>
                </a:solidFill>
              </a:rPr>
              <a:t>FTAI</a:t>
            </a:r>
            <a:endParaRPr lang="en-US" sz="1700" dirty="0"/>
          </a:p>
          <a:p>
            <a:pPr algn="ctr" indent="0" marL="0">
              <a:buNone/>
            </a:pPr>
            <a:r>
              <a:rPr lang="en-US" sz="1100" dirty="0">
                <a:solidFill>
                  <a:schemeClr val="bg1"/>
                </a:solidFill>
              </a:rPr>
              <a:t>Mod-1, 25 MW units</a:t>
            </a:r>
            <a:endParaRPr lang="en-US" sz="1700" dirty="0"/>
          </a:p>
          <a:p>
            <a:pPr algn="ctr" indent="0" marL="0">
              <a:buNone/>
            </a:pPr>
            <a:r>
              <a:rPr lang="en-US" sz="1100" dirty="0">
                <a:solidFill>
                  <a:schemeClr val="bg1"/>
                </a:solidFill>
              </a:rPr>
              <a:t>Deliveries from 2027</a:t>
            </a:r>
            <a:endParaRPr lang="en-US" sz="1700" dirty="0"/>
          </a:p>
        </p:txBody>
      </p:sp>
      <p:sp>
        <p:nvSpPr>
          <p:cNvPr id="10" name="FTAI arrow"/>
          <p:cNvSpPr/>
          <p:nvPr/>
        </p:nvSpPr>
        <p:spPr>
          <a:xfrm>
            <a:off x="3328416" y="3611880"/>
            <a:ext cx="365760" cy="292608"/>
          </a:xfrm>
          <a:prstGeom prst="downArrow">
            <a:avLst/>
          </a:prstGeom>
          <a:solidFill>
            <a:srgbClr val="847C7A"/>
          </a:solidFill>
          <a:ln/>
        </p:spPr>
      </p:sp>
      <p:sp>
        <p:nvSpPr>
          <p:cNvPr id="11" name="FTAI result"/>
          <p:cNvSpPr txBox="1"/>
          <p:nvPr/>
        </p:nvSpPr>
        <p:spPr>
          <a:xfrm>
            <a:off x="2496312" y="3950208"/>
            <a:ext cx="2029968" cy="566928"/>
          </a:xfrm>
          <a:prstGeom prst="rect">
            <a:avLst/>
          </a:prstGeom>
          <a:solidFill>
            <a:srgbClr val="0A1C58"/>
          </a:solidFill>
          <a:ln w="19050">
            <a:solidFill>
              <a:srgbClr val="0A1C58"/>
            </a:solidFill>
          </a:ln>
        </p:spPr>
        <p:txBody>
          <a:bodyPr wrap="square" lIns="0" tIns="0" rIns="0" bIns="0" rtlCol="0" anchor="ctr"/>
          <a:lstStyle/>
          <a:p>
            <a:pPr algn="ctr" indent="0" marL="0">
              <a:buNone/>
            </a:pPr>
            <a:r>
              <a:rPr lang="en-US" sz="1500" b="1" dirty="0">
                <a:solidFill>
                  <a:schemeClr val="bg1"/>
                </a:solidFill>
              </a:rPr>
              <a:t>Intact: $1.465B</a:t>
            </a:r>
            <a:endParaRPr lang="en-US" sz="1500" dirty="0"/>
          </a:p>
        </p:txBody>
      </p:sp>
      <p:sp>
        <p:nvSpPr>
          <p:cNvPr id="12" name="Market value note"/>
          <p:cNvSpPr txBox="1"/>
          <p:nvPr/>
        </p:nvSpPr>
        <p:spPr>
          <a:xfrm>
            <a:off x="320040" y="4709160"/>
            <a:ext cx="4206240" cy="457200"/>
          </a:xfrm>
          <a:prstGeom prst="rect">
            <a:avLst/>
          </a:prstGeom>
          <a:solidFill>
            <a:srgbClr val="EFEDEA"/>
          </a:solidFill>
          <a:ln/>
        </p:spPr>
        <p:txBody>
          <a:bodyPr wrap="square" lIns="0" tIns="0" rIns="0" bIns="0" rtlCol="0" anchor="ctr"/>
          <a:lstStyle/>
          <a:p>
            <a:pPr algn="ctr" indent="0" marL="0">
              <a:buNone/>
            </a:pPr>
            <a:r>
              <a:rPr lang="en-US" sz="1300" b="1" i="1" dirty="0">
                <a:solidFill>
                  <a:schemeClr val="tx2"/>
                </a:solidFill>
              </a:rPr>
              <a:t>The market still values Power at ~zero.</a:t>
            </a:r>
            <a:endParaRPr lang="en-US" sz="1300" dirty="0"/>
          </a:p>
        </p:txBody>
      </p:sp>
      <p:sp>
        <p:nvSpPr>
          <p:cNvPr id="13" name="Power EBITDA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Adj. EBITDA ($M)</a:t>
            </a:r>
            <a:endParaRPr lang="en-US" sz="1600" dirty="0"/>
          </a:p>
        </p:txBody>
      </p:sp>
      <p:sp>
        <p:nvSpPr>
          <p:cNvPr id="14" name="Power EBITDA header rule"/>
          <p:cNvSpPr/>
          <p:nvPr/>
        </p:nvSpPr>
        <p:spPr>
          <a:xfrm>
            <a:off x="4892040" y="1975104"/>
            <a:ext cx="3931920" cy="0"/>
          </a:xfrm>
          <a:prstGeom prst="line">
            <a:avLst/>
          </a:prstGeom>
          <a:noFill/>
          <a:ln w="12700">
            <a:solidFill>
              <a:srgbClr val="1A1A1A"/>
            </a:solidFill>
            <a:prstDash val="solid"/>
          </a:ln>
        </p:spPr>
      </p:sp>
      <p:graphicFrame>
        <p:nvGraphicFramePr>
          <p:cNvPr id="15" name="Power EBITDA chart" descr=""/>
          <p:cNvGraphicFramePr/>
          <p:nvPr/>
        </p:nvGraphicFramePr>
        <p:xfrm>
          <a:off x="4892040" y="2103120"/>
          <a:ext cx="3931920" cy="2880360"/>
        </p:xfrm>
        <a:graphic xmlns:a="http://schemas.openxmlformats.org/drawingml/2006/main">
          <a:graphicData uri="http://schemas.openxmlformats.org/drawingml/2006/chart">
            <c:chart xmlns:c="http://schemas.openxmlformats.org/drawingml/2006/chart" r:id="rId1"/>
          </a:graphicData>
        </a:graphic>
      </p:graphicFrame>
      <p:sp>
        <p:nvSpPr>
          <p:cNvPr id="16" name="Power EBITDA caption"/>
          <p:cNvSpPr txBox="1"/>
          <p:nvPr/>
        </p:nvSpPr>
        <p:spPr>
          <a:xfrm>
            <a:off x="4892040" y="498348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Our FY27E sits at the low end of the $450–750M guide</a:t>
            </a:r>
            <a:endParaRPr lang="en-US" sz="10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Delivering just the low end of guidance is worth ~$52 a share the market isn't paying for.</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diligence; FTAI earnings calls and filings; GPS model (RPM tab: units × 25 MW × $1M/MW × 40% margin)</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2026-10-08T23:18:04Z</dcterms:created>
  <dcterms:modified xsi:type="dcterms:W3CDTF">2026-10-08T23:18:04Z</dcterms:modified>
</cp:coreProperties>
</file>