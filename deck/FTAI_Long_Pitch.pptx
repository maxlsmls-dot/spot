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2e1bbcb-b37e-8072-932e-0c106723d09b}">
          <p14:sldIdLst>
            <p14:sldId id="256"/>
          </p14:sldIdLst>
        </p14:section>
        <p14:section name="The Opportunity" id="{47169bf5-169b-d86d-bd68-53cb05a10231}">
          <p14:sldIdLst>
            <p14:sldId id="257"/>
            <p14:sldId id="258"/>
            <p14:sldId id="259"/>
            <p14:sldId id="260"/>
          </p14:sldIdLst>
        </p14:section>
        <p14:section name="Business Overview" id="{39e846e0-c3ff-ac6b-9933-ef456dd7b2b3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AE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/ EBITDA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9.8</c:v>
                </c:pt>
                <c:pt idx="2">
                  <c:v>6.8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224.75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167.03</c:v>
                </c:pt>
                <c:pt idx="1">
                  <c:v>224.75</c:v>
                </c:pt>
                <c:pt idx="2">
                  <c:v>0</c:v>
                </c:pt>
                <c:pt idx="3">
                  <c:v>276.65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rgbClr val="847C7A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51.9</c:v>
                </c:pt>
                <c:pt idx="3">
                  <c:v>0</c:v>
                </c:pt>
              </c:numCache>
            </c:numRef>
          </c:val>
        </c:ser>
        <c:dLbls>
          <c:numFmt formatCode="&quot;$&quot;0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quarterly Aerospace Products Adj. EBITDA margins from the RPM tab. Q4'25 34.6% to Q1'26 29.9% = -470 bps. Mix example is management's: a 6,000-cycle engine sold for ~$6M earns ~$2.5M; a 10,000-cycle engine sold for ~$12M earns ~$3M; one of each blends to ~30%.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of $20.56B at $167.03 (10/2/26) over Jefferies Adj. EBITDA of $1,289M (FY26E), $2,099M (FY27E) and $3,023M (FY28E).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SOTP on FY27E EBITDA: Aerospace Products $1,541M at 16x ($237/sh), Power $450M at 12x ($52/sh, low end of guide), Aviation Leasing + SCI $455M at 9x ($39/sh), less corporate (-$28/sh), net debt (-$23/sh) and preferred (-$1/sh) = $277/sh. Ex-Power = $225/sh vs. $167.03 current (10/2/26), a 26% discount.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Factory example (FTAI): three unserviceable engines worth $2.0M, $2.5M and $2.0M each still hold modules with life left (cycles shown per Fan / Core / LPT). FTAI splits them into nine modules, adds $3.5M of MRO work, and reassembles two serviceable engines ($8.5M at 7k/7k/7k and $6.0M at 4k/4k/4k) plus one run-out core ($1.5M): $16.0M out vs. $10.0M in, $6.0M of value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(1/3)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(2/3)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Multiple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…So the Market Won't Pay Up</a:t>
            </a:r>
            <a:endParaRPr lang="en-US" sz="1600" dirty="0"/>
          </a:p>
        </p:txBody>
      </p:sp>
      <p:sp>
        <p:nvSpPr>
          <p:cNvPr id="12" name="Multiple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3" name="Multiple chart" descr=""/>
          <p:cNvGraphicFramePr/>
          <p:nvPr/>
        </p:nvGraphicFramePr>
        <p:xfrm>
          <a:off x="5257800" y="210312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FY28 highlight"/>
          <p:cNvSpPr/>
          <p:nvPr/>
        </p:nvSpPr>
        <p:spPr>
          <a:xfrm>
            <a:off x="7644384" y="3383280"/>
            <a:ext cx="1024128" cy="1481328"/>
          </a:xfrm>
          <a:prstGeom prst="rect">
            <a:avLst/>
          </a:prstGeom>
          <a:ln w="25400">
            <a:solidFill>
              <a:schemeClr val="accent2"/>
            </a:solidFill>
            <a:prstDash val="dash"/>
          </a:ln>
        </p:spPr>
      </p:sp>
      <p:sp>
        <p:nvSpPr>
          <p:cNvPr id="15" name="Multiple caption"/>
          <p:cNvSpPr txBox="1"/>
          <p:nvPr/>
        </p:nvSpPr>
        <p:spPr>
          <a:xfrm>
            <a:off x="5257800" y="5102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EV / Adj. EBITDA (Jefferies estimates)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Jefferies (8/2/26), 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(3/3)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market assigns no value to Power: the stock trades below the core business alone.</a:t>
            </a:r>
            <a:endParaRPr lang="en-US" sz="1700" dirty="0"/>
          </a:p>
        </p:txBody>
      </p:sp>
      <p:sp>
        <p:nvSpPr>
          <p:cNvPr id="4" name="SOTP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FY27E Sum of the Parts ($ / Share)</a:t>
            </a:r>
            <a:endParaRPr lang="en-US" sz="1600" dirty="0"/>
          </a:p>
        </p:txBody>
      </p:sp>
      <p:sp>
        <p:nvSpPr>
          <p:cNvPr id="5" name="SOTP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SOTP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iscount callout"/>
          <p:cNvSpPr/>
          <p:nvPr/>
        </p:nvSpPr>
        <p:spPr>
          <a:xfrm>
            <a:off x="548640" y="2148840"/>
            <a:ext cx="1051560" cy="105156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26%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below core</a:t>
            </a:r>
            <a:endParaRPr lang="en-US" sz="2000" dirty="0"/>
          </a:p>
        </p:txBody>
      </p:sp>
      <p:sp>
        <p:nvSpPr>
          <p:cNvPr id="8" name="Power label"/>
          <p:cNvSpPr txBox="1"/>
          <p:nvPr/>
        </p:nvSpPr>
        <p:spPr>
          <a:xfrm>
            <a:off x="29718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Free call option</a:t>
            </a:r>
            <a:endParaRPr lang="en-US" sz="1200" dirty="0"/>
          </a:p>
        </p:txBody>
      </p:sp>
      <p:sp>
        <p:nvSpPr>
          <p:cNvPr id="9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0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1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$1.465B</a:t>
            </a:r>
            <a:endParaRPr lang="en-US" sz="3000" dirty="0"/>
          </a:p>
        </p:txBody>
      </p:sp>
      <p:sp>
        <p:nvSpPr>
          <p:cNvPr id="12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3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4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5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25 MW</a:t>
            </a:r>
            <a:endParaRPr lang="en-US" sz="3000" dirty="0"/>
          </a:p>
        </p:txBody>
      </p:sp>
      <p:sp>
        <p:nvSpPr>
          <p:cNvPr id="16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SOTP (FY27E EBITDA × segment multiples)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(1/2)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(2/2)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914400" y="2514600"/>
            <a:ext cx="2743200" cy="2231136"/>
          </a:xfrm>
          <a:prstGeom prst="ellipse">
            <a:avLst/>
          </a:prstGeom>
          <a:ln w="38100">
            <a:solidFill>
              <a:srgbClr val="B5AEA9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3146140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3146140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206404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206404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1783080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1682496" y="2148840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1499616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30540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28712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1682496" y="4379976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1499616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3108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1280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4526280" y="1554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4526280" y="1975104"/>
            <a:ext cx="42976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4526280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4526280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5221224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5641848" y="2395728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6062472" y="2395728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4526280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5221224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5641848" y="3108960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6062472" y="3108960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4526280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5221224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5641848" y="3822192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6062472" y="3822192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5175504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5596128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601675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6922008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6922008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7616952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8037576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8458200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6922008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7616952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8037576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8458200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6922008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7616952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8037576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8458200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757123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7991856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8412480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6492240" y="3108960"/>
            <a:ext cx="365760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4526280" y="4645152"/>
            <a:ext cx="1901952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6922008" y="4645152"/>
            <a:ext cx="1901952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2026-10-08T21:58:09Z</dcterms:created>
  <dcterms:modified xsi:type="dcterms:W3CDTF">2026-10-08T21:58:09Z</dcterms:modified>
</cp:coreProperties>
</file>