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9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3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5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8a306db1-90c2-2128-6a64-74528dcb29f0}">
          <p14:sldIdLst>
            <p14:sldId id="256"/>
          </p14:sldIdLst>
        </p14:section>
        <p14:section name="The Opportunity" id="{8f62dde4-0d6e-a8c1-edb2-4abdad16cf1c}">
          <p14:sldIdLst>
            <p14:sldId id="257"/>
            <p14:sldId id="258"/>
            <p14:sldId id="259"/>
            <p14:sldId id="260"/>
          </p14:sldIdLst>
        </p14:section>
        <p14:section name="Returns" id="{bcea3436-ca4e-a692-6ca1-046ebac943db}">
          <p14:sldIdLst>
            <p14:sldId id="261"/>
          </p14:sldIdLst>
        </p14:section>
        <p14:section name="Business Overview" id="{11b29c32-dc05-ec41-348f-9eb3700b3d67}">
          <p14:sldIdLst>
            <p14:sldId id="262"/>
            <p14:sldId id="263"/>
          </p14:sldIdLst>
        </p14:section>
        <p14:section name="Thesis 1a" id="{b8e3ad2b-b20d-18bb-4f80-a6bcb8129599}">
          <p14:sldIdLst>
            <p14:sldId id="264"/>
            <p14:sldId id="265"/>
            <p14:sldId id="266"/>
            <p14:sldId id="267"/>
          </p14:sldIdLst>
        </p14:section>
        <p14:section name="Thesis 1b" id="{b8a0464a-bdad-bce4-a479-8ed54327695d}">
          <p14:sldIdLst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Thesis 2" id="{88b5a142-1352-9c4b-fa15-376bfee2f1de}">
          <p14:sldIdLst>
            <p14:sldId id="275"/>
            <p14:sldId id="276"/>
            <p14:sldId id="277"/>
            <p14:sldId id="278"/>
          </p14:sldIdLst>
        </p14:section>
        <p14:section name="Valuation" id="{c1f6bd42-6b10-95ef-082d-bc134bcf298b}">
          <p14:sldIdLst>
            <p14:sldId id="279"/>
            <p14:sldId id="280"/>
          </p14:sldIdLst>
        </p14:section>
        <p14:section name="Catalysts" id="{34612d1b-3bf3-9144-b070-dcf4ba19d90b}">
          <p14:sldIdLst>
            <p14:sldId id="281"/>
          </p14:sldIdLst>
        </p14:section>
        <p14:section name="Risks" id="{f5f1dfed-1ff5-3318-2685-5757dc031bc6}">
          <p14:sldIdLst>
            <p14:sldId id="282"/>
          </p14:sldIdLst>
        </p14:section>
        <p14:section name="Q&amp;A" id="{a1c0fed6-3614-4158-2cde-13ffec0deeae}">
          <p14:sldIdLst>
            <p14:sldId id="283"/>
          </p14:sldIdLst>
        </p14:section>
        <p14:section name="Appendix" id="{ae318374-a6bc-b2b2-03c3-bff2a10650c8}">
          <p14:sldIdLst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 only</c:v>
                  </c:pt>
                  <c:pt idx="1">
                    <c:v>Power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167</c:v>
                </c:pt>
                <c:pt idx="2">
                  <c:v>171.9</c:v>
                </c:pt>
                <c:pt idx="3">
                  <c:v>188.9</c:v>
                </c:pt>
                <c:pt idx="4">
                  <c:v>221.6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4.8</c:v>
                </c:pt>
                <c:pt idx="2">
                  <c:v>17</c:v>
                </c:pt>
                <c:pt idx="3">
                  <c:v>32.7</c:v>
                </c:pt>
                <c:pt idx="4">
                  <c:v>55.1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731502" y="1508760"/>
            <a:ext cx="8534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731502" y="2011680"/>
          <a:ext cx="7315017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5599340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5748690" y="3366115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7404088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6614677" y="1951932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8351311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8351311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10082532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$277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10082532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351311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66%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351311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10082532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2.7x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10082532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10082532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8473228" y="3044952"/>
            <a:ext cx="3169841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548626" y="4206240"/>
            <a:ext cx="11094443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548626" y="5029200"/>
            <a:ext cx="11094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731502" y="5760720"/>
            <a:ext cx="63396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$277 (66% upside, 2.7x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2133547" y="1188720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638248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2133547" y="2304288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638248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2133547" y="3419856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638248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584920" y="4553712"/>
            <a:ext cx="9387605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584920" y="5120640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66%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73150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filings, earnings calls, GPS estimates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426709" y="2103120"/>
          <a:ext cx="701022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5608180" y="2788920"/>
            <a:ext cx="1767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3657495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7863643" y="2103120"/>
          <a:ext cx="3901342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7863643" y="4370832"/>
            <a:ext cx="39013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7863643" y="4983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Short thesis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5" name="Short thesis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Short step 1"/>
          <p:cNvSpPr txBox="1"/>
          <p:nvPr/>
        </p:nvSpPr>
        <p:spPr>
          <a:xfrm>
            <a:off x="731502" y="2148840"/>
            <a:ext cx="5486263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500" dirty="0"/>
          </a:p>
        </p:txBody>
      </p:sp>
      <p:sp>
        <p:nvSpPr>
          <p:cNvPr id="7" name="Short arrow 1"/>
          <p:cNvSpPr/>
          <p:nvPr/>
        </p:nvSpPr>
        <p:spPr>
          <a:xfrm>
            <a:off x="3194224" y="2907792"/>
            <a:ext cx="560818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8" name="Short step 2"/>
          <p:cNvSpPr txBox="1"/>
          <p:nvPr/>
        </p:nvSpPr>
        <p:spPr>
          <a:xfrm>
            <a:off x="731502" y="3227832"/>
            <a:ext cx="5486263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500" dirty="0"/>
          </a:p>
        </p:txBody>
      </p:sp>
      <p:sp>
        <p:nvSpPr>
          <p:cNvPr id="9" name="Short arrow 2"/>
          <p:cNvSpPr/>
          <p:nvPr/>
        </p:nvSpPr>
        <p:spPr>
          <a:xfrm>
            <a:off x="3194224" y="3986784"/>
            <a:ext cx="560818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0" name="Short step 3"/>
          <p:cNvSpPr txBox="1"/>
          <p:nvPr/>
        </p:nvSpPr>
        <p:spPr>
          <a:xfrm>
            <a:off x="731502" y="4306824"/>
            <a:ext cx="5486263" cy="73152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500" dirty="0"/>
          </a:p>
        </p:txBody>
      </p:sp>
      <p:sp>
        <p:nvSpPr>
          <p:cNvPr id="11" name="Readings header"/>
          <p:cNvSpPr txBox="1"/>
          <p:nvPr/>
        </p:nvSpPr>
        <p:spPr>
          <a:xfrm>
            <a:off x="7010225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2" name="Readings header rule"/>
          <p:cNvSpPr/>
          <p:nvPr/>
        </p:nvSpPr>
        <p:spPr>
          <a:xfrm>
            <a:off x="7010225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3" name="Management reading"/>
          <p:cNvSpPr txBox="1"/>
          <p:nvPr/>
        </p:nvSpPr>
        <p:spPr>
          <a:xfrm>
            <a:off x="7010225" y="2148840"/>
            <a:ext cx="4754761" cy="13258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Management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→ Temporary: margins recover</a:t>
            </a:r>
            <a:endParaRPr lang="en-US" sz="1500" dirty="0"/>
          </a:p>
        </p:txBody>
      </p:sp>
      <p:sp>
        <p:nvSpPr>
          <p:cNvPr id="14" name="The Bears reading"/>
          <p:cNvSpPr txBox="1"/>
          <p:nvPr/>
        </p:nvSpPr>
        <p:spPr>
          <a:xfrm>
            <a:off x="7010225" y="3721608"/>
            <a:ext cx="4754761" cy="13258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The Bears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→ Structural: margins keep falling</a:t>
            </a:r>
            <a:endParaRPr lang="en-US" sz="1500" dirty="0"/>
          </a:p>
        </p:txBody>
      </p:sp>
      <p:sp>
        <p:nvSpPr>
          <p:cNvPr id="15" name="Readings vs"/>
          <p:cNvSpPr txBox="1"/>
          <p:nvPr/>
        </p:nvSpPr>
        <p:spPr>
          <a:xfrm>
            <a:off x="8960896" y="3474720"/>
            <a:ext cx="85341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426709" y="2103120"/>
          <a:ext cx="701022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463003" y="301752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4998595" y="205740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3108882" y="2377440"/>
            <a:ext cx="1828754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743131" y="2331720"/>
            <a:ext cx="12191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426709" y="4754880"/>
            <a:ext cx="70102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7863643" y="2148840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7863643" y="2697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7863643" y="3227832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7863643" y="3776472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7863643" y="4306824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7863643" y="4855464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426709" y="1024128"/>
            <a:ext cx="11338277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426709" y="1627632"/>
            <a:ext cx="11338277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426709" y="2176272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8778021" y="2176272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+$17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+10%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426709" y="3145536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8778021" y="3145536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+$33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426709" y="4114800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8778021" y="4114800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+$55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+33%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8070902" y="2176272"/>
            <a:ext cx="560818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426709" y="5120640"/>
            <a:ext cx="11338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Bear case (bear margins and share, no Power) is worth $172 on our SOTP, just above today's $167.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426709" y="5468112"/>
            <a:ext cx="11338277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$5 to bear value + $17 margins + $33 volume + $55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785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426709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426709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670543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4328052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4328052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4571886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4145176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7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8229394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8229394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8473228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8046519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1219170" y="2514600"/>
            <a:ext cx="3657509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4194748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4194748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608499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608499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2545004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2243272" y="2148840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2051249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4072026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3880003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2243272" y="4379976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2051249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414518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222495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6034889" y="1554480"/>
            <a:ext cx="57300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6034889" y="1975104"/>
            <a:ext cx="573009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6034889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6034889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696145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7522276" y="2395728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8083094" y="2395728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6034889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696145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7522276" y="3108960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8083094" y="3108960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6034889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696145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7522276" y="3822192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8083094" y="3822192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6900499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7461317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8022135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9229113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9229113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10155682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10716500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1127731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9229113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10155682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10716500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1127731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9229113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10155682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10716500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1127731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10094724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10655542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11216360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8656104" y="3108960"/>
            <a:ext cx="487668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6034889" y="4645152"/>
            <a:ext cx="2535873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9229113" y="4645152"/>
            <a:ext cx="2535873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426709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426709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731502" y="2103120"/>
          <a:ext cx="4145176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584920" y="3063240"/>
            <a:ext cx="24383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5547221" y="1554480"/>
            <a:ext cx="6217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5547221" y="1975104"/>
            <a:ext cx="621776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5547221" y="2103120"/>
          <a:ext cx="621776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9021854" y="2103120"/>
            <a:ext cx="1950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426709" y="2103120"/>
          <a:ext cx="56081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3596550" y="214884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3596550" y="333756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6522557" y="2103120"/>
          <a:ext cx="5242429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426709" y="1554480"/>
            <a:ext cx="5791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426709" y="1975104"/>
            <a:ext cx="579105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426709" y="2103120"/>
          <a:ext cx="5791055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1158211" y="2103120"/>
            <a:ext cx="3047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1158211" y="4315968"/>
            <a:ext cx="40232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5635609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4328052" y="3520440"/>
            <a:ext cx="1828754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426709" y="4956048"/>
            <a:ext cx="579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ix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426709" y="2084832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426709" y="2240280"/>
          <a:ext cx="560818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426709" y="3200400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426709" y="3383280"/>
          <a:ext cx="56081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~$43M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2133547" y="10972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679396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2133547" y="20116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679396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2133547" y="29260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679396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2133547" y="38404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679396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584920" y="4709160"/>
            <a:ext cx="9387605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584920" y="5193792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426709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426709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731502" y="2240280"/>
          <a:ext cx="3047924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914377" y="2926080"/>
            <a:ext cx="1219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2316422" y="2103120"/>
            <a:ext cx="1341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731502" y="4133088"/>
            <a:ext cx="30479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3840384" y="2514600"/>
            <a:ext cx="195067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6522557" y="2240280"/>
          <a:ext cx="2986965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6522557" y="4133088"/>
            <a:ext cx="2986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9570481" y="224028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9570481" y="324612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426709" y="4526280"/>
            <a:ext cx="11338277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GPS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865048" y="1536192"/>
            <a:ext cx="85341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865048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2499298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4287413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3921662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5709777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5344026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7132142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6766391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8554506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8188755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9976871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9611120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11399235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11033484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426709" y="1828800"/>
            <a:ext cx="23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days, then test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865048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4761534" y="1856232"/>
            <a:ext cx="1473840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6089074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7985560" y="1856232"/>
            <a:ext cx="1663489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9502749" y="1856232"/>
            <a:ext cx="620422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9976871" y="1929384"/>
            <a:ext cx="1422364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304792" y="25603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865048" y="2587752"/>
            <a:ext cx="1331604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4355144" y="2587752"/>
            <a:ext cx="4389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10119107" y="2423160"/>
            <a:ext cx="1402045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426709" y="3584448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426709" y="4005072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426709" y="4160520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804090" y="4160520"/>
            <a:ext cx="2316422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5218046" y="4160520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426709" y="4636008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804090" y="4636008"/>
            <a:ext cx="310109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3211733" y="4636008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6278723" y="3657600"/>
            <a:ext cx="5486263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expert, GPS expert call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GPS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426709" y="2103120"/>
          <a:ext cx="56081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2438339" y="2103120"/>
            <a:ext cx="353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426709" y="5047488"/>
            <a:ext cx="5608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6522557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9204730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6522557" y="3090672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9204730" y="3090672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6522557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9204730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6522557" y="5047488"/>
            <a:ext cx="5242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GPS estimates (E)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426709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73094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503517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7339401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9643631" y="1600200"/>
            <a:ext cx="2096972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426709" y="260604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426709" y="302666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426709" y="3108960"/>
          <a:ext cx="56081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6522557" y="260604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6522557" y="302666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6522557" y="3108960"/>
          <a:ext cx="5242429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6522557" y="5120640"/>
            <a:ext cx="5242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2024–25 share per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26709" y="1783080"/>
            <a:ext cx="11338277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914377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609585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4693803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4389010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8473228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8168436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426709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739107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2157930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609585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4291477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4603875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6022697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4474352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8156244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8468642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9887465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8339120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GPS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1097253" y="1627632"/>
            <a:ext cx="999719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5608180" y="2542032"/>
            <a:ext cx="5486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1280128" y="2926080"/>
          <a:ext cx="10241024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828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1280128" y="5102352"/>
            <a:ext cx="1024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GPS analysis: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426709" y="2103120"/>
          <a:ext cx="56081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6522557" y="2103120"/>
          <a:ext cx="5242429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426709" y="2103120"/>
          <a:ext cx="60958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3268886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6949266" y="1554480"/>
            <a:ext cx="481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6949266" y="1975104"/>
            <a:ext cx="48157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6949266" y="2148840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9107196" y="2971800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6949266" y="3172968"/>
            <a:ext cx="481572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9107196" y="3995928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6949266" y="4197096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426709" y="224028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986965" y="2240280"/>
            <a:ext cx="1828754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4913253" y="224028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426709" y="30175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986965" y="3017520"/>
            <a:ext cx="228594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3313093" y="301752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426709" y="3931920"/>
            <a:ext cx="5242429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6095848" y="1554480"/>
            <a:ext cx="5669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6095848" y="1975104"/>
            <a:ext cx="566913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8229394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7863643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9619248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9253497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11009101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10643350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6095848" y="228600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8785336" y="2359152"/>
            <a:ext cx="833912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6095848" y="306324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9619248" y="3136392"/>
            <a:ext cx="2015287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6095848" y="384048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10314174" y="3913632"/>
            <a:ext cx="138985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426709" y="1554480"/>
            <a:ext cx="45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426709" y="1975104"/>
            <a:ext cx="457188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2255464" y="2029968"/>
            <a:ext cx="121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3596550" y="2029968"/>
            <a:ext cx="1402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426709" y="2304288"/>
            <a:ext cx="1767796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2255464" y="230428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3596550" y="230428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426709" y="3172968"/>
            <a:ext cx="1767796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2255464" y="317296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~90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3596550" y="317296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426709" y="4041648"/>
            <a:ext cx="1767796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2255464" y="404164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~130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3596550" y="404164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5425304" y="1554480"/>
            <a:ext cx="6339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5425304" y="1975104"/>
            <a:ext cx="633968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5425304" y="2103120"/>
          <a:ext cx="633968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guide); GPS estimates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478237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2255464" y="1097280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478237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2255464" y="1810512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478237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2255464" y="2523744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426709" y="3310128"/>
            <a:ext cx="113382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3108882" y="3703320"/>
          <a:ext cx="5973931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426709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holds the other side at our bear case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9326647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share history per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426709" y="1554480"/>
            <a:ext cx="7619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426709" y="1975104"/>
            <a:ext cx="761980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426709" y="2103120"/>
          <a:ext cx="7619809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633968" y="2956932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1853138" y="291759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3072307" y="2781109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+$17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4291477" y="2518579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+$33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5510646" y="207621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+$55</a:t>
            </a:r>
            <a:endParaRPr lang="en-US" sz="1300" dirty="0"/>
          </a:p>
        </p:txBody>
      </p:sp>
      <p:sp>
        <p:nvSpPr>
          <p:cNvPr id="12" name="Waterfall label 6"/>
          <p:cNvSpPr txBox="1"/>
          <p:nvPr/>
        </p:nvSpPr>
        <p:spPr>
          <a:xfrm>
            <a:off x="6729816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3" name="Means header"/>
          <p:cNvSpPr txBox="1"/>
          <p:nvPr/>
        </p:nvSpPr>
        <p:spPr>
          <a:xfrm>
            <a:off x="8412270" y="1554480"/>
            <a:ext cx="335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4" name="Means header rule"/>
          <p:cNvSpPr/>
          <p:nvPr/>
        </p:nvSpPr>
        <p:spPr>
          <a:xfrm>
            <a:off x="8412270" y="1975104"/>
            <a:ext cx="335271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Means stat 1"/>
          <p:cNvSpPr txBox="1"/>
          <p:nvPr/>
        </p:nvSpPr>
        <p:spPr>
          <a:xfrm>
            <a:off x="8412270" y="210312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6" name="Means stat 2"/>
          <p:cNvSpPr txBox="1"/>
          <p:nvPr/>
        </p:nvSpPr>
        <p:spPr>
          <a:xfrm>
            <a:off x="8412270" y="310896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$50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7" name="Means stat 3"/>
          <p:cNvSpPr txBox="1"/>
          <p:nvPr/>
        </p:nvSpPr>
        <p:spPr>
          <a:xfrm>
            <a:off x="8412270" y="411480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$55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Get the aviation theses right and you make 33%. Power on just the signed order takes it to 66%.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5754480" y="1554480"/>
            <a:ext cx="682735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426709" y="1691640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609585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5059554" y="1865376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7315017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426709" y="2907792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609585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5059554" y="3081528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7315017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426709" y="4123944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609585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5059554" y="4297680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7315017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$450–750M);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515092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1158211" y="1600200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1158211" y="1984248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5608180" y="1554480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515092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1158211" y="2898648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1158211" y="3282696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5608180" y="2852928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515092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1158211" y="4197096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1158211" y="4581144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5608180" y="4151376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482" y="1188720"/>
            <a:ext cx="10596732" cy="2377440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62" y="3657600"/>
            <a:ext cx="9143771" cy="1871911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43000"/>
            <a:ext cx="11338277" cy="50136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5489" y="1097280"/>
            <a:ext cx="8320717" cy="507492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88720"/>
            <a:ext cx="11338277" cy="35031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592" y="1097280"/>
            <a:ext cx="9060511" cy="196596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671" y="3246120"/>
            <a:ext cx="8290353" cy="209550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8097" y="1097280"/>
            <a:ext cx="9295501" cy="3063240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426709" y="4343400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2026-10-09T01:07:33Z</dcterms:created>
  <dcterms:modified xsi:type="dcterms:W3CDTF">2026-10-09T01:07:33Z</dcterms:modified>
</cp:coreProperties>
</file>