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3f42e92-aa7d-eaf1-115c-cc399a00b532}">
          <p14:sldIdLst>
            <p14:sldId id="256"/>
          </p14:sldIdLst>
        </p14:section>
        <p14:section name="The Opportunity" id="{a9c2bd15-55c9-0cec-b1c8-073471decad3}">
          <p14:sldIdLst>
            <p14:sldId id="257"/>
            <p14:sldId id="258"/>
            <p14:sldId id="259"/>
            <p14:sldId id="260"/>
          </p14:sldIdLst>
        </p14:section>
        <p14:section name="Returns" id="{962656f8-ac39-1192-dbb4-a8659cc72556}">
          <p14:sldIdLst>
            <p14:sldId id="261"/>
          </p14:sldIdLst>
        </p14:section>
        <p14:section name="Business Overview" id="{52ac4d3e-78fd-ec53-2bbd-50e244996745}">
          <p14:sldIdLst>
            <p14:sldId id="262"/>
            <p14:sldId id="263"/>
          </p14:sldIdLst>
        </p14:section>
        <p14:section name="Thesis 1a" id="{96fcace6-3dc8-54a3-d735-246357041f5f}">
          <p14:sldIdLst>
            <p14:sldId id="264"/>
            <p14:sldId id="265"/>
            <p14:sldId id="266"/>
            <p14:sldId id="267"/>
          </p14:sldIdLst>
        </p14:section>
        <p14:section name="Thesis 1b" id="{7ca54189-0c75-8412-f500-29ba71a4f4a7}">
          <p14:sldIdLst>
            <p14:sldId id="268"/>
            <p14:sldId id="269"/>
            <p14:sldId id="270"/>
            <p14:sldId id="271"/>
            <p14:sldId id="272"/>
            <p14:sldId id="273"/>
            <p14:sldId id="274"/>
          </p14:sldIdLst>
        </p14:section>
        <p14:section name="Thesis 2" id="{9112e9c0-a92a-60c7-795a-06faa4141ef4}">
          <p14:sldIdLst>
            <p14:sldId id="275"/>
            <p14:sldId id="276"/>
            <p14:sldId id="277"/>
            <p14:sldId id="278"/>
          </p14:sldIdLst>
        </p14:section>
        <p14:section name="Valuation" id="{7a2d141a-8fe4-b5b9-46d7-911e0d70ba42}">
          <p14:sldIdLst>
            <p14:sldId id="279"/>
            <p14:sldId id="280"/>
          </p14:sldIdLst>
        </p14:section>
        <p14:section name="Catalysts" id="{73ff933c-8ce5-4247-2158-fee4622d0683}">
          <p14:sldIdLst>
            <p14:sldId id="281"/>
          </p14:sldIdLst>
        </p14:section>
        <p14:section name="Risks" id="{af8379df-a9f8-1c97-5bc2-e503843c3ee7}">
          <p14:sldIdLst>
            <p14:sldId id="282"/>
          </p14:sldIdLst>
        </p14:section>
        <p14:section name="Q&amp;A" id="{b5cbddef-efb3-8e4f-bd5f-5a1283576089}">
          <p14:sldIdLst>
            <p14:sldId id="283"/>
          </p14:sldIdLst>
        </p14:section>
        <p14:section name="Appendix" id="{2d5370dd-d2fa-06b9-88b9-4cf88c3cf476}">
          <p14:sldIdLst>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2E93AE"/>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2E93AE"/>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2E93AE"/>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2E93AE"/>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2E93AE"/>
            </a:solidFill>
            <a:ln w="38100" cap="flat">
              <a:solidFill>
                <a:srgbClr val="2E93AE"/>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2E93AE"/>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2E93AE"/>
            </a:solidFill>
            <a:ln w="44450" cap="flat">
              <a:solidFill>
                <a:srgbClr val="2E93A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2E93AE"/>
            </a:solidFill>
            <a:ln w="31750" cap="flat">
              <a:solidFill>
                <a:srgbClr val="2E93A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93AE"/>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2E93AE"/>
            </a:solidFill>
            <a:ln w="38100" cap="flat">
              <a:solidFill>
                <a:srgbClr val="2E93AE"/>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2E93AE"/>
              </a:solidFill>
              <a:ln w="9525" cap="flat">
                <a:solidFill>
                  <a:srgbClr val="2E93AE"/>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EE6E25"/>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2E93AE"/>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EE6E25"/>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LEAP: GE says the LEAP installed base more than doubles 2025–2030 and LEAP shop visits grow ~25% a year; CFM expects LEAP visits to triple by 2030; IATA sees 600–800 visits in 2025 rising to 5,000+ by 2040 and says capacity alone will not be enough. GE is spending ~$500M to roughly double internal LEAP capacity, and third-party shops' share of LEAP visits rises from 10% (2024) to ~15% today and ~30% by 2030. 2) Short-report discount: the bear-case SOTP ($172) is roughly today's price; with &lt;8% of depreciated leasing inventory left in Aerospace Products, margins now reflect the core business; Q3/Q4 '26 prints are the test. 3) Technicians: no public description of an FTAI academy was found; job postings show dedicated engine-module technical trainers in Montreal and Miami. Partners: GMF ~200 and EgyptAir ~120 technicians. FTAI cited Palantir workflow tools and a productivity lag from rapid hiring. Confirm academy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value bridge (mid-year convention, 0.5 stub for FY26) and both terminal-value methods: perpetuity growth at 3.0% ($281) and 13.0x exit multiple ($335), both at a 9.5% WACC.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Supports the OEM escalator assumption on Thesis 1a (2/4): matched catalogue parts rose a median 6.1–6.2% per year (2024–25 and 2025–26), with only 1 of ~3,400 matched parts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6" name="Text 1"/>
          <p:cNvSpPr/>
          <p:nvPr>
            <p:ph idx="104"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e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e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3.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rgbClr val="EE6E25"/>
                </a:solidFill>
              </a:rPr>
              <a:t>Long Recommendation</a:t>
            </a:r>
            <a:endParaRPr lang="en-US" sz="2800" dirty="0"/>
          </a:p>
        </p:txBody>
      </p:sp>
      <p:sp>
        <p:nvSpPr>
          <p:cNvPr id="5"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6"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7"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8"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9" name="Stat divider 1"/>
          <p:cNvSpPr/>
          <p:nvPr/>
        </p:nvSpPr>
        <p:spPr>
          <a:xfrm>
            <a:off x="2560320" y="2697480"/>
            <a:ext cx="0" cy="1051560"/>
          </a:xfrm>
          <a:prstGeom prst="line">
            <a:avLst/>
          </a:prstGeom>
          <a:noFill/>
          <a:ln w="12700">
            <a:solidFill>
              <a:srgbClr val="DCD8D3"/>
            </a:solidFill>
            <a:prstDash val="solid"/>
          </a:ln>
        </p:spPr>
      </p:sp>
      <p:sp>
        <p:nvSpPr>
          <p:cNvPr id="10"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rgbClr val="EE6E25"/>
                </a:solidFill>
              </a:rPr>
              <a:t>84%</a:t>
            </a:r>
            <a:endParaRPr lang="en-US" sz="4800" dirty="0"/>
          </a:p>
        </p:txBody>
      </p:sp>
      <p:sp>
        <p:nvSpPr>
          <p:cNvPr id="11"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2" name="Stat divider 2"/>
          <p:cNvSpPr/>
          <p:nvPr/>
        </p:nvSpPr>
        <p:spPr>
          <a:xfrm>
            <a:off x="4572000" y="2697480"/>
            <a:ext cx="0" cy="1051560"/>
          </a:xfrm>
          <a:prstGeom prst="line">
            <a:avLst/>
          </a:prstGeom>
          <a:noFill/>
          <a:ln w="12700">
            <a:solidFill>
              <a:srgbClr val="DCD8D3"/>
            </a:solidFill>
            <a:prstDash val="solid"/>
          </a:ln>
        </p:spPr>
      </p:sp>
      <p:sp>
        <p:nvSpPr>
          <p:cNvPr id="13"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rgbClr val="EE6E25"/>
                </a:solidFill>
              </a:rPr>
              <a:t>3.4x</a:t>
            </a:r>
            <a:endParaRPr lang="en-US" sz="4800" dirty="0"/>
          </a:p>
        </p:txBody>
      </p:sp>
      <p:sp>
        <p:nvSpPr>
          <p:cNvPr id="14"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5" name="Stat divider 3"/>
          <p:cNvSpPr/>
          <p:nvPr/>
        </p:nvSpPr>
        <p:spPr>
          <a:xfrm>
            <a:off x="6583680" y="2697480"/>
            <a:ext cx="0" cy="1051560"/>
          </a:xfrm>
          <a:prstGeom prst="line">
            <a:avLst/>
          </a:prstGeom>
          <a:noFill/>
          <a:ln w="12700">
            <a:solidFill>
              <a:srgbClr val="DCD8D3"/>
            </a:solidFill>
            <a:prstDash val="solid"/>
          </a:ln>
        </p:spPr>
      </p:sp>
      <p:sp>
        <p:nvSpPr>
          <p:cNvPr id="16"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7"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8"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9"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20" name="Logo divider"/>
          <p:cNvSpPr/>
          <p:nvPr/>
        </p:nvSpPr>
        <p:spPr>
          <a:xfrm>
            <a:off x="7360920" y="5577840"/>
            <a:ext cx="0" cy="1097280"/>
          </a:xfrm>
          <a:prstGeom prst="line">
            <a:avLst/>
          </a:prstGeom>
          <a:noFill/>
          <a:ln w="12700">
            <a:solidFill>
              <a:srgbClr val="847C7A"/>
            </a:solidFill>
            <a:prstDash val="solid"/>
          </a:ln>
        </p:spPr>
      </p:sp>
      <p:sp>
        <p:nvSpPr>
          <p:cNvPr id="21"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Max</a:t>
            </a:r>
            <a:endParaRPr lang="en-US" sz="1800" dirty="0"/>
          </a:p>
          <a:p>
            <a:pPr algn="ctr" indent="0" marL="0">
              <a:buNone/>
            </a:pPr>
            <a:r>
              <a:rPr lang="en-US" sz="1800" b="1" dirty="0">
                <a:solidFill>
                  <a:schemeClr val="accent2"/>
                </a:solidFill>
              </a:rPr>
              <a:t>Salomon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a:t>
            </a:r>
            <a:endParaRPr lang="en-US" sz="30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(1/3)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9050">
            <a:solidFill>
              <a:srgbClr val="2E93AE"/>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9050">
            <a:solidFill>
              <a:srgbClr val="2E93AE"/>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(2/3)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9050">
            <a:solidFill>
              <a:srgbClr val="2E93AE"/>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9050">
            <a:solidFill>
              <a:srgbClr val="2E93AE"/>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(3/3)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9050">
            <a:solidFill>
              <a:srgbClr val="2E93AE"/>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2E93AE"/>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9050">
            <a:solidFill>
              <a:srgbClr val="2E93AE"/>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Returns Summary</a:t>
            </a:r>
            <a:endParaRPr lang="en-US" sz="30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2E93AE"/>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9050">
            <a:solidFill>
              <a:srgbClr val="2E93AE"/>
            </a:solidFill>
            <a:prstDash val="solid"/>
          </a:ln>
        </p:spPr>
      </p:sp>
      <p:sp>
        <p:nvSpPr>
          <p:cNvPr id="6" name="Loop ring"/>
          <p:cNvSpPr/>
          <p:nvPr/>
        </p:nvSpPr>
        <p:spPr>
          <a:xfrm>
            <a:off x="914400" y="2514600"/>
            <a:ext cx="2743200" cy="2231136"/>
          </a:xfrm>
          <a:prstGeom prst="ellipse">
            <a:avLst/>
          </a:prstGeom>
          <a:ln w="38100">
            <a:solidFill>
              <a:srgbClr val="2E93AE"/>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9050">
            <a:solidFill>
              <a:srgbClr val="2E93AE"/>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5" name="After engine 2 module 2"/>
          <p:cNvSpPr/>
          <p:nvPr/>
        </p:nvSpPr>
        <p:spPr>
          <a:xfrm>
            <a:off x="8037576"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6" name="After engine 2 module 3"/>
          <p:cNvSpPr/>
          <p:nvPr/>
        </p:nvSpPr>
        <p:spPr>
          <a:xfrm>
            <a:off x="8458200"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9050">
            <a:solidFill>
              <a:srgbClr val="2E93AE"/>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9050">
            <a:solidFill>
              <a:srgbClr val="2E93AE"/>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9050">
            <a:solidFill>
              <a:srgbClr val="2E93AE"/>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9050">
            <a:solidFill>
              <a:srgbClr val="2E93AE"/>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9050">
            <a:solidFill>
              <a:srgbClr val="2E93AE"/>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rgbClr val="2E93AE"/>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EE6E25"/>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EE6E25"/>
          </a:solidFill>
          <a:ln>
            <a:solidFill>
              <a:srgbClr val="EE6E25"/>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9050">
            <a:solidFill>
              <a:srgbClr val="2E93AE"/>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9050">
            <a:solidFill>
              <a:srgbClr val="2E93AE"/>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9050">
            <a:solidFill>
              <a:srgbClr val="2E93AE"/>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(1/5)</a:t>
            </a:r>
            <a:endParaRPr lang="en-US" sz="30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(2/5)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9050">
            <a:solidFill>
              <a:srgbClr val="2E93AE"/>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9050">
            <a:solidFill>
              <a:srgbClr val="2E93AE"/>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2E93AE"/>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rgbClr val="EE6E25"/>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rgbClr val="EE6E25"/>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(3/5)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2E93AE"/>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9050">
            <a:solidFill>
              <a:srgbClr val="2E93AE"/>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2E93AE"/>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(4/5)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9050">
            <a:solidFill>
              <a:srgbClr val="2E93AE"/>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2E93AE"/>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9050">
            <a:solidFill>
              <a:srgbClr val="2E93AE"/>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(5/5)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9050">
            <a:solidFill>
              <a:srgbClr val="2E93AE"/>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9050">
            <a:solidFill>
              <a:srgbClr val="2E93AE"/>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2E93AE"/>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EE6E25"/>
          </a:solidFill>
          <a:ln w="31750">
            <a:solidFill>
              <a:srgbClr val="EE6E25"/>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9050">
            <a:solidFill>
              <a:srgbClr val="2E93AE"/>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9050">
            <a:solidFill>
              <a:srgbClr val="2E93AE"/>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9050">
            <a:solidFill>
              <a:srgbClr val="2E93AE"/>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331720" y="2103120"/>
            <a:ext cx="960120" cy="96012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9050">
            <a:solidFill>
              <a:srgbClr val="2E93AE"/>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9050">
            <a:solidFill>
              <a:srgbClr val="2E93AE"/>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2E93AE"/>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9050">
            <a:solidFill>
              <a:srgbClr val="2E93AE"/>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2E93AE"/>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2E93AE"/>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9050">
            <a:solidFill>
              <a:srgbClr val="2E93AE"/>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2E93AE"/>
          </a:solidFill>
          <a:ln/>
        </p:spPr>
        <p:txBody>
          <a:bodyPr wrap="square" lIns="25400" tIns="25400" rIns="25400" bIns="25400" rtlCol="0" anchor="ctr"/>
          <a:lstStyle/>
          <a:p>
            <a:pPr algn="ctr" indent="0" marL="0">
              <a:buNone/>
            </a:pPr>
            <a:r>
              <a:rPr lang="en-US" sz="1400" b="1" dirty="0">
                <a:solidFill>
                  <a:schemeClr val="bg1"/>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9050">
            <a:solidFill>
              <a:srgbClr val="2E93AE"/>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What You Need to Believe</a:t>
            </a:r>
            <a:endParaRPr lang="en-US" sz="3000" dirty="0"/>
          </a:p>
        </p:txBody>
      </p:sp>
      <p:sp>
        <p:nvSpPr>
          <p:cNvPr id="3" name="Belief 1 number"/>
          <p:cNvSpPr/>
          <p:nvPr/>
        </p:nvSpPr>
        <p:spPr>
          <a:xfrm>
            <a:off x="1051560" y="1170432"/>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Valuation: Sum of the Parts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9050">
            <a:solidFill>
              <a:srgbClr val="2E93AE"/>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rgbClr val="EE6E25"/>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9050">
            <a:solidFill>
              <a:srgbClr val="2E93AE"/>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Catalysts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Risks / Mitigants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risks are real, but each is either priced in or being closed.</a:t>
            </a:r>
            <a:endParaRPr lang="en-US" sz="1700" dirty="0"/>
          </a:p>
        </p:txBody>
      </p:sp>
      <p:sp>
        <p:nvSpPr>
          <p:cNvPr id="4" name="Risk 1 number"/>
          <p:cNvSpPr/>
          <p:nvPr/>
        </p:nvSpPr>
        <p:spPr>
          <a:xfrm>
            <a:off x="320040" y="1527048"/>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Risk 1 head"/>
          <p:cNvSpPr txBox="1"/>
          <p:nvPr/>
        </p:nvSpPr>
        <p:spPr>
          <a:xfrm>
            <a:off x="868680" y="1600200"/>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Locked Out of LEAP</a:t>
            </a:r>
            <a:endParaRPr lang="en-US" sz="1500" dirty="0"/>
          </a:p>
        </p:txBody>
      </p:sp>
      <p:sp>
        <p:nvSpPr>
          <p:cNvPr id="6" name="Risk 1 detail"/>
          <p:cNvSpPr txBox="1"/>
          <p:nvPr/>
        </p:nvSpPr>
        <p:spPr>
          <a:xfrm>
            <a:off x="868680" y="1984248"/>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CFM keeps LEAP work in-house through service contracts and licenses.</a:t>
            </a:r>
            <a:endParaRPr lang="en-US" sz="1200" dirty="0"/>
          </a:p>
        </p:txBody>
      </p:sp>
      <p:sp>
        <p:nvSpPr>
          <p:cNvPr id="7" name="Risk 1 mitigants"/>
          <p:cNvSpPr/>
          <p:nvPr/>
        </p:nvSpPr>
        <p:spPr>
          <a:xfrm flipH="1">
            <a:off x="4206240" y="1554480"/>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LEAP visits ~3x by 2030; 5,000+ a year by 2040</a:t>
            </a:r>
            <a:endParaRPr lang="en-US" sz="1100" dirty="0"/>
          </a:p>
          <a:p>
            <a:pPr algn="l" marL="152400" indent="-152400">
              <a:spcAft>
                <a:spcPts val="300"/>
              </a:spcAft>
              <a:buSzPct val="100000"/>
              <a:buChar char="•"/>
            </a:pPr>
            <a:r>
              <a:rPr lang="en-US" sz="1100" dirty="0">
                <a:solidFill>
                  <a:srgbClr val="1A1A1A"/>
                </a:solidFill>
              </a:rPr>
              <a:t>GE is doubling LEAP capacity, yet IATA says it won't be enough</a:t>
            </a:r>
            <a:endParaRPr lang="en-US" sz="1100" dirty="0"/>
          </a:p>
          <a:p>
            <a:pPr algn="l" marL="152400" indent="-152400">
              <a:spcAft>
                <a:spcPts val="300"/>
              </a:spcAft>
              <a:buSzPct val="100000"/>
              <a:buChar char="•"/>
            </a:pPr>
            <a:r>
              <a:rPr lang="en-US" sz="1100" dirty="0">
                <a:solidFill>
                  <a:srgbClr val="1A1A1A"/>
                </a:solidFill>
              </a:rPr>
              <a:t>Third parties: 10% → ~30% of LEAP visits by 2030</a:t>
            </a:r>
            <a:endParaRPr lang="en-US" sz="1100" dirty="0"/>
          </a:p>
        </p:txBody>
      </p:sp>
      <p:sp>
        <p:nvSpPr>
          <p:cNvPr id="8" name="Risk 2 number"/>
          <p:cNvSpPr/>
          <p:nvPr/>
        </p:nvSpPr>
        <p:spPr>
          <a:xfrm>
            <a:off x="320040" y="2825496"/>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Risk 2 head"/>
          <p:cNvSpPr txBox="1"/>
          <p:nvPr/>
        </p:nvSpPr>
        <p:spPr>
          <a:xfrm>
            <a:off x="868680" y="2898648"/>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Short-Report Overhang</a:t>
            </a:r>
            <a:endParaRPr lang="en-US" sz="1500" dirty="0"/>
          </a:p>
        </p:txBody>
      </p:sp>
      <p:sp>
        <p:nvSpPr>
          <p:cNvPr id="10" name="Risk 2 detail"/>
          <p:cNvSpPr txBox="1"/>
          <p:nvPr/>
        </p:nvSpPr>
        <p:spPr>
          <a:xfrm>
            <a:off x="868680" y="3282696"/>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The market keeps a fraud discount on FTAI's multiple.</a:t>
            </a:r>
            <a:endParaRPr lang="en-US" sz="1200" dirty="0"/>
          </a:p>
        </p:txBody>
      </p:sp>
      <p:sp>
        <p:nvSpPr>
          <p:cNvPr id="11" name="Risk 2 mitigants"/>
          <p:cNvSpPr/>
          <p:nvPr/>
        </p:nvSpPr>
        <p:spPr>
          <a:xfrm flipH="1">
            <a:off x="4206240" y="2852928"/>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Priced in: at $167 the market pays our bear case</a:t>
            </a:r>
            <a:endParaRPr lang="en-US" sz="1100" dirty="0"/>
          </a:p>
          <a:p>
            <a:pPr algn="l" marL="152400" indent="-152400">
              <a:spcAft>
                <a:spcPts val="300"/>
              </a:spcAft>
              <a:buSzPct val="100000"/>
              <a:buChar char="•"/>
            </a:pPr>
            <a:r>
              <a:rPr lang="en-US" sz="1100" dirty="0">
                <a:solidFill>
                  <a:srgbClr val="1A1A1A"/>
                </a:solidFill>
              </a:rPr>
              <a:t>&lt;8% cheap stock left: margins now show the core business</a:t>
            </a:r>
            <a:endParaRPr lang="en-US" sz="1100" dirty="0"/>
          </a:p>
          <a:p>
            <a:pPr algn="l" marL="152400" indent="-152400">
              <a:spcAft>
                <a:spcPts val="300"/>
              </a:spcAft>
              <a:buSzPct val="100000"/>
              <a:buChar char="•"/>
            </a:pPr>
            <a:r>
              <a:rPr lang="en-US" sz="1100" dirty="0">
                <a:solidFill>
                  <a:srgbClr val="1A1A1A"/>
                </a:solidFill>
              </a:rPr>
              <a:t>Each clean print (Q3 &amp; Q4 '26) shrinks the discount</a:t>
            </a:r>
            <a:endParaRPr lang="en-US" sz="1100" dirty="0"/>
          </a:p>
        </p:txBody>
      </p:sp>
      <p:sp>
        <p:nvSpPr>
          <p:cNvPr id="12" name="Risk 3 number"/>
          <p:cNvSpPr/>
          <p:nvPr/>
        </p:nvSpPr>
        <p:spPr>
          <a:xfrm>
            <a:off x="320040" y="4123944"/>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Risk 3 head"/>
          <p:cNvSpPr txBox="1"/>
          <p:nvPr/>
        </p:nvSpPr>
        <p:spPr>
          <a:xfrm>
            <a:off x="868680" y="4197096"/>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Technician Shortage</a:t>
            </a:r>
            <a:endParaRPr lang="en-US" sz="1500" dirty="0"/>
          </a:p>
        </p:txBody>
      </p:sp>
      <p:sp>
        <p:nvSpPr>
          <p:cNvPr id="14" name="Risk 3 detail"/>
          <p:cNvSpPr txBox="1"/>
          <p:nvPr/>
        </p:nvSpPr>
        <p:spPr>
          <a:xfrm>
            <a:off x="868680" y="4581144"/>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Too few skilled techs caps how many modules FTAI can turn.</a:t>
            </a:r>
            <a:endParaRPr lang="en-US" sz="1200" dirty="0"/>
          </a:p>
        </p:txBody>
      </p:sp>
      <p:sp>
        <p:nvSpPr>
          <p:cNvPr id="15" name="Risk 3 mitigants"/>
          <p:cNvSpPr/>
          <p:nvPr/>
        </p:nvSpPr>
        <p:spPr>
          <a:xfrm flipH="1">
            <a:off x="4206240" y="4151376"/>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FTAI's academy trains its own techs (trainers in Montreal, Miami)</a:t>
            </a:r>
            <a:endParaRPr lang="en-US" sz="1100" dirty="0"/>
          </a:p>
          <a:p>
            <a:pPr algn="l" marL="152400" indent="-152400">
              <a:spcAft>
                <a:spcPts val="300"/>
              </a:spcAft>
              <a:buSzPct val="100000"/>
              <a:buChar char="•"/>
            </a:pPr>
            <a:r>
              <a:rPr lang="en-US" sz="1100" dirty="0">
                <a:solidFill>
                  <a:srgbClr val="1A1A1A"/>
                </a:solidFill>
              </a:rPr>
              <a:t>Partners add ~320 techs in Jakarta and Cairo</a:t>
            </a:r>
            <a:endParaRPr lang="en-US" sz="1100" dirty="0"/>
          </a:p>
          <a:p>
            <a:pPr algn="l" marL="152400" indent="-152400">
              <a:spcAft>
                <a:spcPts val="300"/>
              </a:spcAft>
              <a:buSzPct val="100000"/>
              <a:buChar char="•"/>
            </a:pPr>
            <a:r>
              <a:rPr lang="en-US" sz="1100" dirty="0">
                <a:solidFill>
                  <a:srgbClr val="1A1A1A"/>
                </a:solidFill>
              </a:rPr>
              <a:t>New hires speed up with experience and Palantir tools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None of these risks is new to the market. The bear case is already in the price.</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Q2'26 call; CFM via StandardAero; IATA (Jun-26); GPS model; FTAI Q2'26 supplement; FTAI job postings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Q&amp;A</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Max</a:t>
            </a:r>
            <a:endParaRPr lang="en-US" sz="1800" dirty="0"/>
          </a:p>
          <a:p>
            <a:pPr algn="ctr" indent="0" marL="0">
              <a:buNone/>
            </a:pPr>
            <a:r>
              <a:rPr lang="en-US" sz="1800" b="1" dirty="0">
                <a:solidFill>
                  <a:schemeClr val="accent2"/>
                </a:solidFill>
              </a:rPr>
              <a:t>Salomon</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Appendix</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Max</a:t>
            </a:r>
            <a:endParaRPr lang="en-US" sz="1800" dirty="0"/>
          </a:p>
          <a:p>
            <a:pPr algn="ctr" indent="0" marL="0">
              <a:buNone/>
            </a:pPr>
            <a:r>
              <a:rPr lang="en-US" sz="1800" b="1" dirty="0">
                <a:solidFill>
                  <a:schemeClr val="accent2"/>
                </a:solidFill>
              </a:rPr>
              <a:t>Salomon</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(1/2)</a:t>
            </a:r>
            <a:endParaRPr lang="en-US" sz="3000" dirty="0"/>
          </a:p>
        </p:txBody>
      </p:sp>
      <p:pic>
        <p:nvPicPr>
          <p:cNvPr id="3" name="PV bridge" descr="/home/user/SPOT/deck/img/app_pv.png">    </p:cNvPr>
          <p:cNvPicPr>
            <a:picLocks noChangeAspect="1"/>
          </p:cNvPicPr>
          <p:nvPr/>
        </p:nvPicPr>
        <p:blipFill>
          <a:blip r:embed="rId1"/>
          <a:stretch>
            <a:fillRect/>
          </a:stretch>
        </p:blipFill>
        <p:spPr>
          <a:xfrm>
            <a:off x="320040" y="1188720"/>
            <a:ext cx="8503920" cy="1907905"/>
          </a:xfrm>
          <a:prstGeom prst="rect">
            <a:avLst/>
          </a:prstGeom>
        </p:spPr>
      </p:pic>
      <p:pic>
        <p:nvPicPr>
          <p:cNvPr id="4" name="Blended valuation" descr="/home/user/SPOT/deck/img/app_blend.png">    </p:cNvPr>
          <p:cNvPicPr>
            <a:picLocks noChangeAspect="1"/>
          </p:cNvPicPr>
          <p:nvPr/>
        </p:nvPicPr>
        <p:blipFill>
          <a:blip r:embed="rId2"/>
          <a:stretch>
            <a:fillRect/>
          </a:stretch>
        </p:blipFill>
        <p:spPr>
          <a:xfrm>
            <a:off x="1143000" y="3657600"/>
            <a:ext cx="6858000" cy="1403968"/>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(2/2)</a:t>
            </a:r>
            <a:endParaRPr lang="en-US" sz="3000" dirty="0"/>
          </a:p>
        </p:txBody>
      </p:sp>
      <p:pic>
        <p:nvPicPr>
          <p:cNvPr id="3" name="Valuation methods" descr="/home/user/SPOT/deck/img/app_methods.png">    </p:cNvPr>
          <p:cNvPicPr>
            <a:picLocks noChangeAspect="1"/>
          </p:cNvPicPr>
          <p:nvPr/>
        </p:nvPicPr>
        <p:blipFill>
          <a:blip r:embed="rId1"/>
          <a:stretch>
            <a:fillRect/>
          </a:stretch>
        </p:blipFill>
        <p:spPr>
          <a:xfrm>
            <a:off x="320040" y="1143000"/>
            <a:ext cx="8503920" cy="3760294"/>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Sensitivities</a:t>
            </a:r>
            <a:endParaRPr lang="en-US" sz="3000" dirty="0"/>
          </a:p>
        </p:txBody>
      </p:sp>
      <p:pic>
        <p:nvPicPr>
          <p:cNvPr id="3" name="Sensitivity tables" descr="/home/user/SPOT/deck/img/app_sens.png">    </p:cNvPr>
          <p:cNvPicPr>
            <a:picLocks noChangeAspect="1"/>
          </p:cNvPicPr>
          <p:nvPr/>
        </p:nvPicPr>
        <p:blipFill>
          <a:blip r:embed="rId1"/>
          <a:stretch>
            <a:fillRect/>
          </a:stretch>
        </p:blipFill>
        <p:spPr>
          <a:xfrm>
            <a:off x="1188720" y="1097280"/>
            <a:ext cx="6766560" cy="412701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implied share price by WACC, terminal growth and exit multiple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Sum of the Parts</a:t>
            </a:r>
            <a:endParaRPr lang="en-US" sz="3000" dirty="0"/>
          </a:p>
        </p:txBody>
      </p:sp>
      <p:pic>
        <p:nvPicPr>
          <p:cNvPr id="3" name="SOTP table" descr="/home/user/SPOT/deck/img/app_sotp.png">    </p:cNvPr>
          <p:cNvPicPr>
            <a:picLocks noChangeAspect="1"/>
          </p:cNvPicPr>
          <p:nvPr/>
        </p:nvPicPr>
        <p:blipFill>
          <a:blip r:embed="rId1"/>
          <a:stretch>
            <a:fillRect/>
          </a:stretch>
        </p:blipFill>
        <p:spPr>
          <a:xfrm>
            <a:off x="320040" y="1188720"/>
            <a:ext cx="8503920" cy="2627390"/>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FY27E SOTP</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Power Model</a:t>
            </a:r>
            <a:endParaRPr lang="en-US" sz="3000" dirty="0"/>
          </a:p>
        </p:txBody>
      </p:sp>
      <p:pic>
        <p:nvPicPr>
          <p:cNvPr id="3" name="Mod-1 build" descr="/home/user/SPOT/deck/img/app_power.png">    </p:cNvPr>
          <p:cNvPicPr>
            <a:picLocks noChangeAspect="1"/>
          </p:cNvPicPr>
          <p:nvPr/>
        </p:nvPicPr>
        <p:blipFill>
          <a:blip r:embed="rId1"/>
          <a:stretch>
            <a:fillRect/>
          </a:stretch>
        </p:blipFill>
        <p:spPr>
          <a:xfrm>
            <a:off x="320040" y="1097280"/>
            <a:ext cx="8503920" cy="1845190"/>
          </a:xfrm>
          <a:prstGeom prst="rect">
            <a:avLst/>
          </a:prstGeom>
        </p:spPr>
      </p:pic>
      <p:pic>
        <p:nvPicPr>
          <p:cNvPr id="4" name="Power shortfall" descr="/home/user/SPOT/deck/img/app_shortfall.png">    </p:cNvPr>
          <p:cNvPicPr>
            <a:picLocks noChangeAspect="1"/>
          </p:cNvPicPr>
          <p:nvPr/>
        </p:nvPicPr>
        <p:blipFill>
          <a:blip r:embed="rId2"/>
          <a:stretch>
            <a:fillRect/>
          </a:stretch>
        </p:blipFill>
        <p:spPr>
          <a:xfrm>
            <a:off x="1463040" y="3246120"/>
            <a:ext cx="6217920" cy="1571670"/>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Mod-1 build; Power outlook tab, NERC 2025 LTRA inputs)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Repair Pricing</a:t>
            </a:r>
            <a:endParaRPr lang="en-US" sz="3000" dirty="0"/>
          </a:p>
        </p:txBody>
      </p:sp>
      <p:pic>
        <p:nvPicPr>
          <p:cNvPr id="3" name="Pricing summary" descr="/home/user/SPOT/deck/img/app_pricing.png">    </p:cNvPr>
          <p:cNvPicPr>
            <a:picLocks noChangeAspect="1"/>
          </p:cNvPicPr>
          <p:nvPr/>
        </p:nvPicPr>
        <p:blipFill>
          <a:blip r:embed="rId1"/>
          <a:stretch>
            <a:fillRect/>
          </a:stretch>
        </p:blipFill>
        <p:spPr>
          <a:xfrm>
            <a:off x="320040" y="1097280"/>
            <a:ext cx="8503920" cy="2802382"/>
          </a:xfrm>
          <a:prstGeom prst="rect">
            <a:avLst/>
          </a:prstGeom>
        </p:spPr>
      </p:pic>
      <p:sp>
        <p:nvSpPr>
          <p:cNvPr id="4" name="Pricing takeaway"/>
          <p:cNvSpPr txBox="1"/>
          <p:nvPr/>
        </p:nvSpPr>
        <p:spPr>
          <a:xfrm>
            <a:off x="320040" y="4343400"/>
            <a:ext cx="8503920" cy="548640"/>
          </a:xfrm>
          <a:prstGeom prst="rect">
            <a:avLst/>
          </a:prstGeom>
          <a:solidFill>
            <a:srgbClr val="EFEDEA"/>
          </a:solidFill>
          <a:ln w="19050">
            <a:solidFill>
              <a:srgbClr val="EE6E25"/>
            </a:solidFill>
          </a:ln>
        </p:spPr>
        <p:txBody>
          <a:bodyPr wrap="square" lIns="0" tIns="0" rIns="0" bIns="0" rtlCol="0" anchor="ctr"/>
          <a:lstStyle/>
          <a:p>
            <a:pPr algn="ctr" indent="0" marL="0">
              <a:buNone/>
            </a:pPr>
            <a:r>
              <a:rPr lang="en-US" sz="1500" b="1" dirty="0">
                <a:solidFill>
                  <a:schemeClr val="tx2"/>
                </a:solidFill>
              </a:rPr>
              <a:t>OEM list prices rose a median ~6% a year across ~3,400 matched parts, with almost none falling.</a:t>
            </a:r>
            <a:endParaRPr lang="en-US" sz="1500" dirty="0"/>
          </a:p>
        </p:txBody>
      </p:sp>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(Pricing Data tab): matched OEM catalogue parts, CFM56-5B and -7B</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2E93AE"/>
      </a:accent5>
      <a:accent6>
        <a:srgbClr val="EE6E25"/>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2026-10-09T00:34:31Z</dcterms:created>
  <dcterms:modified xsi:type="dcterms:W3CDTF">2026-10-09T00:34:31Z</dcterms:modified>
</cp:coreProperties>
</file>