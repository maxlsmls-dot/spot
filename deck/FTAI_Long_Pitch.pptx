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6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9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3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24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5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3e741428-20c4-3de8-7cc9-53a0c37b32bd}">
          <p14:sldIdLst>
            <p14:sldId id="256"/>
          </p14:sldIdLst>
        </p14:section>
        <p14:section name="The Opportunity" id="{30c8abef-1c62-a972-280c-4cdbc75ee717}">
          <p14:sldIdLst>
            <p14:sldId id="257"/>
            <p14:sldId id="258"/>
            <p14:sldId id="259"/>
            <p14:sldId id="260"/>
          </p14:sldIdLst>
        </p14:section>
        <p14:section name="Returns" id="{3c7b42f9-aed4-282c-5743-1e629dcde26c}">
          <p14:sldIdLst>
            <p14:sldId id="261"/>
          </p14:sldIdLst>
        </p14:section>
        <p14:section name="Business Overview" id="{a9865bf1-679f-08ac-82b2-7891036b8fd0}">
          <p14:sldIdLst>
            <p14:sldId id="262"/>
            <p14:sldId id="263"/>
          </p14:sldIdLst>
        </p14:section>
        <p14:section name="Thesis 1a" id="{bce35662-604b-b1a9-7bfc-d53d425aaf86}">
          <p14:sldIdLst>
            <p14:sldId id="264"/>
            <p14:sldId id="265"/>
            <p14:sldId id="266"/>
            <p14:sldId id="267"/>
          </p14:sldIdLst>
        </p14:section>
        <p14:section name="Thesis 1b" id="{fac274fb-d51c-17c2-ea11-15547a7a58f5}">
          <p14:sldIdLst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Thesis 2" id="{919bd439-cc37-0db8-f945-564b9627ab41}">
          <p14:sldIdLst>
            <p14:sldId id="275"/>
            <p14:sldId id="276"/>
            <p14:sldId id="277"/>
            <p14:sldId id="278"/>
          </p14:sldIdLst>
        </p14:section>
        <p14:section name="Valuation" id="{3399540e-f439-e502-5ed7-7f47cfc8928c}">
          <p14:sldIdLst>
            <p14:sldId id="279"/>
            <p14:sldId id="280"/>
          </p14:sldIdLst>
        </p14:section>
        <p14:section name="Catalysts" id="{671c5c31-321f-9678-c856-9ccbc12bb5c4}">
          <p14:sldIdLst>
            <p14:sldId id="281"/>
          </p14:sldIdLst>
        </p14:section>
        <p14:section name="Risks" id="{5956eef1-7f83-b870-33c9-c59853b6cac8}">
          <p14:sldIdLst>
            <p14:sldId id="282"/>
          </p14:sldIdLst>
        </p14:section>
        <p14:section name="Q&amp;A" id="{dc004886-6a89-0b7c-a16c-7f63f911d083}">
          <p14:sldIdLst>
            <p14:sldId id="283"/>
          </p14:sldIdLst>
        </p14:section>
        <p14:section name="Appendix" id="{d80088cf-39c5-7d0a-19f5-152f163426be}">
          <p14:sldIdLst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8"/>
          <c:y val="0.05"/>
          <c:w val="0.9"/>
          <c:h val="0.7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FTAI</c:v>
                </c:pt>
              </c:strCache>
            </c:strRef>
          </c:tx>
          <c:spPr>
            <a:solidFill>
              <a:srgbClr val="0A1C58"/>
            </a:solidFill>
            <a:ln w="254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Sheet1!$A$2:$A$261</c:f>
              <c:multiLvlStrCache>
                <c:ptCount val="260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>2022</c:v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>2023</c:v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>2024</c:v>
                  </c:pt>
                  <c:pt idx="118">
                    <c:v/>
                  </c:pt>
                  <c:pt idx="119">
                    <c:v/>
                  </c:pt>
                  <c:pt idx="120">
                    <c:v/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/>
                  </c:pt>
                  <c:pt idx="161">
                    <c:v/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/>
                  </c:pt>
                  <c:pt idx="169">
                    <c:v>2025</c:v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/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/>
                  </c:pt>
                  <c:pt idx="182">
                    <c:v/>
                  </c:pt>
                  <c:pt idx="183">
                    <c:v/>
                  </c:pt>
                  <c:pt idx="184">
                    <c:v/>
                  </c:pt>
                  <c:pt idx="185">
                    <c:v/>
                  </c:pt>
                  <c:pt idx="186">
                    <c:v/>
                  </c:pt>
                  <c:pt idx="187">
                    <c:v/>
                  </c:pt>
                  <c:pt idx="188">
                    <c:v/>
                  </c:pt>
                  <c:pt idx="189">
                    <c:v/>
                  </c:pt>
                  <c:pt idx="190">
                    <c:v/>
                  </c:pt>
                  <c:pt idx="191">
                    <c:v/>
                  </c:pt>
                  <c:pt idx="192">
                    <c:v/>
                  </c:pt>
                  <c:pt idx="193">
                    <c:v/>
                  </c:pt>
                  <c:pt idx="194">
                    <c:v/>
                  </c:pt>
                  <c:pt idx="195">
                    <c:v/>
                  </c:pt>
                  <c:pt idx="196">
                    <c:v/>
                  </c:pt>
                  <c:pt idx="197">
                    <c:v/>
                  </c:pt>
                  <c:pt idx="198">
                    <c:v/>
                  </c:pt>
                  <c:pt idx="199">
                    <c:v/>
                  </c:pt>
                  <c:pt idx="200">
                    <c:v/>
                  </c:pt>
                  <c:pt idx="201">
                    <c:v/>
                  </c:pt>
                  <c:pt idx="202">
                    <c:v/>
                  </c:pt>
                  <c:pt idx="203">
                    <c:v/>
                  </c:pt>
                  <c:pt idx="204">
                    <c:v/>
                  </c:pt>
                  <c:pt idx="205">
                    <c:v/>
                  </c:pt>
                  <c:pt idx="206">
                    <c:v/>
                  </c:pt>
                  <c:pt idx="207">
                    <c:v/>
                  </c:pt>
                  <c:pt idx="208">
                    <c:v/>
                  </c:pt>
                  <c:pt idx="209">
                    <c:v/>
                  </c:pt>
                  <c:pt idx="210">
                    <c:v/>
                  </c:pt>
                  <c:pt idx="211">
                    <c:v/>
                  </c:pt>
                  <c:pt idx="212">
                    <c:v/>
                  </c:pt>
                  <c:pt idx="213">
                    <c:v/>
                  </c:pt>
                  <c:pt idx="214">
                    <c:v/>
                  </c:pt>
                  <c:pt idx="215">
                    <c:v/>
                  </c:pt>
                  <c:pt idx="216">
                    <c:v/>
                  </c:pt>
                  <c:pt idx="217">
                    <c:v/>
                  </c:pt>
                  <c:pt idx="218">
                    <c:v/>
                  </c:pt>
                  <c:pt idx="219">
                    <c:v/>
                  </c:pt>
                  <c:pt idx="220">
                    <c:v/>
                  </c:pt>
                  <c:pt idx="221">
                    <c:v>2026</c:v>
                  </c:pt>
                  <c:pt idx="222">
                    <c:v/>
                  </c:pt>
                  <c:pt idx="223">
                    <c:v/>
                  </c:pt>
                  <c:pt idx="224">
                    <c:v/>
                  </c:pt>
                  <c:pt idx="225">
                    <c:v/>
                  </c:pt>
                  <c:pt idx="226">
                    <c:v/>
                  </c:pt>
                  <c:pt idx="227">
                    <c:v/>
                  </c:pt>
                  <c:pt idx="228">
                    <c:v/>
                  </c:pt>
                  <c:pt idx="229">
                    <c:v/>
                  </c:pt>
                  <c:pt idx="230">
                    <c:v/>
                  </c:pt>
                  <c:pt idx="231">
                    <c:v/>
                  </c:pt>
                  <c:pt idx="232">
                    <c:v/>
                  </c:pt>
                  <c:pt idx="233">
                    <c:v/>
                  </c:pt>
                  <c:pt idx="234">
                    <c:v/>
                  </c:pt>
                  <c:pt idx="235">
                    <c:v/>
                  </c:pt>
                  <c:pt idx="236">
                    <c:v/>
                  </c:pt>
                  <c:pt idx="237">
                    <c:v/>
                  </c:pt>
                  <c:pt idx="238">
                    <c:v/>
                  </c:pt>
                  <c:pt idx="239">
                    <c:v/>
                  </c:pt>
                  <c:pt idx="240">
                    <c:v/>
                  </c:pt>
                  <c:pt idx="241">
                    <c:v/>
                  </c:pt>
                  <c:pt idx="242">
                    <c:v/>
                  </c:pt>
                  <c:pt idx="243">
                    <c:v/>
                  </c:pt>
                  <c:pt idx="244">
                    <c:v/>
                  </c:pt>
                  <c:pt idx="245">
                    <c:v/>
                  </c:pt>
                  <c:pt idx="246">
                    <c:v/>
                  </c:pt>
                  <c:pt idx="247">
                    <c:v/>
                  </c:pt>
                  <c:pt idx="248">
                    <c:v/>
                  </c:pt>
                  <c:pt idx="249">
                    <c:v/>
                  </c:pt>
                  <c:pt idx="250">
                    <c:v/>
                  </c:pt>
                  <c:pt idx="251">
                    <c:v/>
                  </c:pt>
                  <c:pt idx="252">
                    <c:v/>
                  </c:pt>
                  <c:pt idx="253">
                    <c:v/>
                  </c:pt>
                  <c:pt idx="254">
                    <c:v/>
                  </c:pt>
                  <c:pt idx="255">
                    <c:v/>
                  </c:pt>
                  <c:pt idx="256">
                    <c:v/>
                  </c:pt>
                  <c:pt idx="257">
                    <c:v/>
                  </c:pt>
                  <c:pt idx="258">
                    <c:v/>
                  </c:pt>
                  <c:pt idx="259">
                    <c:v/>
                  </c:pt>
                </c:lvl>
              </c:multiLvlStrCache>
            </c:multiLvlStrRef>
          </c:cat>
          <c:val>
            <c:numRef>
              <c:f>Sheet1!$B$2:$B$261</c:f>
              <c:numCache>
                <c:formatCode>General</c:formatCode>
                <c:ptCount val="260"/>
                <c:pt idx="0">
                  <c:v>19.3</c:v>
                </c:pt>
                <c:pt idx="1">
                  <c:v>19.3</c:v>
                </c:pt>
                <c:pt idx="2">
                  <c:v>21.1</c:v>
                </c:pt>
                <c:pt idx="3">
                  <c:v>21.1</c:v>
                </c:pt>
                <c:pt idx="4">
                  <c:v>21.1</c:v>
                </c:pt>
                <c:pt idx="5">
                  <c:v>19.3</c:v>
                </c:pt>
                <c:pt idx="6">
                  <c:v>19.3</c:v>
                </c:pt>
                <c:pt idx="7">
                  <c:v>17.4</c:v>
                </c:pt>
                <c:pt idx="8">
                  <c:v>17.4</c:v>
                </c:pt>
                <c:pt idx="9">
                  <c:v>18.3</c:v>
                </c:pt>
                <c:pt idx="10">
                  <c:v>21.1</c:v>
                </c:pt>
                <c:pt idx="11">
                  <c:v>22.9</c:v>
                </c:pt>
                <c:pt idx="12">
                  <c:v>21.1</c:v>
                </c:pt>
                <c:pt idx="13">
                  <c:v>22.9</c:v>
                </c:pt>
                <c:pt idx="14">
                  <c:v>22.9</c:v>
                </c:pt>
                <c:pt idx="15">
                  <c:v>21.1</c:v>
                </c:pt>
                <c:pt idx="16">
                  <c:v>21.1</c:v>
                </c:pt>
                <c:pt idx="17">
                  <c:v>21.1</c:v>
                </c:pt>
                <c:pt idx="18">
                  <c:v>21.1</c:v>
                </c:pt>
                <c:pt idx="19">
                  <c:v>21.1</c:v>
                </c:pt>
                <c:pt idx="20">
                  <c:v>19.3</c:v>
                </c:pt>
                <c:pt idx="21">
                  <c:v>17.4</c:v>
                </c:pt>
                <c:pt idx="22">
                  <c:v>17.4</c:v>
                </c:pt>
                <c:pt idx="23">
                  <c:v>19.3</c:v>
                </c:pt>
                <c:pt idx="24">
                  <c:v>19.3</c:v>
                </c:pt>
                <c:pt idx="25">
                  <c:v>19.3</c:v>
                </c:pt>
                <c:pt idx="26">
                  <c:v>19.3</c:v>
                </c:pt>
                <c:pt idx="27">
                  <c:v>18.3</c:v>
                </c:pt>
                <c:pt idx="28">
                  <c:v>17.4</c:v>
                </c:pt>
                <c:pt idx="29">
                  <c:v>15.6</c:v>
                </c:pt>
                <c:pt idx="30">
                  <c:v>13.8</c:v>
                </c:pt>
                <c:pt idx="31">
                  <c:v>13.8</c:v>
                </c:pt>
                <c:pt idx="32">
                  <c:v>13.8</c:v>
                </c:pt>
                <c:pt idx="33">
                  <c:v>14.7</c:v>
                </c:pt>
                <c:pt idx="34">
                  <c:v>15.6</c:v>
                </c:pt>
                <c:pt idx="35">
                  <c:v>13.8</c:v>
                </c:pt>
                <c:pt idx="36">
                  <c:v>13.8</c:v>
                </c:pt>
                <c:pt idx="37">
                  <c:v>13.8</c:v>
                </c:pt>
                <c:pt idx="38">
                  <c:v>14.7</c:v>
                </c:pt>
                <c:pt idx="39">
                  <c:v>14.7</c:v>
                </c:pt>
                <c:pt idx="40">
                  <c:v>14.7</c:v>
                </c:pt>
                <c:pt idx="41">
                  <c:v>15.6</c:v>
                </c:pt>
                <c:pt idx="42">
                  <c:v>17.4</c:v>
                </c:pt>
                <c:pt idx="43">
                  <c:v>16.5</c:v>
                </c:pt>
                <c:pt idx="44">
                  <c:v>16.5</c:v>
                </c:pt>
                <c:pt idx="45">
                  <c:v>15.6</c:v>
                </c:pt>
                <c:pt idx="46">
                  <c:v>15.6</c:v>
                </c:pt>
                <c:pt idx="47">
                  <c:v>15.6</c:v>
                </c:pt>
                <c:pt idx="48">
                  <c:v>16.5</c:v>
                </c:pt>
                <c:pt idx="49">
                  <c:v>15.6</c:v>
                </c:pt>
                <c:pt idx="50">
                  <c:v>13.8</c:v>
                </c:pt>
                <c:pt idx="51">
                  <c:v>13.8</c:v>
                </c:pt>
                <c:pt idx="52">
                  <c:v>13.8</c:v>
                </c:pt>
                <c:pt idx="53">
                  <c:v>13.8</c:v>
                </c:pt>
                <c:pt idx="54">
                  <c:v>13.8</c:v>
                </c:pt>
                <c:pt idx="55">
                  <c:v>15.6</c:v>
                </c:pt>
                <c:pt idx="56">
                  <c:v>15.6</c:v>
                </c:pt>
                <c:pt idx="57">
                  <c:v>15.6</c:v>
                </c:pt>
                <c:pt idx="58">
                  <c:v>15.6</c:v>
                </c:pt>
                <c:pt idx="59">
                  <c:v>14.7</c:v>
                </c:pt>
                <c:pt idx="60">
                  <c:v>15.6</c:v>
                </c:pt>
                <c:pt idx="61">
                  <c:v>15.6</c:v>
                </c:pt>
                <c:pt idx="62">
                  <c:v>15.6</c:v>
                </c:pt>
                <c:pt idx="63">
                  <c:v>15.6</c:v>
                </c:pt>
                <c:pt idx="64">
                  <c:v>16.5</c:v>
                </c:pt>
                <c:pt idx="65">
                  <c:v>19.3</c:v>
                </c:pt>
                <c:pt idx="66">
                  <c:v>21.1</c:v>
                </c:pt>
                <c:pt idx="67">
                  <c:v>20.2</c:v>
                </c:pt>
                <c:pt idx="68">
                  <c:v>21.1</c:v>
                </c:pt>
                <c:pt idx="69">
                  <c:v>21.1</c:v>
                </c:pt>
                <c:pt idx="70">
                  <c:v>22.9</c:v>
                </c:pt>
                <c:pt idx="71">
                  <c:v>21.1</c:v>
                </c:pt>
                <c:pt idx="72">
                  <c:v>23.9</c:v>
                </c:pt>
                <c:pt idx="73">
                  <c:v>24.8</c:v>
                </c:pt>
                <c:pt idx="74">
                  <c:v>22.9</c:v>
                </c:pt>
                <c:pt idx="75">
                  <c:v>22.9</c:v>
                </c:pt>
                <c:pt idx="76">
                  <c:v>22.9</c:v>
                </c:pt>
                <c:pt idx="77">
                  <c:v>25.7</c:v>
                </c:pt>
                <c:pt idx="78">
                  <c:v>25.7</c:v>
                </c:pt>
                <c:pt idx="79">
                  <c:v>25.7</c:v>
                </c:pt>
                <c:pt idx="80">
                  <c:v>24.8</c:v>
                </c:pt>
                <c:pt idx="81">
                  <c:v>26.6</c:v>
                </c:pt>
                <c:pt idx="82">
                  <c:v>26.6</c:v>
                </c:pt>
                <c:pt idx="83">
                  <c:v>26.6</c:v>
                </c:pt>
                <c:pt idx="84">
                  <c:v>26.6</c:v>
                </c:pt>
                <c:pt idx="85">
                  <c:v>26.6</c:v>
                </c:pt>
                <c:pt idx="86">
                  <c:v>26.6</c:v>
                </c:pt>
                <c:pt idx="87">
                  <c:v>27.5</c:v>
                </c:pt>
                <c:pt idx="88">
                  <c:v>27.5</c:v>
                </c:pt>
                <c:pt idx="89">
                  <c:v>26.6</c:v>
                </c:pt>
                <c:pt idx="90">
                  <c:v>29.4</c:v>
                </c:pt>
                <c:pt idx="91">
                  <c:v>30.3</c:v>
                </c:pt>
                <c:pt idx="92">
                  <c:v>31.2</c:v>
                </c:pt>
                <c:pt idx="93">
                  <c:v>31.2</c:v>
                </c:pt>
                <c:pt idx="94">
                  <c:v>30.3</c:v>
                </c:pt>
                <c:pt idx="95">
                  <c:v>33</c:v>
                </c:pt>
                <c:pt idx="96">
                  <c:v>33</c:v>
                </c:pt>
                <c:pt idx="97">
                  <c:v>33.9</c:v>
                </c:pt>
                <c:pt idx="98">
                  <c:v>33.9</c:v>
                </c:pt>
                <c:pt idx="99">
                  <c:v>35.8</c:v>
                </c:pt>
                <c:pt idx="100">
                  <c:v>33.9</c:v>
                </c:pt>
                <c:pt idx="101">
                  <c:v>33.9</c:v>
                </c:pt>
                <c:pt idx="102">
                  <c:v>33</c:v>
                </c:pt>
                <c:pt idx="103">
                  <c:v>32.1</c:v>
                </c:pt>
                <c:pt idx="104">
                  <c:v>32.1</c:v>
                </c:pt>
                <c:pt idx="105">
                  <c:v>32.1</c:v>
                </c:pt>
                <c:pt idx="106">
                  <c:v>31.2</c:v>
                </c:pt>
                <c:pt idx="107">
                  <c:v>35.8</c:v>
                </c:pt>
                <c:pt idx="108">
                  <c:v>37.6</c:v>
                </c:pt>
                <c:pt idx="109">
                  <c:v>39.4</c:v>
                </c:pt>
                <c:pt idx="110">
                  <c:v>39.4</c:v>
                </c:pt>
                <c:pt idx="111">
                  <c:v>39.4</c:v>
                </c:pt>
                <c:pt idx="112">
                  <c:v>40.4</c:v>
                </c:pt>
                <c:pt idx="113">
                  <c:v>42.2</c:v>
                </c:pt>
                <c:pt idx="114">
                  <c:v>43.1</c:v>
                </c:pt>
                <c:pt idx="115">
                  <c:v>45</c:v>
                </c:pt>
                <c:pt idx="116">
                  <c:v>45</c:v>
                </c:pt>
                <c:pt idx="117">
                  <c:v>45</c:v>
                </c:pt>
                <c:pt idx="118">
                  <c:v>46.8</c:v>
                </c:pt>
                <c:pt idx="119">
                  <c:v>49.5</c:v>
                </c:pt>
                <c:pt idx="120">
                  <c:v>52.3</c:v>
                </c:pt>
                <c:pt idx="121">
                  <c:v>54.1</c:v>
                </c:pt>
                <c:pt idx="122">
                  <c:v>51.4</c:v>
                </c:pt>
                <c:pt idx="123">
                  <c:v>51.4</c:v>
                </c:pt>
                <c:pt idx="124">
                  <c:v>54.1</c:v>
                </c:pt>
                <c:pt idx="125">
                  <c:v>56</c:v>
                </c:pt>
                <c:pt idx="126">
                  <c:v>56</c:v>
                </c:pt>
                <c:pt idx="127">
                  <c:v>60.6</c:v>
                </c:pt>
                <c:pt idx="128">
                  <c:v>64.2</c:v>
                </c:pt>
                <c:pt idx="129">
                  <c:v>68.8</c:v>
                </c:pt>
                <c:pt idx="130">
                  <c:v>68.8</c:v>
                </c:pt>
                <c:pt idx="131">
                  <c:v>68.8</c:v>
                </c:pt>
                <c:pt idx="132">
                  <c:v>68.8</c:v>
                </c:pt>
                <c:pt idx="133">
                  <c:v>68.8</c:v>
                </c:pt>
                <c:pt idx="134">
                  <c:v>77.1</c:v>
                </c:pt>
                <c:pt idx="135">
                  <c:v>76.1</c:v>
                </c:pt>
                <c:pt idx="136">
                  <c:v>79.8</c:v>
                </c:pt>
                <c:pt idx="137">
                  <c:v>80.7</c:v>
                </c:pt>
                <c:pt idx="138">
                  <c:v>78.9</c:v>
                </c:pt>
                <c:pt idx="139">
                  <c:v>83.5</c:v>
                </c:pt>
                <c:pt idx="140">
                  <c:v>89.9</c:v>
                </c:pt>
                <c:pt idx="141">
                  <c:v>96.3</c:v>
                </c:pt>
                <c:pt idx="142">
                  <c:v>105.5</c:v>
                </c:pt>
                <c:pt idx="143">
                  <c:v>97.2</c:v>
                </c:pt>
                <c:pt idx="144">
                  <c:v>102.8</c:v>
                </c:pt>
                <c:pt idx="145">
                  <c:v>105.5</c:v>
                </c:pt>
                <c:pt idx="146">
                  <c:v>106.4</c:v>
                </c:pt>
                <c:pt idx="147">
                  <c:v>100</c:v>
                </c:pt>
                <c:pt idx="148">
                  <c:v>105.5</c:v>
                </c:pt>
                <c:pt idx="149">
                  <c:v>113.8</c:v>
                </c:pt>
                <c:pt idx="150">
                  <c:v>122.9</c:v>
                </c:pt>
                <c:pt idx="151">
                  <c:v>116.5</c:v>
                </c:pt>
                <c:pt idx="152">
                  <c:v>115.6</c:v>
                </c:pt>
                <c:pt idx="153">
                  <c:v>124.8</c:v>
                </c:pt>
                <c:pt idx="154">
                  <c:v>125.7</c:v>
                </c:pt>
                <c:pt idx="155">
                  <c:v>133.9</c:v>
                </c:pt>
                <c:pt idx="156">
                  <c:v>145</c:v>
                </c:pt>
                <c:pt idx="157">
                  <c:v>144</c:v>
                </c:pt>
                <c:pt idx="158">
                  <c:v>139.4</c:v>
                </c:pt>
                <c:pt idx="159">
                  <c:v>136.7</c:v>
                </c:pt>
                <c:pt idx="160">
                  <c:v>142.2</c:v>
                </c:pt>
                <c:pt idx="161">
                  <c:v>158.7</c:v>
                </c:pt>
                <c:pt idx="162">
                  <c:v>168.8</c:v>
                </c:pt>
                <c:pt idx="163">
                  <c:v>166.1</c:v>
                </c:pt>
                <c:pt idx="164">
                  <c:v>160.6</c:v>
                </c:pt>
                <c:pt idx="165">
                  <c:v>143.1</c:v>
                </c:pt>
                <c:pt idx="166">
                  <c:v>126.6</c:v>
                </c:pt>
                <c:pt idx="167">
                  <c:v>125.7</c:v>
                </c:pt>
                <c:pt idx="168">
                  <c:v>145</c:v>
                </c:pt>
                <c:pt idx="169">
                  <c:v>163.3</c:v>
                </c:pt>
                <c:pt idx="170">
                  <c:v>126.6</c:v>
                </c:pt>
                <c:pt idx="171">
                  <c:v>89</c:v>
                </c:pt>
                <c:pt idx="172">
                  <c:v>100.9</c:v>
                </c:pt>
                <c:pt idx="173">
                  <c:v>112.8</c:v>
                </c:pt>
                <c:pt idx="174">
                  <c:v>111.9</c:v>
                </c:pt>
                <c:pt idx="175">
                  <c:v>130.3</c:v>
                </c:pt>
                <c:pt idx="176">
                  <c:v>133.9</c:v>
                </c:pt>
                <c:pt idx="177">
                  <c:v>109.2</c:v>
                </c:pt>
                <c:pt idx="178">
                  <c:v>101.8</c:v>
                </c:pt>
                <c:pt idx="179">
                  <c:v>107.3</c:v>
                </c:pt>
                <c:pt idx="180">
                  <c:v>111.9</c:v>
                </c:pt>
                <c:pt idx="181">
                  <c:v>99.1</c:v>
                </c:pt>
                <c:pt idx="182">
                  <c:v>100.9</c:v>
                </c:pt>
                <c:pt idx="183">
                  <c:v>94.5</c:v>
                </c:pt>
                <c:pt idx="184">
                  <c:v>95.4</c:v>
                </c:pt>
                <c:pt idx="185">
                  <c:v>94.5</c:v>
                </c:pt>
                <c:pt idx="186">
                  <c:v>107.3</c:v>
                </c:pt>
                <c:pt idx="187">
                  <c:v>116.5</c:v>
                </c:pt>
                <c:pt idx="188">
                  <c:v>113.8</c:v>
                </c:pt>
                <c:pt idx="189">
                  <c:v>118.3</c:v>
                </c:pt>
                <c:pt idx="190">
                  <c:v>124.8</c:v>
                </c:pt>
                <c:pt idx="191">
                  <c:v>119.3</c:v>
                </c:pt>
                <c:pt idx="192">
                  <c:v>126.6</c:v>
                </c:pt>
                <c:pt idx="193">
                  <c:v>122.9</c:v>
                </c:pt>
                <c:pt idx="194">
                  <c:v>111</c:v>
                </c:pt>
                <c:pt idx="195">
                  <c:v>109.2</c:v>
                </c:pt>
                <c:pt idx="196">
                  <c:v>112.8</c:v>
                </c:pt>
                <c:pt idx="197">
                  <c:v>113.8</c:v>
                </c:pt>
                <c:pt idx="198">
                  <c:v>139.4</c:v>
                </c:pt>
                <c:pt idx="199">
                  <c:v>135.8</c:v>
                </c:pt>
                <c:pt idx="200">
                  <c:v>140.4</c:v>
                </c:pt>
                <c:pt idx="201">
                  <c:v>143.1</c:v>
                </c:pt>
                <c:pt idx="202">
                  <c:v>151.4</c:v>
                </c:pt>
                <c:pt idx="203">
                  <c:v>151.4</c:v>
                </c:pt>
                <c:pt idx="204">
                  <c:v>168.8</c:v>
                </c:pt>
                <c:pt idx="205">
                  <c:v>174.3</c:v>
                </c:pt>
                <c:pt idx="206">
                  <c:v>169.7</c:v>
                </c:pt>
                <c:pt idx="207">
                  <c:v>170.6</c:v>
                </c:pt>
                <c:pt idx="208">
                  <c:v>163.3</c:v>
                </c:pt>
                <c:pt idx="209">
                  <c:v>169.7</c:v>
                </c:pt>
                <c:pt idx="210">
                  <c:v>173.4</c:v>
                </c:pt>
                <c:pt idx="211">
                  <c:v>178</c:v>
                </c:pt>
                <c:pt idx="212">
                  <c:v>158.7</c:v>
                </c:pt>
                <c:pt idx="213">
                  <c:v>153.2</c:v>
                </c:pt>
                <c:pt idx="214">
                  <c:v>159.6</c:v>
                </c:pt>
                <c:pt idx="215">
                  <c:v>167.9</c:v>
                </c:pt>
                <c:pt idx="216">
                  <c:v>172.5</c:v>
                </c:pt>
                <c:pt idx="217">
                  <c:v>178</c:v>
                </c:pt>
                <c:pt idx="218">
                  <c:v>163.3</c:v>
                </c:pt>
                <c:pt idx="219">
                  <c:v>170.6</c:v>
                </c:pt>
                <c:pt idx="220">
                  <c:v>205.5</c:v>
                </c:pt>
                <c:pt idx="221">
                  <c:v>240.4</c:v>
                </c:pt>
                <c:pt idx="222">
                  <c:v>266.1</c:v>
                </c:pt>
                <c:pt idx="223">
                  <c:v>288.1</c:v>
                </c:pt>
                <c:pt idx="224">
                  <c:v>273.4</c:v>
                </c:pt>
                <c:pt idx="225">
                  <c:v>264.2</c:v>
                </c:pt>
                <c:pt idx="226">
                  <c:v>270.6</c:v>
                </c:pt>
                <c:pt idx="227">
                  <c:v>286.2</c:v>
                </c:pt>
                <c:pt idx="228">
                  <c:v>305.5</c:v>
                </c:pt>
                <c:pt idx="229">
                  <c:v>267</c:v>
                </c:pt>
                <c:pt idx="230">
                  <c:v>244</c:v>
                </c:pt>
                <c:pt idx="231">
                  <c:v>232.1</c:v>
                </c:pt>
                <c:pt idx="232">
                  <c:v>238.5</c:v>
                </c:pt>
                <c:pt idx="233">
                  <c:v>242.2</c:v>
                </c:pt>
                <c:pt idx="234">
                  <c:v>253.2</c:v>
                </c:pt>
                <c:pt idx="235">
                  <c:v>258.7</c:v>
                </c:pt>
                <c:pt idx="236">
                  <c:v>232.1</c:v>
                </c:pt>
                <c:pt idx="237">
                  <c:v>236.7</c:v>
                </c:pt>
                <c:pt idx="238">
                  <c:v>273.4</c:v>
                </c:pt>
                <c:pt idx="239">
                  <c:v>250.5</c:v>
                </c:pt>
                <c:pt idx="240">
                  <c:v>247.7</c:v>
                </c:pt>
                <c:pt idx="241">
                  <c:v>256.9</c:v>
                </c:pt>
                <c:pt idx="242">
                  <c:v>233.9</c:v>
                </c:pt>
                <c:pt idx="243">
                  <c:v>237.6</c:v>
                </c:pt>
                <c:pt idx="244">
                  <c:v>273.4</c:v>
                </c:pt>
                <c:pt idx="245">
                  <c:v>264.2</c:v>
                </c:pt>
                <c:pt idx="246">
                  <c:v>253.2</c:v>
                </c:pt>
                <c:pt idx="247">
                  <c:v>221.1</c:v>
                </c:pt>
                <c:pt idx="248">
                  <c:v>206.4</c:v>
                </c:pt>
                <c:pt idx="249">
                  <c:v>214.7</c:v>
                </c:pt>
                <c:pt idx="250">
                  <c:v>201.8</c:v>
                </c:pt>
                <c:pt idx="251">
                  <c:v>217.4</c:v>
                </c:pt>
                <c:pt idx="252">
                  <c:v>217.4</c:v>
                </c:pt>
                <c:pt idx="253">
                  <c:v>201.8</c:v>
                </c:pt>
                <c:pt idx="254">
                  <c:v>192.7</c:v>
                </c:pt>
                <c:pt idx="255">
                  <c:v>191.7</c:v>
                </c:pt>
                <c:pt idx="256">
                  <c:v>180.7</c:v>
                </c:pt>
                <c:pt idx="257">
                  <c:v>189.9</c:v>
                </c:pt>
                <c:pt idx="258">
                  <c:v>171.6</c:v>
                </c:pt>
                <c:pt idx="259">
                  <c:v>167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accent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0"/>
          <c:min val="0"/>
        </c:scaling>
        <c:delete val="0"/>
        <c:axPos val="l"/>
        <c:majorGridlines>
          <c:spPr>
            <a:ln w="6350" cap="flat">
              <a:solidFill>
                <a:srgbClr val="E3E0DC"/>
              </a:solidFill>
              <a:prstDash val="solid"/>
              <a:round/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accent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0.359</c:v>
                </c:pt>
                <c:pt idx="1">
                  <c:v>0.336</c:v>
                </c:pt>
                <c:pt idx="2">
                  <c:v>0.348</c:v>
                </c:pt>
                <c:pt idx="3">
                  <c:v>0.346</c:v>
                </c:pt>
                <c:pt idx="4">
                  <c:v>0.299</c:v>
                </c:pt>
                <c:pt idx="5">
                  <c:v>0.285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Mgmt. guide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0.3</c:v>
                </c:pt>
                <c:pt idx="7">
                  <c:v>0.3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93A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A1C5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5350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Light</c:v>
                  </c:pt>
                  <c:pt idx="1">
                    <c:v>Heavy</c:v>
                  </c:pt>
                  <c:pt idx="2">
                    <c:v>Blended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0.417</c:v>
                </c:pt>
                <c:pt idx="1">
                  <c:v>0.25</c:v>
                </c:pt>
                <c:pt idx="2">
                  <c:v>0.306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 Vernova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</c:v>
                </c:pt>
                <c:pt idx="1">
                  <c:v>116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Siemens Energy</c:v>
                </c:pt>
              </c:strCache>
            </c:strRef>
          </c:tx>
          <c:spPr>
            <a:solidFill>
              <a:srgbClr val="3B4C82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37</c:v>
                </c:pt>
                <c:pt idx="1">
                  <c:v>69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Mitsubishi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</c:v>
                </c:pt>
                <c:pt idx="1">
                  <c:v>35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 inventory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A1C58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DCD8D3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Depreciated leasing stock</c:v>
                </c:pt>
                <c:pt idx="1">
                  <c:v>Everything else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</c:v>
                </c:pt>
                <c:pt idx="1">
                  <c:v>92</c:v>
                </c:pt>
              </c:numCache>
            </c:numRef>
          </c:val>
        </c:ser>
        <c:firstSliceAng val="0"/>
        <c:holeSize val="6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FY25</c:v>
                  </c:pt>
                  <c:pt idx="1">
                    <c:v>Q1'26</c:v>
                  </c:pt>
                  <c:pt idx="2">
                    <c:v>Q2'26</c:v>
                  </c:pt>
                  <c:pt idx="3">
                    <c:v>FY26E</c:v>
                  </c:pt>
                  <c:pt idx="4">
                    <c:v>FY27E</c:v>
                  </c:pt>
                  <c:pt idx="5">
                    <c:v>FY28E</c:v>
                  </c:pt>
                  <c:pt idx="6">
                    <c:v>FY29E</c:v>
                  </c:pt>
                  <c:pt idx="7">
                    <c:v>FY30E</c:v>
                  </c:pt>
                  <c:pt idx="8">
                    <c:v>FY31E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</c:v>
                </c:pt>
                <c:pt idx="1">
                  <c:v>0.299</c:v>
                </c:pt>
                <c:pt idx="2">
                  <c:v>0.285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FY25</c:v>
                  </c:pt>
                  <c:pt idx="1">
                    <c:v>Q1'26</c:v>
                  </c:pt>
                  <c:pt idx="2">
                    <c:v>Q2'26</c:v>
                  </c:pt>
                  <c:pt idx="3">
                    <c:v>FY26E</c:v>
                  </c:pt>
                  <c:pt idx="4">
                    <c:v>FY27E</c:v>
                  </c:pt>
                  <c:pt idx="5">
                    <c:v>FY28E</c:v>
                  </c:pt>
                  <c:pt idx="6">
                    <c:v>FY29E</c:v>
                  </c:pt>
                  <c:pt idx="7">
                    <c:v>FY30E</c:v>
                  </c:pt>
                  <c:pt idx="8">
                    <c:v>FY31E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0.301</c:v>
                </c:pt>
                <c:pt idx="4">
                  <c:v>0.299</c:v>
                </c:pt>
                <c:pt idx="5">
                  <c:v>0.307</c:v>
                </c:pt>
                <c:pt idx="6">
                  <c:v>0.314</c:v>
                </c:pt>
                <c:pt idx="7">
                  <c:v>0.32</c:v>
                </c:pt>
                <c:pt idx="8">
                  <c:v>0.325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OEM list price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107</c:v>
                </c:pt>
                <c:pt idx="2">
                  <c:v>114</c:v>
                </c:pt>
                <c:pt idx="3">
                  <c:v>121.9</c:v>
                </c:pt>
                <c:pt idx="4">
                  <c:v>130.5</c:v>
                </c:pt>
                <c:pt idx="5">
                  <c:v>139.6</c:v>
                </c:pt>
                <c:pt idx="6">
                  <c:v>149.4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FTAI price</c:v>
                </c:pt>
              </c:strCache>
            </c:strRef>
          </c:tx>
          <c:spPr>
            <a:solidFill>
              <a:srgbClr val="2E93AE"/>
            </a:solidFill>
            <a:ln w="3810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100</c:v>
                </c:pt>
                <c:pt idx="1">
                  <c:v>100</c:v>
                </c:pt>
                <c:pt idx="2">
                  <c:v>103.3</c:v>
                </c:pt>
                <c:pt idx="3">
                  <c:v>106.9</c:v>
                </c:pt>
                <c:pt idx="4">
                  <c:v>110.6</c:v>
                </c:pt>
                <c:pt idx="5">
                  <c:v>114.5</c:v>
                </c:pt>
                <c:pt idx="6">
                  <c:v>118.5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"/>
          <c:min val="9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Trough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FY25</c:v>
                  </c:pt>
                  <c:pt idx="1">
                    <c:v>FY26E</c:v>
                  </c:pt>
                  <c:pt idx="2">
                    <c:v>FY27E</c:v>
                  </c:pt>
                  <c:pt idx="3">
                    <c:v>FY28E</c:v>
                  </c:pt>
                  <c:pt idx="4">
                    <c:v>FY29E</c:v>
                  </c:pt>
                  <c:pt idx="5">
                    <c:v>FY30E</c:v>
                  </c:pt>
                  <c:pt idx="6">
                    <c:v>FY31E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/>
                </c:pt>
                <c:pt idx="1">
                  <c:v>876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 / module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FY25</c:v>
                  </c:pt>
                  <c:pt idx="1">
                    <c:v>FY26E</c:v>
                  </c:pt>
                  <c:pt idx="2">
                    <c:v>FY27E</c:v>
                  </c:pt>
                  <c:pt idx="3">
                    <c:v>FY28E</c:v>
                  </c:pt>
                  <c:pt idx="4">
                    <c:v>FY29E</c:v>
                  </c:pt>
                  <c:pt idx="5">
                    <c:v>FY30E</c:v>
                  </c:pt>
                  <c:pt idx="6">
                    <c:v>FY31E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887</c:v>
                </c:pt>
                <c:pt idx="1">
                  <c:v/>
                </c:pt>
                <c:pt idx="2">
                  <c:v>913</c:v>
                </c:pt>
                <c:pt idx="3">
                  <c:v>969</c:v>
                </c:pt>
                <c:pt idx="4">
                  <c:v>1027</c:v>
                </c:pt>
                <c:pt idx="5">
                  <c:v>1084</c:v>
                </c:pt>
                <c:pt idx="6">
                  <c:v>1139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Second visits (heaviest)</c:v>
                </c:pt>
              </c:strCache>
            </c:strRef>
          </c:tx>
          <c:spPr>
            <a:solidFill>
              <a:srgbClr val="0A1C58"/>
            </a:solidFill>
            <a:ln w="4445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842</c:v>
                </c:pt>
                <c:pt idx="1">
                  <c:v>891</c:v>
                </c:pt>
                <c:pt idx="2">
                  <c:v>914</c:v>
                </c:pt>
                <c:pt idx="3">
                  <c:v>908</c:v>
                </c:pt>
                <c:pt idx="4">
                  <c:v>874</c:v>
                </c:pt>
                <c:pt idx="5">
                  <c:v>832</c:v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Third+ visits (late life, lighter)</c:v>
                </c:pt>
              </c:strCache>
            </c:strRef>
          </c:tx>
          <c:spPr>
            <a:solidFill>
              <a:srgbClr val="2E93AE"/>
            </a:solidFill>
            <a:ln w="4445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532</c:v>
                </c:pt>
                <c:pt idx="1">
                  <c:v>597</c:v>
                </c:pt>
                <c:pt idx="2">
                  <c:v>641</c:v>
                </c:pt>
                <c:pt idx="3">
                  <c:v>679</c:v>
                </c:pt>
                <c:pt idx="4">
                  <c:v>700</c:v>
                </c:pt>
                <c:pt idx="5">
                  <c:v>720</c:v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Second trend</c:v>
                </c:pt>
              </c:strCache>
            </c:strRef>
          </c:tx>
          <c:spPr>
            <a:solidFill>
              <a:srgbClr val="0A1C58"/>
            </a:solidFill>
            <a:ln w="31750" cap="flat">
              <a:solidFill>
                <a:srgbClr val="0A1C58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93AE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832</c:v>
                </c:pt>
                <c:pt idx="6">
                  <c:v>790</c:v>
                </c:pt>
                <c:pt idx="7">
                  <c:v>748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Third+ trend</c:v>
                </c:pt>
              </c:strCache>
            </c:strRef>
          </c:tx>
          <c:spPr>
            <a:solidFill>
              <a:srgbClr val="2E93AE"/>
            </a:solidFill>
            <a:ln w="31750" cap="flat">
              <a:solidFill>
                <a:srgbClr val="2E93AE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1C58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720</c:v>
                </c:pt>
                <c:pt idx="6">
                  <c:v>740</c:v>
                </c:pt>
                <c:pt idx="7">
                  <c:v>760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"/>
          <c:min val="45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Blended margin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30%</c:v>
                  </c:pt>
                  <c:pt idx="1">
                    <c:v>40%</c:v>
                  </c:pt>
                  <c:pt idx="2">
                    <c:v>50%</c:v>
                  </c:pt>
                  <c:pt idx="3">
                    <c:v>60%</c:v>
                  </c:pt>
                  <c:pt idx="4">
                    <c:v>70%</c:v>
                  </c:pt>
                  <c:pt idx="5">
                    <c:v>80%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0.279</c:v>
                </c:pt>
                <c:pt idx="1">
                  <c:v>0.292</c:v>
                </c:pt>
                <c:pt idx="2">
                  <c:v>0.306</c:v>
                </c:pt>
                <c:pt idx="3">
                  <c:v>0.321</c:v>
                </c:pt>
                <c:pt idx="4">
                  <c:v>0.34</c:v>
                </c:pt>
                <c:pt idx="5">
                  <c:v>0.361</c:v>
                </c:pt>
              </c:numCache>
            </c:numRef>
          </c:val>
          <c:smooth val="0"/>
        </c:ser>
        <c:dLbls>
          <c:numFmt formatCode="0%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9"/>
          <c:min val="0.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PMA adoption</c:v>
                </c:pt>
              </c:strCache>
            </c:strRef>
          </c:tx>
          <c:spPr>
            <a:solidFill>
              <a:srgbClr val="2E93AE"/>
            </a:solidFill>
            <a:ln w="3810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847C7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</c:v>
                </c:pt>
                <c:pt idx="1">
                  <c:v>3</c:v>
                </c:pt>
                <c:pt idx="2">
                  <c:v>5</c:v>
                </c:pt>
                <c:pt idx="3">
                  <c:v>7</c:v>
                </c:pt>
                <c:pt idx="4">
                  <c:v>9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1" i="0" strike="noStrike" sz="1100" u="none">
                  <a:solidFill>
                    <a:srgbClr val="847C7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PMA EBITDA uplift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&quot;$&quot;0&quot;M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24</c:v>
                </c:pt>
                <c:pt idx="2">
                  <c:v>42</c:v>
                </c:pt>
                <c:pt idx="3">
                  <c:v>59</c:v>
                </c:pt>
                <c:pt idx="4">
                  <c:v>77</c:v>
                </c:pt>
              </c:numCache>
            </c:numRef>
          </c:val>
        </c:ser>
        <c:dLbls>
          <c:numFmt formatCode="&quot;$&quot;0&quot;M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 EBITDA ($M)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0%</c:v>
                  </c:pt>
                  <c:pt idx="1">
                    <c:v>10%</c:v>
                  </c:pt>
                  <c:pt idx="2">
                    <c:v>20%</c:v>
                  </c:pt>
                  <c:pt idx="3">
                    <c:v>30%</c:v>
                  </c:pt>
                  <c:pt idx="4">
                    <c:v>40%</c:v>
                  </c:pt>
                  <c:pt idx="5">
                    <c:v>50%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1132</c:v>
                </c:pt>
                <c:pt idx="1">
                  <c:v>1225</c:v>
                </c:pt>
                <c:pt idx="2">
                  <c:v>1318</c:v>
                </c:pt>
                <c:pt idx="3">
                  <c:v>1411</c:v>
                </c:pt>
                <c:pt idx="4">
                  <c:v>1504</c:v>
                </c:pt>
                <c:pt idx="5">
                  <c:v>1597</c:v>
                </c:pt>
              </c:numCache>
            </c:numRef>
          </c:val>
          <c:smooth val="0"/>
        </c:ser>
        <c:dLbls>
          <c:numFmt formatCode="&quot;$&quot;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0"/>
          <c:min val="1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Pre-COVID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60</c:v>
                </c:pt>
                <c:pt idx="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Today (low)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/>
                </c:pt>
                <c:pt idx="1">
                  <c:v>90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Today (range)</c:v>
                </c:pt>
              </c:strCache>
            </c:strRef>
          </c:tx>
          <c:spPr>
            <a:solidFill>
              <a:srgbClr val="3B4C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/>
                </c:pt>
                <c:pt idx="1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CFM56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2030E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0.68</c:v>
                </c:pt>
                <c:pt idx="1">
                  <c:v>0.49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LEAP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2030E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0.32</c:v>
                </c:pt>
                <c:pt idx="1">
                  <c:v>0.51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Output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757</c:v>
                </c:pt>
                <c:pt idx="1">
                  <c:v>1200</c:v>
                </c:pt>
                <c:pt idx="2">
                  <c:v>1700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Unused capacity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/>
                </c:pt>
                <c:pt idx="1">
                  <c:v>1800</c:v>
                </c:pt>
                <c:pt idx="2">
                  <c:v>1300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2026E</c:v>
                  </c:pt>
                  <c:pt idx="3">
                    <c:v>2027E</c:v>
                  </c:pt>
                  <c:pt idx="4">
                    <c:v>2028E</c:v>
                  </c:pt>
                  <c:pt idx="5">
                    <c:v>2029E</c:v>
                  </c:pt>
                  <c:pt idx="6">
                    <c:v>2030E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0.04</c:v>
                </c:pt>
                <c:pt idx="1">
                  <c:v>0.08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2026E</c:v>
                  </c:pt>
                  <c:pt idx="3">
                    <c:v>2027E</c:v>
                  </c:pt>
                  <c:pt idx="4">
                    <c:v>2028E</c:v>
                  </c:pt>
                  <c:pt idx="5">
                    <c:v>2029E</c:v>
                  </c:pt>
                  <c:pt idx="6">
                    <c:v>2030E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>0.124</c:v>
                </c:pt>
                <c:pt idx="3">
                  <c:v>0.168</c:v>
                </c:pt>
                <c:pt idx="4">
                  <c:v>0.19</c:v>
                </c:pt>
                <c:pt idx="5">
                  <c:v>0.195</c:v>
                </c:pt>
                <c:pt idx="6">
                  <c:v>0.2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Third-party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675</c:v>
                </c:pt>
                <c:pt idx="1">
                  <c:v>866</c:v>
                </c:pt>
                <c:pt idx="2">
                  <c:v>1206</c:v>
                </c:pt>
                <c:pt idx="3">
                  <c:v>1321</c:v>
                </c:pt>
                <c:pt idx="4">
                  <c:v>1298</c:v>
                </c:pt>
                <c:pt idx="5">
                  <c:v>1272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SCI (contracted)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82</c:v>
                </c:pt>
                <c:pt idx="1">
                  <c:v>328</c:v>
                </c:pt>
                <c:pt idx="2">
                  <c:v>482</c:v>
                </c:pt>
                <c:pt idx="3">
                  <c:v>660</c:v>
                </c:pt>
                <c:pt idx="4">
                  <c:v>780</c:v>
                </c:pt>
                <c:pt idx="5">
                  <c:v>840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Your return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 (base)</c:v>
                  </c:pt>
                  <c:pt idx="1">
                    <c:v>5%</c:v>
                  </c:pt>
                  <c:pt idx="2">
                    <c:v>10%</c:v>
                  </c:pt>
                  <c:pt idx="3">
                    <c:v>15%</c:v>
                  </c:pt>
                  <c:pt idx="4">
                    <c:v>20% (CFM56)</c:v>
                  </c:pt>
                  <c:pt idx="5">
                    <c:v>25%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0.66</c:v>
                </c:pt>
                <c:pt idx="1">
                  <c:v>0.74</c:v>
                </c:pt>
                <c:pt idx="2">
                  <c:v>0.83</c:v>
                </c:pt>
                <c:pt idx="3">
                  <c:v>0.92</c:v>
                </c:pt>
                <c:pt idx="4">
                  <c:v/>
                </c:pt>
                <c:pt idx="5">
                  <c:v>1.09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Matches CFM56 share</c:v>
                </c:pt>
              </c:strCache>
            </c:strRef>
          </c:tx>
          <c:spPr>
            <a:solidFill>
              <a:srgbClr val="EE6E25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 (base)</c:v>
                  </c:pt>
                  <c:pt idx="1">
                    <c:v>5%</c:v>
                  </c:pt>
                  <c:pt idx="2">
                    <c:v>10%</c:v>
                  </c:pt>
                  <c:pt idx="3">
                    <c:v>15%</c:v>
                  </c:pt>
                  <c:pt idx="4">
                    <c:v>20% (CFM56)</c:v>
                  </c:pt>
                  <c:pt idx="5">
                    <c:v>25%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1.01</c:v>
                </c:pt>
                <c:pt idx="5">
                  <c:v/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A1C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69</c:v>
                </c:pt>
                <c:pt idx="1">
                  <c:v>95</c:v>
                </c:pt>
                <c:pt idx="2">
                  <c:v>128</c:v>
                </c:pt>
                <c:pt idx="3">
                  <c:v>151</c:v>
                </c:pt>
                <c:pt idx="4">
                  <c:v>147</c:v>
                </c:pt>
                <c:pt idx="5">
                  <c:v>228</c:v>
                </c:pt>
                <c:pt idx="6">
                  <c:v>376</c:v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Guided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733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Shortfall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;;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8.4</c:v>
                </c:pt>
                <c:pt idx="4">
                  <c:v>27.2</c:v>
                </c:pt>
                <c:pt idx="5">
                  <c:v>47.2</c:v>
                </c:pt>
              </c:numCache>
            </c:numRef>
          </c:val>
        </c:ser>
        <c:dLbls>
          <c:numFmt formatCode="0.0;;0" sourceLinked="0"/>
          <c:txPr>
            <a:bodyPr/>
            <a:lstStyle/>
            <a:p>
              <a:pPr>
                <a:defRPr b="1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 2029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≤2026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  <c:pt idx="6">
                    <c:v>2032+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1.8</c:v>
                </c:pt>
                <c:pt idx="1">
                  <c:v>5.7</c:v>
                </c:pt>
                <c:pt idx="2">
                  <c:v>3.3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2029 or later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≤2026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  <c:pt idx="6">
                    <c:v>2032+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3.1</c:v>
                </c:pt>
                <c:pt idx="4">
                  <c:v>2.2</c:v>
                </c:pt>
                <c:pt idx="5">
                  <c:v>6.2</c:v>
                </c:pt>
                <c:pt idx="6">
                  <c:v>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Power</c:v>
                  </c:pt>
                  <c:pt idx="1">
                    <c:v>Signed order</c:v>
                  </c:pt>
                  <c:pt idx="2">
                    <c:v>+1 contract</c:v>
                  </c:pt>
                  <c:pt idx="3">
                    <c:v>+2 contracts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0.35</c:v>
                </c:pt>
                <c:pt idx="1">
                  <c:v>0.66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Upside scenarios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Power</c:v>
                  </c:pt>
                  <c:pt idx="1">
                    <c:v>Signed order</c:v>
                  </c:pt>
                  <c:pt idx="2">
                    <c:v>+1 contract</c:v>
                  </c:pt>
                  <c:pt idx="3">
                    <c:v>+2 contracts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0.86</c:v>
                </c:pt>
                <c:pt idx="3">
                  <c:v>1.07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A1C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Margins + share only</c:v>
                  </c:pt>
                  <c:pt idx="1">
                    <c:v>Power only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0.33</c:v>
                </c:pt>
                <c:pt idx="1">
                  <c:v>0.36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5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Today</c:v>
                  </c:pt>
                  <c:pt idx="1">
                    <c:v>To bear case</c:v>
                  </c:pt>
                  <c:pt idx="2">
                    <c:v>Margins</c:v>
                  </c:pt>
                  <c:pt idx="3">
                    <c:v>Share</c:v>
                  </c:pt>
                  <c:pt idx="4">
                    <c:v>Power</c:v>
                  </c:pt>
                  <c:pt idx="5">
                    <c:v>Base case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167</c:v>
                </c:pt>
                <c:pt idx="2">
                  <c:v>171.9</c:v>
                </c:pt>
                <c:pt idx="3">
                  <c:v>188.9</c:v>
                </c:pt>
                <c:pt idx="4">
                  <c:v>221.6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Today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Today</c:v>
                  </c:pt>
                  <c:pt idx="1">
                    <c:v>To bear case</c:v>
                  </c:pt>
                  <c:pt idx="2">
                    <c:v>Margins</c:v>
                  </c:pt>
                  <c:pt idx="3">
                    <c:v>Share</c:v>
                  </c:pt>
                  <c:pt idx="4">
                    <c:v>Power</c:v>
                  </c:pt>
                  <c:pt idx="5">
                    <c:v>Base case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167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Theses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Today</c:v>
                  </c:pt>
                  <c:pt idx="1">
                    <c:v>To bear case</c:v>
                  </c:pt>
                  <c:pt idx="2">
                    <c:v>Margins</c:v>
                  </c:pt>
                  <c:pt idx="3">
                    <c:v>Share</c:v>
                  </c:pt>
                  <c:pt idx="4">
                    <c:v>Power</c:v>
                  </c:pt>
                  <c:pt idx="5">
                    <c:v>Base case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4.8</c:v>
                </c:pt>
                <c:pt idx="2">
                  <c:v>17</c:v>
                </c:pt>
                <c:pt idx="3">
                  <c:v>32.7</c:v>
                </c:pt>
                <c:pt idx="4">
                  <c:v>55.1</c:v>
                </c:pt>
                <c:pt idx="5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Base case</c:v>
                </c:pt>
              </c:strCache>
            </c:strRef>
          </c:tx>
          <c:spPr>
            <a:solidFill>
              <a:srgbClr val="EE6E2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Today</c:v>
                  </c:pt>
                  <c:pt idx="1">
                    <c:v>To bear case</c:v>
                  </c:pt>
                  <c:pt idx="2">
                    <c:v>Margins</c:v>
                  </c:pt>
                  <c:pt idx="3">
                    <c:v>Share</c:v>
                  </c:pt>
                  <c:pt idx="4">
                    <c:v>Power</c:v>
                  </c:pt>
                  <c:pt idx="5">
                    <c:v>Base case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276.6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868680"/>
            <a:ext cx="8503920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9872" y="6144768"/>
            <a:ext cx="621792" cy="566928"/>
          </a:xfrm>
          <a:prstGeom prst="rect">
            <a:avLst/>
          </a:prstGeom>
        </p:spPr>
      </p:pic>
      <p:pic>
        <p:nvPicPr>
          <p:cNvPr id="4" name="Image 1" descr="/home/user/SPOT/deck/img/fta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246888"/>
            <a:ext cx="1371600" cy="52292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 Sub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868680"/>
            <a:ext cx="8503920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9872" y="6144768"/>
            <a:ext cx="621792" cy="566928"/>
          </a:xfrm>
          <a:prstGeom prst="rect">
            <a:avLst/>
          </a:prstGeom>
        </p:spPr>
      </p:pic>
      <p:pic>
        <p:nvPicPr>
          <p:cNvPr id="4" name="Image 1" descr="/home/user/SPOT/deck/img/fta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246888"/>
            <a:ext cx="1371600" cy="52292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-1.png"/><Relationship Id="rId3" Type="http://schemas.openxmlformats.org/officeDocument/2006/relationships/image" Target="../media/image-1-2.jpe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548640" y="320040"/>
            <a:ext cx="6400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FTAI Aviation</a:t>
            </a:r>
            <a:endParaRPr lang="en-US" sz="3400" dirty="0"/>
          </a:p>
          <a:p>
            <a:pPr indent="0" marL="0">
              <a:buNone/>
            </a:pPr>
            <a:r>
              <a:rPr lang="en-US" sz="3000" dirty="0">
                <a:solidFill>
                  <a:schemeClr val="tx2"/>
                </a:solidFill>
              </a:rPr>
              <a:t>(NASDAQ: FTAI)</a:t>
            </a:r>
            <a:endParaRPr lang="en-US" sz="34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365760"/>
            <a:ext cx="2011680" cy="766953"/>
          </a:xfrm>
          <a:prstGeom prst="rect">
            <a:avLst/>
          </a:prstGeom>
        </p:spPr>
      </p:pic>
      <p:sp>
        <p:nvSpPr>
          <p:cNvPr id="4" name="Recommendation"/>
          <p:cNvSpPr txBox="1"/>
          <p:nvPr/>
        </p:nvSpPr>
        <p:spPr>
          <a:xfrm>
            <a:off x="548640" y="15087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Long Recommendation</a:t>
            </a:r>
            <a:endParaRPr lang="en-US" sz="2800" dirty="0"/>
          </a:p>
        </p:txBody>
      </p:sp>
      <p:graphicFrame>
        <p:nvGraphicFramePr>
          <p:cNvPr id="5" name="Share price chart" descr=""/>
          <p:cNvGraphicFramePr/>
          <p:nvPr/>
        </p:nvGraphicFramePr>
        <p:xfrm>
          <a:off x="548640" y="2011680"/>
          <a:ext cx="548640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Event 1 dot"/>
          <p:cNvSpPr/>
          <p:nvPr/>
        </p:nvSpPr>
        <p:spPr>
          <a:xfrm>
            <a:off x="4183609" y="3210667"/>
            <a:ext cx="128016" cy="128016"/>
          </a:xfrm>
          <a:prstGeom prst="ellipse">
            <a:avLst/>
          </a:prstGeom>
          <a:solidFill>
            <a:srgbClr val="EE6E2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Event 1 label"/>
          <p:cNvSpPr txBox="1"/>
          <p:nvPr/>
        </p:nvSpPr>
        <p:spPr>
          <a:xfrm>
            <a:off x="4311625" y="3366115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6E25"/>
                </a:solidFill>
              </a:rPr>
              <a:t>Short report</a:t>
            </a:r>
            <a:endParaRPr lang="en-US" sz="1000" dirty="0"/>
          </a:p>
        </p:txBody>
      </p:sp>
      <p:sp>
        <p:nvSpPr>
          <p:cNvPr id="8" name="Event 2 dot"/>
          <p:cNvSpPr/>
          <p:nvPr/>
        </p:nvSpPr>
        <p:spPr>
          <a:xfrm>
            <a:off x="5537204" y="2546292"/>
            <a:ext cx="128016" cy="128016"/>
          </a:xfrm>
          <a:prstGeom prst="ellipse">
            <a:avLst/>
          </a:prstGeom>
          <a:solidFill>
            <a:srgbClr val="EE6E2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Event 2 label"/>
          <p:cNvSpPr txBox="1"/>
          <p:nvPr/>
        </p:nvSpPr>
        <p:spPr>
          <a:xfrm>
            <a:off x="4961132" y="195193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6E25"/>
                </a:solidFill>
              </a:rPr>
              <a:t>1Q26 reset</a:t>
            </a:r>
            <a:endParaRPr lang="en-US" sz="1000" dirty="0"/>
          </a:p>
        </p:txBody>
      </p:sp>
      <p:sp>
        <p:nvSpPr>
          <p:cNvPr id="10" name="Stat 1 value"/>
          <p:cNvSpPr txBox="1"/>
          <p:nvPr/>
        </p:nvSpPr>
        <p:spPr>
          <a:xfrm>
            <a:off x="6263640" y="2103120"/>
            <a:ext cx="1261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$167</a:t>
            </a:r>
            <a:endParaRPr lang="en-US" sz="3000" dirty="0"/>
          </a:p>
        </p:txBody>
      </p:sp>
      <p:sp>
        <p:nvSpPr>
          <p:cNvPr id="11" name="Stat 1 label"/>
          <p:cNvSpPr txBox="1"/>
          <p:nvPr/>
        </p:nvSpPr>
        <p:spPr>
          <a:xfrm>
            <a:off x="6263640" y="2679192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Current Price</a:t>
            </a:r>
            <a:endParaRPr lang="en-US" sz="1200" dirty="0"/>
          </a:p>
        </p:txBody>
      </p:sp>
      <p:sp>
        <p:nvSpPr>
          <p:cNvPr id="12" name="Stat 2 value"/>
          <p:cNvSpPr txBox="1"/>
          <p:nvPr/>
        </p:nvSpPr>
        <p:spPr>
          <a:xfrm>
            <a:off x="7562088" y="2103120"/>
            <a:ext cx="1261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$308</a:t>
            </a:r>
            <a:endParaRPr lang="en-US" sz="3000" dirty="0"/>
          </a:p>
        </p:txBody>
      </p:sp>
      <p:sp>
        <p:nvSpPr>
          <p:cNvPr id="13" name="Stat 2 label"/>
          <p:cNvSpPr txBox="1"/>
          <p:nvPr/>
        </p:nvSpPr>
        <p:spPr>
          <a:xfrm>
            <a:off x="7562088" y="2679192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Target Price</a:t>
            </a:r>
            <a:endParaRPr lang="en-US" sz="1200" dirty="0"/>
          </a:p>
        </p:txBody>
      </p:sp>
      <p:sp>
        <p:nvSpPr>
          <p:cNvPr id="14" name="Stat 3 value"/>
          <p:cNvSpPr txBox="1"/>
          <p:nvPr/>
        </p:nvSpPr>
        <p:spPr>
          <a:xfrm>
            <a:off x="6263640" y="3090672"/>
            <a:ext cx="1261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84%</a:t>
            </a:r>
            <a:endParaRPr lang="en-US" sz="3000" dirty="0"/>
          </a:p>
        </p:txBody>
      </p:sp>
      <p:sp>
        <p:nvSpPr>
          <p:cNvPr id="15" name="Stat 3 label"/>
          <p:cNvSpPr txBox="1"/>
          <p:nvPr/>
        </p:nvSpPr>
        <p:spPr>
          <a:xfrm>
            <a:off x="6263640" y="3666744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Upside</a:t>
            </a:r>
            <a:endParaRPr lang="en-US" sz="1200" dirty="0"/>
          </a:p>
        </p:txBody>
      </p:sp>
      <p:sp>
        <p:nvSpPr>
          <p:cNvPr id="16" name="Stat 4 value"/>
          <p:cNvSpPr txBox="1"/>
          <p:nvPr/>
        </p:nvSpPr>
        <p:spPr>
          <a:xfrm>
            <a:off x="7562088" y="3090672"/>
            <a:ext cx="1261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3.4x</a:t>
            </a:r>
            <a:endParaRPr lang="en-US" sz="3000" dirty="0"/>
          </a:p>
        </p:txBody>
      </p:sp>
      <p:sp>
        <p:nvSpPr>
          <p:cNvPr id="17" name="Stat 4 label"/>
          <p:cNvSpPr txBox="1"/>
          <p:nvPr/>
        </p:nvSpPr>
        <p:spPr>
          <a:xfrm>
            <a:off x="7562088" y="3666744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Reward / Risk</a:t>
            </a:r>
            <a:endParaRPr lang="en-US" sz="1200" dirty="0"/>
          </a:p>
        </p:txBody>
      </p:sp>
      <p:sp>
        <p:nvSpPr>
          <p:cNvPr id="18" name="Stat divider v"/>
          <p:cNvSpPr/>
          <p:nvPr/>
        </p:nvSpPr>
        <p:spPr>
          <a:xfrm>
            <a:off x="7562088" y="2148840"/>
            <a:ext cx="0" cy="178308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9" name="Stat divider h"/>
          <p:cNvSpPr/>
          <p:nvPr/>
        </p:nvSpPr>
        <p:spPr>
          <a:xfrm>
            <a:off x="6355080" y="3044952"/>
            <a:ext cx="2377440" cy="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20" name="Quote"/>
          <p:cNvSpPr txBox="1"/>
          <p:nvPr/>
        </p:nvSpPr>
        <p:spPr>
          <a:xfrm>
            <a:off x="411480" y="4206240"/>
            <a:ext cx="8321040" cy="73152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</a:rPr>
              <a:t>“Be fearful when others are greedy and greedy when others are fearful.”</a:t>
            </a:r>
            <a:endParaRPr lang="en-US" sz="1900" dirty="0"/>
          </a:p>
        </p:txBody>
      </p:sp>
      <p:sp>
        <p:nvSpPr>
          <p:cNvPr id="21" name="Quote attribution"/>
          <p:cNvSpPr txBox="1"/>
          <p:nvPr/>
        </p:nvSpPr>
        <p:spPr>
          <a:xfrm>
            <a:off x="411480" y="502920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A1A1A"/>
                </a:solidFill>
              </a:rPr>
              <a:t>— Warren Buffett</a:t>
            </a:r>
            <a:endParaRPr lang="en-US" sz="1900" dirty="0"/>
          </a:p>
        </p:txBody>
      </p:sp>
      <p:sp>
        <p:nvSpPr>
          <p:cNvPr id="22" name="Pitch details"/>
          <p:cNvSpPr txBox="1"/>
          <p:nvPr/>
        </p:nvSpPr>
        <p:spPr>
          <a:xfrm>
            <a:off x="548640" y="576072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Date: October 2026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Current Price: $167.03 (10/2/26)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Target Price: $308.03 (84% upside, 3.4x R/R)</a:t>
            </a:r>
            <a:endParaRPr lang="en-US" sz="1500" dirty="0"/>
          </a:p>
        </p:txBody>
      </p:sp>
      <p:pic>
        <p:nvPicPr>
          <p:cNvPr id="23" name="GPS logo" descr="/home/user/SPOT/deck/gps_logo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80" y="5532120"/>
            <a:ext cx="1234440" cy="1133856"/>
          </a:xfrm>
          <a:prstGeom prst="rect">
            <a:avLst/>
          </a:prstGeom>
        </p:spPr>
      </p:pic>
      <p:sp>
        <p:nvSpPr>
          <p:cNvPr id="24" name="Logo divider"/>
          <p:cNvSpPr/>
          <p:nvPr/>
        </p:nvSpPr>
        <p:spPr>
          <a:xfrm>
            <a:off x="7360920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25" name="Presenter"/>
          <p:cNvSpPr txBox="1"/>
          <p:nvPr/>
        </p:nvSpPr>
        <p:spPr>
          <a:xfrm>
            <a:off x="7452360" y="5669280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</a:t>
            </a:r>
            <a:endParaRPr lang="en-US" sz="3000" dirty="0"/>
          </a:p>
        </p:txBody>
      </p:sp>
      <p:sp>
        <p:nvSpPr>
          <p:cNvPr id="3" name="Point 1"/>
          <p:cNvSpPr txBox="1"/>
          <p:nvPr/>
        </p:nvSpPr>
        <p:spPr>
          <a:xfrm>
            <a:off x="1600200" y="1188720"/>
            <a:ext cx="6629400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1Q26 margins compressed 500 bps, and management guided EBITDA margins down from 40% to 30% for two years.</a:t>
            </a:r>
            <a:endParaRPr lang="en-US" sz="1500" dirty="0"/>
          </a:p>
        </p:txBody>
      </p:sp>
      <p:sp>
        <p:nvSpPr>
          <p:cNvPr id="4" name="Point 1 number"/>
          <p:cNvSpPr/>
          <p:nvPr/>
        </p:nvSpPr>
        <p:spPr>
          <a:xfrm>
            <a:off x="1120140" y="1211580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1</a:t>
            </a:r>
            <a:endParaRPr lang="en-US" sz="2600" dirty="0"/>
          </a:p>
        </p:txBody>
      </p:sp>
      <p:sp>
        <p:nvSpPr>
          <p:cNvPr id="5" name="Point 2"/>
          <p:cNvSpPr txBox="1"/>
          <p:nvPr/>
        </p:nvSpPr>
        <p:spPr>
          <a:xfrm>
            <a:off x="1600200" y="2304288"/>
            <a:ext cx="6629400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 fraud overhang from the 2025 short report leaves the market doubting this is the bottom: it still sees FTAI as over-earning.</a:t>
            </a:r>
            <a:endParaRPr lang="en-US" sz="1500" dirty="0"/>
          </a:p>
        </p:txBody>
      </p:sp>
      <p:sp>
        <p:nvSpPr>
          <p:cNvPr id="6" name="Point 2 number"/>
          <p:cNvSpPr/>
          <p:nvPr/>
        </p:nvSpPr>
        <p:spPr>
          <a:xfrm>
            <a:off x="1120140" y="2327148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2</a:t>
            </a:r>
            <a:endParaRPr lang="en-US" sz="2600" dirty="0"/>
          </a:p>
        </p:txBody>
      </p:sp>
      <p:sp>
        <p:nvSpPr>
          <p:cNvPr id="7" name="Point 3"/>
          <p:cNvSpPr txBox="1"/>
          <p:nvPr/>
        </p:nvSpPr>
        <p:spPr>
          <a:xfrm>
            <a:off x="1600200" y="3419856"/>
            <a:ext cx="6629400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 believe FTAI has reached steady state: margins have bottomed and share gains will drive volume growth.</a:t>
            </a:r>
            <a:endParaRPr lang="en-US" sz="1500" dirty="0"/>
          </a:p>
        </p:txBody>
      </p:sp>
      <p:sp>
        <p:nvSpPr>
          <p:cNvPr id="8" name="Point 3 number"/>
          <p:cNvSpPr/>
          <p:nvPr/>
        </p:nvSpPr>
        <p:spPr>
          <a:xfrm>
            <a:off x="1120140" y="3442716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3</a:t>
            </a:r>
            <a:endParaRPr lang="en-US" sz="2600" dirty="0"/>
          </a:p>
        </p:txBody>
      </p:sp>
      <p:sp>
        <p:nvSpPr>
          <p:cNvPr id="9" name="Funnel"/>
          <p:cNvSpPr/>
          <p:nvPr/>
        </p:nvSpPr>
        <p:spPr>
          <a:xfrm flipV="1">
            <a:off x="1188720" y="4553712"/>
            <a:ext cx="7040880" cy="41148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0" name="Conclusion"/>
          <p:cNvSpPr txBox="1"/>
          <p:nvPr/>
        </p:nvSpPr>
        <p:spPr>
          <a:xfrm>
            <a:off x="1188720" y="5120640"/>
            <a:ext cx="7040880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is pricing a trough as a cliff. We see 84% upside, with Power as a free call option.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3200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filings, earnings calls, GPS estimates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(1/3)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 one quarter, Aerospace margins fell ~470 bps, and management guided ~30% for two years.</a:t>
            </a:r>
            <a:endParaRPr lang="en-US" sz="1700" dirty="0"/>
          </a:p>
        </p:txBody>
      </p:sp>
      <p:sp>
        <p:nvSpPr>
          <p:cNvPr id="4" name="Margin chart header"/>
          <p:cNvSpPr txBox="1"/>
          <p:nvPr/>
        </p:nvSpPr>
        <p:spPr>
          <a:xfrm>
            <a:off x="320040" y="155448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Aerospace Products Adj. EBITDA Margin</a:t>
            </a:r>
            <a:endParaRPr lang="en-US" sz="1600" dirty="0"/>
          </a:p>
        </p:txBody>
      </p:sp>
      <p:sp>
        <p:nvSpPr>
          <p:cNvPr id="5" name="Margin chart header rule"/>
          <p:cNvSpPr/>
          <p:nvPr/>
        </p:nvSpPr>
        <p:spPr>
          <a:xfrm>
            <a:off x="320040" y="1975104"/>
            <a:ext cx="525780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Margin chart" descr=""/>
          <p:cNvGraphicFramePr/>
          <p:nvPr/>
        </p:nvGraphicFramePr>
        <p:xfrm>
          <a:off x="320040" y="2103120"/>
          <a:ext cx="52578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Guide label"/>
          <p:cNvSpPr txBox="1"/>
          <p:nvPr/>
        </p:nvSpPr>
        <p:spPr>
          <a:xfrm>
            <a:off x="4206240" y="27889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Mgmt. guide</a:t>
            </a:r>
            <a:endParaRPr lang="en-US" sz="1200" dirty="0"/>
          </a:p>
        </p:txBody>
      </p:sp>
      <p:sp>
        <p:nvSpPr>
          <p:cNvPr id="8" name="Compression callout"/>
          <p:cNvSpPr/>
          <p:nvPr/>
        </p:nvSpPr>
        <p:spPr>
          <a:xfrm>
            <a:off x="2606040" y="2103120"/>
            <a:ext cx="1097280" cy="109728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–470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bps q/q</a:t>
            </a:r>
            <a:endParaRPr lang="en-US" sz="2000" dirty="0"/>
          </a:p>
        </p:txBody>
      </p:sp>
      <p:sp>
        <p:nvSpPr>
          <p:cNvPr id="9" name="Mix chart header"/>
          <p:cNvSpPr txBox="1"/>
          <p:nvPr/>
        </p:nvSpPr>
        <p:spPr>
          <a:xfrm>
            <a:off x="5897880" y="1554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Management: “It's Mix”</a:t>
            </a:r>
            <a:endParaRPr lang="en-US" sz="1600" dirty="0"/>
          </a:p>
        </p:txBody>
      </p:sp>
      <p:sp>
        <p:nvSpPr>
          <p:cNvPr id="10" name="Mix chart header rule"/>
          <p:cNvSpPr/>
          <p:nvPr/>
        </p:nvSpPr>
        <p:spPr>
          <a:xfrm>
            <a:off x="5897880" y="1975104"/>
            <a:ext cx="29260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Mix chart" descr=""/>
          <p:cNvGraphicFramePr/>
          <p:nvPr/>
        </p:nvGraphicFramePr>
        <p:xfrm>
          <a:off x="5897880" y="2103120"/>
          <a:ext cx="29260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Mix detail"/>
          <p:cNvSpPr txBox="1"/>
          <p:nvPr/>
        </p:nvSpPr>
        <p:spPr>
          <a:xfrm>
            <a:off x="5897880" y="437083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Light: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$6M sale, $2.5M profit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Heavy: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$12M sale, $3.0M profit</a:t>
            </a:r>
            <a:endParaRPr lang="en-US" sz="1200" dirty="0"/>
          </a:p>
        </p:txBody>
      </p:sp>
      <p:sp>
        <p:nvSpPr>
          <p:cNvPr id="13" name="Mix kicker"/>
          <p:cNvSpPr txBox="1"/>
          <p:nvPr/>
        </p:nvSpPr>
        <p:spPr>
          <a:xfrm>
            <a:off x="5897880" y="49834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Lower margin, more dollars per job</a:t>
            </a:r>
            <a:endParaRPr lang="en-US" sz="1300" dirty="0"/>
          </a:p>
        </p:txBody>
      </p:sp>
      <p:sp>
        <p:nvSpPr>
          <p:cNvPr id="14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drop is real. Is ~30% the floor, or just a waypoint?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(2/3)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2025 short report gave the market a darker explanation, and it stuck.</a:t>
            </a:r>
            <a:endParaRPr lang="en-US" sz="1700" dirty="0"/>
          </a:p>
        </p:txBody>
      </p:sp>
      <p:sp>
        <p:nvSpPr>
          <p:cNvPr id="4" name="Short thesis header"/>
          <p:cNvSpPr txBox="1"/>
          <p:nvPr/>
        </p:nvSpPr>
        <p:spPr>
          <a:xfrm>
            <a:off x="320040" y="1554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Short Thesis (Jan. 2025)</a:t>
            </a:r>
            <a:endParaRPr lang="en-US" sz="1600" dirty="0"/>
          </a:p>
        </p:txBody>
      </p:sp>
      <p:sp>
        <p:nvSpPr>
          <p:cNvPr id="5" name="Short thesis header rule"/>
          <p:cNvSpPr/>
          <p:nvPr/>
        </p:nvSpPr>
        <p:spPr>
          <a:xfrm>
            <a:off x="320040" y="1975104"/>
            <a:ext cx="457200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Short step 1"/>
          <p:cNvSpPr txBox="1"/>
          <p:nvPr/>
        </p:nvSpPr>
        <p:spPr>
          <a:xfrm>
            <a:off x="548640" y="2148840"/>
            <a:ext cx="4114800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Leasing engines sit on the books at depreciated value</a:t>
            </a:r>
            <a:endParaRPr lang="en-US" sz="1500" dirty="0"/>
          </a:p>
        </p:txBody>
      </p:sp>
      <p:sp>
        <p:nvSpPr>
          <p:cNvPr id="7" name="Short arrow 1"/>
          <p:cNvSpPr/>
          <p:nvPr/>
        </p:nvSpPr>
        <p:spPr>
          <a:xfrm>
            <a:off x="2395728" y="2907792"/>
            <a:ext cx="420624" cy="292608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8" name="Short step 2"/>
          <p:cNvSpPr txBox="1"/>
          <p:nvPr/>
        </p:nvSpPr>
        <p:spPr>
          <a:xfrm>
            <a:off x="548640" y="3227832"/>
            <a:ext cx="4114800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They are moved into Aerospace Products as inventory</a:t>
            </a:r>
            <a:endParaRPr lang="en-US" sz="1500" dirty="0"/>
          </a:p>
        </p:txBody>
      </p:sp>
      <p:sp>
        <p:nvSpPr>
          <p:cNvPr id="9" name="Short arrow 2"/>
          <p:cNvSpPr/>
          <p:nvPr/>
        </p:nvSpPr>
        <p:spPr>
          <a:xfrm>
            <a:off x="2395728" y="3986784"/>
            <a:ext cx="420624" cy="292608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0" name="Short step 3"/>
          <p:cNvSpPr txBox="1"/>
          <p:nvPr/>
        </p:nvSpPr>
        <p:spPr>
          <a:xfrm>
            <a:off x="548640" y="4306824"/>
            <a:ext cx="4114800" cy="73152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Sold at market prices, the low cost basis inflates AP margins</a:t>
            </a:r>
            <a:endParaRPr lang="en-US" sz="1500" dirty="0"/>
          </a:p>
        </p:txBody>
      </p:sp>
      <p:sp>
        <p:nvSpPr>
          <p:cNvPr id="11" name="Readings header"/>
          <p:cNvSpPr txBox="1"/>
          <p:nvPr/>
        </p:nvSpPr>
        <p:spPr>
          <a:xfrm>
            <a:off x="5257800" y="15544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Two Readings of the Drop</a:t>
            </a:r>
            <a:endParaRPr lang="en-US" sz="1600" dirty="0"/>
          </a:p>
        </p:txBody>
      </p:sp>
      <p:sp>
        <p:nvSpPr>
          <p:cNvPr id="12" name="Readings header rule"/>
          <p:cNvSpPr/>
          <p:nvPr/>
        </p:nvSpPr>
        <p:spPr>
          <a:xfrm>
            <a:off x="5257800" y="1975104"/>
            <a:ext cx="356616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3" name="Management reading"/>
          <p:cNvSpPr txBox="1"/>
          <p:nvPr/>
        </p:nvSpPr>
        <p:spPr>
          <a:xfrm>
            <a:off x="5257800" y="2148840"/>
            <a:ext cx="3566160" cy="13258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Management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Heavier-scope work, new shops still ramping, and prices held below OEM to win share.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→ Temporary: margins recover</a:t>
            </a:r>
            <a:endParaRPr lang="en-US" sz="1500" dirty="0"/>
          </a:p>
        </p:txBody>
      </p:sp>
      <p:sp>
        <p:nvSpPr>
          <p:cNvPr id="14" name="The Bears reading"/>
          <p:cNvSpPr txBox="1"/>
          <p:nvPr/>
        </p:nvSpPr>
        <p:spPr>
          <a:xfrm>
            <a:off x="5257800" y="3721608"/>
            <a:ext cx="3566160" cy="13258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The Bears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The cheap, depreciated leasing engines that flattered margins are running out.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→ Structural: margins keep falling</a:t>
            </a:r>
            <a:endParaRPr lang="en-US" sz="1500" dirty="0"/>
          </a:p>
        </p:txBody>
      </p:sp>
      <p:sp>
        <p:nvSpPr>
          <p:cNvPr id="15" name="Readings vs"/>
          <p:cNvSpPr txBox="1"/>
          <p:nvPr/>
        </p:nvSpPr>
        <p:spPr>
          <a:xfrm>
            <a:off x="6720840" y="3474720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vs.</a:t>
            </a:r>
            <a:endParaRPr lang="en-US" sz="1400" dirty="0"/>
          </a:p>
        </p:txBody>
      </p:sp>
      <p:sp>
        <p:nvSpPr>
          <p:cNvPr id="16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reads the margin reset as the short thesis unwinding, and prices FTAI as if it's still over-earning.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Muddy Waters Research (Jan. 2025), FTAI filings and earnings calls, GPS analysis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(3/3)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Turbine makers are sold out for years, yet the market assigns no value to FTAI's Power.</a:t>
            </a:r>
            <a:endParaRPr lang="en-US" sz="1700" dirty="0"/>
          </a:p>
        </p:txBody>
      </p:sp>
      <p:sp>
        <p:nvSpPr>
          <p:cNvPr id="4" name="Backlog header"/>
          <p:cNvSpPr txBox="1"/>
          <p:nvPr/>
        </p:nvSpPr>
        <p:spPr>
          <a:xfrm>
            <a:off x="320040" y="155448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Combined Gas Turbine Backlog (GW)</a:t>
            </a:r>
            <a:endParaRPr lang="en-US" sz="1600" dirty="0"/>
          </a:p>
        </p:txBody>
      </p:sp>
      <p:sp>
        <p:nvSpPr>
          <p:cNvPr id="5" name="Backlog header rule"/>
          <p:cNvSpPr/>
          <p:nvPr/>
        </p:nvSpPr>
        <p:spPr>
          <a:xfrm>
            <a:off x="320040" y="1975104"/>
            <a:ext cx="525780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mbined backlog chart" descr=""/>
          <p:cNvGraphicFramePr/>
          <p:nvPr/>
        </p:nvGraphicFramePr>
        <p:xfrm>
          <a:off x="320040" y="2103120"/>
          <a:ext cx="52578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otal 2025"/>
          <p:cNvSpPr txBox="1"/>
          <p:nvPr/>
        </p:nvSpPr>
        <p:spPr>
          <a:xfrm>
            <a:off x="1097280" y="30175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115 GW</a:t>
            </a:r>
            <a:endParaRPr lang="en-US" sz="1600" dirty="0"/>
          </a:p>
        </p:txBody>
      </p:sp>
      <p:sp>
        <p:nvSpPr>
          <p:cNvPr id="8" name="Total 2026"/>
          <p:cNvSpPr txBox="1"/>
          <p:nvPr/>
        </p:nvSpPr>
        <p:spPr>
          <a:xfrm>
            <a:off x="3749040" y="20574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220 GW</a:t>
            </a:r>
            <a:endParaRPr lang="en-US" sz="1600" dirty="0"/>
          </a:p>
        </p:txBody>
      </p:sp>
      <p:sp>
        <p:nvSpPr>
          <p:cNvPr id="9" name="Backlog arrow"/>
          <p:cNvSpPr/>
          <p:nvPr/>
        </p:nvSpPr>
        <p:spPr>
          <a:xfrm flipV="1">
            <a:off x="2331720" y="2377440"/>
            <a:ext cx="1371600" cy="777240"/>
          </a:xfrm>
          <a:prstGeom prst="line">
            <a:avLst/>
          </a:prstGeom>
          <a:noFill/>
          <a:ln w="317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0" name="Growth label"/>
          <p:cNvSpPr txBox="1"/>
          <p:nvPr/>
        </p:nvSpPr>
        <p:spPr>
          <a:xfrm>
            <a:off x="2057400" y="233172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~1.9x</a:t>
            </a:r>
            <a:endParaRPr lang="en-US" sz="1800" dirty="0"/>
          </a:p>
        </p:txBody>
      </p:sp>
      <p:sp>
        <p:nvSpPr>
          <p:cNvPr id="11" name="Backlog legend"/>
          <p:cNvSpPr txBox="1"/>
          <p:nvPr/>
        </p:nvSpPr>
        <p:spPr>
          <a:xfrm>
            <a:off x="320040" y="475488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Vernova  </a:t>
            </a:r>
            <a:pPr algn="ctr" indent="0" marL="0">
              <a:buNone/>
            </a:pPr>
            <a:r>
              <a:rPr lang="en-US" sz="1100" dirty="0">
                <a:solidFill>
                  <a:srgbClr val="3B4C82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Siemens Energy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Mitsubishi</a:t>
            </a:r>
            <a:endParaRPr lang="en-US" sz="1100" dirty="0"/>
          </a:p>
        </p:txBody>
      </p:sp>
      <p:sp>
        <p:nvSpPr>
          <p:cNvPr id="12" name="Power stats header"/>
          <p:cNvSpPr txBox="1"/>
          <p:nvPr/>
        </p:nvSpPr>
        <p:spPr>
          <a:xfrm>
            <a:off x="5897880" y="1554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Power at a Glance</a:t>
            </a:r>
            <a:endParaRPr lang="en-US" sz="1600" dirty="0"/>
          </a:p>
        </p:txBody>
      </p:sp>
      <p:sp>
        <p:nvSpPr>
          <p:cNvPr id="13" name="Power stats header rule"/>
          <p:cNvSpPr/>
          <p:nvPr/>
        </p:nvSpPr>
        <p:spPr>
          <a:xfrm>
            <a:off x="5897880" y="1975104"/>
            <a:ext cx="29260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4" name="Power stat 1"/>
          <p:cNvSpPr txBox="1"/>
          <p:nvPr/>
        </p:nvSpPr>
        <p:spPr>
          <a:xfrm>
            <a:off x="5897880" y="2148840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$1.465B</a:t>
            </a:r>
            <a:endParaRPr lang="en-US" sz="3000" dirty="0"/>
          </a:p>
        </p:txBody>
      </p:sp>
      <p:sp>
        <p:nvSpPr>
          <p:cNvPr id="15" name="Power stat 1 label"/>
          <p:cNvSpPr txBox="1"/>
          <p:nvPr/>
        </p:nvSpPr>
        <p:spPr>
          <a:xfrm>
            <a:off x="5897880" y="26974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First hyperscaler order, via the J&amp;F JV</a:t>
            </a:r>
            <a:endParaRPr lang="en-US" sz="1300" dirty="0"/>
          </a:p>
        </p:txBody>
      </p:sp>
      <p:sp>
        <p:nvSpPr>
          <p:cNvPr id="16" name="Power stat 2"/>
          <p:cNvSpPr txBox="1"/>
          <p:nvPr/>
        </p:nvSpPr>
        <p:spPr>
          <a:xfrm>
            <a:off x="5897880" y="3227832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$450–750M</a:t>
            </a:r>
            <a:endParaRPr lang="en-US" sz="3000" dirty="0"/>
          </a:p>
        </p:txBody>
      </p:sp>
      <p:sp>
        <p:nvSpPr>
          <p:cNvPr id="17" name="Power stat 2 label"/>
          <p:cNvSpPr txBox="1"/>
          <p:nvPr/>
        </p:nvSpPr>
        <p:spPr>
          <a:xfrm>
            <a:off x="5897880" y="377647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FY27 Power EBITDA guide</a:t>
            </a:r>
            <a:endParaRPr lang="en-US" sz="1300" dirty="0"/>
          </a:p>
        </p:txBody>
      </p:sp>
      <p:sp>
        <p:nvSpPr>
          <p:cNvPr id="18" name="Power stat 3"/>
          <p:cNvSpPr txBox="1"/>
          <p:nvPr/>
        </p:nvSpPr>
        <p:spPr>
          <a:xfrm>
            <a:off x="5897880" y="4306824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25 MW</a:t>
            </a:r>
            <a:endParaRPr lang="en-US" sz="3000" dirty="0"/>
          </a:p>
        </p:txBody>
      </p:sp>
      <p:sp>
        <p:nvSpPr>
          <p:cNvPr id="19" name="Power stat 3 label"/>
          <p:cNvSpPr txBox="1"/>
          <p:nvPr/>
        </p:nvSpPr>
        <p:spPr>
          <a:xfrm>
            <a:off x="5897880" y="485546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Per unit, built from CFM56 cores</a:t>
            </a:r>
            <a:endParaRPr lang="en-US" sz="1300" dirty="0"/>
          </a:p>
        </p:txBody>
      </p:sp>
      <p:sp>
        <p:nvSpPr>
          <p:cNvPr id="20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 with Power at zero, FTAI is cheap. Power is a free call option on top.</a:t>
            </a:r>
            <a:endParaRPr lang="en-US" sz="1700" dirty="0"/>
          </a:p>
        </p:txBody>
      </p:sp>
      <p:sp>
        <p:nvSpPr>
          <p:cNvPr id="21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Vernova, Siemens Energy and MHI results, mid-2025 vs. mid-2026 (via Utility Dive, Industrial Info);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Returns Summary</a:t>
            </a:r>
            <a:endParaRPr lang="en-US" sz="3000" dirty="0"/>
          </a:p>
        </p:txBody>
      </p:sp>
      <p:sp>
        <p:nvSpPr>
          <p:cNvPr id="3" name="Headline banner"/>
          <p:cNvSpPr txBox="1"/>
          <p:nvPr/>
        </p:nvSpPr>
        <p:spPr>
          <a:xfrm>
            <a:off x="320040" y="1024128"/>
            <a:ext cx="8503920" cy="512064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At $167, the market prices the bear case. Our three theses add $110 of upside.</a:t>
            </a:r>
            <a:endParaRPr lang="en-US" sz="1700" dirty="0"/>
          </a:p>
        </p:txBody>
      </p:sp>
      <p:sp>
        <p:nvSpPr>
          <p:cNvPr id="4" name="Sub banner"/>
          <p:cNvSpPr txBox="1"/>
          <p:nvPr/>
        </p:nvSpPr>
        <p:spPr>
          <a:xfrm>
            <a:off x="320040" y="1627632"/>
            <a:ext cx="8503920" cy="38404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What Each Thesis Adds to the Target Price</a:t>
            </a:r>
            <a:endParaRPr lang="en-US" sz="1600" dirty="0"/>
          </a:p>
        </p:txBody>
      </p:sp>
      <p:sp>
        <p:nvSpPr>
          <p:cNvPr id="5" name="Thesis 1 box"/>
          <p:cNvSpPr txBox="1"/>
          <p:nvPr/>
        </p:nvSpPr>
        <p:spPr>
          <a:xfrm>
            <a:off x="320040" y="2176272"/>
            <a:ext cx="5623560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1a) Margins Have Bottomed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PMA parts, OEM-linked pricing and technician productivity lift Aerospace margins from ~30% to ~32.5% by FY31.</a:t>
            </a:r>
            <a:endParaRPr lang="en-US" sz="1500" dirty="0"/>
          </a:p>
        </p:txBody>
      </p:sp>
      <p:sp>
        <p:nvSpPr>
          <p:cNvPr id="6" name="Thesis 1 contribution"/>
          <p:cNvSpPr txBox="1"/>
          <p:nvPr/>
        </p:nvSpPr>
        <p:spPr>
          <a:xfrm>
            <a:off x="6583680" y="2176272"/>
            <a:ext cx="22402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+$17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+10% upside</a:t>
            </a:r>
            <a:endParaRPr lang="en-US" sz="1300" dirty="0"/>
          </a:p>
        </p:txBody>
      </p:sp>
      <p:sp>
        <p:nvSpPr>
          <p:cNvPr id="7" name="Thesis 2 box"/>
          <p:cNvSpPr txBox="1"/>
          <p:nvPr/>
        </p:nvSpPr>
        <p:spPr>
          <a:xfrm>
            <a:off x="320040" y="3145536"/>
            <a:ext cx="5623560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1b) Volume Grows With Share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capacity, OEMs moving to LEAP and faster turnaround lift FTAI's CFM56 module share from ~12% to 20% by FY30.</a:t>
            </a:r>
            <a:endParaRPr lang="en-US" sz="1500" dirty="0"/>
          </a:p>
        </p:txBody>
      </p:sp>
      <p:sp>
        <p:nvSpPr>
          <p:cNvPr id="8" name="Thesis 2 contribution"/>
          <p:cNvSpPr txBox="1"/>
          <p:nvPr/>
        </p:nvSpPr>
        <p:spPr>
          <a:xfrm>
            <a:off x="6583680" y="3145536"/>
            <a:ext cx="22402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+$33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+20% upside</a:t>
            </a:r>
            <a:endParaRPr lang="en-US" sz="1300" dirty="0"/>
          </a:p>
        </p:txBody>
      </p:sp>
      <p:sp>
        <p:nvSpPr>
          <p:cNvPr id="9" name="Thesis 3 box"/>
          <p:cNvSpPr txBox="1"/>
          <p:nvPr/>
        </p:nvSpPr>
        <p:spPr>
          <a:xfrm>
            <a:off x="320040" y="4114800"/>
            <a:ext cx="5623560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2) Power Is a Call Option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Mod-1 deliveries ramp from 45 units in FY27 to 110 by FY29 at ~40% EBITDA margins.</a:t>
            </a:r>
            <a:endParaRPr lang="en-US" sz="1500" dirty="0"/>
          </a:p>
        </p:txBody>
      </p:sp>
      <p:sp>
        <p:nvSpPr>
          <p:cNvPr id="10" name="Thesis 3 contribution"/>
          <p:cNvSpPr txBox="1"/>
          <p:nvPr/>
        </p:nvSpPr>
        <p:spPr>
          <a:xfrm>
            <a:off x="6583680" y="4114800"/>
            <a:ext cx="22402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+$55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+33% upside</a:t>
            </a:r>
            <a:endParaRPr lang="en-US" sz="1300" dirty="0"/>
          </a:p>
        </p:txBody>
      </p:sp>
      <p:sp>
        <p:nvSpPr>
          <p:cNvPr id="11" name="Chevron"/>
          <p:cNvSpPr/>
          <p:nvPr/>
        </p:nvSpPr>
        <p:spPr>
          <a:xfrm>
            <a:off x="6053328" y="2176272"/>
            <a:ext cx="420624" cy="2798064"/>
          </a:xfrm>
          <a:prstGeom prst="chevron">
            <a:avLst/>
          </a:prstGeom>
          <a:solidFill>
            <a:srgbClr val="2E93AE"/>
          </a:solidFill>
          <a:ln/>
        </p:spPr>
      </p:sp>
      <p:sp>
        <p:nvSpPr>
          <p:cNvPr id="12" name="Baseline note"/>
          <p:cNvSpPr txBox="1"/>
          <p:nvPr/>
        </p:nvSpPr>
        <p:spPr>
          <a:xfrm>
            <a:off x="320040" y="512064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Bear case (bear margins and share, no Power) is worth $172 on our SOTP, just above today's $167.</a:t>
            </a:r>
            <a:endParaRPr lang="en-US" sz="1200" dirty="0"/>
          </a:p>
        </p:txBody>
      </p:sp>
      <p:sp>
        <p:nvSpPr>
          <p:cNvPr id="13" name="Base case bridge"/>
          <p:cNvSpPr txBox="1"/>
          <p:nvPr/>
        </p:nvSpPr>
        <p:spPr>
          <a:xfrm>
            <a:off x="320040" y="5468112"/>
            <a:ext cx="8503920" cy="512064"/>
          </a:xfrm>
          <a:prstGeom prst="rect">
            <a:avLst/>
          </a:prstGeom>
          <a:solidFill>
            <a:srgbClr val="EFEDEA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$167 today + $5 to bear value + $17 margins + $33 volume + $55 Power = </a:t>
            </a:r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$277 SOTP</a:t>
            </a:r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 (+66%)</a:t>
            </a:r>
            <a:endParaRPr lang="en-US" sz="1300" dirty="0"/>
          </a:p>
        </p:txBody>
      </p:sp>
      <p:sp>
        <p:nvSpPr>
          <p:cNvPr id="14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filings; base-case FY27E sum of the parts, each thesis switched from bear to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Business Overview (1/2)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keeps the world's best-selling jet engine flying, and turns old ones into power.</a:t>
            </a:r>
            <a:endParaRPr lang="en-US" sz="1700" dirty="0"/>
          </a:p>
        </p:txBody>
      </p:sp>
      <p:pic>
        <p:nvPicPr>
          <p:cNvPr id="4" name="Aerospace Products illustration" descr="/home/user/SPOT/deck/img/cfm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00200"/>
            <a:ext cx="2377440" cy="1344168"/>
          </a:xfrm>
          <a:prstGeom prst="rect">
            <a:avLst/>
          </a:prstGeom>
        </p:spPr>
      </p:pic>
      <p:sp>
        <p:nvSpPr>
          <p:cNvPr id="5" name="Aerospace Products name"/>
          <p:cNvSpPr txBox="1"/>
          <p:nvPr/>
        </p:nvSpPr>
        <p:spPr>
          <a:xfrm>
            <a:off x="320040" y="30358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Aerospace Products</a:t>
            </a:r>
            <a:endParaRPr lang="en-US" sz="1800" dirty="0"/>
          </a:p>
        </p:txBody>
      </p:sp>
      <p:sp>
        <p:nvSpPr>
          <p:cNvPr id="6" name="Aerospace Products description"/>
          <p:cNvSpPr txBox="1"/>
          <p:nvPr/>
        </p:nvSpPr>
        <p:spPr>
          <a:xfrm>
            <a:off x="320040" y="34290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Restores and swaps CFM56 engine modules, so airlines get engines back in days, not months.</a:t>
            </a:r>
            <a:endParaRPr lang="en-US" sz="1300" dirty="0"/>
          </a:p>
        </p:txBody>
      </p:sp>
      <p:sp>
        <p:nvSpPr>
          <p:cNvPr id="7" name="Aerospace Products stat"/>
          <p:cNvSpPr txBox="1"/>
          <p:nvPr/>
        </p:nvSpPr>
        <p:spPr>
          <a:xfrm>
            <a:off x="502920" y="4434840"/>
            <a:ext cx="228600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757 → 1,200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Modules, 2025 → 2026E</a:t>
            </a:r>
            <a:endParaRPr lang="en-US" sz="2200" dirty="0"/>
          </a:p>
        </p:txBody>
      </p:sp>
      <p:pic>
        <p:nvPicPr>
          <p:cNvPr id="8" name="FTAI Power illustration" descr="/home/user/SPOT/deck/img/po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600200"/>
            <a:ext cx="2377440" cy="1344168"/>
          </a:xfrm>
          <a:prstGeom prst="rect">
            <a:avLst/>
          </a:prstGeom>
        </p:spPr>
      </p:pic>
      <p:sp>
        <p:nvSpPr>
          <p:cNvPr id="9" name="FTAI Power name"/>
          <p:cNvSpPr txBox="1"/>
          <p:nvPr/>
        </p:nvSpPr>
        <p:spPr>
          <a:xfrm>
            <a:off x="3246120" y="30358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FTAI Power</a:t>
            </a:r>
            <a:endParaRPr lang="en-US" sz="1800" dirty="0"/>
          </a:p>
        </p:txBody>
      </p:sp>
      <p:sp>
        <p:nvSpPr>
          <p:cNvPr id="10" name="FTAI Power description"/>
          <p:cNvSpPr txBox="1"/>
          <p:nvPr/>
        </p:nvSpPr>
        <p:spPr>
          <a:xfrm>
            <a:off x="3246120" y="34290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Converts CFM56 cores into 25 MW mobile gas turbines that power data centers.</a:t>
            </a:r>
            <a:endParaRPr lang="en-US" sz="1300" dirty="0"/>
          </a:p>
        </p:txBody>
      </p:sp>
      <p:sp>
        <p:nvSpPr>
          <p:cNvPr id="11" name="FTAI Power stat"/>
          <p:cNvSpPr txBox="1"/>
          <p:nvPr/>
        </p:nvSpPr>
        <p:spPr>
          <a:xfrm>
            <a:off x="3429000" y="4434840"/>
            <a:ext cx="228600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$450–750M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FY27 EBITDA guide</a:t>
            </a:r>
            <a:endParaRPr lang="en-US" sz="2200" dirty="0"/>
          </a:p>
        </p:txBody>
      </p:sp>
      <p:sp>
        <p:nvSpPr>
          <p:cNvPr id="12" name="Column divider 1"/>
          <p:cNvSpPr/>
          <p:nvPr/>
        </p:nvSpPr>
        <p:spPr>
          <a:xfrm>
            <a:off x="3108960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pic>
        <p:nvPicPr>
          <p:cNvPr id="13" name="Leasing + SCI illustration" descr="/home/user/SPOT/deck/img/aircraf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2377440" cy="1344168"/>
          </a:xfrm>
          <a:prstGeom prst="rect">
            <a:avLst/>
          </a:prstGeom>
        </p:spPr>
      </p:pic>
      <p:sp>
        <p:nvSpPr>
          <p:cNvPr id="14" name="Leasing + SCI name"/>
          <p:cNvSpPr txBox="1"/>
          <p:nvPr/>
        </p:nvSpPr>
        <p:spPr>
          <a:xfrm>
            <a:off x="6172200" y="30358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Leasing + SCI</a:t>
            </a:r>
            <a:endParaRPr lang="en-US" sz="1800" dirty="0"/>
          </a:p>
        </p:txBody>
      </p:sp>
      <p:sp>
        <p:nvSpPr>
          <p:cNvPr id="15" name="Leasing + SCI description"/>
          <p:cNvSpPr txBox="1"/>
          <p:nvPr/>
        </p:nvSpPr>
        <p:spPr>
          <a:xfrm>
            <a:off x="6172200" y="34290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Leases jets and engines. The SCI partnership buys mid-life jets and sends all engine work to FTAI.</a:t>
            </a:r>
            <a:endParaRPr lang="en-US" sz="1300" dirty="0"/>
          </a:p>
        </p:txBody>
      </p:sp>
      <p:sp>
        <p:nvSpPr>
          <p:cNvPr id="16" name="Leasing + SCI stat"/>
          <p:cNvSpPr txBox="1"/>
          <p:nvPr/>
        </p:nvSpPr>
        <p:spPr>
          <a:xfrm>
            <a:off x="6355080" y="4434840"/>
            <a:ext cx="228600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316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SCI aircraft, YE26E</a:t>
            </a:r>
            <a:endParaRPr lang="en-US" sz="2200" dirty="0"/>
          </a:p>
        </p:txBody>
      </p:sp>
      <p:sp>
        <p:nvSpPr>
          <p:cNvPr id="17" name="Column divider 2"/>
          <p:cNvSpPr/>
          <p:nvPr/>
        </p:nvSpPr>
        <p:spPr>
          <a:xfrm>
            <a:off x="6035040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8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One engine, three ways to earn: fix it, power with it, and own the planes it flies on.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calls. Illustrations are schematic.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Business Overview (2/2)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swaps worn modules for restored ones from its own pool, so airlines skip the shop queue.</a:t>
            </a:r>
            <a:endParaRPr lang="en-US" sz="1700" dirty="0"/>
          </a:p>
        </p:txBody>
      </p:sp>
      <p:sp>
        <p:nvSpPr>
          <p:cNvPr id="4" name="Loop header"/>
          <p:cNvSpPr txBox="1"/>
          <p:nvPr/>
        </p:nvSpPr>
        <p:spPr>
          <a:xfrm>
            <a:off x="320040" y="15544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How an Exchange Works</a:t>
            </a:r>
            <a:endParaRPr lang="en-US" sz="1600" dirty="0"/>
          </a:p>
        </p:txBody>
      </p:sp>
      <p:sp>
        <p:nvSpPr>
          <p:cNvPr id="5" name="Loop header rule"/>
          <p:cNvSpPr/>
          <p:nvPr/>
        </p:nvSpPr>
        <p:spPr>
          <a:xfrm>
            <a:off x="320040" y="1975104"/>
            <a:ext cx="393192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Loop ring"/>
          <p:cNvSpPr/>
          <p:nvPr/>
        </p:nvSpPr>
        <p:spPr>
          <a:xfrm>
            <a:off x="914400" y="2514600"/>
            <a:ext cx="2743200" cy="2231136"/>
          </a:xfrm>
          <a:prstGeom prst="ellipse">
            <a:avLst/>
          </a:prstGeom>
          <a:ln w="38100">
            <a:solidFill>
              <a:srgbClr val="2E93AE"/>
            </a:solidFill>
            <a:prstDash val="solid"/>
          </a:ln>
        </p:spPr>
      </p:sp>
      <p:sp>
        <p:nvSpPr>
          <p:cNvPr id="7" name="Loop arrow 1"/>
          <p:cNvSpPr/>
          <p:nvPr/>
        </p:nvSpPr>
        <p:spPr>
          <a:xfrm rot="8100000">
            <a:off x="3146140" y="2731614"/>
            <a:ext cx="219456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8" name="Loop arrow 2"/>
          <p:cNvSpPr/>
          <p:nvPr/>
        </p:nvSpPr>
        <p:spPr>
          <a:xfrm rot="13500000">
            <a:off x="3146140" y="4309266"/>
            <a:ext cx="219456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9" name="Loop arrow 3"/>
          <p:cNvSpPr/>
          <p:nvPr/>
        </p:nvSpPr>
        <p:spPr>
          <a:xfrm rot="18900000">
            <a:off x="1206404" y="4309266"/>
            <a:ext cx="219456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0" name="Loop arrow 4"/>
          <p:cNvSpPr/>
          <p:nvPr/>
        </p:nvSpPr>
        <p:spPr>
          <a:xfrm rot="2700000">
            <a:off x="1206404" y="2731614"/>
            <a:ext cx="219456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1" name="Module pool"/>
          <p:cNvSpPr/>
          <p:nvPr/>
        </p:nvSpPr>
        <p:spPr>
          <a:xfrm>
            <a:off x="1783080" y="3127248"/>
            <a:ext cx="1005840" cy="1005840"/>
          </a:xfrm>
          <a:prstGeom prst="ellipse">
            <a:avLst/>
          </a:prstGeom>
          <a:solidFill>
            <a:srgbClr val="0A1C58"/>
          </a:solidFill>
          <a:ln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Module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pool</a:t>
            </a:r>
            <a:endParaRPr lang="en-US" sz="1300" dirty="0"/>
          </a:p>
        </p:txBody>
      </p:sp>
      <p:sp>
        <p:nvSpPr>
          <p:cNvPr id="12" name="Loop step 1"/>
          <p:cNvSpPr txBox="1"/>
          <p:nvPr/>
        </p:nvSpPr>
        <p:spPr>
          <a:xfrm>
            <a:off x="1682496" y="2148840"/>
            <a:ext cx="1207008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needs a shop visit</a:t>
            </a:r>
            <a:endParaRPr lang="en-US" sz="1200" dirty="0"/>
          </a:p>
        </p:txBody>
      </p:sp>
      <p:sp>
        <p:nvSpPr>
          <p:cNvPr id="13" name="Loop step 1 number"/>
          <p:cNvSpPr/>
          <p:nvPr/>
        </p:nvSpPr>
        <p:spPr>
          <a:xfrm>
            <a:off x="1499616" y="1965960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Loop step 2"/>
          <p:cNvSpPr txBox="1"/>
          <p:nvPr/>
        </p:nvSpPr>
        <p:spPr>
          <a:xfrm>
            <a:off x="3054096" y="3264408"/>
            <a:ext cx="1207008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FTAI swaps in a restored module</a:t>
            </a:r>
            <a:endParaRPr lang="en-US" sz="1200" dirty="0"/>
          </a:p>
        </p:txBody>
      </p:sp>
      <p:sp>
        <p:nvSpPr>
          <p:cNvPr id="15" name="Loop step 2 number"/>
          <p:cNvSpPr/>
          <p:nvPr/>
        </p:nvSpPr>
        <p:spPr>
          <a:xfrm>
            <a:off x="2871216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Loop step 3"/>
          <p:cNvSpPr txBox="1"/>
          <p:nvPr/>
        </p:nvSpPr>
        <p:spPr>
          <a:xfrm>
            <a:off x="1682496" y="4379976"/>
            <a:ext cx="1207008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back in service in days</a:t>
            </a:r>
            <a:endParaRPr lang="en-US" sz="1200" dirty="0"/>
          </a:p>
        </p:txBody>
      </p:sp>
      <p:sp>
        <p:nvSpPr>
          <p:cNvPr id="17" name="Loop step 3 number"/>
          <p:cNvSpPr/>
          <p:nvPr/>
        </p:nvSpPr>
        <p:spPr>
          <a:xfrm>
            <a:off x="1499616" y="4197096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Loop step 4"/>
          <p:cNvSpPr txBox="1"/>
          <p:nvPr/>
        </p:nvSpPr>
        <p:spPr>
          <a:xfrm>
            <a:off x="310896" y="3264408"/>
            <a:ext cx="1207008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Worn module restored for the pool</a:t>
            </a:r>
            <a:endParaRPr lang="en-US" sz="1200" dirty="0"/>
          </a:p>
        </p:txBody>
      </p:sp>
      <p:sp>
        <p:nvSpPr>
          <p:cNvPr id="19" name="Loop step 4 number"/>
          <p:cNvSpPr/>
          <p:nvPr/>
        </p:nvSpPr>
        <p:spPr>
          <a:xfrm>
            <a:off x="128016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Factory header"/>
          <p:cNvSpPr txBox="1"/>
          <p:nvPr/>
        </p:nvSpPr>
        <p:spPr>
          <a:xfrm>
            <a:off x="4526280" y="15544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Why It Pays: The Module Factory</a:t>
            </a:r>
            <a:endParaRPr lang="en-US" sz="1600" dirty="0"/>
          </a:p>
        </p:txBody>
      </p:sp>
      <p:sp>
        <p:nvSpPr>
          <p:cNvPr id="21" name="Factory header rule"/>
          <p:cNvSpPr/>
          <p:nvPr/>
        </p:nvSpPr>
        <p:spPr>
          <a:xfrm>
            <a:off x="4526280" y="1975104"/>
            <a:ext cx="42976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22" name="Before label"/>
          <p:cNvSpPr txBox="1"/>
          <p:nvPr/>
        </p:nvSpPr>
        <p:spPr>
          <a:xfrm>
            <a:off x="4526280" y="2011680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3 worn engines in</a:t>
            </a:r>
            <a:endParaRPr lang="en-US" sz="1300" dirty="0"/>
          </a:p>
        </p:txBody>
      </p:sp>
      <p:sp>
        <p:nvSpPr>
          <p:cNvPr id="23" name="Before engine 1 value"/>
          <p:cNvSpPr txBox="1"/>
          <p:nvPr/>
        </p:nvSpPr>
        <p:spPr>
          <a:xfrm>
            <a:off x="4526280" y="23957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24" name="Before engine 1 module 1"/>
          <p:cNvSpPr/>
          <p:nvPr/>
        </p:nvSpPr>
        <p:spPr>
          <a:xfrm>
            <a:off x="5221224" y="2395728"/>
            <a:ext cx="365760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25" name="Before engine 1 module 2"/>
          <p:cNvSpPr/>
          <p:nvPr/>
        </p:nvSpPr>
        <p:spPr>
          <a:xfrm>
            <a:off x="5641848" y="2395728"/>
            <a:ext cx="36576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26" name="Before engine 1 module 3"/>
          <p:cNvSpPr/>
          <p:nvPr/>
        </p:nvSpPr>
        <p:spPr>
          <a:xfrm>
            <a:off x="6062472" y="2395728"/>
            <a:ext cx="365760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27" name="Before engine 2 value"/>
          <p:cNvSpPr txBox="1"/>
          <p:nvPr/>
        </p:nvSpPr>
        <p:spPr>
          <a:xfrm>
            <a:off x="4526280" y="3108960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$2.5M</a:t>
            </a:r>
            <a:endParaRPr lang="en-US" sz="1400" dirty="0"/>
          </a:p>
        </p:txBody>
      </p:sp>
      <p:sp>
        <p:nvSpPr>
          <p:cNvPr id="28" name="Before engine 2 module 1"/>
          <p:cNvSpPr/>
          <p:nvPr/>
        </p:nvSpPr>
        <p:spPr>
          <a:xfrm>
            <a:off x="5221224" y="3108960"/>
            <a:ext cx="365760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29" name="Before engine 2 module 2"/>
          <p:cNvSpPr/>
          <p:nvPr/>
        </p:nvSpPr>
        <p:spPr>
          <a:xfrm>
            <a:off x="5641848" y="3108960"/>
            <a:ext cx="365760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0" name="Before engine 2 module 3"/>
          <p:cNvSpPr/>
          <p:nvPr/>
        </p:nvSpPr>
        <p:spPr>
          <a:xfrm>
            <a:off x="6062472" y="3108960"/>
            <a:ext cx="36576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1" name="Before engine 3 value"/>
          <p:cNvSpPr txBox="1"/>
          <p:nvPr/>
        </p:nvSpPr>
        <p:spPr>
          <a:xfrm>
            <a:off x="4526280" y="3822192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32" name="Before engine 3 module 1"/>
          <p:cNvSpPr/>
          <p:nvPr/>
        </p:nvSpPr>
        <p:spPr>
          <a:xfrm>
            <a:off x="5221224" y="3822192"/>
            <a:ext cx="36576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3" name="Before engine 3 module 2"/>
          <p:cNvSpPr/>
          <p:nvPr/>
        </p:nvSpPr>
        <p:spPr>
          <a:xfrm>
            <a:off x="5641848" y="3822192"/>
            <a:ext cx="365760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34" name="Before engine 3 module 3"/>
          <p:cNvSpPr/>
          <p:nvPr/>
        </p:nvSpPr>
        <p:spPr>
          <a:xfrm>
            <a:off x="6062472" y="3822192"/>
            <a:ext cx="365760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5" name="Before Fan caption"/>
          <p:cNvSpPr txBox="1"/>
          <p:nvPr/>
        </p:nvSpPr>
        <p:spPr>
          <a:xfrm>
            <a:off x="5175504" y="42428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36" name="Before Core caption"/>
          <p:cNvSpPr txBox="1"/>
          <p:nvPr/>
        </p:nvSpPr>
        <p:spPr>
          <a:xfrm>
            <a:off x="5596128" y="42428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37" name="Before LPT caption"/>
          <p:cNvSpPr txBox="1"/>
          <p:nvPr/>
        </p:nvSpPr>
        <p:spPr>
          <a:xfrm>
            <a:off x="6016752" y="42428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38" name="After label"/>
          <p:cNvSpPr txBox="1"/>
          <p:nvPr/>
        </p:nvSpPr>
        <p:spPr>
          <a:xfrm>
            <a:off x="6922008" y="2011680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Engines out</a:t>
            </a:r>
            <a:endParaRPr lang="en-US" sz="1300" dirty="0"/>
          </a:p>
        </p:txBody>
      </p:sp>
      <p:sp>
        <p:nvSpPr>
          <p:cNvPr id="39" name="After engine 1 value"/>
          <p:cNvSpPr txBox="1"/>
          <p:nvPr/>
        </p:nvSpPr>
        <p:spPr>
          <a:xfrm>
            <a:off x="6922008" y="23957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$8.5M</a:t>
            </a:r>
            <a:endParaRPr lang="en-US" sz="1400" dirty="0"/>
          </a:p>
        </p:txBody>
      </p:sp>
      <p:sp>
        <p:nvSpPr>
          <p:cNvPr id="40" name="After engine 1 module 1"/>
          <p:cNvSpPr/>
          <p:nvPr/>
        </p:nvSpPr>
        <p:spPr>
          <a:xfrm>
            <a:off x="7616952" y="2395728"/>
            <a:ext cx="365760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1" name="After engine 1 module 2"/>
          <p:cNvSpPr/>
          <p:nvPr/>
        </p:nvSpPr>
        <p:spPr>
          <a:xfrm>
            <a:off x="8037576" y="2395728"/>
            <a:ext cx="365760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2" name="After engine 1 module 3"/>
          <p:cNvSpPr/>
          <p:nvPr/>
        </p:nvSpPr>
        <p:spPr>
          <a:xfrm>
            <a:off x="8458200" y="2395728"/>
            <a:ext cx="365760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3" name="After engine 2 value"/>
          <p:cNvSpPr txBox="1"/>
          <p:nvPr/>
        </p:nvSpPr>
        <p:spPr>
          <a:xfrm>
            <a:off x="6922008" y="3108960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$6.0M</a:t>
            </a:r>
            <a:endParaRPr lang="en-US" sz="1400" dirty="0"/>
          </a:p>
        </p:txBody>
      </p:sp>
      <p:sp>
        <p:nvSpPr>
          <p:cNvPr id="44" name="After engine 2 module 1"/>
          <p:cNvSpPr/>
          <p:nvPr/>
        </p:nvSpPr>
        <p:spPr>
          <a:xfrm>
            <a:off x="7616952" y="3108960"/>
            <a:ext cx="365760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5" name="After engine 2 module 2"/>
          <p:cNvSpPr/>
          <p:nvPr/>
        </p:nvSpPr>
        <p:spPr>
          <a:xfrm>
            <a:off x="8037576" y="3108960"/>
            <a:ext cx="365760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6" name="After engine 2 module 3"/>
          <p:cNvSpPr/>
          <p:nvPr/>
        </p:nvSpPr>
        <p:spPr>
          <a:xfrm>
            <a:off x="8458200" y="3108960"/>
            <a:ext cx="365760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7" name="After engine 3 value"/>
          <p:cNvSpPr txBox="1"/>
          <p:nvPr/>
        </p:nvSpPr>
        <p:spPr>
          <a:xfrm>
            <a:off x="6922008" y="3822192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$1.5M</a:t>
            </a:r>
            <a:endParaRPr lang="en-US" sz="1400" dirty="0"/>
          </a:p>
        </p:txBody>
      </p:sp>
      <p:sp>
        <p:nvSpPr>
          <p:cNvPr id="48" name="After engine 3 module 1"/>
          <p:cNvSpPr/>
          <p:nvPr/>
        </p:nvSpPr>
        <p:spPr>
          <a:xfrm>
            <a:off x="7616952" y="3822192"/>
            <a:ext cx="36576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49" name="After engine 3 module 2"/>
          <p:cNvSpPr/>
          <p:nvPr/>
        </p:nvSpPr>
        <p:spPr>
          <a:xfrm>
            <a:off x="8037576" y="3822192"/>
            <a:ext cx="36576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0" name="After engine 3 module 3"/>
          <p:cNvSpPr/>
          <p:nvPr/>
        </p:nvSpPr>
        <p:spPr>
          <a:xfrm>
            <a:off x="8458200" y="3822192"/>
            <a:ext cx="36576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1" name="After Fan caption"/>
          <p:cNvSpPr txBox="1"/>
          <p:nvPr/>
        </p:nvSpPr>
        <p:spPr>
          <a:xfrm>
            <a:off x="7571232" y="42428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52" name="After Core caption"/>
          <p:cNvSpPr txBox="1"/>
          <p:nvPr/>
        </p:nvSpPr>
        <p:spPr>
          <a:xfrm>
            <a:off x="7991856" y="42428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53" name="After LPT caption"/>
          <p:cNvSpPr txBox="1"/>
          <p:nvPr/>
        </p:nvSpPr>
        <p:spPr>
          <a:xfrm>
            <a:off x="8412480" y="42428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54" name="Factory arrow"/>
          <p:cNvSpPr/>
          <p:nvPr/>
        </p:nvSpPr>
        <p:spPr>
          <a:xfrm>
            <a:off x="6492240" y="3108960"/>
            <a:ext cx="365760" cy="329184"/>
          </a:xfrm>
          <a:prstGeom prst="rightArrow">
            <a:avLst/>
          </a:prstGeom>
          <a:solidFill>
            <a:srgbClr val="847C7A"/>
          </a:solidFill>
          <a:ln/>
        </p:spPr>
      </p:sp>
      <p:sp>
        <p:nvSpPr>
          <p:cNvPr id="55" name="Before total"/>
          <p:cNvSpPr txBox="1"/>
          <p:nvPr/>
        </p:nvSpPr>
        <p:spPr>
          <a:xfrm>
            <a:off x="4526280" y="4645152"/>
            <a:ext cx="1901952" cy="65836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$6.5M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engines + $3.5M of work</a:t>
            </a:r>
            <a:endParaRPr lang="en-US" sz="1800" dirty="0"/>
          </a:p>
        </p:txBody>
      </p:sp>
      <p:sp>
        <p:nvSpPr>
          <p:cNvPr id="56" name="After total"/>
          <p:cNvSpPr txBox="1"/>
          <p:nvPr/>
        </p:nvSpPr>
        <p:spPr>
          <a:xfrm>
            <a:off x="6922008" y="4645152"/>
            <a:ext cx="1901952" cy="65836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$16.0M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+$6.0M of value created</a:t>
            </a:r>
            <a:endParaRPr lang="en-US" sz="1800" dirty="0"/>
          </a:p>
        </p:txBody>
      </p:sp>
      <p:sp>
        <p:nvSpPr>
          <p:cNvPr id="57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FTAI sells speed to airlines and harvests cycles from engines no one else can use.</a:t>
            </a:r>
            <a:endParaRPr lang="en-US" sz="1700" dirty="0"/>
          </a:p>
        </p:txBody>
      </p:sp>
      <p:sp>
        <p:nvSpPr>
          <p:cNvPr id="58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investor materials (Module Factory example), GPS analysis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(1/4)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Even if the bears are right, too little cheap inventory is left to push margins lower.</a:t>
            </a:r>
            <a:endParaRPr lang="en-US" sz="1700" dirty="0"/>
          </a:p>
        </p:txBody>
      </p:sp>
      <p:sp>
        <p:nvSpPr>
          <p:cNvPr id="4" name="Donut header"/>
          <p:cNvSpPr txBox="1"/>
          <p:nvPr/>
        </p:nvSpPr>
        <p:spPr>
          <a:xfrm>
            <a:off x="320040" y="15544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Cheap Stock Left in AP</a:t>
            </a:r>
            <a:endParaRPr lang="en-US" sz="1600" dirty="0"/>
          </a:p>
        </p:txBody>
      </p:sp>
      <p:sp>
        <p:nvSpPr>
          <p:cNvPr id="5" name="Donut header rule"/>
          <p:cNvSpPr/>
          <p:nvPr/>
        </p:nvSpPr>
        <p:spPr>
          <a:xfrm>
            <a:off x="320040" y="1975104"/>
            <a:ext cx="356616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Inventory donut" descr=""/>
          <p:cNvGraphicFramePr/>
          <p:nvPr/>
        </p:nvGraphicFramePr>
        <p:xfrm>
          <a:off x="548640" y="2103120"/>
          <a:ext cx="31089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Donut center"/>
          <p:cNvSpPr txBox="1"/>
          <p:nvPr/>
        </p:nvSpPr>
        <p:spPr>
          <a:xfrm>
            <a:off x="1188720" y="30632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&lt;8%</a:t>
            </a:r>
            <a:endParaRPr lang="en-US" sz="3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left to unwind</a:t>
            </a:r>
            <a:endParaRPr lang="en-US" sz="3400" dirty="0"/>
          </a:p>
        </p:txBody>
      </p:sp>
      <p:sp>
        <p:nvSpPr>
          <p:cNvPr id="8" name="Margin path header"/>
          <p:cNvSpPr txBox="1"/>
          <p:nvPr/>
        </p:nvSpPr>
        <p:spPr>
          <a:xfrm>
            <a:off x="416052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Margin: Trough, Then Rebuild</a:t>
            </a:r>
            <a:endParaRPr lang="en-US" sz="1600" dirty="0"/>
          </a:p>
        </p:txBody>
      </p:sp>
      <p:sp>
        <p:nvSpPr>
          <p:cNvPr id="9" name="Margin path header rule"/>
          <p:cNvSpPr/>
          <p:nvPr/>
        </p:nvSpPr>
        <p:spPr>
          <a:xfrm>
            <a:off x="4160520" y="1975104"/>
            <a:ext cx="466344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0" name="Margin path chart" descr=""/>
          <p:cNvGraphicFramePr/>
          <p:nvPr/>
        </p:nvGraphicFramePr>
        <p:xfrm>
          <a:off x="4160520" y="2103120"/>
          <a:ext cx="46634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Model label"/>
          <p:cNvSpPr txBox="1"/>
          <p:nvPr/>
        </p:nvSpPr>
        <p:spPr>
          <a:xfrm>
            <a:off x="6766560" y="21031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Our model</a:t>
            </a:r>
            <a:endParaRPr lang="en-US" sz="1200" dirty="0"/>
          </a:p>
        </p:txBody>
      </p:sp>
      <p:sp>
        <p:nvSpPr>
          <p:cNvPr id="12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With little cheap stock left, ~30% is the floor, and margins rebuild from here.</a:t>
            </a:r>
            <a:endParaRPr lang="en-US" sz="1700" dirty="0"/>
          </a:p>
        </p:txBody>
      </p:sp>
      <p:sp>
        <p:nvSpPr>
          <p:cNvPr id="13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filings, GPS analysis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(2/4)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held price to win share while OEM list prices rose ~7% a year. It can now catch up.</a:t>
            </a:r>
            <a:endParaRPr lang="en-US" sz="1700" dirty="0"/>
          </a:p>
        </p:txBody>
      </p:sp>
      <p:sp>
        <p:nvSpPr>
          <p:cNvPr id="4" name="Price header"/>
          <p:cNvSpPr txBox="1"/>
          <p:nvPr/>
        </p:nvSpPr>
        <p:spPr>
          <a:xfrm>
            <a:off x="320040" y="1554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Price Index (2025 = 100)</a:t>
            </a:r>
            <a:endParaRPr lang="en-US" sz="1600" dirty="0"/>
          </a:p>
        </p:txBody>
      </p:sp>
      <p:sp>
        <p:nvSpPr>
          <p:cNvPr id="5" name="Price header rule"/>
          <p:cNvSpPr/>
          <p:nvPr/>
        </p:nvSpPr>
        <p:spPr>
          <a:xfrm>
            <a:off x="320040" y="1975104"/>
            <a:ext cx="420624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Price index chart" descr=""/>
          <p:cNvGraphicFramePr/>
          <p:nvPr/>
        </p:nvGraphicFramePr>
        <p:xfrm>
          <a:off x="320040" y="2103120"/>
          <a:ext cx="420624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OEM line label"/>
          <p:cNvSpPr txBox="1"/>
          <p:nvPr/>
        </p:nvSpPr>
        <p:spPr>
          <a:xfrm>
            <a:off x="269748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OEM list (+7%/yr)</a:t>
            </a:r>
            <a:endParaRPr lang="en-US" sz="1200" dirty="0"/>
          </a:p>
        </p:txBody>
      </p:sp>
      <p:sp>
        <p:nvSpPr>
          <p:cNvPr id="8" name="FTAI line label"/>
          <p:cNvSpPr txBox="1"/>
          <p:nvPr/>
        </p:nvSpPr>
        <p:spPr>
          <a:xfrm>
            <a:off x="2697480" y="3337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FTAI (half of OEM)</a:t>
            </a:r>
            <a:endParaRPr lang="en-US" sz="1200" dirty="0"/>
          </a:p>
        </p:txBody>
      </p:sp>
      <p:sp>
        <p:nvSpPr>
          <p:cNvPr id="9" name="EPM header"/>
          <p:cNvSpPr txBox="1"/>
          <p:nvPr/>
        </p:nvSpPr>
        <p:spPr>
          <a:xfrm>
            <a:off x="4892040" y="15544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EBITDA per Module ($K)</a:t>
            </a:r>
            <a:endParaRPr lang="en-US" sz="1600" dirty="0"/>
          </a:p>
        </p:txBody>
      </p:sp>
      <p:sp>
        <p:nvSpPr>
          <p:cNvPr id="10" name="EPM header rule"/>
          <p:cNvSpPr/>
          <p:nvPr/>
        </p:nvSpPr>
        <p:spPr>
          <a:xfrm>
            <a:off x="4892040" y="1975104"/>
            <a:ext cx="393192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EBITDA per module chart" descr=""/>
          <p:cNvGraphicFramePr/>
          <p:nvPr/>
        </p:nvGraphicFramePr>
        <p:xfrm>
          <a:off x="4892040" y="2103120"/>
          <a:ext cx="39319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Passing through just half of OEM increases, plus PMA, lifts EBITDA per module ~30% by FY31.</a:t>
            </a:r>
            <a:endParaRPr lang="en-US" sz="1700" dirty="0"/>
          </a:p>
        </p:txBody>
      </p:sp>
      <p:sp>
        <p:nvSpPr>
          <p:cNvPr id="13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 catalogue pricing (~7%/yr escalator); 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(3/4)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Heavy second visits peak in 2027 while late-life, lighter visits keep rising, and they cross.</a:t>
            </a:r>
            <a:endParaRPr lang="en-US" sz="1700" dirty="0"/>
          </a:p>
        </p:txBody>
      </p:sp>
      <p:sp>
        <p:nvSpPr>
          <p:cNvPr id="4" name="Cohort header"/>
          <p:cNvSpPr txBox="1"/>
          <p:nvPr/>
        </p:nvSpPr>
        <p:spPr>
          <a:xfrm>
            <a:off x="320040" y="155448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Heavy vs. Late-Life Shop Visits</a:t>
            </a:r>
            <a:endParaRPr lang="en-US" sz="1600" dirty="0"/>
          </a:p>
        </p:txBody>
      </p:sp>
      <p:sp>
        <p:nvSpPr>
          <p:cNvPr id="5" name="Cohort header rule"/>
          <p:cNvSpPr/>
          <p:nvPr/>
        </p:nvSpPr>
        <p:spPr>
          <a:xfrm>
            <a:off x="320040" y="1975104"/>
            <a:ext cx="434340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hort chart" descr=""/>
          <p:cNvGraphicFramePr/>
          <p:nvPr/>
        </p:nvGraphicFramePr>
        <p:xfrm>
          <a:off x="320040" y="2103120"/>
          <a:ext cx="43434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eak label"/>
          <p:cNvSpPr txBox="1"/>
          <p:nvPr/>
        </p:nvSpPr>
        <p:spPr>
          <a:xfrm>
            <a:off x="868680" y="21031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Heavy 2nd visits peak</a:t>
            </a:r>
            <a:endParaRPr lang="en-US" sz="1200" dirty="0"/>
          </a:p>
        </p:txBody>
      </p:sp>
      <p:sp>
        <p:nvSpPr>
          <p:cNvPr id="8" name="Late-life label"/>
          <p:cNvSpPr txBox="1"/>
          <p:nvPr/>
        </p:nvSpPr>
        <p:spPr>
          <a:xfrm>
            <a:off x="868680" y="431596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3AE"/>
                </a:solidFill>
              </a:rPr>
              <a:t>Late-life, lighter visits keep rising</a:t>
            </a:r>
            <a:endParaRPr lang="en-US" sz="1100" dirty="0"/>
          </a:p>
        </p:txBody>
      </p:sp>
      <p:sp>
        <p:nvSpPr>
          <p:cNvPr id="9" name="Crossover dot"/>
          <p:cNvSpPr/>
          <p:nvPr/>
        </p:nvSpPr>
        <p:spPr>
          <a:xfrm>
            <a:off x="4206240" y="3145536"/>
            <a:ext cx="164592" cy="164592"/>
          </a:xfrm>
          <a:prstGeom prst="ellipse">
            <a:avLst/>
          </a:prstGeom>
          <a:solidFill>
            <a:srgbClr val="EE6E2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rossover callout"/>
          <p:cNvSpPr/>
          <p:nvPr/>
        </p:nvSpPr>
        <p:spPr>
          <a:xfrm>
            <a:off x="3246120" y="3520440"/>
            <a:ext cx="1371600" cy="566928"/>
          </a:xfrm>
          <a:prstGeom prst="roundRect">
            <a:avLst>
              <a:gd name="adj" fmla="val 12903"/>
            </a:avLst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Light work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overtakes ~2032</a:t>
            </a:r>
            <a:endParaRPr lang="en-US" sz="1100" dirty="0"/>
          </a:p>
        </p:txBody>
      </p:sp>
      <p:sp>
        <p:nvSpPr>
          <p:cNvPr id="11" name="Cohort caption"/>
          <p:cNvSpPr txBox="1"/>
          <p:nvPr/>
        </p:nvSpPr>
        <p:spPr>
          <a:xfrm>
            <a:off x="320040" y="4956048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Model through 2030; dashed = trend</a:t>
            </a:r>
            <a:endParaRPr lang="en-US" sz="1100" dirty="0"/>
          </a:p>
        </p:txBody>
      </p:sp>
      <p:sp>
        <p:nvSpPr>
          <p:cNvPr id="12" name="Mix header"/>
          <p:cNvSpPr txBox="1"/>
          <p:nvPr/>
        </p:nvSpPr>
        <p:spPr>
          <a:xfrm>
            <a:off x="4892040" y="15544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Margin vs. Light-Scope Mix</a:t>
            </a:r>
            <a:endParaRPr lang="en-US" sz="1600" dirty="0"/>
          </a:p>
        </p:txBody>
      </p:sp>
      <p:sp>
        <p:nvSpPr>
          <p:cNvPr id="13" name="Mix header rule"/>
          <p:cNvSpPr/>
          <p:nvPr/>
        </p:nvSpPr>
        <p:spPr>
          <a:xfrm>
            <a:off x="4892040" y="1975104"/>
            <a:ext cx="393192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4" name="Mix margin chart" descr=""/>
          <p:cNvGraphicFramePr/>
          <p:nvPr/>
        </p:nvGraphicFramePr>
        <p:xfrm>
          <a:off x="4892040" y="2103120"/>
          <a:ext cx="39319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Mix caption"/>
          <p:cNvSpPr txBox="1"/>
          <p:nvPr/>
        </p:nvSpPr>
        <p:spPr>
          <a:xfrm>
            <a:off x="4892040" y="48920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Light-scope share of jobs (management's job economics)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When light work returns, every 10 pts of mix adds ~1.5–2 pts of margin, above today's ~30%.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CFM56 fleet cohort analysis; FTAI earnings call (light vs. heavy job economics)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(4/4)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Cheaper PMA parts add a new margin lever, and our base case uses it sparingly.</a:t>
            </a:r>
            <a:endParaRPr lang="en-US" sz="1700" dirty="0"/>
          </a:p>
        </p:txBody>
      </p:sp>
      <p:sp>
        <p:nvSpPr>
          <p:cNvPr id="4" name="PMA ramp header"/>
          <p:cNvSpPr txBox="1"/>
          <p:nvPr/>
        </p:nvSpPr>
        <p:spPr>
          <a:xfrm>
            <a:off x="320040" y="1554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PMA Ramp in Our Model</a:t>
            </a:r>
            <a:endParaRPr lang="en-US" sz="1600" dirty="0"/>
          </a:p>
        </p:txBody>
      </p:sp>
      <p:sp>
        <p:nvSpPr>
          <p:cNvPr id="5" name="PMA ramp header rule"/>
          <p:cNvSpPr/>
          <p:nvPr/>
        </p:nvSpPr>
        <p:spPr>
          <a:xfrm>
            <a:off x="320040" y="1975104"/>
            <a:ext cx="420624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Adoption label"/>
          <p:cNvSpPr txBox="1"/>
          <p:nvPr/>
        </p:nvSpPr>
        <p:spPr>
          <a:xfrm>
            <a:off x="320040" y="208483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Adoption (% of modules)</a:t>
            </a:r>
            <a:endParaRPr lang="en-US" sz="1100" dirty="0"/>
          </a:p>
        </p:txBody>
      </p:sp>
      <p:graphicFrame>
        <p:nvGraphicFramePr>
          <p:cNvPr id="7" name="PMA adoption chart" descr=""/>
          <p:cNvGraphicFramePr/>
          <p:nvPr/>
        </p:nvGraphicFramePr>
        <p:xfrm>
          <a:off x="320040" y="2240280"/>
          <a:ext cx="4206240" cy="960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Uplift label"/>
          <p:cNvSpPr txBox="1"/>
          <p:nvPr/>
        </p:nvSpPr>
        <p:spPr>
          <a:xfrm>
            <a:off x="320040" y="32004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EBITDA uplift ($M)</a:t>
            </a:r>
            <a:endParaRPr lang="en-US" sz="1100" dirty="0"/>
          </a:p>
        </p:txBody>
      </p:sp>
      <p:graphicFrame>
        <p:nvGraphicFramePr>
          <p:cNvPr id="9" name="PMA uplift chart" descr=""/>
          <p:cNvGraphicFramePr/>
          <p:nvPr/>
        </p:nvGraphicFramePr>
        <p:xfrm>
          <a:off x="320040" y="3383280"/>
          <a:ext cx="4206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ensitivity header"/>
          <p:cNvSpPr txBox="1"/>
          <p:nvPr/>
        </p:nvSpPr>
        <p:spPr>
          <a:xfrm>
            <a:off x="4892040" y="15544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Upside If Adoption Runs Faster</a:t>
            </a:r>
            <a:endParaRPr lang="en-US" sz="1600" dirty="0"/>
          </a:p>
        </p:txBody>
      </p:sp>
      <p:sp>
        <p:nvSpPr>
          <p:cNvPr id="11" name="Sensitivity header rule"/>
          <p:cNvSpPr/>
          <p:nvPr/>
        </p:nvSpPr>
        <p:spPr>
          <a:xfrm>
            <a:off x="4892040" y="1975104"/>
            <a:ext cx="393192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2" name="PMA sensitivity chart" descr=""/>
          <p:cNvGraphicFramePr/>
          <p:nvPr/>
        </p:nvGraphicFramePr>
        <p:xfrm>
          <a:off x="4892040" y="2103120"/>
          <a:ext cx="39319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Sensitivity caption"/>
          <p:cNvSpPr txBox="1"/>
          <p:nvPr/>
        </p:nvSpPr>
        <p:spPr>
          <a:xfrm>
            <a:off x="4892040" y="48920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FY26E Aerospace EBITDA ($M) at 1,200 modules vs. PMA adoption (Jefferies)</a:t>
            </a:r>
            <a:endParaRPr lang="en-US" sz="1100" dirty="0"/>
          </a:p>
        </p:txBody>
      </p:sp>
      <p:sp>
        <p:nvSpPr>
          <p:cNvPr id="14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of 5 Chromalloy parts are approved, and every 5 pts of adoption adds ~$43M of EBITDA.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Jefferies estimates; FAA PMA data; FTAI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(1/5)</a:t>
            </a:r>
            <a:endParaRPr lang="en-US" sz="3000" dirty="0"/>
          </a:p>
        </p:txBody>
      </p:sp>
      <p:sp>
        <p:nvSpPr>
          <p:cNvPr id="3" name="Reason 1"/>
          <p:cNvSpPr txBox="1"/>
          <p:nvPr/>
        </p:nvSpPr>
        <p:spPr>
          <a:xfrm>
            <a:off x="1600200" y="1097280"/>
            <a:ext cx="6629400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OEM shops are moving their capacity to LEAP, leaving CFM56 work behind.</a:t>
            </a:r>
            <a:endParaRPr lang="en-US" sz="1500" dirty="0"/>
          </a:p>
        </p:txBody>
      </p:sp>
      <p:sp>
        <p:nvSpPr>
          <p:cNvPr id="4" name="Reason 1 number"/>
          <p:cNvSpPr/>
          <p:nvPr/>
        </p:nvSpPr>
        <p:spPr>
          <a:xfrm>
            <a:off x="1161288" y="10607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Reason 2"/>
          <p:cNvSpPr txBox="1"/>
          <p:nvPr/>
        </p:nvSpPr>
        <p:spPr>
          <a:xfrm>
            <a:off x="1600200" y="2011680"/>
            <a:ext cx="6629400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Independent MROs are clogged: CFM56 overhauls now take 90–120 days.</a:t>
            </a:r>
            <a:endParaRPr lang="en-US" sz="1500" dirty="0"/>
          </a:p>
        </p:txBody>
      </p:sp>
      <p:sp>
        <p:nvSpPr>
          <p:cNvPr id="6" name="Reason 2 number"/>
          <p:cNvSpPr/>
          <p:nvPr/>
        </p:nvSpPr>
        <p:spPr>
          <a:xfrm>
            <a:off x="1161288" y="19751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</a:t>
            </a:r>
            <a:endParaRPr lang="en-US" sz="2400" dirty="0"/>
          </a:p>
        </p:txBody>
      </p:sp>
      <p:sp>
        <p:nvSpPr>
          <p:cNvPr id="7" name="Reason 3"/>
          <p:cNvSpPr txBox="1"/>
          <p:nvPr/>
        </p:nvSpPr>
        <p:spPr>
          <a:xfrm>
            <a:off x="1600200" y="2926080"/>
            <a:ext cx="6629400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FTAI's module swap returns an engine in 5–25 days, not months.</a:t>
            </a:r>
            <a:endParaRPr lang="en-US" sz="1500" dirty="0"/>
          </a:p>
        </p:txBody>
      </p:sp>
      <p:sp>
        <p:nvSpPr>
          <p:cNvPr id="8" name="Reason 3 number"/>
          <p:cNvSpPr/>
          <p:nvPr/>
        </p:nvSpPr>
        <p:spPr>
          <a:xfrm>
            <a:off x="1161288" y="28895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3</a:t>
            </a:r>
            <a:endParaRPr lang="en-US" sz="2400" dirty="0"/>
          </a:p>
        </p:txBody>
      </p:sp>
      <p:sp>
        <p:nvSpPr>
          <p:cNvPr id="9" name="Reason 4"/>
          <p:cNvSpPr txBox="1"/>
          <p:nvPr/>
        </p:nvSpPr>
        <p:spPr>
          <a:xfrm>
            <a:off x="1600200" y="3840480"/>
            <a:ext cx="6629400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New sites in Jakarta, Cairo and Lisbon lift capacity to 3,000 modules.</a:t>
            </a:r>
            <a:endParaRPr lang="en-US" sz="1500" dirty="0"/>
          </a:p>
        </p:txBody>
      </p:sp>
      <p:sp>
        <p:nvSpPr>
          <p:cNvPr id="10" name="Reason 4 number"/>
          <p:cNvSpPr/>
          <p:nvPr/>
        </p:nvSpPr>
        <p:spPr>
          <a:xfrm>
            <a:off x="1161288" y="38039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</a:t>
            </a:r>
            <a:endParaRPr lang="en-US" sz="2400" dirty="0"/>
          </a:p>
        </p:txBody>
      </p:sp>
      <p:sp>
        <p:nvSpPr>
          <p:cNvPr id="11" name="Funnel"/>
          <p:cNvSpPr/>
          <p:nvPr/>
        </p:nvSpPr>
        <p:spPr>
          <a:xfrm flipV="1">
            <a:off x="1188720" y="4709160"/>
            <a:ext cx="7040880" cy="36576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2" name="Conclusion"/>
          <p:cNvSpPr txBox="1"/>
          <p:nvPr/>
        </p:nvSpPr>
        <p:spPr>
          <a:xfrm>
            <a:off x="1188720" y="5193792"/>
            <a:ext cx="7040880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FTAI's share of CFM56 module work rises from ~12% to 20% by FY30, with every SCI aircraft as a contracted floor.</a:t>
            </a:r>
            <a:endParaRPr lang="en-US" sz="1600" dirty="0"/>
          </a:p>
        </p:txBody>
      </p:sp>
      <p:sp>
        <p:nvSpPr>
          <p:cNvPr id="13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Aerospace earnings calls (2026), Aviation Business News (2025), FTAI Q2'24 call and Q2'26 supplement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(2/5)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Independent shops are clogged, and OEMs are pouring new capacity into LEAP, not CFM56.</a:t>
            </a:r>
            <a:endParaRPr lang="en-US" sz="1700" dirty="0"/>
          </a:p>
        </p:txBody>
      </p:sp>
      <p:sp>
        <p:nvSpPr>
          <p:cNvPr id="4" name="MRO header"/>
          <p:cNvSpPr txBox="1"/>
          <p:nvPr/>
        </p:nvSpPr>
        <p:spPr>
          <a:xfrm>
            <a:off x="320040" y="1554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Independent Shops Are Clogged…</a:t>
            </a:r>
            <a:endParaRPr lang="en-US" sz="1600" dirty="0"/>
          </a:p>
        </p:txBody>
      </p:sp>
      <p:sp>
        <p:nvSpPr>
          <p:cNvPr id="5" name="MRO header rule"/>
          <p:cNvSpPr/>
          <p:nvPr/>
        </p:nvSpPr>
        <p:spPr>
          <a:xfrm>
            <a:off x="320040" y="1975104"/>
            <a:ext cx="402336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Overhaul days chart" descr=""/>
          <p:cNvGraphicFramePr/>
          <p:nvPr/>
        </p:nvGraphicFramePr>
        <p:xfrm>
          <a:off x="548640" y="2240280"/>
          <a:ext cx="228600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re-COVID days"/>
          <p:cNvSpPr txBox="1"/>
          <p:nvPr/>
        </p:nvSpPr>
        <p:spPr>
          <a:xfrm>
            <a:off x="685800" y="2926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~60</a:t>
            </a:r>
            <a:endParaRPr lang="en-US" sz="1500" dirty="0"/>
          </a:p>
        </p:txBody>
      </p:sp>
      <p:sp>
        <p:nvSpPr>
          <p:cNvPr id="8" name="Today days"/>
          <p:cNvSpPr txBox="1"/>
          <p:nvPr/>
        </p:nvSpPr>
        <p:spPr>
          <a:xfrm>
            <a:off x="1737360" y="21031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90–120</a:t>
            </a:r>
            <a:endParaRPr lang="en-US" sz="1500" dirty="0"/>
          </a:p>
        </p:txBody>
      </p:sp>
      <p:sp>
        <p:nvSpPr>
          <p:cNvPr id="9" name="Days caption"/>
          <p:cNvSpPr txBox="1"/>
          <p:nvPr/>
        </p:nvSpPr>
        <p:spPr>
          <a:xfrm>
            <a:off x="548640" y="413308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CFM56 overhaul, days</a:t>
            </a:r>
            <a:endParaRPr lang="en-US" sz="1100" dirty="0"/>
          </a:p>
        </p:txBody>
      </p:sp>
      <p:sp>
        <p:nvSpPr>
          <p:cNvPr id="10" name="Slot wait stat"/>
          <p:cNvSpPr txBox="1"/>
          <p:nvPr/>
        </p:nvSpPr>
        <p:spPr>
          <a:xfrm>
            <a:off x="2880360" y="2514600"/>
            <a:ext cx="1463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+2–6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months just to get a shop slot</a:t>
            </a:r>
            <a:endParaRPr lang="en-US" sz="2400" dirty="0"/>
          </a:p>
        </p:txBody>
      </p:sp>
      <p:sp>
        <p:nvSpPr>
          <p:cNvPr id="11" name="OEM header"/>
          <p:cNvSpPr txBox="1"/>
          <p:nvPr/>
        </p:nvSpPr>
        <p:spPr>
          <a:xfrm>
            <a:off x="4800600" y="1554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…While OEMs Pivot to LEAP</a:t>
            </a:r>
            <a:endParaRPr lang="en-US" sz="1600" dirty="0"/>
          </a:p>
        </p:txBody>
      </p:sp>
      <p:sp>
        <p:nvSpPr>
          <p:cNvPr id="12" name="OEM header rule"/>
          <p:cNvSpPr/>
          <p:nvPr/>
        </p:nvSpPr>
        <p:spPr>
          <a:xfrm>
            <a:off x="4800600" y="1975104"/>
            <a:ext cx="402336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3" name="Shop visit mix chart" descr=""/>
          <p:cNvGraphicFramePr/>
          <p:nvPr/>
        </p:nvGraphicFramePr>
        <p:xfrm>
          <a:off x="4892040" y="2240280"/>
          <a:ext cx="224028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Mix legend"/>
          <p:cNvSpPr txBox="1"/>
          <p:nvPr/>
        </p:nvSpPr>
        <p:spPr>
          <a:xfrm>
            <a:off x="4892040" y="413308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CFM56  </a:t>
            </a:r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LEAP</a:t>
            </a:r>
            <a:endParaRPr lang="en-US" sz="1100" dirty="0"/>
          </a:p>
        </p:txBody>
      </p:sp>
      <p:sp>
        <p:nvSpPr>
          <p:cNvPr id="15" name="LEAP stat 1"/>
          <p:cNvSpPr txBox="1"/>
          <p:nvPr/>
        </p:nvSpPr>
        <p:spPr>
          <a:xfrm>
            <a:off x="7178040" y="224028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~1/2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of GE's $1B+ MRO spend goes to LEAP</a:t>
            </a:r>
            <a:endParaRPr lang="en-US" sz="2200" dirty="0"/>
          </a:p>
        </p:txBody>
      </p:sp>
      <p:sp>
        <p:nvSpPr>
          <p:cNvPr id="16" name="LEAP stat 2"/>
          <p:cNvSpPr txBox="1"/>
          <p:nvPr/>
        </p:nvSpPr>
        <p:spPr>
          <a:xfrm>
            <a:off x="7178040" y="32461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+50%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LEAP shop visits, y/y (GE, 2026)</a:t>
            </a:r>
            <a:endParaRPr lang="en-US" sz="2200" dirty="0"/>
          </a:p>
        </p:txBody>
      </p:sp>
      <p:sp>
        <p:nvSpPr>
          <p:cNvPr id="17" name="Expert quote"/>
          <p:cNvSpPr txBox="1"/>
          <p:nvPr/>
        </p:nvSpPr>
        <p:spPr>
          <a:xfrm>
            <a:off x="320040" y="4526280"/>
            <a:ext cx="850392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52400" tIns="50800" rIns="1524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“The variability in capital investment required to capture the LEAP is extremely low versus what it took them to capture the CFM.”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1A1A1A"/>
                </a:solidFill>
              </a:rPr>
              <a:t>— Former executive, engine MRO shop</a:t>
            </a:r>
            <a:endParaRPr lang="en-US" sz="1400" dirty="0"/>
          </a:p>
        </p:txBody>
      </p:sp>
      <p:sp>
        <p:nvSpPr>
          <p:cNvPr id="18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OEM slots shift to LEAP as independent shops clog. CFM56 owners need a faster option.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Aviation Business News (2025); Bain (2024); GE Q4'25–Q2'26 calls; CFM LEAP forecast; GPS expert call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(3/5)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shop visit grounds an engine for months. FTAI's module swap gets it flying in weeks.</a:t>
            </a:r>
            <a:endParaRPr lang="en-US" sz="1700" dirty="0"/>
          </a:p>
        </p:txBody>
      </p:sp>
      <p:sp>
        <p:nvSpPr>
          <p:cNvPr id="4" name="Timeline label"/>
          <p:cNvSpPr txBox="1"/>
          <p:nvPr/>
        </p:nvSpPr>
        <p:spPr>
          <a:xfrm>
            <a:off x="2148840" y="153619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Days off wing</a:t>
            </a:r>
            <a:endParaRPr lang="en-US" sz="1100" dirty="0"/>
          </a:p>
        </p:txBody>
      </p:sp>
      <p:sp>
        <p:nvSpPr>
          <p:cNvPr id="5" name="Grid 0"/>
          <p:cNvSpPr/>
          <p:nvPr/>
        </p:nvSpPr>
        <p:spPr>
          <a:xfrm>
            <a:off x="2148840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6" name="Tick 0"/>
          <p:cNvSpPr txBox="1"/>
          <p:nvPr/>
        </p:nvSpPr>
        <p:spPr>
          <a:xfrm>
            <a:off x="1874520" y="329184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0</a:t>
            </a:r>
            <a:endParaRPr lang="en-US" sz="1000" dirty="0"/>
          </a:p>
        </p:txBody>
      </p:sp>
      <p:sp>
        <p:nvSpPr>
          <p:cNvPr id="7" name="Grid 30"/>
          <p:cNvSpPr/>
          <p:nvPr/>
        </p:nvSpPr>
        <p:spPr>
          <a:xfrm>
            <a:off x="3215640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8" name="Tick 30"/>
          <p:cNvSpPr txBox="1"/>
          <p:nvPr/>
        </p:nvSpPr>
        <p:spPr>
          <a:xfrm>
            <a:off x="2941320" y="329184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30</a:t>
            </a:r>
            <a:endParaRPr lang="en-US" sz="1000" dirty="0"/>
          </a:p>
        </p:txBody>
      </p:sp>
      <p:sp>
        <p:nvSpPr>
          <p:cNvPr id="9" name="Grid 60"/>
          <p:cNvSpPr/>
          <p:nvPr/>
        </p:nvSpPr>
        <p:spPr>
          <a:xfrm>
            <a:off x="4282440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0" name="Tick 60"/>
          <p:cNvSpPr txBox="1"/>
          <p:nvPr/>
        </p:nvSpPr>
        <p:spPr>
          <a:xfrm>
            <a:off x="4008120" y="329184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60</a:t>
            </a:r>
            <a:endParaRPr lang="en-US" sz="1000" dirty="0"/>
          </a:p>
        </p:txBody>
      </p:sp>
      <p:sp>
        <p:nvSpPr>
          <p:cNvPr id="11" name="Grid 90"/>
          <p:cNvSpPr/>
          <p:nvPr/>
        </p:nvSpPr>
        <p:spPr>
          <a:xfrm>
            <a:off x="5349240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2" name="Tick 90"/>
          <p:cNvSpPr txBox="1"/>
          <p:nvPr/>
        </p:nvSpPr>
        <p:spPr>
          <a:xfrm>
            <a:off x="5074920" y="329184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90</a:t>
            </a:r>
            <a:endParaRPr lang="en-US" sz="1000" dirty="0"/>
          </a:p>
        </p:txBody>
      </p:sp>
      <p:sp>
        <p:nvSpPr>
          <p:cNvPr id="13" name="Grid 120"/>
          <p:cNvSpPr/>
          <p:nvPr/>
        </p:nvSpPr>
        <p:spPr>
          <a:xfrm>
            <a:off x="6416040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4" name="Tick 120"/>
          <p:cNvSpPr txBox="1"/>
          <p:nvPr/>
        </p:nvSpPr>
        <p:spPr>
          <a:xfrm>
            <a:off x="6141720" y="329184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120</a:t>
            </a:r>
            <a:endParaRPr lang="en-US" sz="1000" dirty="0"/>
          </a:p>
        </p:txBody>
      </p:sp>
      <p:sp>
        <p:nvSpPr>
          <p:cNvPr id="15" name="Grid 150"/>
          <p:cNvSpPr/>
          <p:nvPr/>
        </p:nvSpPr>
        <p:spPr>
          <a:xfrm>
            <a:off x="7482840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6" name="Tick 150"/>
          <p:cNvSpPr txBox="1"/>
          <p:nvPr/>
        </p:nvSpPr>
        <p:spPr>
          <a:xfrm>
            <a:off x="7208520" y="329184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150</a:t>
            </a:r>
            <a:endParaRPr lang="en-US" sz="1000" dirty="0"/>
          </a:p>
        </p:txBody>
      </p:sp>
      <p:sp>
        <p:nvSpPr>
          <p:cNvPr id="17" name="Grid 180"/>
          <p:cNvSpPr/>
          <p:nvPr/>
        </p:nvSpPr>
        <p:spPr>
          <a:xfrm>
            <a:off x="8549640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8" name="Tick 180"/>
          <p:cNvSpPr txBox="1"/>
          <p:nvPr/>
        </p:nvSpPr>
        <p:spPr>
          <a:xfrm>
            <a:off x="8275320" y="329184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180</a:t>
            </a:r>
            <a:endParaRPr lang="en-US" sz="1000" dirty="0"/>
          </a:p>
        </p:txBody>
      </p:sp>
      <p:sp>
        <p:nvSpPr>
          <p:cNvPr id="19" name="Shop visit label"/>
          <p:cNvSpPr txBox="1"/>
          <p:nvPr/>
        </p:nvSpPr>
        <p:spPr>
          <a:xfrm>
            <a:off x="320040" y="18288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Typical shop visit</a:t>
            </a:r>
            <a:endParaRPr lang="en-US" sz="14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120–180 days</a:t>
            </a:r>
            <a:endParaRPr lang="en-US" sz="1400" dirty="0"/>
          </a:p>
        </p:txBody>
      </p:sp>
      <p:sp>
        <p:nvSpPr>
          <p:cNvPr id="20" name="Shop step 1"/>
          <p:cNvSpPr/>
          <p:nvPr/>
        </p:nvSpPr>
        <p:spPr>
          <a:xfrm>
            <a:off x="2148840" y="1856232"/>
            <a:ext cx="1532128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</a:rPr>
              <a:t>Wait for slot</a:t>
            </a:r>
            <a:endParaRPr lang="en-US" sz="900" dirty="0"/>
          </a:p>
        </p:txBody>
      </p:sp>
      <p:sp>
        <p:nvSpPr>
          <p:cNvPr id="21" name="Shop step 2"/>
          <p:cNvSpPr/>
          <p:nvPr/>
        </p:nvSpPr>
        <p:spPr>
          <a:xfrm>
            <a:off x="3571240" y="1856232"/>
            <a:ext cx="1105408" cy="502920"/>
          </a:xfrm>
          <a:prstGeom prst="chevron">
            <a:avLst/>
          </a:prstGeom>
          <a:solidFill>
            <a:srgbClr val="2E93A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Strip</a:t>
            </a:r>
            <a:endParaRPr lang="en-US" sz="900" dirty="0"/>
          </a:p>
        </p:txBody>
      </p:sp>
      <p:sp>
        <p:nvSpPr>
          <p:cNvPr id="22" name="Shop step 3"/>
          <p:cNvSpPr/>
          <p:nvPr/>
        </p:nvSpPr>
        <p:spPr>
          <a:xfrm>
            <a:off x="4566920" y="1856232"/>
            <a:ext cx="1532128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</a:rPr>
              <a:t>Wait for parts</a:t>
            </a:r>
            <a:endParaRPr lang="en-US" sz="900" dirty="0"/>
          </a:p>
        </p:txBody>
      </p:sp>
      <p:sp>
        <p:nvSpPr>
          <p:cNvPr id="23" name="Shop step 4"/>
          <p:cNvSpPr/>
          <p:nvPr/>
        </p:nvSpPr>
        <p:spPr>
          <a:xfrm>
            <a:off x="5989320" y="1856232"/>
            <a:ext cx="1247648" cy="502920"/>
          </a:xfrm>
          <a:prstGeom prst="chevron">
            <a:avLst/>
          </a:prstGeom>
          <a:solidFill>
            <a:srgbClr val="2E93A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Repair</a:t>
            </a:r>
            <a:endParaRPr lang="en-US" sz="900" dirty="0"/>
          </a:p>
        </p:txBody>
      </p:sp>
      <p:sp>
        <p:nvSpPr>
          <p:cNvPr id="24" name="Shop step 5"/>
          <p:cNvSpPr/>
          <p:nvPr/>
        </p:nvSpPr>
        <p:spPr>
          <a:xfrm>
            <a:off x="7127240" y="1856232"/>
            <a:ext cx="465328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</a:rPr>
              <a:t>Test</a:t>
            </a:r>
            <a:endParaRPr lang="en-US" sz="900" dirty="0"/>
          </a:p>
        </p:txBody>
      </p:sp>
      <p:sp>
        <p:nvSpPr>
          <p:cNvPr id="25" name="Shop visit range"/>
          <p:cNvSpPr/>
          <p:nvPr/>
        </p:nvSpPr>
        <p:spPr>
          <a:xfrm>
            <a:off x="7482840" y="1929384"/>
            <a:ext cx="1066800" cy="356616"/>
          </a:xfrm>
          <a:prstGeom prst="rect">
            <a:avLst/>
          </a:prstGeom>
          <a:ln w="15875">
            <a:solidFill>
              <a:srgbClr val="2E93AE"/>
            </a:solidFill>
            <a:prstDash val="dash"/>
          </a:ln>
        </p:spPr>
      </p:sp>
      <p:sp>
        <p:nvSpPr>
          <p:cNvPr id="26" name="Swap label"/>
          <p:cNvSpPr txBox="1"/>
          <p:nvPr/>
        </p:nvSpPr>
        <p:spPr>
          <a:xfrm>
            <a:off x="228600" y="2560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FTAI module swap</a:t>
            </a:r>
            <a:endParaRPr lang="en-US" sz="1300" dirty="0"/>
          </a:p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5–25 days</a:t>
            </a:r>
            <a:endParaRPr lang="en-US" sz="1300" dirty="0"/>
          </a:p>
        </p:txBody>
      </p:sp>
      <p:sp>
        <p:nvSpPr>
          <p:cNvPr id="27" name="Swap bar"/>
          <p:cNvSpPr/>
          <p:nvPr/>
        </p:nvSpPr>
        <p:spPr>
          <a:xfrm>
            <a:off x="2148840" y="2587752"/>
            <a:ext cx="998728" cy="502920"/>
          </a:xfrm>
          <a:prstGeom prst="chevron">
            <a:avLst/>
          </a:prstGeom>
          <a:solidFill>
            <a:srgbClr val="0A1C58"/>
          </a:solidFill>
          <a:ln/>
        </p:spPr>
      </p:sp>
      <p:sp>
        <p:nvSpPr>
          <p:cNvPr id="28" name="Swap description"/>
          <p:cNvSpPr txBox="1"/>
          <p:nvPr/>
        </p:nvSpPr>
        <p:spPr>
          <a:xfrm>
            <a:off x="3266440" y="25877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Swap a restored module from FTAI's pool, test, fly</a:t>
            </a:r>
            <a:endParaRPr lang="en-US" sz="1200" dirty="0"/>
          </a:p>
        </p:txBody>
      </p:sp>
      <p:sp>
        <p:nvSpPr>
          <p:cNvPr id="29" name="Speed callout"/>
          <p:cNvSpPr/>
          <p:nvPr/>
        </p:nvSpPr>
        <p:spPr>
          <a:xfrm>
            <a:off x="7589520" y="2423160"/>
            <a:ext cx="1051560" cy="86868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~7x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faster</a:t>
            </a:r>
            <a:endParaRPr lang="en-US" sz="2200" dirty="0"/>
          </a:p>
        </p:txBody>
      </p:sp>
      <p:sp>
        <p:nvSpPr>
          <p:cNvPr id="30" name="Cost header"/>
          <p:cNvSpPr txBox="1"/>
          <p:nvPr/>
        </p:nvSpPr>
        <p:spPr>
          <a:xfrm>
            <a:off x="320040" y="35844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Lease Cost While Grounded</a:t>
            </a:r>
            <a:endParaRPr lang="en-US" sz="1600" dirty="0"/>
          </a:p>
        </p:txBody>
      </p:sp>
      <p:sp>
        <p:nvSpPr>
          <p:cNvPr id="31" name="Cost header rule"/>
          <p:cNvSpPr/>
          <p:nvPr/>
        </p:nvSpPr>
        <p:spPr>
          <a:xfrm>
            <a:off x="320040" y="4005072"/>
            <a:ext cx="416052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32" name="Cost label 1"/>
          <p:cNvSpPr txBox="1"/>
          <p:nvPr/>
        </p:nvSpPr>
        <p:spPr>
          <a:xfrm>
            <a:off x="320040" y="416052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Shop visit, ~150 days</a:t>
            </a:r>
            <a:endParaRPr lang="en-US" sz="1100" dirty="0"/>
          </a:p>
        </p:txBody>
      </p:sp>
      <p:sp>
        <p:nvSpPr>
          <p:cNvPr id="33" name="Cost bar 1"/>
          <p:cNvSpPr/>
          <p:nvPr/>
        </p:nvSpPr>
        <p:spPr>
          <a:xfrm>
            <a:off x="2103120" y="4160520"/>
            <a:ext cx="1737360" cy="347472"/>
          </a:xfrm>
          <a:prstGeom prst="rect">
            <a:avLst/>
          </a:prstGeom>
          <a:solidFill>
            <a:srgbClr val="0A1C58"/>
          </a:solidFill>
          <a:ln/>
        </p:spPr>
      </p:sp>
      <p:sp>
        <p:nvSpPr>
          <p:cNvPr id="34" name="Cost value 1"/>
          <p:cNvSpPr txBox="1"/>
          <p:nvPr/>
        </p:nvSpPr>
        <p:spPr>
          <a:xfrm>
            <a:off x="3913632" y="4160520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$493K</a:t>
            </a:r>
            <a:endParaRPr lang="en-US" sz="1300" dirty="0"/>
          </a:p>
        </p:txBody>
      </p:sp>
      <p:sp>
        <p:nvSpPr>
          <p:cNvPr id="35" name="Cost label 2"/>
          <p:cNvSpPr txBox="1"/>
          <p:nvPr/>
        </p:nvSpPr>
        <p:spPr>
          <a:xfrm>
            <a:off x="320040" y="463600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swap, ~20 days</a:t>
            </a:r>
            <a:endParaRPr lang="en-US" sz="1100" dirty="0"/>
          </a:p>
        </p:txBody>
      </p:sp>
      <p:sp>
        <p:nvSpPr>
          <p:cNvPr id="36" name="Cost bar 2"/>
          <p:cNvSpPr/>
          <p:nvPr/>
        </p:nvSpPr>
        <p:spPr>
          <a:xfrm>
            <a:off x="2103120" y="4636008"/>
            <a:ext cx="232588" cy="347472"/>
          </a:xfrm>
          <a:prstGeom prst="rect">
            <a:avLst/>
          </a:prstGeom>
          <a:solidFill>
            <a:srgbClr val="2E93AE"/>
          </a:solidFill>
          <a:ln/>
        </p:spPr>
      </p:sp>
      <p:sp>
        <p:nvSpPr>
          <p:cNvPr id="37" name="Cost value 2"/>
          <p:cNvSpPr txBox="1"/>
          <p:nvPr/>
        </p:nvSpPr>
        <p:spPr>
          <a:xfrm>
            <a:off x="2408860" y="4636008"/>
            <a:ext cx="731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$66K</a:t>
            </a:r>
            <a:endParaRPr lang="en-US" sz="1300" dirty="0"/>
          </a:p>
        </p:txBody>
      </p:sp>
      <p:sp>
        <p:nvSpPr>
          <p:cNvPr id="38" name="Turnaround expert quote"/>
          <p:cNvSpPr txBox="1"/>
          <p:nvPr/>
        </p:nvSpPr>
        <p:spPr>
          <a:xfrm>
            <a:off x="4709160" y="3657600"/>
            <a:ext cx="4114800" cy="173736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77800" tIns="76200" rIns="177800" bIns="762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A1A1A"/>
                </a:solidFill>
              </a:rPr>
              <a:t>“FTAI's advantage is basically turnaround time and cheaper sourcing.”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1A1A1A"/>
                </a:solidFill>
              </a:rPr>
              <a:t>— Industry expert, GPS expert call</a:t>
            </a:r>
            <a:endParaRPr lang="en-US" sz="1600" dirty="0"/>
          </a:p>
        </p:txBody>
      </p:sp>
      <p:sp>
        <p:nvSpPr>
          <p:cNvPr id="39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Every day an engine is off wing costs the airline a jet. FTAI sells that time back.</a:t>
            </a:r>
            <a:endParaRPr lang="en-US" sz="1700" dirty="0"/>
          </a:p>
        </p:txBody>
      </p:sp>
      <p:sp>
        <p:nvSpPr>
          <p:cNvPr id="40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Q2'24 call via third-party analysis; IBA (2024) lease rates; GPS expert call; step lengths illustrative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(4/5)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built capacity ahead of demand. New sites leave room to keep taking share.</a:t>
            </a:r>
            <a:endParaRPr lang="en-US" sz="1700" dirty="0"/>
          </a:p>
        </p:txBody>
      </p:sp>
      <p:sp>
        <p:nvSpPr>
          <p:cNvPr id="4" name="Capacity header"/>
          <p:cNvSpPr txBox="1"/>
          <p:nvPr/>
        </p:nvSpPr>
        <p:spPr>
          <a:xfrm>
            <a:off x="320040" y="1554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Output vs. Capacity (Modules)</a:t>
            </a:r>
            <a:endParaRPr lang="en-US" sz="1600" dirty="0"/>
          </a:p>
        </p:txBody>
      </p:sp>
      <p:sp>
        <p:nvSpPr>
          <p:cNvPr id="5" name="Capacity header rule"/>
          <p:cNvSpPr/>
          <p:nvPr/>
        </p:nvSpPr>
        <p:spPr>
          <a:xfrm>
            <a:off x="320040" y="1975104"/>
            <a:ext cx="420624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apacity chart" descr=""/>
          <p:cNvGraphicFramePr/>
          <p:nvPr/>
        </p:nvGraphicFramePr>
        <p:xfrm>
          <a:off x="320040" y="2103120"/>
          <a:ext cx="420624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Capacity label"/>
          <p:cNvSpPr txBox="1"/>
          <p:nvPr/>
        </p:nvSpPr>
        <p:spPr>
          <a:xfrm>
            <a:off x="1828800" y="21031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3,000 capacity</a:t>
            </a:r>
            <a:endParaRPr lang="en-US" sz="1200" dirty="0"/>
          </a:p>
        </p:txBody>
      </p:sp>
      <p:sp>
        <p:nvSpPr>
          <p:cNvPr id="8" name="Capacity legend"/>
          <p:cNvSpPr txBox="1"/>
          <p:nvPr/>
        </p:nvSpPr>
        <p:spPr>
          <a:xfrm>
            <a:off x="320040" y="504748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Output 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Unused capacity</a:t>
            </a:r>
            <a:endParaRPr lang="en-US" sz="1100" dirty="0"/>
          </a:p>
        </p:txBody>
      </p:sp>
      <p:sp>
        <p:nvSpPr>
          <p:cNvPr id="9" name="Network header"/>
          <p:cNvSpPr txBox="1"/>
          <p:nvPr/>
        </p:nvSpPr>
        <p:spPr>
          <a:xfrm>
            <a:off x="4892040" y="15544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Network</a:t>
            </a:r>
            <a:endParaRPr lang="en-US" sz="1600" dirty="0"/>
          </a:p>
        </p:txBody>
      </p:sp>
      <p:sp>
        <p:nvSpPr>
          <p:cNvPr id="10" name="Network header rule"/>
          <p:cNvSpPr/>
          <p:nvPr/>
        </p:nvSpPr>
        <p:spPr>
          <a:xfrm>
            <a:off x="4892040" y="1975104"/>
            <a:ext cx="393192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1" name="Site Montreal"/>
          <p:cNvSpPr txBox="1"/>
          <p:nvPr/>
        </p:nvSpPr>
        <p:spPr>
          <a:xfrm>
            <a:off x="4892040" y="2103120"/>
            <a:ext cx="1920240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Montreal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Flagship, up to 900</a:t>
            </a:r>
            <a:endParaRPr lang="en-US" sz="1500" dirty="0"/>
          </a:p>
        </p:txBody>
      </p:sp>
      <p:sp>
        <p:nvSpPr>
          <p:cNvPr id="12" name="Site Miami"/>
          <p:cNvSpPr txBox="1"/>
          <p:nvPr/>
        </p:nvSpPr>
        <p:spPr>
          <a:xfrm>
            <a:off x="6903720" y="2103120"/>
            <a:ext cx="1920240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Miami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~475 in 2026E</a:t>
            </a:r>
            <a:endParaRPr lang="en-US" sz="1500" dirty="0"/>
          </a:p>
        </p:txBody>
      </p:sp>
      <p:sp>
        <p:nvSpPr>
          <p:cNvPr id="13" name="Site Rome"/>
          <p:cNvSpPr txBox="1"/>
          <p:nvPr/>
        </p:nvSpPr>
        <p:spPr>
          <a:xfrm>
            <a:off x="4892040" y="3090672"/>
            <a:ext cx="1920240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Rome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Ramping</a:t>
            </a:r>
            <a:endParaRPr lang="en-US" sz="1500" dirty="0"/>
          </a:p>
        </p:txBody>
      </p:sp>
      <p:sp>
        <p:nvSpPr>
          <p:cNvPr id="14" name="Site Lisbon"/>
          <p:cNvSpPr txBox="1"/>
          <p:nvPr/>
        </p:nvSpPr>
        <p:spPr>
          <a:xfrm>
            <a:off x="6903720" y="3090672"/>
            <a:ext cx="1920240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Lisbon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Heading to 300+</a:t>
            </a:r>
            <a:endParaRPr lang="en-US" sz="1500" dirty="0"/>
          </a:p>
        </p:txBody>
      </p:sp>
      <p:sp>
        <p:nvSpPr>
          <p:cNvPr id="15" name="Site Jakarta"/>
          <p:cNvSpPr txBox="1"/>
          <p:nvPr/>
        </p:nvSpPr>
        <p:spPr>
          <a:xfrm>
            <a:off x="4892040" y="4078224"/>
            <a:ext cx="1920240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Jakarta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Heavy work, 300–450 (E)</a:t>
            </a:r>
            <a:endParaRPr lang="en-US" sz="1500" dirty="0"/>
          </a:p>
        </p:txBody>
      </p:sp>
      <p:sp>
        <p:nvSpPr>
          <p:cNvPr id="16" name="Site Cairo"/>
          <p:cNvSpPr txBox="1"/>
          <p:nvPr/>
        </p:nvSpPr>
        <p:spPr>
          <a:xfrm>
            <a:off x="6903720" y="4078224"/>
            <a:ext cx="1920240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Cairo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Light work, 150–180 (E)</a:t>
            </a:r>
            <a:endParaRPr lang="en-US" sz="1500" dirty="0"/>
          </a:p>
        </p:txBody>
      </p:sp>
      <p:sp>
        <p:nvSpPr>
          <p:cNvPr id="17" name="Network legend"/>
          <p:cNvSpPr txBox="1"/>
          <p:nvPr/>
        </p:nvSpPr>
        <p:spPr>
          <a:xfrm>
            <a:off x="4892040" y="50474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New sites   </a:t>
            </a:r>
            <a:pPr algn="ctr" indent="0" marL="0">
              <a:buNone/>
            </a:pPr>
            <a:r>
              <a:rPr lang="en-US" sz="1100" dirty="0">
                <a:solidFill>
                  <a:srgbClr val="DCD8D3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Existing (modules / yr)</a:t>
            </a:r>
            <a:endParaRPr lang="en-US" sz="1100" dirty="0"/>
          </a:p>
        </p:txBody>
      </p:sp>
      <p:sp>
        <p:nvSpPr>
          <p:cNvPr id="18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With 3,000 modules of capacity against 1,700 planned, FTAI can absorb share gains.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Q1/Q2'26 earnings supplements; GMF and EgyptAir reports; GPS estimates (E)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(5/5)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Share gains plus the SCI floor take FTAI to ~1,700 modules in FY27, in line with its target.</a:t>
            </a:r>
            <a:endParaRPr lang="en-US" sz="1700" dirty="0"/>
          </a:p>
        </p:txBody>
      </p:sp>
      <p:sp>
        <p:nvSpPr>
          <p:cNvPr id="4" name="Volume tile 1"/>
          <p:cNvSpPr txBox="1"/>
          <p:nvPr/>
        </p:nvSpPr>
        <p:spPr>
          <a:xfrm>
            <a:off x="320040" y="1600200"/>
            <a:ext cx="1572768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2,386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CFM56 shop visits</a:t>
            </a:r>
            <a:endParaRPr lang="en-US" sz="2000" dirty="0"/>
          </a:p>
        </p:txBody>
      </p:sp>
      <p:sp>
        <p:nvSpPr>
          <p:cNvPr id="5" name="Volume tile 2"/>
          <p:cNvSpPr txBox="1"/>
          <p:nvPr/>
        </p:nvSpPr>
        <p:spPr>
          <a:xfrm>
            <a:off x="2048256" y="1600200"/>
            <a:ext cx="1572768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× 3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modules each</a:t>
            </a:r>
            <a:endParaRPr lang="en-US" sz="2000" dirty="0"/>
          </a:p>
        </p:txBody>
      </p:sp>
      <p:sp>
        <p:nvSpPr>
          <p:cNvPr id="6" name="Volume tile 3"/>
          <p:cNvSpPr txBox="1"/>
          <p:nvPr/>
        </p:nvSpPr>
        <p:spPr>
          <a:xfrm>
            <a:off x="3776472" y="1600200"/>
            <a:ext cx="1572768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× 16.8%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FTAI share</a:t>
            </a:r>
            <a:endParaRPr lang="en-US" sz="2000" dirty="0"/>
          </a:p>
        </p:txBody>
      </p:sp>
      <p:sp>
        <p:nvSpPr>
          <p:cNvPr id="7" name="Volume tile 4"/>
          <p:cNvSpPr txBox="1"/>
          <p:nvPr/>
        </p:nvSpPr>
        <p:spPr>
          <a:xfrm>
            <a:off x="5504688" y="1600200"/>
            <a:ext cx="1572768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+ 482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SCI modules</a:t>
            </a:r>
            <a:endParaRPr lang="en-US" sz="2000" dirty="0"/>
          </a:p>
        </p:txBody>
      </p:sp>
      <p:sp>
        <p:nvSpPr>
          <p:cNvPr id="8" name="Volume tile 5"/>
          <p:cNvSpPr txBox="1"/>
          <p:nvPr/>
        </p:nvSpPr>
        <p:spPr>
          <a:xfrm>
            <a:off x="7232904" y="1600200"/>
            <a:ext cx="1572768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= 1,687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FY27E modules</a:t>
            </a:r>
            <a:endParaRPr lang="en-US" sz="2000" dirty="0"/>
          </a:p>
        </p:txBody>
      </p:sp>
      <p:sp>
        <p:nvSpPr>
          <p:cNvPr id="9" name="Share header"/>
          <p:cNvSpPr txBox="1"/>
          <p:nvPr/>
        </p:nvSpPr>
        <p:spPr>
          <a:xfrm>
            <a:off x="320040" y="26060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Share of CFM56 Module Work</a:t>
            </a:r>
            <a:endParaRPr lang="en-US" sz="1600" dirty="0"/>
          </a:p>
        </p:txBody>
      </p:sp>
      <p:sp>
        <p:nvSpPr>
          <p:cNvPr id="10" name="Share header rule"/>
          <p:cNvSpPr/>
          <p:nvPr/>
        </p:nvSpPr>
        <p:spPr>
          <a:xfrm>
            <a:off x="320040" y="3026664"/>
            <a:ext cx="420624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Share chart" descr=""/>
          <p:cNvGraphicFramePr/>
          <p:nvPr/>
        </p:nvGraphicFramePr>
        <p:xfrm>
          <a:off x="320040" y="3108960"/>
          <a:ext cx="42062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Modules header"/>
          <p:cNvSpPr txBox="1"/>
          <p:nvPr/>
        </p:nvSpPr>
        <p:spPr>
          <a:xfrm>
            <a:off x="4892040" y="26060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Modules Produced</a:t>
            </a:r>
            <a:endParaRPr lang="en-US" sz="1600" dirty="0"/>
          </a:p>
        </p:txBody>
      </p:sp>
      <p:sp>
        <p:nvSpPr>
          <p:cNvPr id="13" name="Modules header rule"/>
          <p:cNvSpPr/>
          <p:nvPr/>
        </p:nvSpPr>
        <p:spPr>
          <a:xfrm>
            <a:off x="4892040" y="3026664"/>
            <a:ext cx="393192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4" name="Modules chart" descr=""/>
          <p:cNvGraphicFramePr/>
          <p:nvPr/>
        </p:nvGraphicFramePr>
        <p:xfrm>
          <a:off x="4892040" y="3108960"/>
          <a:ext cx="393192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Modules legend"/>
          <p:cNvSpPr txBox="1"/>
          <p:nvPr/>
        </p:nvSpPr>
        <p:spPr>
          <a:xfrm>
            <a:off x="4892040" y="512064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Third-party 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SCI floor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 if share stalls, SCI's contracted fleet keeps adding volume: a floor under the thesis.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Q2'26 supplement (1,700-module 2027 target); 2024–25 share per GPS analysis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LEAP Upside (1/2)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LEAP engines need more maintenance, and OEM contracts start rolling off after 2030.</a:t>
            </a:r>
            <a:endParaRPr lang="en-US" sz="1700" dirty="0"/>
          </a:p>
        </p:txBody>
      </p:sp>
      <p:sp>
        <p:nvSpPr>
          <p:cNvPr id="4" name="Timeline arrow"/>
          <p:cNvSpPr/>
          <p:nvPr/>
        </p:nvSpPr>
        <p:spPr>
          <a:xfrm>
            <a:off x="320040" y="1783080"/>
            <a:ext cx="8503920" cy="457200"/>
          </a:xfrm>
          <a:prstGeom prst="rightArrow">
            <a:avLst/>
          </a:prstGeom>
          <a:solidFill>
            <a:srgbClr val="0A1C58"/>
          </a:solidFill>
          <a:ln/>
        </p:spPr>
      </p:sp>
      <p:sp>
        <p:nvSpPr>
          <p:cNvPr id="5" name="Stop 1"/>
          <p:cNvSpPr txBox="1"/>
          <p:nvPr/>
        </p:nvSpPr>
        <p:spPr>
          <a:xfrm>
            <a:off x="685800" y="1627632"/>
            <a:ext cx="210312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Today</a:t>
            </a:r>
            <a:endParaRPr lang="en-US" sz="2200" dirty="0"/>
          </a:p>
        </p:txBody>
      </p:sp>
      <p:sp>
        <p:nvSpPr>
          <p:cNvPr id="6" name="Stop 1 detail"/>
          <p:cNvSpPr txBox="1"/>
          <p:nvPr/>
        </p:nvSpPr>
        <p:spPr>
          <a:xfrm>
            <a:off x="457200" y="248716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~50% of LEAPs on OEM deals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vs. ~15% of CFM56s</a:t>
            </a:r>
            <a:endParaRPr lang="en-US" sz="1400" dirty="0"/>
          </a:p>
        </p:txBody>
      </p:sp>
      <p:sp>
        <p:nvSpPr>
          <p:cNvPr id="7" name="Stop 2"/>
          <p:cNvSpPr txBox="1"/>
          <p:nvPr/>
        </p:nvSpPr>
        <p:spPr>
          <a:xfrm>
            <a:off x="3520440" y="1627632"/>
            <a:ext cx="210312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2030</a:t>
            </a:r>
            <a:endParaRPr lang="en-US" sz="2200" dirty="0"/>
          </a:p>
        </p:txBody>
      </p:sp>
      <p:sp>
        <p:nvSpPr>
          <p:cNvPr id="8" name="Stop 2 detail"/>
          <p:cNvSpPr txBox="1"/>
          <p:nvPr/>
        </p:nvSpPr>
        <p:spPr>
          <a:xfrm>
            <a:off x="3291840" y="248716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~2,000 LEAP visits a year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OEM coverage peaks near 70%</a:t>
            </a:r>
            <a:endParaRPr lang="en-US" sz="1400" dirty="0"/>
          </a:p>
        </p:txBody>
      </p:sp>
      <p:sp>
        <p:nvSpPr>
          <p:cNvPr id="9" name="Stop 3"/>
          <p:cNvSpPr txBox="1"/>
          <p:nvPr/>
        </p:nvSpPr>
        <p:spPr>
          <a:xfrm>
            <a:off x="6355080" y="1627632"/>
            <a:ext cx="210312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2030+</a:t>
            </a:r>
            <a:endParaRPr lang="en-US" sz="2200" dirty="0"/>
          </a:p>
        </p:txBody>
      </p:sp>
      <p:sp>
        <p:nvSpPr>
          <p:cNvPr id="10" name="Stop 3 detail"/>
          <p:cNvSpPr txBox="1"/>
          <p:nvPr/>
        </p:nvSpPr>
        <p:spPr>
          <a:xfrm>
            <a:off x="6126480" y="248716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Contracts roll off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Work opens to independents</a:t>
            </a:r>
            <a:endParaRPr lang="en-US" sz="1400" dirty="0"/>
          </a:p>
        </p:txBody>
      </p:sp>
      <p:sp>
        <p:nvSpPr>
          <p:cNvPr id="11" name="Card 1"/>
          <p:cNvSpPr/>
          <p:nvPr/>
        </p:nvSpPr>
        <p:spPr>
          <a:xfrm>
            <a:off x="320040" y="3291840"/>
            <a:ext cx="2706624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2" name="Card 1 stat"/>
          <p:cNvSpPr/>
          <p:nvPr/>
        </p:nvSpPr>
        <p:spPr>
          <a:xfrm>
            <a:off x="411480" y="3401568"/>
            <a:ext cx="1143000" cy="1143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2.5x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sooner</a:t>
            </a:r>
            <a:endParaRPr lang="en-US" sz="2000" dirty="0"/>
          </a:p>
        </p:txBody>
      </p:sp>
      <p:sp>
        <p:nvSpPr>
          <p:cNvPr id="13" name="Card 1 head"/>
          <p:cNvSpPr txBox="1"/>
          <p:nvPr/>
        </p:nvSpPr>
        <p:spPr>
          <a:xfrm>
            <a:off x="1618488" y="352044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More shop visits</a:t>
            </a:r>
            <a:endParaRPr lang="en-US" sz="1500" dirty="0"/>
          </a:p>
        </p:txBody>
      </p:sp>
      <p:sp>
        <p:nvSpPr>
          <p:cNvPr id="14" name="Card 1 body"/>
          <p:cNvSpPr txBox="1"/>
          <p:nvPr/>
        </p:nvSpPr>
        <p:spPr>
          <a:xfrm>
            <a:off x="457200" y="4572000"/>
            <a:ext cx="2432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First LEAP visits at ~4,000 cycles vs. the 10,000+ originally planned.</a:t>
            </a:r>
            <a:endParaRPr lang="en-US" sz="1200" dirty="0"/>
          </a:p>
        </p:txBody>
      </p:sp>
      <p:sp>
        <p:nvSpPr>
          <p:cNvPr id="15" name="Card 2"/>
          <p:cNvSpPr/>
          <p:nvPr/>
        </p:nvSpPr>
        <p:spPr>
          <a:xfrm>
            <a:off x="3218688" y="3291840"/>
            <a:ext cx="2706624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6" name="Card 2 stat"/>
          <p:cNvSpPr/>
          <p:nvPr/>
        </p:nvSpPr>
        <p:spPr>
          <a:xfrm>
            <a:off x="3310128" y="3401568"/>
            <a:ext cx="1143000" cy="1143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$2–4.5M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per visit</a:t>
            </a:r>
            <a:endParaRPr lang="en-US" sz="1400" dirty="0"/>
          </a:p>
        </p:txBody>
      </p:sp>
      <p:sp>
        <p:nvSpPr>
          <p:cNvPr id="17" name="Card 2 head"/>
          <p:cNvSpPr txBox="1"/>
          <p:nvPr/>
        </p:nvSpPr>
        <p:spPr>
          <a:xfrm>
            <a:off x="4517136" y="352044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Costlier visits</a:t>
            </a:r>
            <a:endParaRPr lang="en-US" sz="1500" dirty="0"/>
          </a:p>
        </p:txBody>
      </p:sp>
      <p:sp>
        <p:nvSpPr>
          <p:cNvPr id="18" name="Card 2 body"/>
          <p:cNvSpPr txBox="1"/>
          <p:nvPr/>
        </p:nvSpPr>
        <p:spPr>
          <a:xfrm>
            <a:off x="3355848" y="4572000"/>
            <a:ext cx="2432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LEAP overhauls cost far more than the same work on a CFM56.</a:t>
            </a:r>
            <a:endParaRPr lang="en-US" sz="1200" dirty="0"/>
          </a:p>
        </p:txBody>
      </p:sp>
      <p:sp>
        <p:nvSpPr>
          <p:cNvPr id="19" name="Card 3"/>
          <p:cNvSpPr/>
          <p:nvPr/>
        </p:nvSpPr>
        <p:spPr>
          <a:xfrm>
            <a:off x="6117336" y="3291840"/>
            <a:ext cx="2706624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20" name="Card 3 stat"/>
          <p:cNvSpPr/>
          <p:nvPr/>
        </p:nvSpPr>
        <p:spPr>
          <a:xfrm>
            <a:off x="6208776" y="3401568"/>
            <a:ext cx="1143000" cy="1143000"/>
          </a:xfrm>
          <a:prstGeom prst="ellipse">
            <a:avLst/>
          </a:prstGeom>
          <a:solidFill>
            <a:srgbClr val="EE6E25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Same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tooling</a:t>
            </a:r>
            <a:endParaRPr lang="en-US" sz="2000" dirty="0"/>
          </a:p>
        </p:txBody>
      </p:sp>
      <p:sp>
        <p:nvSpPr>
          <p:cNvPr id="21" name="Card 3 head"/>
          <p:cNvSpPr txBox="1"/>
          <p:nvPr/>
        </p:nvSpPr>
        <p:spPr>
          <a:xfrm>
            <a:off x="7415784" y="352044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 can pivot fast</a:t>
            </a:r>
            <a:endParaRPr lang="en-US" sz="1500" dirty="0"/>
          </a:p>
        </p:txBody>
      </p:sp>
      <p:sp>
        <p:nvSpPr>
          <p:cNvPr id="22" name="Card 3 body"/>
          <p:cNvSpPr txBox="1"/>
          <p:nvPr/>
        </p:nvSpPr>
        <p:spPr>
          <a:xfrm>
            <a:off x="6254496" y="4572000"/>
            <a:ext cx="2432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 CFM56/LEAP test cell is coming to Rome, and CFM56 tools and techs carry over.</a:t>
            </a:r>
            <a:endParaRPr lang="en-US" sz="1200" dirty="0"/>
          </a:p>
        </p:txBody>
      </p:sp>
      <p:sp>
        <p:nvSpPr>
          <p:cNvPr id="23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As OEM contracts roll off, LEAP becomes FTAI's next CFM56, with costlier, more frequent visits.</a:t>
            </a:r>
            <a:endParaRPr lang="en-US" sz="1700" dirty="0"/>
          </a:p>
        </p:txBody>
      </p:sp>
      <p:sp>
        <p:nvSpPr>
          <p:cNvPr id="24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Safran via Aviation Week; Visual Approach; The Air Current; Safe Fly Aviation; FTAI Q2'26 call; GPS expert call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LEAP Upside (2/2)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LEAP isn't in our target. Matching FTAI's CFM56 share takes your return past 100%.</a:t>
            </a:r>
            <a:endParaRPr lang="en-US" sz="1700" dirty="0"/>
          </a:p>
        </p:txBody>
      </p:sp>
      <p:sp>
        <p:nvSpPr>
          <p:cNvPr id="4" name="LEAP quote"/>
          <p:cNvSpPr txBox="1"/>
          <p:nvPr/>
        </p:nvSpPr>
        <p:spPr>
          <a:xfrm>
            <a:off x="822960" y="1627632"/>
            <a:ext cx="749808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77800" tIns="50800" rIns="177800" bIns="508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“It will happen. The reason why it will happen is because they have set their CFM line up to have a measurable amount of shared services in that line.”</a:t>
            </a:r>
            <a:endParaRPr lang="en-US" sz="1600" dirty="0"/>
          </a:p>
        </p:txBody>
      </p:sp>
      <p:sp>
        <p:nvSpPr>
          <p:cNvPr id="5" name="LEAP quote attribution"/>
          <p:cNvSpPr txBox="1"/>
          <p:nvPr/>
        </p:nvSpPr>
        <p:spPr>
          <a:xfrm>
            <a:off x="4206240" y="25420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1A1A1A"/>
                </a:solidFill>
              </a:rPr>
              <a:t>— Former executive, engine MRO shop</a:t>
            </a:r>
            <a:endParaRPr lang="en-US" sz="1400" dirty="0"/>
          </a:p>
        </p:txBody>
      </p:sp>
      <p:graphicFrame>
        <p:nvGraphicFramePr>
          <p:cNvPr id="6" name="LEAP return chart" descr=""/>
          <p:cNvGraphicFramePr/>
          <p:nvPr/>
        </p:nvGraphicFramePr>
        <p:xfrm>
          <a:off x="960120" y="2926080"/>
          <a:ext cx="768096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Y label"/>
          <p:cNvSpPr txBox="1"/>
          <p:nvPr/>
        </p:nvSpPr>
        <p:spPr>
          <a:xfrm rot="16200000">
            <a:off x="0" y="37033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Your return</a:t>
            </a:r>
            <a:endParaRPr lang="en-US" sz="1200" dirty="0"/>
          </a:p>
        </p:txBody>
      </p:sp>
      <p:sp>
        <p:nvSpPr>
          <p:cNvPr id="8" name="X label"/>
          <p:cNvSpPr txBox="1"/>
          <p:nvPr/>
        </p:nvSpPr>
        <p:spPr>
          <a:xfrm>
            <a:off x="960120" y="5102352"/>
            <a:ext cx="7680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FTAI share of off-contract LEAP shop visits</a:t>
            </a:r>
            <a:endParaRPr lang="en-US" sz="1200" dirty="0"/>
          </a:p>
        </p:txBody>
      </p:sp>
      <p:sp>
        <p:nvSpPr>
          <p:cNvPr id="9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Every 5 pts of off-contract LEAP share adds ~9 pts to your return on top of our base case.</a:t>
            </a:r>
            <a:endParaRPr lang="en-US" sz="1700" dirty="0"/>
          </a:p>
        </p:txBody>
      </p:sp>
      <p:sp>
        <p:nvSpPr>
          <p:cNvPr id="10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GPS analysis: 2,000 LEAP visits/yr, 50% off contract, 3 modules/visit, FY27E EBITDA/module, 16x, discounted 4 yrs at 9.5%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(1/4)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AI spending is exploding, and our model shows the grid falling short from 2029.</a:t>
            </a:r>
            <a:endParaRPr lang="en-US" sz="1700" dirty="0"/>
          </a:p>
        </p:txBody>
      </p:sp>
      <p:sp>
        <p:nvSpPr>
          <p:cNvPr id="4" name="Capex header"/>
          <p:cNvSpPr txBox="1"/>
          <p:nvPr/>
        </p:nvSpPr>
        <p:spPr>
          <a:xfrm>
            <a:off x="320040" y="15544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Big Four Hyperscaler Capex ($B)</a:t>
            </a:r>
            <a:endParaRPr lang="en-US" sz="1600" dirty="0"/>
          </a:p>
        </p:txBody>
      </p:sp>
      <p:sp>
        <p:nvSpPr>
          <p:cNvPr id="5" name="Capex header rule"/>
          <p:cNvSpPr/>
          <p:nvPr/>
        </p:nvSpPr>
        <p:spPr>
          <a:xfrm>
            <a:off x="320040" y="1975104"/>
            <a:ext cx="420624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apex chart" descr=""/>
          <p:cNvGraphicFramePr/>
          <p:nvPr/>
        </p:nvGraphicFramePr>
        <p:xfrm>
          <a:off x="320040" y="2103120"/>
          <a:ext cx="42062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ortfall header"/>
          <p:cNvSpPr txBox="1"/>
          <p:nvPr/>
        </p:nvSpPr>
        <p:spPr>
          <a:xfrm>
            <a:off x="4892040" y="15544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U.S. Power Reserve Shortfall (GW)</a:t>
            </a:r>
            <a:endParaRPr lang="en-US" sz="1600" dirty="0"/>
          </a:p>
        </p:txBody>
      </p:sp>
      <p:sp>
        <p:nvSpPr>
          <p:cNvPr id="8" name="Shortfall header rule"/>
          <p:cNvSpPr/>
          <p:nvPr/>
        </p:nvSpPr>
        <p:spPr>
          <a:xfrm>
            <a:off x="4892040" y="1975104"/>
            <a:ext cx="393192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9" name="Shortfall chart" descr=""/>
          <p:cNvGraphicFramePr/>
          <p:nvPr/>
        </p:nvGraphicFramePr>
        <p:xfrm>
          <a:off x="4892040" y="2103120"/>
          <a:ext cx="39319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Hyperscalers will spend ~$730B this year, but there won't be enough power to run it.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 and 2026 guidance (Amazon, Alphabet, Meta, Microsoft); NERC 2025 LTRA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(2/4)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Most new power hyperscalers have contracted isn't fully online until 2029 or later.</a:t>
            </a:r>
            <a:endParaRPr lang="en-US" sz="1700" dirty="0"/>
          </a:p>
        </p:txBody>
      </p:sp>
      <p:sp>
        <p:nvSpPr>
          <p:cNvPr id="4" name="COD header"/>
          <p:cNvSpPr txBox="1"/>
          <p:nvPr/>
        </p:nvSpPr>
        <p:spPr>
          <a:xfrm>
            <a:off x="320040" y="1554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New Capacity by Online Date (GW)</a:t>
            </a:r>
            <a:endParaRPr lang="en-US" sz="1600" dirty="0"/>
          </a:p>
        </p:txBody>
      </p:sp>
      <p:sp>
        <p:nvSpPr>
          <p:cNvPr id="5" name="COD header rule"/>
          <p:cNvSpPr/>
          <p:nvPr/>
        </p:nvSpPr>
        <p:spPr>
          <a:xfrm>
            <a:off x="320040" y="1975104"/>
            <a:ext cx="457200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D chart" descr=""/>
          <p:cNvGraphicFramePr/>
          <p:nvPr/>
        </p:nvGraphicFramePr>
        <p:xfrm>
          <a:off x="320040" y="2103120"/>
          <a:ext cx="45720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Late share callout"/>
          <p:cNvSpPr/>
          <p:nvPr/>
        </p:nvSpPr>
        <p:spPr>
          <a:xfrm>
            <a:off x="2331720" y="2103120"/>
            <a:ext cx="960120" cy="96012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57%</a:t>
            </a:r>
            <a:endParaRPr lang="en-US" sz="2200" dirty="0"/>
          </a:p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2029 or later</a:t>
            </a:r>
            <a:endParaRPr lang="en-US" sz="2200" dirty="0"/>
          </a:p>
        </p:txBody>
      </p:sp>
      <p:sp>
        <p:nvSpPr>
          <p:cNvPr id="8" name="Bridge header"/>
          <p:cNvSpPr txBox="1"/>
          <p:nvPr/>
        </p:nvSpPr>
        <p:spPr>
          <a:xfrm>
            <a:off x="5212080" y="155448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Bridge</a:t>
            </a:r>
            <a:endParaRPr lang="en-US" sz="1600" dirty="0"/>
          </a:p>
        </p:txBody>
      </p:sp>
      <p:sp>
        <p:nvSpPr>
          <p:cNvPr id="9" name="Bridge header rule"/>
          <p:cNvSpPr/>
          <p:nvPr/>
        </p:nvSpPr>
        <p:spPr>
          <a:xfrm>
            <a:off x="5212080" y="1975104"/>
            <a:ext cx="36118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Bridge step 1"/>
          <p:cNvSpPr txBox="1"/>
          <p:nvPr/>
        </p:nvSpPr>
        <p:spPr>
          <a:xfrm>
            <a:off x="5212080" y="2148840"/>
            <a:ext cx="3611880" cy="80467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Today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GPUs bought, data center shells built</a:t>
            </a:r>
            <a:endParaRPr lang="en-US" sz="1600" dirty="0"/>
          </a:p>
        </p:txBody>
      </p:sp>
      <p:sp>
        <p:nvSpPr>
          <p:cNvPr id="11" name="Bridge arrow 1"/>
          <p:cNvSpPr/>
          <p:nvPr/>
        </p:nvSpPr>
        <p:spPr>
          <a:xfrm>
            <a:off x="6830568" y="2971800"/>
            <a:ext cx="365760" cy="182880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2" name="Bridge step 2"/>
          <p:cNvSpPr txBox="1"/>
          <p:nvPr/>
        </p:nvSpPr>
        <p:spPr>
          <a:xfrm>
            <a:off x="5212080" y="3172968"/>
            <a:ext cx="3611880" cy="80467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2026–2029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FTAI's mobile turbines power the site</a:t>
            </a:r>
            <a:endParaRPr lang="en-US" sz="1600" dirty="0"/>
          </a:p>
        </p:txBody>
      </p:sp>
      <p:sp>
        <p:nvSpPr>
          <p:cNvPr id="13" name="Bridge arrow 2"/>
          <p:cNvSpPr/>
          <p:nvPr/>
        </p:nvSpPr>
        <p:spPr>
          <a:xfrm>
            <a:off x="6830568" y="3995928"/>
            <a:ext cx="365760" cy="182880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4" name="Bridge step 3"/>
          <p:cNvSpPr txBox="1"/>
          <p:nvPr/>
        </p:nvSpPr>
        <p:spPr>
          <a:xfrm>
            <a:off x="5212080" y="4197096"/>
            <a:ext cx="3611880" cy="80467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2029+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Grid connections and new plants arrive</a:t>
            </a:r>
            <a:endParaRPr lang="en-US" sz="1600" dirty="0"/>
          </a:p>
        </p:txBody>
      </p:sp>
      <p:sp>
        <p:nvSpPr>
          <p:cNvPr id="15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Data centers built today need power now. Transitory units like FTAI's fill the gap.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announcements (45 hyperscaler power deals, new and restarted capacity)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(3/4)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Power is a small slice of a data center's cost, and new turbines are sold out. FTAI has pricing power.</a:t>
            </a:r>
            <a:endParaRPr lang="en-US" sz="1700" dirty="0"/>
          </a:p>
        </p:txBody>
      </p:sp>
      <p:sp>
        <p:nvSpPr>
          <p:cNvPr id="4" name="Cost header"/>
          <p:cNvSpPr txBox="1"/>
          <p:nvPr/>
        </p:nvSpPr>
        <p:spPr>
          <a:xfrm>
            <a:off x="320040" y="15544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Cost to Build 100 MW ($M)</a:t>
            </a:r>
            <a:endParaRPr lang="en-US" sz="1600" dirty="0"/>
          </a:p>
        </p:txBody>
      </p:sp>
      <p:sp>
        <p:nvSpPr>
          <p:cNvPr id="5" name="Cost header rule"/>
          <p:cNvSpPr/>
          <p:nvPr/>
        </p:nvSpPr>
        <p:spPr>
          <a:xfrm>
            <a:off x="320040" y="1975104"/>
            <a:ext cx="393192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Build cost label 1"/>
          <p:cNvSpPr txBox="1"/>
          <p:nvPr/>
        </p:nvSpPr>
        <p:spPr>
          <a:xfrm>
            <a:off x="320040" y="2240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Data center facility</a:t>
            </a:r>
            <a:endParaRPr lang="en-US" sz="1200" dirty="0"/>
          </a:p>
        </p:txBody>
      </p:sp>
      <p:sp>
        <p:nvSpPr>
          <p:cNvPr id="7" name="Build cost bar 1"/>
          <p:cNvSpPr/>
          <p:nvPr/>
        </p:nvSpPr>
        <p:spPr>
          <a:xfrm>
            <a:off x="2240280" y="2240280"/>
            <a:ext cx="1371600" cy="548640"/>
          </a:xfrm>
          <a:prstGeom prst="rect">
            <a:avLst/>
          </a:prstGeom>
          <a:solidFill>
            <a:srgbClr val="2E93AE"/>
          </a:solidFill>
          <a:ln/>
        </p:spPr>
      </p:sp>
      <p:sp>
        <p:nvSpPr>
          <p:cNvPr id="8" name="Build cost value 1"/>
          <p:cNvSpPr txBox="1"/>
          <p:nvPr/>
        </p:nvSpPr>
        <p:spPr>
          <a:xfrm>
            <a:off x="3685032" y="22402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$1,200M</a:t>
            </a:r>
            <a:endParaRPr lang="en-US" sz="1300" dirty="0"/>
          </a:p>
        </p:txBody>
      </p:sp>
      <p:sp>
        <p:nvSpPr>
          <p:cNvPr id="9" name="Build cost label 2"/>
          <p:cNvSpPr txBox="1"/>
          <p:nvPr/>
        </p:nvSpPr>
        <p:spPr>
          <a:xfrm>
            <a:off x="320040" y="3017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FTAI turbines (6 units)</a:t>
            </a:r>
            <a:endParaRPr lang="en-US" sz="1200" dirty="0"/>
          </a:p>
        </p:txBody>
      </p:sp>
      <p:sp>
        <p:nvSpPr>
          <p:cNvPr id="10" name="Build cost bar 2"/>
          <p:cNvSpPr/>
          <p:nvPr/>
        </p:nvSpPr>
        <p:spPr>
          <a:xfrm>
            <a:off x="2240280" y="3017520"/>
            <a:ext cx="171450" cy="548640"/>
          </a:xfrm>
          <a:prstGeom prst="rect">
            <a:avLst/>
          </a:prstGeom>
          <a:solidFill>
            <a:srgbClr val="0A1C58"/>
          </a:solidFill>
          <a:ln/>
        </p:spPr>
      </p:sp>
      <p:sp>
        <p:nvSpPr>
          <p:cNvPr id="11" name="Build cost value 2"/>
          <p:cNvSpPr txBox="1"/>
          <p:nvPr/>
        </p:nvSpPr>
        <p:spPr>
          <a:xfrm>
            <a:off x="2484882" y="30175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$150M</a:t>
            </a:r>
            <a:endParaRPr lang="en-US" sz="1300" dirty="0"/>
          </a:p>
        </p:txBody>
      </p:sp>
      <p:sp>
        <p:nvSpPr>
          <p:cNvPr id="12" name="Cost takeaway"/>
          <p:cNvSpPr txBox="1"/>
          <p:nvPr/>
        </p:nvSpPr>
        <p:spPr>
          <a:xfrm>
            <a:off x="320040" y="3931920"/>
            <a:ext cx="3931920" cy="13258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~13%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of the build cost, with 50% spare units for reliability, before counting the GPUs inside.</a:t>
            </a:r>
            <a:endParaRPr lang="en-US" sz="2600" dirty="0"/>
          </a:p>
        </p:txBody>
      </p:sp>
      <p:sp>
        <p:nvSpPr>
          <p:cNvPr id="13" name="Lead time header"/>
          <p:cNvSpPr txBox="1"/>
          <p:nvPr/>
        </p:nvSpPr>
        <p:spPr>
          <a:xfrm>
            <a:off x="4572000" y="155448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When New Turbines Can Arrive</a:t>
            </a:r>
            <a:endParaRPr lang="en-US" sz="1600" dirty="0"/>
          </a:p>
        </p:txBody>
      </p:sp>
      <p:sp>
        <p:nvSpPr>
          <p:cNvPr id="14" name="Lead time header rule"/>
          <p:cNvSpPr/>
          <p:nvPr/>
        </p:nvSpPr>
        <p:spPr>
          <a:xfrm>
            <a:off x="4572000" y="1975104"/>
            <a:ext cx="425196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5" name="Year grid 2026"/>
          <p:cNvSpPr/>
          <p:nvPr/>
        </p:nvSpPr>
        <p:spPr>
          <a:xfrm>
            <a:off x="6172200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6" name="Year tick 2026"/>
          <p:cNvSpPr txBox="1"/>
          <p:nvPr/>
        </p:nvSpPr>
        <p:spPr>
          <a:xfrm>
            <a:off x="5897880" y="46177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2026</a:t>
            </a:r>
            <a:endParaRPr lang="en-US" sz="1000" dirty="0"/>
          </a:p>
        </p:txBody>
      </p:sp>
      <p:sp>
        <p:nvSpPr>
          <p:cNvPr id="17" name="Year grid 2028"/>
          <p:cNvSpPr/>
          <p:nvPr/>
        </p:nvSpPr>
        <p:spPr>
          <a:xfrm>
            <a:off x="7214616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8" name="Year tick 2028"/>
          <p:cNvSpPr txBox="1"/>
          <p:nvPr/>
        </p:nvSpPr>
        <p:spPr>
          <a:xfrm>
            <a:off x="6940296" y="46177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2028</a:t>
            </a:r>
            <a:endParaRPr lang="en-US" sz="1000" dirty="0"/>
          </a:p>
        </p:txBody>
      </p:sp>
      <p:sp>
        <p:nvSpPr>
          <p:cNvPr id="19" name="Year grid 2030"/>
          <p:cNvSpPr/>
          <p:nvPr/>
        </p:nvSpPr>
        <p:spPr>
          <a:xfrm>
            <a:off x="8257032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20" name="Year tick 2030"/>
          <p:cNvSpPr txBox="1"/>
          <p:nvPr/>
        </p:nvSpPr>
        <p:spPr>
          <a:xfrm>
            <a:off x="7982712" y="46177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2030</a:t>
            </a:r>
            <a:endParaRPr lang="en-US" sz="1000" dirty="0"/>
          </a:p>
        </p:txBody>
      </p:sp>
      <p:sp>
        <p:nvSpPr>
          <p:cNvPr id="21" name="Lane 1 label"/>
          <p:cNvSpPr txBox="1"/>
          <p:nvPr/>
        </p:nvSpPr>
        <p:spPr>
          <a:xfrm>
            <a:off x="4572000" y="228600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FTAI Mod-1</a:t>
            </a:r>
            <a:endParaRPr lang="en-US" sz="1200" dirty="0"/>
          </a:p>
        </p:txBody>
      </p:sp>
      <p:sp>
        <p:nvSpPr>
          <p:cNvPr id="22" name="Lane 1 bar"/>
          <p:cNvSpPr/>
          <p:nvPr/>
        </p:nvSpPr>
        <p:spPr>
          <a:xfrm>
            <a:off x="6589166" y="2359152"/>
            <a:ext cx="625450" cy="365760"/>
          </a:xfrm>
          <a:prstGeom prst="roundRect">
            <a:avLst>
              <a:gd name="adj" fmla="val 20000"/>
            </a:avLst>
          </a:prstGeom>
          <a:solidFill>
            <a:srgbClr val="0A1C58"/>
          </a:solidFill>
          <a:ln/>
        </p:spPr>
      </p:sp>
      <p:sp>
        <p:nvSpPr>
          <p:cNvPr id="23" name="Lane 2 label"/>
          <p:cNvSpPr txBox="1"/>
          <p:nvPr/>
        </p:nvSpPr>
        <p:spPr>
          <a:xfrm>
            <a:off x="4572000" y="306324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aero orders</a:t>
            </a:r>
            <a:endParaRPr lang="en-US" sz="1200" dirty="0"/>
          </a:p>
        </p:txBody>
      </p:sp>
      <p:sp>
        <p:nvSpPr>
          <p:cNvPr id="24" name="Lane 2 bar"/>
          <p:cNvSpPr/>
          <p:nvPr/>
        </p:nvSpPr>
        <p:spPr>
          <a:xfrm>
            <a:off x="7214616" y="3136392"/>
            <a:ext cx="1511503" cy="365760"/>
          </a:xfrm>
          <a:prstGeom prst="roundRect">
            <a:avLst>
              <a:gd name="adj" fmla="val 20000"/>
            </a:avLst>
          </a:prstGeom>
          <a:solidFill>
            <a:srgbClr val="2E93AE"/>
          </a:solidFill>
          <a:ln/>
        </p:spPr>
      </p:sp>
      <p:sp>
        <p:nvSpPr>
          <p:cNvPr id="25" name="Lane 3 label"/>
          <p:cNvSpPr txBox="1"/>
          <p:nvPr/>
        </p:nvSpPr>
        <p:spPr>
          <a:xfrm>
            <a:off x="4572000" y="384048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large turbines</a:t>
            </a:r>
            <a:endParaRPr lang="en-US" sz="1200" dirty="0"/>
          </a:p>
        </p:txBody>
      </p:sp>
      <p:sp>
        <p:nvSpPr>
          <p:cNvPr id="26" name="Lane 3 bar"/>
          <p:cNvSpPr/>
          <p:nvPr/>
        </p:nvSpPr>
        <p:spPr>
          <a:xfrm>
            <a:off x="7735824" y="3913632"/>
            <a:ext cx="1042416" cy="365760"/>
          </a:xfrm>
          <a:prstGeom prst="roundRect">
            <a:avLst>
              <a:gd name="adj" fmla="val 20000"/>
            </a:avLst>
          </a:prstGeom>
          <a:solidFill>
            <a:srgbClr val="2E93AE"/>
          </a:solidFill>
          <a:ln/>
        </p:spPr>
      </p:sp>
      <p:sp>
        <p:nvSpPr>
          <p:cNvPr id="27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Idle data centers cost far more than power. FTAI delivers years before the competition.</a:t>
            </a:r>
            <a:endParaRPr lang="en-US" sz="1700" dirty="0"/>
          </a:p>
        </p:txBody>
      </p:sp>
      <p:sp>
        <p:nvSpPr>
          <p:cNvPr id="28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CNBC (Jun-26); Tom's Hardware (Oct-25); FTAI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(4/4)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Each new contract the size of FTAI's first adds ~20 points to your return.</a:t>
            </a:r>
            <a:endParaRPr lang="en-US" sz="1700" dirty="0"/>
          </a:p>
        </p:txBody>
      </p:sp>
      <p:sp>
        <p:nvSpPr>
          <p:cNvPr id="4" name="Scenario header"/>
          <p:cNvSpPr txBox="1"/>
          <p:nvPr/>
        </p:nvSpPr>
        <p:spPr>
          <a:xfrm>
            <a:off x="320040" y="155448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Scenario Build (FY27E)</a:t>
            </a:r>
            <a:endParaRPr lang="en-US" sz="1600" dirty="0"/>
          </a:p>
        </p:txBody>
      </p:sp>
      <p:sp>
        <p:nvSpPr>
          <p:cNvPr id="5" name="Scenario header rule"/>
          <p:cNvSpPr/>
          <p:nvPr/>
        </p:nvSpPr>
        <p:spPr>
          <a:xfrm>
            <a:off x="320040" y="1975104"/>
            <a:ext cx="342900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Units col"/>
          <p:cNvSpPr txBox="1"/>
          <p:nvPr/>
        </p:nvSpPr>
        <p:spPr>
          <a:xfrm>
            <a:off x="1691640" y="202996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Units</a:t>
            </a:r>
            <a:endParaRPr lang="en-US" sz="1100" dirty="0"/>
          </a:p>
        </p:txBody>
      </p:sp>
      <p:sp>
        <p:nvSpPr>
          <p:cNvPr id="7" name="EBITDA col"/>
          <p:cNvSpPr txBox="1"/>
          <p:nvPr/>
        </p:nvSpPr>
        <p:spPr>
          <a:xfrm>
            <a:off x="2697480" y="202996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EBITDA</a:t>
            </a:r>
            <a:endParaRPr lang="en-US" sz="1100" dirty="0"/>
          </a:p>
        </p:txBody>
      </p:sp>
      <p:sp>
        <p:nvSpPr>
          <p:cNvPr id="8" name="Scenario 1 name"/>
          <p:cNvSpPr txBox="1"/>
          <p:nvPr/>
        </p:nvSpPr>
        <p:spPr>
          <a:xfrm>
            <a:off x="320040" y="2304288"/>
            <a:ext cx="1325880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Signed order</a:t>
            </a:r>
            <a:endParaRPr lang="en-US" sz="1400" dirty="0"/>
          </a:p>
        </p:txBody>
      </p:sp>
      <p:sp>
        <p:nvSpPr>
          <p:cNvPr id="9" name="Scenario 1 units"/>
          <p:cNvSpPr txBox="1"/>
          <p:nvPr/>
        </p:nvSpPr>
        <p:spPr>
          <a:xfrm>
            <a:off x="1691640" y="2304288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~50</a:t>
            </a:r>
            <a:endParaRPr lang="en-US" sz="1400" dirty="0"/>
          </a:p>
        </p:txBody>
      </p:sp>
      <p:sp>
        <p:nvSpPr>
          <p:cNvPr id="10" name="Scenario 1 EBITDA"/>
          <p:cNvSpPr txBox="1"/>
          <p:nvPr/>
        </p:nvSpPr>
        <p:spPr>
          <a:xfrm>
            <a:off x="2697480" y="2304288"/>
            <a:ext cx="1051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$450M</a:t>
            </a:r>
            <a:endParaRPr lang="en-US" sz="1600" dirty="0"/>
          </a:p>
        </p:txBody>
      </p:sp>
      <p:sp>
        <p:nvSpPr>
          <p:cNvPr id="11" name="Scenario 2 name"/>
          <p:cNvSpPr txBox="1"/>
          <p:nvPr/>
        </p:nvSpPr>
        <p:spPr>
          <a:xfrm>
            <a:off x="320040" y="3172968"/>
            <a:ext cx="1325880" cy="713232"/>
          </a:xfrm>
          <a:prstGeom prst="rect">
            <a:avLst/>
          </a:prstGeom>
          <a:solidFill>
            <a:srgbClr val="2E93A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+1 contract</a:t>
            </a:r>
            <a:endParaRPr lang="en-US" sz="1400" dirty="0"/>
          </a:p>
        </p:txBody>
      </p:sp>
      <p:sp>
        <p:nvSpPr>
          <p:cNvPr id="12" name="Scenario 2 units"/>
          <p:cNvSpPr txBox="1"/>
          <p:nvPr/>
        </p:nvSpPr>
        <p:spPr>
          <a:xfrm>
            <a:off x="1691640" y="3172968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~90</a:t>
            </a:r>
            <a:endParaRPr lang="en-US" sz="1400" dirty="0"/>
          </a:p>
        </p:txBody>
      </p:sp>
      <p:sp>
        <p:nvSpPr>
          <p:cNvPr id="13" name="Scenario 2 EBITDA"/>
          <p:cNvSpPr txBox="1"/>
          <p:nvPr/>
        </p:nvSpPr>
        <p:spPr>
          <a:xfrm>
            <a:off x="2697480" y="3172968"/>
            <a:ext cx="1051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$750M</a:t>
            </a:r>
            <a:endParaRPr lang="en-US" sz="1600" dirty="0"/>
          </a:p>
        </p:txBody>
      </p:sp>
      <p:sp>
        <p:nvSpPr>
          <p:cNvPr id="14" name="Scenario 3 name"/>
          <p:cNvSpPr txBox="1"/>
          <p:nvPr/>
        </p:nvSpPr>
        <p:spPr>
          <a:xfrm>
            <a:off x="320040" y="4041648"/>
            <a:ext cx="1325880" cy="71323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+2 contracts</a:t>
            </a:r>
            <a:endParaRPr lang="en-US" sz="1400" dirty="0"/>
          </a:p>
        </p:txBody>
      </p:sp>
      <p:sp>
        <p:nvSpPr>
          <p:cNvPr id="15" name="Scenario 3 units"/>
          <p:cNvSpPr txBox="1"/>
          <p:nvPr/>
        </p:nvSpPr>
        <p:spPr>
          <a:xfrm>
            <a:off x="1691640" y="4041648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~130</a:t>
            </a:r>
            <a:endParaRPr lang="en-US" sz="1400" dirty="0"/>
          </a:p>
        </p:txBody>
      </p:sp>
      <p:sp>
        <p:nvSpPr>
          <p:cNvPr id="16" name="Scenario 3 EBITDA"/>
          <p:cNvSpPr txBox="1"/>
          <p:nvPr/>
        </p:nvSpPr>
        <p:spPr>
          <a:xfrm>
            <a:off x="2697480" y="4041648"/>
            <a:ext cx="1051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$1,050M</a:t>
            </a:r>
            <a:endParaRPr lang="en-US" sz="1600" dirty="0"/>
          </a:p>
        </p:txBody>
      </p:sp>
      <p:sp>
        <p:nvSpPr>
          <p:cNvPr id="17" name="Return header"/>
          <p:cNvSpPr txBox="1"/>
          <p:nvPr/>
        </p:nvSpPr>
        <p:spPr>
          <a:xfrm>
            <a:off x="4069080" y="15544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Your Return</a:t>
            </a:r>
            <a:endParaRPr lang="en-US" sz="1600" dirty="0"/>
          </a:p>
        </p:txBody>
      </p:sp>
      <p:sp>
        <p:nvSpPr>
          <p:cNvPr id="18" name="Return header rule"/>
          <p:cNvSpPr/>
          <p:nvPr/>
        </p:nvSpPr>
        <p:spPr>
          <a:xfrm>
            <a:off x="4069080" y="1975104"/>
            <a:ext cx="47548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9" name="Contract return chart" descr=""/>
          <p:cNvGraphicFramePr/>
          <p:nvPr/>
        </p:nvGraphicFramePr>
        <p:xfrm>
          <a:off x="4069080" y="2103120"/>
          <a:ext cx="475488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Our base case needs no new contracts. Every one FTAI signs is upside the market isn't paying for.</a:t>
            </a:r>
            <a:endParaRPr lang="en-US" sz="1700" dirty="0"/>
          </a:p>
        </p:txBody>
      </p:sp>
      <p:sp>
        <p:nvSpPr>
          <p:cNvPr id="21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($450–750M FY27 guide); GPS estimates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You Need to Believe</a:t>
            </a:r>
            <a:endParaRPr lang="en-US" sz="3000" dirty="0"/>
          </a:p>
        </p:txBody>
      </p:sp>
      <p:sp>
        <p:nvSpPr>
          <p:cNvPr id="3" name="Belief 1 number"/>
          <p:cNvSpPr/>
          <p:nvPr/>
        </p:nvSpPr>
        <p:spPr>
          <a:xfrm>
            <a:off x="1051560" y="1170432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4" name="Belief 1"/>
          <p:cNvSpPr txBox="1"/>
          <p:nvPr/>
        </p:nvSpPr>
        <p:spPr>
          <a:xfrm>
            <a:off x="1691640" y="1097280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Margins: ~30% is the floor, and PMA parts, OEM-linked pricing and returning light work rebuild them.</a:t>
            </a:r>
            <a:endParaRPr lang="en-US" sz="1600" dirty="0"/>
          </a:p>
        </p:txBody>
      </p:sp>
      <p:sp>
        <p:nvSpPr>
          <p:cNvPr id="5" name="Belief 2 number"/>
          <p:cNvSpPr/>
          <p:nvPr/>
        </p:nvSpPr>
        <p:spPr>
          <a:xfrm>
            <a:off x="1051560" y="1883664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6" name="Belief 2"/>
          <p:cNvSpPr txBox="1"/>
          <p:nvPr/>
        </p:nvSpPr>
        <p:spPr>
          <a:xfrm>
            <a:off x="1691640" y="1810512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Share: FTAI reaches 20% of CFM56 work by FY30, at half the ~4 pts a year it has already been growing.</a:t>
            </a:r>
            <a:endParaRPr lang="en-US" sz="1600" dirty="0"/>
          </a:p>
        </p:txBody>
      </p:sp>
      <p:sp>
        <p:nvSpPr>
          <p:cNvPr id="7" name="Belief 3 number"/>
          <p:cNvSpPr/>
          <p:nvPr/>
        </p:nvSpPr>
        <p:spPr>
          <a:xfrm>
            <a:off x="1051560" y="2596896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8" name="Belief 3"/>
          <p:cNvSpPr txBox="1"/>
          <p:nvPr/>
        </p:nvSpPr>
        <p:spPr>
          <a:xfrm>
            <a:off x="1691640" y="2523744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Power: FTAI delivers the order it has already signed.</a:t>
            </a:r>
            <a:endParaRPr lang="en-US" sz="1600" dirty="0"/>
          </a:p>
        </p:txBody>
      </p:sp>
      <p:sp>
        <p:nvSpPr>
          <p:cNvPr id="9" name="Pick one"/>
          <p:cNvSpPr txBox="1"/>
          <p:nvPr/>
        </p:nvSpPr>
        <p:spPr>
          <a:xfrm>
            <a:off x="320040" y="3310128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1A"/>
                </a:solidFill>
              </a:rPr>
              <a:t>Or… just pick one:</a:t>
            </a:r>
            <a:endParaRPr lang="en-US" sz="2000" dirty="0"/>
          </a:p>
        </p:txBody>
      </p:sp>
      <p:graphicFrame>
        <p:nvGraphicFramePr>
          <p:cNvPr id="10" name="Pick one chart" descr=""/>
          <p:cNvGraphicFramePr/>
          <p:nvPr/>
        </p:nvGraphicFramePr>
        <p:xfrm>
          <a:off x="2331720" y="3703320"/>
          <a:ext cx="448056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Left assumption box"/>
          <p:cNvSpPr txBox="1"/>
          <p:nvPr/>
        </p:nvSpPr>
        <p:spPr>
          <a:xfrm>
            <a:off x="320040" y="4251960"/>
            <a:ext cx="1828800" cy="960120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Each bar holds the other side at our bear case</a:t>
            </a:r>
            <a:endParaRPr lang="en-US" sz="1200" dirty="0"/>
          </a:p>
        </p:txBody>
      </p:sp>
      <p:sp>
        <p:nvSpPr>
          <p:cNvPr id="12" name="Right assumption box"/>
          <p:cNvSpPr txBox="1"/>
          <p:nvPr/>
        </p:nvSpPr>
        <p:spPr>
          <a:xfrm>
            <a:off x="6995160" y="4251960"/>
            <a:ext cx="1828800" cy="960120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All three:</a:t>
            </a:r>
            <a:endParaRPr lang="en-US" sz="13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+66%</a:t>
            </a:r>
            <a:endParaRPr lang="en-US" sz="1300" dirty="0"/>
          </a:p>
        </p:txBody>
      </p:sp>
      <p:sp>
        <p:nvSpPr>
          <p:cNvPr id="13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 at base multiples; share history per GPS analysis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Valuation: Sum of the Parts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At $167 the market prices our bear case. Each thesis builds from there to $277.</a:t>
            </a:r>
            <a:endParaRPr lang="en-US" sz="1700" dirty="0"/>
          </a:p>
        </p:txBody>
      </p:sp>
      <p:sp>
        <p:nvSpPr>
          <p:cNvPr id="4" name="Waterfall header"/>
          <p:cNvSpPr txBox="1"/>
          <p:nvPr/>
        </p:nvSpPr>
        <p:spPr>
          <a:xfrm>
            <a:off x="320040" y="1554480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From Today to Our Base Case ($ / Share)</a:t>
            </a:r>
            <a:endParaRPr lang="en-US" sz="1600" dirty="0"/>
          </a:p>
        </p:txBody>
      </p:sp>
      <p:sp>
        <p:nvSpPr>
          <p:cNvPr id="5" name="Waterfall header rule"/>
          <p:cNvSpPr/>
          <p:nvPr/>
        </p:nvSpPr>
        <p:spPr>
          <a:xfrm>
            <a:off x="320040" y="1975104"/>
            <a:ext cx="571500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Thesis waterfall" descr=""/>
          <p:cNvGraphicFramePr/>
          <p:nvPr/>
        </p:nvGraphicFramePr>
        <p:xfrm>
          <a:off x="320040" y="2103120"/>
          <a:ext cx="571500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Waterfall label 1"/>
          <p:cNvSpPr txBox="1"/>
          <p:nvPr/>
        </p:nvSpPr>
        <p:spPr>
          <a:xfrm>
            <a:off x="475488" y="295693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$167</a:t>
            </a:r>
            <a:endParaRPr lang="en-US" sz="1300" dirty="0"/>
          </a:p>
        </p:txBody>
      </p:sp>
      <p:sp>
        <p:nvSpPr>
          <p:cNvPr id="8" name="Waterfall label 2"/>
          <p:cNvSpPr txBox="1"/>
          <p:nvPr/>
        </p:nvSpPr>
        <p:spPr>
          <a:xfrm>
            <a:off x="1389888" y="2917593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+$5</a:t>
            </a:r>
            <a:endParaRPr lang="en-US" sz="1300" dirty="0"/>
          </a:p>
        </p:txBody>
      </p:sp>
      <p:sp>
        <p:nvSpPr>
          <p:cNvPr id="9" name="Waterfall label 3"/>
          <p:cNvSpPr txBox="1"/>
          <p:nvPr/>
        </p:nvSpPr>
        <p:spPr>
          <a:xfrm>
            <a:off x="2304288" y="2781109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+$17</a:t>
            </a:r>
            <a:endParaRPr lang="en-US" sz="1300" dirty="0"/>
          </a:p>
        </p:txBody>
      </p:sp>
      <p:sp>
        <p:nvSpPr>
          <p:cNvPr id="10" name="Waterfall label 4"/>
          <p:cNvSpPr txBox="1"/>
          <p:nvPr/>
        </p:nvSpPr>
        <p:spPr>
          <a:xfrm>
            <a:off x="3218688" y="2518579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+$33</a:t>
            </a:r>
            <a:endParaRPr lang="en-US" sz="1300" dirty="0"/>
          </a:p>
        </p:txBody>
      </p:sp>
      <p:sp>
        <p:nvSpPr>
          <p:cNvPr id="11" name="Waterfall label 5"/>
          <p:cNvSpPr txBox="1"/>
          <p:nvPr/>
        </p:nvSpPr>
        <p:spPr>
          <a:xfrm>
            <a:off x="4133088" y="2076213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+$55</a:t>
            </a:r>
            <a:endParaRPr lang="en-US" sz="1300" dirty="0"/>
          </a:p>
        </p:txBody>
      </p:sp>
      <p:sp>
        <p:nvSpPr>
          <p:cNvPr id="12" name="Waterfall label 6"/>
          <p:cNvSpPr txBox="1"/>
          <p:nvPr/>
        </p:nvSpPr>
        <p:spPr>
          <a:xfrm>
            <a:off x="5047488" y="207701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E6E25"/>
                </a:solidFill>
              </a:rPr>
              <a:t>$277</a:t>
            </a:r>
            <a:endParaRPr lang="en-US" sz="1300" dirty="0"/>
          </a:p>
        </p:txBody>
      </p:sp>
      <p:sp>
        <p:nvSpPr>
          <p:cNvPr id="13" name="Means header"/>
          <p:cNvSpPr txBox="1"/>
          <p:nvPr/>
        </p:nvSpPr>
        <p:spPr>
          <a:xfrm>
            <a:off x="6309360" y="15544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</a:t>
            </a:r>
            <a:endParaRPr lang="en-US" sz="1600" dirty="0"/>
          </a:p>
        </p:txBody>
      </p:sp>
      <p:sp>
        <p:nvSpPr>
          <p:cNvPr id="14" name="Means header rule"/>
          <p:cNvSpPr/>
          <p:nvPr/>
        </p:nvSpPr>
        <p:spPr>
          <a:xfrm>
            <a:off x="6309360" y="1975104"/>
            <a:ext cx="251460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5" name="Means stat 1"/>
          <p:cNvSpPr txBox="1"/>
          <p:nvPr/>
        </p:nvSpPr>
        <p:spPr>
          <a:xfrm>
            <a:off x="6309360" y="210312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+66%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upside to our $277 base case</a:t>
            </a:r>
            <a:endParaRPr lang="en-US" sz="2800" dirty="0"/>
          </a:p>
        </p:txBody>
      </p:sp>
      <p:sp>
        <p:nvSpPr>
          <p:cNvPr id="16" name="Means stat 2"/>
          <p:cNvSpPr txBox="1"/>
          <p:nvPr/>
        </p:nvSpPr>
        <p:spPr>
          <a:xfrm>
            <a:off x="6309360" y="310896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$50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from the aviation theses: margins and share</a:t>
            </a:r>
            <a:endParaRPr lang="en-US" sz="2800" dirty="0"/>
          </a:p>
        </p:txBody>
      </p:sp>
      <p:sp>
        <p:nvSpPr>
          <p:cNvPr id="17" name="Means stat 3"/>
          <p:cNvSpPr txBox="1"/>
          <p:nvPr/>
        </p:nvSpPr>
        <p:spPr>
          <a:xfrm>
            <a:off x="6309360" y="411480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$55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from Power, on just the signed order</a:t>
            </a:r>
            <a:endParaRPr lang="en-US" sz="2800" dirty="0"/>
          </a:p>
        </p:txBody>
      </p:sp>
      <p:sp>
        <p:nvSpPr>
          <p:cNvPr id="18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Get the aviation theses right and you make 33%. Power on just the signed order takes it to 66%.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 (Aerospace 16x, Power 12x, Leasing + SCI 9x); price $167.03 (10/2/26)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Catalysts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Three catalysts over the next 12–15 months, one for each thesis.</a:t>
            </a:r>
            <a:endParaRPr lang="en-US" sz="1700" dirty="0"/>
          </a:p>
        </p:txBody>
      </p:sp>
      <p:sp>
        <p:nvSpPr>
          <p:cNvPr id="4" name="Timeline arrow"/>
          <p:cNvSpPr/>
          <p:nvPr/>
        </p:nvSpPr>
        <p:spPr>
          <a:xfrm>
            <a:off x="4315968" y="1554480"/>
            <a:ext cx="512064" cy="3840480"/>
          </a:xfrm>
          <a:prstGeom prst="downArrow">
            <a:avLst/>
          </a:prstGeom>
          <a:solidFill>
            <a:srgbClr val="0A1C58"/>
          </a:solidFill>
          <a:ln/>
        </p:spPr>
      </p:sp>
      <p:sp>
        <p:nvSpPr>
          <p:cNvPr id="5" name="Catalyst 1 band"/>
          <p:cNvSpPr/>
          <p:nvPr/>
        </p:nvSpPr>
        <p:spPr>
          <a:xfrm>
            <a:off x="320040" y="1691640"/>
            <a:ext cx="8503920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6" name="Catalyst 1 head"/>
          <p:cNvSpPr txBox="1"/>
          <p:nvPr/>
        </p:nvSpPr>
        <p:spPr>
          <a:xfrm>
            <a:off x="457200" y="1691640"/>
            <a:ext cx="32004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Two quarters of stable margins</a:t>
            </a:r>
            <a:endParaRPr lang="en-US" sz="1500" dirty="0"/>
          </a:p>
        </p:txBody>
      </p:sp>
      <p:sp>
        <p:nvSpPr>
          <p:cNvPr id="7" name="Catalyst 1 date"/>
          <p:cNvSpPr txBox="1"/>
          <p:nvPr/>
        </p:nvSpPr>
        <p:spPr>
          <a:xfrm>
            <a:off x="3794760" y="1865376"/>
            <a:ext cx="1554480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Q3 &amp; Q4 '26 prints</a:t>
            </a:r>
            <a:endParaRPr lang="en-US" sz="1500" dirty="0"/>
          </a:p>
        </p:txBody>
      </p:sp>
      <p:sp>
        <p:nvSpPr>
          <p:cNvPr id="8" name="Catalyst 1 watch"/>
          <p:cNvSpPr txBox="1"/>
          <p:nvPr/>
        </p:nvSpPr>
        <p:spPr>
          <a:xfrm>
            <a:off x="5486400" y="1691640"/>
            <a:ext cx="32004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Aerospace margins hold at ~30% or better, plus early PMA usage commentary on the Q3 call (late Oct.)</a:t>
            </a:r>
            <a:endParaRPr lang="en-US" sz="1200" dirty="0"/>
          </a:p>
        </p:txBody>
      </p:sp>
      <p:sp>
        <p:nvSpPr>
          <p:cNvPr id="9" name="Catalyst 2 band"/>
          <p:cNvSpPr/>
          <p:nvPr/>
        </p:nvSpPr>
        <p:spPr>
          <a:xfrm>
            <a:off x="320040" y="2907792"/>
            <a:ext cx="8503920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0" name="Catalyst 2 head"/>
          <p:cNvSpPr txBox="1"/>
          <p:nvPr/>
        </p:nvSpPr>
        <p:spPr>
          <a:xfrm>
            <a:off x="457200" y="2907792"/>
            <a:ext cx="32004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New facilities ramp up</a:t>
            </a:r>
            <a:endParaRPr lang="en-US" sz="1500" dirty="0"/>
          </a:p>
        </p:txBody>
      </p:sp>
      <p:sp>
        <p:nvSpPr>
          <p:cNvPr id="11" name="Catalyst 2 date"/>
          <p:cNvSpPr txBox="1"/>
          <p:nvPr/>
        </p:nvSpPr>
        <p:spPr>
          <a:xfrm>
            <a:off x="3794760" y="3081528"/>
            <a:ext cx="1554480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1H '27</a:t>
            </a:r>
            <a:endParaRPr lang="en-US" sz="1500" dirty="0"/>
          </a:p>
        </p:txBody>
      </p:sp>
      <p:sp>
        <p:nvSpPr>
          <p:cNvPr id="12" name="Catalyst 2 watch"/>
          <p:cNvSpPr txBox="1"/>
          <p:nvPr/>
        </p:nvSpPr>
        <p:spPr>
          <a:xfrm>
            <a:off x="5486400" y="2907792"/>
            <a:ext cx="32004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Jakarta, Cairo and Lisbon come online, putting FTAI on track for its 1,700-module target</a:t>
            </a:r>
            <a:endParaRPr lang="en-US" sz="1200" dirty="0"/>
          </a:p>
        </p:txBody>
      </p:sp>
      <p:sp>
        <p:nvSpPr>
          <p:cNvPr id="13" name="Catalyst 3 band"/>
          <p:cNvSpPr/>
          <p:nvPr/>
        </p:nvSpPr>
        <p:spPr>
          <a:xfrm>
            <a:off x="320040" y="4123944"/>
            <a:ext cx="8503920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4" name="Catalyst 3 head"/>
          <p:cNvSpPr txBox="1"/>
          <p:nvPr/>
        </p:nvSpPr>
        <p:spPr>
          <a:xfrm>
            <a:off x="457200" y="4123944"/>
            <a:ext cx="32004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Power units deliver, or a new contract</a:t>
            </a:r>
            <a:endParaRPr lang="en-US" sz="1500" dirty="0"/>
          </a:p>
        </p:txBody>
      </p:sp>
      <p:sp>
        <p:nvSpPr>
          <p:cNvPr id="15" name="Catalyst 3 date"/>
          <p:cNvSpPr txBox="1"/>
          <p:nvPr/>
        </p:nvSpPr>
        <p:spPr>
          <a:xfrm>
            <a:off x="3794760" y="4297680"/>
            <a:ext cx="1554480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2H '27</a:t>
            </a:r>
            <a:endParaRPr lang="en-US" sz="1500" dirty="0"/>
          </a:p>
        </p:txBody>
      </p:sp>
      <p:sp>
        <p:nvSpPr>
          <p:cNvPr id="16" name="Catalyst 3 watch"/>
          <p:cNvSpPr txBox="1"/>
          <p:nvPr/>
        </p:nvSpPr>
        <p:spPr>
          <a:xfrm>
            <a:off x="5486400" y="4123944"/>
            <a:ext cx="32004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Mod-1 deliveries on schedule, or a follow-on order that pushes FY27 Power EBITDA toward $750M</a:t>
            </a:r>
            <a:endParaRPr lang="en-US" sz="1200" dirty="0"/>
          </a:p>
        </p:txBody>
      </p:sp>
      <p:sp>
        <p:nvSpPr>
          <p:cNvPr id="17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Each catalyst tests one thesis directly, and all three land by the end of 2027.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and Q2'26 supplement (1,700-module 2027 target; FY27 Power guide $450–750M); GPS analysis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Risks / Mitigants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The risks are real, but each is either priced in or being closed.</a:t>
            </a:r>
            <a:endParaRPr lang="en-US" sz="1700" dirty="0"/>
          </a:p>
        </p:txBody>
      </p:sp>
      <p:sp>
        <p:nvSpPr>
          <p:cNvPr id="4" name="Risk 1 number"/>
          <p:cNvSpPr/>
          <p:nvPr/>
        </p:nvSpPr>
        <p:spPr>
          <a:xfrm>
            <a:off x="320040" y="1527048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Risk 1 head"/>
          <p:cNvSpPr txBox="1"/>
          <p:nvPr/>
        </p:nvSpPr>
        <p:spPr>
          <a:xfrm>
            <a:off x="868680" y="1600200"/>
            <a:ext cx="3154680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Locked Out of LEAP</a:t>
            </a:r>
            <a:endParaRPr lang="en-US" sz="1500" dirty="0"/>
          </a:p>
        </p:txBody>
      </p:sp>
      <p:sp>
        <p:nvSpPr>
          <p:cNvPr id="6" name="Risk 1 detail"/>
          <p:cNvSpPr txBox="1"/>
          <p:nvPr/>
        </p:nvSpPr>
        <p:spPr>
          <a:xfrm>
            <a:off x="868680" y="1984248"/>
            <a:ext cx="3154680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CFM keeps LEAP work in-house through service contracts and licenses.</a:t>
            </a:r>
            <a:endParaRPr lang="en-US" sz="1200" dirty="0"/>
          </a:p>
        </p:txBody>
      </p:sp>
      <p:sp>
        <p:nvSpPr>
          <p:cNvPr id="7" name="Risk 1 mitigants"/>
          <p:cNvSpPr/>
          <p:nvPr/>
        </p:nvSpPr>
        <p:spPr>
          <a:xfrm flipH="1">
            <a:off x="4206240" y="1554480"/>
            <a:ext cx="4617720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LEAP visits ~3x by 2030; 5,000+ a year by 2040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GE is doubling LEAP capacity, yet IATA says it won't be enough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Third parties: 10% → ~30% of LEAP visits by 2030</a:t>
            </a:r>
            <a:endParaRPr lang="en-US" sz="1100" dirty="0"/>
          </a:p>
        </p:txBody>
      </p:sp>
      <p:sp>
        <p:nvSpPr>
          <p:cNvPr id="8" name="Risk 2 number"/>
          <p:cNvSpPr/>
          <p:nvPr/>
        </p:nvSpPr>
        <p:spPr>
          <a:xfrm>
            <a:off x="320040" y="2825496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Risk 2 head"/>
          <p:cNvSpPr txBox="1"/>
          <p:nvPr/>
        </p:nvSpPr>
        <p:spPr>
          <a:xfrm>
            <a:off x="868680" y="2898648"/>
            <a:ext cx="3154680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Short-Report Overhang</a:t>
            </a:r>
            <a:endParaRPr lang="en-US" sz="1500" dirty="0"/>
          </a:p>
        </p:txBody>
      </p:sp>
      <p:sp>
        <p:nvSpPr>
          <p:cNvPr id="10" name="Risk 2 detail"/>
          <p:cNvSpPr txBox="1"/>
          <p:nvPr/>
        </p:nvSpPr>
        <p:spPr>
          <a:xfrm>
            <a:off x="868680" y="3282696"/>
            <a:ext cx="3154680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The market keeps a fraud discount on FTAI's multiple.</a:t>
            </a:r>
            <a:endParaRPr lang="en-US" sz="1200" dirty="0"/>
          </a:p>
        </p:txBody>
      </p:sp>
      <p:sp>
        <p:nvSpPr>
          <p:cNvPr id="11" name="Risk 2 mitigants"/>
          <p:cNvSpPr/>
          <p:nvPr/>
        </p:nvSpPr>
        <p:spPr>
          <a:xfrm flipH="1">
            <a:off x="4206240" y="2852928"/>
            <a:ext cx="4617720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Priced in: at $167 the market pays our bear case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&lt;8% cheap stock left: margins now show the core business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Each clean print (Q3 &amp; Q4 '26) shrinks the discount</a:t>
            </a:r>
            <a:endParaRPr lang="en-US" sz="1100" dirty="0"/>
          </a:p>
        </p:txBody>
      </p:sp>
      <p:sp>
        <p:nvSpPr>
          <p:cNvPr id="12" name="Risk 3 number"/>
          <p:cNvSpPr/>
          <p:nvPr/>
        </p:nvSpPr>
        <p:spPr>
          <a:xfrm>
            <a:off x="320040" y="4123944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Risk 3 head"/>
          <p:cNvSpPr txBox="1"/>
          <p:nvPr/>
        </p:nvSpPr>
        <p:spPr>
          <a:xfrm>
            <a:off x="868680" y="4197096"/>
            <a:ext cx="3154680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Technician Shortage</a:t>
            </a:r>
            <a:endParaRPr lang="en-US" sz="1500" dirty="0"/>
          </a:p>
        </p:txBody>
      </p:sp>
      <p:sp>
        <p:nvSpPr>
          <p:cNvPr id="14" name="Risk 3 detail"/>
          <p:cNvSpPr txBox="1"/>
          <p:nvPr/>
        </p:nvSpPr>
        <p:spPr>
          <a:xfrm>
            <a:off x="868680" y="4581144"/>
            <a:ext cx="3154680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Too few skilled techs caps how many modules FTAI can turn.</a:t>
            </a:r>
            <a:endParaRPr lang="en-US" sz="1200" dirty="0"/>
          </a:p>
        </p:txBody>
      </p:sp>
      <p:sp>
        <p:nvSpPr>
          <p:cNvPr id="15" name="Risk 3 mitigants"/>
          <p:cNvSpPr/>
          <p:nvPr/>
        </p:nvSpPr>
        <p:spPr>
          <a:xfrm flipH="1">
            <a:off x="4206240" y="4151376"/>
            <a:ext cx="4617720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FTAI's academy trains its own techs (trainers in Montreal, Miami)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Partners add ~320 techs in Jakarta and Cairo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New hires speed up with experience and Palantir tools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None of these risks is new to the market. The bear case is already in the price.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Aerospace Q2'26 call; CFM via StandardAero; IATA (Jun-26); FTAI Q2'26 supplement; FTAI job postings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548640" y="32004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FTAI Aviation</a:t>
            </a:r>
            <a:endParaRPr lang="en-US" sz="3000" dirty="0"/>
          </a:p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(NASDAQ: FTAI)</a:t>
            </a:r>
            <a:endParaRPr lang="en-US" sz="30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365760"/>
            <a:ext cx="2011680" cy="766953"/>
          </a:xfrm>
          <a:prstGeom prst="rect">
            <a:avLst/>
          </a:prstGeom>
        </p:spPr>
      </p:pic>
      <p:sp>
        <p:nvSpPr>
          <p:cNvPr id="4" name="Cover label"/>
          <p:cNvSpPr txBox="1"/>
          <p:nvPr/>
        </p:nvSpPr>
        <p:spPr>
          <a:xfrm>
            <a:off x="548640" y="2926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Q&amp;A</a:t>
            </a:r>
            <a:endParaRPr lang="en-US" sz="4400" dirty="0"/>
          </a:p>
        </p:txBody>
      </p:sp>
      <p:pic>
        <p:nvPicPr>
          <p:cNvPr id="5" name="GPS logo" descr="/home/user/SPOT/deck/gps_logo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5532120"/>
            <a:ext cx="1234440" cy="1133856"/>
          </a:xfrm>
          <a:prstGeom prst="rect">
            <a:avLst/>
          </a:prstGeom>
        </p:spPr>
      </p:pic>
      <p:sp>
        <p:nvSpPr>
          <p:cNvPr id="6" name="Logo divider"/>
          <p:cNvSpPr/>
          <p:nvPr/>
        </p:nvSpPr>
        <p:spPr>
          <a:xfrm>
            <a:off x="7360920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7" name="Presenter"/>
          <p:cNvSpPr txBox="1"/>
          <p:nvPr/>
        </p:nvSpPr>
        <p:spPr>
          <a:xfrm>
            <a:off x="7452360" y="5669280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548640" y="32004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FTAI Aviation</a:t>
            </a:r>
            <a:endParaRPr lang="en-US" sz="3000" dirty="0"/>
          </a:p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(NASDAQ: FTAI)</a:t>
            </a:r>
            <a:endParaRPr lang="en-US" sz="30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365760"/>
            <a:ext cx="2011680" cy="766953"/>
          </a:xfrm>
          <a:prstGeom prst="rect">
            <a:avLst/>
          </a:prstGeom>
        </p:spPr>
      </p:pic>
      <p:sp>
        <p:nvSpPr>
          <p:cNvPr id="4" name="Cover label"/>
          <p:cNvSpPr txBox="1"/>
          <p:nvPr/>
        </p:nvSpPr>
        <p:spPr>
          <a:xfrm>
            <a:off x="548640" y="2926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Appendix</a:t>
            </a:r>
            <a:endParaRPr lang="en-US" sz="4400" dirty="0"/>
          </a:p>
        </p:txBody>
      </p:sp>
      <p:pic>
        <p:nvPicPr>
          <p:cNvPr id="5" name="GPS logo" descr="/home/user/SPOT/deck/gps_logo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5532120"/>
            <a:ext cx="1234440" cy="1133856"/>
          </a:xfrm>
          <a:prstGeom prst="rect">
            <a:avLst/>
          </a:prstGeom>
        </p:spPr>
      </p:pic>
      <p:sp>
        <p:nvSpPr>
          <p:cNvPr id="6" name="Logo divider"/>
          <p:cNvSpPr/>
          <p:nvPr/>
        </p:nvSpPr>
        <p:spPr>
          <a:xfrm>
            <a:off x="7360920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7" name="Presenter"/>
          <p:cNvSpPr txBox="1"/>
          <p:nvPr/>
        </p:nvSpPr>
        <p:spPr>
          <a:xfrm>
            <a:off x="7452360" y="5669280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(1/2)</a:t>
            </a:r>
            <a:endParaRPr lang="en-US" sz="3000" dirty="0"/>
          </a:p>
        </p:txBody>
      </p:sp>
      <p:pic>
        <p:nvPicPr>
          <p:cNvPr id="3" name="PV bridge" descr="/home/user/SPOT/deck/img/app_p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188720"/>
            <a:ext cx="8503920" cy="1907905"/>
          </a:xfrm>
          <a:prstGeom prst="rect">
            <a:avLst/>
          </a:prstGeom>
        </p:spPr>
      </p:pic>
      <p:pic>
        <p:nvPicPr>
          <p:cNvPr id="4" name="Blended valuation" descr="/home/user/SPOT/deck/img/app_ble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3657600"/>
            <a:ext cx="6858000" cy="1403968"/>
          </a:xfrm>
          <a:prstGeom prst="rect">
            <a:avLst/>
          </a:prstGeom>
        </p:spPr>
      </p:pic>
      <p:sp>
        <p:nvSpPr>
          <p:cNvPr id="5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DCF,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(2/2)</a:t>
            </a:r>
            <a:endParaRPr lang="en-US" sz="3000" dirty="0"/>
          </a:p>
        </p:txBody>
      </p:sp>
      <p:pic>
        <p:nvPicPr>
          <p:cNvPr id="3" name="Valuation methods" descr="/home/user/SPOT/deck/img/app_metho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143000"/>
            <a:ext cx="8503920" cy="3760294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DCF,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Sensitivities</a:t>
            </a:r>
            <a:endParaRPr lang="en-US" sz="3000" dirty="0"/>
          </a:p>
        </p:txBody>
      </p:sp>
      <p:pic>
        <p:nvPicPr>
          <p:cNvPr id="3" name="Sensitivity tables" descr="/home/user/SPOT/deck/img/app_s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097280"/>
            <a:ext cx="6766560" cy="4127018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Implied share price by WACC, terminal growth and exit multiple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Sum of the Parts</a:t>
            </a:r>
            <a:endParaRPr lang="en-US" sz="3000" dirty="0"/>
          </a:p>
        </p:txBody>
      </p:sp>
      <p:pic>
        <p:nvPicPr>
          <p:cNvPr id="3" name="SOTP table" descr="/home/user/SPOT/deck/img/app_sot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188720"/>
            <a:ext cx="8503920" cy="262739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Power Model</a:t>
            </a:r>
            <a:endParaRPr lang="en-US" sz="3000" dirty="0"/>
          </a:p>
        </p:txBody>
      </p:sp>
      <p:pic>
        <p:nvPicPr>
          <p:cNvPr id="3" name="Mod-1 build" descr="/home/user/SPOT/deck/img/app_pow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097280"/>
            <a:ext cx="8503920" cy="1845190"/>
          </a:xfrm>
          <a:prstGeom prst="rect">
            <a:avLst/>
          </a:prstGeom>
        </p:spPr>
      </p:pic>
      <p:pic>
        <p:nvPicPr>
          <p:cNvPr id="4" name="Power shortfall" descr="/home/user/SPOT/deck/img/app_shortf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3246120"/>
            <a:ext cx="6217920" cy="1571670"/>
          </a:xfrm>
          <a:prstGeom prst="rect">
            <a:avLst/>
          </a:prstGeom>
        </p:spPr>
      </p:pic>
      <p:sp>
        <p:nvSpPr>
          <p:cNvPr id="5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Mod-1 build; NERC 2025 LTRA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320040" y="1828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Repair Pricing</a:t>
            </a:r>
            <a:endParaRPr lang="en-US" sz="3000" dirty="0"/>
          </a:p>
        </p:txBody>
      </p:sp>
      <p:pic>
        <p:nvPicPr>
          <p:cNvPr id="3" name="Pricing summary" descr="/home/user/SPOT/deck/img/app_pric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1097280"/>
            <a:ext cx="8503920" cy="2802382"/>
          </a:xfrm>
          <a:prstGeom prst="rect">
            <a:avLst/>
          </a:prstGeom>
        </p:spPr>
      </p:pic>
      <p:sp>
        <p:nvSpPr>
          <p:cNvPr id="4" name="Pricing takeaway"/>
          <p:cNvSpPr txBox="1"/>
          <p:nvPr/>
        </p:nvSpPr>
        <p:spPr>
          <a:xfrm>
            <a:off x="320040" y="4343400"/>
            <a:ext cx="8503920" cy="548640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OEM list prices rose a median ~6% a year across ~3,400 matched parts, with almost none falling.</a:t>
            </a:r>
            <a:endParaRPr lang="en-US" sz="1500" dirty="0"/>
          </a:p>
        </p:txBody>
      </p:sp>
      <p:sp>
        <p:nvSpPr>
          <p:cNvPr id="5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 catalogue pricing, matched parts, CFM56-5B and -7B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obal Platinum Securities">
  <a:themeElements>
    <a:clrScheme name="Global Platinum Securities">
      <a:dk1>
        <a:srgbClr val="1A1A1A"/>
      </a:dk1>
      <a:lt1>
        <a:srgbClr val="FFFFFF"/>
      </a:lt1>
      <a:dk2>
        <a:srgbClr val="0A1C58"/>
      </a:dk2>
      <a:lt2>
        <a:srgbClr val="EFEDEA"/>
      </a:lt2>
      <a:accent1>
        <a:srgbClr val="0A1C58"/>
      </a:accent1>
      <a:accent2>
        <a:srgbClr val="847C7A"/>
      </a:accent2>
      <a:accent3>
        <a:srgbClr val="DCD8D3"/>
      </a:accent3>
      <a:accent4>
        <a:srgbClr val="3B4C82"/>
      </a:accent4>
      <a:accent5>
        <a:srgbClr val="2E93AE"/>
      </a:accent5>
      <a:accent6>
        <a:srgbClr val="EE6E25"/>
      </a:accent6>
      <a:hlink>
        <a:srgbClr val="0A1C58"/>
      </a:hlink>
      <a:folHlink>
        <a:srgbClr val="847C7A"/>
      </a:folHlink>
    </a:clrScheme>
    <a:fontScheme name="Global Platinum Securities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aramon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Global Platinum Securities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FTAI Aviation — Long Recommendation</dc:title>
  <dc:subject>PptxGenJS Presentation</dc:subject>
  <dc:creator>PptxGenJS</dc:creator>
  <cp:lastModifiedBy>PptxGenJS</cp:lastModifiedBy>
  <cp:revision>1</cp:revision>
  <dcterms:created xsi:type="dcterms:W3CDTF">2026-10-09T00:47:48Z</dcterms:created>
  <dcterms:modified xsi:type="dcterms:W3CDTF">2026-10-09T00:47:48Z</dcterms:modified>
</cp:coreProperties>
</file>